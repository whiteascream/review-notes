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68"/>
  </p:handoutMasterIdLst>
  <p:sldIdLst>
    <p:sldId id="760" r:id="rId3"/>
    <p:sldId id="765" r:id="rId5"/>
    <p:sldId id="766" r:id="rId6"/>
    <p:sldId id="764" r:id="rId7"/>
    <p:sldId id="767" r:id="rId8"/>
    <p:sldId id="768" r:id="rId9"/>
    <p:sldId id="813" r:id="rId10"/>
    <p:sldId id="784" r:id="rId11"/>
    <p:sldId id="814" r:id="rId12"/>
    <p:sldId id="770" r:id="rId13"/>
    <p:sldId id="785" r:id="rId14"/>
    <p:sldId id="786" r:id="rId15"/>
    <p:sldId id="787" r:id="rId16"/>
    <p:sldId id="771" r:id="rId17"/>
    <p:sldId id="772" r:id="rId18"/>
    <p:sldId id="790" r:id="rId19"/>
    <p:sldId id="795" r:id="rId20"/>
    <p:sldId id="774" r:id="rId21"/>
    <p:sldId id="775" r:id="rId22"/>
    <p:sldId id="792" r:id="rId23"/>
    <p:sldId id="796" r:id="rId24"/>
    <p:sldId id="794" r:id="rId25"/>
    <p:sldId id="778" r:id="rId26"/>
    <p:sldId id="396" r:id="rId27"/>
    <p:sldId id="756" r:id="rId28"/>
    <p:sldId id="797" r:id="rId29"/>
    <p:sldId id="812" r:id="rId30"/>
    <p:sldId id="734" r:id="rId31"/>
    <p:sldId id="735" r:id="rId32"/>
    <p:sldId id="757" r:id="rId33"/>
    <p:sldId id="798" r:id="rId34"/>
    <p:sldId id="398" r:id="rId35"/>
    <p:sldId id="869" r:id="rId36"/>
    <p:sldId id="870" r:id="rId37"/>
    <p:sldId id="399" r:id="rId38"/>
    <p:sldId id="736" r:id="rId39"/>
    <p:sldId id="799" r:id="rId40"/>
    <p:sldId id="400" r:id="rId41"/>
    <p:sldId id="401" r:id="rId42"/>
    <p:sldId id="402" r:id="rId43"/>
    <p:sldId id="403" r:id="rId44"/>
    <p:sldId id="404" r:id="rId45"/>
    <p:sldId id="405" r:id="rId46"/>
    <p:sldId id="815" r:id="rId47"/>
    <p:sldId id="800" r:id="rId48"/>
    <p:sldId id="801" r:id="rId49"/>
    <p:sldId id="802" r:id="rId50"/>
    <p:sldId id="803" r:id="rId51"/>
    <p:sldId id="804" r:id="rId52"/>
    <p:sldId id="805" r:id="rId53"/>
    <p:sldId id="808" r:id="rId54"/>
    <p:sldId id="410" r:id="rId55"/>
    <p:sldId id="737" r:id="rId56"/>
    <p:sldId id="738" r:id="rId57"/>
    <p:sldId id="411" r:id="rId58"/>
    <p:sldId id="751" r:id="rId59"/>
    <p:sldId id="762" r:id="rId60"/>
    <p:sldId id="809" r:id="rId61"/>
    <p:sldId id="746" r:id="rId62"/>
    <p:sldId id="763" r:id="rId63"/>
    <p:sldId id="748" r:id="rId64"/>
    <p:sldId id="749" r:id="rId65"/>
    <p:sldId id="806" r:id="rId66"/>
    <p:sldId id="739" r:id="rId67"/>
  </p:sldIdLst>
  <p:sldSz cx="9144000" cy="6858000" type="screen4x3"/>
  <p:notesSz cx="6858000" cy="9144000"/>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08000"/>
    <a:srgbClr val="0000FF"/>
    <a:srgbClr val="0000CC"/>
    <a:srgbClr val="CC0066"/>
    <a:srgbClr val="000000"/>
    <a:srgbClr val="FFFFFF"/>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4946"/>
    <p:restoredTop sz="99077"/>
  </p:normalViewPr>
  <p:slideViewPr>
    <p:cSldViewPr showGuides="1">
      <p:cViewPr varScale="1">
        <p:scale>
          <a:sx n="67" d="100"/>
          <a:sy n="67" d="100"/>
        </p:scale>
        <p:origin x="-1284" y="-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4638"/>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1" Type="http://schemas.openxmlformats.org/officeDocument/2006/relationships/tableStyles" Target="tableStyles.xml"/><Relationship Id="rId70" Type="http://schemas.openxmlformats.org/officeDocument/2006/relationships/viewProps" Target="viewProps.xml"/><Relationship Id="rId7" Type="http://schemas.openxmlformats.org/officeDocument/2006/relationships/slide" Target="slides/slide4.xml"/><Relationship Id="rId69" Type="http://schemas.openxmlformats.org/officeDocument/2006/relationships/presProps" Target="presProps.xml"/><Relationship Id="rId68" Type="http://schemas.openxmlformats.org/officeDocument/2006/relationships/handoutMaster" Target="handoutMasters/handoutMaster1.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6.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75778"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hangingPunct="1">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5779" name="Rectangle 3"/>
          <p:cNvSpPr>
            <a:spLocks noGrp="1" noChangeArrowheads="1"/>
          </p:cNvSpPr>
          <p:nvPr>
            <p:ph type="dt" sz="quarter"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eaLnBrk="1" hangingPunct="1">
              <a:defRPr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5780" name="Rectangle 4"/>
          <p:cNvSpPr>
            <a:spLocks noGrp="1" noChangeArrowheads="1"/>
          </p:cNvSpPr>
          <p:nvPr>
            <p:ph type="ftr" sz="quarter" idx="2"/>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eaLnBrk="1" hangingPunct="1">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5781" name="Rectangle 5"/>
          <p:cNvSpPr>
            <a:spLocks noGrp="1" noChangeArrowheads="1"/>
          </p:cNvSpPr>
          <p:nvPr>
            <p:ph type="sldNum" sz="quarter" idx="3"/>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
            <a:pPr lvl="0" algn="r" eaLnBrk="1" hangingPunct="1">
              <a:buNone/>
            </a:pPr>
            <a:fld id="{9A0DB2DC-4C9A-4742-B13C-FB6460FD3503}" type="slidenum">
              <a:rPr lang="en-US" altLang="zh-CN" sz="1200" dirty="0"/>
            </a:fld>
            <a:endParaRPr lang="en-US" altLang="zh-CN" sz="1200"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857090"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hangingPunct="1">
              <a:defRPr sz="1200">
                <a:latin typeface="GreekS" pitchFamily="2"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GreekS" pitchFamily="2" charset="0"/>
              <a:ea typeface="宋体" panose="02010600030101010101" pitchFamily="2" charset="-122"/>
              <a:cs typeface="+mn-cs"/>
            </a:endParaRPr>
          </a:p>
        </p:txBody>
      </p:sp>
      <p:sp>
        <p:nvSpPr>
          <p:cNvPr id="857091" name="Rectangle 3"/>
          <p:cNvSpPr>
            <a:spLocks noGrp="1" noChangeArrowheads="1"/>
          </p:cNvSpPr>
          <p:nvPr>
            <p:ph type="dt" idx="1"/>
          </p:nvPr>
        </p:nvSpPr>
        <p:spPr bwMode="auto">
          <a:xfrm>
            <a:off x="3886200" y="0"/>
            <a:ext cx="2971800" cy="457200"/>
          </a:xfrm>
          <a:prstGeom prst="rect">
            <a:avLst/>
          </a:prstGeom>
          <a:noFill/>
          <a:ln>
            <a:noFill/>
          </a:ln>
          <a:effectLst/>
        </p:spPr>
        <p:txBody>
          <a:bodyPr vert="horz" wrap="square" lIns="91440" tIns="45720" rIns="91440" bIns="45720" numCol="1" anchor="t" anchorCtr="0" compatLnSpc="1"/>
          <a:lstStyle>
            <a:lvl1pPr algn="r" eaLnBrk="1" hangingPunct="1">
              <a:defRPr sz="1200">
                <a:latin typeface="GreekS" pitchFamily="2"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GreekS" pitchFamily="2" charset="0"/>
              <a:ea typeface="宋体" panose="02010600030101010101" pitchFamily="2" charset="-122"/>
              <a:cs typeface="+mn-cs"/>
            </a:endParaRPr>
          </a:p>
        </p:txBody>
      </p:sp>
      <p:sp>
        <p:nvSpPr>
          <p:cNvPr id="66564" name="Rectangle 4"/>
          <p:cNvSpPr>
            <a:spLocks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857093" name="Rectangle 5"/>
          <p:cNvSpPr>
            <a:spLocks noGrp="1" noChangeArrowheads="1"/>
          </p:cNvSpPr>
          <p:nvPr>
            <p:ph type="body" sz="quarter" idx="3"/>
          </p:nvPr>
        </p:nvSpPr>
        <p:spPr bwMode="auto">
          <a:xfrm>
            <a:off x="914400" y="4343400"/>
            <a:ext cx="5029200" cy="4114800"/>
          </a:xfrm>
          <a:prstGeom prst="rect">
            <a:avLst/>
          </a:prstGeom>
          <a:noFill/>
          <a:ln>
            <a:noFill/>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57094" name="Rectangle 6"/>
          <p:cNvSpPr>
            <a:spLocks noGrp="1" noChangeArrowheads="1"/>
          </p:cNvSpPr>
          <p:nvPr>
            <p:ph type="ftr" sz="quarter" idx="4"/>
          </p:nvPr>
        </p:nvSpPr>
        <p:spPr bwMode="auto">
          <a:xfrm>
            <a:off x="0" y="8686800"/>
            <a:ext cx="2971800" cy="457200"/>
          </a:xfrm>
          <a:prstGeom prst="rect">
            <a:avLst/>
          </a:prstGeom>
          <a:noFill/>
          <a:ln>
            <a:noFill/>
          </a:ln>
          <a:effectLst/>
        </p:spPr>
        <p:txBody>
          <a:bodyPr vert="horz" wrap="square" lIns="91440" tIns="45720" rIns="91440" bIns="45720" numCol="1" anchor="b" anchorCtr="0" compatLnSpc="1"/>
          <a:lstStyle>
            <a:lvl1pPr eaLnBrk="1" hangingPunct="1">
              <a:defRPr sz="1200">
                <a:latin typeface="GreekS" pitchFamily="2"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GreekS" pitchFamily="2" charset="0"/>
              <a:ea typeface="宋体" panose="02010600030101010101" pitchFamily="2" charset="-122"/>
              <a:cs typeface="+mn-cs"/>
            </a:endParaRPr>
          </a:p>
        </p:txBody>
      </p:sp>
      <p:sp>
        <p:nvSpPr>
          <p:cNvPr id="857095" name="Rectangle 7"/>
          <p:cNvSpPr>
            <a:spLocks noGrp="1" noChangeArrowheads="1"/>
          </p:cNvSpPr>
          <p:nvPr>
            <p:ph type="sldNum" sz="quarter" idx="5"/>
          </p:nvPr>
        </p:nvSpPr>
        <p:spPr bwMode="auto">
          <a:xfrm>
            <a:off x="3886200" y="8686800"/>
            <a:ext cx="2971800" cy="457200"/>
          </a:xfrm>
          <a:prstGeom prst="rect">
            <a:avLst/>
          </a:prstGeom>
          <a:noFill/>
          <a:ln>
            <a:noFill/>
          </a:ln>
          <a:effectLst/>
        </p:spPr>
        <p:txBody>
          <a:bodyPr vert="horz" wrap="square" lIns="91440" tIns="45720" rIns="91440" bIns="45720" numCol="1" anchor="b" anchorCtr="0" compatLnSpc="1"/>
          <a:p>
            <a:pPr lvl="0" algn="r" eaLnBrk="1" hangingPunct="1">
              <a:buNone/>
            </a:pPr>
            <a:fld id="{9A0DB2DC-4C9A-4742-B13C-FB6460FD3503}" type="slidenum">
              <a:rPr lang="en-US" altLang="zh-CN" sz="1200" dirty="0">
                <a:latin typeface="GreekS" pitchFamily="2" charset="0"/>
              </a:rPr>
            </a:fld>
            <a:endParaRPr lang="en-US" altLang="zh-CN" sz="1200" dirty="0">
              <a:latin typeface="GreekS" pitchFamily="2"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67587" name="Rectangle 2"/>
          <p:cNvSpPr>
            <a:spLocks noTextEdit="1"/>
          </p:cNvSpPr>
          <p:nvPr>
            <p:ph type="sldImg"/>
          </p:nvPr>
        </p:nvSpPr>
        <p:spPr/>
      </p:sp>
      <p:sp>
        <p:nvSpPr>
          <p:cNvPr id="67588"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68611" name="Rectangle 2"/>
          <p:cNvSpPr>
            <a:spLocks noTextEdit="1"/>
          </p:cNvSpPr>
          <p:nvPr>
            <p:ph type="sldImg"/>
          </p:nvPr>
        </p:nvSpPr>
        <p:spPr/>
      </p:sp>
      <p:sp>
        <p:nvSpPr>
          <p:cNvPr id="68612"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69635" name="Rectangle 2"/>
          <p:cNvSpPr>
            <a:spLocks noTextEdit="1"/>
          </p:cNvSpPr>
          <p:nvPr>
            <p:ph type="sldImg"/>
          </p:nvPr>
        </p:nvSpPr>
        <p:spPr/>
      </p:sp>
      <p:sp>
        <p:nvSpPr>
          <p:cNvPr id="69636"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70659" name="Rectangle 2"/>
          <p:cNvSpPr>
            <a:spLocks noTextEdit="1"/>
          </p:cNvSpPr>
          <p:nvPr>
            <p:ph type="sldImg"/>
          </p:nvPr>
        </p:nvSpPr>
        <p:spPr/>
      </p:sp>
      <p:sp>
        <p:nvSpPr>
          <p:cNvPr id="70660"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71683" name="Rectangle 2"/>
          <p:cNvSpPr>
            <a:spLocks noTextEdit="1"/>
          </p:cNvSpPr>
          <p:nvPr>
            <p:ph type="sldImg"/>
          </p:nvPr>
        </p:nvSpPr>
        <p:spPr/>
      </p:sp>
      <p:sp>
        <p:nvSpPr>
          <p:cNvPr id="71684"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72707" name="Rectangle 2"/>
          <p:cNvSpPr>
            <a:spLocks noTextEdit="1"/>
          </p:cNvSpPr>
          <p:nvPr>
            <p:ph type="sldImg"/>
          </p:nvPr>
        </p:nvSpPr>
        <p:spPr/>
      </p:sp>
      <p:sp>
        <p:nvSpPr>
          <p:cNvPr id="72708"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73731" name="Rectangle 2"/>
          <p:cNvSpPr>
            <a:spLocks noTextEdit="1"/>
          </p:cNvSpPr>
          <p:nvPr>
            <p:ph type="sldImg"/>
          </p:nvPr>
        </p:nvSpPr>
        <p:spPr/>
      </p:sp>
      <p:sp>
        <p:nvSpPr>
          <p:cNvPr id="73732"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74755" name="Rectangle 2"/>
          <p:cNvSpPr>
            <a:spLocks noTextEdit="1"/>
          </p:cNvSpPr>
          <p:nvPr>
            <p:ph type="sldImg"/>
          </p:nvPr>
        </p:nvSpPr>
        <p:spPr/>
      </p:sp>
      <p:sp>
        <p:nvSpPr>
          <p:cNvPr id="74756"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75779" name="Rectangle 2"/>
          <p:cNvSpPr>
            <a:spLocks noTextEdit="1"/>
          </p:cNvSpPr>
          <p:nvPr>
            <p:ph type="sldImg"/>
          </p:nvPr>
        </p:nvSpPr>
        <p:spPr/>
      </p:sp>
      <p:sp>
        <p:nvSpPr>
          <p:cNvPr id="75780"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76803" name="Rectangle 2"/>
          <p:cNvSpPr>
            <a:spLocks noTextEdit="1"/>
          </p:cNvSpPr>
          <p:nvPr>
            <p:ph type="sldImg"/>
          </p:nvPr>
        </p:nvSpPr>
        <p:spPr/>
      </p:sp>
      <p:sp>
        <p:nvSpPr>
          <p:cNvPr id="76804"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77827" name="Rectangle 2"/>
          <p:cNvSpPr>
            <a:spLocks noTextEdit="1"/>
          </p:cNvSpPr>
          <p:nvPr>
            <p:ph type="sldImg"/>
          </p:nvPr>
        </p:nvSpPr>
        <p:spPr/>
      </p:sp>
      <p:sp>
        <p:nvSpPr>
          <p:cNvPr id="77828"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78851" name="Rectangle 2"/>
          <p:cNvSpPr>
            <a:spLocks noTextEdit="1"/>
          </p:cNvSpPr>
          <p:nvPr>
            <p:ph type="sldImg"/>
          </p:nvPr>
        </p:nvSpPr>
        <p:spPr/>
      </p:sp>
      <p:sp>
        <p:nvSpPr>
          <p:cNvPr id="78852"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79875" name="Rectangle 2"/>
          <p:cNvSpPr>
            <a:spLocks noTextEdit="1"/>
          </p:cNvSpPr>
          <p:nvPr>
            <p:ph type="sldImg"/>
          </p:nvPr>
        </p:nvSpPr>
        <p:spPr/>
      </p:sp>
      <p:sp>
        <p:nvSpPr>
          <p:cNvPr id="79876"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80899" name="Rectangle 2"/>
          <p:cNvSpPr>
            <a:spLocks noTextEdit="1"/>
          </p:cNvSpPr>
          <p:nvPr>
            <p:ph type="sldImg"/>
          </p:nvPr>
        </p:nvSpPr>
        <p:spPr/>
      </p:sp>
      <p:sp>
        <p:nvSpPr>
          <p:cNvPr id="80900"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81923" name="Rectangle 2"/>
          <p:cNvSpPr>
            <a:spLocks noTextEdit="1"/>
          </p:cNvSpPr>
          <p:nvPr>
            <p:ph type="sldImg"/>
          </p:nvPr>
        </p:nvSpPr>
        <p:spPr/>
      </p:sp>
      <p:sp>
        <p:nvSpPr>
          <p:cNvPr id="81924"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82947" name="Rectangle 2"/>
          <p:cNvSpPr>
            <a:spLocks noTextEdit="1"/>
          </p:cNvSpPr>
          <p:nvPr>
            <p:ph type="sldImg"/>
          </p:nvPr>
        </p:nvSpPr>
        <p:spPr/>
      </p:sp>
      <p:sp>
        <p:nvSpPr>
          <p:cNvPr id="82948"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83971" name="Rectangle 2"/>
          <p:cNvSpPr>
            <a:spLocks noTextEdit="1"/>
          </p:cNvSpPr>
          <p:nvPr>
            <p:ph type="sldImg"/>
          </p:nvPr>
        </p:nvSpPr>
        <p:spPr/>
      </p:sp>
      <p:sp>
        <p:nvSpPr>
          <p:cNvPr id="83972"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84995" name="Rectangle 2"/>
          <p:cNvSpPr>
            <a:spLocks noTextEdit="1"/>
          </p:cNvSpPr>
          <p:nvPr>
            <p:ph type="sldImg"/>
          </p:nvPr>
        </p:nvSpPr>
        <p:spPr/>
      </p:sp>
      <p:sp>
        <p:nvSpPr>
          <p:cNvPr id="84996"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86019" name="Rectangle 2"/>
          <p:cNvSpPr>
            <a:spLocks noTextEdit="1"/>
          </p:cNvSpPr>
          <p:nvPr>
            <p:ph type="sldImg"/>
          </p:nvPr>
        </p:nvSpPr>
        <p:spPr/>
      </p:sp>
      <p:sp>
        <p:nvSpPr>
          <p:cNvPr id="86020"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87043" name="Rectangle 2"/>
          <p:cNvSpPr>
            <a:spLocks noTextEdit="1"/>
          </p:cNvSpPr>
          <p:nvPr>
            <p:ph type="sldImg"/>
          </p:nvPr>
        </p:nvSpPr>
        <p:spPr/>
      </p:sp>
      <p:sp>
        <p:nvSpPr>
          <p:cNvPr id="87044"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88067" name="Rectangle 2"/>
          <p:cNvSpPr>
            <a:spLocks noTextEdit="1"/>
          </p:cNvSpPr>
          <p:nvPr>
            <p:ph type="sldImg"/>
          </p:nvPr>
        </p:nvSpPr>
        <p:spPr/>
      </p:sp>
      <p:sp>
        <p:nvSpPr>
          <p:cNvPr id="88068"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89091" name="Rectangle 2"/>
          <p:cNvSpPr>
            <a:spLocks noTextEdit="1"/>
          </p:cNvSpPr>
          <p:nvPr>
            <p:ph type="sldImg"/>
          </p:nvPr>
        </p:nvSpPr>
        <p:spPr/>
      </p:sp>
      <p:sp>
        <p:nvSpPr>
          <p:cNvPr id="89092"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90115" name="Rectangle 2"/>
          <p:cNvSpPr>
            <a:spLocks noTextEdit="1"/>
          </p:cNvSpPr>
          <p:nvPr>
            <p:ph type="sldImg"/>
          </p:nvPr>
        </p:nvSpPr>
        <p:spPr/>
      </p:sp>
      <p:sp>
        <p:nvSpPr>
          <p:cNvPr id="90116"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91139" name="Rectangle 2"/>
          <p:cNvSpPr>
            <a:spLocks noTextEdit="1"/>
          </p:cNvSpPr>
          <p:nvPr>
            <p:ph type="sldImg"/>
          </p:nvPr>
        </p:nvSpPr>
        <p:spPr/>
      </p:sp>
      <p:sp>
        <p:nvSpPr>
          <p:cNvPr id="91140"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92163" name="Rectangle 2"/>
          <p:cNvSpPr>
            <a:spLocks noTextEdit="1"/>
          </p:cNvSpPr>
          <p:nvPr>
            <p:ph type="sldImg"/>
          </p:nvPr>
        </p:nvSpPr>
        <p:spPr/>
      </p:sp>
      <p:sp>
        <p:nvSpPr>
          <p:cNvPr id="92164"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93187" name="Rectangle 2"/>
          <p:cNvSpPr>
            <a:spLocks noTextEdit="1"/>
          </p:cNvSpPr>
          <p:nvPr>
            <p:ph type="sldImg"/>
          </p:nvPr>
        </p:nvSpPr>
        <p:spPr/>
      </p:sp>
      <p:sp>
        <p:nvSpPr>
          <p:cNvPr id="93188"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94211" name="Rectangle 2"/>
          <p:cNvSpPr>
            <a:spLocks noTextEdit="1"/>
          </p:cNvSpPr>
          <p:nvPr>
            <p:ph type="sldImg"/>
          </p:nvPr>
        </p:nvSpPr>
        <p:spPr/>
      </p:sp>
      <p:sp>
        <p:nvSpPr>
          <p:cNvPr id="94212"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95235" name="Rectangle 2"/>
          <p:cNvSpPr>
            <a:spLocks noTextEdit="1"/>
          </p:cNvSpPr>
          <p:nvPr>
            <p:ph type="sldImg"/>
          </p:nvPr>
        </p:nvSpPr>
        <p:spPr/>
      </p:sp>
      <p:sp>
        <p:nvSpPr>
          <p:cNvPr id="95236"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96259" name="Rectangle 2"/>
          <p:cNvSpPr>
            <a:spLocks noTextEdit="1"/>
          </p:cNvSpPr>
          <p:nvPr>
            <p:ph type="sldImg"/>
          </p:nvPr>
        </p:nvSpPr>
        <p:spPr/>
      </p:sp>
      <p:sp>
        <p:nvSpPr>
          <p:cNvPr id="96260"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97283" name="Rectangle 2"/>
          <p:cNvSpPr>
            <a:spLocks noTextEdit="1"/>
          </p:cNvSpPr>
          <p:nvPr>
            <p:ph type="sldImg"/>
          </p:nvPr>
        </p:nvSpPr>
        <p:spPr/>
      </p:sp>
      <p:sp>
        <p:nvSpPr>
          <p:cNvPr id="97284"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98307" name="Rectangle 2"/>
          <p:cNvSpPr>
            <a:spLocks noTextEdit="1"/>
          </p:cNvSpPr>
          <p:nvPr>
            <p:ph type="sldImg"/>
          </p:nvPr>
        </p:nvSpPr>
        <p:spPr/>
      </p:sp>
      <p:sp>
        <p:nvSpPr>
          <p:cNvPr id="98308"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0"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99331" name="Rectangle 2"/>
          <p:cNvSpPr>
            <a:spLocks noTextEdit="1"/>
          </p:cNvSpPr>
          <p:nvPr>
            <p:ph type="sldImg"/>
          </p:nvPr>
        </p:nvSpPr>
        <p:spPr/>
      </p:sp>
      <p:sp>
        <p:nvSpPr>
          <p:cNvPr id="99332"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100355" name="Rectangle 2"/>
          <p:cNvSpPr>
            <a:spLocks noTextEdit="1"/>
          </p:cNvSpPr>
          <p:nvPr>
            <p:ph type="sldImg"/>
          </p:nvPr>
        </p:nvSpPr>
        <p:spPr/>
      </p:sp>
      <p:sp>
        <p:nvSpPr>
          <p:cNvPr id="100356"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8"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101379" name="Rectangle 2"/>
          <p:cNvSpPr>
            <a:spLocks noTextEdit="1"/>
          </p:cNvSpPr>
          <p:nvPr>
            <p:ph type="sldImg"/>
          </p:nvPr>
        </p:nvSpPr>
        <p:spPr/>
      </p:sp>
      <p:sp>
        <p:nvSpPr>
          <p:cNvPr id="101380"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2"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102403" name="Rectangle 2"/>
          <p:cNvSpPr>
            <a:spLocks noTextEdit="1"/>
          </p:cNvSpPr>
          <p:nvPr>
            <p:ph type="sldImg"/>
          </p:nvPr>
        </p:nvSpPr>
        <p:spPr/>
      </p:sp>
      <p:sp>
        <p:nvSpPr>
          <p:cNvPr id="102404"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103427" name="Rectangle 2"/>
          <p:cNvSpPr>
            <a:spLocks noTextEdit="1"/>
          </p:cNvSpPr>
          <p:nvPr>
            <p:ph type="sldImg"/>
          </p:nvPr>
        </p:nvSpPr>
        <p:spPr/>
      </p:sp>
      <p:sp>
        <p:nvSpPr>
          <p:cNvPr id="103428"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104451" name="Rectangle 2"/>
          <p:cNvSpPr>
            <a:spLocks noTextEdit="1"/>
          </p:cNvSpPr>
          <p:nvPr>
            <p:ph type="sldImg"/>
          </p:nvPr>
        </p:nvSpPr>
        <p:spPr/>
      </p:sp>
      <p:sp>
        <p:nvSpPr>
          <p:cNvPr id="104452"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4"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105475" name="Rectangle 2"/>
          <p:cNvSpPr>
            <a:spLocks noTextEdit="1"/>
          </p:cNvSpPr>
          <p:nvPr>
            <p:ph type="sldImg"/>
          </p:nvPr>
        </p:nvSpPr>
        <p:spPr/>
      </p:sp>
      <p:sp>
        <p:nvSpPr>
          <p:cNvPr id="105476"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8"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latin typeface="GreekS" pitchFamily="2" charset="0"/>
              </a:rPr>
            </a:fld>
            <a:endParaRPr lang="en-US" altLang="zh-CN" sz="1200" dirty="0">
              <a:latin typeface="GreekS" pitchFamily="2" charset="0"/>
            </a:endParaRPr>
          </a:p>
        </p:txBody>
      </p:sp>
      <p:sp>
        <p:nvSpPr>
          <p:cNvPr id="106499" name="Rectangle 2"/>
          <p:cNvSpPr>
            <a:spLocks noTextEdit="1"/>
          </p:cNvSpPr>
          <p:nvPr>
            <p:ph type="sldImg"/>
          </p:nvPr>
        </p:nvSpPr>
        <p:spPr/>
      </p:sp>
      <p:sp>
        <p:nvSpPr>
          <p:cNvPr id="106500"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939010" name="Rectangle 2"/>
          <p:cNvSpPr>
            <a:spLocks noGrp="1" noChangeArrowheads="1"/>
          </p:cNvSpPr>
          <p:nvPr>
            <p:ph type="ctrTitle"/>
          </p:nvPr>
        </p:nvSpPr>
        <p:spPr>
          <a:xfrm>
            <a:off x="2514600" y="3962400"/>
            <a:ext cx="5638800" cy="1295400"/>
          </a:xfrm>
        </p:spPr>
        <p:txBody>
          <a:bodyPr/>
          <a:lstStyle>
            <a:lvl1pPr>
              <a:lnSpc>
                <a:spcPct val="80000"/>
              </a:lnSpc>
              <a:defRPr sz="4000"/>
            </a:lvl1pPr>
          </a:lstStyle>
          <a:p>
            <a:pPr lvl="0"/>
            <a:r>
              <a:rPr lang="zh-CN" altLang="en-US" noProof="0" smtClean="0"/>
              <a:t>单击此处编辑母版标题样式</a:t>
            </a:r>
            <a:endParaRPr lang="zh-CN" altLang="en-US" noProof="0" smtClean="0"/>
          </a:p>
        </p:txBody>
      </p:sp>
      <p:sp>
        <p:nvSpPr>
          <p:cNvPr id="939011" name="Rectangle 3"/>
          <p:cNvSpPr>
            <a:spLocks noGrp="1" noChangeArrowheads="1"/>
          </p:cNvSpPr>
          <p:nvPr>
            <p:ph type="subTitle" idx="1"/>
          </p:nvPr>
        </p:nvSpPr>
        <p:spPr>
          <a:xfrm>
            <a:off x="2514600" y="5486400"/>
            <a:ext cx="5638800" cy="609600"/>
          </a:xfrm>
        </p:spPr>
        <p:txBody>
          <a:bodyPr/>
          <a:lstStyle>
            <a:lvl1pPr marL="0" indent="0">
              <a:buFontTx/>
              <a:buNone/>
              <a:defRPr sz="2800"/>
            </a:lvl1pPr>
          </a:lstStyle>
          <a:p>
            <a:pPr lvl="0"/>
            <a:r>
              <a:rPr lang="zh-CN" altLang="en-US" noProof="0" smtClean="0"/>
              <a:t>单击此处编辑母版副标题样式</a:t>
            </a:r>
            <a:endParaRPr lang="zh-CN" altLang="en-US" noProof="0" smtClean="0"/>
          </a:p>
        </p:txBody>
      </p:sp>
      <p:sp>
        <p:nvSpPr>
          <p:cNvPr id="7" name="Rectangle 4"/>
          <p:cNvSpPr>
            <a:spLocks noGrp="1" noChangeArrowheads="1"/>
          </p:cNvSpPr>
          <p:nvPr>
            <p:ph type="dt" sz="half" idx="2"/>
          </p:nvPr>
        </p:nvSpPr>
        <p:spPr bwMode="auto">
          <a:xfrm>
            <a:off x="228600" y="6248400"/>
            <a:ext cx="1905000" cy="457200"/>
          </a:xfrm>
          <a:prstGeom prst="rect">
            <a:avLst/>
          </a:prstGeom>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Rectangle 5"/>
          <p:cNvSpPr>
            <a:spLocks noGrp="1" noChangeArrowheads="1"/>
          </p:cNvSpPr>
          <p:nvPr>
            <p:ph type="ftr" sz="quarter" idx="3"/>
          </p:nvPr>
        </p:nvSpPr>
        <p:spPr bwMode="auto">
          <a:xfrm>
            <a:off x="2362200" y="6248400"/>
            <a:ext cx="4343400" cy="45720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Rectangle 6"/>
          <p:cNvSpPr>
            <a:spLocks noGrp="1" noChangeArrowheads="1"/>
          </p:cNvSpPr>
          <p:nvPr>
            <p:ph type="sldNum" sz="quarter" idx="4"/>
          </p:nvPr>
        </p:nvSpPr>
        <p:spPr bwMode="auto">
          <a:xfrm>
            <a:off x="7010400" y="6248400"/>
            <a:ext cx="1905000" cy="457200"/>
          </a:xfrm>
          <a:prstGeom prst="rect">
            <a:avLst/>
          </a:prstGeom>
        </p:spPr>
        <p:txBody>
          <a:bodyPr vert="horz" wrap="square" lIns="91440" tIns="45720" rIns="91440" bIns="45720" numCol="1" anchor="t" anchorCtr="0" compatLnSpc="1"/>
          <a:p>
            <a:pPr algn="r" eaLnBrk="1" hangingPunct="1">
              <a:buNone/>
            </a:pPr>
            <a:fld id="{9A0DB2DC-4C9A-4742-B13C-FB6460FD3503}" type="slidenum">
              <a:rPr lang="en-US" altLang="zh-CN" dirty="0"/>
            </a:fld>
            <a:endParaRPr lang="en-US" altLang="zh-C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371600"/>
            <a:ext cx="4000500" cy="45720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10100" y="1371600"/>
            <a:ext cx="4000500" cy="45720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630238" y="2505075"/>
            <a:ext cx="386873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29150" y="2505075"/>
            <a:ext cx="38877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2250" y="90488"/>
            <a:ext cx="2038350" cy="5853112"/>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90488"/>
            <a:ext cx="5962650" cy="5853112"/>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2590800" y="90488"/>
            <a:ext cx="6019800" cy="1190625"/>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371600"/>
            <a:ext cx="4000500" cy="45720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10100" y="1371600"/>
            <a:ext cx="4000500" cy="45720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2590800" y="90488"/>
            <a:ext cx="6019800" cy="1190625"/>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371600"/>
            <a:ext cx="4000500" cy="45720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quarter" idx="2"/>
          </p:nvPr>
        </p:nvSpPr>
        <p:spPr>
          <a:xfrm>
            <a:off x="4610100" y="1371600"/>
            <a:ext cx="4000500" cy="2209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内容占位符 4"/>
          <p:cNvSpPr>
            <a:spLocks noGrp="1"/>
          </p:cNvSpPr>
          <p:nvPr>
            <p:ph sz="quarter" idx="3"/>
          </p:nvPr>
        </p:nvSpPr>
        <p:spPr>
          <a:xfrm>
            <a:off x="4610100" y="3733800"/>
            <a:ext cx="4000500" cy="2209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2.pn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2050" name="Rectangle 2"/>
          <p:cNvSpPr>
            <a:spLocks noGrp="1"/>
          </p:cNvSpPr>
          <p:nvPr>
            <p:ph type="title"/>
          </p:nvPr>
        </p:nvSpPr>
        <p:spPr>
          <a:xfrm>
            <a:off x="2590800" y="90488"/>
            <a:ext cx="6019800" cy="1190625"/>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2051" name="Rectangle 3"/>
          <p:cNvSpPr>
            <a:spLocks noGrp="1"/>
          </p:cNvSpPr>
          <p:nvPr>
            <p:ph type="body" idx="1"/>
          </p:nvPr>
        </p:nvSpPr>
        <p:spPr>
          <a:xfrm>
            <a:off x="457200" y="1371600"/>
            <a:ext cx="8153400" cy="45720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37988" name="Rectangle 4"/>
          <p:cNvSpPr>
            <a:spLocks noGrp="1" noChangeArrowheads="1"/>
          </p:cNvSpPr>
          <p:nvPr>
            <p:ph type="dt" sz="half" idx="2"/>
          </p:nvPr>
        </p:nvSpPr>
        <p:spPr bwMode="auto">
          <a:xfrm>
            <a:off x="2819400" y="6248400"/>
            <a:ext cx="1295400" cy="457200"/>
          </a:xfrm>
          <a:prstGeom prst="rect">
            <a:avLst/>
          </a:prstGeom>
          <a:noFill/>
          <a:ln>
            <a:noFill/>
          </a:ln>
          <a:effectLst/>
        </p:spPr>
        <p:txBody>
          <a:bodyPr vert="horz" wrap="square" lIns="91440" tIns="45720" rIns="91440" bIns="45720" numCol="1" anchor="t" anchorCtr="0" compatLnSpc="1"/>
          <a:lstStyle>
            <a:lvl1pPr eaLnBrk="1" hangingPunct="1">
              <a:defRPr sz="10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37989" name="Rectangle 5"/>
          <p:cNvSpPr>
            <a:spLocks noGrp="1" noChangeArrowheads="1"/>
          </p:cNvSpPr>
          <p:nvPr>
            <p:ph type="ftr" sz="quarter" idx="3"/>
          </p:nvPr>
        </p:nvSpPr>
        <p:spPr bwMode="auto">
          <a:xfrm>
            <a:off x="4267200" y="6248400"/>
            <a:ext cx="2895600" cy="457200"/>
          </a:xfrm>
          <a:prstGeom prst="rect">
            <a:avLst/>
          </a:prstGeom>
          <a:noFill/>
          <a:ln>
            <a:noFill/>
          </a:ln>
          <a:effectLst/>
        </p:spPr>
        <p:txBody>
          <a:bodyPr vert="horz" wrap="square" lIns="91440" tIns="45720" rIns="91440" bIns="45720" numCol="1" anchor="t" anchorCtr="0" compatLnSpc="1"/>
          <a:lstStyle>
            <a:lvl1pPr algn="ctr" eaLnBrk="1" hangingPunct="1">
              <a:defRPr sz="1000">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37990" name="Rectangle 6"/>
          <p:cNvSpPr>
            <a:spLocks noGrp="1" noChangeArrowheads="1"/>
          </p:cNvSpPr>
          <p:nvPr>
            <p:ph type="sldNum" sz="quarter" idx="4"/>
          </p:nvPr>
        </p:nvSpPr>
        <p:spPr bwMode="auto">
          <a:xfrm>
            <a:off x="7315200" y="6248400"/>
            <a:ext cx="1295400" cy="457200"/>
          </a:xfrm>
          <a:prstGeom prst="rect">
            <a:avLst/>
          </a:prstGeom>
          <a:noFill/>
          <a:ln>
            <a:noFill/>
          </a:ln>
          <a:effectLst/>
        </p:spPr>
        <p:txBody>
          <a:bodyPr vert="horz" wrap="square" lIns="91440" tIns="45720" rIns="91440" bIns="45720" numCol="1" anchor="t" anchorCtr="0" compatLnSpc="1"/>
          <a:lstStyle>
            <a:lvl1pPr algn="r">
              <a:defRPr sz="1000"/>
            </a:lvl1pPr>
          </a:lstStyle>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l" rtl="0" eaLnBrk="0" fontAlgn="base" hangingPunct="0">
        <a:spcBef>
          <a:spcPct val="0"/>
        </a:spcBef>
        <a:spcAft>
          <a:spcPct val="0"/>
        </a:spcAft>
        <a:defRPr sz="3600" b="1" kern="1200">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3600" b="1">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3600" b="1">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3600" b="1">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sz="3600" b="1">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sz="3600" b="1">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sz="3600" b="1">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sz="3600" b="1">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4.jpeg"/><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5.w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http://v.qq.com/iframe/player.html?vid=u0160xr47hl&amp;500&amp;375&amp;auto=0" TargetMode="External"/><Relationship Id="rId1" Type="http://schemas.openxmlformats.org/officeDocument/2006/relationships/hyperlink" Target="https://v.qq.com/x/page/l051668u0vo.html" TargetMode="Externa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2.xml"/><Relationship Id="rId2" Type="http://schemas.openxmlformats.org/officeDocument/2006/relationships/image" Target="../media/image7.png"/><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8.GIF"/></Relationships>
</file>

<file path=ppt/slides/_rels/slide10.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12.xml"/><Relationship Id="rId3" Type="http://schemas.openxmlformats.org/officeDocument/2006/relationships/image" Target="../media/image9.wmf"/><Relationship Id="rId2" Type="http://schemas.openxmlformats.org/officeDocument/2006/relationships/oleObject" Target="../embeddings/oleObject1.bin"/><Relationship Id="rId1" Type="http://schemas.openxmlformats.org/officeDocument/2006/relationships/tags" Target="../tags/tag1.xml"/></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vmlDrawing" Target="../drawings/vmlDrawing2.vml"/><Relationship Id="rId4" Type="http://schemas.openxmlformats.org/officeDocument/2006/relationships/slideLayout" Target="../slideLayouts/slideLayout12.xml"/><Relationship Id="rId3" Type="http://schemas.openxmlformats.org/officeDocument/2006/relationships/image" Target="../media/image9.wmf"/><Relationship Id="rId2" Type="http://schemas.openxmlformats.org/officeDocument/2006/relationships/oleObject" Target="../embeddings/oleObject2.bin"/><Relationship Id="rId1" Type="http://schemas.openxmlformats.org/officeDocument/2006/relationships/tags" Target="../tags/tag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2.xml"/><Relationship Id="rId1"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v.qq.com/iframe/player.html?vid=u0160xr47hl&amp;500&amp;375&amp;auto=0" TargetMode="Externa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13.wmf"/></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5.wmf"/><Relationship Id="rId1" Type="http://schemas.openxmlformats.org/officeDocument/2006/relationships/image" Target="../media/image14.w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6.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2.xml"/><Relationship Id="rId1" Type="http://schemas.openxmlformats.org/officeDocument/2006/relationships/image" Target="../media/image17.jpe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2.xml"/><Relationship Id="rId2" Type="http://schemas.openxmlformats.org/officeDocument/2006/relationships/image" Target="../media/image19.wmf"/><Relationship Id="rId1" Type="http://schemas.openxmlformats.org/officeDocument/2006/relationships/image" Target="../media/image18.wmf"/></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2.xml"/><Relationship Id="rId1" Type="http://schemas.openxmlformats.org/officeDocument/2006/relationships/image" Target="../media/image20.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jpeg"/><Relationship Id="rId1" Type="http://schemas.openxmlformats.org/officeDocument/2006/relationships/hyperlink" Target="https://www.baidu.com/s?wd=%E9%87%91%E5%B1%9E%E6%9D%90%E6%96%99&amp;tn=SE_PcZhidaonwhc_ngpagmjz&amp;rsv_dl=gh_pc_zhidao" TargetMode="External"/></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2.xml"/><Relationship Id="rId2" Type="http://schemas.openxmlformats.org/officeDocument/2006/relationships/hyperlink" Target="https://www.bilibili.com/video/av242667498" TargetMode="External"/><Relationship Id="rId1" Type="http://schemas.openxmlformats.org/officeDocument/2006/relationships/image" Target="../media/image21.png"/></Relationships>
</file>

<file path=ppt/slides/_rels/slide29.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12.xml"/><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image" Target="../media/image22.jpeg"/></Relationships>
</file>

<file path=ppt/slides/_rels/slide30.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12.xml"/><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hyperlink" Target="file:///F:\&#25945;&#23398;\&#23433;&#20840;06&#37329;&#23646;&#24037;&#33402;&#23398;\&#23433;&#20840;\&#31532;&#22235;&#31687;\&#31532;&#22235;&#31687;\v74.bmp" TargetMode="External"/></Relationships>
</file>

<file path=ppt/slides/_rels/slide31.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slideLayout" Target="../slideLayouts/slideLayout12.xml"/><Relationship Id="rId4" Type="http://schemas.openxmlformats.org/officeDocument/2006/relationships/image" Target="../media/image20.png"/><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image" Target="../media/image27.png"/></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2.xml"/><Relationship Id="rId2" Type="http://schemas.openxmlformats.org/officeDocument/2006/relationships/image" Target="../media/image31.png"/><Relationship Id="rId1" Type="http://schemas.openxmlformats.org/officeDocument/2006/relationships/image" Target="../media/image30.png"/></Relationships>
</file>

<file path=ppt/slides/_rels/slide3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image" Target="../media/image32.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2.xml"/><Relationship Id="rId2" Type="http://schemas.openxmlformats.org/officeDocument/2006/relationships/image" Target="../media/image3.jpeg"/><Relationship Id="rId1" Type="http://schemas.openxmlformats.org/officeDocument/2006/relationships/image" Target="../media/image36.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2.xml"/><Relationship Id="rId1" Type="http://schemas.openxmlformats.org/officeDocument/2006/relationships/image" Target="../media/image37.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8.wmf"/></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2.xml"/><Relationship Id="rId2" Type="http://schemas.openxmlformats.org/officeDocument/2006/relationships/image" Target="../media/image40.png"/><Relationship Id="rId1" Type="http://schemas.openxmlformats.org/officeDocument/2006/relationships/image" Target="../media/image39.jpe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notesSlide" Target="../notesSlides/notesSlide27.xml"/><Relationship Id="rId7" Type="http://schemas.openxmlformats.org/officeDocument/2006/relationships/slideLayout" Target="../slideLayouts/slideLayout2.xml"/><Relationship Id="rId6" Type="http://schemas.openxmlformats.org/officeDocument/2006/relationships/hyperlink" Target="https://haokan.baidu.com/v?vid=9173625988225902537&amp;pd=bjh&amp;fr=bjhauthor&amp;type=video" TargetMode="External"/><Relationship Id="rId5" Type="http://schemas.openxmlformats.org/officeDocument/2006/relationships/hyperlink" Target="https://v.qq.com/x/page/b0551qvjipq.html" TargetMode="External"/><Relationship Id="rId4" Type="http://schemas.openxmlformats.org/officeDocument/2006/relationships/image" Target="../media/image43.jpeg"/><Relationship Id="rId3" Type="http://schemas.openxmlformats.org/officeDocument/2006/relationships/hyperlink" Target="http://www.weld.labs.gov.cn/ziliaoku/tuxiang/20021025/images/image_24b_jpg.jpg" TargetMode="External"/><Relationship Id="rId2" Type="http://schemas.openxmlformats.org/officeDocument/2006/relationships/image" Target="../media/image42.wmf"/><Relationship Id="rId1" Type="http://schemas.openxmlformats.org/officeDocument/2006/relationships/image" Target="../media/image41.jpe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4.png"/></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45.jpeg"/><Relationship Id="rId1" Type="http://schemas.openxmlformats.org/officeDocument/2006/relationships/hyperlink" Target="http://www.weld.labs.gov.cn/ziliaoku/tuxiang/20021025/images/T4-1_gif.jpg" TargetMode="Externa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6.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7.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48.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49.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50.jpeg"/></Relationships>
</file>

<file path=ppt/slides/_rels/slide51.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hyperlink" Target="https://v.qq.com/x/page/v0504pcanqu.html" TargetMode="External"/><Relationship Id="rId2" Type="http://schemas.openxmlformats.org/officeDocument/2006/relationships/hyperlink" Target="https://haokan.baidu.com/v?vid=4472104022889140456&amp;pd=bjh&amp;fr=bjhauthor&amp;type=video" TargetMode="External"/><Relationship Id="rId1" Type="http://schemas.openxmlformats.org/officeDocument/2006/relationships/hyperlink" Target="https://v.qq.com/x/page/b0551qvjipq.html" TargetMode="External"/></Relationships>
</file>

<file path=ppt/slides/_rels/slide52.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2.xml"/><Relationship Id="rId2" Type="http://schemas.openxmlformats.org/officeDocument/2006/relationships/hyperlink" Target="https://v.qq.com/x/page/v0504pcanqu.html" TargetMode="External"/><Relationship Id="rId1" Type="http://schemas.openxmlformats.org/officeDocument/2006/relationships/image" Target="../media/image51.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2.xml"/><Relationship Id="rId2" Type="http://schemas.openxmlformats.org/officeDocument/2006/relationships/hyperlink" Target="https://haokan.baidu.com/v?vid=8080957891470963833&amp;pd=bjh&amp;fr=bjhauthor&amp;type=video" TargetMode="External"/><Relationship Id="rId1" Type="http://schemas.openxmlformats.org/officeDocument/2006/relationships/image" Target="../media/image52.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7.xml"/><Relationship Id="rId2" Type="http://schemas.openxmlformats.org/officeDocument/2006/relationships/hyperlink" Target="https://v.qq.com/x/page/o0388k18jg7.html" TargetMode="External"/><Relationship Id="rId1" Type="http://schemas.openxmlformats.org/officeDocument/2006/relationships/image" Target="../media/image53.jpeg"/></Relationships>
</file>

<file path=ppt/slides/_rels/slide58.xml.rels><?xml version="1.0" encoding="UTF-8" standalone="yes"?>
<Relationships xmlns="http://schemas.openxmlformats.org/package/2006/relationships"><Relationship Id="rId4" Type="http://schemas.openxmlformats.org/officeDocument/2006/relationships/notesSlide" Target="../notesSlides/notesSlide34.xml"/><Relationship Id="rId3" Type="http://schemas.openxmlformats.org/officeDocument/2006/relationships/slideLayout" Target="../slideLayouts/slideLayout7.xml"/><Relationship Id="rId2" Type="http://schemas.openxmlformats.org/officeDocument/2006/relationships/hyperlink" Target="http://www.iqiyi.com/w_19ruhe3zit.html" TargetMode="External"/><Relationship Id="rId1" Type="http://schemas.openxmlformats.org/officeDocument/2006/relationships/hyperlink" Target="https://v.qq.com/x/page/o0388k18jg7.html" TargetMode="External"/></Relationships>
</file>

<file path=ppt/slides/_rels/slide59.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7.xml"/><Relationship Id="rId2" Type="http://schemas.openxmlformats.org/officeDocument/2006/relationships/image" Target="../media/image54.png"/><Relationship Id="rId1" Type="http://schemas.openxmlformats.org/officeDocument/2006/relationships/hyperlink" Target="http://maihanji.com/bbs/filess/2007-1/8575_8.gif" TargetMode="Externa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image" Target="../media/image55.png"/></Relationships>
</file>

<file path=ppt/slides/_rels/slide62.xml.rels><?xml version="1.0" encoding="UTF-8" standalone="yes"?>
<Relationships xmlns="http://schemas.openxmlformats.org/package/2006/relationships"><Relationship Id="rId5" Type="http://schemas.openxmlformats.org/officeDocument/2006/relationships/notesSlide" Target="../notesSlides/notesSlide38.xml"/><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56.png"/><Relationship Id="rId1" Type="http://schemas.openxmlformats.org/officeDocument/2006/relationships/oleObject" Target="../embeddings/oleObject3.bin"/></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haokan.baidu.com/v?vid=5187378294138984040&amp;pd=bjh&amp;fr=bjhauthor&amp;type=video" TargetMode="Externa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Rectangle 2"/>
          <p:cNvSpPr>
            <a:spLocks noGrp="1"/>
          </p:cNvSpPr>
          <p:nvPr>
            <p:ph type="ctrTitle"/>
          </p:nvPr>
        </p:nvSpPr>
        <p:spPr>
          <a:xfrm>
            <a:off x="827088" y="1414463"/>
            <a:ext cx="5184775" cy="935037"/>
          </a:xfrm>
        </p:spPr>
        <p:txBody>
          <a:bodyPr vert="horz" wrap="square" lIns="91440" tIns="45720" rIns="91440" bIns="45720" anchor="ctr" anchorCtr="0"/>
          <a:p>
            <a:pPr algn="ctr" eaLnBrk="1" hangingPunct="1">
              <a:buClrTx/>
              <a:buSzTx/>
              <a:buFontTx/>
            </a:pPr>
            <a:r>
              <a:rPr lang="zh-CN" altLang="en-US" sz="5400" kern="1200" dirty="0">
                <a:solidFill>
                  <a:srgbClr val="86511C"/>
                </a:solidFill>
                <a:latin typeface="+mj-lt"/>
                <a:ea typeface="华文彩云" panose="02010800040101010101" pitchFamily="2" charset="-122"/>
                <a:cs typeface="+mj-cs"/>
              </a:rPr>
              <a:t>机械制造基础</a:t>
            </a:r>
            <a:endParaRPr lang="zh-CN" altLang="en-US" sz="5400" kern="1200" dirty="0">
              <a:solidFill>
                <a:srgbClr val="86511C"/>
              </a:solidFill>
              <a:latin typeface="+mj-lt"/>
              <a:ea typeface="华文彩云" panose="02010800040101010101" pitchFamily="2" charset="-122"/>
              <a:cs typeface="+mj-cs"/>
            </a:endParaRPr>
          </a:p>
        </p:txBody>
      </p:sp>
      <p:sp>
        <p:nvSpPr>
          <p:cNvPr id="979971" name="Rectangle 3"/>
          <p:cNvSpPr>
            <a:spLocks noGrp="1"/>
          </p:cNvSpPr>
          <p:nvPr>
            <p:ph type="subTitle" idx="1"/>
          </p:nvPr>
        </p:nvSpPr>
        <p:spPr>
          <a:xfrm>
            <a:off x="2813050" y="3860800"/>
            <a:ext cx="5646738" cy="601663"/>
          </a:xfrm>
        </p:spPr>
        <p:txBody>
          <a:bodyPr vert="horz" wrap="square" lIns="91440" tIns="45720" rIns="91440" bIns="45720" anchor="t" anchorCtr="0"/>
          <a:p>
            <a:pPr eaLnBrk="1" hangingPunct="1">
              <a:buClrTx/>
              <a:buSzTx/>
            </a:pPr>
            <a:r>
              <a:rPr lang="zh-CN" altLang="en-US" b="1" kern="1200" dirty="0">
                <a:latin typeface="华文彩云" panose="02010800040101010101" pitchFamily="2" charset="-122"/>
                <a:ea typeface="华文彩云" panose="02010800040101010101" pitchFamily="2" charset="-122"/>
                <a:cs typeface="+mn-cs"/>
              </a:rPr>
              <a:t>许虹（机械与动力工程学院）</a:t>
            </a:r>
            <a:endParaRPr lang="zh-CN" altLang="en-US" b="1" kern="1200" dirty="0">
              <a:latin typeface="华文彩云" panose="02010800040101010101" pitchFamily="2" charset="-122"/>
              <a:ea typeface="华文彩云" panose="02010800040101010101" pitchFamily="2" charset="-122"/>
              <a:cs typeface="+mn-cs"/>
            </a:endParaRPr>
          </a:p>
          <a:p>
            <a:pPr eaLnBrk="1" hangingPunct="1">
              <a:buClrTx/>
              <a:buSzTx/>
            </a:pPr>
            <a:r>
              <a:rPr lang="en-US" altLang="zh-CN" b="1" kern="1200" dirty="0">
                <a:latin typeface="华文彩云" panose="02010800040101010101" pitchFamily="2" charset="-122"/>
                <a:ea typeface="华文彩云" panose="02010800040101010101" pitchFamily="2" charset="-122"/>
                <a:cs typeface="+mn-cs"/>
              </a:rPr>
              <a:t>xuhong@ecust.edu.cn</a:t>
            </a:r>
            <a:endParaRPr lang="en-US" altLang="zh-CN" b="1" kern="1200" dirty="0">
              <a:latin typeface="华文彩云" panose="02010800040101010101" pitchFamily="2" charset="-122"/>
              <a:ea typeface="华文彩云" panose="02010800040101010101" pitchFamily="2" charset="-122"/>
              <a:cs typeface="+mn-cs"/>
            </a:endParaRPr>
          </a:p>
          <a:p>
            <a:pPr eaLnBrk="1" hangingPunct="1">
              <a:buClrTx/>
              <a:buSzTx/>
            </a:pPr>
            <a:r>
              <a:rPr lang="en-US" altLang="zh-CN" b="1" kern="1200" dirty="0">
                <a:latin typeface="华文彩云" panose="02010800040101010101" pitchFamily="2" charset="-122"/>
                <a:ea typeface="华文彩云" panose="02010800040101010101" pitchFamily="2" charset="-122"/>
                <a:cs typeface="+mn-cs"/>
              </a:rPr>
              <a:t>32</a:t>
            </a:r>
            <a:r>
              <a:rPr lang="zh-CN" altLang="en-US" b="1" kern="1200" dirty="0">
                <a:latin typeface="华文彩云" panose="02010800040101010101" pitchFamily="2" charset="-122"/>
                <a:ea typeface="华文彩云" panose="02010800040101010101" pitchFamily="2" charset="-122"/>
                <a:cs typeface="+mn-cs"/>
              </a:rPr>
              <a:t>学时（理论）</a:t>
            </a:r>
            <a:endParaRPr lang="zh-CN" altLang="en-US" b="1" kern="1200" dirty="0">
              <a:latin typeface="华文彩云" panose="02010800040101010101" pitchFamily="2" charset="-122"/>
              <a:ea typeface="华文彩云" panose="02010800040101010101" pitchFamily="2" charset="-122"/>
              <a:cs typeface="+mn-cs"/>
            </a:endParaRPr>
          </a:p>
          <a:p>
            <a:pPr eaLnBrk="1" hangingPunct="1">
              <a:buClrTx/>
              <a:buSzTx/>
            </a:pPr>
            <a:endParaRPr lang="en-US" altLang="zh-CN" b="1" kern="1200" dirty="0">
              <a:latin typeface="宋体" panose="02010600030101010101" pitchFamily="2" charset="-122"/>
              <a:ea typeface="+mn-ea"/>
              <a:cs typeface="+mn-cs"/>
            </a:endParaRPr>
          </a:p>
        </p:txBody>
      </p:sp>
      <p:sp>
        <p:nvSpPr>
          <p:cNvPr id="4100" name="WordArt 4"/>
          <p:cNvSpPr>
            <a:spLocks noTextEdit="1"/>
          </p:cNvSpPr>
          <p:nvPr/>
        </p:nvSpPr>
        <p:spPr>
          <a:xfrm>
            <a:off x="6659563" y="1557338"/>
            <a:ext cx="1225550" cy="792162"/>
          </a:xfrm>
          <a:prstGeom prst="rect">
            <a:avLst/>
          </a:prstGeom>
        </p:spPr>
        <p:txBody>
          <a:bodyPr wrap="none" fromWordArt="1">
            <a:prstTxWarp prst="textWave1">
              <a:avLst>
                <a:gd name="adj1" fmla="val 13005"/>
                <a:gd name="adj2" fmla="val 0"/>
              </a:avLst>
            </a:prstTxWarp>
            <a:normAutofit/>
          </a:bodyPr>
          <a:p>
            <a:pPr algn="ctr"/>
            <a:r>
              <a:rPr lang="zh-CN" altLang="en-US" sz="3600" spc="-360">
                <a:ln w="12700" cap="flat" cmpd="sng">
                  <a:solidFill>
                    <a:srgbClr val="FF6600"/>
                  </a:solidFill>
                  <a:prstDash val="solid"/>
                  <a:headEnd type="none" w="med" len="med"/>
                  <a:tailEnd type="none" w="med" len="med"/>
                </a:ln>
                <a:solidFill>
                  <a:srgbClr val="00FF00"/>
                </a:solidFill>
                <a:effectLst>
                  <a:outerShdw dist="125724" dir="18900000" algn="ctr" rotWithShape="0">
                    <a:srgbClr val="000099"/>
                  </a:outerShdw>
                </a:effectLst>
                <a:latin typeface="宋体" panose="02010600030101010101" pitchFamily="2" charset="-122"/>
                <a:ea typeface="宋体" panose="02010600030101010101" pitchFamily="2" charset="-122"/>
              </a:rPr>
              <a:t>ECUST</a:t>
            </a:r>
            <a:endParaRPr lang="zh-CN" altLang="en-US" sz="3600" spc="-360">
              <a:ln w="12700" cap="flat" cmpd="sng">
                <a:solidFill>
                  <a:srgbClr val="FF6600"/>
                </a:solidFill>
                <a:prstDash val="solid"/>
                <a:headEnd type="none" w="med" len="med"/>
                <a:tailEnd type="none" w="med" len="med"/>
              </a:ln>
              <a:solidFill>
                <a:srgbClr val="00FF00"/>
              </a:solidFill>
              <a:effectLst>
                <a:outerShdw dist="125724" dir="18900000" algn="ctr" rotWithShape="0">
                  <a:srgbClr val="000099"/>
                </a:outerShdw>
              </a:effectLst>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79971">
                                            <p:txEl>
                                              <p:charRg st="0" end="1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79971">
                                            <p:txEl>
                                              <p:charRg st="14" end="3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79971">
                                            <p:txEl>
                                              <p:charRg st="34" end="4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9971"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Rectangle 2"/>
          <p:cNvSpPr>
            <a:spLocks noGrp="1"/>
          </p:cNvSpPr>
          <p:nvPr>
            <p:ph type="title"/>
          </p:nvPr>
        </p:nvSpPr>
        <p:spPr/>
        <p:txBody>
          <a:bodyPr vert="horz" wrap="square" lIns="91440" tIns="45720" rIns="91440" bIns="45720" anchor="ctr" anchorCtr="0"/>
          <a:p>
            <a:pPr eaLnBrk="1" hangingPunct="1"/>
            <a:r>
              <a:rPr lang="en-US" altLang="zh-CN" sz="4000" dirty="0">
                <a:latin typeface="楷体_GB2312" pitchFamily="49" charset="-122"/>
                <a:ea typeface="楷体_GB2312" pitchFamily="49" charset="-122"/>
              </a:rPr>
              <a:t>     </a:t>
            </a:r>
            <a:r>
              <a:rPr lang="zh-CN" altLang="en-US" sz="4000" dirty="0">
                <a:latin typeface="楷体_GB2312" pitchFamily="49" charset="-122"/>
                <a:ea typeface="楷体_GB2312" pitchFamily="49" charset="-122"/>
              </a:rPr>
              <a:t>第四篇  焊接</a:t>
            </a:r>
            <a:endParaRPr lang="zh-CN" altLang="en-US" sz="4000" dirty="0">
              <a:latin typeface="楷体_GB2312" pitchFamily="49" charset="-122"/>
              <a:ea typeface="楷体_GB2312" pitchFamily="49" charset="-122"/>
            </a:endParaRPr>
          </a:p>
        </p:txBody>
      </p:sp>
      <p:sp>
        <p:nvSpPr>
          <p:cNvPr id="5123" name="Rectangle 3"/>
          <p:cNvSpPr>
            <a:spLocks noGrp="1"/>
          </p:cNvSpPr>
          <p:nvPr>
            <p:ph idx="1"/>
          </p:nvPr>
        </p:nvSpPr>
        <p:spPr>
          <a:xfrm>
            <a:off x="395288" y="1412875"/>
            <a:ext cx="8153400" cy="5111750"/>
          </a:xfrm>
        </p:spPr>
        <p:txBody>
          <a:bodyPr vert="horz" wrap="square" lIns="91440" tIns="45720" rIns="91440" bIns="45720" anchor="t" anchorCtr="0"/>
          <a:p>
            <a:pPr eaLnBrk="1" hangingPunct="1">
              <a:lnSpc>
                <a:spcPct val="90000"/>
              </a:lnSpc>
              <a:buFont typeface="Wingdings" panose="05000000000000000000" pitchFamily="2" charset="2"/>
              <a:buChar char="p"/>
            </a:pPr>
            <a:r>
              <a:rPr lang="zh-CN" altLang="en-US" sz="2400" b="1" dirty="0">
                <a:solidFill>
                  <a:srgbClr val="008000"/>
                </a:solidFill>
                <a:latin typeface="华文楷体" panose="02010600040101010101" pitchFamily="2" charset="-122"/>
                <a:ea typeface="华文楷体" panose="02010600040101010101" pitchFamily="2" charset="-122"/>
                <a:cs typeface="华文楷体" panose="02010600040101010101" pitchFamily="2" charset="-122"/>
              </a:rPr>
              <a:t>焊接</a:t>
            </a:r>
            <a:r>
              <a:rPr lang="zh-CN" altLang="en-US" sz="2400" b="1" dirty="0">
                <a:latin typeface="华文楷体" panose="02010600040101010101" pitchFamily="2" charset="-122"/>
                <a:ea typeface="华文楷体" panose="02010600040101010101" pitchFamily="2" charset="-122"/>
                <a:cs typeface="华文楷体" panose="02010600040101010101" pitchFamily="2" charset="-122"/>
              </a:rPr>
              <a:t>：利用</a:t>
            </a:r>
            <a:r>
              <a:rPr lang="zh-CN" altLang="en-US" sz="2400" b="1" dirty="0">
                <a:solidFill>
                  <a:srgbClr val="FF0000"/>
                </a:solidFill>
                <a:latin typeface="华文楷体" panose="02010600040101010101" pitchFamily="2" charset="-122"/>
                <a:ea typeface="华文楷体" panose="02010600040101010101" pitchFamily="2" charset="-122"/>
                <a:cs typeface="华文楷体" panose="02010600040101010101" pitchFamily="2" charset="-122"/>
              </a:rPr>
              <a:t>加热或加压</a:t>
            </a:r>
            <a:r>
              <a:rPr lang="en-US" altLang="zh-CN" sz="2400" b="1" dirty="0">
                <a:latin typeface="华文楷体" panose="02010600040101010101" pitchFamily="2" charset="-122"/>
                <a:ea typeface="华文楷体" panose="02010600040101010101" pitchFamily="2" charset="-122"/>
                <a:cs typeface="华文楷体" panose="02010600040101010101" pitchFamily="2" charset="-122"/>
              </a:rPr>
              <a:t>(</a:t>
            </a:r>
            <a:r>
              <a:rPr lang="zh-CN" altLang="en-US" sz="2400" b="1" dirty="0">
                <a:latin typeface="华文楷体" panose="02010600040101010101" pitchFamily="2" charset="-122"/>
                <a:ea typeface="华文楷体" panose="02010600040101010101" pitchFamily="2" charset="-122"/>
                <a:cs typeface="华文楷体" panose="02010600040101010101" pitchFamily="2" charset="-122"/>
              </a:rPr>
              <a:t>或两者并用</a:t>
            </a:r>
            <a:r>
              <a:rPr lang="en-US" altLang="zh-CN" sz="2400" b="1" dirty="0">
                <a:latin typeface="华文楷体" panose="02010600040101010101" pitchFamily="2" charset="-122"/>
                <a:ea typeface="华文楷体" panose="02010600040101010101" pitchFamily="2" charset="-122"/>
                <a:cs typeface="华文楷体" panose="02010600040101010101" pitchFamily="2" charset="-122"/>
              </a:rPr>
              <a:t>)</a:t>
            </a:r>
            <a:r>
              <a:rPr lang="zh-CN" altLang="en-US" sz="2400" b="1" dirty="0">
                <a:latin typeface="华文楷体" panose="02010600040101010101" pitchFamily="2" charset="-122"/>
                <a:ea typeface="华文楷体" panose="02010600040101010101" pitchFamily="2" charset="-122"/>
                <a:cs typeface="华文楷体" panose="02010600040101010101" pitchFamily="2" charset="-122"/>
              </a:rPr>
              <a:t>，（借助原子间的</a:t>
            </a:r>
            <a:r>
              <a:rPr lang="zh-CN" altLang="en-US" sz="2400" b="1" dirty="0">
                <a:solidFill>
                  <a:srgbClr val="FF0000"/>
                </a:solidFill>
                <a:latin typeface="华文楷体" panose="02010600040101010101" pitchFamily="2" charset="-122"/>
                <a:ea typeface="华文楷体" panose="02010600040101010101" pitchFamily="2" charset="-122"/>
                <a:cs typeface="华文楷体" panose="02010600040101010101" pitchFamily="2" charset="-122"/>
              </a:rPr>
              <a:t>扩散和结合</a:t>
            </a:r>
            <a:r>
              <a:rPr lang="zh-CN" altLang="en-US" sz="2400" b="1" dirty="0">
                <a:latin typeface="华文楷体" panose="02010600040101010101" pitchFamily="2" charset="-122"/>
                <a:ea typeface="华文楷体" panose="02010600040101010101" pitchFamily="2" charset="-122"/>
                <a:cs typeface="华文楷体" panose="02010600040101010101" pitchFamily="2" charset="-122"/>
              </a:rPr>
              <a:t>）使工件（几部分）产生原子间结合的一种连接（</a:t>
            </a:r>
            <a:r>
              <a:rPr lang="zh-CN" altLang="en-US" sz="2400" b="1" dirty="0">
                <a:solidFill>
                  <a:srgbClr val="FF0000"/>
                </a:solidFill>
                <a:latin typeface="华文楷体" panose="02010600040101010101" pitchFamily="2" charset="-122"/>
                <a:ea typeface="华文楷体" panose="02010600040101010101" pitchFamily="2" charset="-122"/>
                <a:cs typeface="华文楷体" panose="02010600040101010101" pitchFamily="2" charset="-122"/>
              </a:rPr>
              <a:t>永久性连接</a:t>
            </a:r>
            <a:r>
              <a:rPr lang="zh-CN" altLang="en-US" sz="2400" b="1" dirty="0">
                <a:latin typeface="华文楷体" panose="02010600040101010101" pitchFamily="2" charset="-122"/>
                <a:ea typeface="华文楷体" panose="02010600040101010101" pitchFamily="2" charset="-122"/>
                <a:cs typeface="华文楷体" panose="02010600040101010101" pitchFamily="2" charset="-122"/>
              </a:rPr>
              <a:t>）方法。</a:t>
            </a:r>
            <a:endParaRPr lang="zh-CN" altLang="en-US" sz="2400" b="1" dirty="0">
              <a:solidFill>
                <a:srgbClr val="FF0000"/>
              </a:solidFill>
              <a:latin typeface="华文楷体" panose="02010600040101010101" pitchFamily="2" charset="-122"/>
              <a:ea typeface="华文楷体" panose="02010600040101010101" pitchFamily="2" charset="-122"/>
              <a:cs typeface="华文楷体" panose="02010600040101010101" pitchFamily="2" charset="-122"/>
            </a:endParaRPr>
          </a:p>
          <a:p>
            <a:pPr eaLnBrk="1" hangingPunct="1">
              <a:lnSpc>
                <a:spcPct val="90000"/>
              </a:lnSpc>
              <a:buClr>
                <a:srgbClr val="008000"/>
              </a:buClr>
              <a:buFont typeface="Wingdings" panose="05000000000000000000" pitchFamily="2" charset="2"/>
              <a:buChar char="p"/>
            </a:pPr>
            <a:r>
              <a:rPr lang="zh-CN" altLang="en-US" sz="2400" b="1" dirty="0">
                <a:latin typeface="华文楷体" panose="02010600040101010101" pitchFamily="2" charset="-122"/>
                <a:ea typeface="华文楷体" panose="02010600040101010101" pitchFamily="2" charset="-122"/>
                <a:cs typeface="华文楷体" panose="02010600040101010101" pitchFamily="2" charset="-122"/>
              </a:rPr>
              <a:t>优点：连接性能好、省工省料、成本低、重量轻、可简化工艺、焊缝密封性好。下料阶段：化大为小 拼小成大；化复杂为简单，拼简单成复杂</a:t>
            </a:r>
            <a:endParaRPr lang="zh-CN" altLang="en-US" sz="2400" b="1" dirty="0">
              <a:latin typeface="华文楷体" panose="02010600040101010101" pitchFamily="2" charset="-122"/>
              <a:ea typeface="华文楷体" panose="02010600040101010101" pitchFamily="2" charset="-122"/>
              <a:cs typeface="华文楷体" panose="02010600040101010101" pitchFamily="2" charset="-122"/>
            </a:endParaRPr>
          </a:p>
          <a:p>
            <a:pPr eaLnBrk="1" hangingPunct="1">
              <a:lnSpc>
                <a:spcPct val="90000"/>
              </a:lnSpc>
              <a:buClr>
                <a:srgbClr val="008000"/>
              </a:buClr>
              <a:buFont typeface="Wingdings" panose="05000000000000000000" pitchFamily="2" charset="2"/>
              <a:buChar char="p"/>
            </a:pPr>
            <a:r>
              <a:rPr lang="zh-CN" altLang="en-US" sz="2400" b="1" dirty="0">
                <a:latin typeface="华文楷体" panose="02010600040101010101" pitchFamily="2" charset="-122"/>
                <a:ea typeface="华文楷体" panose="02010600040101010101" pitchFamily="2" charset="-122"/>
                <a:cs typeface="华文楷体" panose="02010600040101010101" pitchFamily="2" charset="-122"/>
              </a:rPr>
              <a:t>缺点：结构不可拆，更换修</a:t>
            </a:r>
            <a:endParaRPr lang="zh-CN" altLang="en-US" sz="2400" b="1" dirty="0">
              <a:latin typeface="华文楷体" panose="02010600040101010101" pitchFamily="2" charset="-122"/>
              <a:ea typeface="华文楷体" panose="02010600040101010101" pitchFamily="2" charset="-122"/>
              <a:cs typeface="华文楷体" panose="02010600040101010101" pitchFamily="2" charset="-122"/>
            </a:endParaRPr>
          </a:p>
          <a:p>
            <a:pPr eaLnBrk="1" hangingPunct="1">
              <a:lnSpc>
                <a:spcPct val="90000"/>
              </a:lnSpc>
              <a:buClr>
                <a:srgbClr val="008000"/>
              </a:buClr>
              <a:buFont typeface="Wingdings" panose="05000000000000000000" pitchFamily="2" charset="2"/>
              <a:buNone/>
            </a:pPr>
            <a:r>
              <a:rPr lang="zh-CN" altLang="en-US" sz="2400" b="1" dirty="0">
                <a:latin typeface="华文楷体" panose="02010600040101010101" pitchFamily="2" charset="-122"/>
                <a:ea typeface="华文楷体" panose="02010600040101010101" pitchFamily="2" charset="-122"/>
                <a:cs typeface="华文楷体" panose="02010600040101010101" pitchFamily="2" charset="-122"/>
              </a:rPr>
              <a:t>  理不方便；焊接接头组织性</a:t>
            </a:r>
            <a:endParaRPr lang="zh-CN" altLang="en-US" sz="2400" b="1" dirty="0">
              <a:latin typeface="华文楷体" panose="02010600040101010101" pitchFamily="2" charset="-122"/>
              <a:ea typeface="华文楷体" panose="02010600040101010101" pitchFamily="2" charset="-122"/>
              <a:cs typeface="华文楷体" panose="02010600040101010101" pitchFamily="2" charset="-122"/>
            </a:endParaRPr>
          </a:p>
          <a:p>
            <a:pPr eaLnBrk="1" hangingPunct="1">
              <a:lnSpc>
                <a:spcPct val="90000"/>
              </a:lnSpc>
              <a:buClr>
                <a:srgbClr val="008000"/>
              </a:buClr>
              <a:buFont typeface="Wingdings" panose="05000000000000000000" pitchFamily="2" charset="2"/>
              <a:buNone/>
            </a:pPr>
            <a:r>
              <a:rPr lang="zh-CN" altLang="en-US" sz="2400" b="1" dirty="0">
                <a:latin typeface="华文楷体" panose="02010600040101010101" pitchFamily="2" charset="-122"/>
                <a:ea typeface="华文楷体" panose="02010600040101010101" pitchFamily="2" charset="-122"/>
                <a:cs typeface="华文楷体" panose="02010600040101010101" pitchFamily="2" charset="-122"/>
              </a:rPr>
              <a:t>  能变坏；存在焊接应力，容</a:t>
            </a:r>
            <a:endParaRPr lang="zh-CN" altLang="en-US" sz="2400" b="1" dirty="0">
              <a:latin typeface="华文楷体" panose="02010600040101010101" pitchFamily="2" charset="-122"/>
              <a:ea typeface="华文楷体" panose="02010600040101010101" pitchFamily="2" charset="-122"/>
              <a:cs typeface="华文楷体" panose="02010600040101010101" pitchFamily="2" charset="-122"/>
            </a:endParaRPr>
          </a:p>
          <a:p>
            <a:pPr eaLnBrk="1" hangingPunct="1">
              <a:lnSpc>
                <a:spcPct val="90000"/>
              </a:lnSpc>
              <a:buClr>
                <a:srgbClr val="008000"/>
              </a:buClr>
              <a:buFont typeface="Wingdings" panose="05000000000000000000" pitchFamily="2" charset="2"/>
              <a:buNone/>
            </a:pPr>
            <a:r>
              <a:rPr lang="zh-CN" altLang="en-US" sz="2400" b="1" dirty="0">
                <a:latin typeface="华文楷体" panose="02010600040101010101" pitchFamily="2" charset="-122"/>
                <a:ea typeface="华文楷体" panose="02010600040101010101" pitchFamily="2" charset="-122"/>
                <a:cs typeface="华文楷体" panose="02010600040101010101" pitchFamily="2" charset="-122"/>
              </a:rPr>
              <a:t>  易产生焊接变形；容易出现</a:t>
            </a:r>
            <a:endParaRPr lang="zh-CN" altLang="en-US" sz="2400" b="1" dirty="0">
              <a:latin typeface="华文楷体" panose="02010600040101010101" pitchFamily="2" charset="-122"/>
              <a:ea typeface="华文楷体" panose="02010600040101010101" pitchFamily="2" charset="-122"/>
              <a:cs typeface="华文楷体" panose="02010600040101010101" pitchFamily="2" charset="-122"/>
            </a:endParaRPr>
          </a:p>
          <a:p>
            <a:pPr eaLnBrk="1" hangingPunct="1">
              <a:lnSpc>
                <a:spcPct val="90000"/>
              </a:lnSpc>
              <a:buClr>
                <a:srgbClr val="008000"/>
              </a:buClr>
              <a:buFont typeface="Wingdings" panose="05000000000000000000" pitchFamily="2" charset="2"/>
              <a:buNone/>
            </a:pPr>
            <a:r>
              <a:rPr lang="zh-CN" altLang="en-US" sz="2400" b="1" dirty="0">
                <a:latin typeface="华文楷体" panose="02010600040101010101" pitchFamily="2" charset="-122"/>
                <a:ea typeface="华文楷体" panose="02010600040101010101" pitchFamily="2" charset="-122"/>
                <a:cs typeface="华文楷体" panose="02010600040101010101" pitchFamily="2" charset="-122"/>
              </a:rPr>
              <a:t>  焊接缺陷等 。</a:t>
            </a:r>
            <a:endParaRPr lang="zh-CN" altLang="en-US" sz="2400" b="1" dirty="0">
              <a:latin typeface="华文楷体" panose="02010600040101010101" pitchFamily="2" charset="-122"/>
              <a:ea typeface="华文楷体" panose="02010600040101010101" pitchFamily="2" charset="-122"/>
              <a:cs typeface="华文楷体" panose="02010600040101010101" pitchFamily="2" charset="-122"/>
            </a:endParaRPr>
          </a:p>
        </p:txBody>
      </p:sp>
      <p:sp>
        <p:nvSpPr>
          <p:cNvPr id="5124" name="AutoShape 4"/>
          <p:cNvSpPr/>
          <p:nvPr/>
        </p:nvSpPr>
        <p:spPr>
          <a:xfrm>
            <a:off x="5076825" y="2816225"/>
            <a:ext cx="142875" cy="612775"/>
          </a:xfrm>
          <a:prstGeom prst="rightBrace">
            <a:avLst>
              <a:gd name="adj1" fmla="val 35740"/>
              <a:gd name="adj2" fmla="val 50000"/>
            </a:avLst>
          </a:prstGeom>
          <a:noFill/>
          <a:ln w="9525" cap="flat" cmpd="sng">
            <a:solidFill>
              <a:srgbClr val="FFFF99"/>
            </a:solidFill>
            <a:prstDash val="solid"/>
            <a:headEnd type="none" w="med" len="med"/>
            <a:tailEnd type="none" w="med" len="med"/>
          </a:ln>
        </p:spPr>
        <p:txBody>
          <a:bodyPr/>
          <a:p>
            <a:pPr eaLnBrk="1" hangingPunct="1"/>
            <a:endParaRPr lang="zh-CN" altLang="en-US" dirty="0">
              <a:latin typeface="Arial" panose="020B0604020202020204" pitchFamily="34" charset="0"/>
            </a:endParaRPr>
          </a:p>
        </p:txBody>
      </p:sp>
      <p:sp>
        <p:nvSpPr>
          <p:cNvPr id="5125" name="AutoShape 5"/>
          <p:cNvSpPr/>
          <p:nvPr/>
        </p:nvSpPr>
        <p:spPr>
          <a:xfrm rot="10800000">
            <a:off x="7620000" y="2816225"/>
            <a:ext cx="142875" cy="612775"/>
          </a:xfrm>
          <a:prstGeom prst="rightBrace">
            <a:avLst>
              <a:gd name="adj1" fmla="val 35740"/>
              <a:gd name="adj2" fmla="val 50000"/>
            </a:avLst>
          </a:prstGeom>
          <a:noFill/>
          <a:ln w="9525" cap="flat" cmpd="sng">
            <a:solidFill>
              <a:srgbClr val="FFFF99"/>
            </a:solidFill>
            <a:prstDash val="solid"/>
            <a:headEnd type="none" w="med" len="med"/>
            <a:tailEnd type="none" w="med" len="med"/>
          </a:ln>
        </p:spPr>
        <p:txBody>
          <a:bodyPr/>
          <a:p>
            <a:pPr eaLnBrk="1" hangingPunct="1"/>
            <a:endParaRPr lang="zh-CN" altLang="en-US" dirty="0">
              <a:latin typeface="Arial" panose="020B0604020202020204" pitchFamily="34" charset="0"/>
            </a:endParaRPr>
          </a:p>
        </p:txBody>
      </p:sp>
      <p:pic>
        <p:nvPicPr>
          <p:cNvPr id="5126" name="Picture 10" descr="Bs10_jpg"/>
          <p:cNvPicPr>
            <a:picLocks noChangeAspect="1"/>
          </p:cNvPicPr>
          <p:nvPr/>
        </p:nvPicPr>
        <p:blipFill>
          <a:blip r:embed="rId1"/>
          <a:stretch>
            <a:fillRect/>
          </a:stretch>
        </p:blipFill>
        <p:spPr>
          <a:xfrm>
            <a:off x="4787900" y="3500755"/>
            <a:ext cx="4058285" cy="3169285"/>
          </a:xfrm>
          <a:prstGeom prst="rect">
            <a:avLst/>
          </a:prstGeom>
          <a:noFill/>
          <a:ln w="9525">
            <a:noFill/>
          </a:ln>
        </p:spPr>
      </p:pic>
      <p:pic>
        <p:nvPicPr>
          <p:cNvPr id="100" name="图片 99"/>
          <p:cNvPicPr/>
          <p:nvPr/>
        </p:nvPicPr>
        <p:blipFill>
          <a:blip r:embed="rId2"/>
          <a:stretch>
            <a:fillRect/>
          </a:stretch>
        </p:blipFill>
        <p:spPr>
          <a:xfrm>
            <a:off x="684530" y="5492115"/>
            <a:ext cx="3963670" cy="1402080"/>
          </a:xfrm>
          <a:prstGeom prst="rect">
            <a:avLst/>
          </a:prstGeom>
          <a:noFill/>
          <a:ln w="9525">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2"/>
          <p:cNvSpPr>
            <a:spLocks noGrp="1"/>
          </p:cNvSpPr>
          <p:nvPr>
            <p:ph type="title"/>
          </p:nvPr>
        </p:nvSpPr>
        <p:spPr/>
        <p:txBody>
          <a:bodyPr vert="horz" wrap="square" lIns="91440" tIns="45720" rIns="91440" bIns="45720" anchor="ctr" anchorCtr="0"/>
          <a:p>
            <a:pPr algn="ctr" eaLnBrk="1" hangingPunct="1"/>
            <a:r>
              <a:rPr lang="zh-CN" altLang="en-US" sz="4400" dirty="0"/>
              <a:t>焊 接</a:t>
            </a:r>
            <a:endParaRPr lang="zh-CN" altLang="en-US" sz="4400" dirty="0"/>
          </a:p>
        </p:txBody>
      </p:sp>
      <p:sp>
        <p:nvSpPr>
          <p:cNvPr id="6147" name="Rectangle 3"/>
          <p:cNvSpPr>
            <a:spLocks noGrp="1"/>
          </p:cNvSpPr>
          <p:nvPr>
            <p:ph type="body" sz="half" idx="1"/>
          </p:nvPr>
        </p:nvSpPr>
        <p:spPr>
          <a:xfrm>
            <a:off x="457200" y="1371600"/>
            <a:ext cx="8142288" cy="4572000"/>
          </a:xfrm>
        </p:spPr>
        <p:txBody>
          <a:bodyPr vert="horz" wrap="square" lIns="91440" tIns="45720" rIns="91440" bIns="45720" anchor="t" anchorCtr="0"/>
          <a:p>
            <a:pPr eaLnBrk="1" hangingPunct="1">
              <a:buClr>
                <a:srgbClr val="008000"/>
              </a:buClr>
              <a:buSzTx/>
              <a:buFont typeface="Wingdings" panose="05000000000000000000" pitchFamily="2" charset="2"/>
              <a:buChar char="p"/>
            </a:pPr>
            <a:r>
              <a:rPr lang="zh-CN" altLang="en-US" b="1" dirty="0">
                <a:latin typeface="华文楷体" panose="02010600040101010101" pitchFamily="2" charset="-122"/>
                <a:ea typeface="华文楷体" panose="02010600040101010101" pitchFamily="2" charset="-122"/>
                <a:cs typeface="华文楷体" panose="02010600040101010101" pitchFamily="2" charset="-122"/>
              </a:rPr>
              <a:t>焊接方法（根据原子间产生结合的方式不同）</a:t>
            </a:r>
            <a:endParaRPr lang="zh-CN" altLang="en-US" b="1" dirty="0">
              <a:latin typeface="华文楷体" panose="02010600040101010101" pitchFamily="2" charset="-122"/>
              <a:ea typeface="华文楷体" panose="02010600040101010101" pitchFamily="2" charset="-122"/>
              <a:cs typeface="华文楷体" panose="02010600040101010101" pitchFamily="2" charset="-122"/>
            </a:endParaRPr>
          </a:p>
          <a:p>
            <a:pPr lvl="1" eaLnBrk="1" hangingPunct="1">
              <a:buClr>
                <a:srgbClr val="008000"/>
              </a:buClr>
              <a:buFont typeface="Wingdings" panose="05000000000000000000" pitchFamily="2" charset="2"/>
              <a:buChar char="n"/>
            </a:pPr>
            <a:r>
              <a:rPr lang="zh-CN" altLang="en-US" b="1" dirty="0">
                <a:latin typeface="华文楷体" panose="02010600040101010101" pitchFamily="2" charset="-122"/>
                <a:ea typeface="华文楷体" panose="02010600040101010101" pitchFamily="2" charset="-122"/>
                <a:cs typeface="华文楷体" panose="02010600040101010101" pitchFamily="2" charset="-122"/>
              </a:rPr>
              <a:t>熔焊：焊接过程中，将焊件接头加热至熔化状态，不加压力完成焊接的方法。</a:t>
            </a:r>
            <a:endParaRPr lang="en-US" altLang="zh-CN" b="1" dirty="0">
              <a:latin typeface="华文楷体" panose="02010600040101010101" pitchFamily="2" charset="-122"/>
              <a:ea typeface="华文楷体" panose="02010600040101010101" pitchFamily="2" charset="-122"/>
              <a:cs typeface="华文楷体" panose="02010600040101010101" pitchFamily="2" charset="-122"/>
            </a:endParaRPr>
          </a:p>
          <a:p>
            <a:pPr lvl="2" eaLnBrk="1" hangingPunct="1">
              <a:buClr>
                <a:srgbClr val="008000"/>
              </a:buClr>
              <a:buFont typeface="Wingdings" panose="05000000000000000000" pitchFamily="2" charset="2"/>
              <a:buChar char="p"/>
            </a:pPr>
            <a:r>
              <a:rPr lang="zh-CN" altLang="en-US" b="1" dirty="0">
                <a:latin typeface="华文楷体" panose="02010600040101010101" pitchFamily="2" charset="-122"/>
                <a:ea typeface="华文楷体" panose="02010600040101010101" pitchFamily="2" charset="-122"/>
                <a:cs typeface="华文楷体" panose="02010600040101010101" pitchFamily="2" charset="-122"/>
              </a:rPr>
              <a:t>利用金属溶化和凝固时的相互结晶而形成连接。</a:t>
            </a:r>
            <a:endParaRPr lang="zh-CN" altLang="en-US" b="1" dirty="0">
              <a:latin typeface="华文楷体" panose="02010600040101010101" pitchFamily="2" charset="-122"/>
              <a:ea typeface="华文楷体" panose="02010600040101010101" pitchFamily="2" charset="-122"/>
              <a:cs typeface="华文楷体" panose="02010600040101010101" pitchFamily="2" charset="-122"/>
            </a:endParaRPr>
          </a:p>
          <a:p>
            <a:pPr lvl="1" eaLnBrk="1" hangingPunct="1">
              <a:buClr>
                <a:srgbClr val="008000"/>
              </a:buClr>
              <a:buFont typeface="Wingdings" panose="05000000000000000000" pitchFamily="2" charset="2"/>
              <a:buChar char="n"/>
            </a:pPr>
            <a:r>
              <a:rPr lang="zh-CN" altLang="en-US" b="1" dirty="0">
                <a:latin typeface="华文楷体" panose="02010600040101010101" pitchFamily="2" charset="-122"/>
                <a:ea typeface="华文楷体" panose="02010600040101010101" pitchFamily="2" charset="-122"/>
                <a:cs typeface="华文楷体" panose="02010600040101010101" pitchFamily="2" charset="-122"/>
              </a:rPr>
              <a:t>压焊：焊接过程中必须对焊件施加压力</a:t>
            </a:r>
            <a:r>
              <a:rPr lang="en-US" altLang="zh-CN" b="1" dirty="0">
                <a:latin typeface="华文楷体" panose="02010600040101010101" pitchFamily="2" charset="-122"/>
                <a:ea typeface="华文楷体" panose="02010600040101010101" pitchFamily="2" charset="-122"/>
                <a:cs typeface="华文楷体" panose="02010600040101010101" pitchFamily="2" charset="-122"/>
              </a:rPr>
              <a:t>(</a:t>
            </a:r>
            <a:r>
              <a:rPr lang="zh-CN" altLang="en-US" b="1" dirty="0">
                <a:latin typeface="华文楷体" panose="02010600040101010101" pitchFamily="2" charset="-122"/>
                <a:ea typeface="华文楷体" panose="02010600040101010101" pitchFamily="2" charset="-122"/>
                <a:cs typeface="华文楷体" panose="02010600040101010101" pitchFamily="2" charset="-122"/>
              </a:rPr>
              <a:t>加热或不加热</a:t>
            </a:r>
            <a:r>
              <a:rPr lang="en-US" altLang="zh-CN" b="1" dirty="0">
                <a:latin typeface="华文楷体" panose="02010600040101010101" pitchFamily="2" charset="-122"/>
                <a:ea typeface="华文楷体" panose="02010600040101010101" pitchFamily="2" charset="-122"/>
                <a:cs typeface="华文楷体" panose="02010600040101010101" pitchFamily="2" charset="-122"/>
              </a:rPr>
              <a:t>)</a:t>
            </a:r>
            <a:r>
              <a:rPr lang="zh-CN" altLang="en-US" b="1" dirty="0">
                <a:latin typeface="华文楷体" panose="02010600040101010101" pitchFamily="2" charset="-122"/>
                <a:ea typeface="华文楷体" panose="02010600040101010101" pitchFamily="2" charset="-122"/>
                <a:cs typeface="华文楷体" panose="02010600040101010101" pitchFamily="2" charset="-122"/>
              </a:rPr>
              <a:t>，以完成焊接的方法。</a:t>
            </a:r>
            <a:endParaRPr lang="zh-CN" altLang="en-US" b="1" dirty="0">
              <a:latin typeface="华文楷体" panose="02010600040101010101" pitchFamily="2" charset="-122"/>
              <a:ea typeface="华文楷体" panose="02010600040101010101" pitchFamily="2" charset="-122"/>
              <a:cs typeface="华文楷体" panose="02010600040101010101" pitchFamily="2" charset="-122"/>
            </a:endParaRPr>
          </a:p>
          <a:p>
            <a:pPr lvl="2" eaLnBrk="1" hangingPunct="1">
              <a:buClr>
                <a:srgbClr val="008000"/>
              </a:buClr>
              <a:buFont typeface="Wingdings" panose="05000000000000000000" pitchFamily="2" charset="2"/>
              <a:buChar char="p"/>
            </a:pPr>
            <a:r>
              <a:rPr lang="zh-CN" altLang="en-US" b="1" dirty="0">
                <a:latin typeface="华文楷体" panose="02010600040101010101" pitchFamily="2" charset="-122"/>
                <a:ea typeface="华文楷体" panose="02010600040101010101" pitchFamily="2" charset="-122"/>
                <a:cs typeface="华文楷体" panose="02010600040101010101" pitchFamily="2" charset="-122"/>
              </a:rPr>
              <a:t>依靠压力使接头处的金属材料产生塑性变形而形成原子间的结合。 </a:t>
            </a:r>
            <a:endParaRPr lang="zh-CN" altLang="en-US" b="1" dirty="0">
              <a:latin typeface="华文楷体" panose="02010600040101010101" pitchFamily="2" charset="-122"/>
              <a:ea typeface="华文楷体" panose="02010600040101010101" pitchFamily="2" charset="-122"/>
              <a:cs typeface="华文楷体" panose="02010600040101010101" pitchFamily="2" charset="-122"/>
            </a:endParaRPr>
          </a:p>
        </p:txBody>
      </p:sp>
      <p:sp>
        <p:nvSpPr>
          <p:cNvPr id="4" name="圆角矩形标注 3"/>
          <p:cNvSpPr/>
          <p:nvPr/>
        </p:nvSpPr>
        <p:spPr>
          <a:xfrm>
            <a:off x="323850" y="5876925"/>
            <a:ext cx="4368800" cy="929005"/>
          </a:xfrm>
          <a:prstGeom prst="wedgeRoundRectCallout">
            <a:avLst>
              <a:gd name="adj1" fmla="val -10639"/>
              <a:gd name="adj2" fmla="val -94019"/>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rgbClr val="FF0000"/>
                </a:solidFill>
                <a:effectLst/>
                <a:uLnTx/>
                <a:uFillTx/>
                <a:latin typeface="+mn-lt"/>
                <a:ea typeface="+mn-ea"/>
                <a:cs typeface="+mn-cs"/>
              </a:rPr>
              <a:t>重点：扩散和结合（亲和，比如嫁接就是扩散和结合）</a:t>
            </a:r>
            <a:endParaRPr kumimoji="0" lang="zh-CN" altLang="en-US" sz="2400" b="0" i="0" u="none" strike="noStrike" kern="1200" cap="none" spc="0" normalizeH="0" baseline="0" noProof="0" dirty="0">
              <a:ln>
                <a:noFill/>
              </a:ln>
              <a:solidFill>
                <a:srgbClr val="FF0000"/>
              </a:solidFill>
              <a:effectLst/>
              <a:uLnTx/>
              <a:uFillTx/>
              <a:latin typeface="+mn-lt"/>
              <a:ea typeface="+mn-ea"/>
              <a:cs typeface="+mn-cs"/>
            </a:endParaRPr>
          </a:p>
        </p:txBody>
      </p:sp>
      <p:sp>
        <p:nvSpPr>
          <p:cNvPr id="2" name="圆角矩形标注 1"/>
          <p:cNvSpPr/>
          <p:nvPr/>
        </p:nvSpPr>
        <p:spPr>
          <a:xfrm>
            <a:off x="5220335" y="5981065"/>
            <a:ext cx="3449955" cy="805815"/>
          </a:xfrm>
          <a:prstGeom prst="wedgeRoundRectCallout">
            <a:avLst>
              <a:gd name="adj1" fmla="val -42379"/>
              <a:gd name="adj2" fmla="val -145271"/>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rgbClr val="FF0000"/>
                </a:solidFill>
                <a:effectLst/>
                <a:uLnTx/>
                <a:uFillTx/>
                <a:latin typeface="+mn-lt"/>
                <a:ea typeface="+mn-ea"/>
                <a:cs typeface="+mn-cs"/>
              </a:rPr>
              <a:t>塑性变形</a:t>
            </a:r>
            <a:r>
              <a:rPr kumimoji="0" lang="en-US" altLang="zh-CN" sz="2400" b="0" i="0" u="none" strike="noStrike" kern="1200" cap="none" spc="0" normalizeH="0" baseline="0" noProof="0" dirty="0">
                <a:ln>
                  <a:noFill/>
                </a:ln>
                <a:solidFill>
                  <a:srgbClr val="FF0000"/>
                </a:solidFill>
                <a:effectLst/>
                <a:uLnTx/>
                <a:uFillTx/>
                <a:latin typeface="+mn-lt"/>
                <a:ea typeface="+mn-ea"/>
                <a:cs typeface="+mn-cs"/>
              </a:rPr>
              <a:t>-</a:t>
            </a:r>
            <a:r>
              <a:rPr kumimoji="0" lang="zh-CN" altLang="en-US" sz="2400" b="0" i="0" u="none" strike="noStrike" kern="1200" cap="none" spc="0" normalizeH="0" baseline="0" noProof="0" dirty="0">
                <a:ln>
                  <a:noFill/>
                </a:ln>
                <a:solidFill>
                  <a:srgbClr val="FF0000"/>
                </a:solidFill>
                <a:effectLst/>
                <a:uLnTx/>
                <a:uFillTx/>
                <a:latin typeface="+mn-lt"/>
                <a:ea typeface="+mn-ea"/>
                <a:cs typeface="+mn-cs"/>
              </a:rPr>
              <a:t>晶粒滑（迁）移，实现扩散结合</a:t>
            </a:r>
            <a:endParaRPr kumimoji="0" lang="zh-CN" altLang="en-US" sz="2400" b="0" i="0" u="none" strike="noStrike" kern="1200" cap="none" spc="0" normalizeH="0" baseline="0" noProof="0" dirty="0">
              <a:ln>
                <a:noFill/>
              </a:ln>
              <a:solidFill>
                <a:srgbClr val="FF0000"/>
              </a:solidFill>
              <a:effectLst/>
              <a:uLnTx/>
              <a:uFillTx/>
              <a:latin typeface="+mn-lt"/>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2"/>
          <p:cNvSpPr>
            <a:spLocks noGrp="1"/>
          </p:cNvSpPr>
          <p:nvPr>
            <p:ph type="title"/>
          </p:nvPr>
        </p:nvSpPr>
        <p:spPr/>
        <p:txBody>
          <a:bodyPr vert="horz" wrap="square" lIns="91440" tIns="45720" rIns="91440" bIns="45720" anchor="ctr" anchorCtr="0"/>
          <a:p>
            <a:pPr algn="ctr" eaLnBrk="1" hangingPunct="1"/>
            <a:r>
              <a:rPr lang="zh-CN" altLang="en-US" sz="4400" dirty="0"/>
              <a:t>焊 接</a:t>
            </a:r>
            <a:endParaRPr lang="zh-CN" altLang="en-US" sz="4400" dirty="0"/>
          </a:p>
        </p:txBody>
      </p:sp>
      <p:sp>
        <p:nvSpPr>
          <p:cNvPr id="7171" name="Rectangle 3"/>
          <p:cNvSpPr>
            <a:spLocks noGrp="1"/>
          </p:cNvSpPr>
          <p:nvPr>
            <p:ph type="body" sz="half" idx="1"/>
          </p:nvPr>
        </p:nvSpPr>
        <p:spPr>
          <a:xfrm>
            <a:off x="457200" y="1371600"/>
            <a:ext cx="8142288" cy="4572000"/>
          </a:xfrm>
        </p:spPr>
        <p:txBody>
          <a:bodyPr vert="horz" wrap="square" lIns="91440" tIns="45720" rIns="91440" bIns="45720" anchor="t" anchorCtr="0"/>
          <a:p>
            <a:pPr eaLnBrk="1" hangingPunct="1">
              <a:buClr>
                <a:srgbClr val="008000"/>
              </a:buClr>
              <a:buSzTx/>
              <a:buFont typeface="Wingdings" panose="05000000000000000000" pitchFamily="2" charset="2"/>
              <a:buChar char="p"/>
            </a:pPr>
            <a:r>
              <a:rPr lang="zh-CN" altLang="en-US" b="1" dirty="0">
                <a:latin typeface="华文楷体" panose="02010600040101010101" pitchFamily="2" charset="-122"/>
                <a:ea typeface="华文楷体" panose="02010600040101010101" pitchFamily="2" charset="-122"/>
                <a:cs typeface="华文楷体" panose="02010600040101010101" pitchFamily="2" charset="-122"/>
              </a:rPr>
              <a:t>焊接方法（根据原子间产生结合的方式不同）</a:t>
            </a:r>
            <a:endParaRPr lang="zh-CN" altLang="en-US" b="1" dirty="0">
              <a:latin typeface="华文楷体" panose="02010600040101010101" pitchFamily="2" charset="-122"/>
              <a:ea typeface="华文楷体" panose="02010600040101010101" pitchFamily="2" charset="-122"/>
              <a:cs typeface="华文楷体" panose="02010600040101010101" pitchFamily="2" charset="-122"/>
            </a:endParaRPr>
          </a:p>
          <a:p>
            <a:pPr lvl="1" eaLnBrk="1" hangingPunct="1">
              <a:buClr>
                <a:srgbClr val="008000"/>
              </a:buClr>
              <a:buFont typeface="Wingdings" panose="05000000000000000000" pitchFamily="2" charset="2"/>
              <a:buChar char="p"/>
            </a:pPr>
            <a:r>
              <a:rPr lang="zh-CN" altLang="en-US" b="1" dirty="0">
                <a:latin typeface="华文楷体" panose="02010600040101010101" pitchFamily="2" charset="-122"/>
                <a:ea typeface="华文楷体" panose="02010600040101010101" pitchFamily="2" charset="-122"/>
                <a:cs typeface="华文楷体" panose="02010600040101010101" pitchFamily="2" charset="-122"/>
              </a:rPr>
              <a:t>钎焊：采用比母材熔点低的金属材料作钎料，将焊件和钎料加热到高于钎料熔点低于母材熔点的温度，利用液态钎料润湿母材，填充接头间隙，并与母材互相扩散，实现连接焊件的方法。</a:t>
            </a:r>
            <a:endParaRPr lang="zh-CN" altLang="en-US" b="1" dirty="0">
              <a:latin typeface="华文楷体" panose="02010600040101010101" pitchFamily="2" charset="-122"/>
              <a:ea typeface="华文楷体" panose="02010600040101010101" pitchFamily="2" charset="-122"/>
              <a:cs typeface="华文楷体" panose="02010600040101010101" pitchFamily="2" charset="-122"/>
            </a:endParaRPr>
          </a:p>
          <a:p>
            <a:pPr lvl="2" eaLnBrk="1" hangingPunct="1">
              <a:buClr>
                <a:srgbClr val="008000"/>
              </a:buClr>
              <a:buFont typeface="Wingdings" panose="05000000000000000000" pitchFamily="2" charset="2"/>
              <a:buChar char="p"/>
            </a:pPr>
            <a:r>
              <a:rPr lang="zh-CN" altLang="en-US" b="1" dirty="0">
                <a:latin typeface="华文楷体" panose="02010600040101010101" pitchFamily="2" charset="-122"/>
                <a:ea typeface="华文楷体" panose="02010600040101010101" pitchFamily="2" charset="-122"/>
                <a:cs typeface="华文楷体" panose="02010600040101010101" pitchFamily="2" charset="-122"/>
              </a:rPr>
              <a:t>依靠低熔点金属（钎料）溶化后，与高熔点被焊金属在一定温度下相互间产生一定的物理和化学作用，而形成原子间的连接。</a:t>
            </a:r>
            <a:r>
              <a:rPr lang="zh-CN" altLang="en-US" sz="1800" dirty="0">
                <a:latin typeface="华文楷体" panose="02010600040101010101" pitchFamily="2" charset="-122"/>
                <a:ea typeface="华文楷体" panose="02010600040101010101" pitchFamily="2" charset="-122"/>
                <a:cs typeface="华文楷体" panose="02010600040101010101" pitchFamily="2" charset="-122"/>
              </a:rPr>
              <a:t> </a:t>
            </a:r>
            <a:endParaRPr lang="zh-CN" altLang="en-US" sz="1800" dirty="0">
              <a:latin typeface="华文楷体" panose="02010600040101010101" pitchFamily="2" charset="-122"/>
              <a:ea typeface="华文楷体" panose="02010600040101010101" pitchFamily="2" charset="-122"/>
              <a:cs typeface="华文楷体" panose="02010600040101010101" pitchFamily="2" charset="-122"/>
            </a:endParaRPr>
          </a:p>
          <a:p>
            <a:pPr lvl="1" eaLnBrk="1" hangingPunct="1">
              <a:buClr>
                <a:srgbClr val="008000"/>
              </a:buClr>
              <a:buFont typeface="Wingdings" panose="05000000000000000000" pitchFamily="2" charset="2"/>
              <a:buChar char="p"/>
            </a:pPr>
            <a:endParaRPr lang="en-US" altLang="zh-CN" sz="2200" dirty="0">
              <a:latin typeface="华文楷体" panose="02010600040101010101" pitchFamily="2" charset="-122"/>
              <a:ea typeface="华文楷体" panose="02010600040101010101" pitchFamily="2" charset="-122"/>
              <a:cs typeface="华文楷体" panose="0201060004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Rectangle 2"/>
          <p:cNvSpPr>
            <a:spLocks noGrp="1"/>
          </p:cNvSpPr>
          <p:nvPr>
            <p:ph type="title"/>
          </p:nvPr>
        </p:nvSpPr>
        <p:spPr/>
        <p:txBody>
          <a:bodyPr vert="horz" wrap="square" lIns="91440" tIns="45720" rIns="91440" bIns="45720" anchor="ctr" anchorCtr="0"/>
          <a:p>
            <a:pPr algn="ctr" eaLnBrk="1" hangingPunct="1"/>
            <a:r>
              <a:rPr lang="zh-CN" altLang="en-US" sz="4400" dirty="0"/>
              <a:t>焊 接</a:t>
            </a:r>
            <a:endParaRPr lang="zh-CN" altLang="en-US" sz="4400" dirty="0"/>
          </a:p>
        </p:txBody>
      </p:sp>
      <p:pic>
        <p:nvPicPr>
          <p:cNvPr id="992260" name="Picture 4"/>
          <p:cNvPicPr>
            <a:picLocks noChangeAspect="1"/>
          </p:cNvPicPr>
          <p:nvPr>
            <p:ph sz="half" idx="2"/>
          </p:nvPr>
        </p:nvPicPr>
        <p:blipFill>
          <a:blip r:embed="rId1"/>
          <a:srcRect/>
          <a:stretch>
            <a:fillRect/>
          </a:stretch>
        </p:blipFill>
        <p:spPr>
          <a:xfrm>
            <a:off x="107950" y="1412875"/>
            <a:ext cx="8893175" cy="5221288"/>
          </a:xfrm>
          <a:solidFill>
            <a:srgbClr val="CCFF33">
              <a:alpha val="100000"/>
            </a:srgbClr>
          </a:solid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92260"/>
                                        </p:tgtEl>
                                        <p:attrNameLst>
                                          <p:attrName>style.visibility</p:attrName>
                                        </p:attrNameLst>
                                      </p:cBhvr>
                                      <p:to>
                                        <p:strVal val="visible"/>
                                      </p:to>
                                    </p:set>
                                    <p:anim calcmode="lin" valueType="num">
                                      <p:cBhvr additive="base">
                                        <p:cTn id="7" dur="500" fill="hold"/>
                                        <p:tgtEl>
                                          <p:spTgt spid="992260"/>
                                        </p:tgtEl>
                                        <p:attrNameLst>
                                          <p:attrName>ppt_x</p:attrName>
                                        </p:attrNameLst>
                                      </p:cBhvr>
                                      <p:tavLst>
                                        <p:tav tm="0">
                                          <p:val>
                                            <p:strVal val="#ppt_x"/>
                                          </p:val>
                                        </p:tav>
                                        <p:tav tm="100000">
                                          <p:val>
                                            <p:strVal val="#ppt_x"/>
                                          </p:val>
                                        </p:tav>
                                      </p:tavLst>
                                    </p:anim>
                                    <p:anim calcmode="lin" valueType="num">
                                      <p:cBhvr additive="base">
                                        <p:cTn id="8" dur="500" fill="hold"/>
                                        <p:tgtEl>
                                          <p:spTgt spid="99226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283" name="Rectangle 3"/>
          <p:cNvSpPr>
            <a:spLocks noGrp="1"/>
          </p:cNvSpPr>
          <p:nvPr>
            <p:ph idx="1"/>
          </p:nvPr>
        </p:nvSpPr>
        <p:spPr>
          <a:xfrm>
            <a:off x="457200" y="1371600"/>
            <a:ext cx="8153400" cy="5297488"/>
          </a:xfrm>
        </p:spPr>
        <p:txBody>
          <a:bodyPr vert="horz" wrap="square" lIns="91440" tIns="45720" rIns="91440" bIns="45720" anchor="t" anchorCtr="0"/>
          <a:p>
            <a:pPr eaLnBrk="1" hangingPunct="1">
              <a:lnSpc>
                <a:spcPct val="90000"/>
              </a:lnSpc>
            </a:pPr>
            <a:r>
              <a:rPr lang="zh-CN" altLang="en-US" b="1" dirty="0">
                <a:solidFill>
                  <a:srgbClr val="FF0000"/>
                </a:solidFill>
                <a:latin typeface="华文楷体" panose="02010600040101010101" pitchFamily="2" charset="-122"/>
                <a:ea typeface="华文楷体" panose="02010600040101010101" pitchFamily="2" charset="-122"/>
              </a:rPr>
              <a:t>电弧焊</a:t>
            </a:r>
            <a:endParaRPr lang="zh-CN" altLang="en-US" b="1" dirty="0">
              <a:solidFill>
                <a:srgbClr val="FF0000"/>
              </a:solidFill>
              <a:latin typeface="华文楷体" panose="02010600040101010101" pitchFamily="2" charset="-122"/>
              <a:ea typeface="华文楷体" panose="02010600040101010101" pitchFamily="2" charset="-122"/>
            </a:endParaRPr>
          </a:p>
          <a:p>
            <a:pPr lvl="1" eaLnBrk="1" hangingPunct="1">
              <a:lnSpc>
                <a:spcPct val="90000"/>
              </a:lnSpc>
            </a:pPr>
            <a:r>
              <a:rPr lang="zh-CN" altLang="en-US" b="1" dirty="0">
                <a:solidFill>
                  <a:srgbClr val="FF0000"/>
                </a:solidFill>
                <a:latin typeface="华文楷体" panose="02010600040101010101" pitchFamily="2" charset="-122"/>
                <a:ea typeface="华文楷体" panose="02010600040101010101" pitchFamily="2" charset="-122"/>
              </a:rPr>
              <a:t>焊接的基本原理</a:t>
            </a:r>
            <a:endParaRPr lang="zh-CN" altLang="en-US" b="1" dirty="0">
              <a:solidFill>
                <a:srgbClr val="FF0000"/>
              </a:solidFill>
              <a:latin typeface="华文楷体" panose="02010600040101010101" pitchFamily="2" charset="-122"/>
              <a:ea typeface="华文楷体" panose="02010600040101010101" pitchFamily="2" charset="-122"/>
            </a:endParaRPr>
          </a:p>
          <a:p>
            <a:pPr lvl="1" eaLnBrk="1" hangingPunct="1">
              <a:lnSpc>
                <a:spcPct val="90000"/>
              </a:lnSpc>
            </a:pPr>
            <a:r>
              <a:rPr lang="zh-CN" altLang="en-US" b="1" dirty="0">
                <a:solidFill>
                  <a:srgbClr val="FF0000"/>
                </a:solidFill>
                <a:latin typeface="华文楷体" panose="02010600040101010101" pitchFamily="2" charset="-122"/>
                <a:ea typeface="华文楷体" panose="02010600040101010101" pitchFamily="2" charset="-122"/>
              </a:rPr>
              <a:t>焊条电弧焊</a:t>
            </a:r>
            <a:endParaRPr lang="zh-CN" altLang="en-US" b="1" dirty="0">
              <a:solidFill>
                <a:srgbClr val="FF0000"/>
              </a:solidFill>
              <a:latin typeface="华文楷体" panose="02010600040101010101" pitchFamily="2" charset="-122"/>
              <a:ea typeface="华文楷体" panose="02010600040101010101" pitchFamily="2" charset="-122"/>
            </a:endParaRPr>
          </a:p>
          <a:p>
            <a:pPr lvl="1" eaLnBrk="1" hangingPunct="1">
              <a:lnSpc>
                <a:spcPct val="90000"/>
              </a:lnSpc>
            </a:pPr>
            <a:r>
              <a:rPr lang="zh-CN" altLang="en-US" b="1" dirty="0">
                <a:solidFill>
                  <a:srgbClr val="FF0000"/>
                </a:solidFill>
                <a:latin typeface="华文楷体" panose="02010600040101010101" pitchFamily="2" charset="-122"/>
                <a:ea typeface="华文楷体" panose="02010600040101010101" pitchFamily="2" charset="-122"/>
              </a:rPr>
              <a:t>埋弧焊</a:t>
            </a:r>
            <a:endParaRPr lang="zh-CN" altLang="en-US" b="1" dirty="0">
              <a:solidFill>
                <a:srgbClr val="FF0000"/>
              </a:solidFill>
              <a:latin typeface="华文楷体" panose="02010600040101010101" pitchFamily="2" charset="-122"/>
              <a:ea typeface="华文楷体" panose="02010600040101010101" pitchFamily="2" charset="-122"/>
            </a:endParaRPr>
          </a:p>
          <a:p>
            <a:pPr lvl="1" eaLnBrk="1" hangingPunct="1">
              <a:lnSpc>
                <a:spcPct val="90000"/>
              </a:lnSpc>
            </a:pPr>
            <a:r>
              <a:rPr lang="zh-CN" altLang="en-US" b="1" dirty="0">
                <a:solidFill>
                  <a:srgbClr val="FF0000"/>
                </a:solidFill>
                <a:latin typeface="华文楷体" panose="02010600040101010101" pitchFamily="2" charset="-122"/>
                <a:ea typeface="华文楷体" panose="02010600040101010101" pitchFamily="2" charset="-122"/>
              </a:rPr>
              <a:t>气体保护焊</a:t>
            </a:r>
            <a:endParaRPr lang="zh-CN" altLang="en-US" b="1" dirty="0">
              <a:solidFill>
                <a:srgbClr val="FF0000"/>
              </a:solidFill>
              <a:latin typeface="华文楷体" panose="02010600040101010101" pitchFamily="2" charset="-122"/>
              <a:ea typeface="华文楷体" panose="02010600040101010101" pitchFamily="2" charset="-122"/>
            </a:endParaRPr>
          </a:p>
          <a:p>
            <a:pPr lvl="1" eaLnBrk="1" hangingPunct="1">
              <a:lnSpc>
                <a:spcPct val="90000"/>
              </a:lnSpc>
            </a:pPr>
            <a:r>
              <a:rPr lang="zh-CN" altLang="en-US" b="1" dirty="0">
                <a:solidFill>
                  <a:srgbClr val="FF0000"/>
                </a:solidFill>
                <a:latin typeface="华文楷体" panose="02010600040101010101" pitchFamily="2" charset="-122"/>
                <a:ea typeface="华文楷体" panose="02010600040101010101" pitchFamily="2" charset="-122"/>
              </a:rPr>
              <a:t>等离子弧焊接与切割</a:t>
            </a:r>
            <a:endParaRPr lang="zh-CN" altLang="en-US" b="1" dirty="0">
              <a:solidFill>
                <a:srgbClr val="FF0000"/>
              </a:solidFill>
              <a:latin typeface="华文楷体" panose="02010600040101010101" pitchFamily="2" charset="-122"/>
              <a:ea typeface="华文楷体" panose="02010600040101010101" pitchFamily="2" charset="-122"/>
            </a:endParaRPr>
          </a:p>
          <a:p>
            <a:pPr eaLnBrk="1" hangingPunct="1">
              <a:lnSpc>
                <a:spcPct val="90000"/>
              </a:lnSpc>
            </a:pPr>
            <a:r>
              <a:rPr lang="zh-CN" altLang="en-US" b="1" dirty="0">
                <a:solidFill>
                  <a:srgbClr val="FF0000"/>
                </a:solidFill>
                <a:latin typeface="华文楷体" panose="02010600040101010101" pitchFamily="2" charset="-122"/>
                <a:ea typeface="华文楷体" panose="02010600040101010101" pitchFamily="2" charset="-122"/>
              </a:rPr>
              <a:t>其它常用焊接方法</a:t>
            </a:r>
            <a:endParaRPr lang="zh-CN" altLang="en-US" b="1" dirty="0">
              <a:solidFill>
                <a:srgbClr val="FF0000"/>
              </a:solidFill>
              <a:latin typeface="华文楷体" panose="02010600040101010101" pitchFamily="2" charset="-122"/>
              <a:ea typeface="华文楷体" panose="02010600040101010101" pitchFamily="2" charset="-122"/>
            </a:endParaRPr>
          </a:p>
          <a:p>
            <a:pPr eaLnBrk="1" hangingPunct="1">
              <a:lnSpc>
                <a:spcPct val="90000"/>
              </a:lnSpc>
            </a:pPr>
            <a:r>
              <a:rPr lang="zh-CN" altLang="en-US" b="1" dirty="0">
                <a:solidFill>
                  <a:srgbClr val="FF0000"/>
                </a:solidFill>
                <a:latin typeface="华文楷体" panose="02010600040101010101" pitchFamily="2" charset="-122"/>
                <a:ea typeface="华文楷体" panose="02010600040101010101" pitchFamily="2" charset="-122"/>
              </a:rPr>
              <a:t>常用金属材料的焊接</a:t>
            </a:r>
            <a:endParaRPr lang="zh-CN" altLang="en-US" b="1" dirty="0">
              <a:solidFill>
                <a:srgbClr val="FF0000"/>
              </a:solidFill>
              <a:latin typeface="华文楷体" panose="02010600040101010101" pitchFamily="2" charset="-122"/>
              <a:ea typeface="华文楷体" panose="02010600040101010101" pitchFamily="2" charset="-122"/>
            </a:endParaRPr>
          </a:p>
          <a:p>
            <a:pPr eaLnBrk="1" hangingPunct="1">
              <a:lnSpc>
                <a:spcPct val="90000"/>
              </a:lnSpc>
            </a:pPr>
            <a:r>
              <a:rPr lang="zh-CN" altLang="en-US" b="1" dirty="0">
                <a:solidFill>
                  <a:srgbClr val="FF0000"/>
                </a:solidFill>
                <a:latin typeface="华文楷体" panose="02010600040101010101" pitchFamily="2" charset="-122"/>
                <a:ea typeface="华文楷体" panose="02010600040101010101" pitchFamily="2" charset="-122"/>
              </a:rPr>
              <a:t>焊接结构设计</a:t>
            </a:r>
            <a:endParaRPr lang="zh-CN" altLang="en-US" b="1" dirty="0">
              <a:solidFill>
                <a:srgbClr val="FF0000"/>
              </a:solidFill>
              <a:latin typeface="华文楷体" panose="02010600040101010101" pitchFamily="2" charset="-122"/>
              <a:ea typeface="华文楷体" panose="02010600040101010101" pitchFamily="2" charset="-122"/>
            </a:endParaRPr>
          </a:p>
          <a:p>
            <a:pPr eaLnBrk="1" hangingPunct="1">
              <a:lnSpc>
                <a:spcPct val="90000"/>
              </a:lnSpc>
            </a:pPr>
            <a:r>
              <a:rPr lang="zh-CN" altLang="en-US" b="1" dirty="0">
                <a:solidFill>
                  <a:srgbClr val="FF0000"/>
                </a:solidFill>
                <a:latin typeface="华文楷体" panose="02010600040101010101" pitchFamily="2" charset="-122"/>
                <a:ea typeface="华文楷体" panose="02010600040101010101" pitchFamily="2" charset="-122"/>
              </a:rPr>
              <a:t>常见焊接缺陷产生原因分析及防治措施</a:t>
            </a:r>
            <a:endParaRPr lang="zh-CN" altLang="en-US" b="1" dirty="0">
              <a:solidFill>
                <a:srgbClr val="FF0000"/>
              </a:solidFill>
              <a:latin typeface="华文楷体" panose="02010600040101010101" pitchFamily="2" charset="-122"/>
              <a:ea typeface="华文楷体" panose="02010600040101010101" pitchFamily="2" charset="-122"/>
            </a:endParaRPr>
          </a:p>
        </p:txBody>
      </p:sp>
      <p:sp>
        <p:nvSpPr>
          <p:cNvPr id="9219" name="Rectangle 5"/>
          <p:cNvSpPr>
            <a:spLocks noGrp="1"/>
          </p:cNvSpPr>
          <p:nvPr>
            <p:ph type="title"/>
          </p:nvPr>
        </p:nvSpPr>
        <p:spPr/>
        <p:txBody>
          <a:bodyPr vert="horz" wrap="square" lIns="91440" tIns="45720" rIns="91440" bIns="45720" anchor="ctr" anchorCtr="0"/>
          <a:p>
            <a:pPr algn="ctr" eaLnBrk="1" hangingPunct="1"/>
            <a:r>
              <a:rPr lang="zh-CN" altLang="en-US" sz="4400" dirty="0"/>
              <a:t>本篇内容</a:t>
            </a:r>
            <a:endParaRPr lang="zh-CN" altLang="en-US" sz="4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93283">
                                            <p:txEl>
                                              <p:charRg st="0" end="4"/>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93283">
                                            <p:txEl>
                                              <p:charRg st="4" end="1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93283">
                                            <p:txEl>
                                              <p:charRg st="12" end="18"/>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93283">
                                            <p:txEl>
                                              <p:charRg st="18" end="2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93283">
                                            <p:txEl>
                                              <p:charRg st="22" end="28"/>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93283">
                                            <p:txEl>
                                              <p:charRg st="28" end="38"/>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93283">
                                            <p:txEl>
                                              <p:charRg st="38" end="4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93283">
                                            <p:txEl>
                                              <p:charRg st="47" end="5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93283">
                                            <p:txEl>
                                              <p:charRg st="57" end="6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993283">
                                            <p:txEl>
                                              <p:charRg st="64" end="8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28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Rectangle 2"/>
          <p:cNvSpPr>
            <a:spLocks noGrp="1"/>
          </p:cNvSpPr>
          <p:nvPr>
            <p:ph type="title"/>
          </p:nvPr>
        </p:nvSpPr>
        <p:spPr/>
        <p:txBody>
          <a:bodyPr vert="horz" wrap="square" lIns="91440" tIns="45720" rIns="91440" bIns="45720" anchor="ctr" anchorCtr="0"/>
          <a:p>
            <a:r>
              <a:rPr lang="zh-CN" altLang="zh-CN" dirty="0"/>
              <a:t>焊接视频</a:t>
            </a:r>
            <a:endParaRPr lang="zh-CN" altLang="zh-CN" dirty="0"/>
          </a:p>
        </p:txBody>
      </p:sp>
      <p:sp>
        <p:nvSpPr>
          <p:cNvPr id="10243" name="Rectangle 3"/>
          <p:cNvSpPr>
            <a:spLocks noGrp="1"/>
          </p:cNvSpPr>
          <p:nvPr>
            <p:ph idx="1"/>
          </p:nvPr>
        </p:nvSpPr>
        <p:spPr/>
        <p:txBody>
          <a:bodyPr vert="horz" wrap="square" lIns="91440" tIns="45720" rIns="91440" bIns="45720" anchor="t" anchorCtr="0"/>
          <a:p>
            <a:r>
              <a:rPr lang="en-US" altLang="zh-CN" dirty="0">
                <a:latin typeface="华文楷体" panose="02010600040101010101" pitchFamily="2" charset="-122"/>
                <a:ea typeface="华文楷体" panose="02010600040101010101" pitchFamily="2" charset="-122"/>
                <a:cs typeface="华文楷体" panose="02010600040101010101" pitchFamily="2" charset="-122"/>
                <a:hlinkClick r:id="rId1"/>
              </a:rPr>
              <a:t>https://v.qq.com/x/page/l051668u0vo.html</a:t>
            </a:r>
            <a:r>
              <a:rPr lang="en-US" altLang="zh-CN" dirty="0">
                <a:latin typeface="华文楷体" panose="02010600040101010101" pitchFamily="2" charset="-122"/>
                <a:ea typeface="华文楷体" panose="02010600040101010101" pitchFamily="2" charset="-122"/>
                <a:cs typeface="华文楷体" panose="02010600040101010101" pitchFamily="2" charset="-122"/>
              </a:rPr>
              <a:t> </a:t>
            </a:r>
            <a:r>
              <a:rPr lang="zh-CN" altLang="en-US" dirty="0">
                <a:latin typeface="华文楷体" panose="02010600040101010101" pitchFamily="2" charset="-122"/>
                <a:ea typeface="华文楷体" panose="02010600040101010101" pitchFamily="2" charset="-122"/>
                <a:cs typeface="华文楷体" panose="02010600040101010101" pitchFamily="2" charset="-122"/>
              </a:rPr>
              <a:t>电弧焊教学视频，</a:t>
            </a:r>
            <a:r>
              <a:rPr lang="en-US" altLang="zh-CN" dirty="0">
                <a:latin typeface="华文楷体" panose="02010600040101010101" pitchFamily="2" charset="-122"/>
                <a:ea typeface="华文楷体" panose="02010600040101010101" pitchFamily="2" charset="-122"/>
                <a:cs typeface="华文楷体" panose="02010600040101010101" pitchFamily="2" charset="-122"/>
              </a:rPr>
              <a:t>6:03</a:t>
            </a:r>
            <a:r>
              <a:rPr lang="zh-CN" altLang="en-US" dirty="0">
                <a:latin typeface="华文楷体" panose="02010600040101010101" pitchFamily="2" charset="-122"/>
                <a:ea typeface="华文楷体" panose="02010600040101010101" pitchFamily="2" charset="-122"/>
                <a:cs typeface="华文楷体" panose="02010600040101010101" pitchFamily="2" charset="-122"/>
              </a:rPr>
              <a:t>，</a:t>
            </a:r>
            <a:r>
              <a:rPr lang="en-US" altLang="zh-CN" dirty="0">
                <a:latin typeface="华文楷体" panose="02010600040101010101" pitchFamily="2" charset="-122"/>
                <a:ea typeface="华文楷体" panose="02010600040101010101" pitchFamily="2" charset="-122"/>
                <a:cs typeface="华文楷体" panose="02010600040101010101" pitchFamily="2" charset="-122"/>
              </a:rPr>
              <a:t>8:15</a:t>
            </a:r>
            <a:r>
              <a:rPr lang="zh-CN" altLang="en-US" dirty="0">
                <a:latin typeface="华文楷体" panose="02010600040101010101" pitchFamily="2" charset="-122"/>
                <a:ea typeface="华文楷体" panose="02010600040101010101" pitchFamily="2" charset="-122"/>
                <a:cs typeface="华文楷体" panose="02010600040101010101" pitchFamily="2" charset="-122"/>
              </a:rPr>
              <a:t>，</a:t>
            </a:r>
            <a:r>
              <a:rPr lang="en-US" altLang="zh-CN" dirty="0">
                <a:latin typeface="华文楷体" panose="02010600040101010101" pitchFamily="2" charset="-122"/>
                <a:ea typeface="华文楷体" panose="02010600040101010101" pitchFamily="2" charset="-122"/>
                <a:cs typeface="华文楷体" panose="02010600040101010101" pitchFamily="2" charset="-122"/>
              </a:rPr>
              <a:t>11:00</a:t>
            </a:r>
            <a:endParaRPr lang="en-US" altLang="zh-CN" dirty="0">
              <a:latin typeface="华文楷体" panose="02010600040101010101" pitchFamily="2" charset="-122"/>
              <a:ea typeface="华文楷体" panose="02010600040101010101" pitchFamily="2" charset="-122"/>
              <a:cs typeface="华文楷体" panose="02010600040101010101" pitchFamily="2" charset="-122"/>
              <a:hlinkClick r:id="rId2"/>
            </a:endParaRPr>
          </a:p>
          <a:p>
            <a:r>
              <a:rPr lang="en-US" altLang="zh-CN" dirty="0">
                <a:latin typeface="华文楷体" panose="02010600040101010101" pitchFamily="2" charset="-122"/>
                <a:ea typeface="华文楷体" panose="02010600040101010101" pitchFamily="2" charset="-122"/>
                <a:cs typeface="华文楷体" panose="02010600040101010101" pitchFamily="2" charset="-122"/>
                <a:hlinkClick r:id="rId2"/>
              </a:rPr>
              <a:t>http://v.qq.com/iframe/player.html?vid=u0160xr47hl&amp;500&amp;375&amp;auto=0</a:t>
            </a:r>
            <a:r>
              <a:rPr lang="en-US" altLang="zh-CN" dirty="0">
                <a:latin typeface="华文楷体" panose="02010600040101010101" pitchFamily="2" charset="-122"/>
                <a:ea typeface="华文楷体" panose="02010600040101010101" pitchFamily="2" charset="-122"/>
                <a:cs typeface="华文楷体" panose="02010600040101010101" pitchFamily="2" charset="-122"/>
              </a:rPr>
              <a:t> </a:t>
            </a:r>
            <a:r>
              <a:rPr lang="zh-CN" altLang="en-US" dirty="0">
                <a:latin typeface="华文楷体" panose="02010600040101010101" pitchFamily="2" charset="-122"/>
                <a:ea typeface="华文楷体" panose="02010600040101010101" pitchFamily="2" charset="-122"/>
                <a:cs typeface="华文楷体" panose="02010600040101010101" pitchFamily="2" charset="-122"/>
              </a:rPr>
              <a:t>焊接接头观看焊接熔池</a:t>
            </a:r>
            <a:endParaRPr lang="en-US" altLang="zh-CN" dirty="0">
              <a:latin typeface="华文楷体" panose="02010600040101010101" pitchFamily="2" charset="-122"/>
              <a:ea typeface="华文楷体" panose="02010600040101010101" pitchFamily="2" charset="-122"/>
              <a:cs typeface="华文楷体" panose="02010600040101010101" pitchFamily="2" charset="-122"/>
            </a:endParaRPr>
          </a:p>
          <a:p>
            <a:r>
              <a:rPr lang="en-US" altLang="en-US" dirty="0">
                <a:latin typeface="华文楷体" panose="02010600040101010101" pitchFamily="2" charset="-122"/>
                <a:ea typeface="华文楷体" panose="02010600040101010101" pitchFamily="2" charset="-122"/>
                <a:cs typeface="华文楷体" panose="02010600040101010101" pitchFamily="2" charset="-122"/>
              </a:rPr>
              <a:t>http://my.tv.sohu.com/us/194367160/61468080.shtml</a:t>
            </a:r>
            <a:r>
              <a:rPr lang="zh-CN" altLang="en-US" dirty="0">
                <a:latin typeface="华文楷体" panose="02010600040101010101" pitchFamily="2" charset="-122"/>
                <a:ea typeface="华文楷体" panose="02010600040101010101" pitchFamily="2" charset="-122"/>
                <a:cs typeface="华文楷体" panose="02010600040101010101" pitchFamily="2" charset="-122"/>
              </a:rPr>
              <a:t>－焊接应力与变形</a:t>
            </a:r>
            <a:endParaRPr lang="zh-CN" altLang="en-US" dirty="0">
              <a:latin typeface="华文楷体" panose="02010600040101010101" pitchFamily="2" charset="-122"/>
              <a:ea typeface="华文楷体" panose="02010600040101010101" pitchFamily="2" charset="-122"/>
              <a:cs typeface="华文楷体" panose="0201060004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Rectangle 2"/>
          <p:cNvSpPr>
            <a:spLocks noGrp="1"/>
          </p:cNvSpPr>
          <p:nvPr>
            <p:ph type="title"/>
          </p:nvPr>
        </p:nvSpPr>
        <p:spPr>
          <a:xfrm>
            <a:off x="457200" y="44450"/>
            <a:ext cx="8229600" cy="1139825"/>
          </a:xfrm>
        </p:spPr>
        <p:txBody>
          <a:bodyPr vert="horz" wrap="square" lIns="91440" tIns="45720" rIns="91440" bIns="45720" anchor="ctr" anchorCtr="0"/>
          <a:p>
            <a:pPr eaLnBrk="1" hangingPunct="1"/>
            <a:r>
              <a:rPr lang="zh-CN" altLang="en-US" dirty="0"/>
              <a:t>电弧焊</a:t>
            </a:r>
            <a:endParaRPr lang="zh-CN" altLang="en-US" dirty="0"/>
          </a:p>
        </p:txBody>
      </p:sp>
      <p:sp>
        <p:nvSpPr>
          <p:cNvPr id="11267" name="Rectangle 3"/>
          <p:cNvSpPr>
            <a:spLocks noGrp="1"/>
          </p:cNvSpPr>
          <p:nvPr>
            <p:ph type="body" sz="half" idx="1"/>
          </p:nvPr>
        </p:nvSpPr>
        <p:spPr>
          <a:xfrm>
            <a:off x="34925" y="1268413"/>
            <a:ext cx="5113338" cy="5589587"/>
          </a:xfrm>
        </p:spPr>
        <p:txBody>
          <a:bodyPr vert="horz" wrap="square" lIns="91440" tIns="45720" rIns="91440" bIns="45720" anchor="t" anchorCtr="0"/>
          <a:p>
            <a:pPr eaLnBrk="1" hangingPunct="1">
              <a:buClrTx/>
              <a:buSzTx/>
              <a:buFontTx/>
            </a:pPr>
            <a:r>
              <a:rPr lang="zh-CN" altLang="en-US" sz="2800" b="1" dirty="0">
                <a:solidFill>
                  <a:srgbClr val="993300"/>
                </a:solidFill>
                <a:latin typeface="华文楷体" panose="02010600040101010101" pitchFamily="2" charset="-122"/>
                <a:ea typeface="华文楷体" panose="02010600040101010101" pitchFamily="2" charset="-122"/>
              </a:rPr>
              <a:t>焊接电弧（熔化焊的能源）</a:t>
            </a:r>
            <a:endParaRPr lang="zh-CN" altLang="en-US" sz="2800" b="1" dirty="0">
              <a:solidFill>
                <a:srgbClr val="993300"/>
              </a:solidFill>
              <a:latin typeface="华文楷体" panose="02010600040101010101" pitchFamily="2" charset="-122"/>
              <a:ea typeface="华文楷体" panose="02010600040101010101" pitchFamily="2" charset="-122"/>
            </a:endParaRPr>
          </a:p>
          <a:p>
            <a:pPr lvl="1" eaLnBrk="1" hangingPunct="1"/>
            <a:r>
              <a:rPr lang="zh-CN" altLang="en-US" sz="2400" b="1" dirty="0">
                <a:solidFill>
                  <a:srgbClr val="008000"/>
                </a:solidFill>
                <a:latin typeface="华文楷体" panose="02010600040101010101" pitchFamily="2" charset="-122"/>
                <a:ea typeface="华文楷体" panose="02010600040101010101" pitchFamily="2" charset="-122"/>
              </a:rPr>
              <a:t>定义：</a:t>
            </a:r>
            <a:r>
              <a:rPr lang="zh-CN" altLang="en-US" sz="2400" b="1" dirty="0">
                <a:latin typeface="华文楷体" panose="02010600040101010101" pitchFamily="2" charset="-122"/>
                <a:ea typeface="华文楷体" panose="02010600040101010101" pitchFamily="2" charset="-122"/>
              </a:rPr>
              <a:t>由焊接电源供给，在具有</a:t>
            </a:r>
            <a:r>
              <a:rPr lang="zh-CN" altLang="en-US" sz="2400" b="1" dirty="0">
                <a:solidFill>
                  <a:srgbClr val="FF0000"/>
                </a:solidFill>
                <a:latin typeface="华文楷体" panose="02010600040101010101" pitchFamily="2" charset="-122"/>
                <a:ea typeface="华文楷体" panose="02010600040101010101" pitchFamily="2" charset="-122"/>
              </a:rPr>
              <a:t>一定电压</a:t>
            </a:r>
            <a:r>
              <a:rPr lang="zh-CN" altLang="en-US" sz="2400" b="1" dirty="0">
                <a:latin typeface="华文楷体" panose="02010600040101010101" pitchFamily="2" charset="-122"/>
                <a:ea typeface="华文楷体" panose="02010600040101010101" pitchFamily="2" charset="-122"/>
              </a:rPr>
              <a:t>的两极间或电极与</a:t>
            </a:r>
            <a:r>
              <a:rPr lang="zh-CN" altLang="en-US" sz="2400" b="1" dirty="0">
                <a:solidFill>
                  <a:srgbClr val="FF0000"/>
                </a:solidFill>
                <a:latin typeface="华文楷体" panose="02010600040101010101" pitchFamily="2" charset="-122"/>
                <a:ea typeface="华文楷体" panose="02010600040101010101" pitchFamily="2" charset="-122"/>
              </a:rPr>
              <a:t>母材间</a:t>
            </a:r>
            <a:r>
              <a:rPr lang="zh-CN" altLang="en-US" sz="2400" b="1" dirty="0">
                <a:latin typeface="华文楷体" panose="02010600040101010101" pitchFamily="2" charset="-122"/>
                <a:ea typeface="华文楷体" panose="02010600040101010101" pitchFamily="2" charset="-122"/>
              </a:rPr>
              <a:t>的气体介质中产生的强烈而持久的</a:t>
            </a:r>
            <a:r>
              <a:rPr lang="zh-CN" altLang="en-US" sz="2400" b="1" dirty="0">
                <a:solidFill>
                  <a:srgbClr val="FF0000"/>
                </a:solidFill>
                <a:latin typeface="华文楷体" panose="02010600040101010101" pitchFamily="2" charset="-122"/>
                <a:ea typeface="华文楷体" panose="02010600040101010101" pitchFamily="2" charset="-122"/>
              </a:rPr>
              <a:t>放电现象</a:t>
            </a:r>
            <a:r>
              <a:rPr lang="zh-CN" altLang="en-US" sz="2400" b="1" dirty="0">
                <a:latin typeface="华文楷体" panose="02010600040101010101" pitchFamily="2" charset="-122"/>
                <a:ea typeface="华文楷体" panose="02010600040101010101" pitchFamily="2" charset="-122"/>
              </a:rPr>
              <a:t>，称为焊接电弧。</a:t>
            </a:r>
            <a:endParaRPr lang="zh-CN" altLang="en-US" sz="2400" b="1" dirty="0">
              <a:latin typeface="华文楷体" panose="02010600040101010101" pitchFamily="2" charset="-122"/>
              <a:ea typeface="华文楷体" panose="02010600040101010101" pitchFamily="2" charset="-122"/>
            </a:endParaRPr>
          </a:p>
          <a:p>
            <a:pPr lvl="1" eaLnBrk="1" hangingPunct="1"/>
            <a:r>
              <a:rPr lang="zh-CN" altLang="en-US" sz="2400" b="1" dirty="0">
                <a:solidFill>
                  <a:srgbClr val="008000"/>
                </a:solidFill>
                <a:latin typeface="华文楷体" panose="02010600040101010101" pitchFamily="2" charset="-122"/>
                <a:ea typeface="华文楷体" panose="02010600040101010101" pitchFamily="2" charset="-122"/>
              </a:rPr>
              <a:t>实质</a:t>
            </a:r>
            <a:r>
              <a:rPr lang="zh-CN" altLang="en-US" sz="2400" b="1" dirty="0">
                <a:latin typeface="华文楷体" panose="02010600040101010101" pitchFamily="2" charset="-122"/>
                <a:ea typeface="华文楷体" panose="02010600040101010101" pitchFamily="2" charset="-122"/>
              </a:rPr>
              <a:t>：气体导电现象，放出大量光和热。</a:t>
            </a:r>
            <a:endParaRPr lang="zh-CN" altLang="en-US" sz="2400" b="1" dirty="0">
              <a:latin typeface="华文楷体" panose="02010600040101010101" pitchFamily="2" charset="-122"/>
              <a:ea typeface="华文楷体" panose="02010600040101010101" pitchFamily="2" charset="-122"/>
            </a:endParaRPr>
          </a:p>
          <a:p>
            <a:pPr lvl="1" eaLnBrk="1" hangingPunct="1"/>
            <a:r>
              <a:rPr lang="zh-CN" altLang="en-US" sz="2400" b="1" dirty="0">
                <a:solidFill>
                  <a:srgbClr val="008000"/>
                </a:solidFill>
                <a:latin typeface="华文楷体" panose="02010600040101010101" pitchFamily="2" charset="-122"/>
                <a:ea typeface="华文楷体" panose="02010600040101010101" pitchFamily="2" charset="-122"/>
              </a:rPr>
              <a:t>组成：</a:t>
            </a:r>
            <a:r>
              <a:rPr lang="zh-CN" altLang="en-US" sz="2400" b="1" dirty="0">
                <a:latin typeface="华文楷体" panose="02010600040101010101" pitchFamily="2" charset="-122"/>
                <a:ea typeface="华文楷体" panose="02010600040101010101" pitchFamily="2" charset="-122"/>
              </a:rPr>
              <a:t>由阴极区、阳极区和弧柱三部分组成。</a:t>
            </a:r>
            <a:endParaRPr lang="zh-CN" altLang="en-US" sz="2400" b="1" dirty="0">
              <a:latin typeface="华文楷体" panose="02010600040101010101" pitchFamily="2" charset="-122"/>
              <a:ea typeface="华文楷体" panose="02010600040101010101" pitchFamily="2" charset="-122"/>
            </a:endParaRPr>
          </a:p>
          <a:p>
            <a:pPr lvl="1" eaLnBrk="1" hangingPunct="1"/>
            <a:r>
              <a:rPr lang="zh-CN" altLang="en-US" sz="2400" b="1" dirty="0">
                <a:solidFill>
                  <a:srgbClr val="008000"/>
                </a:solidFill>
                <a:latin typeface="华文楷体" panose="02010600040101010101" pitchFamily="2" charset="-122"/>
                <a:ea typeface="华文楷体" panose="02010600040101010101" pitchFamily="2" charset="-122"/>
              </a:rPr>
              <a:t>特性：</a:t>
            </a:r>
            <a:r>
              <a:rPr lang="zh-CN" altLang="en-US" sz="2400" b="1" dirty="0">
                <a:latin typeface="华文楷体" panose="02010600040101010101" pitchFamily="2" charset="-122"/>
                <a:ea typeface="华文楷体" panose="02010600040101010101" pitchFamily="2" charset="-122"/>
              </a:rPr>
              <a:t>焊接电弧的热量与焊接电流的平方和电压的乘积成正比，</a:t>
            </a:r>
            <a:r>
              <a:rPr lang="zh-CN" altLang="en-US" sz="2400" b="1" dirty="0">
                <a:solidFill>
                  <a:srgbClr val="FF0000"/>
                </a:solidFill>
                <a:latin typeface="华文楷体" panose="02010600040101010101" pitchFamily="2" charset="-122"/>
                <a:ea typeface="华文楷体" panose="02010600040101010101" pitchFamily="2" charset="-122"/>
              </a:rPr>
              <a:t>电流愈大</a:t>
            </a:r>
            <a:r>
              <a:rPr lang="zh-CN" altLang="en-US" sz="2400" b="1" dirty="0">
                <a:latin typeface="华文楷体" panose="02010600040101010101" pitchFamily="2" charset="-122"/>
                <a:ea typeface="华文楷体" panose="02010600040101010101" pitchFamily="2" charset="-122"/>
              </a:rPr>
              <a:t>，产生的</a:t>
            </a:r>
            <a:r>
              <a:rPr lang="zh-CN" altLang="en-US" sz="2400" b="1" dirty="0">
                <a:solidFill>
                  <a:srgbClr val="FF0000"/>
                </a:solidFill>
                <a:latin typeface="华文楷体" panose="02010600040101010101" pitchFamily="2" charset="-122"/>
                <a:ea typeface="华文楷体" panose="02010600040101010101" pitchFamily="2" charset="-122"/>
              </a:rPr>
              <a:t>总热量愈大</a:t>
            </a:r>
            <a:r>
              <a:rPr lang="zh-CN" altLang="en-US" sz="2400" b="1" dirty="0">
                <a:latin typeface="华文楷体" panose="02010600040101010101" pitchFamily="2" charset="-122"/>
                <a:ea typeface="华文楷体" panose="02010600040101010101" pitchFamily="2" charset="-122"/>
              </a:rPr>
              <a:t>。</a:t>
            </a:r>
            <a:endParaRPr lang="zh-CN" altLang="en-US" sz="2400" b="1" dirty="0">
              <a:latin typeface="华文楷体" panose="02010600040101010101" pitchFamily="2" charset="-122"/>
              <a:ea typeface="华文楷体" panose="02010600040101010101" pitchFamily="2" charset="-122"/>
            </a:endParaRPr>
          </a:p>
        </p:txBody>
      </p:sp>
      <p:sp>
        <p:nvSpPr>
          <p:cNvPr id="11268" name="Rectangle 4"/>
          <p:cNvSpPr/>
          <p:nvPr/>
        </p:nvSpPr>
        <p:spPr>
          <a:xfrm>
            <a:off x="2482850" y="279400"/>
            <a:ext cx="6697663" cy="701675"/>
          </a:xfrm>
          <a:prstGeom prst="rect">
            <a:avLst/>
          </a:prstGeom>
          <a:noFill/>
          <a:ln w="9525">
            <a:noFill/>
          </a:ln>
        </p:spPr>
        <p:txBody>
          <a:bodyPr>
            <a:spAutoFit/>
          </a:bodyPr>
          <a:p>
            <a:pPr eaLnBrk="1" hangingPunct="1"/>
            <a:r>
              <a:rPr lang="zh-CN" altLang="en-US" sz="4000" b="1" dirty="0">
                <a:solidFill>
                  <a:schemeClr val="tx2"/>
                </a:solidFill>
                <a:latin typeface="Arial" panose="020B0604020202020204" pitchFamily="34" charset="0"/>
                <a:ea typeface="楷体_GB2312" pitchFamily="49" charset="-122"/>
              </a:rPr>
              <a:t>电弧焊</a:t>
            </a:r>
            <a:r>
              <a:rPr lang="en-US" altLang="zh-CN" sz="4000" b="1" dirty="0">
                <a:solidFill>
                  <a:schemeClr val="tx2"/>
                </a:solidFill>
                <a:latin typeface="Arial" panose="020B0604020202020204" pitchFamily="34" charset="0"/>
                <a:ea typeface="楷体_GB2312" pitchFamily="49" charset="-122"/>
              </a:rPr>
              <a:t>——</a:t>
            </a:r>
            <a:r>
              <a:rPr lang="zh-CN" altLang="en-US" sz="4000" b="1" dirty="0">
                <a:solidFill>
                  <a:schemeClr val="tx2"/>
                </a:solidFill>
                <a:latin typeface="Arial" panose="020B0604020202020204" pitchFamily="34" charset="0"/>
                <a:ea typeface="楷体_GB2312" pitchFamily="49" charset="-122"/>
              </a:rPr>
              <a:t>焊接的基本原理</a:t>
            </a:r>
            <a:endParaRPr lang="zh-CN" altLang="en-US" sz="4000" b="1" dirty="0">
              <a:solidFill>
                <a:schemeClr val="tx2"/>
              </a:solidFill>
              <a:latin typeface="Arial" panose="020B0604020202020204" pitchFamily="34" charset="0"/>
              <a:ea typeface="楷体_GB2312" pitchFamily="49" charset="-122"/>
            </a:endParaRPr>
          </a:p>
        </p:txBody>
      </p:sp>
      <p:grpSp>
        <p:nvGrpSpPr>
          <p:cNvPr id="11269" name="Group 5"/>
          <p:cNvGrpSpPr/>
          <p:nvPr/>
        </p:nvGrpSpPr>
        <p:grpSpPr>
          <a:xfrm>
            <a:off x="5148263" y="1700213"/>
            <a:ext cx="3779837" cy="2978150"/>
            <a:chOff x="3266" y="1282"/>
            <a:chExt cx="2381" cy="1876"/>
          </a:xfrm>
        </p:grpSpPr>
        <p:pic>
          <p:nvPicPr>
            <p:cNvPr id="11272" name="Picture 6" descr="41"/>
            <p:cNvPicPr>
              <a:picLocks noChangeAspect="1"/>
            </p:cNvPicPr>
            <p:nvPr/>
          </p:nvPicPr>
          <p:blipFill>
            <a:blip r:embed="rId1"/>
            <a:srcRect l="2394" t="1511" r="2106" b="2519"/>
            <a:stretch>
              <a:fillRect/>
            </a:stretch>
          </p:blipFill>
          <p:spPr>
            <a:xfrm>
              <a:off x="3266" y="1282"/>
              <a:ext cx="2381" cy="1876"/>
            </a:xfrm>
            <a:prstGeom prst="rect">
              <a:avLst/>
            </a:prstGeom>
            <a:noFill/>
            <a:ln w="9525">
              <a:noFill/>
            </a:ln>
          </p:spPr>
        </p:pic>
        <p:sp>
          <p:nvSpPr>
            <p:cNvPr id="11273" name="Text Box 7"/>
            <p:cNvSpPr txBox="1"/>
            <p:nvPr/>
          </p:nvSpPr>
          <p:spPr>
            <a:xfrm>
              <a:off x="3858" y="2908"/>
              <a:ext cx="1245" cy="250"/>
            </a:xfrm>
            <a:prstGeom prst="rect">
              <a:avLst/>
            </a:prstGeom>
            <a:solidFill>
              <a:srgbClr val="FFFFFF"/>
            </a:solidFill>
            <a:ln w="9525">
              <a:noFill/>
            </a:ln>
          </p:spPr>
          <p:txBody>
            <a:bodyPr wrap="none">
              <a:spAutoFit/>
            </a:bodyPr>
            <a:p>
              <a:pPr eaLnBrk="1" hangingPunct="1"/>
              <a:r>
                <a:rPr lang="zh-CN" altLang="en-US" sz="2000" b="1" dirty="0">
                  <a:latin typeface="楷体_GB2312" pitchFamily="49" charset="-122"/>
                  <a:ea typeface="楷体_GB2312" pitchFamily="49" charset="-122"/>
                </a:rPr>
                <a:t>图</a:t>
              </a:r>
              <a:r>
                <a:rPr lang="en-US" altLang="zh-CN" sz="2000" b="1" dirty="0">
                  <a:latin typeface="楷体_GB2312" pitchFamily="49" charset="-122"/>
                  <a:ea typeface="楷体_GB2312" pitchFamily="49" charset="-122"/>
                </a:rPr>
                <a:t>4-1 </a:t>
              </a:r>
              <a:r>
                <a:rPr lang="zh-CN" altLang="en-US" sz="2000" b="1" dirty="0">
                  <a:latin typeface="楷体_GB2312" pitchFamily="49" charset="-122"/>
                  <a:ea typeface="楷体_GB2312" pitchFamily="49" charset="-122"/>
                </a:rPr>
                <a:t>焊接电弧</a:t>
              </a:r>
              <a:endParaRPr lang="zh-CN" altLang="en-US" sz="2000" b="1" dirty="0">
                <a:latin typeface="楷体_GB2312" pitchFamily="49" charset="-122"/>
                <a:ea typeface="楷体_GB2312" pitchFamily="49" charset="-122"/>
              </a:endParaRPr>
            </a:p>
          </p:txBody>
        </p:sp>
      </p:grpSp>
      <p:pic>
        <p:nvPicPr>
          <p:cNvPr id="11270" name="Picture 9"/>
          <p:cNvPicPr>
            <a:picLocks noChangeAspect="1"/>
          </p:cNvPicPr>
          <p:nvPr/>
        </p:nvPicPr>
        <p:blipFill>
          <a:blip r:embed="rId2"/>
          <a:stretch>
            <a:fillRect/>
          </a:stretch>
        </p:blipFill>
        <p:spPr>
          <a:xfrm>
            <a:off x="5580063" y="5373688"/>
            <a:ext cx="3101975" cy="1198562"/>
          </a:xfrm>
          <a:prstGeom prst="rect">
            <a:avLst/>
          </a:prstGeom>
          <a:noFill/>
          <a:ln w="9525">
            <a:noFill/>
          </a:ln>
        </p:spPr>
      </p:pic>
      <p:sp>
        <p:nvSpPr>
          <p:cNvPr id="9" name="动作按钮: 前进或下一项 8">
            <a:hlinkClick r:id="" action="ppaction://hlinkshowjump?jump=nextslide" highlightClick="1"/>
          </p:cNvPr>
          <p:cNvSpPr/>
          <p:nvPr/>
        </p:nvSpPr>
        <p:spPr>
          <a:xfrm>
            <a:off x="2286000" y="3286125"/>
            <a:ext cx="571500" cy="428625"/>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标题 1"/>
          <p:cNvSpPr>
            <a:spLocks noGrp="1"/>
          </p:cNvSpPr>
          <p:nvPr>
            <p:ph type="title"/>
          </p:nvPr>
        </p:nvSpPr>
        <p:spPr/>
        <p:txBody>
          <a:bodyPr vert="horz" wrap="square" lIns="91440" tIns="45720" rIns="91440" bIns="45720" anchor="ctr" anchorCtr="0"/>
          <a:p>
            <a:r>
              <a:rPr lang="zh-CN" altLang="en-US" dirty="0"/>
              <a:t>焊接电弧</a:t>
            </a:r>
            <a:endParaRPr lang="zh-CN" altLang="en-US" dirty="0"/>
          </a:p>
        </p:txBody>
      </p:sp>
      <p:sp>
        <p:nvSpPr>
          <p:cNvPr id="12291" name="文本占位符 2"/>
          <p:cNvSpPr>
            <a:spLocks noGrp="1"/>
          </p:cNvSpPr>
          <p:nvPr>
            <p:ph type="body" sz="half" idx="1"/>
          </p:nvPr>
        </p:nvSpPr>
        <p:spPr/>
        <p:txBody>
          <a:bodyPr vert="horz" wrap="square" lIns="91440" tIns="45720" rIns="91440" bIns="45720" anchor="t" anchorCtr="0"/>
          <a:p>
            <a:pPr>
              <a:buClrTx/>
              <a:buSzTx/>
              <a:buFontTx/>
            </a:pPr>
            <a:endParaRPr lang="zh-CN" altLang="en-US" dirty="0"/>
          </a:p>
        </p:txBody>
      </p:sp>
      <p:sp>
        <p:nvSpPr>
          <p:cNvPr id="12292" name="内容占位符 3"/>
          <p:cNvSpPr>
            <a:spLocks noGrp="1"/>
          </p:cNvSpPr>
          <p:nvPr>
            <p:ph sz="half" idx="2"/>
          </p:nvPr>
        </p:nvSpPr>
        <p:spPr/>
        <p:txBody>
          <a:bodyPr vert="horz" wrap="square" lIns="91440" tIns="45720" rIns="91440" bIns="45720" anchor="t" anchorCtr="0"/>
          <a:p>
            <a:pPr>
              <a:buClrTx/>
              <a:buSzTx/>
              <a:buFontTx/>
            </a:pPr>
            <a:r>
              <a:rPr lang="zh-CN" altLang="en-US" sz="2000" dirty="0"/>
              <a:t>焊接电弧是一种强烈的持久的气体放电现象。在这种气体放电过程中产生大量的热能和强烈的光辉。</a:t>
            </a:r>
            <a:endParaRPr lang="zh-CN" altLang="en-US" sz="2000" dirty="0"/>
          </a:p>
          <a:p>
            <a:pPr>
              <a:buClrTx/>
              <a:buSzTx/>
              <a:buFontTx/>
            </a:pPr>
            <a:r>
              <a:rPr lang="zh-CN" altLang="en-US" sz="2000" dirty="0"/>
              <a:t>通常，气体是不导电的，但是在一定的电场和温度条件下，可以使气体离解而导电。</a:t>
            </a:r>
            <a:endParaRPr lang="zh-CN" altLang="en-US" sz="2000" dirty="0"/>
          </a:p>
          <a:p>
            <a:pPr>
              <a:buClrTx/>
              <a:buSzTx/>
              <a:buFontTx/>
            </a:pPr>
            <a:r>
              <a:rPr lang="zh-CN" altLang="en-US" sz="2000" dirty="0"/>
              <a:t>焊接电弧就是在一定的电场作用下，将电弧空间的气体介质电离，使中性分子或原子离解为带正电荷的正离子和带负电荷的电子（或负离子），这两种带电质点分别向着电场的两极方向运动，使局部气体空间导电，而形成电弧。</a:t>
            </a:r>
            <a:endParaRPr lang="zh-CN" altLang="en-US" sz="2000" dirty="0"/>
          </a:p>
        </p:txBody>
      </p:sp>
      <p:pic>
        <p:nvPicPr>
          <p:cNvPr id="12293" name="Picture 2" descr="http://5b0988e595225.cdn.sohucs.com/images/20180918/968518ac9b9b481395f2aae83e658bca.gif"/>
          <p:cNvPicPr>
            <a:picLocks noChangeAspect="1"/>
          </p:cNvPicPr>
          <p:nvPr/>
        </p:nvPicPr>
        <p:blipFill>
          <a:blip r:embed="rId1"/>
          <a:stretch>
            <a:fillRect/>
          </a:stretch>
        </p:blipFill>
        <p:spPr>
          <a:xfrm>
            <a:off x="714375" y="1928813"/>
            <a:ext cx="3333750" cy="3343275"/>
          </a:xfrm>
          <a:prstGeom prst="rect">
            <a:avLst/>
          </a:prstGeom>
          <a:noFill/>
          <a:ln w="9525">
            <a:noFill/>
          </a:ln>
        </p:spPr>
      </p:pic>
      <p:sp>
        <p:nvSpPr>
          <p:cNvPr id="7" name="动作按钮: 后退或前一项 6">
            <a:hlinkClick r:id="" action="ppaction://hlinkshowjump?jump=previousslide" highlightClick="1"/>
          </p:cNvPr>
          <p:cNvSpPr/>
          <p:nvPr/>
        </p:nvSpPr>
        <p:spPr>
          <a:xfrm>
            <a:off x="5364163" y="6236970"/>
            <a:ext cx="714375" cy="642938"/>
          </a:xfrm>
          <a:prstGeom prst="actionButtonBackPrevious">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2295" name="矩形 7"/>
          <p:cNvSpPr/>
          <p:nvPr/>
        </p:nvSpPr>
        <p:spPr>
          <a:xfrm>
            <a:off x="285750" y="5857875"/>
            <a:ext cx="4572000" cy="646113"/>
          </a:xfrm>
          <a:prstGeom prst="rect">
            <a:avLst/>
          </a:prstGeom>
          <a:noFill/>
          <a:ln w="9525">
            <a:noFill/>
          </a:ln>
        </p:spPr>
        <p:txBody>
          <a:bodyPr>
            <a:spAutoFit/>
          </a:bodyPr>
          <a:p>
            <a:r>
              <a:rPr lang="zh-CN" altLang="en-US" dirty="0">
                <a:latin typeface="Arial" panose="020B0604020202020204" pitchFamily="34" charset="0"/>
              </a:rPr>
              <a:t>手工电弧焊是采用接触引弧的。引弧时，焊条与工件瞬时接触造成短路。</a:t>
            </a:r>
            <a:endParaRPr lang="zh-CN" altLang="en-US" dirty="0">
              <a:latin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5331" name="Rectangle 3"/>
          <p:cNvSpPr>
            <a:spLocks noGrp="1"/>
          </p:cNvSpPr>
          <p:nvPr>
            <p:ph type="body" sz="half" idx="1"/>
          </p:nvPr>
        </p:nvSpPr>
        <p:spPr>
          <a:xfrm>
            <a:off x="457200" y="1371600"/>
            <a:ext cx="4402138" cy="5226050"/>
          </a:xfrm>
        </p:spPr>
        <p:txBody>
          <a:bodyPr vert="horz" wrap="square" lIns="91440" tIns="45720" rIns="91440" bIns="45720" anchor="t" anchorCtr="0"/>
          <a:p>
            <a:pPr eaLnBrk="1" hangingPunct="1">
              <a:buClrTx/>
              <a:buSzTx/>
              <a:buFontTx/>
            </a:pPr>
            <a:r>
              <a:rPr lang="zh-CN" altLang="en-US" sz="3000" b="1" dirty="0">
                <a:latin typeface="华文楷体" panose="02010600040101010101" pitchFamily="2" charset="-122"/>
                <a:ea typeface="华文楷体" panose="02010600040101010101" pitchFamily="2" charset="-122"/>
                <a:cs typeface="华文楷体" panose="02010600040101010101" pitchFamily="2" charset="-122"/>
              </a:rPr>
              <a:t>电弧区的热量和温度分布</a:t>
            </a:r>
            <a:endParaRPr lang="zh-CN" altLang="en-US" sz="3000" b="1" dirty="0">
              <a:latin typeface="华文楷体" panose="02010600040101010101" pitchFamily="2" charset="-122"/>
              <a:ea typeface="华文楷体" panose="02010600040101010101" pitchFamily="2" charset="-122"/>
              <a:cs typeface="华文楷体" panose="02010600040101010101" pitchFamily="2" charset="-122"/>
            </a:endParaRPr>
          </a:p>
          <a:p>
            <a:pPr lvl="1" eaLnBrk="1" hangingPunct="1"/>
            <a:r>
              <a:rPr lang="zh-CN" altLang="en-US" sz="2400" b="1"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电弧热量，阳极区占总热量的</a:t>
            </a:r>
            <a:r>
              <a:rPr lang="en-US" altLang="zh-CN" sz="2400" b="1"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43</a:t>
            </a:r>
            <a:r>
              <a:rPr lang="zh-CN" altLang="en-US" sz="2400" b="1"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％；阴极区因放出大量电子，消耗了一部分能量，约占</a:t>
            </a:r>
            <a:r>
              <a:rPr lang="en-US" altLang="zh-CN" sz="2400" b="1"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36</a:t>
            </a:r>
            <a:r>
              <a:rPr lang="zh-CN" altLang="en-US" sz="2400" b="1"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％；其余</a:t>
            </a:r>
            <a:r>
              <a:rPr lang="en-US" altLang="zh-CN" sz="2400" b="1"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21</a:t>
            </a:r>
            <a:r>
              <a:rPr lang="zh-CN" altLang="en-US" sz="2400" b="1"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％左右的热量是在弧柱中产生的。</a:t>
            </a:r>
            <a:endParaRPr lang="zh-CN" altLang="en-US" sz="2400" b="1"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endParaRPr>
          </a:p>
          <a:p>
            <a:pPr lvl="1" eaLnBrk="1" hangingPunct="1"/>
            <a:r>
              <a:rPr lang="en-US" altLang="zh-CN" sz="2400" b="1"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65</a:t>
            </a:r>
            <a:r>
              <a:rPr lang="zh-CN" altLang="en-US" sz="2400" b="1"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a:t>
            </a:r>
            <a:r>
              <a:rPr lang="en-US" altLang="zh-CN" sz="2400" b="1"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85</a:t>
            </a:r>
            <a:r>
              <a:rPr lang="zh-CN" altLang="en-US" sz="2400" b="1"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％溶化金属，其余使阴极发射电子，保持弧柱区气体电离，向周围耗散等。</a:t>
            </a:r>
            <a:endParaRPr lang="zh-CN" altLang="en-US" sz="2400" b="1"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endParaRPr>
          </a:p>
        </p:txBody>
      </p:sp>
      <p:sp>
        <p:nvSpPr>
          <p:cNvPr id="13316" name="Rectangle 11"/>
          <p:cNvSpPr/>
          <p:nvPr/>
        </p:nvSpPr>
        <p:spPr>
          <a:xfrm>
            <a:off x="2482850" y="279400"/>
            <a:ext cx="6697663" cy="701675"/>
          </a:xfrm>
          <a:prstGeom prst="rect">
            <a:avLst/>
          </a:prstGeom>
          <a:noFill/>
          <a:ln w="9525">
            <a:noFill/>
          </a:ln>
        </p:spPr>
        <p:txBody>
          <a:bodyPr>
            <a:spAutoFit/>
          </a:bodyPr>
          <a:p>
            <a:pPr eaLnBrk="1" hangingPunct="1"/>
            <a:r>
              <a:rPr lang="zh-CN" altLang="en-US" sz="4000" b="1" dirty="0">
                <a:solidFill>
                  <a:schemeClr val="tx2"/>
                </a:solidFill>
                <a:latin typeface="Arial" panose="020B0604020202020204" pitchFamily="34" charset="0"/>
                <a:ea typeface="楷体_GB2312" pitchFamily="49" charset="-122"/>
              </a:rPr>
              <a:t>电弧焊</a:t>
            </a:r>
            <a:r>
              <a:rPr lang="en-US" altLang="zh-CN" sz="4000" b="1" dirty="0">
                <a:solidFill>
                  <a:schemeClr val="tx2"/>
                </a:solidFill>
                <a:latin typeface="Arial" panose="020B0604020202020204" pitchFamily="34" charset="0"/>
                <a:ea typeface="楷体_GB2312" pitchFamily="49" charset="-122"/>
              </a:rPr>
              <a:t>——</a:t>
            </a:r>
            <a:r>
              <a:rPr lang="zh-CN" altLang="en-US" sz="4000" b="1" dirty="0">
                <a:solidFill>
                  <a:schemeClr val="tx2"/>
                </a:solidFill>
                <a:latin typeface="Arial" panose="020B0604020202020204" pitchFamily="34" charset="0"/>
                <a:ea typeface="楷体_GB2312" pitchFamily="49" charset="-122"/>
              </a:rPr>
              <a:t>焊接的基本原理</a:t>
            </a:r>
            <a:endParaRPr lang="zh-CN" altLang="en-US" sz="4000" b="1" dirty="0">
              <a:solidFill>
                <a:schemeClr val="tx2"/>
              </a:solidFill>
              <a:latin typeface="Arial" panose="020B0604020202020204" pitchFamily="34" charset="0"/>
              <a:ea typeface="楷体_GB2312" pitchFamily="49" charset="-122"/>
            </a:endParaRPr>
          </a:p>
        </p:txBody>
      </p:sp>
      <p:graphicFrame>
        <p:nvGraphicFramePr>
          <p:cNvPr id="2" name="对象 1"/>
          <p:cNvGraphicFramePr/>
          <p:nvPr>
            <p:custDataLst>
              <p:tags r:id="rId1"/>
            </p:custDataLst>
          </p:nvPr>
        </p:nvGraphicFramePr>
        <p:xfrm>
          <a:off x="4817745" y="2422525"/>
          <a:ext cx="4226560" cy="3281680"/>
        </p:xfrm>
        <a:graphic>
          <a:graphicData uri="http://schemas.openxmlformats.org/presentationml/2006/ole">
            <mc:AlternateContent xmlns:mc="http://schemas.openxmlformats.org/markup-compatibility/2006">
              <mc:Choice xmlns:v="urn:schemas-microsoft-com:vml" Requires="v">
                <p:oleObj spid="_x0000_s3" name="" r:id="rId2" imgW="3835400" imgH="2921000" progId="Paint.Picture">
                  <p:embed/>
                </p:oleObj>
              </mc:Choice>
              <mc:Fallback>
                <p:oleObj name="" r:id="rId2" imgW="3835400" imgH="2921000" progId="Paint.Picture">
                  <p:embed/>
                  <p:pic>
                    <p:nvPicPr>
                      <p:cNvPr id="0" name="图片 2"/>
                      <p:cNvPicPr/>
                      <p:nvPr/>
                    </p:nvPicPr>
                    <p:blipFill>
                      <a:blip r:embed="rId3"/>
                      <a:stretch>
                        <a:fillRect/>
                      </a:stretch>
                    </p:blipFill>
                    <p:spPr>
                      <a:xfrm>
                        <a:off x="4817745" y="2422525"/>
                        <a:ext cx="4226560" cy="328168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95331">
                                            <p:txEl>
                                              <p:charRg st="0" end="1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95331">
                                            <p:txEl>
                                              <p:charRg st="12" end="7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95331">
                                            <p:txEl>
                                              <p:charRg st="75" end="1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5331"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Rectangle 2"/>
          <p:cNvSpPr>
            <a:spLocks noGrp="1"/>
          </p:cNvSpPr>
          <p:nvPr>
            <p:ph type="body" sz="half" idx="1"/>
          </p:nvPr>
        </p:nvSpPr>
        <p:spPr>
          <a:xfrm>
            <a:off x="323850" y="1341438"/>
            <a:ext cx="4357688" cy="4968875"/>
          </a:xfrm>
        </p:spPr>
        <p:txBody>
          <a:bodyPr vert="horz" wrap="square" lIns="91440" tIns="45720" rIns="91440" bIns="45720" anchor="t" anchorCtr="0"/>
          <a:p>
            <a:pPr eaLnBrk="1" hangingPunct="1">
              <a:buClrTx/>
              <a:buSzTx/>
              <a:buFontTx/>
            </a:pPr>
            <a:r>
              <a:rPr lang="zh-CN" altLang="en-US" sz="3000" b="1" dirty="0">
                <a:latin typeface="华文楷体" panose="02010600040101010101" pitchFamily="2" charset="-122"/>
                <a:ea typeface="华文楷体" panose="02010600040101010101" pitchFamily="2" charset="-122"/>
                <a:cs typeface="华文楷体" panose="02010600040101010101" pitchFamily="2" charset="-122"/>
              </a:rPr>
              <a:t>电弧区的热量和温度分布</a:t>
            </a:r>
            <a:endParaRPr lang="zh-CN" altLang="en-US" sz="3000" b="1" dirty="0">
              <a:latin typeface="华文楷体" panose="02010600040101010101" pitchFamily="2" charset="-122"/>
              <a:ea typeface="华文楷体" panose="02010600040101010101" pitchFamily="2" charset="-122"/>
              <a:cs typeface="华文楷体" panose="02010600040101010101" pitchFamily="2" charset="-122"/>
            </a:endParaRPr>
          </a:p>
          <a:p>
            <a:pPr lvl="1" eaLnBrk="1" hangingPunct="1"/>
            <a:r>
              <a:rPr lang="zh-CN" altLang="en-US" sz="2400" b="1" dirty="0">
                <a:latin typeface="华文楷体" panose="02010600040101010101" pitchFamily="2" charset="-122"/>
                <a:ea typeface="华文楷体" panose="02010600040101010101" pitchFamily="2" charset="-122"/>
                <a:cs typeface="华文楷体" panose="02010600040101010101" pitchFamily="2" charset="-122"/>
              </a:rPr>
              <a:t>电弧中阳极区和阴极区的</a:t>
            </a:r>
            <a:r>
              <a:rPr lang="zh-CN" altLang="en-US" sz="2400" b="1"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温度因电极材料不同而不同。</a:t>
            </a:r>
            <a:endParaRPr lang="zh-CN" altLang="en-US" sz="2400" b="1"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endParaRPr>
          </a:p>
          <a:p>
            <a:pPr lvl="1" eaLnBrk="1" hangingPunct="1"/>
            <a:r>
              <a:rPr lang="zh-CN" altLang="en-US" sz="2400" b="1" dirty="0">
                <a:latin typeface="华文楷体" panose="02010600040101010101" pitchFamily="2" charset="-122"/>
                <a:ea typeface="华文楷体" panose="02010600040101010101" pitchFamily="2" charset="-122"/>
                <a:cs typeface="华文楷体" panose="02010600040101010101" pitchFamily="2" charset="-122"/>
              </a:rPr>
              <a:t>当两极材料相同时，阳极温度比阴极高。如用钢焊条焊接钢材时，</a:t>
            </a:r>
            <a:r>
              <a:rPr lang="zh-CN" altLang="en-US" sz="2400" b="1" dirty="0">
                <a:solidFill>
                  <a:srgbClr val="FF0000"/>
                </a:solidFill>
                <a:latin typeface="华文楷体" panose="02010600040101010101" pitchFamily="2" charset="-122"/>
                <a:ea typeface="华文楷体" panose="02010600040101010101" pitchFamily="2" charset="-122"/>
                <a:cs typeface="华文楷体" panose="02010600040101010101" pitchFamily="2" charset="-122"/>
              </a:rPr>
              <a:t>阳极区</a:t>
            </a:r>
            <a:r>
              <a:rPr lang="zh-CN" altLang="en-US" sz="2400" b="1" dirty="0">
                <a:solidFill>
                  <a:srgbClr val="3333FF"/>
                </a:solidFill>
                <a:latin typeface="华文楷体" panose="02010600040101010101" pitchFamily="2" charset="-122"/>
                <a:ea typeface="华文楷体" panose="02010600040101010101" pitchFamily="2" charset="-122"/>
                <a:cs typeface="华文楷体" panose="02010600040101010101" pitchFamily="2" charset="-122"/>
              </a:rPr>
              <a:t>温度约为</a:t>
            </a:r>
            <a:r>
              <a:rPr lang="en-US" altLang="zh-CN" sz="2400" b="1" dirty="0">
                <a:solidFill>
                  <a:srgbClr val="3333FF"/>
                </a:solidFill>
                <a:latin typeface="华文楷体" panose="02010600040101010101" pitchFamily="2" charset="-122"/>
                <a:ea typeface="华文楷体" panose="02010600040101010101" pitchFamily="2" charset="-122"/>
                <a:cs typeface="华文楷体" panose="02010600040101010101" pitchFamily="2" charset="-122"/>
              </a:rPr>
              <a:t>2,600K</a:t>
            </a:r>
            <a:r>
              <a:rPr lang="zh-CN" altLang="en-US" sz="2400" b="1" dirty="0">
                <a:solidFill>
                  <a:srgbClr val="3333FF"/>
                </a:solidFill>
                <a:latin typeface="华文楷体" panose="02010600040101010101" pitchFamily="2" charset="-122"/>
                <a:ea typeface="华文楷体" panose="02010600040101010101" pitchFamily="2" charset="-122"/>
                <a:cs typeface="华文楷体" panose="02010600040101010101" pitchFamily="2" charset="-122"/>
              </a:rPr>
              <a:t>，</a:t>
            </a:r>
            <a:r>
              <a:rPr lang="zh-CN" altLang="en-US" sz="2400" b="1" dirty="0">
                <a:solidFill>
                  <a:srgbClr val="FF0000"/>
                </a:solidFill>
                <a:latin typeface="华文楷体" panose="02010600040101010101" pitchFamily="2" charset="-122"/>
                <a:ea typeface="华文楷体" panose="02010600040101010101" pitchFamily="2" charset="-122"/>
                <a:cs typeface="华文楷体" panose="02010600040101010101" pitchFamily="2" charset="-122"/>
              </a:rPr>
              <a:t>阴极区</a:t>
            </a:r>
            <a:r>
              <a:rPr lang="zh-CN" altLang="en-US" sz="2400" b="1" dirty="0">
                <a:solidFill>
                  <a:srgbClr val="3333FF"/>
                </a:solidFill>
                <a:latin typeface="华文楷体" panose="02010600040101010101" pitchFamily="2" charset="-122"/>
                <a:ea typeface="华文楷体" panose="02010600040101010101" pitchFamily="2" charset="-122"/>
                <a:cs typeface="华文楷体" panose="02010600040101010101" pitchFamily="2" charset="-122"/>
              </a:rPr>
              <a:t>约为</a:t>
            </a:r>
            <a:r>
              <a:rPr lang="en-US" altLang="zh-CN" sz="2400" b="1" dirty="0">
                <a:solidFill>
                  <a:srgbClr val="3333FF"/>
                </a:solidFill>
                <a:latin typeface="华文楷体" panose="02010600040101010101" pitchFamily="2" charset="-122"/>
                <a:ea typeface="华文楷体" panose="02010600040101010101" pitchFamily="2" charset="-122"/>
                <a:cs typeface="华文楷体" panose="02010600040101010101" pitchFamily="2" charset="-122"/>
              </a:rPr>
              <a:t>2,400K</a:t>
            </a:r>
            <a:r>
              <a:rPr lang="zh-CN" altLang="en-US" sz="2400" b="1" dirty="0">
                <a:solidFill>
                  <a:srgbClr val="3333FF"/>
                </a:solidFill>
                <a:latin typeface="华文楷体" panose="02010600040101010101" pitchFamily="2" charset="-122"/>
                <a:ea typeface="华文楷体" panose="02010600040101010101" pitchFamily="2" charset="-122"/>
                <a:cs typeface="华文楷体" panose="02010600040101010101" pitchFamily="2" charset="-122"/>
              </a:rPr>
              <a:t>，</a:t>
            </a:r>
            <a:r>
              <a:rPr lang="zh-CN" altLang="en-US" sz="2400" b="1" dirty="0">
                <a:latin typeface="华文楷体" panose="02010600040101010101" pitchFamily="2" charset="-122"/>
                <a:ea typeface="华文楷体" panose="02010600040101010101" pitchFamily="2" charset="-122"/>
                <a:cs typeface="华文楷体" panose="02010600040101010101" pitchFamily="2" charset="-122"/>
              </a:rPr>
              <a:t>电弧中心区温度最高，可达</a:t>
            </a:r>
            <a:r>
              <a:rPr lang="en-US" altLang="zh-CN" sz="2400" b="1" dirty="0">
                <a:latin typeface="华文楷体" panose="02010600040101010101" pitchFamily="2" charset="-122"/>
                <a:ea typeface="华文楷体" panose="02010600040101010101" pitchFamily="2" charset="-122"/>
                <a:cs typeface="华文楷体" panose="02010600040101010101" pitchFamily="2" charset="-122"/>
              </a:rPr>
              <a:t>6,000</a:t>
            </a:r>
            <a:r>
              <a:rPr lang="zh-CN" altLang="en-US" sz="2400" b="1" dirty="0">
                <a:latin typeface="华文楷体" panose="02010600040101010101" pitchFamily="2" charset="-122"/>
                <a:ea typeface="华文楷体" panose="02010600040101010101" pitchFamily="2" charset="-122"/>
                <a:cs typeface="华文楷体" panose="02010600040101010101" pitchFamily="2" charset="-122"/>
              </a:rPr>
              <a:t>～</a:t>
            </a:r>
            <a:r>
              <a:rPr lang="en-US" altLang="zh-CN" sz="2400" b="1" dirty="0">
                <a:latin typeface="华文楷体" panose="02010600040101010101" pitchFamily="2" charset="-122"/>
                <a:ea typeface="华文楷体" panose="02010600040101010101" pitchFamily="2" charset="-122"/>
                <a:cs typeface="华文楷体" panose="02010600040101010101" pitchFamily="2" charset="-122"/>
              </a:rPr>
              <a:t>8,000K</a:t>
            </a:r>
            <a:r>
              <a:rPr lang="zh-CN" altLang="en-US" sz="2400" b="1" dirty="0">
                <a:latin typeface="华文楷体" panose="02010600040101010101" pitchFamily="2" charset="-122"/>
                <a:ea typeface="华文楷体" panose="02010600040101010101" pitchFamily="2" charset="-122"/>
                <a:cs typeface="华文楷体" panose="02010600040101010101" pitchFamily="2" charset="-122"/>
              </a:rPr>
              <a:t>。</a:t>
            </a:r>
            <a:endParaRPr lang="zh-CN" altLang="en-US" sz="2400" b="1" dirty="0">
              <a:latin typeface="华文楷体" panose="02010600040101010101" pitchFamily="2" charset="-122"/>
              <a:ea typeface="华文楷体" panose="02010600040101010101" pitchFamily="2" charset="-122"/>
              <a:cs typeface="华文楷体" panose="02010600040101010101" pitchFamily="2" charset="-122"/>
            </a:endParaRPr>
          </a:p>
          <a:p>
            <a:pPr lvl="1" eaLnBrk="1" hangingPunct="1"/>
            <a:endParaRPr lang="en-US" altLang="zh-CN" sz="2400" b="1" dirty="0">
              <a:latin typeface="华文楷体" panose="02010600040101010101" pitchFamily="2" charset="-122"/>
              <a:ea typeface="华文楷体" panose="02010600040101010101" pitchFamily="2" charset="-122"/>
              <a:cs typeface="华文楷体" panose="02010600040101010101" pitchFamily="2" charset="-122"/>
            </a:endParaRPr>
          </a:p>
        </p:txBody>
      </p:sp>
      <p:sp>
        <p:nvSpPr>
          <p:cNvPr id="14342" name="Text Box 7"/>
          <p:cNvSpPr txBox="1"/>
          <p:nvPr/>
        </p:nvSpPr>
        <p:spPr>
          <a:xfrm>
            <a:off x="5022850" y="6236970"/>
            <a:ext cx="3657600" cy="518795"/>
          </a:xfrm>
          <a:prstGeom prst="rect">
            <a:avLst/>
          </a:prstGeom>
          <a:noFill/>
          <a:ln w="12700">
            <a:noFill/>
          </a:ln>
        </p:spPr>
        <p:txBody>
          <a:bodyPr lIns="90000" tIns="46800" rIns="90000" bIns="46800">
            <a:spAutoFit/>
          </a:bodyPr>
          <a:p>
            <a:pPr algn="just" eaLnBrk="1" hangingPunct="1">
              <a:lnSpc>
                <a:spcPct val="140000"/>
              </a:lnSpc>
              <a:spcBef>
                <a:spcPct val="20000"/>
              </a:spcBef>
              <a:buClr>
                <a:schemeClr val="tx2"/>
              </a:buClr>
              <a:buSzPct val="75000"/>
              <a:buFont typeface="Wingdings" panose="05000000000000000000" pitchFamily="2" charset="2"/>
            </a:pPr>
            <a:r>
              <a:rPr lang="en-US" altLang="zh-CN" sz="2000" b="1" dirty="0">
                <a:latin typeface="楷体_GB2312" pitchFamily="49" charset="-122"/>
                <a:ea typeface="楷体_GB2312" pitchFamily="49" charset="-122"/>
              </a:rPr>
              <a:t>       </a:t>
            </a:r>
            <a:r>
              <a:rPr lang="zh-CN" altLang="en-US" sz="2000" b="1" dirty="0">
                <a:latin typeface="楷体_GB2312" pitchFamily="49" charset="-122"/>
                <a:ea typeface="楷体_GB2312" pitchFamily="49" charset="-122"/>
              </a:rPr>
              <a:t>图</a:t>
            </a:r>
            <a:r>
              <a:rPr lang="en-US" altLang="zh-CN" sz="2000" b="1" dirty="0">
                <a:latin typeface="楷体_GB2312" pitchFamily="49" charset="-122"/>
                <a:ea typeface="楷体_GB2312" pitchFamily="49" charset="-122"/>
              </a:rPr>
              <a:t>4-1</a:t>
            </a:r>
            <a:r>
              <a:rPr lang="en-US" altLang="zh-CN" sz="2000" b="1" dirty="0">
                <a:latin typeface="Times New Roman" panose="02020603050405020304" pitchFamily="18" charset="0"/>
                <a:ea typeface="楷体_GB2312" pitchFamily="49" charset="-122"/>
              </a:rPr>
              <a:t>  </a:t>
            </a:r>
            <a:r>
              <a:rPr lang="zh-CN" altLang="en-US" sz="2000" b="1" dirty="0">
                <a:latin typeface="Times New Roman" panose="02020603050405020304" pitchFamily="18" charset="0"/>
                <a:ea typeface="楷体_GB2312" pitchFamily="49" charset="-122"/>
              </a:rPr>
              <a:t>焊接电弧</a:t>
            </a:r>
            <a:endParaRPr lang="zh-CN" altLang="en-US" sz="2000" b="1" dirty="0">
              <a:latin typeface="Times New Roman" panose="02020603050405020304" pitchFamily="18" charset="0"/>
              <a:ea typeface="楷体_GB2312" pitchFamily="49" charset="-122"/>
            </a:endParaRPr>
          </a:p>
        </p:txBody>
      </p:sp>
      <p:sp>
        <p:nvSpPr>
          <p:cNvPr id="14340" name="Rectangle 9"/>
          <p:cNvSpPr/>
          <p:nvPr/>
        </p:nvSpPr>
        <p:spPr>
          <a:xfrm>
            <a:off x="2482850" y="279400"/>
            <a:ext cx="6697663" cy="701675"/>
          </a:xfrm>
          <a:prstGeom prst="rect">
            <a:avLst/>
          </a:prstGeom>
          <a:noFill/>
          <a:ln w="9525">
            <a:noFill/>
          </a:ln>
        </p:spPr>
        <p:txBody>
          <a:bodyPr>
            <a:spAutoFit/>
          </a:bodyPr>
          <a:p>
            <a:pPr eaLnBrk="1" hangingPunct="1"/>
            <a:r>
              <a:rPr lang="zh-CN" altLang="en-US" sz="4000" b="1" dirty="0">
                <a:solidFill>
                  <a:schemeClr val="tx2"/>
                </a:solidFill>
                <a:latin typeface="Arial" panose="020B0604020202020204" pitchFamily="34" charset="0"/>
                <a:ea typeface="楷体_GB2312" pitchFamily="49" charset="-122"/>
              </a:rPr>
              <a:t>电弧焊</a:t>
            </a:r>
            <a:r>
              <a:rPr lang="en-US" altLang="zh-CN" sz="4000" b="1" dirty="0">
                <a:solidFill>
                  <a:schemeClr val="tx2"/>
                </a:solidFill>
                <a:latin typeface="Arial" panose="020B0604020202020204" pitchFamily="34" charset="0"/>
                <a:ea typeface="楷体_GB2312" pitchFamily="49" charset="-122"/>
              </a:rPr>
              <a:t>——</a:t>
            </a:r>
            <a:r>
              <a:rPr lang="zh-CN" altLang="en-US" sz="4000" b="1" dirty="0">
                <a:solidFill>
                  <a:schemeClr val="tx2"/>
                </a:solidFill>
                <a:latin typeface="Arial" panose="020B0604020202020204" pitchFamily="34" charset="0"/>
                <a:ea typeface="楷体_GB2312" pitchFamily="49" charset="-122"/>
              </a:rPr>
              <a:t>焊接的基本原理</a:t>
            </a:r>
            <a:endParaRPr lang="zh-CN" altLang="en-US" sz="4000" b="1" dirty="0">
              <a:solidFill>
                <a:schemeClr val="tx2"/>
              </a:solidFill>
              <a:latin typeface="Arial" panose="020B0604020202020204" pitchFamily="34" charset="0"/>
              <a:ea typeface="楷体_GB2312" pitchFamily="49" charset="-122"/>
            </a:endParaRPr>
          </a:p>
        </p:txBody>
      </p:sp>
      <p:graphicFrame>
        <p:nvGraphicFramePr>
          <p:cNvPr id="2" name="对象 1"/>
          <p:cNvGraphicFramePr/>
          <p:nvPr>
            <p:custDataLst>
              <p:tags r:id="rId1"/>
            </p:custDataLst>
          </p:nvPr>
        </p:nvGraphicFramePr>
        <p:xfrm>
          <a:off x="4609465" y="2271395"/>
          <a:ext cx="4434840" cy="3432810"/>
        </p:xfrm>
        <a:graphic>
          <a:graphicData uri="http://schemas.openxmlformats.org/presentationml/2006/ole">
            <mc:AlternateContent xmlns:mc="http://schemas.openxmlformats.org/markup-compatibility/2006">
              <mc:Choice xmlns:v="urn:schemas-microsoft-com:vml" Requires="v">
                <p:oleObj spid="_x0000_s3" name="" r:id="rId2" imgW="3835400" imgH="2921000" progId="Paint.Picture">
                  <p:embed/>
                </p:oleObj>
              </mc:Choice>
              <mc:Fallback>
                <p:oleObj name="" r:id="rId2" imgW="3835400" imgH="2921000" progId="Paint.Picture">
                  <p:embed/>
                  <p:pic>
                    <p:nvPicPr>
                      <p:cNvPr id="0" name="图片 2"/>
                      <p:cNvPicPr/>
                      <p:nvPr/>
                    </p:nvPicPr>
                    <p:blipFill>
                      <a:blip r:embed="rId3"/>
                      <a:stretch>
                        <a:fillRect/>
                      </a:stretch>
                    </p:blipFill>
                    <p:spPr>
                      <a:xfrm>
                        <a:off x="4609465" y="2271395"/>
                        <a:ext cx="4434840" cy="3432810"/>
                      </a:xfrm>
                      <a:prstGeom prst="rect">
                        <a:avLst/>
                      </a:prstGeom>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3"/>
          <p:cNvSpPr>
            <a:spLocks noGrp="1"/>
          </p:cNvSpPr>
          <p:nvPr>
            <p:ph type="body" sz="half" idx="1"/>
          </p:nvPr>
        </p:nvSpPr>
        <p:spPr>
          <a:xfrm>
            <a:off x="107950" y="1268413"/>
            <a:ext cx="9036050" cy="4105275"/>
          </a:xfrm>
        </p:spPr>
        <p:txBody>
          <a:bodyPr vert="horz" wrap="square" lIns="91440" tIns="45720" rIns="91440" bIns="45720" anchor="t" anchorCtr="0"/>
          <a:p>
            <a:pPr eaLnBrk="1" hangingPunct="1">
              <a:buClrTx/>
              <a:buSzTx/>
              <a:buFontTx/>
            </a:pPr>
            <a:r>
              <a:rPr lang="zh-CN" altLang="en-US" sz="2800" b="1" dirty="0">
                <a:solidFill>
                  <a:srgbClr val="CC3300"/>
                </a:solidFill>
                <a:latin typeface="华文楷体" panose="02010600040101010101" pitchFamily="2" charset="-122"/>
                <a:ea typeface="华文楷体" panose="02010600040101010101" pitchFamily="2" charset="-122"/>
              </a:rPr>
              <a:t>焊接电弧的正接法和反接法</a:t>
            </a:r>
            <a:endParaRPr lang="zh-CN" altLang="en-US" sz="2800" b="1" dirty="0">
              <a:solidFill>
                <a:srgbClr val="CC3300"/>
              </a:solidFill>
              <a:latin typeface="华文楷体" panose="02010600040101010101" pitchFamily="2" charset="-122"/>
              <a:ea typeface="华文楷体" panose="02010600040101010101" pitchFamily="2" charset="-122"/>
            </a:endParaRPr>
          </a:p>
          <a:p>
            <a:pPr lvl="1" eaLnBrk="1" hangingPunct="1"/>
            <a:r>
              <a:rPr lang="zh-CN" altLang="en-US" sz="2400" b="1" dirty="0">
                <a:latin typeface="华文楷体" panose="02010600040101010101" pitchFamily="2" charset="-122"/>
                <a:ea typeface="华文楷体" panose="02010600040101010101" pitchFamily="2" charset="-122"/>
              </a:rPr>
              <a:t>由于电弧产生的热量在阳极和阴极上有一定差异及其它一些原因，使用</a:t>
            </a:r>
            <a:r>
              <a:rPr lang="zh-CN" altLang="en-US" sz="2400" b="1" dirty="0">
                <a:solidFill>
                  <a:srgbClr val="FF0000"/>
                </a:solidFill>
                <a:latin typeface="华文楷体" panose="02010600040101010101" pitchFamily="2" charset="-122"/>
                <a:ea typeface="华文楷体" panose="02010600040101010101" pitchFamily="2" charset="-122"/>
              </a:rPr>
              <a:t>直流电源</a:t>
            </a:r>
            <a:r>
              <a:rPr lang="zh-CN" altLang="en-US" sz="2400" b="1" dirty="0">
                <a:solidFill>
                  <a:srgbClr val="000000"/>
                </a:solidFill>
                <a:latin typeface="华文楷体" panose="02010600040101010101" pitchFamily="2" charset="-122"/>
                <a:ea typeface="华文楷体" panose="02010600040101010101" pitchFamily="2" charset="-122"/>
              </a:rPr>
              <a:t>焊接时，有</a:t>
            </a:r>
            <a:r>
              <a:rPr lang="zh-CN" altLang="en-US" sz="2400" b="1" dirty="0">
                <a:solidFill>
                  <a:srgbClr val="FF0000"/>
                </a:solidFill>
                <a:latin typeface="华文楷体" panose="02010600040101010101" pitchFamily="2" charset="-122"/>
                <a:ea typeface="华文楷体" panose="02010600040101010101" pitchFamily="2" charset="-122"/>
              </a:rPr>
              <a:t>正接和反接</a:t>
            </a:r>
            <a:r>
              <a:rPr lang="zh-CN" altLang="en-US" sz="2400" b="1" dirty="0">
                <a:latin typeface="华文楷体" panose="02010600040101010101" pitchFamily="2" charset="-122"/>
                <a:ea typeface="华文楷体" panose="02010600040101010101" pitchFamily="2" charset="-122"/>
              </a:rPr>
              <a:t>两种接线方法。</a:t>
            </a:r>
            <a:endParaRPr lang="zh-CN" altLang="en-US" sz="2400" b="1" dirty="0">
              <a:latin typeface="华文楷体" panose="02010600040101010101" pitchFamily="2" charset="-122"/>
              <a:ea typeface="华文楷体" panose="02010600040101010101" pitchFamily="2" charset="-122"/>
            </a:endParaRPr>
          </a:p>
          <a:p>
            <a:pPr lvl="1" eaLnBrk="1" hangingPunct="1">
              <a:lnSpc>
                <a:spcPct val="90000"/>
              </a:lnSpc>
            </a:pPr>
            <a:r>
              <a:rPr lang="zh-CN" altLang="en-US" sz="2400" b="1" dirty="0">
                <a:solidFill>
                  <a:srgbClr val="FF0000"/>
                </a:solidFill>
                <a:latin typeface="华文楷体" panose="02010600040101010101" pitchFamily="2" charset="-122"/>
                <a:ea typeface="华文楷体" panose="02010600040101010101" pitchFamily="2" charset="-122"/>
                <a:sym typeface="+mn-ea"/>
              </a:rPr>
              <a:t>正接是将工件接到电源的正极，焊条接到负极；</a:t>
            </a:r>
            <a:endParaRPr lang="zh-CN" altLang="en-US" sz="2400" b="1" dirty="0">
              <a:solidFill>
                <a:srgbClr val="FF0000"/>
              </a:solidFill>
              <a:latin typeface="华文楷体" panose="02010600040101010101" pitchFamily="2" charset="-122"/>
              <a:ea typeface="华文楷体" panose="02010600040101010101" pitchFamily="2" charset="-122"/>
            </a:endParaRPr>
          </a:p>
          <a:p>
            <a:pPr lvl="1" eaLnBrk="1" hangingPunct="1">
              <a:lnSpc>
                <a:spcPct val="90000"/>
              </a:lnSpc>
            </a:pPr>
            <a:r>
              <a:rPr lang="zh-CN" altLang="en-US" sz="2400" b="1" dirty="0">
                <a:solidFill>
                  <a:srgbClr val="3333FF"/>
                </a:solidFill>
                <a:latin typeface="华文楷体" panose="02010600040101010101" pitchFamily="2" charset="-122"/>
                <a:ea typeface="华文楷体" panose="02010600040101010101" pitchFamily="2" charset="-122"/>
                <a:sym typeface="+mn-ea"/>
              </a:rPr>
              <a:t>反接是将工件接到电源的负极，焊条接到正极。</a:t>
            </a:r>
            <a:endParaRPr lang="zh-CN" altLang="en-US" sz="2400" b="1" dirty="0">
              <a:solidFill>
                <a:srgbClr val="3333FF"/>
              </a:solidFill>
              <a:latin typeface="华文楷体" panose="02010600040101010101" pitchFamily="2" charset="-122"/>
              <a:ea typeface="华文楷体" panose="02010600040101010101" pitchFamily="2" charset="-122"/>
            </a:endParaRPr>
          </a:p>
          <a:p>
            <a:pPr lvl="1" eaLnBrk="1" hangingPunct="1"/>
            <a:endParaRPr lang="zh-CN" altLang="en-US" sz="2400" b="1" dirty="0">
              <a:latin typeface="华文楷体" panose="02010600040101010101" pitchFamily="2" charset="-122"/>
              <a:ea typeface="华文楷体" panose="02010600040101010101" pitchFamily="2" charset="-122"/>
            </a:endParaRPr>
          </a:p>
          <a:p>
            <a:pPr lvl="1" eaLnBrk="1" hangingPunct="1"/>
            <a:endParaRPr lang="zh-CN" altLang="en-US" sz="2400" b="1" dirty="0">
              <a:latin typeface="华文楷体" panose="02010600040101010101" pitchFamily="2" charset="-122"/>
              <a:ea typeface="华文楷体" panose="02010600040101010101" pitchFamily="2" charset="-122"/>
            </a:endParaRPr>
          </a:p>
          <a:p>
            <a:pPr lvl="1" eaLnBrk="1" hangingPunct="1"/>
            <a:endParaRPr lang="zh-CN" altLang="en-US" sz="2400" dirty="0">
              <a:latin typeface="华文楷体" panose="02010600040101010101" pitchFamily="2" charset="-122"/>
              <a:ea typeface="华文楷体" panose="02010600040101010101" pitchFamily="2" charset="-122"/>
            </a:endParaRPr>
          </a:p>
          <a:p>
            <a:pPr lvl="1" eaLnBrk="1" hangingPunct="1">
              <a:buNone/>
            </a:pPr>
            <a:endParaRPr lang="zh-CN" altLang="en-US" sz="2400" dirty="0">
              <a:latin typeface="华文楷体" panose="02010600040101010101" pitchFamily="2" charset="-122"/>
              <a:ea typeface="华文楷体" panose="02010600040101010101" pitchFamily="2" charset="-122"/>
            </a:endParaRPr>
          </a:p>
          <a:p>
            <a:pPr lvl="1" eaLnBrk="1" hangingPunct="1">
              <a:buNone/>
            </a:pPr>
            <a:endParaRPr lang="zh-CN" altLang="en-US" sz="2400" dirty="0">
              <a:latin typeface="华文楷体" panose="02010600040101010101" pitchFamily="2" charset="-122"/>
              <a:ea typeface="华文楷体" panose="02010600040101010101" pitchFamily="2" charset="-122"/>
            </a:endParaRPr>
          </a:p>
          <a:p>
            <a:pPr lvl="1" eaLnBrk="1" hangingPunct="1">
              <a:buNone/>
            </a:pPr>
            <a:endParaRPr lang="zh-CN" altLang="en-US" sz="2400" dirty="0">
              <a:latin typeface="华文楷体" panose="02010600040101010101" pitchFamily="2" charset="-122"/>
              <a:ea typeface="华文楷体" panose="02010600040101010101" pitchFamily="2" charset="-122"/>
            </a:endParaRPr>
          </a:p>
        </p:txBody>
      </p:sp>
      <p:pic>
        <p:nvPicPr>
          <p:cNvPr id="15363" name="Picture 5" descr="42"/>
          <p:cNvPicPr>
            <a:picLocks noChangeAspect="1"/>
          </p:cNvPicPr>
          <p:nvPr/>
        </p:nvPicPr>
        <p:blipFill>
          <a:blip r:embed="rId1"/>
          <a:srcRect l="8881" r="7184" b="4494"/>
          <a:stretch>
            <a:fillRect/>
          </a:stretch>
        </p:blipFill>
        <p:spPr>
          <a:xfrm>
            <a:off x="430848" y="3500438"/>
            <a:ext cx="8281987" cy="3024187"/>
          </a:xfrm>
          <a:prstGeom prst="rect">
            <a:avLst/>
          </a:prstGeom>
          <a:noFill/>
          <a:ln w="9525">
            <a:noFill/>
          </a:ln>
        </p:spPr>
      </p:pic>
      <p:sp>
        <p:nvSpPr>
          <p:cNvPr id="15364" name="Rectangle 9"/>
          <p:cNvSpPr/>
          <p:nvPr/>
        </p:nvSpPr>
        <p:spPr>
          <a:xfrm>
            <a:off x="2482850" y="279400"/>
            <a:ext cx="6697663" cy="701675"/>
          </a:xfrm>
          <a:prstGeom prst="rect">
            <a:avLst/>
          </a:prstGeom>
          <a:noFill/>
          <a:ln w="9525">
            <a:noFill/>
          </a:ln>
        </p:spPr>
        <p:txBody>
          <a:bodyPr>
            <a:spAutoFit/>
          </a:bodyPr>
          <a:p>
            <a:pPr eaLnBrk="1" hangingPunct="1"/>
            <a:r>
              <a:rPr lang="zh-CN" altLang="en-US" sz="4000" b="1" dirty="0">
                <a:solidFill>
                  <a:schemeClr val="tx2"/>
                </a:solidFill>
                <a:latin typeface="Arial" panose="020B0604020202020204" pitchFamily="34" charset="0"/>
                <a:ea typeface="楷体_GB2312" pitchFamily="49" charset="-122"/>
              </a:rPr>
              <a:t>电弧焊</a:t>
            </a:r>
            <a:r>
              <a:rPr lang="en-US" altLang="zh-CN" sz="4000" b="1" dirty="0">
                <a:solidFill>
                  <a:schemeClr val="tx2"/>
                </a:solidFill>
                <a:latin typeface="Arial" panose="020B0604020202020204" pitchFamily="34" charset="0"/>
                <a:ea typeface="楷体_GB2312" pitchFamily="49" charset="-122"/>
              </a:rPr>
              <a:t>——</a:t>
            </a:r>
            <a:r>
              <a:rPr lang="zh-CN" altLang="en-US" sz="4000" b="1" dirty="0">
                <a:solidFill>
                  <a:schemeClr val="tx2"/>
                </a:solidFill>
                <a:latin typeface="Arial" panose="020B0604020202020204" pitchFamily="34" charset="0"/>
                <a:ea typeface="楷体_GB2312" pitchFamily="49" charset="-122"/>
              </a:rPr>
              <a:t>焊接的基本原理</a:t>
            </a:r>
            <a:endParaRPr lang="zh-CN" altLang="en-US" sz="4000" b="1" dirty="0">
              <a:solidFill>
                <a:schemeClr val="tx2"/>
              </a:solidFill>
              <a:latin typeface="Arial" panose="020B0604020202020204" pitchFamily="34" charset="0"/>
              <a:ea typeface="楷体_GB2312" pitchFamily="49"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Rectangle 3"/>
          <p:cNvSpPr>
            <a:spLocks noGrp="1"/>
          </p:cNvSpPr>
          <p:nvPr>
            <p:ph type="body" sz="half" idx="1"/>
          </p:nvPr>
        </p:nvSpPr>
        <p:spPr>
          <a:xfrm>
            <a:off x="107950" y="1268413"/>
            <a:ext cx="9036050" cy="5256212"/>
          </a:xfrm>
        </p:spPr>
        <p:txBody>
          <a:bodyPr vert="horz" wrap="square" lIns="91440" tIns="45720" rIns="91440" bIns="45720" anchor="t" anchorCtr="0"/>
          <a:p>
            <a:pPr eaLnBrk="1" hangingPunct="1">
              <a:lnSpc>
                <a:spcPct val="90000"/>
              </a:lnSpc>
              <a:buClrTx/>
              <a:buSzTx/>
              <a:buFontTx/>
            </a:pPr>
            <a:r>
              <a:rPr lang="zh-CN" altLang="en-US" b="1" dirty="0">
                <a:solidFill>
                  <a:srgbClr val="CC3300"/>
                </a:solidFill>
                <a:ea typeface="楷体_GB2312" pitchFamily="49" charset="-122"/>
              </a:rPr>
              <a:t>焊接电弧的正接法和反接法</a:t>
            </a:r>
            <a:endParaRPr lang="zh-CN" altLang="en-US" b="1" dirty="0">
              <a:solidFill>
                <a:srgbClr val="CC3300"/>
              </a:solidFill>
              <a:ea typeface="楷体_GB2312" pitchFamily="49" charset="-122"/>
            </a:endParaRPr>
          </a:p>
          <a:p>
            <a:pPr lvl="1" eaLnBrk="1" hangingPunct="1">
              <a:lnSpc>
                <a:spcPct val="90000"/>
              </a:lnSpc>
              <a:buNone/>
            </a:pPr>
            <a:endParaRPr lang="zh-CN" altLang="en-US" b="1" dirty="0">
              <a:solidFill>
                <a:srgbClr val="FF9966"/>
              </a:solidFill>
              <a:ea typeface="楷体_GB2312" pitchFamily="49" charset="-122"/>
            </a:endParaRPr>
          </a:p>
          <a:p>
            <a:pPr lvl="1" eaLnBrk="1" hangingPunct="1">
              <a:lnSpc>
                <a:spcPct val="90000"/>
              </a:lnSpc>
            </a:pPr>
            <a:endParaRPr lang="zh-CN" altLang="en-US" b="1" dirty="0">
              <a:ea typeface="楷体_GB2312" pitchFamily="49" charset="-122"/>
            </a:endParaRPr>
          </a:p>
          <a:p>
            <a:pPr lvl="1" eaLnBrk="1" hangingPunct="1">
              <a:lnSpc>
                <a:spcPct val="90000"/>
              </a:lnSpc>
            </a:pPr>
            <a:endParaRPr lang="zh-CN" altLang="en-US" dirty="0"/>
          </a:p>
          <a:p>
            <a:pPr lvl="1" eaLnBrk="1" hangingPunct="1">
              <a:lnSpc>
                <a:spcPct val="90000"/>
              </a:lnSpc>
              <a:buNone/>
            </a:pPr>
            <a:endParaRPr lang="zh-CN" altLang="en-US" dirty="0"/>
          </a:p>
          <a:p>
            <a:pPr lvl="1" eaLnBrk="1" hangingPunct="1">
              <a:lnSpc>
                <a:spcPct val="90000"/>
              </a:lnSpc>
              <a:buNone/>
            </a:pPr>
            <a:endParaRPr lang="zh-CN" altLang="en-US" dirty="0"/>
          </a:p>
          <a:p>
            <a:pPr lvl="1" eaLnBrk="1" hangingPunct="1">
              <a:lnSpc>
                <a:spcPct val="90000"/>
              </a:lnSpc>
              <a:buNone/>
            </a:pPr>
            <a:endParaRPr lang="zh-CN" altLang="en-US" dirty="0"/>
          </a:p>
          <a:p>
            <a:pPr lvl="1" eaLnBrk="1" hangingPunct="1">
              <a:lnSpc>
                <a:spcPct val="90000"/>
              </a:lnSpc>
              <a:buNone/>
            </a:pPr>
            <a:endParaRPr lang="zh-CN" altLang="en-US" dirty="0"/>
          </a:p>
          <a:p>
            <a:pPr lvl="1" eaLnBrk="1" hangingPunct="1">
              <a:lnSpc>
                <a:spcPct val="90000"/>
              </a:lnSpc>
            </a:pPr>
            <a:r>
              <a:rPr lang="zh-CN" altLang="en-US" sz="2400" b="1" dirty="0">
                <a:solidFill>
                  <a:srgbClr val="008000"/>
                </a:solidFill>
                <a:latin typeface="楷体_GB2312" pitchFamily="49" charset="-122"/>
                <a:ea typeface="楷体_GB2312" pitchFamily="49" charset="-122"/>
              </a:rPr>
              <a:t>特性：</a:t>
            </a:r>
            <a:r>
              <a:rPr lang="zh-CN" altLang="en-US" sz="2400" b="1" dirty="0">
                <a:latin typeface="楷体_GB2312" pitchFamily="49" charset="-122"/>
                <a:ea typeface="楷体_GB2312" pitchFamily="49" charset="-122"/>
              </a:rPr>
              <a:t>正接时工件的温度相对高一些。</a:t>
            </a:r>
            <a:endParaRPr lang="zh-CN" altLang="en-US" sz="2400" b="1" dirty="0">
              <a:latin typeface="楷体_GB2312" pitchFamily="49" charset="-122"/>
              <a:ea typeface="楷体_GB2312" pitchFamily="49" charset="-122"/>
            </a:endParaRPr>
          </a:p>
          <a:p>
            <a:pPr lvl="1" eaLnBrk="1" hangingPunct="1">
              <a:lnSpc>
                <a:spcPct val="90000"/>
              </a:lnSpc>
            </a:pPr>
            <a:r>
              <a:rPr lang="zh-CN" altLang="en-US" sz="2400" b="1" dirty="0">
                <a:latin typeface="楷体_GB2312" pitchFamily="49" charset="-122"/>
                <a:ea typeface="楷体_GB2312" pitchFamily="49" charset="-122"/>
              </a:rPr>
              <a:t>如果焊接时使用的是交流弧焊机，因为电极每秒钟正负变化达一百次之多，所以两极加热温度一样，都在</a:t>
            </a:r>
            <a:r>
              <a:rPr lang="en-US" altLang="zh-CN" sz="2400" b="1" dirty="0">
                <a:latin typeface="楷体_GB2312" pitchFamily="49" charset="-122"/>
                <a:ea typeface="楷体_GB2312" pitchFamily="49" charset="-122"/>
              </a:rPr>
              <a:t>2,500K</a:t>
            </a:r>
            <a:r>
              <a:rPr lang="zh-CN" altLang="en-US" sz="2400" b="1" dirty="0">
                <a:latin typeface="楷体_GB2312" pitchFamily="49" charset="-122"/>
                <a:ea typeface="楷体_GB2312" pitchFamily="49" charset="-122"/>
              </a:rPr>
              <a:t>左右，因而不存在正接和反接问题。</a:t>
            </a:r>
            <a:endParaRPr lang="zh-CN" altLang="en-US" sz="2400" b="1" dirty="0">
              <a:latin typeface="楷体_GB2312" pitchFamily="49" charset="-122"/>
              <a:ea typeface="楷体_GB2312" pitchFamily="49" charset="-122"/>
            </a:endParaRPr>
          </a:p>
        </p:txBody>
      </p:sp>
      <p:sp>
        <p:nvSpPr>
          <p:cNvPr id="16388" name="Rectangle 9"/>
          <p:cNvSpPr/>
          <p:nvPr/>
        </p:nvSpPr>
        <p:spPr>
          <a:xfrm>
            <a:off x="2482850" y="279400"/>
            <a:ext cx="6697663" cy="701675"/>
          </a:xfrm>
          <a:prstGeom prst="rect">
            <a:avLst/>
          </a:prstGeom>
          <a:noFill/>
          <a:ln w="9525">
            <a:noFill/>
          </a:ln>
        </p:spPr>
        <p:txBody>
          <a:bodyPr>
            <a:spAutoFit/>
          </a:bodyPr>
          <a:p>
            <a:pPr eaLnBrk="1" hangingPunct="1"/>
            <a:r>
              <a:rPr lang="zh-CN" altLang="en-US" sz="4000" b="1" dirty="0">
                <a:solidFill>
                  <a:schemeClr val="tx2"/>
                </a:solidFill>
                <a:latin typeface="Arial" panose="020B0604020202020204" pitchFamily="34" charset="0"/>
                <a:ea typeface="楷体_GB2312" pitchFamily="49" charset="-122"/>
              </a:rPr>
              <a:t>电弧焊</a:t>
            </a:r>
            <a:r>
              <a:rPr lang="en-US" altLang="zh-CN" sz="4000" b="1" dirty="0">
                <a:solidFill>
                  <a:schemeClr val="tx2"/>
                </a:solidFill>
                <a:latin typeface="Arial" panose="020B0604020202020204" pitchFamily="34" charset="0"/>
                <a:ea typeface="楷体_GB2312" pitchFamily="49" charset="-122"/>
              </a:rPr>
              <a:t>——</a:t>
            </a:r>
            <a:r>
              <a:rPr lang="zh-CN" altLang="en-US" sz="4000" b="1" dirty="0">
                <a:solidFill>
                  <a:schemeClr val="tx2"/>
                </a:solidFill>
                <a:latin typeface="Arial" panose="020B0604020202020204" pitchFamily="34" charset="0"/>
                <a:ea typeface="楷体_GB2312" pitchFamily="49" charset="-122"/>
              </a:rPr>
              <a:t>焊接的基本原理</a:t>
            </a:r>
            <a:endParaRPr lang="zh-CN" altLang="en-US" sz="4000" b="1" dirty="0">
              <a:solidFill>
                <a:schemeClr val="tx2"/>
              </a:solidFill>
              <a:latin typeface="Arial" panose="020B0604020202020204" pitchFamily="34" charset="0"/>
              <a:ea typeface="楷体_GB2312" pitchFamily="49" charset="-122"/>
            </a:endParaRPr>
          </a:p>
        </p:txBody>
      </p:sp>
      <p:pic>
        <p:nvPicPr>
          <p:cNvPr id="2" name="Picture 5" descr="42"/>
          <p:cNvPicPr>
            <a:picLocks noChangeAspect="1"/>
          </p:cNvPicPr>
          <p:nvPr/>
        </p:nvPicPr>
        <p:blipFill>
          <a:blip r:embed="rId1"/>
          <a:srcRect l="8881" r="7184" b="4494"/>
          <a:stretch>
            <a:fillRect/>
          </a:stretch>
        </p:blipFill>
        <p:spPr>
          <a:xfrm>
            <a:off x="828675" y="1844675"/>
            <a:ext cx="7486650" cy="2941320"/>
          </a:xfrm>
          <a:prstGeom prst="rect">
            <a:avLst/>
          </a:prstGeom>
          <a:noFill/>
          <a:ln w="9525">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6355" name="Rectangle 3"/>
          <p:cNvSpPr>
            <a:spLocks noGrp="1"/>
          </p:cNvSpPr>
          <p:nvPr>
            <p:ph idx="1"/>
          </p:nvPr>
        </p:nvSpPr>
        <p:spPr/>
        <p:txBody>
          <a:bodyPr vert="horz" wrap="square" lIns="91440" tIns="45720" rIns="91440" bIns="45720" anchor="t" anchorCtr="0"/>
          <a:p>
            <a:pPr eaLnBrk="1" hangingPunct="1">
              <a:buClr>
                <a:srgbClr val="008000"/>
              </a:buClr>
              <a:buFont typeface="Wingdings" panose="05000000000000000000" pitchFamily="2" charset="2"/>
              <a:buChar char="p"/>
            </a:pPr>
            <a:r>
              <a:rPr lang="zh-CN" altLang="en-US" sz="2800" b="1" dirty="0">
                <a:solidFill>
                  <a:srgbClr val="CC3300"/>
                </a:solidFill>
                <a:ea typeface="楷体_GB2312" pitchFamily="49" charset="-122"/>
              </a:rPr>
              <a:t>过程</a:t>
            </a:r>
            <a:r>
              <a:rPr lang="zh-CN" altLang="en-US" sz="2400" b="1" dirty="0">
                <a:ea typeface="楷体_GB2312" pitchFamily="49" charset="-122"/>
              </a:rPr>
              <a:t>：加热</a:t>
            </a:r>
            <a:r>
              <a:rPr lang="en-US" altLang="zh-CN" sz="2400" b="1" dirty="0">
                <a:ea typeface="楷体_GB2312" pitchFamily="49" charset="-122"/>
              </a:rPr>
              <a:t>——</a:t>
            </a:r>
            <a:r>
              <a:rPr lang="zh-CN" altLang="en-US" sz="2400" b="1" dirty="0">
                <a:ea typeface="楷体_GB2312" pitchFamily="49" charset="-122"/>
              </a:rPr>
              <a:t>熔化</a:t>
            </a:r>
            <a:r>
              <a:rPr lang="en-US" altLang="zh-CN" sz="2400" b="1" dirty="0">
                <a:ea typeface="楷体_GB2312" pitchFamily="49" charset="-122"/>
              </a:rPr>
              <a:t>——</a:t>
            </a:r>
            <a:r>
              <a:rPr lang="zh-CN" altLang="en-US" sz="2400" b="1" dirty="0">
                <a:ea typeface="楷体_GB2312" pitchFamily="49" charset="-122"/>
              </a:rPr>
              <a:t>冶金反应</a:t>
            </a:r>
            <a:r>
              <a:rPr lang="en-US" altLang="zh-CN" sz="2400" b="1" dirty="0">
                <a:ea typeface="楷体_GB2312" pitchFamily="49" charset="-122"/>
              </a:rPr>
              <a:t>——</a:t>
            </a:r>
            <a:r>
              <a:rPr lang="zh-CN" altLang="en-US" sz="2400" b="1" dirty="0">
                <a:ea typeface="楷体_GB2312" pitchFamily="49" charset="-122"/>
              </a:rPr>
              <a:t>结晶（凝固＋重结晶）</a:t>
            </a:r>
            <a:r>
              <a:rPr lang="en-US" altLang="zh-CN" sz="2400" b="1" dirty="0">
                <a:ea typeface="楷体_GB2312" pitchFamily="49" charset="-122"/>
              </a:rPr>
              <a:t>——</a:t>
            </a:r>
            <a:r>
              <a:rPr lang="zh-CN" altLang="en-US" sz="2400" b="1" dirty="0">
                <a:ea typeface="楷体_GB2312" pitchFamily="49" charset="-122"/>
              </a:rPr>
              <a:t>固态相变</a:t>
            </a:r>
            <a:r>
              <a:rPr lang="en-US" altLang="zh-CN" sz="2400" b="1" dirty="0">
                <a:ea typeface="楷体_GB2312" pitchFamily="49" charset="-122"/>
              </a:rPr>
              <a:t>——</a:t>
            </a:r>
            <a:r>
              <a:rPr lang="zh-CN" altLang="en-US" sz="2400" b="1" dirty="0">
                <a:ea typeface="楷体_GB2312" pitchFamily="49" charset="-122"/>
              </a:rPr>
              <a:t>形成接头。</a:t>
            </a:r>
            <a:endParaRPr lang="zh-CN" altLang="en-US" sz="2400" b="1" dirty="0">
              <a:ea typeface="楷体_GB2312" pitchFamily="49" charset="-122"/>
            </a:endParaRPr>
          </a:p>
          <a:p>
            <a:pPr eaLnBrk="1" hangingPunct="1">
              <a:buClr>
                <a:srgbClr val="008000"/>
              </a:buClr>
              <a:buFont typeface="Wingdings" panose="05000000000000000000" pitchFamily="2" charset="2"/>
              <a:buChar char="p"/>
            </a:pPr>
            <a:r>
              <a:rPr lang="zh-CN" altLang="en-US" sz="2800" b="1" dirty="0">
                <a:solidFill>
                  <a:srgbClr val="CC3300"/>
                </a:solidFill>
                <a:ea typeface="楷体_GB2312" pitchFamily="49" charset="-122"/>
              </a:rPr>
              <a:t>实质</a:t>
            </a:r>
            <a:r>
              <a:rPr lang="zh-CN" altLang="en-US" sz="2400" b="1" dirty="0">
                <a:ea typeface="楷体_GB2312" pitchFamily="49" charset="-122"/>
              </a:rPr>
              <a:t>：金属在焊接条件下的再熔炼过程，包括化学变化和物质在作用相之间的迁移和分布过程。</a:t>
            </a:r>
            <a:endParaRPr lang="zh-CN" altLang="en-US" sz="2400" b="1" dirty="0">
              <a:ea typeface="楷体_GB2312" pitchFamily="49" charset="-122"/>
            </a:endParaRPr>
          </a:p>
          <a:p>
            <a:pPr eaLnBrk="1" hangingPunct="1">
              <a:buClr>
                <a:srgbClr val="008000"/>
              </a:buClr>
              <a:buFont typeface="Wingdings" panose="05000000000000000000" pitchFamily="2" charset="2"/>
              <a:buChar char="p"/>
            </a:pPr>
            <a:r>
              <a:rPr lang="zh-CN" altLang="en-US" sz="2800" b="1" dirty="0">
                <a:solidFill>
                  <a:srgbClr val="CC3300"/>
                </a:solidFill>
                <a:ea typeface="楷体_GB2312" pitchFamily="49" charset="-122"/>
              </a:rPr>
              <a:t>特点</a:t>
            </a:r>
            <a:r>
              <a:rPr lang="zh-CN" altLang="en-US" sz="2400" b="1" dirty="0">
                <a:ea typeface="楷体_GB2312" pitchFamily="49" charset="-122"/>
              </a:rPr>
              <a:t>：</a:t>
            </a:r>
            <a:endParaRPr lang="zh-CN" altLang="en-US" sz="2400" b="1" dirty="0">
              <a:ea typeface="楷体_GB2312" pitchFamily="49" charset="-122"/>
            </a:endParaRPr>
          </a:p>
          <a:p>
            <a:pPr lvl="1" eaLnBrk="1" hangingPunct="1">
              <a:buClr>
                <a:srgbClr val="008000"/>
              </a:buClr>
              <a:buFont typeface="Wingdings" panose="05000000000000000000" pitchFamily="2" charset="2"/>
              <a:buChar char="p"/>
            </a:pPr>
            <a:r>
              <a:rPr lang="zh-CN" altLang="en-US" sz="2000" b="1" dirty="0">
                <a:latin typeface="宋体" panose="02010600030101010101" pitchFamily="2" charset="-122"/>
                <a:ea typeface="楷体_GB2312" pitchFamily="49" charset="-122"/>
              </a:rPr>
              <a:t>电弧反应区温度高，液体金属蒸发，气体分解，金属凝固产生气孔。</a:t>
            </a:r>
            <a:endParaRPr lang="zh-CN" altLang="en-US" sz="2000" b="1" dirty="0">
              <a:latin typeface="宋体" panose="02010600030101010101" pitchFamily="2" charset="-122"/>
              <a:ea typeface="楷体_GB2312" pitchFamily="49" charset="-122"/>
            </a:endParaRPr>
          </a:p>
          <a:p>
            <a:pPr lvl="1" eaLnBrk="1" hangingPunct="1">
              <a:buClr>
                <a:srgbClr val="008000"/>
              </a:buClr>
              <a:buFont typeface="Wingdings" panose="05000000000000000000" pitchFamily="2" charset="2"/>
              <a:buChar char="p"/>
            </a:pPr>
            <a:r>
              <a:rPr lang="zh-CN" altLang="en-US" sz="2000" b="1" dirty="0">
                <a:latin typeface="宋体" panose="02010600030101010101" pitchFamily="2" charset="-122"/>
                <a:ea typeface="楷体_GB2312" pitchFamily="49" charset="-122"/>
              </a:rPr>
              <a:t>熔池与母材温差大，生成柱状晶（</a:t>
            </a:r>
            <a:r>
              <a:rPr lang="zh-CN" altLang="en-US" sz="2000" b="1" dirty="0">
                <a:solidFill>
                  <a:srgbClr val="FF0000"/>
                </a:solidFill>
                <a:latin typeface="宋体" panose="02010600030101010101" pitchFamily="2" charset="-122"/>
                <a:ea typeface="楷体_GB2312" pitchFamily="49" charset="-122"/>
              </a:rPr>
              <a:t>铸态组织</a:t>
            </a:r>
            <a:r>
              <a:rPr lang="zh-CN" altLang="en-US" sz="2000" b="1" dirty="0">
                <a:latin typeface="宋体" panose="02010600030101010101" pitchFamily="2" charset="-122"/>
                <a:ea typeface="楷体_GB2312" pitchFamily="49" charset="-122"/>
              </a:rPr>
              <a:t>），接头产生内应力和变形。</a:t>
            </a:r>
            <a:endParaRPr lang="zh-CN" altLang="en-US" sz="2000" b="1" dirty="0">
              <a:latin typeface="宋体" panose="02010600030101010101" pitchFamily="2" charset="-122"/>
              <a:ea typeface="楷体_GB2312" pitchFamily="49" charset="-122"/>
            </a:endParaRPr>
          </a:p>
          <a:p>
            <a:pPr lvl="1" eaLnBrk="1" hangingPunct="1">
              <a:buClr>
                <a:srgbClr val="008000"/>
              </a:buClr>
              <a:buFont typeface="Wingdings" panose="05000000000000000000" pitchFamily="2" charset="2"/>
              <a:buChar char="p"/>
            </a:pPr>
            <a:r>
              <a:rPr lang="zh-CN" altLang="en-US" sz="2000" b="1" dirty="0">
                <a:latin typeface="宋体" panose="02010600030101010101" pitchFamily="2" charset="-122"/>
                <a:ea typeface="楷体_GB2312" pitchFamily="49" charset="-122"/>
              </a:rPr>
              <a:t>冷却速度快，冶金反应不平衡、不充分，焊缝金属成分不均匀，偏析现象严重，液态中气体来不及溢出，残留焊缝中。</a:t>
            </a:r>
            <a:endParaRPr lang="zh-CN" altLang="en-US" sz="2000" b="1" dirty="0">
              <a:latin typeface="宋体" panose="02010600030101010101" pitchFamily="2" charset="-122"/>
              <a:ea typeface="楷体_GB2312" pitchFamily="49" charset="-122"/>
            </a:endParaRPr>
          </a:p>
        </p:txBody>
      </p:sp>
      <p:sp>
        <p:nvSpPr>
          <p:cNvPr id="17411" name="Rectangle 6"/>
          <p:cNvSpPr/>
          <p:nvPr/>
        </p:nvSpPr>
        <p:spPr>
          <a:xfrm>
            <a:off x="2482850" y="279400"/>
            <a:ext cx="6697663" cy="701675"/>
          </a:xfrm>
          <a:prstGeom prst="rect">
            <a:avLst/>
          </a:prstGeom>
          <a:noFill/>
          <a:ln w="9525">
            <a:noFill/>
          </a:ln>
        </p:spPr>
        <p:txBody>
          <a:bodyPr>
            <a:spAutoFit/>
          </a:bodyPr>
          <a:p>
            <a:pPr eaLnBrk="1" hangingPunct="1"/>
            <a:r>
              <a:rPr lang="zh-CN" altLang="en-US" sz="4000" b="1" dirty="0">
                <a:solidFill>
                  <a:schemeClr val="tx2"/>
                </a:solidFill>
                <a:latin typeface="Arial" panose="020B0604020202020204" pitchFamily="34" charset="0"/>
                <a:ea typeface="楷体_GB2312" pitchFamily="49" charset="-122"/>
              </a:rPr>
              <a:t>电弧焊</a:t>
            </a:r>
            <a:r>
              <a:rPr lang="en-US" altLang="zh-CN" sz="4000" b="1" dirty="0">
                <a:solidFill>
                  <a:schemeClr val="tx2"/>
                </a:solidFill>
                <a:latin typeface="Arial" panose="020B0604020202020204" pitchFamily="34" charset="0"/>
                <a:ea typeface="楷体_GB2312" pitchFamily="49" charset="-122"/>
              </a:rPr>
              <a:t>——</a:t>
            </a:r>
            <a:r>
              <a:rPr lang="zh-CN" altLang="en-US" sz="4000" b="1" dirty="0">
                <a:solidFill>
                  <a:schemeClr val="tx2"/>
                </a:solidFill>
                <a:latin typeface="Arial" panose="020B0604020202020204" pitchFamily="34" charset="0"/>
                <a:ea typeface="楷体_GB2312" pitchFamily="49" charset="-122"/>
              </a:rPr>
              <a:t>焊接的基本原理</a:t>
            </a:r>
            <a:endParaRPr lang="zh-CN" altLang="en-US" sz="4000" b="1" dirty="0">
              <a:solidFill>
                <a:schemeClr val="tx2"/>
              </a:solidFill>
              <a:latin typeface="Arial" panose="020B0604020202020204" pitchFamily="34" charset="0"/>
              <a:ea typeface="楷体_GB2312" pitchFamily="49" charset="-122"/>
            </a:endParaRPr>
          </a:p>
        </p:txBody>
      </p:sp>
      <p:sp>
        <p:nvSpPr>
          <p:cNvPr id="17412" name="矩形 3"/>
          <p:cNvSpPr/>
          <p:nvPr/>
        </p:nvSpPr>
        <p:spPr>
          <a:xfrm>
            <a:off x="1424305" y="5949315"/>
            <a:ext cx="6219825" cy="706755"/>
          </a:xfrm>
          <a:prstGeom prst="rect">
            <a:avLst/>
          </a:prstGeom>
          <a:noFill/>
          <a:ln w="9525">
            <a:noFill/>
          </a:ln>
        </p:spPr>
        <p:txBody>
          <a:bodyPr wrap="square">
            <a:spAutoFit/>
          </a:bodyPr>
          <a:p>
            <a:r>
              <a:rPr lang="en-US" altLang="zh-CN" sz="2000" b="1" dirty="0">
                <a:solidFill>
                  <a:srgbClr val="FF0000"/>
                </a:solidFill>
                <a:latin typeface="Arial" panose="020B0604020202020204" pitchFamily="34" charset="0"/>
                <a:hlinkClick r:id="rId1"/>
              </a:rPr>
              <a:t>http://v.qq.com/iframe/player.html?vid=u0160xr47hl&amp;500&amp;375&amp;auto=0</a:t>
            </a:r>
            <a:r>
              <a:rPr lang="en-US" altLang="zh-CN" sz="2000" b="1" dirty="0">
                <a:solidFill>
                  <a:srgbClr val="FF0000"/>
                </a:solidFill>
                <a:latin typeface="Arial" panose="020B0604020202020204" pitchFamily="34" charset="0"/>
              </a:rPr>
              <a:t> </a:t>
            </a:r>
            <a:r>
              <a:rPr lang="zh-CN" altLang="en-US" sz="2000" dirty="0">
                <a:latin typeface="Arial" panose="020B0604020202020204" pitchFamily="34" charset="0"/>
              </a:rPr>
              <a:t>焊接过程</a:t>
            </a:r>
            <a:endParaRPr lang="zh-CN" altLang="en-US" sz="2000"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96355">
                                            <p:txEl>
                                              <p:charRg st="0" end="4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96355">
                                            <p:txEl>
                                              <p:charRg st="41" end="8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96355">
                                            <p:txEl>
                                              <p:charRg st="84" end="88"/>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96355">
                                            <p:txEl>
                                              <p:charRg st="88" end="119"/>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96355">
                                            <p:txEl>
                                              <p:charRg st="119" end="15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96355">
                                            <p:txEl>
                                              <p:charRg st="152" end="20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6355"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3"/>
          <p:cNvSpPr>
            <a:spLocks noGrp="1"/>
          </p:cNvSpPr>
          <p:nvPr>
            <p:ph type="body" sz="half" idx="1"/>
          </p:nvPr>
        </p:nvSpPr>
        <p:spPr>
          <a:xfrm>
            <a:off x="457200" y="1340803"/>
            <a:ext cx="4835525" cy="5005387"/>
          </a:xfrm>
        </p:spPr>
        <p:txBody>
          <a:bodyPr vert="horz" wrap="square" lIns="91440" tIns="45720" rIns="91440" bIns="45720" anchor="t" anchorCtr="0"/>
          <a:p>
            <a:pPr eaLnBrk="1" hangingPunct="1">
              <a:buClr>
                <a:srgbClr val="008000"/>
              </a:buClr>
              <a:buSzTx/>
              <a:buFont typeface="Wingdings" panose="05000000000000000000" pitchFamily="2" charset="2"/>
              <a:buChar char="p"/>
            </a:pPr>
            <a:r>
              <a:rPr lang="zh-CN" altLang="en-US" sz="2800" b="1" dirty="0">
                <a:solidFill>
                  <a:srgbClr val="FF0000"/>
                </a:solidFill>
                <a:latin typeface="华文楷体" panose="02010600040101010101" pitchFamily="2" charset="-122"/>
                <a:ea typeface="华文楷体" panose="02010600040101010101" pitchFamily="2" charset="-122"/>
                <a:cs typeface="华文楷体" panose="02010600040101010101" pitchFamily="2" charset="-122"/>
              </a:rPr>
              <a:t>焊接接头的组织和性能</a:t>
            </a:r>
            <a:endParaRPr lang="zh-CN" altLang="en-US" sz="2800" b="1" dirty="0">
              <a:solidFill>
                <a:srgbClr val="FF0000"/>
              </a:solidFill>
              <a:latin typeface="华文楷体" panose="02010600040101010101" pitchFamily="2" charset="-122"/>
              <a:ea typeface="华文楷体" panose="02010600040101010101" pitchFamily="2" charset="-122"/>
              <a:cs typeface="华文楷体" panose="02010600040101010101" pitchFamily="2" charset="-122"/>
            </a:endParaRPr>
          </a:p>
          <a:p>
            <a:pPr lvl="1" eaLnBrk="1" hangingPunct="1">
              <a:buFont typeface="Wingdings" panose="05000000000000000000" pitchFamily="2" charset="2"/>
              <a:buChar char="Ø"/>
            </a:pPr>
            <a:r>
              <a:rPr lang="zh-CN" altLang="en-US" sz="2400" b="1" dirty="0">
                <a:solidFill>
                  <a:srgbClr val="CC3300"/>
                </a:solidFill>
                <a:latin typeface="华文楷体" panose="02010600040101010101" pitchFamily="2" charset="-122"/>
                <a:ea typeface="华文楷体" panose="02010600040101010101" pitchFamily="2" charset="-122"/>
                <a:cs typeface="华文楷体" panose="02010600040101010101" pitchFamily="2" charset="-122"/>
              </a:rPr>
              <a:t>焊接工件上的温度变化与分布 </a:t>
            </a:r>
            <a:r>
              <a:rPr lang="zh-CN" altLang="en-US" sz="2400" b="1" dirty="0">
                <a:latin typeface="华文楷体" panose="02010600040101010101" pitchFamily="2" charset="-122"/>
                <a:ea typeface="华文楷体" panose="02010600040101010101" pitchFamily="2" charset="-122"/>
                <a:cs typeface="华文楷体" panose="02010600040101010101" pitchFamily="2" charset="-122"/>
              </a:rPr>
              <a:t>离焊缝越近的点，被加热的温度越高；越远的点，被加热的温度越低；各点达到最高温度的时间不同。加热速度和冷却速度快，易产生焊接裂纹。</a:t>
            </a:r>
            <a:endParaRPr lang="zh-CN" altLang="en-US" sz="2400" b="1" dirty="0">
              <a:latin typeface="华文楷体" panose="02010600040101010101" pitchFamily="2" charset="-122"/>
              <a:ea typeface="华文楷体" panose="02010600040101010101" pitchFamily="2" charset="-122"/>
              <a:cs typeface="华文楷体" panose="02010600040101010101" pitchFamily="2" charset="-122"/>
            </a:endParaRPr>
          </a:p>
          <a:p>
            <a:pPr lvl="2" eaLnBrk="1" hangingPunct="1">
              <a:buChar char="•"/>
            </a:pPr>
            <a:endParaRPr lang="zh-CN" altLang="en-US" b="1" dirty="0">
              <a:latin typeface="华文楷体" panose="02010600040101010101" pitchFamily="2" charset="-122"/>
              <a:ea typeface="华文楷体" panose="02010600040101010101" pitchFamily="2" charset="-122"/>
              <a:cs typeface="华文楷体" panose="02010600040101010101" pitchFamily="2" charset="-122"/>
            </a:endParaRPr>
          </a:p>
          <a:p>
            <a:pPr lvl="1" eaLnBrk="1" hangingPunct="1">
              <a:buChar char="–"/>
            </a:pPr>
            <a:endParaRPr lang="en-US" altLang="zh-CN" sz="2400" dirty="0">
              <a:latin typeface="华文楷体" panose="02010600040101010101" pitchFamily="2" charset="-122"/>
              <a:ea typeface="华文楷体" panose="02010600040101010101" pitchFamily="2" charset="-122"/>
              <a:cs typeface="华文楷体" panose="02010600040101010101" pitchFamily="2" charset="-122"/>
            </a:endParaRPr>
          </a:p>
        </p:txBody>
      </p:sp>
      <p:grpSp>
        <p:nvGrpSpPr>
          <p:cNvPr id="18435" name="Group 8"/>
          <p:cNvGrpSpPr/>
          <p:nvPr/>
        </p:nvGrpSpPr>
        <p:grpSpPr>
          <a:xfrm>
            <a:off x="5290185" y="1916430"/>
            <a:ext cx="3592195" cy="3799840"/>
            <a:chOff x="3422" y="1706"/>
            <a:chExt cx="2171" cy="2298"/>
          </a:xfrm>
        </p:grpSpPr>
        <p:pic>
          <p:nvPicPr>
            <p:cNvPr id="18438" name="Picture 9"/>
            <p:cNvPicPr>
              <a:picLocks noChangeAspect="1"/>
            </p:cNvPicPr>
            <p:nvPr/>
          </p:nvPicPr>
          <p:blipFill>
            <a:blip r:embed="rId1"/>
            <a:stretch>
              <a:fillRect/>
            </a:stretch>
          </p:blipFill>
          <p:spPr>
            <a:xfrm>
              <a:off x="3422" y="1706"/>
              <a:ext cx="2171" cy="2298"/>
            </a:xfrm>
            <a:prstGeom prst="rect">
              <a:avLst/>
            </a:prstGeom>
            <a:noFill/>
            <a:ln w="9525">
              <a:noFill/>
            </a:ln>
          </p:spPr>
        </p:pic>
        <p:sp>
          <p:nvSpPr>
            <p:cNvPr id="18439" name="Rectangle 10"/>
            <p:cNvSpPr/>
            <p:nvPr/>
          </p:nvSpPr>
          <p:spPr>
            <a:xfrm>
              <a:off x="3424" y="3764"/>
              <a:ext cx="2148" cy="223"/>
            </a:xfrm>
            <a:prstGeom prst="rect">
              <a:avLst/>
            </a:prstGeom>
            <a:solidFill>
              <a:srgbClr val="FFFFFF"/>
            </a:solidFill>
            <a:ln w="9525">
              <a:noFill/>
            </a:ln>
          </p:spPr>
          <p:txBody>
            <a:bodyPr wrap="square">
              <a:spAutoFit/>
            </a:bodyPr>
            <a:p>
              <a:pPr eaLnBrk="1" hangingPunct="1"/>
              <a:r>
                <a:rPr lang="zh-CN" altLang="en-US" b="1" dirty="0">
                  <a:solidFill>
                    <a:srgbClr val="000000"/>
                  </a:solidFill>
                  <a:latin typeface="楷体_GB2312" pitchFamily="49" charset="-122"/>
                  <a:ea typeface="楷体_GB2312" pitchFamily="49" charset="-122"/>
                </a:rPr>
                <a:t>图</a:t>
              </a:r>
              <a:r>
                <a:rPr lang="en-US" altLang="zh-CN" b="1" dirty="0">
                  <a:solidFill>
                    <a:srgbClr val="000000"/>
                  </a:solidFill>
                  <a:latin typeface="楷体_GB2312" pitchFamily="49" charset="-122"/>
                  <a:ea typeface="楷体_GB2312" pitchFamily="49" charset="-122"/>
                </a:rPr>
                <a:t>4-3 </a:t>
              </a:r>
              <a:r>
                <a:rPr lang="zh-CN" altLang="en-US" b="1" dirty="0">
                  <a:solidFill>
                    <a:srgbClr val="000000"/>
                  </a:solidFill>
                  <a:latin typeface="楷体_GB2312" pitchFamily="49" charset="-122"/>
                  <a:ea typeface="楷体_GB2312" pitchFamily="49" charset="-122"/>
                </a:rPr>
                <a:t>焊缝区各点温度变化情况</a:t>
              </a:r>
              <a:endParaRPr lang="zh-CN" altLang="en-US" b="1" dirty="0">
                <a:solidFill>
                  <a:srgbClr val="000000"/>
                </a:solidFill>
                <a:latin typeface="楷体_GB2312" pitchFamily="49" charset="-122"/>
                <a:ea typeface="楷体_GB2312" pitchFamily="49" charset="-122"/>
              </a:endParaRPr>
            </a:p>
          </p:txBody>
        </p:sp>
      </p:grpSp>
      <p:sp>
        <p:nvSpPr>
          <p:cNvPr id="997389" name="AutoShape 13"/>
          <p:cNvSpPr/>
          <p:nvPr/>
        </p:nvSpPr>
        <p:spPr>
          <a:xfrm>
            <a:off x="539750" y="4437063"/>
            <a:ext cx="4752975" cy="1943100"/>
          </a:xfrm>
          <a:prstGeom prst="wedgeRoundRectCallout">
            <a:avLst>
              <a:gd name="adj1" fmla="val 56412"/>
              <a:gd name="adj2" fmla="val -65852"/>
              <a:gd name="adj3" fmla="val 16667"/>
            </a:avLst>
          </a:prstGeom>
          <a:solidFill>
            <a:schemeClr val="folHlink"/>
          </a:solidFill>
          <a:ln w="9525" cap="flat" cmpd="sng">
            <a:solidFill>
              <a:schemeClr val="tx1"/>
            </a:solidFill>
            <a:prstDash val="solid"/>
            <a:miter/>
            <a:headEnd type="none" w="med" len="med"/>
            <a:tailEnd type="none" w="med" len="med"/>
          </a:ln>
        </p:spPr>
        <p:txBody>
          <a:bodyPr/>
          <a:p>
            <a:pPr eaLnBrk="1" hangingPunct="1"/>
            <a:r>
              <a:rPr lang="zh-CN" altLang="en-US" sz="2400" b="1" dirty="0">
                <a:solidFill>
                  <a:srgbClr val="008000"/>
                </a:solidFill>
                <a:latin typeface="华文楷体" panose="02010600040101010101" pitchFamily="2" charset="-122"/>
                <a:ea typeface="华文楷体" panose="02010600040101010101" pitchFamily="2" charset="-122"/>
              </a:rPr>
              <a:t>在焊接过程中，</a:t>
            </a:r>
            <a:r>
              <a:rPr lang="zh-CN" altLang="en-US" sz="2400" b="1" dirty="0">
                <a:latin typeface="华文楷体" panose="02010600040101010101" pitchFamily="2" charset="-122"/>
                <a:ea typeface="华文楷体" panose="02010600040101010101" pitchFamily="2" charset="-122"/>
              </a:rPr>
              <a:t>焊缝的形成是一次冶金过程，焊缝附近区域金属</a:t>
            </a:r>
            <a:r>
              <a:rPr lang="zh-CN" altLang="en-US" sz="2400" b="1" dirty="0">
                <a:solidFill>
                  <a:srgbClr val="008000"/>
                </a:solidFill>
                <a:latin typeface="华文楷体" panose="02010600040101010101" pitchFamily="2" charset="-122"/>
                <a:ea typeface="华文楷体" panose="02010600040101010101" pitchFamily="2" charset="-122"/>
              </a:rPr>
              <a:t>相当于受到一次不同规范的</a:t>
            </a:r>
            <a:r>
              <a:rPr lang="zh-CN" altLang="en-US" sz="2400" b="1" dirty="0">
                <a:solidFill>
                  <a:srgbClr val="FF0000"/>
                </a:solidFill>
                <a:latin typeface="华文楷体" panose="02010600040101010101" pitchFamily="2" charset="-122"/>
                <a:ea typeface="华文楷体" panose="02010600040101010101" pitchFamily="2" charset="-122"/>
              </a:rPr>
              <a:t>热处理</a:t>
            </a:r>
            <a:r>
              <a:rPr lang="zh-CN" altLang="en-US" sz="2400" b="1" dirty="0">
                <a:solidFill>
                  <a:srgbClr val="008000"/>
                </a:solidFill>
                <a:latin typeface="华文楷体" panose="02010600040101010101" pitchFamily="2" charset="-122"/>
                <a:ea typeface="华文楷体" panose="02010600040101010101" pitchFamily="2" charset="-122"/>
              </a:rPr>
              <a:t>，</a:t>
            </a:r>
            <a:r>
              <a:rPr lang="zh-CN" altLang="en-US" sz="2400" b="1" dirty="0">
                <a:latin typeface="华文楷体" panose="02010600040101010101" pitchFamily="2" charset="-122"/>
                <a:ea typeface="华文楷体" panose="02010600040101010101" pitchFamily="2" charset="-122"/>
              </a:rPr>
              <a:t>必然会产生相应的组织与性能的变化。</a:t>
            </a:r>
            <a:endParaRPr lang="zh-CN" altLang="en-US" sz="2400" b="1" dirty="0">
              <a:latin typeface="华文楷体" panose="02010600040101010101" pitchFamily="2" charset="-122"/>
              <a:ea typeface="华文楷体" panose="02010600040101010101" pitchFamily="2" charset="-122"/>
            </a:endParaRPr>
          </a:p>
        </p:txBody>
      </p:sp>
      <p:sp>
        <p:nvSpPr>
          <p:cNvPr id="18437" name="Rectangle 15"/>
          <p:cNvSpPr/>
          <p:nvPr/>
        </p:nvSpPr>
        <p:spPr>
          <a:xfrm>
            <a:off x="2482850" y="279400"/>
            <a:ext cx="6697663" cy="701675"/>
          </a:xfrm>
          <a:prstGeom prst="rect">
            <a:avLst/>
          </a:prstGeom>
          <a:noFill/>
          <a:ln w="9525">
            <a:noFill/>
          </a:ln>
        </p:spPr>
        <p:txBody>
          <a:bodyPr>
            <a:spAutoFit/>
          </a:bodyPr>
          <a:p>
            <a:pPr eaLnBrk="1" hangingPunct="1"/>
            <a:r>
              <a:rPr lang="zh-CN" altLang="en-US" sz="4000" b="1" dirty="0">
                <a:solidFill>
                  <a:schemeClr val="tx2"/>
                </a:solidFill>
                <a:latin typeface="Arial" panose="020B0604020202020204" pitchFamily="34" charset="0"/>
                <a:ea typeface="楷体_GB2312" pitchFamily="49" charset="-122"/>
              </a:rPr>
              <a:t>电弧焊</a:t>
            </a:r>
            <a:r>
              <a:rPr lang="en-US" altLang="zh-CN" sz="4000" b="1" dirty="0">
                <a:solidFill>
                  <a:schemeClr val="tx2"/>
                </a:solidFill>
                <a:latin typeface="Arial" panose="020B0604020202020204" pitchFamily="34" charset="0"/>
                <a:ea typeface="楷体_GB2312" pitchFamily="49" charset="-122"/>
              </a:rPr>
              <a:t>——</a:t>
            </a:r>
            <a:r>
              <a:rPr lang="zh-CN" altLang="en-US" sz="4000" b="1" dirty="0">
                <a:solidFill>
                  <a:schemeClr val="tx2"/>
                </a:solidFill>
                <a:latin typeface="Arial" panose="020B0604020202020204" pitchFamily="34" charset="0"/>
                <a:ea typeface="楷体_GB2312" pitchFamily="49" charset="-122"/>
              </a:rPr>
              <a:t>焊接的基本原理</a:t>
            </a:r>
            <a:endParaRPr lang="zh-CN" altLang="en-US" sz="4000" b="1" dirty="0">
              <a:solidFill>
                <a:schemeClr val="tx2"/>
              </a:solidFill>
              <a:latin typeface="Arial" panose="020B0604020202020204" pitchFamily="34"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97389"/>
                                        </p:tgtEl>
                                        <p:attrNameLst>
                                          <p:attrName>style.visibility</p:attrName>
                                        </p:attrNameLst>
                                      </p:cBhvr>
                                      <p:to>
                                        <p:strVal val="visible"/>
                                      </p:to>
                                    </p:set>
                                    <p:anim calcmode="lin" valueType="num">
                                      <p:cBhvr additive="base">
                                        <p:cTn id="7" dur="500" fill="hold"/>
                                        <p:tgtEl>
                                          <p:spTgt spid="997389"/>
                                        </p:tgtEl>
                                        <p:attrNameLst>
                                          <p:attrName>ppt_x</p:attrName>
                                        </p:attrNameLst>
                                      </p:cBhvr>
                                      <p:tavLst>
                                        <p:tav tm="0">
                                          <p:val>
                                            <p:strVal val="#ppt_x"/>
                                          </p:val>
                                        </p:tav>
                                        <p:tav tm="100000">
                                          <p:val>
                                            <p:strVal val="#ppt_x"/>
                                          </p:val>
                                        </p:tav>
                                      </p:tavLst>
                                    </p:anim>
                                    <p:anim calcmode="lin" valueType="num">
                                      <p:cBhvr additive="base">
                                        <p:cTn id="8" dur="500" fill="hold"/>
                                        <p:tgtEl>
                                          <p:spTgt spid="99738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738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269" name="图片 11268"/>
          <p:cNvPicPr>
            <a:picLocks noChangeAspect="1"/>
          </p:cNvPicPr>
          <p:nvPr/>
        </p:nvPicPr>
        <p:blipFill>
          <a:blip r:embed="rId1"/>
          <a:stretch>
            <a:fillRect/>
          </a:stretch>
        </p:blipFill>
        <p:spPr>
          <a:xfrm>
            <a:off x="3996055" y="1988820"/>
            <a:ext cx="5138420" cy="4381500"/>
          </a:xfrm>
          <a:prstGeom prst="rect">
            <a:avLst/>
          </a:prstGeom>
          <a:noFill/>
          <a:ln w="9525">
            <a:noFill/>
          </a:ln>
        </p:spPr>
      </p:pic>
      <p:sp>
        <p:nvSpPr>
          <p:cNvPr id="19458" name="Rectangle 3"/>
          <p:cNvSpPr>
            <a:spLocks noGrp="1"/>
          </p:cNvSpPr>
          <p:nvPr>
            <p:ph idx="1"/>
          </p:nvPr>
        </p:nvSpPr>
        <p:spPr>
          <a:xfrm>
            <a:off x="107950" y="1270000"/>
            <a:ext cx="4082415" cy="5327650"/>
          </a:xfrm>
        </p:spPr>
        <p:txBody>
          <a:bodyPr vert="horz" wrap="square" lIns="91440" tIns="45720" rIns="91440" bIns="45720" anchor="t" anchorCtr="0"/>
          <a:p>
            <a:pPr eaLnBrk="1" hangingPunct="1"/>
            <a:r>
              <a:rPr lang="zh-CN" altLang="en-US" b="1" dirty="0">
                <a:solidFill>
                  <a:srgbClr val="CC3300"/>
                </a:solidFill>
                <a:latin typeface="华文楷体" panose="02010600040101010101" pitchFamily="2" charset="-122"/>
                <a:ea typeface="华文楷体" panose="02010600040101010101" pitchFamily="2" charset="-122"/>
                <a:cs typeface="华文楷体" panose="02010600040101010101" pitchFamily="2" charset="-122"/>
              </a:rPr>
              <a:t>焊接接头的组织与性能</a:t>
            </a:r>
            <a:endParaRPr lang="zh-CN" altLang="en-US" b="1" dirty="0">
              <a:solidFill>
                <a:srgbClr val="CC3300"/>
              </a:solidFill>
              <a:latin typeface="华文楷体" panose="02010600040101010101" pitchFamily="2" charset="-122"/>
              <a:ea typeface="华文楷体" panose="02010600040101010101" pitchFamily="2" charset="-122"/>
              <a:cs typeface="华文楷体" panose="02010600040101010101" pitchFamily="2" charset="-122"/>
            </a:endParaRPr>
          </a:p>
          <a:p>
            <a:pPr lvl="1" eaLnBrk="1" hangingPunct="1"/>
            <a:r>
              <a:rPr lang="zh-CN" altLang="en-US" sz="2400" b="1" dirty="0">
                <a:solidFill>
                  <a:srgbClr val="008000"/>
                </a:solidFill>
                <a:latin typeface="华文楷体" panose="02010600040101010101" pitchFamily="2" charset="-122"/>
                <a:ea typeface="华文楷体" panose="02010600040101010101" pitchFamily="2" charset="-122"/>
                <a:cs typeface="华文楷体" panose="02010600040101010101" pitchFamily="2" charset="-122"/>
              </a:rPr>
              <a:t>低碳钢</a:t>
            </a:r>
            <a:r>
              <a:rPr lang="en-US" altLang="zh-CN" sz="2400" b="1" dirty="0">
                <a:solidFill>
                  <a:srgbClr val="008000"/>
                </a:solidFill>
                <a:latin typeface="华文楷体" panose="02010600040101010101" pitchFamily="2" charset="-122"/>
                <a:ea typeface="华文楷体" panose="02010600040101010101" pitchFamily="2" charset="-122"/>
                <a:cs typeface="华文楷体" panose="02010600040101010101" pitchFamily="2" charset="-122"/>
              </a:rPr>
              <a:t>:</a:t>
            </a:r>
            <a:r>
              <a:rPr lang="zh-CN" altLang="en-US" sz="2400" b="1" dirty="0">
                <a:solidFill>
                  <a:srgbClr val="3333FF"/>
                </a:solidFill>
                <a:latin typeface="华文楷体" panose="02010600040101010101" pitchFamily="2" charset="-122"/>
                <a:ea typeface="华文楷体" panose="02010600040101010101" pitchFamily="2" charset="-122"/>
                <a:cs typeface="华文楷体" panose="02010600040101010101" pitchFamily="2" charset="-122"/>
              </a:rPr>
              <a:t>焊缝和焊缝附近区域由于受到电弧不同程度的加热而产生组织与性能的变化。</a:t>
            </a:r>
            <a:endParaRPr lang="zh-CN" altLang="en-US" sz="2600" dirty="0">
              <a:latin typeface="华文楷体" panose="02010600040101010101" pitchFamily="2" charset="-122"/>
              <a:ea typeface="华文楷体" panose="02010600040101010101" pitchFamily="2" charset="-122"/>
              <a:cs typeface="华文楷体" panose="02010600040101010101" pitchFamily="2" charset="-122"/>
            </a:endParaRPr>
          </a:p>
        </p:txBody>
      </p:sp>
      <p:sp>
        <p:nvSpPr>
          <p:cNvPr id="19460" name="Rectangle 9"/>
          <p:cNvSpPr/>
          <p:nvPr/>
        </p:nvSpPr>
        <p:spPr>
          <a:xfrm>
            <a:off x="2482850" y="279400"/>
            <a:ext cx="6697663" cy="701675"/>
          </a:xfrm>
          <a:prstGeom prst="rect">
            <a:avLst/>
          </a:prstGeom>
          <a:noFill/>
          <a:ln w="9525">
            <a:noFill/>
          </a:ln>
        </p:spPr>
        <p:txBody>
          <a:bodyPr>
            <a:spAutoFit/>
          </a:bodyPr>
          <a:p>
            <a:pPr eaLnBrk="1" hangingPunct="1"/>
            <a:r>
              <a:rPr lang="zh-CN" altLang="en-US" sz="4000" b="1" dirty="0">
                <a:solidFill>
                  <a:schemeClr val="tx2"/>
                </a:solidFill>
                <a:latin typeface="Arial" panose="020B0604020202020204" pitchFamily="34" charset="0"/>
                <a:ea typeface="楷体_GB2312" pitchFamily="49" charset="-122"/>
              </a:rPr>
              <a:t>电弧焊</a:t>
            </a:r>
            <a:r>
              <a:rPr lang="en-US" altLang="zh-CN" sz="4000" b="1" dirty="0">
                <a:solidFill>
                  <a:schemeClr val="tx2"/>
                </a:solidFill>
                <a:latin typeface="Arial" panose="020B0604020202020204" pitchFamily="34" charset="0"/>
                <a:ea typeface="楷体_GB2312" pitchFamily="49" charset="-122"/>
              </a:rPr>
              <a:t>——</a:t>
            </a:r>
            <a:r>
              <a:rPr lang="zh-CN" altLang="en-US" sz="4000" b="1" dirty="0">
                <a:solidFill>
                  <a:schemeClr val="tx2"/>
                </a:solidFill>
                <a:latin typeface="Arial" panose="020B0604020202020204" pitchFamily="34" charset="0"/>
                <a:ea typeface="楷体_GB2312" pitchFamily="49" charset="-122"/>
              </a:rPr>
              <a:t>焊接的基本原理</a:t>
            </a:r>
            <a:endParaRPr lang="zh-CN" altLang="en-US" sz="4000" b="1" dirty="0">
              <a:solidFill>
                <a:schemeClr val="tx2"/>
              </a:solidFill>
              <a:latin typeface="Arial" panose="020B0604020202020204" pitchFamily="34" charset="0"/>
              <a:ea typeface="楷体_GB2312" pitchFamily="49" charset="-122"/>
            </a:endParaRPr>
          </a:p>
        </p:txBody>
      </p:sp>
      <p:sp>
        <p:nvSpPr>
          <p:cNvPr id="3" name="圆角矩形标注 2"/>
          <p:cNvSpPr/>
          <p:nvPr/>
        </p:nvSpPr>
        <p:spPr>
          <a:xfrm>
            <a:off x="252095" y="4149090"/>
            <a:ext cx="3524250" cy="2158365"/>
          </a:xfrm>
          <a:prstGeom prst="wedgeRoundRectCallout">
            <a:avLst>
              <a:gd name="adj1" fmla="val 61038"/>
              <a:gd name="adj2" fmla="val -44541"/>
              <a:gd name="adj3" fmla="val 16667"/>
            </a:avLst>
          </a:prstGeom>
        </p:spPr>
        <p:style>
          <a:lnRef idx="1">
            <a:schemeClr val="accent1"/>
          </a:lnRef>
          <a:fillRef idx="2">
            <a:schemeClr val="accent1"/>
          </a:fillRef>
          <a:effectRef idx="1">
            <a:schemeClr val="accent1"/>
          </a:effectRef>
          <a:fontRef idx="minor">
            <a:schemeClr val="dk1"/>
          </a:fontRef>
        </p:style>
        <p:txBody>
          <a:bodyPr rtlCol="0" anchor="ctr"/>
          <a:p>
            <a:pPr lvl="0" eaLnBrk="1" hangingPunct="1"/>
            <a:endParaRPr lang="zh-CN" altLang="en-US" sz="2000" b="1"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sym typeface="+mn-ea"/>
            </a:endParaRPr>
          </a:p>
          <a:p>
            <a:pPr lvl="0" eaLnBrk="1" hangingPunct="1"/>
            <a:endParaRPr lang="zh-CN" altLang="en-US" sz="2000" b="1"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sym typeface="+mn-ea"/>
            </a:endParaRPr>
          </a:p>
          <a:p>
            <a:pPr lvl="0" eaLnBrk="1" hangingPunct="1"/>
            <a:r>
              <a:rPr lang="zh-CN" altLang="en-US" sz="2000" b="1"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sym typeface="+mn-ea"/>
              </a:rPr>
              <a:t>左侧下部是焊件的横截面，上部是相应各点在焊接过程中被加热的</a:t>
            </a:r>
            <a:r>
              <a:rPr lang="zh-CN" altLang="en-US" sz="2000" b="1" dirty="0">
                <a:solidFill>
                  <a:srgbClr val="FF0000"/>
                </a:solidFill>
                <a:latin typeface="华文楷体" panose="02010600040101010101" pitchFamily="2" charset="-122"/>
                <a:ea typeface="华文楷体" panose="02010600040101010101" pitchFamily="2" charset="-122"/>
                <a:cs typeface="华文楷体" panose="02010600040101010101" pitchFamily="2" charset="-122"/>
                <a:sym typeface="+mn-ea"/>
              </a:rPr>
              <a:t>最高温度曲线</a:t>
            </a:r>
            <a:r>
              <a:rPr lang="zh-CN" altLang="en-US" sz="2000" b="1"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sym typeface="+mn-ea"/>
              </a:rPr>
              <a:t>。图中</a:t>
            </a:r>
            <a:r>
              <a:rPr lang="en-US" altLang="zh-CN" sz="2000" b="1"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sym typeface="+mn-ea"/>
              </a:rPr>
              <a:t>1</a:t>
            </a:r>
            <a:r>
              <a:rPr lang="zh-CN" altLang="en-US" sz="2000" b="1"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sym typeface="+mn-ea"/>
              </a:rPr>
              <a:t>、</a:t>
            </a:r>
            <a:r>
              <a:rPr lang="en-US" altLang="zh-CN" sz="2000" b="1"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sym typeface="+mn-ea"/>
              </a:rPr>
              <a:t>2</a:t>
            </a:r>
            <a:r>
              <a:rPr lang="zh-CN" altLang="en-US" sz="2000" b="1"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sym typeface="+mn-ea"/>
              </a:rPr>
              <a:t>、</a:t>
            </a:r>
            <a:r>
              <a:rPr lang="en-US" altLang="zh-CN" sz="2000" b="1"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sym typeface="+mn-ea"/>
              </a:rPr>
              <a:t>3</a:t>
            </a:r>
            <a:r>
              <a:rPr lang="zh-CN" altLang="en-US" sz="2000" b="1"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sym typeface="+mn-ea"/>
              </a:rPr>
              <a:t>等各段金属组织的获得，可用右侧所示的部分铁</a:t>
            </a:r>
            <a:r>
              <a:rPr lang="en-US" altLang="zh-CN" sz="2000" b="1"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sym typeface="+mn-ea"/>
              </a:rPr>
              <a:t>-</a:t>
            </a:r>
            <a:r>
              <a:rPr lang="zh-CN" altLang="en-US" sz="2000" b="1"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sym typeface="+mn-ea"/>
              </a:rPr>
              <a:t>碳合金状态图来对照分析。</a:t>
            </a:r>
            <a:endParaRPr lang="zh-CN" altLang="en-US" sz="2000" b="1"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endParaRPr>
          </a:p>
          <a:p>
            <a:pPr lvl="2" eaLnBrk="1" hangingPunct="1">
              <a:buNone/>
            </a:pPr>
            <a:r>
              <a:rPr lang="zh-CN" altLang="en-US" sz="2000" dirty="0">
                <a:latin typeface="华文楷体" panose="02010600040101010101" pitchFamily="2" charset="-122"/>
                <a:ea typeface="华文楷体" panose="02010600040101010101" pitchFamily="2" charset="-122"/>
                <a:cs typeface="华文楷体" panose="02010600040101010101" pitchFamily="2" charset="-122"/>
                <a:sym typeface="+mn-ea"/>
              </a:rPr>
              <a:t>  </a:t>
            </a:r>
            <a:endParaRPr lang="zh-CN" altLang="en-US" sz="2000" dirty="0">
              <a:latin typeface="华文楷体" panose="02010600040101010101" pitchFamily="2" charset="-122"/>
              <a:ea typeface="华文楷体" panose="02010600040101010101" pitchFamily="2" charset="-122"/>
              <a:cs typeface="华文楷体" panose="02010600040101010101" pitchFamily="2" charset="-122"/>
              <a:sym typeface="+mn-ea"/>
            </a:endParaRPr>
          </a:p>
          <a:p>
            <a:pPr algn="ctr"/>
            <a:endParaRPr lang="zh-CN" altLang="en-US" sz="2000" dirty="0">
              <a:latin typeface="华文楷体" panose="02010600040101010101" pitchFamily="2" charset="-122"/>
              <a:ea typeface="华文楷体" panose="02010600040101010101" pitchFamily="2" charset="-122"/>
              <a:cs typeface="华文楷体" panose="02010600040101010101" pitchFamily="2"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1269"/>
                                        </p:tgtEl>
                                        <p:attrNameLst>
                                          <p:attrName>style.visibility</p:attrName>
                                        </p:attrNameLst>
                                      </p:cBhvr>
                                      <p:to>
                                        <p:strVal val="visible"/>
                                      </p:to>
                                    </p:set>
                                    <p:anim calcmode="lin" valueType="num">
                                      <p:cBhvr>
                                        <p:cTn id="7" dur="500" fill="hold"/>
                                        <p:tgtEl>
                                          <p:spTgt spid="11269"/>
                                        </p:tgtEl>
                                        <p:attrNameLst>
                                          <p:attrName>ppt_w</p:attrName>
                                        </p:attrNameLst>
                                      </p:cBhvr>
                                      <p:tavLst>
                                        <p:tav tm="0">
                                          <p:val>
                                            <p:fltVal val="0.000000"/>
                                          </p:val>
                                        </p:tav>
                                        <p:tav tm="100000">
                                          <p:val>
                                            <p:strVal val="#ppt_w"/>
                                          </p:val>
                                        </p:tav>
                                      </p:tavLst>
                                    </p:anim>
                                    <p:anim calcmode="lin" valueType="num">
                                      <p:cBhvr>
                                        <p:cTn id="8" dur="500" fill="hold"/>
                                        <p:tgtEl>
                                          <p:spTgt spid="11269"/>
                                        </p:tgtEl>
                                        <p:attrNameLst>
                                          <p:attrName>ppt_h</p:attrName>
                                        </p:attrNameLst>
                                      </p:cBhvr>
                                      <p:tavLst>
                                        <p:tav tm="0">
                                          <p:val>
                                            <p:fltVal val="0.000000"/>
                                          </p:val>
                                        </p:tav>
                                        <p:tav tm="100000">
                                          <p:val>
                                            <p:strVal val="#ppt_h"/>
                                          </p:val>
                                        </p:tav>
                                      </p:tavLst>
                                    </p:anim>
                                    <p:animEffect transition="in" filter="fade">
                                      <p:cBhvr>
                                        <p:cTn id="9" dur="500"/>
                                        <p:tgtEl>
                                          <p:spTgt spid="112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2"/>
          <p:cNvSpPr>
            <a:spLocks noGrp="1"/>
          </p:cNvSpPr>
          <p:nvPr>
            <p:ph idx="1"/>
          </p:nvPr>
        </p:nvSpPr>
        <p:spPr>
          <a:xfrm>
            <a:off x="107950" y="1341755"/>
            <a:ext cx="4634230" cy="5255895"/>
          </a:xfrm>
        </p:spPr>
        <p:txBody>
          <a:bodyPr vert="horz" wrap="square" lIns="91440" tIns="45720" rIns="91440" bIns="45720" anchor="t" anchorCtr="0"/>
          <a:p>
            <a:pPr eaLnBrk="1" hangingPunct="1">
              <a:lnSpc>
                <a:spcPct val="90000"/>
              </a:lnSpc>
            </a:pPr>
            <a:r>
              <a:rPr lang="zh-CN" altLang="en-US" b="1" dirty="0">
                <a:latin typeface="华文楷体" panose="02010600040101010101" pitchFamily="2" charset="-122"/>
                <a:ea typeface="华文楷体" panose="02010600040101010101" pitchFamily="2" charset="-122"/>
                <a:cs typeface="华文楷体" panose="02010600040101010101" pitchFamily="2" charset="-122"/>
              </a:rPr>
              <a:t>焊接接头的组织与性能</a:t>
            </a:r>
            <a:endParaRPr lang="zh-CN" altLang="en-US" b="1" dirty="0">
              <a:latin typeface="华文楷体" panose="02010600040101010101" pitchFamily="2" charset="-122"/>
              <a:ea typeface="华文楷体" panose="02010600040101010101" pitchFamily="2" charset="-122"/>
              <a:cs typeface="华文楷体" panose="02010600040101010101" pitchFamily="2" charset="-122"/>
            </a:endParaRPr>
          </a:p>
          <a:p>
            <a:pPr lvl="1" eaLnBrk="1" hangingPunct="1">
              <a:lnSpc>
                <a:spcPct val="90000"/>
              </a:lnSpc>
              <a:buNone/>
            </a:pPr>
            <a:r>
              <a:rPr lang="en-US" altLang="zh-CN" sz="2400" b="1" dirty="0">
                <a:solidFill>
                  <a:srgbClr val="FF0000"/>
                </a:solidFill>
                <a:latin typeface="华文楷体" panose="02010600040101010101" pitchFamily="2" charset="-122"/>
                <a:ea typeface="华文楷体" panose="02010600040101010101" pitchFamily="2" charset="-122"/>
                <a:cs typeface="华文楷体" panose="02010600040101010101" pitchFamily="2" charset="-122"/>
              </a:rPr>
              <a:t>1.</a:t>
            </a:r>
            <a:r>
              <a:rPr lang="zh-CN" altLang="en-US" sz="2400" b="1" dirty="0">
                <a:solidFill>
                  <a:srgbClr val="FF0000"/>
                </a:solidFill>
                <a:latin typeface="华文楷体" panose="02010600040101010101" pitchFamily="2" charset="-122"/>
                <a:ea typeface="华文楷体" panose="02010600040101010101" pitchFamily="2" charset="-122"/>
                <a:cs typeface="华文楷体" panose="02010600040101010101" pitchFamily="2" charset="-122"/>
              </a:rPr>
              <a:t>焊缝：</a:t>
            </a:r>
            <a:r>
              <a:rPr lang="zh-CN" altLang="en-US" sz="2400" b="1" dirty="0">
                <a:latin typeface="华文楷体" panose="02010600040101010101" pitchFamily="2" charset="-122"/>
                <a:ea typeface="华文楷体" panose="02010600040101010101" pitchFamily="2" charset="-122"/>
                <a:cs typeface="华文楷体" panose="02010600040101010101" pitchFamily="2" charset="-122"/>
              </a:rPr>
              <a:t>由熔池金属结晶得到的柱状铸造组织。</a:t>
            </a:r>
            <a:endParaRPr lang="zh-CN" altLang="en-US" sz="2400" b="1" dirty="0">
              <a:latin typeface="华文楷体" panose="02010600040101010101" pitchFamily="2" charset="-122"/>
              <a:ea typeface="华文楷体" panose="02010600040101010101" pitchFamily="2" charset="-122"/>
              <a:cs typeface="华文楷体" panose="02010600040101010101" pitchFamily="2" charset="-122"/>
            </a:endParaRPr>
          </a:p>
          <a:p>
            <a:pPr lvl="1" eaLnBrk="1" hangingPunct="1">
              <a:lnSpc>
                <a:spcPct val="90000"/>
              </a:lnSpc>
            </a:pPr>
            <a:r>
              <a:rPr lang="zh-CN" altLang="en-US" sz="2400" b="1" dirty="0">
                <a:latin typeface="华文楷体" panose="02010600040101010101" pitchFamily="2" charset="-122"/>
                <a:ea typeface="华文楷体" panose="02010600040101010101" pitchFamily="2" charset="-122"/>
                <a:cs typeface="华文楷体" panose="02010600040101010101" pitchFamily="2" charset="-122"/>
              </a:rPr>
              <a:t>结晶特点：</a:t>
            </a:r>
            <a:endParaRPr lang="zh-CN" altLang="en-US" sz="2400" b="1" dirty="0">
              <a:latin typeface="华文楷体" panose="02010600040101010101" pitchFamily="2" charset="-122"/>
              <a:ea typeface="华文楷体" panose="02010600040101010101" pitchFamily="2" charset="-122"/>
              <a:cs typeface="华文楷体" panose="02010600040101010101" pitchFamily="2" charset="-122"/>
            </a:endParaRPr>
          </a:p>
          <a:p>
            <a:pPr lvl="2" eaLnBrk="1" hangingPunct="1">
              <a:lnSpc>
                <a:spcPct val="90000"/>
              </a:lnSpc>
            </a:pPr>
            <a:r>
              <a:rPr lang="zh-CN" altLang="en-US" b="1" dirty="0">
                <a:latin typeface="华文楷体" panose="02010600040101010101" pitchFamily="2" charset="-122"/>
                <a:ea typeface="华文楷体" panose="02010600040101010101" pitchFamily="2" charset="-122"/>
                <a:cs typeface="华文楷体" panose="02010600040101010101" pitchFamily="2" charset="-122"/>
              </a:rPr>
              <a:t>熔池冷却速度快，形成硬化组织和裂纹。</a:t>
            </a:r>
            <a:endParaRPr lang="zh-CN" altLang="en-US" b="1" dirty="0">
              <a:latin typeface="华文楷体" panose="02010600040101010101" pitchFamily="2" charset="-122"/>
              <a:ea typeface="华文楷体" panose="02010600040101010101" pitchFamily="2" charset="-122"/>
              <a:cs typeface="华文楷体" panose="02010600040101010101" pitchFamily="2" charset="-122"/>
            </a:endParaRPr>
          </a:p>
          <a:p>
            <a:pPr lvl="2" eaLnBrk="1" hangingPunct="1">
              <a:lnSpc>
                <a:spcPct val="90000"/>
              </a:lnSpc>
            </a:pPr>
            <a:r>
              <a:rPr lang="zh-CN" altLang="en-US" b="1" dirty="0">
                <a:latin typeface="华文楷体" panose="02010600040101010101" pitchFamily="2" charset="-122"/>
                <a:ea typeface="华文楷体" panose="02010600040101010101" pitchFamily="2" charset="-122"/>
                <a:cs typeface="华文楷体" panose="02010600040101010101" pitchFamily="2" charset="-122"/>
              </a:rPr>
              <a:t>金属处于过热状态，合金元素烧损严重，非自发晶核减少，柱状组织发展。</a:t>
            </a:r>
            <a:endParaRPr lang="zh-CN" altLang="en-US" b="1" dirty="0">
              <a:latin typeface="华文楷体" panose="02010600040101010101" pitchFamily="2" charset="-122"/>
              <a:ea typeface="华文楷体" panose="02010600040101010101" pitchFamily="2" charset="-122"/>
              <a:cs typeface="华文楷体" panose="02010600040101010101" pitchFamily="2" charset="-122"/>
            </a:endParaRPr>
          </a:p>
          <a:p>
            <a:pPr lvl="2" eaLnBrk="1" hangingPunct="1">
              <a:lnSpc>
                <a:spcPct val="90000"/>
              </a:lnSpc>
            </a:pPr>
            <a:r>
              <a:rPr lang="zh-CN" altLang="en-US" b="1" dirty="0">
                <a:latin typeface="华文楷体" panose="02010600040101010101" pitchFamily="2" charset="-122"/>
                <a:ea typeface="华文楷体" panose="02010600040101010101" pitchFamily="2" charset="-122"/>
                <a:cs typeface="华文楷体" panose="02010600040101010101" pitchFamily="2" charset="-122"/>
              </a:rPr>
              <a:t>熔池中心和边缘温度梯度大，晶粒沿散热相反方向向熔池中心长大，受晶粒阻碍不易得到等轴晶，柱状晶发展。</a:t>
            </a:r>
            <a:endParaRPr lang="zh-CN" altLang="en-US" dirty="0">
              <a:latin typeface="华文楷体" panose="02010600040101010101" pitchFamily="2" charset="-122"/>
              <a:ea typeface="华文楷体" panose="02010600040101010101" pitchFamily="2" charset="-122"/>
              <a:cs typeface="华文楷体" panose="02010600040101010101" pitchFamily="2" charset="-122"/>
            </a:endParaRPr>
          </a:p>
        </p:txBody>
      </p:sp>
      <p:pic>
        <p:nvPicPr>
          <p:cNvPr id="1032195" name="Picture 3"/>
          <p:cNvPicPr>
            <a:picLocks noChangeAspect="1"/>
          </p:cNvPicPr>
          <p:nvPr/>
        </p:nvPicPr>
        <p:blipFill>
          <a:blip r:embed="rId1"/>
          <a:stretch>
            <a:fillRect/>
          </a:stretch>
        </p:blipFill>
        <p:spPr>
          <a:xfrm>
            <a:off x="4518025" y="3860800"/>
            <a:ext cx="4625975" cy="2921000"/>
          </a:xfrm>
          <a:prstGeom prst="rect">
            <a:avLst/>
          </a:prstGeom>
          <a:solidFill>
            <a:srgbClr val="CCFF33"/>
          </a:solidFill>
          <a:ln w="9525">
            <a:noFill/>
          </a:ln>
        </p:spPr>
      </p:pic>
      <p:sp>
        <p:nvSpPr>
          <p:cNvPr id="1032197" name="AutoShape 5"/>
          <p:cNvSpPr/>
          <p:nvPr/>
        </p:nvSpPr>
        <p:spPr>
          <a:xfrm>
            <a:off x="4860290" y="1340485"/>
            <a:ext cx="4184650" cy="2247900"/>
          </a:xfrm>
          <a:prstGeom prst="wedgeRectCallout">
            <a:avLst>
              <a:gd name="adj1" fmla="val -49000"/>
              <a:gd name="adj2" fmla="val 63116"/>
            </a:avLst>
          </a:prstGeom>
          <a:solidFill>
            <a:schemeClr val="accent1"/>
          </a:solidFill>
          <a:ln w="9525" cap="flat" cmpd="sng">
            <a:solidFill>
              <a:schemeClr val="tx1"/>
            </a:solidFill>
            <a:prstDash val="solid"/>
            <a:miter/>
            <a:headEnd type="none" w="med" len="med"/>
            <a:tailEnd type="none" w="med" len="med"/>
          </a:ln>
        </p:spPr>
        <p:txBody>
          <a:bodyPr/>
          <a:p>
            <a:pPr eaLnBrk="1" hangingPunct="1"/>
            <a:r>
              <a:rPr lang="zh-CN" altLang="en-US" sz="2100" b="1" dirty="0">
                <a:solidFill>
                  <a:srgbClr val="FF0000"/>
                </a:solidFill>
                <a:latin typeface="华文楷体" panose="02010600040101010101" pitchFamily="2" charset="-122"/>
                <a:ea typeface="华文楷体" panose="02010600040101010101" pitchFamily="2" charset="-122"/>
              </a:rPr>
              <a:t>熔合线：焊缝和母材的交界线。</a:t>
            </a:r>
            <a:endParaRPr lang="zh-CN" altLang="en-US" sz="2100" b="1" dirty="0">
              <a:solidFill>
                <a:srgbClr val="FF0000"/>
              </a:solidFill>
              <a:latin typeface="华文楷体" panose="02010600040101010101" pitchFamily="2" charset="-122"/>
              <a:ea typeface="华文楷体" panose="02010600040101010101" pitchFamily="2" charset="-122"/>
            </a:endParaRPr>
          </a:p>
          <a:p>
            <a:pPr eaLnBrk="1" hangingPunct="1"/>
            <a:r>
              <a:rPr lang="zh-CN" altLang="en-US" sz="2100" b="1" dirty="0">
                <a:solidFill>
                  <a:srgbClr val="FF0000"/>
                </a:solidFill>
                <a:latin typeface="华文楷体" panose="02010600040101010101" pitchFamily="2" charset="-122"/>
                <a:ea typeface="华文楷体" panose="02010600040101010101" pitchFamily="2" charset="-122"/>
              </a:rPr>
              <a:t>熔合区：熔合线两侧很窄的焊缝与热影响区的过渡区域。</a:t>
            </a:r>
            <a:endParaRPr lang="zh-CN" altLang="en-US" sz="2100" b="1" dirty="0">
              <a:solidFill>
                <a:srgbClr val="FF0000"/>
              </a:solidFill>
              <a:latin typeface="华文楷体" panose="02010600040101010101" pitchFamily="2" charset="-122"/>
              <a:ea typeface="华文楷体" panose="02010600040101010101" pitchFamily="2" charset="-122"/>
            </a:endParaRPr>
          </a:p>
          <a:p>
            <a:pPr eaLnBrk="1" hangingPunct="1"/>
            <a:r>
              <a:rPr lang="zh-CN" altLang="en-US" sz="2100" b="1" dirty="0">
                <a:solidFill>
                  <a:srgbClr val="FF0000"/>
                </a:solidFill>
                <a:latin typeface="华文楷体" panose="02010600040101010101" pitchFamily="2" charset="-122"/>
                <a:ea typeface="华文楷体" panose="02010600040101010101" pitchFamily="2" charset="-122"/>
              </a:rPr>
              <a:t>热影响区：焊缝附近母材组织和性能发生变化的区域。</a:t>
            </a:r>
            <a:endParaRPr lang="zh-CN" altLang="en-US" sz="2100" b="1" dirty="0">
              <a:solidFill>
                <a:srgbClr val="FF0000"/>
              </a:solidFill>
              <a:latin typeface="华文楷体" panose="02010600040101010101" pitchFamily="2" charset="-122"/>
              <a:ea typeface="华文楷体" panose="02010600040101010101" pitchFamily="2" charset="-122"/>
            </a:endParaRPr>
          </a:p>
          <a:p>
            <a:pPr eaLnBrk="1" hangingPunct="1"/>
            <a:r>
              <a:rPr lang="zh-CN" altLang="en-US" sz="2100" b="1" dirty="0">
                <a:solidFill>
                  <a:srgbClr val="FF0000"/>
                </a:solidFill>
                <a:latin typeface="华文楷体" panose="02010600040101010101" pitchFamily="2" charset="-122"/>
                <a:ea typeface="华文楷体" panose="02010600040101010101" pitchFamily="2" charset="-122"/>
              </a:rPr>
              <a:t>焊接接头：焊缝＋熔合区＋热影响区</a:t>
            </a:r>
            <a:endParaRPr lang="zh-CN" altLang="en-US" sz="2100" b="1" dirty="0">
              <a:solidFill>
                <a:srgbClr val="FF0000"/>
              </a:solidFill>
              <a:latin typeface="华文楷体" panose="02010600040101010101" pitchFamily="2" charset="-122"/>
              <a:ea typeface="华文楷体" panose="02010600040101010101" pitchFamily="2" charset="-122"/>
            </a:endParaRPr>
          </a:p>
          <a:p>
            <a:pPr algn="ctr" eaLnBrk="1" hangingPunct="1"/>
            <a:endParaRPr lang="en-US" altLang="zh-CN" sz="2100" b="1" dirty="0">
              <a:solidFill>
                <a:srgbClr val="FF0000"/>
              </a:solidFill>
              <a:latin typeface="华文楷体" panose="02010600040101010101" pitchFamily="2" charset="-122"/>
              <a:ea typeface="华文楷体" panose="02010600040101010101" pitchFamily="2" charset="-122"/>
            </a:endParaRPr>
          </a:p>
        </p:txBody>
      </p:sp>
      <p:sp>
        <p:nvSpPr>
          <p:cNvPr id="20485" name="Rectangle 6"/>
          <p:cNvSpPr/>
          <p:nvPr/>
        </p:nvSpPr>
        <p:spPr>
          <a:xfrm>
            <a:off x="2482850" y="279400"/>
            <a:ext cx="6697663" cy="701675"/>
          </a:xfrm>
          <a:prstGeom prst="rect">
            <a:avLst/>
          </a:prstGeom>
          <a:noFill/>
          <a:ln w="9525">
            <a:noFill/>
          </a:ln>
        </p:spPr>
        <p:txBody>
          <a:bodyPr>
            <a:spAutoFit/>
          </a:bodyPr>
          <a:p>
            <a:pPr eaLnBrk="1" hangingPunct="1"/>
            <a:r>
              <a:rPr lang="zh-CN" altLang="en-US" sz="4000" b="1" dirty="0">
                <a:solidFill>
                  <a:schemeClr val="tx2"/>
                </a:solidFill>
                <a:latin typeface="Arial" panose="020B0604020202020204" pitchFamily="34" charset="0"/>
                <a:ea typeface="楷体_GB2312" pitchFamily="49" charset="-122"/>
              </a:rPr>
              <a:t>电弧焊</a:t>
            </a:r>
            <a:r>
              <a:rPr lang="en-US" altLang="zh-CN" sz="4000" b="1" dirty="0">
                <a:solidFill>
                  <a:schemeClr val="tx2"/>
                </a:solidFill>
                <a:latin typeface="Arial" panose="020B0604020202020204" pitchFamily="34" charset="0"/>
                <a:ea typeface="楷体_GB2312" pitchFamily="49" charset="-122"/>
              </a:rPr>
              <a:t>——</a:t>
            </a:r>
            <a:r>
              <a:rPr lang="zh-CN" altLang="en-US" sz="4000" b="1" dirty="0">
                <a:solidFill>
                  <a:schemeClr val="tx2"/>
                </a:solidFill>
                <a:latin typeface="Arial" panose="020B0604020202020204" pitchFamily="34" charset="0"/>
                <a:ea typeface="楷体_GB2312" pitchFamily="49" charset="-122"/>
              </a:rPr>
              <a:t>焊接的基本原理</a:t>
            </a:r>
            <a:endParaRPr lang="zh-CN" altLang="en-US" sz="4000" b="1" dirty="0">
              <a:solidFill>
                <a:schemeClr val="tx2"/>
              </a:solidFill>
              <a:latin typeface="Arial" panose="020B0604020202020204" pitchFamily="34"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1032195"/>
                                        </p:tgtEl>
                                        <p:attrNameLst>
                                          <p:attrName>style.visibility</p:attrName>
                                        </p:attrNameLst>
                                      </p:cBhvr>
                                      <p:to>
                                        <p:strVal val="visible"/>
                                      </p:to>
                                    </p:set>
                                    <p:animEffect transition="in" filter="blinds(horizontal)">
                                      <p:cBhvr>
                                        <p:cTn id="7" dur="500"/>
                                        <p:tgtEl>
                                          <p:spTgt spid="103219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3" fill="hold" grpId="0" nodeType="clickEffect">
                                  <p:stCondLst>
                                    <p:cond delay="0"/>
                                  </p:stCondLst>
                                  <p:childTnLst>
                                    <p:set>
                                      <p:cBhvr>
                                        <p:cTn id="11" dur="1" fill="hold">
                                          <p:stCondLst>
                                            <p:cond delay="0"/>
                                          </p:stCondLst>
                                        </p:cTn>
                                        <p:tgtEl>
                                          <p:spTgt spid="1032197"/>
                                        </p:tgtEl>
                                        <p:attrNameLst>
                                          <p:attrName>style.visibility</p:attrName>
                                        </p:attrNameLst>
                                      </p:cBhvr>
                                      <p:to>
                                        <p:strVal val="visible"/>
                                      </p:to>
                                    </p:set>
                                    <p:anim calcmode="lin" valueType="num">
                                      <p:cBhvr additive="base">
                                        <p:cTn id="12" dur="500" fill="hold"/>
                                        <p:tgtEl>
                                          <p:spTgt spid="1032197"/>
                                        </p:tgtEl>
                                        <p:attrNameLst>
                                          <p:attrName>ppt_x</p:attrName>
                                        </p:attrNameLst>
                                      </p:cBhvr>
                                      <p:tavLst>
                                        <p:tav tm="0">
                                          <p:val>
                                            <p:strVal val="1+#ppt_w/2"/>
                                          </p:val>
                                        </p:tav>
                                        <p:tav tm="100000">
                                          <p:val>
                                            <p:strVal val="#ppt_x"/>
                                          </p:val>
                                        </p:tav>
                                      </p:tavLst>
                                    </p:anim>
                                    <p:anim calcmode="lin" valueType="num">
                                      <p:cBhvr additive="base">
                                        <p:cTn id="13" dur="500" fill="hold"/>
                                        <p:tgtEl>
                                          <p:spTgt spid="103219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2197"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3"/>
          <p:cNvSpPr>
            <a:spLocks noGrp="1"/>
          </p:cNvSpPr>
          <p:nvPr>
            <p:ph type="body" sz="half" idx="1"/>
          </p:nvPr>
        </p:nvSpPr>
        <p:spPr>
          <a:xfrm>
            <a:off x="323850" y="1268413"/>
            <a:ext cx="7920038" cy="4862512"/>
          </a:xfrm>
        </p:spPr>
        <p:txBody>
          <a:bodyPr vert="horz" wrap="square" lIns="91440" tIns="45720" rIns="91440" bIns="45720" anchor="t" anchorCtr="0"/>
          <a:p>
            <a:pPr eaLnBrk="1" hangingPunct="1">
              <a:buClrTx/>
              <a:buSzTx/>
              <a:buFontTx/>
            </a:pPr>
            <a:r>
              <a:rPr lang="zh-CN" altLang="en-US" sz="2800" b="1" dirty="0">
                <a:latin typeface="华文楷体" panose="02010600040101010101" pitchFamily="2" charset="-122"/>
                <a:ea typeface="华文楷体" panose="02010600040101010101" pitchFamily="2" charset="-122"/>
              </a:rPr>
              <a:t>焊缝的组织和性能</a:t>
            </a:r>
            <a:endParaRPr lang="zh-CN" altLang="en-US" sz="2800" b="1" dirty="0">
              <a:latin typeface="华文楷体" panose="02010600040101010101" pitchFamily="2" charset="-122"/>
              <a:ea typeface="华文楷体" panose="02010600040101010101" pitchFamily="2" charset="-122"/>
            </a:endParaRPr>
          </a:p>
          <a:p>
            <a:pPr lvl="1" eaLnBrk="1" hangingPunct="1"/>
            <a:r>
              <a:rPr lang="zh-CN" altLang="en-US" sz="2400" b="1" dirty="0">
                <a:solidFill>
                  <a:schemeClr val="tx2"/>
                </a:solidFill>
                <a:latin typeface="华文楷体" panose="02010600040101010101" pitchFamily="2" charset="-122"/>
                <a:ea typeface="华文楷体" panose="02010600040101010101" pitchFamily="2" charset="-122"/>
              </a:rPr>
              <a:t>凝固偏析</a:t>
            </a:r>
            <a:r>
              <a:rPr lang="zh-CN" altLang="en-US" sz="2400" b="1" dirty="0">
                <a:latin typeface="华文楷体" panose="02010600040101010101" pitchFamily="2" charset="-122"/>
                <a:ea typeface="华文楷体" panose="02010600040101010101" pitchFamily="2" charset="-122"/>
              </a:rPr>
              <a:t>：在整个焊缝内合金中化学成分的不均匀性，称为宏观偏析。与焊缝成形系数（焊道的宽度与计算厚度之比）有关。</a:t>
            </a:r>
            <a:endParaRPr lang="zh-CN" altLang="en-US" sz="2400" b="1" dirty="0">
              <a:latin typeface="华文楷体" panose="02010600040101010101" pitchFamily="2" charset="-122"/>
              <a:ea typeface="华文楷体" panose="02010600040101010101" pitchFamily="2" charset="-122"/>
            </a:endParaRPr>
          </a:p>
        </p:txBody>
      </p:sp>
      <p:pic>
        <p:nvPicPr>
          <p:cNvPr id="21507" name="Picture 4"/>
          <p:cNvPicPr>
            <a:picLocks noChangeAspect="1"/>
          </p:cNvPicPr>
          <p:nvPr>
            <p:ph sz="quarter" idx="2"/>
          </p:nvPr>
        </p:nvPicPr>
        <p:blipFill>
          <a:blip r:embed="rId1"/>
          <a:srcRect/>
          <a:stretch>
            <a:fillRect/>
          </a:stretch>
        </p:blipFill>
        <p:spPr>
          <a:xfrm>
            <a:off x="684213" y="3068638"/>
            <a:ext cx="3503612" cy="1479550"/>
          </a:xfrm>
          <a:solidFill>
            <a:srgbClr val="CCFF33">
              <a:alpha val="100000"/>
            </a:srgbClr>
          </a:solidFill>
        </p:spPr>
      </p:pic>
      <p:pic>
        <p:nvPicPr>
          <p:cNvPr id="21508" name="Picture 5"/>
          <p:cNvPicPr>
            <a:picLocks noChangeAspect="1"/>
          </p:cNvPicPr>
          <p:nvPr>
            <p:ph sz="quarter" idx="3"/>
          </p:nvPr>
        </p:nvPicPr>
        <p:blipFill>
          <a:blip r:embed="rId2"/>
          <a:srcRect/>
          <a:stretch>
            <a:fillRect/>
          </a:stretch>
        </p:blipFill>
        <p:spPr>
          <a:xfrm>
            <a:off x="4859338" y="5084763"/>
            <a:ext cx="3976687" cy="1436687"/>
          </a:xfrm>
          <a:solidFill>
            <a:srgbClr val="CCFF33">
              <a:alpha val="100000"/>
            </a:srgbClr>
          </a:solidFill>
        </p:spPr>
      </p:pic>
      <p:sp>
        <p:nvSpPr>
          <p:cNvPr id="21509" name="AutoShape 9"/>
          <p:cNvSpPr/>
          <p:nvPr/>
        </p:nvSpPr>
        <p:spPr>
          <a:xfrm>
            <a:off x="684213" y="4941888"/>
            <a:ext cx="2592387" cy="1512887"/>
          </a:xfrm>
          <a:prstGeom prst="wedgeRoundRectCallout">
            <a:avLst>
              <a:gd name="adj1" fmla="val 50306"/>
              <a:gd name="adj2" fmla="val -81583"/>
              <a:gd name="adj3" fmla="val 16667"/>
            </a:avLst>
          </a:prstGeom>
          <a:solidFill>
            <a:schemeClr val="folHlink"/>
          </a:solidFill>
          <a:ln w="9525" cap="flat" cmpd="sng">
            <a:solidFill>
              <a:schemeClr val="tx1"/>
            </a:solidFill>
            <a:prstDash val="solid"/>
            <a:miter/>
            <a:headEnd type="none" w="med" len="med"/>
            <a:tailEnd type="none" w="med" len="med"/>
          </a:ln>
        </p:spPr>
        <p:txBody>
          <a:bodyPr/>
          <a:p>
            <a:pPr algn="ctr" eaLnBrk="1" hangingPunct="1"/>
            <a:r>
              <a:rPr lang="zh-CN" altLang="en-US" sz="2000" b="1" dirty="0">
                <a:latin typeface="Arial" panose="020B0604020202020204" pitchFamily="34" charset="0"/>
                <a:ea typeface="楷体_GB2312" pitchFamily="49" charset="-122"/>
              </a:rPr>
              <a:t>宽焊缝，低熔点杂质聚在焊缝上部，避免出现中心线裂纹。</a:t>
            </a:r>
            <a:endParaRPr lang="zh-CN" altLang="en-US" sz="2000" b="1" dirty="0">
              <a:latin typeface="Arial" panose="020B0604020202020204" pitchFamily="34" charset="0"/>
              <a:ea typeface="楷体_GB2312" pitchFamily="49" charset="-122"/>
            </a:endParaRPr>
          </a:p>
        </p:txBody>
      </p:sp>
      <p:sp>
        <p:nvSpPr>
          <p:cNvPr id="21510" name="AutoShape 11"/>
          <p:cNvSpPr/>
          <p:nvPr/>
        </p:nvSpPr>
        <p:spPr>
          <a:xfrm>
            <a:off x="5651500" y="2781300"/>
            <a:ext cx="2592388" cy="1944688"/>
          </a:xfrm>
          <a:prstGeom prst="wedgeRoundRectCallout">
            <a:avLst>
              <a:gd name="adj1" fmla="val -52389"/>
              <a:gd name="adj2" fmla="val 67144"/>
              <a:gd name="adj3" fmla="val 16667"/>
            </a:avLst>
          </a:prstGeom>
          <a:solidFill>
            <a:schemeClr val="folHlink"/>
          </a:solidFill>
          <a:ln w="9525" cap="flat" cmpd="sng">
            <a:solidFill>
              <a:schemeClr val="tx1"/>
            </a:solidFill>
            <a:prstDash val="solid"/>
            <a:miter/>
            <a:headEnd type="none" w="med" len="med"/>
            <a:tailEnd type="none" w="med" len="med"/>
          </a:ln>
        </p:spPr>
        <p:txBody>
          <a:bodyPr/>
          <a:p>
            <a:pPr algn="ctr" eaLnBrk="1" hangingPunct="1"/>
            <a:r>
              <a:rPr lang="zh-CN" altLang="en-US" sz="2000" b="1" dirty="0">
                <a:latin typeface="Arial" panose="020B0604020202020204" pitchFamily="34" charset="0"/>
                <a:ea typeface="楷体_GB2312" pitchFamily="49" charset="-122"/>
              </a:rPr>
              <a:t>窄焊缝，柱状晶的交界在中心，低熔点杂质聚在中心线附近最后凝固，形成中心线偏析，易产生热裂纹。</a:t>
            </a:r>
            <a:endParaRPr lang="zh-CN" altLang="en-US" sz="2000" b="1" dirty="0">
              <a:latin typeface="Arial" panose="020B0604020202020204" pitchFamily="34" charset="0"/>
              <a:ea typeface="楷体_GB2312" pitchFamily="49" charset="-122"/>
            </a:endParaRPr>
          </a:p>
        </p:txBody>
      </p:sp>
      <p:sp>
        <p:nvSpPr>
          <p:cNvPr id="21511" name="Rectangle 12"/>
          <p:cNvSpPr/>
          <p:nvPr/>
        </p:nvSpPr>
        <p:spPr>
          <a:xfrm>
            <a:off x="2482850" y="279400"/>
            <a:ext cx="6697663" cy="701675"/>
          </a:xfrm>
          <a:prstGeom prst="rect">
            <a:avLst/>
          </a:prstGeom>
          <a:noFill/>
          <a:ln w="9525">
            <a:noFill/>
          </a:ln>
        </p:spPr>
        <p:txBody>
          <a:bodyPr>
            <a:spAutoFit/>
          </a:bodyPr>
          <a:p>
            <a:pPr eaLnBrk="1" hangingPunct="1"/>
            <a:r>
              <a:rPr lang="zh-CN" altLang="en-US" sz="4000" b="1" dirty="0">
                <a:solidFill>
                  <a:schemeClr val="tx2"/>
                </a:solidFill>
                <a:latin typeface="Arial" panose="020B0604020202020204" pitchFamily="34" charset="0"/>
                <a:ea typeface="楷体_GB2312" pitchFamily="49" charset="-122"/>
              </a:rPr>
              <a:t>电弧焊</a:t>
            </a:r>
            <a:r>
              <a:rPr lang="en-US" altLang="zh-CN" sz="4000" b="1" dirty="0">
                <a:solidFill>
                  <a:schemeClr val="tx2"/>
                </a:solidFill>
                <a:latin typeface="Arial" panose="020B0604020202020204" pitchFamily="34" charset="0"/>
                <a:ea typeface="楷体_GB2312" pitchFamily="49" charset="-122"/>
              </a:rPr>
              <a:t>——</a:t>
            </a:r>
            <a:r>
              <a:rPr lang="zh-CN" altLang="en-US" sz="4000" b="1" dirty="0">
                <a:solidFill>
                  <a:schemeClr val="tx2"/>
                </a:solidFill>
                <a:latin typeface="Arial" panose="020B0604020202020204" pitchFamily="34" charset="0"/>
                <a:ea typeface="楷体_GB2312" pitchFamily="49" charset="-122"/>
              </a:rPr>
              <a:t>焊接的基本原理</a:t>
            </a:r>
            <a:endParaRPr lang="zh-CN" altLang="en-US" sz="4000" b="1" dirty="0">
              <a:solidFill>
                <a:schemeClr val="tx2"/>
              </a:solidFill>
              <a:latin typeface="Arial" panose="020B0604020202020204" pitchFamily="34" charset="0"/>
              <a:ea typeface="楷体_GB2312" pitchFamily="49"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3"/>
          <p:cNvSpPr>
            <a:spLocks noGrp="1"/>
          </p:cNvSpPr>
          <p:nvPr>
            <p:ph idx="1"/>
          </p:nvPr>
        </p:nvSpPr>
        <p:spPr/>
        <p:txBody>
          <a:bodyPr vert="horz" wrap="square" lIns="91440" tIns="45720" rIns="91440" bIns="45720" anchor="t" anchorCtr="0"/>
          <a:p>
            <a:pPr eaLnBrk="1" hangingPunct="1"/>
            <a:r>
              <a:rPr lang="zh-CN" altLang="en-US" b="1" dirty="0">
                <a:latin typeface="华文楷体" panose="02010600040101010101" pitchFamily="2" charset="-122"/>
                <a:ea typeface="华文楷体" panose="02010600040101010101" pitchFamily="2" charset="-122"/>
              </a:rPr>
              <a:t>焊缝的组织和性能</a:t>
            </a:r>
            <a:endParaRPr lang="zh-CN" altLang="en-US" b="1" dirty="0">
              <a:latin typeface="华文楷体" panose="02010600040101010101" pitchFamily="2" charset="-122"/>
              <a:ea typeface="华文楷体" panose="02010600040101010101" pitchFamily="2" charset="-122"/>
            </a:endParaRPr>
          </a:p>
          <a:p>
            <a:pPr lvl="1" eaLnBrk="1" hangingPunct="1"/>
            <a:r>
              <a:rPr lang="zh-CN" altLang="en-US" b="1" dirty="0">
                <a:latin typeface="华文楷体" panose="02010600040101010101" pitchFamily="2" charset="-122"/>
                <a:ea typeface="华文楷体" panose="02010600040101010101" pitchFamily="2" charset="-122"/>
              </a:rPr>
              <a:t>焊缝性能：</a:t>
            </a:r>
            <a:endParaRPr lang="zh-CN" altLang="en-US" b="1" dirty="0">
              <a:latin typeface="华文楷体" panose="02010600040101010101" pitchFamily="2" charset="-122"/>
              <a:ea typeface="华文楷体" panose="02010600040101010101" pitchFamily="2" charset="-122"/>
            </a:endParaRPr>
          </a:p>
          <a:p>
            <a:pPr lvl="2" eaLnBrk="1" hangingPunct="1"/>
            <a:r>
              <a:rPr lang="zh-CN" altLang="en-US" b="1" dirty="0">
                <a:latin typeface="华文楷体" panose="02010600040101010101" pitchFamily="2" charset="-122"/>
                <a:ea typeface="华文楷体" panose="02010600040101010101" pitchFamily="2" charset="-122"/>
              </a:rPr>
              <a:t>当焊缝细柱状晶时，其性能比粗柱状晶好。粗柱状晶降低焊缝的强度，降低其塑性和韧性。</a:t>
            </a:r>
            <a:endParaRPr lang="zh-CN" altLang="en-US" b="1" dirty="0">
              <a:latin typeface="华文楷体" panose="02010600040101010101" pitchFamily="2" charset="-122"/>
              <a:ea typeface="华文楷体" panose="02010600040101010101" pitchFamily="2" charset="-122"/>
            </a:endParaRPr>
          </a:p>
          <a:p>
            <a:pPr lvl="2" eaLnBrk="1" hangingPunct="1"/>
            <a:r>
              <a:rPr lang="zh-CN" altLang="en-US" b="1" dirty="0">
                <a:latin typeface="华文楷体" panose="02010600040101010101" pitchFamily="2" charset="-122"/>
                <a:ea typeface="华文楷体" panose="02010600040101010101" pitchFamily="2" charset="-122"/>
              </a:rPr>
              <a:t>偏析越严重，焊缝的抗裂性能越差，机械性能和耐腐蚀性能的不均匀程度也越大。硫磷偏析严重，并集中在中心线，易产生热裂纹。</a:t>
            </a:r>
            <a:endParaRPr lang="zh-CN" altLang="en-US" b="1" dirty="0">
              <a:latin typeface="华文楷体" panose="02010600040101010101" pitchFamily="2" charset="-122"/>
              <a:ea typeface="华文楷体" panose="02010600040101010101" pitchFamily="2" charset="-122"/>
            </a:endParaRPr>
          </a:p>
          <a:p>
            <a:pPr lvl="1" eaLnBrk="1" hangingPunct="1"/>
            <a:endParaRPr lang="zh-CN" altLang="en-US" b="1" dirty="0">
              <a:latin typeface="华文楷体" panose="02010600040101010101" pitchFamily="2" charset="-122"/>
              <a:ea typeface="华文楷体" panose="02010600040101010101" pitchFamily="2" charset="-122"/>
            </a:endParaRPr>
          </a:p>
          <a:p>
            <a:pPr lvl="1" eaLnBrk="1" hangingPunct="1"/>
            <a:endParaRPr lang="en-US" altLang="zh-CN" b="1" dirty="0">
              <a:latin typeface="华文楷体" panose="02010600040101010101" pitchFamily="2" charset="-122"/>
              <a:ea typeface="华文楷体" panose="02010600040101010101" pitchFamily="2" charset="-122"/>
            </a:endParaRPr>
          </a:p>
        </p:txBody>
      </p:sp>
      <p:grpSp>
        <p:nvGrpSpPr>
          <p:cNvPr id="2" name="Group 4"/>
          <p:cNvGrpSpPr/>
          <p:nvPr/>
        </p:nvGrpSpPr>
        <p:grpSpPr>
          <a:xfrm>
            <a:off x="468313" y="4581525"/>
            <a:ext cx="8207375" cy="1779588"/>
            <a:chOff x="250" y="2840"/>
            <a:chExt cx="7195" cy="1121"/>
          </a:xfrm>
        </p:grpSpPr>
        <p:sp>
          <p:nvSpPr>
            <p:cNvPr id="22533" name="Rectangle 5"/>
            <p:cNvSpPr/>
            <p:nvPr/>
          </p:nvSpPr>
          <p:spPr>
            <a:xfrm>
              <a:off x="475" y="2973"/>
              <a:ext cx="6970" cy="988"/>
            </a:xfrm>
            <a:prstGeom prst="rect">
              <a:avLst/>
            </a:prstGeom>
            <a:solidFill>
              <a:schemeClr val="accent1"/>
            </a:solidFill>
            <a:ln w="9525">
              <a:noFill/>
            </a:ln>
          </p:spPr>
          <p:txBody>
            <a:bodyPr>
              <a:spAutoFit/>
            </a:bodyPr>
            <a:p>
              <a:pPr eaLnBrk="1" hangingPunct="1"/>
              <a:r>
                <a:rPr lang="zh-CN" altLang="en-US" sz="2400" b="1" dirty="0">
                  <a:solidFill>
                    <a:srgbClr val="FF0000"/>
                  </a:solidFill>
                  <a:latin typeface="华文楷体" panose="02010600040101010101" pitchFamily="2" charset="-122"/>
                  <a:ea typeface="华文楷体" panose="02010600040101010101" pitchFamily="2" charset="-122"/>
                </a:rPr>
                <a:t>焊缝组织晶粒粗大，成分偏析，不致密。但熔池小，冷却快，焊药、焊剂或焊丝起到渗合金化效果，焊缝金属中锰、硅等合金元素含量可能比母材高，焊缝金属性能可能优于母材。</a:t>
              </a:r>
              <a:endParaRPr lang="zh-CN" altLang="en-US" sz="2400" b="1" dirty="0">
                <a:solidFill>
                  <a:srgbClr val="FF0000"/>
                </a:solidFill>
                <a:latin typeface="华文楷体" panose="02010600040101010101" pitchFamily="2" charset="-122"/>
                <a:ea typeface="华文楷体" panose="02010600040101010101" pitchFamily="2" charset="-122"/>
              </a:endParaRPr>
            </a:p>
          </p:txBody>
        </p:sp>
        <p:sp>
          <p:nvSpPr>
            <p:cNvPr id="22534" name="AutoShape 6"/>
            <p:cNvSpPr/>
            <p:nvPr/>
          </p:nvSpPr>
          <p:spPr>
            <a:xfrm>
              <a:off x="250" y="2840"/>
              <a:ext cx="453" cy="272"/>
            </a:xfrm>
            <a:prstGeom prst="irregularSeal2">
              <a:avLst/>
            </a:prstGeom>
            <a:solidFill>
              <a:srgbClr val="FFFF00"/>
            </a:solidFill>
            <a:ln w="9525" cap="flat" cmpd="sng">
              <a:solidFill>
                <a:schemeClr val="tx1"/>
              </a:solidFill>
              <a:prstDash val="solid"/>
              <a:miter/>
              <a:headEnd type="none" w="med" len="med"/>
              <a:tailEnd type="none" w="med" len="med"/>
            </a:ln>
          </p:spPr>
          <p:txBody>
            <a:bodyPr wrap="none" anchor="ctr" anchorCtr="0"/>
            <a:p>
              <a:pPr algn="ctr" eaLnBrk="1" hangingPunct="1"/>
              <a:endParaRPr lang="zh-CN" altLang="zh-CN" sz="2400" dirty="0">
                <a:latin typeface="Symath" pitchFamily="2" charset="0"/>
                <a:ea typeface="华文彩云" panose="02010800040101010101" pitchFamily="2" charset="-122"/>
              </a:endParaRPr>
            </a:p>
          </p:txBody>
        </p:sp>
      </p:grpSp>
      <p:sp>
        <p:nvSpPr>
          <p:cNvPr id="22532" name="Rectangle 9"/>
          <p:cNvSpPr/>
          <p:nvPr/>
        </p:nvSpPr>
        <p:spPr>
          <a:xfrm>
            <a:off x="2482850" y="279400"/>
            <a:ext cx="6697663" cy="701675"/>
          </a:xfrm>
          <a:prstGeom prst="rect">
            <a:avLst/>
          </a:prstGeom>
          <a:noFill/>
          <a:ln w="9525">
            <a:noFill/>
          </a:ln>
        </p:spPr>
        <p:txBody>
          <a:bodyPr>
            <a:spAutoFit/>
          </a:bodyPr>
          <a:p>
            <a:pPr eaLnBrk="1" hangingPunct="1"/>
            <a:r>
              <a:rPr lang="zh-CN" altLang="en-US" sz="4000" b="1" dirty="0">
                <a:solidFill>
                  <a:schemeClr val="tx2"/>
                </a:solidFill>
                <a:latin typeface="Arial" panose="020B0604020202020204" pitchFamily="34" charset="0"/>
                <a:ea typeface="楷体_GB2312" pitchFamily="49" charset="-122"/>
              </a:rPr>
              <a:t>电弧焊</a:t>
            </a:r>
            <a:r>
              <a:rPr lang="en-US" altLang="zh-CN" sz="4000" b="1" dirty="0">
                <a:solidFill>
                  <a:schemeClr val="tx2"/>
                </a:solidFill>
                <a:latin typeface="Arial" panose="020B0604020202020204" pitchFamily="34" charset="0"/>
                <a:ea typeface="楷体_GB2312" pitchFamily="49" charset="-122"/>
              </a:rPr>
              <a:t>——</a:t>
            </a:r>
            <a:r>
              <a:rPr lang="zh-CN" altLang="en-US" sz="4000" b="1" dirty="0">
                <a:solidFill>
                  <a:schemeClr val="tx2"/>
                </a:solidFill>
                <a:latin typeface="Arial" panose="020B0604020202020204" pitchFamily="34" charset="0"/>
                <a:ea typeface="楷体_GB2312" pitchFamily="49" charset="-122"/>
              </a:rPr>
              <a:t>焊接的基本原理</a:t>
            </a:r>
            <a:endParaRPr lang="zh-CN" altLang="en-US" sz="4000" b="1" dirty="0">
              <a:solidFill>
                <a:schemeClr val="tx2"/>
              </a:solidFill>
              <a:latin typeface="Arial" panose="020B0604020202020204" pitchFamily="34"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2"/>
          <p:cNvSpPr>
            <a:spLocks noGrp="1"/>
          </p:cNvSpPr>
          <p:nvPr>
            <p:ph type="title"/>
          </p:nvPr>
        </p:nvSpPr>
        <p:spPr>
          <a:xfrm>
            <a:off x="457200" y="76200"/>
            <a:ext cx="8229600" cy="1139825"/>
          </a:xfrm>
        </p:spPr>
        <p:txBody>
          <a:bodyPr vert="horz" wrap="square" lIns="91440" tIns="45720" rIns="91440" bIns="45720" anchor="ctr" anchorCtr="0"/>
          <a:p>
            <a:pPr eaLnBrk="1" hangingPunct="1"/>
            <a:r>
              <a:rPr lang="zh-CN" altLang="en-US" b="0" dirty="0"/>
              <a:t>电弧焊</a:t>
            </a:r>
            <a:endParaRPr lang="zh-CN" altLang="en-US" b="0" dirty="0"/>
          </a:p>
        </p:txBody>
      </p:sp>
      <p:sp>
        <p:nvSpPr>
          <p:cNvPr id="23555" name="Rectangle 3"/>
          <p:cNvSpPr>
            <a:spLocks noGrp="1"/>
          </p:cNvSpPr>
          <p:nvPr>
            <p:ph idx="1"/>
          </p:nvPr>
        </p:nvSpPr>
        <p:spPr>
          <a:xfrm>
            <a:off x="34925" y="1268730"/>
            <a:ext cx="4090670" cy="5832475"/>
          </a:xfrm>
        </p:spPr>
        <p:txBody>
          <a:bodyPr vert="horz" wrap="square" lIns="91440" tIns="45720" rIns="91440" bIns="45720" anchor="t" anchorCtr="0"/>
          <a:p>
            <a:pPr eaLnBrk="1" hangingPunct="1">
              <a:lnSpc>
                <a:spcPct val="80000"/>
              </a:lnSpc>
              <a:buNone/>
            </a:pPr>
            <a:r>
              <a:rPr lang="en-US" altLang="zh-CN" sz="2800" b="1" dirty="0">
                <a:solidFill>
                  <a:srgbClr val="CC3300"/>
                </a:solidFill>
                <a:latin typeface="华文楷体" panose="02010600040101010101" pitchFamily="2" charset="-122"/>
                <a:ea typeface="华文楷体" panose="02010600040101010101" pitchFamily="2" charset="-122"/>
                <a:cs typeface="华文楷体" panose="02010600040101010101" pitchFamily="2" charset="-122"/>
              </a:rPr>
              <a:t>2</a:t>
            </a:r>
            <a:r>
              <a:rPr lang="zh-CN" altLang="en-US" sz="2800" b="1" dirty="0">
                <a:solidFill>
                  <a:srgbClr val="CC3300"/>
                </a:solidFill>
                <a:latin typeface="华文楷体" panose="02010600040101010101" pitchFamily="2" charset="-122"/>
                <a:ea typeface="华文楷体" panose="02010600040101010101" pitchFamily="2" charset="-122"/>
                <a:cs typeface="华文楷体" panose="02010600040101010101" pitchFamily="2" charset="-122"/>
              </a:rPr>
              <a:t>．焊接热影响区</a:t>
            </a:r>
            <a:endParaRPr lang="zh-CN" altLang="en-US" sz="2800" b="1" dirty="0">
              <a:solidFill>
                <a:srgbClr val="CC3300"/>
              </a:solidFill>
              <a:latin typeface="华文楷体" panose="02010600040101010101" pitchFamily="2" charset="-122"/>
              <a:ea typeface="华文楷体" panose="02010600040101010101" pitchFamily="2" charset="-122"/>
              <a:cs typeface="华文楷体" panose="02010600040101010101" pitchFamily="2" charset="-122"/>
            </a:endParaRPr>
          </a:p>
          <a:p>
            <a:pPr lvl="1" eaLnBrk="1" hangingPunct="1">
              <a:lnSpc>
                <a:spcPct val="80000"/>
              </a:lnSpc>
              <a:buNone/>
            </a:pPr>
            <a:r>
              <a:rPr lang="zh-CN" altLang="en-US" sz="1600" b="1" dirty="0">
                <a:latin typeface="华文楷体" panose="02010600040101010101" pitchFamily="2" charset="-122"/>
                <a:ea typeface="华文楷体" panose="02010600040101010101" pitchFamily="2" charset="-122"/>
                <a:cs typeface="华文楷体" panose="02010600040101010101" pitchFamily="2" charset="-122"/>
              </a:rPr>
              <a:t> </a:t>
            </a:r>
            <a:r>
              <a:rPr lang="zh-CN" altLang="en-US" sz="2400" b="1" dirty="0">
                <a:solidFill>
                  <a:srgbClr val="008000"/>
                </a:solidFill>
                <a:latin typeface="华文楷体" panose="02010600040101010101" pitchFamily="2" charset="-122"/>
                <a:ea typeface="华文楷体" panose="02010600040101010101" pitchFamily="2" charset="-122"/>
                <a:cs typeface="华文楷体" panose="02010600040101010101" pitchFamily="2" charset="-122"/>
              </a:rPr>
              <a:t>（</a:t>
            </a:r>
            <a:r>
              <a:rPr lang="en-US" altLang="zh-CN" sz="2400" b="1" dirty="0">
                <a:solidFill>
                  <a:srgbClr val="008000"/>
                </a:solidFill>
                <a:latin typeface="华文楷体" panose="02010600040101010101" pitchFamily="2" charset="-122"/>
                <a:ea typeface="华文楷体" panose="02010600040101010101" pitchFamily="2" charset="-122"/>
                <a:cs typeface="华文楷体" panose="02010600040101010101" pitchFamily="2" charset="-122"/>
              </a:rPr>
              <a:t>1</a:t>
            </a:r>
            <a:r>
              <a:rPr lang="zh-CN" altLang="en-US" sz="2400" b="1" dirty="0">
                <a:solidFill>
                  <a:srgbClr val="008000"/>
                </a:solidFill>
                <a:latin typeface="华文楷体" panose="02010600040101010101" pitchFamily="2" charset="-122"/>
                <a:ea typeface="华文楷体" panose="02010600040101010101" pitchFamily="2" charset="-122"/>
                <a:cs typeface="华文楷体" panose="02010600040101010101" pitchFamily="2" charset="-122"/>
              </a:rPr>
              <a:t>）熔合区</a:t>
            </a:r>
            <a:r>
              <a:rPr lang="zh-CN" altLang="en-US" sz="2400" b="1" dirty="0">
                <a:latin typeface="华文楷体" panose="02010600040101010101" pitchFamily="2" charset="-122"/>
                <a:ea typeface="华文楷体" panose="02010600040101010101" pitchFamily="2" charset="-122"/>
                <a:cs typeface="华文楷体" panose="02010600040101010101" pitchFamily="2" charset="-122"/>
              </a:rPr>
              <a:t>  熔化的金属凝固成</a:t>
            </a:r>
            <a:r>
              <a:rPr lang="zh-CN" altLang="en-US" sz="2400" b="1" dirty="0">
                <a:solidFill>
                  <a:srgbClr val="FF0000"/>
                </a:solidFill>
                <a:latin typeface="华文楷体" panose="02010600040101010101" pitchFamily="2" charset="-122"/>
                <a:ea typeface="华文楷体" panose="02010600040101010101" pitchFamily="2" charset="-122"/>
                <a:cs typeface="华文楷体" panose="02010600040101010101" pitchFamily="2" charset="-122"/>
              </a:rPr>
              <a:t>铸态组织</a:t>
            </a:r>
            <a:r>
              <a:rPr lang="zh-CN" altLang="en-US" sz="2400" b="1" dirty="0">
                <a:latin typeface="华文楷体" panose="02010600040101010101" pitchFamily="2" charset="-122"/>
                <a:ea typeface="华文楷体" panose="02010600040101010101" pitchFamily="2" charset="-122"/>
                <a:cs typeface="华文楷体" panose="02010600040101010101" pitchFamily="2" charset="-122"/>
              </a:rPr>
              <a:t>。温度在固相和液相线之间，因加热温度过高而成为过热粗晶，易引起应力集中，所以熔合区在很大程度上决定着焊接接头的性能</a:t>
            </a:r>
            <a:endParaRPr lang="zh-CN" altLang="en-US" sz="2400" b="1" dirty="0">
              <a:latin typeface="华文楷体" panose="02010600040101010101" pitchFamily="2" charset="-122"/>
              <a:ea typeface="华文楷体" panose="02010600040101010101" pitchFamily="2" charset="-122"/>
              <a:cs typeface="华文楷体" panose="02010600040101010101" pitchFamily="2" charset="-122"/>
            </a:endParaRPr>
          </a:p>
          <a:p>
            <a:pPr lvl="1" eaLnBrk="1" hangingPunct="1">
              <a:lnSpc>
                <a:spcPct val="80000"/>
              </a:lnSpc>
              <a:buNone/>
            </a:pPr>
            <a:r>
              <a:rPr lang="zh-CN" altLang="en-US" sz="2400" b="1" dirty="0">
                <a:latin typeface="华文楷体" panose="02010600040101010101" pitchFamily="2" charset="-122"/>
                <a:ea typeface="华文楷体" panose="02010600040101010101" pitchFamily="2" charset="-122"/>
                <a:cs typeface="华文楷体" panose="02010600040101010101" pitchFamily="2" charset="-122"/>
              </a:rPr>
              <a:t> </a:t>
            </a:r>
            <a:r>
              <a:rPr lang="zh-CN" altLang="en-US" sz="2400" b="1" dirty="0">
                <a:solidFill>
                  <a:srgbClr val="008000"/>
                </a:solidFill>
                <a:latin typeface="华文楷体" panose="02010600040101010101" pitchFamily="2" charset="-122"/>
                <a:ea typeface="华文楷体" panose="02010600040101010101" pitchFamily="2" charset="-122"/>
                <a:cs typeface="华文楷体" panose="02010600040101010101" pitchFamily="2" charset="-122"/>
              </a:rPr>
              <a:t>（</a:t>
            </a:r>
            <a:r>
              <a:rPr lang="en-US" altLang="zh-CN" sz="2400" b="1" dirty="0">
                <a:solidFill>
                  <a:srgbClr val="008000"/>
                </a:solidFill>
                <a:latin typeface="华文楷体" panose="02010600040101010101" pitchFamily="2" charset="-122"/>
                <a:ea typeface="华文楷体" panose="02010600040101010101" pitchFamily="2" charset="-122"/>
                <a:cs typeface="华文楷体" panose="02010600040101010101" pitchFamily="2" charset="-122"/>
              </a:rPr>
              <a:t>2</a:t>
            </a:r>
            <a:r>
              <a:rPr lang="zh-CN" altLang="en-US" sz="2400" b="1" dirty="0">
                <a:solidFill>
                  <a:srgbClr val="008000"/>
                </a:solidFill>
                <a:latin typeface="华文楷体" panose="02010600040101010101" pitchFamily="2" charset="-122"/>
                <a:ea typeface="华文楷体" panose="02010600040101010101" pitchFamily="2" charset="-122"/>
                <a:cs typeface="华文楷体" panose="02010600040101010101" pitchFamily="2" charset="-122"/>
              </a:rPr>
              <a:t>）过热区  </a:t>
            </a:r>
            <a:r>
              <a:rPr lang="zh-CN" altLang="en-US" sz="2400" b="1" dirty="0">
                <a:latin typeface="华文楷体" panose="02010600040101010101" pitchFamily="2" charset="-122"/>
                <a:ea typeface="华文楷体" panose="02010600040101010101" pitchFamily="2" charset="-122"/>
                <a:cs typeface="华文楷体" panose="02010600040101010101" pitchFamily="2" charset="-122"/>
              </a:rPr>
              <a:t>加热到</a:t>
            </a:r>
            <a:r>
              <a:rPr lang="en-US" altLang="zh-CN" sz="2400" b="1" dirty="0">
                <a:latin typeface="华文楷体" panose="02010600040101010101" pitchFamily="2" charset="-122"/>
                <a:ea typeface="华文楷体" panose="02010600040101010101" pitchFamily="2" charset="-122"/>
                <a:cs typeface="华文楷体" panose="02010600040101010101" pitchFamily="2" charset="-122"/>
              </a:rPr>
              <a:t>1100°C</a:t>
            </a:r>
            <a:r>
              <a:rPr lang="zh-CN" altLang="en-US" sz="2400" b="1" dirty="0">
                <a:latin typeface="华文楷体" panose="02010600040101010101" pitchFamily="2" charset="-122"/>
                <a:ea typeface="华文楷体" panose="02010600040101010101" pitchFamily="2" charset="-122"/>
                <a:cs typeface="华文楷体" panose="02010600040101010101" pitchFamily="2" charset="-122"/>
              </a:rPr>
              <a:t>以上至固相线温度区域。奥氏体晶粒急剧长大，形成</a:t>
            </a:r>
            <a:r>
              <a:rPr lang="zh-CN" altLang="en-US" sz="2400" b="1" dirty="0">
                <a:solidFill>
                  <a:srgbClr val="FF0000"/>
                </a:solidFill>
                <a:latin typeface="华文楷体" panose="02010600040101010101" pitchFamily="2" charset="-122"/>
                <a:ea typeface="华文楷体" panose="02010600040101010101" pitchFamily="2" charset="-122"/>
                <a:cs typeface="华文楷体" panose="02010600040101010101" pitchFamily="2" charset="-122"/>
              </a:rPr>
              <a:t>过热组织</a:t>
            </a:r>
            <a:r>
              <a:rPr lang="zh-CN" altLang="en-US" sz="2400" b="1" dirty="0">
                <a:latin typeface="华文楷体" panose="02010600040101010101" pitchFamily="2" charset="-122"/>
                <a:ea typeface="华文楷体" panose="02010600040101010101" pitchFamily="2" charset="-122"/>
                <a:cs typeface="华文楷体" panose="02010600040101010101" pitchFamily="2" charset="-122"/>
              </a:rPr>
              <a:t>，故塑性及韧性降低。对于易淬火硬化钢材，此区脆性更大。</a:t>
            </a:r>
            <a:endParaRPr lang="zh-CN" altLang="en-US" sz="2400" b="1" dirty="0">
              <a:latin typeface="华文楷体" panose="02010600040101010101" pitchFamily="2" charset="-122"/>
              <a:ea typeface="华文楷体" panose="02010600040101010101" pitchFamily="2" charset="-122"/>
              <a:cs typeface="华文楷体" panose="02010600040101010101" pitchFamily="2" charset="-122"/>
            </a:endParaRPr>
          </a:p>
          <a:p>
            <a:pPr lvl="1" eaLnBrk="1" hangingPunct="1">
              <a:lnSpc>
                <a:spcPct val="80000"/>
              </a:lnSpc>
              <a:buNone/>
            </a:pPr>
            <a:r>
              <a:rPr lang="zh-CN" altLang="en-US" sz="2400" b="1" dirty="0">
                <a:latin typeface="华文楷体" panose="02010600040101010101" pitchFamily="2" charset="-122"/>
                <a:ea typeface="华文楷体" panose="02010600040101010101" pitchFamily="2" charset="-122"/>
                <a:cs typeface="华文楷体" panose="02010600040101010101" pitchFamily="2" charset="-122"/>
              </a:rPr>
              <a:t> </a:t>
            </a:r>
            <a:endParaRPr lang="zh-CN" altLang="en-US" sz="2400" b="1"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endParaRPr>
          </a:p>
          <a:p>
            <a:pPr lvl="2" eaLnBrk="1" hangingPunct="1">
              <a:lnSpc>
                <a:spcPct val="80000"/>
              </a:lnSpc>
              <a:buNone/>
            </a:pPr>
            <a:r>
              <a:rPr lang="zh-CN" altLang="en-US" sz="1300" dirty="0">
                <a:latin typeface="华文楷体" panose="02010600040101010101" pitchFamily="2" charset="-122"/>
                <a:ea typeface="华文楷体" panose="02010600040101010101" pitchFamily="2" charset="-122"/>
                <a:cs typeface="华文楷体" panose="02010600040101010101" pitchFamily="2" charset="-122"/>
              </a:rPr>
              <a:t>  </a:t>
            </a:r>
            <a:endParaRPr lang="zh-CN" altLang="en-US" sz="1300" dirty="0">
              <a:latin typeface="华文楷体" panose="02010600040101010101" pitchFamily="2" charset="-122"/>
              <a:ea typeface="华文楷体" panose="02010600040101010101" pitchFamily="2" charset="-122"/>
              <a:cs typeface="华文楷体" panose="02010600040101010101" pitchFamily="2" charset="-122"/>
            </a:endParaRPr>
          </a:p>
        </p:txBody>
      </p:sp>
      <p:sp>
        <p:nvSpPr>
          <p:cNvPr id="23557" name="Rectangle 7"/>
          <p:cNvSpPr/>
          <p:nvPr/>
        </p:nvSpPr>
        <p:spPr>
          <a:xfrm>
            <a:off x="2482850" y="279400"/>
            <a:ext cx="6697663" cy="701675"/>
          </a:xfrm>
          <a:prstGeom prst="rect">
            <a:avLst/>
          </a:prstGeom>
          <a:noFill/>
          <a:ln w="9525">
            <a:noFill/>
          </a:ln>
        </p:spPr>
        <p:txBody>
          <a:bodyPr>
            <a:spAutoFit/>
          </a:bodyPr>
          <a:p>
            <a:pPr eaLnBrk="1" hangingPunct="1"/>
            <a:r>
              <a:rPr lang="zh-CN" altLang="en-US" sz="4000" b="1" dirty="0">
                <a:solidFill>
                  <a:schemeClr val="tx2"/>
                </a:solidFill>
                <a:latin typeface="Arial" panose="020B0604020202020204" pitchFamily="34" charset="0"/>
                <a:ea typeface="楷体_GB2312" pitchFamily="49" charset="-122"/>
              </a:rPr>
              <a:t>电弧焊</a:t>
            </a:r>
            <a:r>
              <a:rPr lang="en-US" altLang="zh-CN" sz="4000" b="1" dirty="0">
                <a:solidFill>
                  <a:schemeClr val="tx2"/>
                </a:solidFill>
                <a:latin typeface="Arial" panose="020B0604020202020204" pitchFamily="34" charset="0"/>
                <a:ea typeface="楷体_GB2312" pitchFamily="49" charset="-122"/>
              </a:rPr>
              <a:t>——</a:t>
            </a:r>
            <a:r>
              <a:rPr lang="zh-CN" altLang="en-US" sz="4000" b="1" dirty="0">
                <a:solidFill>
                  <a:schemeClr val="tx2"/>
                </a:solidFill>
                <a:latin typeface="Arial" panose="020B0604020202020204" pitchFamily="34" charset="0"/>
                <a:ea typeface="楷体_GB2312" pitchFamily="49" charset="-122"/>
              </a:rPr>
              <a:t>焊接的基本原理</a:t>
            </a:r>
            <a:endParaRPr lang="zh-CN" altLang="en-US" sz="4000" b="1" dirty="0">
              <a:solidFill>
                <a:schemeClr val="tx2"/>
              </a:solidFill>
              <a:latin typeface="Arial" panose="020B0604020202020204" pitchFamily="34" charset="0"/>
              <a:ea typeface="楷体_GB2312" pitchFamily="49" charset="-122"/>
            </a:endParaRPr>
          </a:p>
        </p:txBody>
      </p:sp>
      <p:pic>
        <p:nvPicPr>
          <p:cNvPr id="11269" name="图片 11268"/>
          <p:cNvPicPr>
            <a:picLocks noChangeAspect="1"/>
          </p:cNvPicPr>
          <p:nvPr/>
        </p:nvPicPr>
        <p:blipFill>
          <a:blip r:embed="rId1"/>
          <a:stretch>
            <a:fillRect/>
          </a:stretch>
        </p:blipFill>
        <p:spPr>
          <a:xfrm>
            <a:off x="4140200" y="1628775"/>
            <a:ext cx="4919345" cy="43815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1269"/>
                                        </p:tgtEl>
                                        <p:attrNameLst>
                                          <p:attrName>style.visibility</p:attrName>
                                        </p:attrNameLst>
                                      </p:cBhvr>
                                      <p:to>
                                        <p:strVal val="visible"/>
                                      </p:to>
                                    </p:set>
                                    <p:anim calcmode="lin" valueType="num">
                                      <p:cBhvr>
                                        <p:cTn id="7" dur="500" fill="hold"/>
                                        <p:tgtEl>
                                          <p:spTgt spid="11269"/>
                                        </p:tgtEl>
                                        <p:attrNameLst>
                                          <p:attrName>ppt_w</p:attrName>
                                        </p:attrNameLst>
                                      </p:cBhvr>
                                      <p:tavLst>
                                        <p:tav tm="0">
                                          <p:val>
                                            <p:fltVal val="0.000000"/>
                                          </p:val>
                                        </p:tav>
                                        <p:tav tm="100000">
                                          <p:val>
                                            <p:strVal val="#ppt_w"/>
                                          </p:val>
                                        </p:tav>
                                      </p:tavLst>
                                    </p:anim>
                                    <p:anim calcmode="lin" valueType="num">
                                      <p:cBhvr>
                                        <p:cTn id="8" dur="500" fill="hold"/>
                                        <p:tgtEl>
                                          <p:spTgt spid="11269"/>
                                        </p:tgtEl>
                                        <p:attrNameLst>
                                          <p:attrName>ppt_h</p:attrName>
                                        </p:attrNameLst>
                                      </p:cBhvr>
                                      <p:tavLst>
                                        <p:tav tm="0">
                                          <p:val>
                                            <p:fltVal val="0.000000"/>
                                          </p:val>
                                        </p:tav>
                                        <p:tav tm="100000">
                                          <p:val>
                                            <p:strVal val="#ppt_h"/>
                                          </p:val>
                                        </p:tav>
                                      </p:tavLst>
                                    </p:anim>
                                    <p:animEffect transition="in" filter="fade">
                                      <p:cBhvr>
                                        <p:cTn id="9" dur="500"/>
                                        <p:tgtEl>
                                          <p:spTgt spid="112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2"/>
          <p:cNvSpPr>
            <a:spLocks noGrp="1"/>
          </p:cNvSpPr>
          <p:nvPr>
            <p:ph type="title"/>
          </p:nvPr>
        </p:nvSpPr>
        <p:spPr>
          <a:xfrm>
            <a:off x="457200" y="76200"/>
            <a:ext cx="8229600" cy="1139825"/>
          </a:xfrm>
        </p:spPr>
        <p:txBody>
          <a:bodyPr vert="horz" wrap="square" lIns="91440" tIns="45720" rIns="91440" bIns="45720" anchor="ctr" anchorCtr="0"/>
          <a:p>
            <a:pPr eaLnBrk="1" hangingPunct="1"/>
            <a:r>
              <a:rPr lang="zh-CN" altLang="en-US" b="0" dirty="0"/>
              <a:t>电弧焊</a:t>
            </a:r>
            <a:endParaRPr lang="zh-CN" altLang="en-US" b="0" dirty="0"/>
          </a:p>
        </p:txBody>
      </p:sp>
      <p:sp>
        <p:nvSpPr>
          <p:cNvPr id="24579" name="Rectangle 3"/>
          <p:cNvSpPr>
            <a:spLocks noGrp="1"/>
          </p:cNvSpPr>
          <p:nvPr>
            <p:ph idx="1"/>
          </p:nvPr>
        </p:nvSpPr>
        <p:spPr>
          <a:xfrm>
            <a:off x="34925" y="1268730"/>
            <a:ext cx="4484370" cy="5832475"/>
          </a:xfrm>
        </p:spPr>
        <p:txBody>
          <a:bodyPr vert="horz" wrap="square" lIns="91440" tIns="45720" rIns="91440" bIns="45720" anchor="t" anchorCtr="0"/>
          <a:p>
            <a:pPr eaLnBrk="1" hangingPunct="1">
              <a:buNone/>
            </a:pPr>
            <a:r>
              <a:rPr lang="en-US" altLang="zh-CN" sz="2800" b="1" dirty="0">
                <a:solidFill>
                  <a:srgbClr val="CC3300"/>
                </a:solidFill>
                <a:latin typeface="楷体_GB2312" pitchFamily="49" charset="-122"/>
                <a:ea typeface="楷体_GB2312" pitchFamily="49" charset="-122"/>
              </a:rPr>
              <a:t>2</a:t>
            </a:r>
            <a:r>
              <a:rPr lang="zh-CN" altLang="en-US" sz="2800" b="1" dirty="0">
                <a:solidFill>
                  <a:srgbClr val="CC3300"/>
                </a:solidFill>
                <a:latin typeface="楷体_GB2312" pitchFamily="49" charset="-122"/>
                <a:ea typeface="楷体_GB2312" pitchFamily="49" charset="-122"/>
              </a:rPr>
              <a:t>．焊接热影响区</a:t>
            </a:r>
            <a:endParaRPr lang="zh-CN" altLang="en-US" sz="2800" b="1" dirty="0">
              <a:solidFill>
                <a:srgbClr val="CC3300"/>
              </a:solidFill>
              <a:latin typeface="楷体_GB2312" pitchFamily="49" charset="-122"/>
              <a:ea typeface="楷体_GB2312" pitchFamily="49" charset="-122"/>
            </a:endParaRPr>
          </a:p>
          <a:p>
            <a:pPr lvl="1" eaLnBrk="1" hangingPunct="1">
              <a:buNone/>
            </a:pPr>
            <a:r>
              <a:rPr lang="zh-CN" altLang="en-US" sz="2400" b="1" dirty="0">
                <a:solidFill>
                  <a:srgbClr val="008000"/>
                </a:solidFill>
                <a:latin typeface="楷体_GB2312" pitchFamily="49" charset="-122"/>
                <a:ea typeface="楷体_GB2312" pitchFamily="49" charset="-122"/>
              </a:rPr>
              <a:t>（</a:t>
            </a:r>
            <a:r>
              <a:rPr lang="en-US" altLang="zh-CN" sz="2400" b="1" dirty="0">
                <a:solidFill>
                  <a:srgbClr val="008000"/>
                </a:solidFill>
                <a:latin typeface="楷体_GB2312" pitchFamily="49" charset="-122"/>
                <a:ea typeface="楷体_GB2312" pitchFamily="49" charset="-122"/>
              </a:rPr>
              <a:t>3</a:t>
            </a:r>
            <a:r>
              <a:rPr lang="zh-CN" altLang="en-US" sz="2400" b="1" dirty="0">
                <a:solidFill>
                  <a:srgbClr val="008000"/>
                </a:solidFill>
                <a:latin typeface="楷体_GB2312" pitchFamily="49" charset="-122"/>
                <a:ea typeface="楷体_GB2312" pitchFamily="49" charset="-122"/>
              </a:rPr>
              <a:t>）正火区（完全重结晶）</a:t>
            </a:r>
            <a:r>
              <a:rPr lang="zh-CN" altLang="en-US" sz="2400" b="1" dirty="0">
                <a:latin typeface="楷体_GB2312" pitchFamily="49" charset="-122"/>
                <a:ea typeface="楷体_GB2312" pitchFamily="49" charset="-122"/>
              </a:rPr>
              <a:t> 加热至</a:t>
            </a:r>
            <a:r>
              <a:rPr lang="en-US" altLang="zh-CN" sz="2400" dirty="0"/>
              <a:t>A</a:t>
            </a:r>
            <a:r>
              <a:rPr lang="en-US" altLang="zh-CN" sz="2400" baseline="-25000" dirty="0"/>
              <a:t>C3</a:t>
            </a:r>
            <a:r>
              <a:rPr lang="en-US" altLang="zh-CN" sz="2400" b="1" dirty="0">
                <a:latin typeface="楷体_GB2312" pitchFamily="49" charset="-122"/>
                <a:ea typeface="楷体_GB2312" pitchFamily="49" charset="-122"/>
              </a:rPr>
              <a:t> </a:t>
            </a:r>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1100℃</a:t>
            </a:r>
            <a:r>
              <a:rPr lang="zh-CN" altLang="en-US" sz="2400" b="1" dirty="0">
                <a:latin typeface="楷体_GB2312" pitchFamily="49" charset="-122"/>
                <a:ea typeface="楷体_GB2312" pitchFamily="49" charset="-122"/>
              </a:rPr>
              <a:t>，重结晶，转为奥氏体，冷却后细小铁素体＋珠光体，力学性能优于母材。</a:t>
            </a:r>
            <a:endParaRPr lang="zh-CN" altLang="en-US" sz="2400" b="1" dirty="0">
              <a:latin typeface="楷体_GB2312" pitchFamily="49" charset="-122"/>
              <a:ea typeface="楷体_GB2312" pitchFamily="49" charset="-122"/>
            </a:endParaRPr>
          </a:p>
          <a:p>
            <a:pPr lvl="1" eaLnBrk="1" hangingPunct="1">
              <a:buNone/>
            </a:pPr>
            <a:r>
              <a:rPr lang="zh-CN" altLang="en-US" sz="2400" b="1" dirty="0">
                <a:solidFill>
                  <a:srgbClr val="CC3300"/>
                </a:solidFill>
                <a:latin typeface="楷体_GB2312" pitchFamily="49" charset="-122"/>
                <a:ea typeface="楷体_GB2312" pitchFamily="49" charset="-122"/>
              </a:rPr>
              <a:t> </a:t>
            </a:r>
            <a:r>
              <a:rPr lang="zh-CN" altLang="en-US" sz="2400" b="1" dirty="0">
                <a:solidFill>
                  <a:srgbClr val="008000"/>
                </a:solidFill>
                <a:latin typeface="楷体_GB2312" pitchFamily="49" charset="-122"/>
                <a:ea typeface="楷体_GB2312" pitchFamily="49" charset="-122"/>
              </a:rPr>
              <a:t>（</a:t>
            </a:r>
            <a:r>
              <a:rPr lang="en-US" altLang="zh-CN" sz="2400" b="1" dirty="0">
                <a:solidFill>
                  <a:srgbClr val="008000"/>
                </a:solidFill>
                <a:latin typeface="楷体_GB2312" pitchFamily="49" charset="-122"/>
                <a:ea typeface="楷体_GB2312" pitchFamily="49" charset="-122"/>
              </a:rPr>
              <a:t>4</a:t>
            </a:r>
            <a:r>
              <a:rPr lang="zh-CN" altLang="en-US" sz="2400" b="1" dirty="0">
                <a:solidFill>
                  <a:srgbClr val="008000"/>
                </a:solidFill>
                <a:latin typeface="楷体_GB2312" pitchFamily="49" charset="-122"/>
                <a:ea typeface="楷体_GB2312" pitchFamily="49" charset="-122"/>
              </a:rPr>
              <a:t>）部分相变区（不完全重结晶）</a:t>
            </a:r>
            <a:r>
              <a:rPr lang="zh-CN" altLang="en-US" sz="2400" b="1" dirty="0">
                <a:latin typeface="楷体_GB2312" pitchFamily="49" charset="-122"/>
                <a:ea typeface="楷体_GB2312" pitchFamily="49" charset="-122"/>
              </a:rPr>
              <a:t>  珠光体和部分铁素体发生重结晶，转变成</a:t>
            </a:r>
            <a:r>
              <a:rPr lang="zh-CN" altLang="en-US" sz="2400" b="1" dirty="0">
                <a:solidFill>
                  <a:srgbClr val="FF0000"/>
                </a:solidFill>
                <a:latin typeface="楷体_GB2312" pitchFamily="49" charset="-122"/>
                <a:ea typeface="楷体_GB2312" pitchFamily="49" charset="-122"/>
              </a:rPr>
              <a:t>细小的奥氏体晶粒</a:t>
            </a:r>
            <a:r>
              <a:rPr lang="zh-CN" altLang="en-US" sz="2400" b="1" dirty="0">
                <a:latin typeface="楷体_GB2312" pitchFamily="49" charset="-122"/>
                <a:ea typeface="楷体_GB2312" pitchFamily="49" charset="-122"/>
              </a:rPr>
              <a:t>。部分铁素体不发生相变，但其晶粒有长大趋势。冷却后晶粒大小不均，因而力学性能比正火区稍差。</a:t>
            </a:r>
            <a:r>
              <a:rPr lang="zh-CN" altLang="en-US" sz="1500" dirty="0"/>
              <a:t> </a:t>
            </a:r>
            <a:endParaRPr lang="zh-CN" altLang="en-US" sz="1500" dirty="0"/>
          </a:p>
        </p:txBody>
      </p:sp>
      <p:sp>
        <p:nvSpPr>
          <p:cNvPr id="24582" name="Rectangle 7"/>
          <p:cNvSpPr/>
          <p:nvPr/>
        </p:nvSpPr>
        <p:spPr>
          <a:xfrm>
            <a:off x="2482850" y="279400"/>
            <a:ext cx="6697663" cy="701675"/>
          </a:xfrm>
          <a:prstGeom prst="rect">
            <a:avLst/>
          </a:prstGeom>
          <a:noFill/>
          <a:ln w="9525">
            <a:noFill/>
          </a:ln>
        </p:spPr>
        <p:txBody>
          <a:bodyPr>
            <a:spAutoFit/>
          </a:bodyPr>
          <a:p>
            <a:pPr eaLnBrk="1" hangingPunct="1"/>
            <a:r>
              <a:rPr lang="zh-CN" altLang="en-US" sz="4000" b="1" dirty="0">
                <a:solidFill>
                  <a:schemeClr val="tx2"/>
                </a:solidFill>
                <a:latin typeface="Arial" panose="020B0604020202020204" pitchFamily="34" charset="0"/>
                <a:ea typeface="楷体_GB2312" pitchFamily="49" charset="-122"/>
              </a:rPr>
              <a:t>电弧焊</a:t>
            </a:r>
            <a:r>
              <a:rPr lang="en-US" altLang="zh-CN" sz="4000" b="1" dirty="0">
                <a:solidFill>
                  <a:schemeClr val="tx2"/>
                </a:solidFill>
                <a:latin typeface="Arial" panose="020B0604020202020204" pitchFamily="34" charset="0"/>
                <a:ea typeface="楷体_GB2312" pitchFamily="49" charset="-122"/>
              </a:rPr>
              <a:t>——</a:t>
            </a:r>
            <a:r>
              <a:rPr lang="zh-CN" altLang="en-US" sz="4000" b="1" dirty="0">
                <a:solidFill>
                  <a:schemeClr val="tx2"/>
                </a:solidFill>
                <a:latin typeface="Arial" panose="020B0604020202020204" pitchFamily="34" charset="0"/>
                <a:ea typeface="楷体_GB2312" pitchFamily="49" charset="-122"/>
              </a:rPr>
              <a:t>焊接的基本原理</a:t>
            </a:r>
            <a:endParaRPr lang="zh-CN" altLang="en-US" sz="4000" b="1" dirty="0">
              <a:solidFill>
                <a:schemeClr val="tx2"/>
              </a:solidFill>
              <a:latin typeface="Arial" panose="020B0604020202020204" pitchFamily="34" charset="0"/>
              <a:ea typeface="楷体_GB2312" pitchFamily="49" charset="-122"/>
            </a:endParaRPr>
          </a:p>
        </p:txBody>
      </p:sp>
      <p:pic>
        <p:nvPicPr>
          <p:cNvPr id="11269" name="图片 11268"/>
          <p:cNvPicPr>
            <a:picLocks noChangeAspect="1"/>
          </p:cNvPicPr>
          <p:nvPr/>
        </p:nvPicPr>
        <p:blipFill>
          <a:blip r:embed="rId1"/>
          <a:stretch>
            <a:fillRect/>
          </a:stretch>
        </p:blipFill>
        <p:spPr>
          <a:xfrm>
            <a:off x="4453890" y="981075"/>
            <a:ext cx="4690110" cy="4381500"/>
          </a:xfrm>
          <a:prstGeom prst="rect">
            <a:avLst/>
          </a:prstGeom>
          <a:noFill/>
          <a:ln w="9525">
            <a:noFill/>
          </a:ln>
        </p:spPr>
      </p:pic>
      <p:sp>
        <p:nvSpPr>
          <p:cNvPr id="24581" name="AutoShape 6"/>
          <p:cNvSpPr/>
          <p:nvPr/>
        </p:nvSpPr>
        <p:spPr>
          <a:xfrm>
            <a:off x="5076825" y="5462270"/>
            <a:ext cx="4067175" cy="1395730"/>
          </a:xfrm>
          <a:prstGeom prst="wedgeRoundRectCallout">
            <a:avLst>
              <a:gd name="adj1" fmla="val -35403"/>
              <a:gd name="adj2" fmla="val -72509"/>
              <a:gd name="adj3" fmla="val 16667"/>
            </a:avLst>
          </a:prstGeom>
          <a:solidFill>
            <a:schemeClr val="accent1"/>
          </a:solidFill>
          <a:ln w="9525" cap="flat" cmpd="sng">
            <a:solidFill>
              <a:schemeClr val="tx1"/>
            </a:solidFill>
            <a:prstDash val="solid"/>
            <a:miter/>
            <a:headEnd type="none" w="med" len="med"/>
            <a:tailEnd type="none" w="med" len="med"/>
          </a:ln>
        </p:spPr>
        <p:txBody>
          <a:bodyPr/>
          <a:p>
            <a:pPr algn="ctr" eaLnBrk="1" hangingPunct="1"/>
            <a:r>
              <a:rPr lang="zh-CN" altLang="en-US" sz="2200" b="1" dirty="0">
                <a:solidFill>
                  <a:srgbClr val="000000"/>
                </a:solidFill>
                <a:latin typeface="Arial" panose="020B0604020202020204" pitchFamily="34" charset="0"/>
                <a:ea typeface="楷体_GB2312" pitchFamily="49" charset="-122"/>
              </a:rPr>
              <a:t>热影响区的大小和组织性能变化的程度，</a:t>
            </a:r>
            <a:r>
              <a:rPr lang="zh-CN" altLang="en-US" sz="2200" b="1" dirty="0">
                <a:solidFill>
                  <a:srgbClr val="FF0000"/>
                </a:solidFill>
                <a:latin typeface="Arial" panose="020B0604020202020204" pitchFamily="34" charset="0"/>
                <a:ea typeface="楷体_GB2312" pitchFamily="49" charset="-122"/>
              </a:rPr>
              <a:t>决定于</a:t>
            </a:r>
            <a:r>
              <a:rPr lang="zh-CN" altLang="en-US" sz="2200" b="1" dirty="0">
                <a:solidFill>
                  <a:srgbClr val="0000FF"/>
                </a:solidFill>
                <a:latin typeface="Arial" panose="020B0604020202020204" pitchFamily="34" charset="0"/>
                <a:ea typeface="楷体_GB2312" pitchFamily="49" charset="-122"/>
              </a:rPr>
              <a:t>焊接方法、焊接参数、接头形式和焊后冷却速度等因素。</a:t>
            </a:r>
            <a:endParaRPr lang="zh-CN" altLang="en-US" sz="2200" b="1" dirty="0">
              <a:solidFill>
                <a:srgbClr val="0000FF"/>
              </a:solidFill>
              <a:latin typeface="Arial" panose="020B0604020202020204" pitchFamily="34"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1269"/>
                                        </p:tgtEl>
                                        <p:attrNameLst>
                                          <p:attrName>style.visibility</p:attrName>
                                        </p:attrNameLst>
                                      </p:cBhvr>
                                      <p:to>
                                        <p:strVal val="visible"/>
                                      </p:to>
                                    </p:set>
                                    <p:anim calcmode="lin" valueType="num">
                                      <p:cBhvr>
                                        <p:cTn id="7" dur="500" fill="hold"/>
                                        <p:tgtEl>
                                          <p:spTgt spid="11269"/>
                                        </p:tgtEl>
                                        <p:attrNameLst>
                                          <p:attrName>ppt_w</p:attrName>
                                        </p:attrNameLst>
                                      </p:cBhvr>
                                      <p:tavLst>
                                        <p:tav tm="0">
                                          <p:val>
                                            <p:fltVal val="0.000000"/>
                                          </p:val>
                                        </p:tav>
                                        <p:tav tm="100000">
                                          <p:val>
                                            <p:strVal val="#ppt_w"/>
                                          </p:val>
                                        </p:tav>
                                      </p:tavLst>
                                    </p:anim>
                                    <p:anim calcmode="lin" valueType="num">
                                      <p:cBhvr>
                                        <p:cTn id="8" dur="500" fill="hold"/>
                                        <p:tgtEl>
                                          <p:spTgt spid="11269"/>
                                        </p:tgtEl>
                                        <p:attrNameLst>
                                          <p:attrName>ppt_h</p:attrName>
                                        </p:attrNameLst>
                                      </p:cBhvr>
                                      <p:tavLst>
                                        <p:tav tm="0">
                                          <p:val>
                                            <p:fltVal val="0.000000"/>
                                          </p:val>
                                        </p:tav>
                                        <p:tav tm="100000">
                                          <p:val>
                                            <p:strVal val="#ppt_h"/>
                                          </p:val>
                                        </p:tav>
                                      </p:tavLst>
                                    </p:anim>
                                    <p:animEffect transition="in" filter="fade">
                                      <p:cBhvr>
                                        <p:cTn id="9" dur="500"/>
                                        <p:tgtEl>
                                          <p:spTgt spid="112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3"/>
          <p:cNvSpPr>
            <a:spLocks noGrp="1"/>
          </p:cNvSpPr>
          <p:nvPr>
            <p:ph idx="1"/>
          </p:nvPr>
        </p:nvSpPr>
        <p:spPr>
          <a:xfrm>
            <a:off x="468313" y="1268413"/>
            <a:ext cx="8424862" cy="4248150"/>
          </a:xfrm>
        </p:spPr>
        <p:txBody>
          <a:bodyPr vert="horz" wrap="square" lIns="91440" tIns="45720" rIns="91440" bIns="45720" anchor="t" anchorCtr="0"/>
          <a:p>
            <a:pPr eaLnBrk="1" hangingPunct="1"/>
            <a:r>
              <a:rPr lang="zh-CN" altLang="en-US" sz="2800" b="1" dirty="0">
                <a:solidFill>
                  <a:srgbClr val="CC3300"/>
                </a:solidFill>
                <a:latin typeface="华文楷体" panose="02010600040101010101" pitchFamily="2" charset="-122"/>
                <a:ea typeface="华文楷体" panose="02010600040101010101" pitchFamily="2" charset="-122"/>
              </a:rPr>
              <a:t>改善焊接热影响区组织和性能的方法</a:t>
            </a:r>
            <a:endParaRPr lang="zh-CN" altLang="en-US" sz="2800" b="1" dirty="0">
              <a:solidFill>
                <a:srgbClr val="CC3300"/>
              </a:solidFill>
              <a:latin typeface="华文楷体" panose="02010600040101010101" pitchFamily="2" charset="-122"/>
              <a:ea typeface="华文楷体" panose="02010600040101010101" pitchFamily="2" charset="-122"/>
            </a:endParaRPr>
          </a:p>
          <a:p>
            <a:pPr lvl="1" eaLnBrk="1" hangingPunct="1"/>
            <a:r>
              <a:rPr lang="zh-CN" altLang="en-US" sz="2400" b="1" dirty="0">
                <a:solidFill>
                  <a:srgbClr val="008000"/>
                </a:solidFill>
                <a:latin typeface="华文楷体" panose="02010600040101010101" pitchFamily="2" charset="-122"/>
                <a:ea typeface="华文楷体" panose="02010600040101010101" pitchFamily="2" charset="-122"/>
              </a:rPr>
              <a:t>低碳钢</a:t>
            </a:r>
            <a:r>
              <a:rPr lang="zh-CN" altLang="en-US" sz="2400" b="1" dirty="0">
                <a:solidFill>
                  <a:srgbClr val="000000"/>
                </a:solidFill>
                <a:latin typeface="华文楷体" panose="02010600040101010101" pitchFamily="2" charset="-122"/>
                <a:ea typeface="华文楷体" panose="02010600040101010101" pitchFamily="2" charset="-122"/>
              </a:rPr>
              <a:t>的焊接</a:t>
            </a:r>
            <a:r>
              <a:rPr lang="zh-CN" altLang="en-US" sz="2400" b="1" dirty="0">
                <a:latin typeface="华文楷体" panose="02010600040101010101" pitchFamily="2" charset="-122"/>
                <a:ea typeface="华文楷体" panose="02010600040101010101" pitchFamily="2" charset="-122"/>
              </a:rPr>
              <a:t>结构，用手工电弧焊或埋弧自动焊时，热影响区尺寸较小，对焊接产品质量影响较小，</a:t>
            </a:r>
            <a:r>
              <a:rPr lang="zh-CN" altLang="en-US" sz="2400" b="1" dirty="0">
                <a:solidFill>
                  <a:srgbClr val="FF0000"/>
                </a:solidFill>
                <a:latin typeface="华文楷体" panose="02010600040101010101" pitchFamily="2" charset="-122"/>
                <a:ea typeface="华文楷体" panose="02010600040101010101" pitchFamily="2" charset="-122"/>
              </a:rPr>
              <a:t>焊后可不进行热处理；</a:t>
            </a:r>
            <a:endParaRPr lang="zh-CN" altLang="en-US" sz="2400" b="1" dirty="0">
              <a:solidFill>
                <a:srgbClr val="FF0000"/>
              </a:solidFill>
              <a:latin typeface="华文楷体" panose="02010600040101010101" pitchFamily="2" charset="-122"/>
              <a:ea typeface="华文楷体" panose="02010600040101010101" pitchFamily="2" charset="-122"/>
            </a:endParaRPr>
          </a:p>
          <a:p>
            <a:pPr lvl="1" eaLnBrk="1" hangingPunct="1"/>
            <a:r>
              <a:rPr lang="zh-CN" altLang="en-US" sz="2400" b="1" dirty="0">
                <a:latin typeface="华文楷体" panose="02010600040101010101" pitchFamily="2" charset="-122"/>
                <a:ea typeface="华文楷体" panose="02010600040101010101" pitchFamily="2" charset="-122"/>
              </a:rPr>
              <a:t>对于</a:t>
            </a:r>
            <a:r>
              <a:rPr lang="zh-CN" altLang="en-US" sz="2400" b="1" dirty="0">
                <a:solidFill>
                  <a:srgbClr val="008000"/>
                </a:solidFill>
                <a:latin typeface="华文楷体" panose="02010600040101010101" pitchFamily="2" charset="-122"/>
                <a:ea typeface="华文楷体" panose="02010600040101010101" pitchFamily="2" charset="-122"/>
              </a:rPr>
              <a:t>低合金钢</a:t>
            </a:r>
            <a:r>
              <a:rPr lang="zh-CN" altLang="en-US" sz="2400" b="1" dirty="0">
                <a:solidFill>
                  <a:srgbClr val="000000"/>
                </a:solidFill>
                <a:latin typeface="华文楷体" panose="02010600040101010101" pitchFamily="2" charset="-122"/>
                <a:ea typeface="华文楷体" panose="02010600040101010101" pitchFamily="2" charset="-122"/>
              </a:rPr>
              <a:t>焊接</a:t>
            </a:r>
            <a:r>
              <a:rPr lang="zh-CN" altLang="en-US" sz="2400" b="1" dirty="0">
                <a:latin typeface="华文楷体" panose="02010600040101010101" pitchFamily="2" charset="-122"/>
                <a:ea typeface="华文楷体" panose="02010600040101010101" pitchFamily="2" charset="-122"/>
              </a:rPr>
              <a:t>结构或</a:t>
            </a:r>
            <a:r>
              <a:rPr lang="zh-CN" altLang="en-US" sz="2400" b="1" dirty="0">
                <a:solidFill>
                  <a:srgbClr val="000000"/>
                </a:solidFill>
                <a:latin typeface="华文楷体" panose="02010600040101010101" pitchFamily="2" charset="-122"/>
                <a:ea typeface="华文楷体" panose="02010600040101010101" pitchFamily="2" charset="-122"/>
              </a:rPr>
              <a:t>用</a:t>
            </a:r>
            <a:r>
              <a:rPr lang="zh-CN" altLang="en-US" sz="2400" b="1" dirty="0">
                <a:solidFill>
                  <a:srgbClr val="008000"/>
                </a:solidFill>
                <a:latin typeface="华文楷体" panose="02010600040101010101" pitchFamily="2" charset="-122"/>
                <a:ea typeface="华文楷体" panose="02010600040101010101" pitchFamily="2" charset="-122"/>
              </a:rPr>
              <a:t>电渣焊</a:t>
            </a:r>
            <a:r>
              <a:rPr lang="zh-CN" altLang="en-US" sz="2400" b="1" dirty="0">
                <a:latin typeface="华文楷体" panose="02010600040101010101" pitchFamily="2" charset="-122"/>
                <a:ea typeface="华文楷体" panose="02010600040101010101" pitchFamily="2" charset="-122"/>
              </a:rPr>
              <a:t>焊接的结构，热影响区较大，</a:t>
            </a:r>
            <a:r>
              <a:rPr lang="zh-CN" altLang="en-US" sz="2400" b="1" dirty="0">
                <a:solidFill>
                  <a:srgbClr val="FF0000"/>
                </a:solidFill>
                <a:latin typeface="华文楷体" panose="02010600040101010101" pitchFamily="2" charset="-122"/>
                <a:ea typeface="华文楷体" panose="02010600040101010101" pitchFamily="2" charset="-122"/>
              </a:rPr>
              <a:t>焊后必须进行热处理，通常可用正火的方法</a:t>
            </a:r>
            <a:r>
              <a:rPr lang="zh-CN" altLang="en-US" sz="2400" b="1" dirty="0">
                <a:latin typeface="华文楷体" panose="02010600040101010101" pitchFamily="2" charset="-122"/>
                <a:ea typeface="华文楷体" panose="02010600040101010101" pitchFamily="2" charset="-122"/>
              </a:rPr>
              <a:t>，细化晶粒，均匀组织，改善焊接接头的质量；</a:t>
            </a:r>
            <a:endParaRPr lang="zh-CN" altLang="en-US" sz="2400" b="1" dirty="0">
              <a:latin typeface="华文楷体" panose="02010600040101010101" pitchFamily="2" charset="-122"/>
              <a:ea typeface="华文楷体" panose="02010600040101010101" pitchFamily="2" charset="-122"/>
            </a:endParaRPr>
          </a:p>
          <a:p>
            <a:pPr lvl="1" eaLnBrk="1" hangingPunct="1"/>
            <a:r>
              <a:rPr lang="zh-CN" altLang="en-US" sz="2400" b="1" dirty="0">
                <a:latin typeface="华文楷体" panose="02010600040101010101" pitchFamily="2" charset="-122"/>
                <a:ea typeface="华文楷体" panose="02010600040101010101" pitchFamily="2" charset="-122"/>
              </a:rPr>
              <a:t>对于焊后</a:t>
            </a:r>
            <a:r>
              <a:rPr lang="zh-CN" altLang="en-US" sz="2400" b="1" dirty="0">
                <a:solidFill>
                  <a:srgbClr val="008000"/>
                </a:solidFill>
                <a:latin typeface="华文楷体" panose="02010600040101010101" pitchFamily="2" charset="-122"/>
                <a:ea typeface="华文楷体" panose="02010600040101010101" pitchFamily="2" charset="-122"/>
              </a:rPr>
              <a:t>不能进行热处理的焊接</a:t>
            </a:r>
            <a:r>
              <a:rPr lang="zh-CN" altLang="en-US" sz="2400" b="1" dirty="0">
                <a:latin typeface="华文楷体" panose="02010600040101010101" pitchFamily="2" charset="-122"/>
                <a:ea typeface="华文楷体" panose="02010600040101010101" pitchFamily="2" charset="-122"/>
              </a:rPr>
              <a:t>结构，只能通过</a:t>
            </a:r>
            <a:r>
              <a:rPr lang="zh-CN" altLang="en-US" sz="2400" b="1" dirty="0">
                <a:solidFill>
                  <a:srgbClr val="FF0000"/>
                </a:solidFill>
                <a:latin typeface="华文楷体" panose="02010600040101010101" pitchFamily="2" charset="-122"/>
                <a:ea typeface="华文楷体" panose="02010600040101010101" pitchFamily="2" charset="-122"/>
              </a:rPr>
              <a:t>正确选择焊接方法，合理制定焊接工艺</a:t>
            </a:r>
            <a:r>
              <a:rPr lang="zh-CN" altLang="en-US" sz="2400" b="1" dirty="0">
                <a:latin typeface="华文楷体" panose="02010600040101010101" pitchFamily="2" charset="-122"/>
                <a:ea typeface="华文楷体" panose="02010600040101010101" pitchFamily="2" charset="-122"/>
              </a:rPr>
              <a:t>来</a:t>
            </a:r>
            <a:r>
              <a:rPr lang="zh-CN" altLang="en-US" sz="2400" b="1" dirty="0">
                <a:solidFill>
                  <a:srgbClr val="000000"/>
                </a:solidFill>
                <a:latin typeface="华文楷体" panose="02010600040101010101" pitchFamily="2" charset="-122"/>
                <a:ea typeface="华文楷体" panose="02010600040101010101" pitchFamily="2" charset="-122"/>
              </a:rPr>
              <a:t>减小热影响区，</a:t>
            </a:r>
            <a:r>
              <a:rPr lang="zh-CN" altLang="en-US" sz="2400" b="1" dirty="0">
                <a:latin typeface="华文楷体" panose="02010600040101010101" pitchFamily="2" charset="-122"/>
                <a:ea typeface="华文楷体" panose="02010600040101010101" pitchFamily="2" charset="-122"/>
              </a:rPr>
              <a:t>以保证焊接质量。</a:t>
            </a:r>
            <a:endParaRPr lang="zh-CN" altLang="en-US" sz="2400" b="1" dirty="0">
              <a:latin typeface="华文楷体" panose="02010600040101010101" pitchFamily="2" charset="-122"/>
              <a:ea typeface="华文楷体" panose="02010600040101010101" pitchFamily="2" charset="-122"/>
            </a:endParaRPr>
          </a:p>
          <a:p>
            <a:pPr eaLnBrk="1" hangingPunct="1"/>
            <a:endParaRPr lang="zh-CN" altLang="en-US" sz="2800" b="1" dirty="0">
              <a:latin typeface="华文楷体" panose="02010600040101010101" pitchFamily="2" charset="-122"/>
              <a:ea typeface="华文楷体" panose="02010600040101010101" pitchFamily="2" charset="-122"/>
            </a:endParaRPr>
          </a:p>
          <a:p>
            <a:pPr eaLnBrk="1" hangingPunct="1"/>
            <a:endParaRPr lang="en-US" altLang="zh-CN" sz="2800" b="1" dirty="0">
              <a:latin typeface="华文楷体" panose="02010600040101010101" pitchFamily="2" charset="-122"/>
              <a:ea typeface="华文楷体" panose="02010600040101010101" pitchFamily="2" charset="-122"/>
            </a:endParaRPr>
          </a:p>
        </p:txBody>
      </p:sp>
      <p:sp>
        <p:nvSpPr>
          <p:cNvPr id="25603" name="Rectangle 6"/>
          <p:cNvSpPr/>
          <p:nvPr/>
        </p:nvSpPr>
        <p:spPr>
          <a:xfrm>
            <a:off x="2482850" y="279400"/>
            <a:ext cx="6697663" cy="701675"/>
          </a:xfrm>
          <a:prstGeom prst="rect">
            <a:avLst/>
          </a:prstGeom>
          <a:noFill/>
          <a:ln w="9525">
            <a:noFill/>
          </a:ln>
        </p:spPr>
        <p:txBody>
          <a:bodyPr>
            <a:spAutoFit/>
          </a:bodyPr>
          <a:p>
            <a:pPr eaLnBrk="1" hangingPunct="1"/>
            <a:r>
              <a:rPr lang="zh-CN" altLang="en-US" sz="4000" b="1" dirty="0">
                <a:solidFill>
                  <a:schemeClr val="tx2"/>
                </a:solidFill>
                <a:latin typeface="Arial" panose="020B0604020202020204" pitchFamily="34" charset="0"/>
                <a:ea typeface="楷体_GB2312" pitchFamily="49" charset="-122"/>
              </a:rPr>
              <a:t>电弧焊</a:t>
            </a:r>
            <a:r>
              <a:rPr lang="en-US" altLang="zh-CN" sz="4000" b="1" dirty="0">
                <a:solidFill>
                  <a:schemeClr val="tx2"/>
                </a:solidFill>
                <a:latin typeface="Arial" panose="020B0604020202020204" pitchFamily="34" charset="0"/>
                <a:ea typeface="楷体_GB2312" pitchFamily="49" charset="-122"/>
              </a:rPr>
              <a:t>——</a:t>
            </a:r>
            <a:r>
              <a:rPr lang="zh-CN" altLang="en-US" sz="4000" b="1" dirty="0">
                <a:solidFill>
                  <a:schemeClr val="tx2"/>
                </a:solidFill>
                <a:latin typeface="Arial" panose="020B0604020202020204" pitchFamily="34" charset="0"/>
                <a:ea typeface="楷体_GB2312" pitchFamily="49" charset="-122"/>
              </a:rPr>
              <a:t>焊接的基本原理</a:t>
            </a:r>
            <a:endParaRPr lang="zh-CN" altLang="en-US" sz="4000" b="1" dirty="0">
              <a:solidFill>
                <a:schemeClr val="tx2"/>
              </a:solidFill>
              <a:latin typeface="Arial" panose="020B0604020202020204" pitchFamily="34" charset="0"/>
              <a:ea typeface="楷体_GB2312" pitchFamily="49"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Rectangle 3"/>
          <p:cNvSpPr>
            <a:spLocks noGrp="1"/>
          </p:cNvSpPr>
          <p:nvPr>
            <p:ph type="body" sz="half" idx="1"/>
          </p:nvPr>
        </p:nvSpPr>
        <p:spPr>
          <a:xfrm>
            <a:off x="111125" y="1303338"/>
            <a:ext cx="4532313" cy="5221287"/>
          </a:xfrm>
        </p:spPr>
        <p:txBody>
          <a:bodyPr vert="horz" wrap="square" lIns="91440" tIns="45720" rIns="91440" bIns="45720" anchor="t" anchorCtr="0"/>
          <a:p>
            <a:pPr eaLnBrk="1" hangingPunct="1">
              <a:buClrTx/>
              <a:buSzTx/>
              <a:buFontTx/>
            </a:pPr>
            <a:r>
              <a:rPr lang="zh-CN" altLang="en-US" sz="2600" b="1" dirty="0">
                <a:latin typeface="华文楷体" panose="02010600040101010101" pitchFamily="2" charset="-122"/>
                <a:ea typeface="华文楷体" panose="02010600040101010101" pitchFamily="2" charset="-122"/>
              </a:rPr>
              <a:t>焊接应力：焊接构件由焊接而产生的内应力。</a:t>
            </a:r>
            <a:endParaRPr lang="zh-CN" altLang="en-US" sz="2600" b="1" dirty="0">
              <a:latin typeface="华文楷体" panose="02010600040101010101" pitchFamily="2" charset="-122"/>
              <a:ea typeface="华文楷体" panose="02010600040101010101" pitchFamily="2" charset="-122"/>
            </a:endParaRPr>
          </a:p>
          <a:p>
            <a:pPr eaLnBrk="1" hangingPunct="1">
              <a:buClrTx/>
              <a:buSzTx/>
              <a:buFontTx/>
            </a:pPr>
            <a:r>
              <a:rPr lang="zh-CN" altLang="en-US" sz="2600" b="1" dirty="0">
                <a:latin typeface="华文楷体" panose="02010600040101010101" pitchFamily="2" charset="-122"/>
                <a:ea typeface="华文楷体" panose="02010600040101010101" pitchFamily="2" charset="-122"/>
              </a:rPr>
              <a:t>焊接变形：焊后焊件残留的变形。</a:t>
            </a:r>
            <a:endParaRPr lang="zh-CN" altLang="en-US" sz="2600" b="1" dirty="0">
              <a:latin typeface="华文楷体" panose="02010600040101010101" pitchFamily="2" charset="-122"/>
              <a:ea typeface="华文楷体" panose="02010600040101010101" pitchFamily="2" charset="-122"/>
            </a:endParaRPr>
          </a:p>
          <a:p>
            <a:pPr eaLnBrk="1" hangingPunct="1">
              <a:buClrTx/>
              <a:buSzTx/>
              <a:buFontTx/>
            </a:pPr>
            <a:r>
              <a:rPr lang="zh-CN" altLang="en-US" sz="2600" b="1" dirty="0">
                <a:latin typeface="华文楷体" panose="02010600040101010101" pitchFamily="2" charset="-122"/>
                <a:ea typeface="华文楷体" panose="02010600040101010101" pitchFamily="2" charset="-122"/>
              </a:rPr>
              <a:t>产生机理：</a:t>
            </a:r>
            <a:endParaRPr lang="zh-CN" altLang="en-US" sz="2600" b="1" dirty="0">
              <a:latin typeface="华文楷体" panose="02010600040101010101" pitchFamily="2" charset="-122"/>
              <a:ea typeface="华文楷体" panose="02010600040101010101" pitchFamily="2" charset="-122"/>
            </a:endParaRPr>
          </a:p>
          <a:p>
            <a:pPr lvl="1" eaLnBrk="1" hangingPunct="1"/>
            <a:r>
              <a:rPr lang="zh-CN" altLang="en-US" sz="2200" b="1" dirty="0">
                <a:latin typeface="华文楷体" panose="02010600040101010101" pitchFamily="2" charset="-122"/>
                <a:ea typeface="华文楷体" panose="02010600040101010101" pitchFamily="2" charset="-122"/>
              </a:rPr>
              <a:t>加热时（焊接中），焊缝区金属热膨胀量大，受两侧金属制约不能自由伸长而被塑性压缩，向厚度方向展宽；</a:t>
            </a:r>
            <a:endParaRPr lang="zh-CN" altLang="en-US" sz="2200" b="1" dirty="0">
              <a:latin typeface="华文楷体" panose="02010600040101010101" pitchFamily="2" charset="-122"/>
              <a:ea typeface="华文楷体" panose="02010600040101010101" pitchFamily="2" charset="-122"/>
            </a:endParaRPr>
          </a:p>
          <a:p>
            <a:pPr lvl="1" eaLnBrk="1" hangingPunct="1"/>
            <a:r>
              <a:rPr lang="zh-CN" altLang="en-US" sz="2200" b="1" dirty="0">
                <a:latin typeface="华文楷体" panose="02010600040101010101" pitchFamily="2" charset="-122"/>
                <a:ea typeface="华文楷体" panose="02010600040101010101" pitchFamily="2" charset="-122"/>
              </a:rPr>
              <a:t>冷却时，受两侧金属制约而不能自由收缩，各部分收缩不一致，导致焊缝区乃至整个焊件产生应力和变形。</a:t>
            </a:r>
            <a:endParaRPr lang="zh-CN" altLang="en-US" sz="2200" b="1" dirty="0">
              <a:latin typeface="华文楷体" panose="02010600040101010101" pitchFamily="2" charset="-122"/>
              <a:ea typeface="华文楷体" panose="02010600040101010101" pitchFamily="2" charset="-122"/>
            </a:endParaRPr>
          </a:p>
        </p:txBody>
      </p:sp>
      <p:sp>
        <p:nvSpPr>
          <p:cNvPr id="26629" name="Rectangle 11"/>
          <p:cNvSpPr/>
          <p:nvPr/>
        </p:nvSpPr>
        <p:spPr>
          <a:xfrm>
            <a:off x="3419475" y="279400"/>
            <a:ext cx="4321175" cy="701675"/>
          </a:xfrm>
          <a:prstGeom prst="rect">
            <a:avLst/>
          </a:prstGeom>
          <a:noFill/>
          <a:ln w="9525">
            <a:noFill/>
          </a:ln>
        </p:spPr>
        <p:txBody>
          <a:bodyPr>
            <a:spAutoFit/>
          </a:bodyPr>
          <a:p>
            <a:pPr eaLnBrk="1" hangingPunct="1"/>
            <a:r>
              <a:rPr lang="zh-CN" altLang="en-US" sz="4000" b="1" dirty="0">
                <a:solidFill>
                  <a:schemeClr val="tx2"/>
                </a:solidFill>
                <a:latin typeface="Arial" panose="020B0604020202020204" pitchFamily="34" charset="0"/>
                <a:ea typeface="楷体_GB2312" pitchFamily="49" charset="-122"/>
              </a:rPr>
              <a:t>焊接应力与变形</a:t>
            </a:r>
            <a:endParaRPr lang="zh-CN" altLang="en-US" sz="4000" b="1" dirty="0">
              <a:solidFill>
                <a:schemeClr val="tx2"/>
              </a:solidFill>
              <a:latin typeface="Arial" panose="020B0604020202020204" pitchFamily="34" charset="0"/>
              <a:ea typeface="楷体_GB2312" pitchFamily="49" charset="-122"/>
            </a:endParaRPr>
          </a:p>
        </p:txBody>
      </p:sp>
      <p:pic>
        <p:nvPicPr>
          <p:cNvPr id="18436" name="图片 18435" descr="焊接应力应变产生原因"/>
          <p:cNvPicPr>
            <a:picLocks noChangeAspect="1"/>
          </p:cNvPicPr>
          <p:nvPr/>
        </p:nvPicPr>
        <p:blipFill>
          <a:blip r:embed="rId1"/>
          <a:srcRect r="45105"/>
          <a:stretch>
            <a:fillRect/>
          </a:stretch>
        </p:blipFill>
        <p:spPr>
          <a:xfrm>
            <a:off x="4715193" y="908368"/>
            <a:ext cx="4032250" cy="3070225"/>
          </a:xfrm>
          <a:prstGeom prst="rect">
            <a:avLst/>
          </a:prstGeom>
          <a:noFill/>
          <a:ln w="9525">
            <a:noFill/>
          </a:ln>
        </p:spPr>
      </p:pic>
      <p:pic>
        <p:nvPicPr>
          <p:cNvPr id="18437" name="图片 18436" descr="焊接应力应变产生原因"/>
          <p:cNvPicPr>
            <a:picLocks noChangeAspect="1"/>
          </p:cNvPicPr>
          <p:nvPr/>
        </p:nvPicPr>
        <p:blipFill>
          <a:blip r:embed="rId1"/>
          <a:srcRect l="55890"/>
          <a:stretch>
            <a:fillRect/>
          </a:stretch>
        </p:blipFill>
        <p:spPr>
          <a:xfrm>
            <a:off x="4715510" y="3860483"/>
            <a:ext cx="3240088" cy="3070225"/>
          </a:xfrm>
          <a:prstGeom prst="rect">
            <a:avLst/>
          </a:prstGeom>
          <a:noFill/>
          <a:ln w="9525">
            <a:noFill/>
          </a:ln>
        </p:spPr>
      </p:pic>
      <p:sp>
        <p:nvSpPr>
          <p:cNvPr id="10" name="圆角矩形标注 9"/>
          <p:cNvSpPr/>
          <p:nvPr/>
        </p:nvSpPr>
        <p:spPr>
          <a:xfrm>
            <a:off x="7379653" y="6233160"/>
            <a:ext cx="1643063" cy="500063"/>
          </a:xfrm>
          <a:prstGeom prst="wedgeRoundRectCallout">
            <a:avLst>
              <a:gd name="adj1" fmla="val -12579"/>
              <a:gd name="adj2" fmla="val -107023"/>
              <a:gd name="adj3" fmla="val 16667"/>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FF0000"/>
                </a:solidFill>
                <a:effectLst/>
                <a:uLnTx/>
                <a:uFillTx/>
                <a:latin typeface="+mn-lt"/>
                <a:ea typeface="+mn-ea"/>
                <a:cs typeface="+mn-cs"/>
              </a:rPr>
              <a:t>焊缝缩不回来</a:t>
            </a:r>
            <a:r>
              <a:rPr kumimoji="0" lang="en-US" altLang="zh-CN" sz="1800" b="0" i="0" u="none" strike="noStrike" kern="1200" cap="none" spc="0" normalizeH="0" baseline="0" noProof="0" dirty="0">
                <a:ln>
                  <a:noFill/>
                </a:ln>
                <a:solidFill>
                  <a:srgbClr val="FF0000"/>
                </a:solidFill>
                <a:effectLst/>
                <a:uLnTx/>
                <a:uFillTx/>
                <a:latin typeface="+mn-lt"/>
                <a:ea typeface="+mn-ea"/>
                <a:cs typeface="+mn-cs"/>
              </a:rPr>
              <a:t>-</a:t>
            </a:r>
            <a:r>
              <a:rPr kumimoji="0" lang="zh-CN" altLang="en-US" sz="1800" b="0" i="0" u="none" strike="noStrike" kern="1200" cap="none" spc="0" normalizeH="0" baseline="0" noProof="0" dirty="0">
                <a:ln>
                  <a:noFill/>
                </a:ln>
                <a:solidFill>
                  <a:srgbClr val="FF0000"/>
                </a:solidFill>
                <a:effectLst/>
                <a:uLnTx/>
                <a:uFillTx/>
                <a:latin typeface="+mn-lt"/>
                <a:ea typeface="+mn-ea"/>
                <a:cs typeface="+mn-cs"/>
              </a:rPr>
              <a:t>残余拉应力</a:t>
            </a:r>
            <a:endParaRPr kumimoji="0" lang="zh-CN" altLang="en-US" sz="1800" b="0" i="0" u="none" strike="noStrike" kern="1200" cap="none" spc="0" normalizeH="0" baseline="0" noProof="0" dirty="0">
              <a:ln>
                <a:noFill/>
              </a:ln>
              <a:solidFill>
                <a:srgbClr val="FF0000"/>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8436"/>
                                        </p:tgtEl>
                                        <p:attrNameLst>
                                          <p:attrName>style.visibility</p:attrName>
                                        </p:attrNameLst>
                                      </p:cBhvr>
                                      <p:to>
                                        <p:strVal val="visible"/>
                                      </p:to>
                                    </p:set>
                                    <p:anim calcmode="lin" valueType="num">
                                      <p:cBhvr>
                                        <p:cTn id="7" dur="500" fill="hold"/>
                                        <p:tgtEl>
                                          <p:spTgt spid="18436"/>
                                        </p:tgtEl>
                                        <p:attrNameLst>
                                          <p:attrName>ppt_w</p:attrName>
                                        </p:attrNameLst>
                                      </p:cBhvr>
                                      <p:tavLst>
                                        <p:tav tm="0">
                                          <p:val>
                                            <p:fltVal val="0.000000"/>
                                          </p:val>
                                        </p:tav>
                                        <p:tav tm="100000">
                                          <p:val>
                                            <p:strVal val="#ppt_w"/>
                                          </p:val>
                                        </p:tav>
                                      </p:tavLst>
                                    </p:anim>
                                    <p:anim calcmode="lin" valueType="num">
                                      <p:cBhvr>
                                        <p:cTn id="8" dur="500" fill="hold"/>
                                        <p:tgtEl>
                                          <p:spTgt spid="18436"/>
                                        </p:tgtEl>
                                        <p:attrNameLst>
                                          <p:attrName>ppt_h</p:attrName>
                                        </p:attrNameLst>
                                      </p:cBhvr>
                                      <p:tavLst>
                                        <p:tav tm="0">
                                          <p:val>
                                            <p:fltVal val="0.000000"/>
                                          </p:val>
                                        </p:tav>
                                        <p:tav tm="100000">
                                          <p:val>
                                            <p:strVal val="#ppt_h"/>
                                          </p:val>
                                        </p:tav>
                                      </p:tavLst>
                                    </p:anim>
                                    <p:animEffect transition="in" filter="fade">
                                      <p:cBhvr>
                                        <p:cTn id="9" dur="500"/>
                                        <p:tgtEl>
                                          <p:spTgt spid="18436"/>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8437"/>
                                        </p:tgtEl>
                                        <p:attrNameLst>
                                          <p:attrName>style.visibility</p:attrName>
                                        </p:attrNameLst>
                                      </p:cBhvr>
                                      <p:to>
                                        <p:strVal val="visible"/>
                                      </p:to>
                                    </p:set>
                                    <p:anim calcmode="lin" valueType="num">
                                      <p:cBhvr>
                                        <p:cTn id="14" dur="500" fill="hold"/>
                                        <p:tgtEl>
                                          <p:spTgt spid="18437"/>
                                        </p:tgtEl>
                                        <p:attrNameLst>
                                          <p:attrName>ppt_w</p:attrName>
                                        </p:attrNameLst>
                                      </p:cBhvr>
                                      <p:tavLst>
                                        <p:tav tm="0">
                                          <p:val>
                                            <p:fltVal val="0.000000"/>
                                          </p:val>
                                        </p:tav>
                                        <p:tav tm="100000">
                                          <p:val>
                                            <p:strVal val="#ppt_w"/>
                                          </p:val>
                                        </p:tav>
                                      </p:tavLst>
                                    </p:anim>
                                    <p:anim calcmode="lin" valueType="num">
                                      <p:cBhvr>
                                        <p:cTn id="15" dur="500" fill="hold"/>
                                        <p:tgtEl>
                                          <p:spTgt spid="18437"/>
                                        </p:tgtEl>
                                        <p:attrNameLst>
                                          <p:attrName>ppt_h</p:attrName>
                                        </p:attrNameLst>
                                      </p:cBhvr>
                                      <p:tavLst>
                                        <p:tav tm="0">
                                          <p:val>
                                            <p:fltVal val="0.000000"/>
                                          </p:val>
                                        </p:tav>
                                        <p:tav tm="100000">
                                          <p:val>
                                            <p:strVal val="#ppt_h"/>
                                          </p:val>
                                        </p:tav>
                                      </p:tavLst>
                                    </p:anim>
                                    <p:animEffect transition="in" filter="fade">
                                      <p:cBhvr>
                                        <p:cTn id="16" dur="500"/>
                                        <p:tgtEl>
                                          <p:spTgt spid="184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Rectangle 3"/>
          <p:cNvSpPr>
            <a:spLocks noGrp="1"/>
          </p:cNvSpPr>
          <p:nvPr>
            <p:ph type="body" sz="half" idx="1"/>
          </p:nvPr>
        </p:nvSpPr>
        <p:spPr>
          <a:xfrm>
            <a:off x="0" y="1295400"/>
            <a:ext cx="8964613" cy="2854325"/>
          </a:xfrm>
        </p:spPr>
        <p:txBody>
          <a:bodyPr vert="horz" wrap="square" lIns="91440" tIns="45720" rIns="91440" bIns="45720" anchor="t" anchorCtr="0"/>
          <a:p>
            <a:pPr lvl="1" eaLnBrk="1" hangingPunct="1"/>
            <a:r>
              <a:rPr lang="zh-CN" altLang="en-US" b="1" dirty="0">
                <a:solidFill>
                  <a:srgbClr val="FF0000"/>
                </a:solidFill>
                <a:latin typeface="楷体_GB2312" pitchFamily="49" charset="-122"/>
                <a:ea typeface="楷体_GB2312" pitchFamily="49" charset="-122"/>
              </a:rPr>
              <a:t>焊接应力：</a:t>
            </a:r>
            <a:endParaRPr lang="zh-CN" altLang="en-US" sz="2400" b="1" dirty="0">
              <a:solidFill>
                <a:srgbClr val="FF0000"/>
              </a:solidFill>
              <a:latin typeface="楷体_GB2312" pitchFamily="49" charset="-122"/>
              <a:ea typeface="楷体_GB2312" pitchFamily="49" charset="-122"/>
            </a:endParaRPr>
          </a:p>
          <a:p>
            <a:pPr lvl="1" eaLnBrk="1" hangingPunct="1">
              <a:buNone/>
            </a:pPr>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1</a:t>
            </a:r>
            <a:r>
              <a:rPr lang="zh-CN" altLang="en-US" sz="2400" b="1" dirty="0">
                <a:latin typeface="楷体_GB2312" pitchFamily="49" charset="-122"/>
                <a:ea typeface="楷体_GB2312" pitchFamily="49" charset="-122"/>
              </a:rPr>
              <a:t>）</a:t>
            </a:r>
            <a:r>
              <a:rPr lang="zh-CN" altLang="en-US" sz="2400" b="1" dirty="0">
                <a:solidFill>
                  <a:srgbClr val="CC3300"/>
                </a:solidFill>
                <a:latin typeface="楷体_GB2312" pitchFamily="49" charset="-122"/>
                <a:ea typeface="楷体_GB2312" pitchFamily="49" charset="-122"/>
              </a:rPr>
              <a:t>产生的原因：</a:t>
            </a:r>
            <a:r>
              <a:rPr lang="zh-CN" altLang="en-US" sz="2400" b="1" dirty="0">
                <a:latin typeface="楷体_GB2312" pitchFamily="49" charset="-122"/>
                <a:ea typeface="楷体_GB2312" pitchFamily="49" charset="-122"/>
              </a:rPr>
              <a:t>加热不均匀及冷却不均匀。</a:t>
            </a:r>
            <a:endParaRPr lang="zh-CN" altLang="en-US" sz="2400" b="1" dirty="0">
              <a:latin typeface="楷体_GB2312" pitchFamily="49" charset="-122"/>
              <a:ea typeface="楷体_GB2312" pitchFamily="49" charset="-122"/>
            </a:endParaRPr>
          </a:p>
          <a:p>
            <a:pPr lvl="1" eaLnBrk="1" hangingPunct="1">
              <a:buNone/>
            </a:pPr>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2</a:t>
            </a:r>
            <a:r>
              <a:rPr lang="zh-CN" altLang="en-US" sz="2400" b="1" dirty="0">
                <a:latin typeface="楷体_GB2312" pitchFamily="49" charset="-122"/>
                <a:ea typeface="楷体_GB2312" pitchFamily="49" charset="-122"/>
              </a:rPr>
              <a:t>）</a:t>
            </a:r>
            <a:r>
              <a:rPr lang="zh-CN" altLang="en-US" sz="2400" b="1" dirty="0">
                <a:solidFill>
                  <a:srgbClr val="CC3300"/>
                </a:solidFill>
                <a:latin typeface="楷体_GB2312" pitchFamily="49" charset="-122"/>
                <a:ea typeface="楷体_GB2312" pitchFamily="49" charset="-122"/>
              </a:rPr>
              <a:t>应力分布：</a:t>
            </a:r>
            <a:r>
              <a:rPr lang="zh-CN" altLang="en-US" sz="2400" b="1" dirty="0">
                <a:latin typeface="楷体_GB2312" pitchFamily="49" charset="-122"/>
                <a:ea typeface="楷体_GB2312" pitchFamily="49" charset="-122"/>
              </a:rPr>
              <a:t>平板对接焊缝</a:t>
            </a:r>
            <a:r>
              <a:rPr lang="en-US" altLang="zh-CN" sz="2400" b="1" dirty="0">
                <a:latin typeface="楷体_GB2312" pitchFamily="49" charset="-122"/>
                <a:ea typeface="楷体_GB2312" pitchFamily="49" charset="-122"/>
              </a:rPr>
              <a:t>, </a:t>
            </a:r>
            <a:r>
              <a:rPr lang="zh-CN" altLang="en-US" sz="2400" b="1" dirty="0">
                <a:latin typeface="楷体_GB2312" pitchFamily="49" charset="-122"/>
                <a:ea typeface="楷体_GB2312" pitchFamily="49" charset="-122"/>
              </a:rPr>
              <a:t>圆筒环形焊缝的焊接应力分布（图</a:t>
            </a:r>
            <a:r>
              <a:rPr lang="en-US" altLang="zh-CN" sz="2400" b="1" dirty="0">
                <a:latin typeface="楷体_GB2312" pitchFamily="49" charset="-122"/>
                <a:ea typeface="楷体_GB2312" pitchFamily="49" charset="-122"/>
              </a:rPr>
              <a:t>4-5</a:t>
            </a:r>
            <a:r>
              <a:rPr lang="zh-CN" altLang="en-US" sz="2400" b="1" dirty="0">
                <a:latin typeface="楷体_GB2312" pitchFamily="49" charset="-122"/>
                <a:ea typeface="楷体_GB2312" pitchFamily="49" charset="-122"/>
              </a:rPr>
              <a:t>）。</a:t>
            </a:r>
            <a:endParaRPr lang="zh-CN" altLang="en-US" sz="2400" b="1" dirty="0">
              <a:latin typeface="楷体_GB2312" pitchFamily="49" charset="-122"/>
              <a:ea typeface="楷体_GB2312" pitchFamily="49" charset="-122"/>
            </a:endParaRPr>
          </a:p>
          <a:p>
            <a:pPr lvl="1" eaLnBrk="1" hangingPunct="1">
              <a:buNone/>
            </a:pPr>
            <a:endParaRPr lang="zh-CN" altLang="en-US" sz="2400" b="1" dirty="0">
              <a:latin typeface="楷体_GB2312" pitchFamily="49" charset="-122"/>
              <a:ea typeface="楷体_GB2312" pitchFamily="49" charset="-122"/>
            </a:endParaRPr>
          </a:p>
          <a:p>
            <a:pPr lvl="1" eaLnBrk="1" hangingPunct="1">
              <a:buNone/>
            </a:pPr>
            <a:endParaRPr lang="en-US" altLang="zh-CN" sz="2400" b="1" dirty="0">
              <a:latin typeface="楷体_GB2312" pitchFamily="49" charset="-122"/>
              <a:ea typeface="楷体_GB2312" pitchFamily="49" charset="-122"/>
            </a:endParaRPr>
          </a:p>
        </p:txBody>
      </p:sp>
      <p:grpSp>
        <p:nvGrpSpPr>
          <p:cNvPr id="27651" name="Group 46"/>
          <p:cNvGrpSpPr/>
          <p:nvPr/>
        </p:nvGrpSpPr>
        <p:grpSpPr>
          <a:xfrm>
            <a:off x="1476375" y="3141663"/>
            <a:ext cx="6767513" cy="3716337"/>
            <a:chOff x="1565" y="2659"/>
            <a:chExt cx="3130" cy="1588"/>
          </a:xfrm>
        </p:grpSpPr>
        <p:grpSp>
          <p:nvGrpSpPr>
            <p:cNvPr id="27653" name="Group 47"/>
            <p:cNvGrpSpPr/>
            <p:nvPr/>
          </p:nvGrpSpPr>
          <p:grpSpPr>
            <a:xfrm>
              <a:off x="1565" y="2659"/>
              <a:ext cx="3130" cy="1588"/>
              <a:chOff x="1700" y="2704"/>
              <a:chExt cx="3130" cy="1588"/>
            </a:xfrm>
          </p:grpSpPr>
          <p:sp>
            <p:nvSpPr>
              <p:cNvPr id="27655" name="Rectangle 48"/>
              <p:cNvSpPr/>
              <p:nvPr/>
            </p:nvSpPr>
            <p:spPr>
              <a:xfrm>
                <a:off x="4558" y="2704"/>
                <a:ext cx="272" cy="1406"/>
              </a:xfrm>
              <a:prstGeom prst="rect">
                <a:avLst/>
              </a:prstGeom>
              <a:solidFill>
                <a:srgbClr val="FFFFFF"/>
              </a:solidFill>
              <a:ln w="9525">
                <a:noFill/>
              </a:ln>
            </p:spPr>
            <p:txBody>
              <a:bodyPr wrap="none" anchor="ctr" anchorCtr="0"/>
              <a:p>
                <a:pPr eaLnBrk="1" hangingPunct="1"/>
                <a:endParaRPr lang="zh-CN" altLang="en-US" dirty="0">
                  <a:latin typeface="Arial" panose="020B0604020202020204" pitchFamily="34" charset="0"/>
                </a:endParaRPr>
              </a:p>
            </p:txBody>
          </p:sp>
          <p:grpSp>
            <p:nvGrpSpPr>
              <p:cNvPr id="27656" name="Group 49"/>
              <p:cNvGrpSpPr/>
              <p:nvPr/>
            </p:nvGrpSpPr>
            <p:grpSpPr>
              <a:xfrm>
                <a:off x="1700" y="2716"/>
                <a:ext cx="3130" cy="1576"/>
                <a:chOff x="1700" y="2505"/>
                <a:chExt cx="3130" cy="1576"/>
              </a:xfrm>
            </p:grpSpPr>
            <p:pic>
              <p:nvPicPr>
                <p:cNvPr id="27658" name="Picture 50" descr="焊接应力分布"/>
                <p:cNvPicPr>
                  <a:picLocks noChangeAspect="1"/>
                </p:cNvPicPr>
                <p:nvPr/>
              </p:nvPicPr>
              <p:blipFill>
                <a:blip r:embed="rId1">
                  <a:lum bright="-4001" contrast="38000"/>
                </a:blip>
                <a:stretch>
                  <a:fillRect/>
                </a:stretch>
              </p:blipFill>
              <p:spPr>
                <a:xfrm>
                  <a:off x="1973" y="2505"/>
                  <a:ext cx="2603" cy="1411"/>
                </a:xfrm>
                <a:prstGeom prst="rect">
                  <a:avLst/>
                </a:prstGeom>
                <a:noFill/>
                <a:ln w="114300">
                  <a:noFill/>
                </a:ln>
              </p:spPr>
            </p:pic>
            <p:sp>
              <p:nvSpPr>
                <p:cNvPr id="27659" name="Text Box 51"/>
                <p:cNvSpPr txBox="1"/>
                <p:nvPr/>
              </p:nvSpPr>
              <p:spPr>
                <a:xfrm>
                  <a:off x="1700" y="3884"/>
                  <a:ext cx="3130" cy="197"/>
                </a:xfrm>
                <a:prstGeom prst="rect">
                  <a:avLst/>
                </a:prstGeom>
                <a:solidFill>
                  <a:srgbClr val="FFFFFF"/>
                </a:solidFill>
                <a:ln w="9525">
                  <a:noFill/>
                </a:ln>
              </p:spPr>
              <p:txBody>
                <a:bodyPr lIns="0" tIns="0" rIns="0" bIns="0"/>
                <a:p>
                  <a:pPr eaLnBrk="1" hangingPunct="1"/>
                  <a:r>
                    <a:rPr lang="en-US" altLang="zh-CN" b="1" dirty="0">
                      <a:solidFill>
                        <a:srgbClr val="000000"/>
                      </a:solidFill>
                      <a:latin typeface="楷体_GB2312" pitchFamily="49" charset="-122"/>
                      <a:ea typeface="楷体_GB2312" pitchFamily="49" charset="-122"/>
                    </a:rPr>
                    <a:t>   </a:t>
                  </a:r>
                  <a:r>
                    <a:rPr lang="zh-CN" altLang="en-US" b="1" dirty="0">
                      <a:solidFill>
                        <a:srgbClr val="000000"/>
                      </a:solidFill>
                      <a:latin typeface="楷体_GB2312" pitchFamily="49" charset="-122"/>
                      <a:ea typeface="楷体_GB2312" pitchFamily="49" charset="-122"/>
                    </a:rPr>
                    <a:t>图</a:t>
                  </a:r>
                  <a:r>
                    <a:rPr lang="en-US" altLang="zh-CN" b="1" dirty="0">
                      <a:solidFill>
                        <a:srgbClr val="000000"/>
                      </a:solidFill>
                      <a:latin typeface="楷体_GB2312" pitchFamily="49" charset="-122"/>
                      <a:ea typeface="楷体_GB2312" pitchFamily="49" charset="-122"/>
                    </a:rPr>
                    <a:t>4-5  </a:t>
                  </a:r>
                  <a:r>
                    <a:rPr lang="zh-CN" altLang="en-US" sz="1600" b="1" dirty="0">
                      <a:solidFill>
                        <a:srgbClr val="000000"/>
                      </a:solidFill>
                      <a:latin typeface="楷体_GB2312" pitchFamily="49" charset="-122"/>
                      <a:ea typeface="楷体_GB2312" pitchFamily="49" charset="-122"/>
                    </a:rPr>
                    <a:t>对接焊缝、圆筒环形焊缝的焊接应力分布</a:t>
                  </a:r>
                  <a:endParaRPr lang="zh-CN" altLang="en-US" sz="1600" b="1" dirty="0">
                    <a:solidFill>
                      <a:srgbClr val="000000"/>
                    </a:solidFill>
                    <a:latin typeface="楷体_GB2312" pitchFamily="49" charset="-122"/>
                    <a:ea typeface="楷体_GB2312" pitchFamily="49" charset="-122"/>
                  </a:endParaRPr>
                </a:p>
              </p:txBody>
            </p:sp>
          </p:grpSp>
          <p:sp>
            <p:nvSpPr>
              <p:cNvPr id="27657" name="Rectangle 52"/>
              <p:cNvSpPr/>
              <p:nvPr/>
            </p:nvSpPr>
            <p:spPr>
              <a:xfrm>
                <a:off x="1701" y="2704"/>
                <a:ext cx="272" cy="1406"/>
              </a:xfrm>
              <a:prstGeom prst="rect">
                <a:avLst/>
              </a:prstGeom>
              <a:solidFill>
                <a:srgbClr val="FFFFFF"/>
              </a:solidFill>
              <a:ln w="9525">
                <a:noFill/>
              </a:ln>
            </p:spPr>
            <p:txBody>
              <a:bodyPr wrap="none" anchor="ctr" anchorCtr="0"/>
              <a:p>
                <a:pPr eaLnBrk="1" hangingPunct="1"/>
                <a:endParaRPr lang="zh-CN" altLang="en-US" dirty="0">
                  <a:latin typeface="Arial" panose="020B0604020202020204" pitchFamily="34" charset="0"/>
                </a:endParaRPr>
              </a:p>
            </p:txBody>
          </p:sp>
        </p:grpSp>
        <p:sp>
          <p:nvSpPr>
            <p:cNvPr id="27654" name="Text Box 53"/>
            <p:cNvSpPr txBox="1"/>
            <p:nvPr/>
          </p:nvSpPr>
          <p:spPr>
            <a:xfrm>
              <a:off x="3286" y="3748"/>
              <a:ext cx="701" cy="144"/>
            </a:xfrm>
            <a:prstGeom prst="rect">
              <a:avLst/>
            </a:prstGeom>
            <a:noFill/>
            <a:ln w="9525">
              <a:noFill/>
            </a:ln>
          </p:spPr>
          <p:txBody>
            <a:bodyPr wrap="none">
              <a:spAutoFit/>
            </a:bodyPr>
            <a:p>
              <a:pPr eaLnBrk="1" hangingPunct="1"/>
              <a:r>
                <a:rPr lang="zh-CN" altLang="en-US" sz="1600" b="1" dirty="0">
                  <a:latin typeface="楷体_GB2312" pitchFamily="49" charset="-122"/>
                  <a:ea typeface="楷体_GB2312" pitchFamily="49" charset="-122"/>
                </a:rPr>
                <a:t>（</a:t>
              </a:r>
              <a:r>
                <a:rPr lang="en-US" altLang="zh-CN" sz="1600" b="1" dirty="0">
                  <a:latin typeface="楷体_GB2312" pitchFamily="49" charset="-122"/>
                  <a:ea typeface="楷体_GB2312" pitchFamily="49" charset="-122"/>
                </a:rPr>
                <a:t>c</a:t>
              </a:r>
              <a:r>
                <a:rPr lang="zh-CN" altLang="en-US" sz="1600" b="1" dirty="0">
                  <a:latin typeface="楷体_GB2312" pitchFamily="49" charset="-122"/>
                  <a:ea typeface="楷体_GB2312" pitchFamily="49" charset="-122"/>
                </a:rPr>
                <a:t>）径向应力</a:t>
              </a:r>
              <a:endParaRPr lang="zh-CN" altLang="en-US" sz="1600" b="1" dirty="0">
                <a:latin typeface="楷体_GB2312" pitchFamily="49" charset="-122"/>
                <a:ea typeface="楷体_GB2312" pitchFamily="49" charset="-122"/>
              </a:endParaRPr>
            </a:p>
          </p:txBody>
        </p:sp>
      </p:grpSp>
      <p:sp>
        <p:nvSpPr>
          <p:cNvPr id="27652" name="Rectangle 56"/>
          <p:cNvSpPr/>
          <p:nvPr/>
        </p:nvSpPr>
        <p:spPr>
          <a:xfrm>
            <a:off x="3419475" y="279400"/>
            <a:ext cx="4321175" cy="701675"/>
          </a:xfrm>
          <a:prstGeom prst="rect">
            <a:avLst/>
          </a:prstGeom>
          <a:noFill/>
          <a:ln w="9525">
            <a:noFill/>
          </a:ln>
        </p:spPr>
        <p:txBody>
          <a:bodyPr>
            <a:spAutoFit/>
          </a:bodyPr>
          <a:p>
            <a:pPr eaLnBrk="1" hangingPunct="1"/>
            <a:r>
              <a:rPr lang="zh-CN" altLang="en-US" sz="4000" b="1" dirty="0">
                <a:solidFill>
                  <a:schemeClr val="tx2"/>
                </a:solidFill>
                <a:latin typeface="Arial" panose="020B0604020202020204" pitchFamily="34" charset="0"/>
                <a:ea typeface="楷体_GB2312" pitchFamily="49" charset="-122"/>
              </a:rPr>
              <a:t>焊接应力与变形</a:t>
            </a:r>
            <a:endParaRPr lang="zh-CN" altLang="en-US" sz="4000" b="1" dirty="0">
              <a:solidFill>
                <a:schemeClr val="tx2"/>
              </a:solidFill>
              <a:latin typeface="Arial" panose="020B0604020202020204" pitchFamily="34" charset="0"/>
              <a:ea typeface="楷体_GB2312" pitchFamily="49"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Rectangle 2"/>
          <p:cNvSpPr>
            <a:spLocks noGrp="1"/>
          </p:cNvSpPr>
          <p:nvPr>
            <p:ph type="body" sz="half" idx="1"/>
          </p:nvPr>
        </p:nvSpPr>
        <p:spPr>
          <a:xfrm>
            <a:off x="0" y="1295400"/>
            <a:ext cx="8748713" cy="2781300"/>
          </a:xfrm>
        </p:spPr>
        <p:txBody>
          <a:bodyPr vert="horz" wrap="square" lIns="91440" tIns="45720" rIns="91440" bIns="45720" anchor="t" anchorCtr="0"/>
          <a:p>
            <a:pPr marL="457200" indent="-457200" eaLnBrk="1" hangingPunct="1">
              <a:lnSpc>
                <a:spcPct val="90000"/>
              </a:lnSpc>
              <a:buClrTx/>
              <a:buSzTx/>
              <a:buFontTx/>
              <a:buNone/>
            </a:pPr>
            <a:r>
              <a:rPr lang="zh-CN" altLang="en-US" sz="2800" b="1" dirty="0">
                <a:latin typeface="华文楷体" panose="02010600040101010101" pitchFamily="2" charset="-122"/>
                <a:ea typeface="华文楷体" panose="02010600040101010101" pitchFamily="2" charset="-122"/>
                <a:cs typeface="华文楷体" panose="02010600040101010101" pitchFamily="2" charset="-122"/>
              </a:rPr>
              <a:t>（</a:t>
            </a:r>
            <a:r>
              <a:rPr lang="en-US" altLang="zh-CN" sz="2800" b="1" dirty="0">
                <a:latin typeface="华文楷体" panose="02010600040101010101" pitchFamily="2" charset="-122"/>
                <a:ea typeface="华文楷体" panose="02010600040101010101" pitchFamily="2" charset="-122"/>
                <a:cs typeface="华文楷体" panose="02010600040101010101" pitchFamily="2" charset="-122"/>
              </a:rPr>
              <a:t>4</a:t>
            </a:r>
            <a:r>
              <a:rPr lang="zh-CN" altLang="en-US" sz="2800" b="1" dirty="0">
                <a:latin typeface="华文楷体" panose="02010600040101010101" pitchFamily="2" charset="-122"/>
                <a:ea typeface="华文楷体" panose="02010600040101010101" pitchFamily="2" charset="-122"/>
                <a:cs typeface="华文楷体" panose="02010600040101010101" pitchFamily="2" charset="-122"/>
              </a:rPr>
              <a:t>）</a:t>
            </a:r>
            <a:r>
              <a:rPr lang="zh-CN" altLang="en-US" sz="2800" b="1" dirty="0">
                <a:solidFill>
                  <a:srgbClr val="CC3300"/>
                </a:solidFill>
                <a:latin typeface="华文楷体" panose="02010600040101010101" pitchFamily="2" charset="-122"/>
                <a:ea typeface="华文楷体" panose="02010600040101010101" pitchFamily="2" charset="-122"/>
                <a:cs typeface="华文楷体" panose="02010600040101010101" pitchFamily="2" charset="-122"/>
              </a:rPr>
              <a:t>减小应力的措施：</a:t>
            </a:r>
            <a:endParaRPr lang="zh-CN" altLang="en-US" sz="2800" b="1" dirty="0">
              <a:solidFill>
                <a:srgbClr val="CC3300"/>
              </a:solidFill>
              <a:latin typeface="华文楷体" panose="02010600040101010101" pitchFamily="2" charset="-122"/>
              <a:ea typeface="华文楷体" panose="02010600040101010101" pitchFamily="2" charset="-122"/>
              <a:cs typeface="华文楷体" panose="02010600040101010101" pitchFamily="2" charset="-122"/>
            </a:endParaRPr>
          </a:p>
          <a:p>
            <a:pPr marL="457200" indent="-457200" eaLnBrk="1" hangingPunct="1">
              <a:lnSpc>
                <a:spcPct val="90000"/>
              </a:lnSpc>
              <a:buClrTx/>
              <a:buSzTx/>
              <a:buFontTx/>
              <a:buNone/>
            </a:pPr>
            <a:r>
              <a:rPr lang="zh-CN" altLang="en-US" sz="2400" b="1" dirty="0">
                <a:latin typeface="华文楷体" panose="02010600040101010101" pitchFamily="2" charset="-122"/>
                <a:ea typeface="华文楷体" panose="02010600040101010101" pitchFamily="2" charset="-122"/>
                <a:cs typeface="华文楷体" panose="02010600040101010101" pitchFamily="2" charset="-122"/>
              </a:rPr>
              <a:t>   </a:t>
            </a:r>
            <a:r>
              <a:rPr lang="zh-CN" altLang="en-US" sz="2800" b="1" dirty="0">
                <a:latin typeface="华文楷体" panose="02010600040101010101" pitchFamily="2" charset="-122"/>
                <a:ea typeface="华文楷体" panose="02010600040101010101" pitchFamily="2" charset="-122"/>
                <a:cs typeface="华文楷体" panose="02010600040101010101" pitchFamily="2" charset="-122"/>
              </a:rPr>
              <a:t>①</a:t>
            </a:r>
            <a:r>
              <a:rPr lang="zh-CN" altLang="en-US" sz="2800" b="1"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减少焊缝数量，尽量减小焊缝截面尺寸和长度。</a:t>
            </a:r>
            <a:r>
              <a:rPr lang="zh-CN" altLang="en-US" sz="2800" b="1" dirty="0">
                <a:latin typeface="华文楷体" panose="02010600040101010101" pitchFamily="2" charset="-122"/>
                <a:ea typeface="华文楷体" panose="02010600040101010101" pitchFamily="2" charset="-122"/>
                <a:cs typeface="华文楷体" panose="02010600040101010101" pitchFamily="2" charset="-122"/>
              </a:rPr>
              <a:t>②</a:t>
            </a:r>
            <a:r>
              <a:rPr lang="zh-CN" altLang="en-US" sz="2800" b="1"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避免过分集中，保证足够的距离，避免交叉，以免出现三向复杂应力。</a:t>
            </a:r>
            <a:endParaRPr lang="zh-CN" altLang="en-US" sz="2800" b="1"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endParaRPr>
          </a:p>
          <a:p>
            <a:pPr marL="457200" indent="-457200" eaLnBrk="1" hangingPunct="1">
              <a:lnSpc>
                <a:spcPct val="90000"/>
              </a:lnSpc>
              <a:buClrTx/>
              <a:buSzTx/>
              <a:buFontTx/>
              <a:buNone/>
            </a:pPr>
            <a:r>
              <a:rPr lang="zh-CN" altLang="en-US" sz="2800" b="1" dirty="0">
                <a:latin typeface="华文楷体" panose="02010600040101010101" pitchFamily="2" charset="-122"/>
                <a:ea typeface="华文楷体" panose="02010600040101010101" pitchFamily="2" charset="-122"/>
                <a:cs typeface="华文楷体" panose="02010600040101010101" pitchFamily="2" charset="-122"/>
              </a:rPr>
              <a:t>   ③</a:t>
            </a:r>
            <a:r>
              <a:rPr lang="zh-CN" altLang="en-US" sz="2800" b="1"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不要布置在高应力区及断面突变的地方，以避免应力集中。</a:t>
            </a:r>
            <a:endParaRPr lang="zh-CN" altLang="en-US" sz="2800" b="1"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endParaRPr>
          </a:p>
          <a:p>
            <a:pPr marL="838200" lvl="1" indent="-381000" eaLnBrk="1" hangingPunct="1">
              <a:lnSpc>
                <a:spcPct val="90000"/>
              </a:lnSpc>
              <a:buNone/>
            </a:pPr>
            <a:endParaRPr lang="en-US" altLang="zh-CN" b="1"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endParaRPr>
          </a:p>
        </p:txBody>
      </p:sp>
      <p:sp>
        <p:nvSpPr>
          <p:cNvPr id="28675" name="Rectangle 14"/>
          <p:cNvSpPr/>
          <p:nvPr/>
        </p:nvSpPr>
        <p:spPr>
          <a:xfrm>
            <a:off x="3708400" y="260350"/>
            <a:ext cx="4321175" cy="701675"/>
          </a:xfrm>
          <a:prstGeom prst="rect">
            <a:avLst/>
          </a:prstGeom>
          <a:noFill/>
          <a:ln w="9525">
            <a:noFill/>
          </a:ln>
        </p:spPr>
        <p:txBody>
          <a:bodyPr>
            <a:spAutoFit/>
          </a:bodyPr>
          <a:p>
            <a:pPr eaLnBrk="1" hangingPunct="1"/>
            <a:r>
              <a:rPr lang="zh-CN" altLang="en-US" sz="4000" b="1" dirty="0">
                <a:solidFill>
                  <a:schemeClr val="tx2"/>
                </a:solidFill>
                <a:latin typeface="Arial" panose="020B0604020202020204" pitchFamily="34" charset="0"/>
                <a:ea typeface="楷体_GB2312" pitchFamily="49" charset="-122"/>
              </a:rPr>
              <a:t>焊接应力与变形</a:t>
            </a:r>
            <a:endParaRPr lang="zh-CN" altLang="en-US" sz="4000" b="1" dirty="0">
              <a:solidFill>
                <a:schemeClr val="tx2"/>
              </a:solidFill>
              <a:latin typeface="Arial" panose="020B0604020202020204" pitchFamily="34" charset="0"/>
              <a:ea typeface="楷体_GB2312" pitchFamily="49" charset="-122"/>
            </a:endParaRPr>
          </a:p>
        </p:txBody>
      </p:sp>
      <p:pic>
        <p:nvPicPr>
          <p:cNvPr id="28676" name="Picture 15"/>
          <p:cNvPicPr>
            <a:picLocks noChangeAspect="1"/>
          </p:cNvPicPr>
          <p:nvPr>
            <p:ph sz="half" idx="2"/>
          </p:nvPr>
        </p:nvPicPr>
        <p:blipFill>
          <a:blip r:embed="rId1"/>
          <a:srcRect/>
          <a:stretch>
            <a:fillRect/>
          </a:stretch>
        </p:blipFill>
        <p:spPr>
          <a:xfrm>
            <a:off x="395288" y="4149725"/>
            <a:ext cx="4895850" cy="2087563"/>
          </a:xfrm>
          <a:solidFill>
            <a:srgbClr val="CCFF33">
              <a:alpha val="100000"/>
            </a:srgbClr>
          </a:solidFill>
        </p:spPr>
      </p:pic>
      <p:pic>
        <p:nvPicPr>
          <p:cNvPr id="28677" name="Picture 16"/>
          <p:cNvPicPr>
            <a:picLocks noChangeAspect="1"/>
          </p:cNvPicPr>
          <p:nvPr/>
        </p:nvPicPr>
        <p:blipFill>
          <a:blip r:embed="rId2"/>
          <a:stretch>
            <a:fillRect/>
          </a:stretch>
        </p:blipFill>
        <p:spPr>
          <a:xfrm>
            <a:off x="5508625" y="3933825"/>
            <a:ext cx="3311525" cy="2517775"/>
          </a:xfrm>
          <a:prstGeom prst="rect">
            <a:avLst/>
          </a:prstGeom>
          <a:solidFill>
            <a:srgbClr val="CCFF33"/>
          </a:solidFill>
          <a:ln w="9525">
            <a:noFill/>
          </a:ln>
        </p:spPr>
      </p:pic>
      <p:sp>
        <p:nvSpPr>
          <p:cNvPr id="6" name="圆角矩形标注 5"/>
          <p:cNvSpPr/>
          <p:nvPr/>
        </p:nvSpPr>
        <p:spPr>
          <a:xfrm>
            <a:off x="2786063" y="3929063"/>
            <a:ext cx="714375" cy="571500"/>
          </a:xfrm>
          <a:prstGeom prst="wedgeRoundRectCallout">
            <a:avLst>
              <a:gd name="adj1" fmla="val 29833"/>
              <a:gd name="adj2" fmla="val 87500"/>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FF0000"/>
                </a:solidFill>
                <a:effectLst/>
                <a:uLnTx/>
                <a:uFillTx/>
                <a:latin typeface="+mn-lt"/>
                <a:ea typeface="+mn-ea"/>
                <a:cs typeface="+mn-cs"/>
              </a:rPr>
              <a:t>应力集中</a:t>
            </a:r>
            <a:endParaRPr kumimoji="0" lang="zh-CN" altLang="en-US" sz="1800" b="0" i="0" u="none" strike="noStrike" kern="1200" cap="none" spc="0" normalizeH="0" baseline="0" noProof="0" dirty="0">
              <a:ln>
                <a:noFill/>
              </a:ln>
              <a:solidFill>
                <a:srgbClr val="FF0000"/>
              </a:solidFill>
              <a:effectLst/>
              <a:uLnTx/>
              <a:uFillTx/>
              <a:latin typeface="+mn-lt"/>
              <a:ea typeface="+mn-ea"/>
              <a:cs typeface="+mn-cs"/>
            </a:endParaRPr>
          </a:p>
        </p:txBody>
      </p:sp>
      <p:sp>
        <p:nvSpPr>
          <p:cNvPr id="7" name="圆角矩形标注 6"/>
          <p:cNvSpPr/>
          <p:nvPr/>
        </p:nvSpPr>
        <p:spPr>
          <a:xfrm>
            <a:off x="5214938" y="4357688"/>
            <a:ext cx="714375" cy="571500"/>
          </a:xfrm>
          <a:prstGeom prst="wedgeRoundRectCallout">
            <a:avLst>
              <a:gd name="adj1" fmla="val 65833"/>
              <a:gd name="adj2" fmla="val 37500"/>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FF0000"/>
                </a:solidFill>
                <a:effectLst/>
                <a:uLnTx/>
                <a:uFillTx/>
                <a:latin typeface="+mn-lt"/>
                <a:ea typeface="+mn-ea"/>
                <a:cs typeface="+mn-cs"/>
              </a:rPr>
              <a:t>高应力</a:t>
            </a:r>
            <a:endParaRPr kumimoji="0" lang="zh-CN" altLang="en-US" sz="1800" b="0" i="0" u="none" strike="noStrike" kern="1200" cap="none" spc="0" normalizeH="0" baseline="0" noProof="0" dirty="0">
              <a:ln>
                <a:noFill/>
              </a:ln>
              <a:solidFill>
                <a:srgbClr val="FF0000"/>
              </a:solidFill>
              <a:effectLst/>
              <a:uLnTx/>
              <a:uFillTx/>
              <a:latin typeface="+mn-lt"/>
              <a:ea typeface="+mn-ea"/>
              <a:cs typeface="+mn-c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2"/>
          <p:cNvSpPr>
            <a:spLocks noGrp="1"/>
          </p:cNvSpPr>
          <p:nvPr>
            <p:ph type="body" sz="half" idx="1"/>
          </p:nvPr>
        </p:nvSpPr>
        <p:spPr>
          <a:xfrm>
            <a:off x="0" y="1295400"/>
            <a:ext cx="8748713" cy="3286125"/>
          </a:xfrm>
        </p:spPr>
        <p:txBody>
          <a:bodyPr vert="horz" wrap="square" lIns="91440" tIns="45720" rIns="91440" bIns="45720" anchor="t" anchorCtr="0"/>
          <a:p>
            <a:pPr marL="533400" indent="-533400" eaLnBrk="1" hangingPunct="1">
              <a:lnSpc>
                <a:spcPct val="80000"/>
              </a:lnSpc>
              <a:buClrTx/>
              <a:buSzTx/>
              <a:buFontTx/>
              <a:buNone/>
            </a:pPr>
            <a:r>
              <a:rPr lang="zh-CN" altLang="en-US" sz="2800" b="1" dirty="0">
                <a:latin typeface="华文楷体" panose="02010600040101010101" pitchFamily="2" charset="-122"/>
                <a:ea typeface="华文楷体" panose="02010600040101010101" pitchFamily="2" charset="-122"/>
                <a:cs typeface="华文楷体" panose="02010600040101010101" pitchFamily="2" charset="-122"/>
              </a:rPr>
              <a:t>（</a:t>
            </a:r>
            <a:r>
              <a:rPr lang="en-US" altLang="zh-CN" sz="2800" b="1" dirty="0">
                <a:latin typeface="华文楷体" panose="02010600040101010101" pitchFamily="2" charset="-122"/>
                <a:ea typeface="华文楷体" panose="02010600040101010101" pitchFamily="2" charset="-122"/>
                <a:cs typeface="华文楷体" panose="02010600040101010101" pitchFamily="2" charset="-122"/>
              </a:rPr>
              <a:t>4</a:t>
            </a:r>
            <a:r>
              <a:rPr lang="zh-CN" altLang="en-US" sz="2800" b="1" dirty="0">
                <a:latin typeface="华文楷体" panose="02010600040101010101" pitchFamily="2" charset="-122"/>
                <a:ea typeface="华文楷体" panose="02010600040101010101" pitchFamily="2" charset="-122"/>
                <a:cs typeface="华文楷体" panose="02010600040101010101" pitchFamily="2" charset="-122"/>
              </a:rPr>
              <a:t>）</a:t>
            </a:r>
            <a:r>
              <a:rPr lang="zh-CN" altLang="en-US" sz="2800" b="1" dirty="0">
                <a:solidFill>
                  <a:srgbClr val="CC3300"/>
                </a:solidFill>
                <a:latin typeface="华文楷体" panose="02010600040101010101" pitchFamily="2" charset="-122"/>
                <a:ea typeface="华文楷体" panose="02010600040101010101" pitchFamily="2" charset="-122"/>
                <a:cs typeface="华文楷体" panose="02010600040101010101" pitchFamily="2" charset="-122"/>
              </a:rPr>
              <a:t>减小应力的措施：</a:t>
            </a:r>
            <a:endParaRPr lang="zh-CN" altLang="en-US" sz="2800" b="1" dirty="0">
              <a:solidFill>
                <a:srgbClr val="CC3300"/>
              </a:solidFill>
              <a:latin typeface="华文楷体" panose="02010600040101010101" pitchFamily="2" charset="-122"/>
              <a:ea typeface="华文楷体" panose="02010600040101010101" pitchFamily="2" charset="-122"/>
              <a:cs typeface="华文楷体" panose="02010600040101010101" pitchFamily="2" charset="-122"/>
            </a:endParaRPr>
          </a:p>
          <a:p>
            <a:pPr marL="914400" lvl="1" indent="-457200" eaLnBrk="1" hangingPunct="1">
              <a:lnSpc>
                <a:spcPct val="80000"/>
              </a:lnSpc>
              <a:buFontTx/>
              <a:buAutoNum type="circleNumDbPlain" startAt="4"/>
            </a:pPr>
            <a:r>
              <a:rPr lang="zh-CN" altLang="en-US" sz="2400" b="1" dirty="0">
                <a:solidFill>
                  <a:srgbClr val="008000"/>
                </a:solidFill>
                <a:latin typeface="华文楷体" panose="02010600040101010101" pitchFamily="2" charset="-122"/>
                <a:ea typeface="华文楷体" panose="02010600040101010101" pitchFamily="2" charset="-122"/>
                <a:cs typeface="华文楷体" panose="02010600040101010101" pitchFamily="2" charset="-122"/>
              </a:rPr>
              <a:t>合理的焊接次序，</a:t>
            </a:r>
            <a:r>
              <a:rPr lang="zh-CN" altLang="en-US" sz="2400" b="1"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在刚性较小的情况下施焊，以便自由收缩而降低焊接应力。应先焊错开的短焊缝，后焊直通长焊缝；焊对接长焊缝时，由中央向两端施捍法；应先焊收缩量较大的焊缝；应先焊在工作时受力较大的焊缝，使内应力合理分布。</a:t>
            </a:r>
            <a:endParaRPr lang="zh-CN" altLang="en-US" sz="2400" b="1"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endParaRPr>
          </a:p>
          <a:p>
            <a:pPr marL="914400" lvl="1" indent="-457200" eaLnBrk="1" hangingPunct="1">
              <a:lnSpc>
                <a:spcPct val="80000"/>
              </a:lnSpc>
              <a:buFontTx/>
              <a:buAutoNum type="circleNumDbPlain" startAt="4"/>
            </a:pPr>
            <a:r>
              <a:rPr lang="zh-CN" altLang="en-US" sz="2400" b="1" dirty="0">
                <a:solidFill>
                  <a:srgbClr val="008000"/>
                </a:solidFill>
                <a:latin typeface="华文楷体" panose="02010600040101010101" pitchFamily="2" charset="-122"/>
                <a:ea typeface="华文楷体" panose="02010600040101010101" pitchFamily="2" charset="-122"/>
                <a:cs typeface="华文楷体" panose="02010600040101010101" pitchFamily="2" charset="-122"/>
              </a:rPr>
              <a:t>焊前预热</a:t>
            </a:r>
            <a:r>
              <a:rPr lang="zh-CN" altLang="en-US" sz="2400" b="1" dirty="0">
                <a:latin typeface="华文楷体" panose="02010600040101010101" pitchFamily="2" charset="-122"/>
                <a:ea typeface="华文楷体" panose="02010600040101010101" pitchFamily="2" charset="-122"/>
                <a:cs typeface="华文楷体" panose="02010600040101010101" pitchFamily="2" charset="-122"/>
              </a:rPr>
              <a:t>，</a:t>
            </a:r>
            <a:r>
              <a:rPr lang="zh-CN" altLang="en-US" sz="2400" b="1"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预热温度为</a:t>
            </a:r>
            <a:r>
              <a:rPr lang="en-US" altLang="zh-CN" sz="2400" b="1"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350</a:t>
            </a:r>
            <a:r>
              <a:rPr lang="zh-CN" altLang="en-US" sz="2400" b="1"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a:t>
            </a:r>
            <a:r>
              <a:rPr lang="en-US" altLang="zh-CN" sz="2400" b="1"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400℃,</a:t>
            </a:r>
            <a:r>
              <a:rPr lang="zh-CN" altLang="en-US" sz="2400" b="1" dirty="0">
                <a:latin typeface="华文楷体" panose="02010600040101010101" pitchFamily="2" charset="-122"/>
                <a:ea typeface="华文楷体" panose="02010600040101010101" pitchFamily="2" charset="-122"/>
                <a:cs typeface="华文楷体" panose="02010600040101010101" pitchFamily="2" charset="-122"/>
              </a:rPr>
              <a:t>减弱各部位温差，从而显著减小焊接应力</a:t>
            </a:r>
            <a:r>
              <a:rPr lang="zh-CN" altLang="en-US" sz="2400" b="1"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rPr>
              <a:t>。</a:t>
            </a:r>
            <a:endParaRPr lang="zh-CN" altLang="en-US" sz="2400" b="1" dirty="0">
              <a:solidFill>
                <a:srgbClr val="000000"/>
              </a:solidFill>
              <a:latin typeface="华文楷体" panose="02010600040101010101" pitchFamily="2" charset="-122"/>
              <a:ea typeface="华文楷体" panose="02010600040101010101" pitchFamily="2" charset="-122"/>
              <a:cs typeface="华文楷体" panose="02010600040101010101" pitchFamily="2" charset="-122"/>
            </a:endParaRPr>
          </a:p>
          <a:p>
            <a:pPr marL="914400" lvl="1" indent="-457200" eaLnBrk="1" hangingPunct="1">
              <a:lnSpc>
                <a:spcPct val="80000"/>
              </a:lnSpc>
              <a:buFontTx/>
              <a:buAutoNum type="circleNumDbPlain" startAt="4"/>
            </a:pPr>
            <a:r>
              <a:rPr lang="zh-CN" altLang="en-US" sz="2400" b="1" dirty="0">
                <a:solidFill>
                  <a:srgbClr val="008000"/>
                </a:solidFill>
                <a:latin typeface="华文楷体" panose="02010600040101010101" pitchFamily="2" charset="-122"/>
                <a:ea typeface="华文楷体" panose="02010600040101010101" pitchFamily="2" charset="-122"/>
                <a:cs typeface="华文楷体" panose="02010600040101010101" pitchFamily="2" charset="-122"/>
              </a:rPr>
              <a:t>焊后热处理</a:t>
            </a:r>
            <a:r>
              <a:rPr lang="zh-CN" altLang="en-US" sz="2400" b="1" dirty="0">
                <a:latin typeface="华文楷体" panose="02010600040101010101" pitchFamily="2" charset="-122"/>
                <a:ea typeface="华文楷体" panose="02010600040101010101" pitchFamily="2" charset="-122"/>
                <a:cs typeface="华文楷体" panose="02010600040101010101" pitchFamily="2" charset="-122"/>
              </a:rPr>
              <a:t>：去应力退火，加热到</a:t>
            </a:r>
            <a:r>
              <a:rPr lang="en-US" altLang="zh-CN" sz="2400" b="1" dirty="0">
                <a:latin typeface="华文楷体" panose="02010600040101010101" pitchFamily="2" charset="-122"/>
                <a:ea typeface="华文楷体" panose="02010600040101010101" pitchFamily="2" charset="-122"/>
                <a:cs typeface="华文楷体" panose="02010600040101010101" pitchFamily="2" charset="-122"/>
              </a:rPr>
              <a:t>600</a:t>
            </a:r>
            <a:r>
              <a:rPr lang="zh-CN" altLang="en-US" sz="2400" b="1" dirty="0">
                <a:latin typeface="华文楷体" panose="02010600040101010101" pitchFamily="2" charset="-122"/>
                <a:ea typeface="华文楷体" panose="02010600040101010101" pitchFamily="2" charset="-122"/>
                <a:cs typeface="华文楷体" panose="02010600040101010101" pitchFamily="2" charset="-122"/>
              </a:rPr>
              <a:t>～</a:t>
            </a:r>
            <a:r>
              <a:rPr lang="en-US" altLang="zh-CN" sz="2400" b="1" dirty="0">
                <a:latin typeface="华文楷体" panose="02010600040101010101" pitchFamily="2" charset="-122"/>
                <a:ea typeface="华文楷体" panose="02010600040101010101" pitchFamily="2" charset="-122"/>
                <a:cs typeface="华文楷体" panose="02010600040101010101" pitchFamily="2" charset="-122"/>
              </a:rPr>
              <a:t>650℃</a:t>
            </a:r>
            <a:r>
              <a:rPr lang="zh-CN" altLang="en-US" sz="2400" b="1" dirty="0">
                <a:latin typeface="华文楷体" panose="02010600040101010101" pitchFamily="2" charset="-122"/>
                <a:ea typeface="华文楷体" panose="02010600040101010101" pitchFamily="2" charset="-122"/>
                <a:cs typeface="华文楷体" panose="02010600040101010101" pitchFamily="2" charset="-122"/>
              </a:rPr>
              <a:t>，保温</a:t>
            </a:r>
            <a:r>
              <a:rPr lang="en-US" altLang="zh-CN" sz="2400" b="1" dirty="0">
                <a:latin typeface="华文楷体" panose="02010600040101010101" pitchFamily="2" charset="-122"/>
                <a:ea typeface="华文楷体" panose="02010600040101010101" pitchFamily="2" charset="-122"/>
                <a:cs typeface="华文楷体" panose="02010600040101010101" pitchFamily="2" charset="-122"/>
              </a:rPr>
              <a:t>1</a:t>
            </a:r>
            <a:r>
              <a:rPr lang="zh-CN" altLang="en-US" sz="2400" b="1" dirty="0">
                <a:latin typeface="华文楷体" panose="02010600040101010101" pitchFamily="2" charset="-122"/>
                <a:ea typeface="华文楷体" panose="02010600040101010101" pitchFamily="2" charset="-122"/>
                <a:cs typeface="华文楷体" panose="02010600040101010101" pitchFamily="2" charset="-122"/>
              </a:rPr>
              <a:t>小时以上，缓冷。</a:t>
            </a:r>
            <a:endParaRPr lang="zh-CN" altLang="en-US" sz="2400" b="1" dirty="0">
              <a:latin typeface="华文楷体" panose="02010600040101010101" pitchFamily="2" charset="-122"/>
              <a:ea typeface="华文楷体" panose="02010600040101010101" pitchFamily="2" charset="-122"/>
              <a:cs typeface="华文楷体" panose="02010600040101010101" pitchFamily="2" charset="-122"/>
            </a:endParaRPr>
          </a:p>
        </p:txBody>
      </p:sp>
      <p:grpSp>
        <p:nvGrpSpPr>
          <p:cNvPr id="29699" name="Group 3"/>
          <p:cNvGrpSpPr/>
          <p:nvPr/>
        </p:nvGrpSpPr>
        <p:grpSpPr>
          <a:xfrm>
            <a:off x="2987675" y="4364990"/>
            <a:ext cx="5960110" cy="2386991"/>
            <a:chOff x="2903" y="2659"/>
            <a:chExt cx="2835" cy="1293"/>
          </a:xfrm>
        </p:grpSpPr>
        <p:pic>
          <p:nvPicPr>
            <p:cNvPr id="29701" name="Picture 4" descr="02"/>
            <p:cNvPicPr>
              <a:picLocks noChangeAspect="1"/>
            </p:cNvPicPr>
            <p:nvPr/>
          </p:nvPicPr>
          <p:blipFill>
            <a:blip r:embed="rId1"/>
            <a:srcRect l="2570" t="7239" r="9163" b="7956"/>
            <a:stretch>
              <a:fillRect/>
            </a:stretch>
          </p:blipFill>
          <p:spPr>
            <a:xfrm>
              <a:off x="2903" y="2659"/>
              <a:ext cx="2835" cy="1293"/>
            </a:xfrm>
            <a:prstGeom prst="rect">
              <a:avLst/>
            </a:prstGeom>
            <a:noFill/>
            <a:ln w="9525">
              <a:noFill/>
            </a:ln>
          </p:spPr>
        </p:pic>
        <p:sp>
          <p:nvSpPr>
            <p:cNvPr id="29702" name="Rectangle 5"/>
            <p:cNvSpPr/>
            <p:nvPr/>
          </p:nvSpPr>
          <p:spPr>
            <a:xfrm>
              <a:off x="3334" y="3743"/>
              <a:ext cx="2131" cy="200"/>
            </a:xfrm>
            <a:prstGeom prst="rect">
              <a:avLst/>
            </a:prstGeom>
            <a:solidFill>
              <a:srgbClr val="FFFFFF"/>
            </a:solidFill>
            <a:ln w="9525">
              <a:noFill/>
            </a:ln>
          </p:spPr>
          <p:txBody>
            <a:bodyPr>
              <a:spAutoFit/>
            </a:bodyPr>
            <a:p>
              <a:pPr eaLnBrk="1" hangingPunct="1"/>
              <a:r>
                <a:rPr lang="zh-CN" altLang="en-US" b="1" dirty="0">
                  <a:solidFill>
                    <a:srgbClr val="000000"/>
                  </a:solidFill>
                  <a:latin typeface="楷体_GB2312" pitchFamily="49" charset="-122"/>
                  <a:ea typeface="楷体_GB2312" pitchFamily="49" charset="-122"/>
                </a:rPr>
                <a:t>图</a:t>
              </a:r>
              <a:r>
                <a:rPr lang="en-US" altLang="zh-CN" b="1" dirty="0">
                  <a:solidFill>
                    <a:srgbClr val="000000"/>
                  </a:solidFill>
                  <a:latin typeface="楷体_GB2312" pitchFamily="49" charset="-122"/>
                  <a:ea typeface="楷体_GB2312" pitchFamily="49" charset="-122"/>
                </a:rPr>
                <a:t>4-6 </a:t>
              </a:r>
              <a:r>
                <a:rPr lang="zh-CN" altLang="en-US" b="1" dirty="0">
                  <a:solidFill>
                    <a:srgbClr val="000000"/>
                  </a:solidFill>
                  <a:latin typeface="楷体_GB2312" pitchFamily="49" charset="-122"/>
                  <a:ea typeface="楷体_GB2312" pitchFamily="49" charset="-122"/>
                </a:rPr>
                <a:t>焊接次序对应力的影响</a:t>
              </a:r>
              <a:endParaRPr lang="zh-CN" altLang="en-US" b="1" dirty="0">
                <a:solidFill>
                  <a:srgbClr val="000000"/>
                </a:solidFill>
                <a:latin typeface="楷体_GB2312" pitchFamily="49" charset="-122"/>
                <a:ea typeface="楷体_GB2312" pitchFamily="49" charset="-122"/>
              </a:endParaRPr>
            </a:p>
          </p:txBody>
        </p:sp>
      </p:grpSp>
      <p:sp>
        <p:nvSpPr>
          <p:cNvPr id="29700" name="Rectangle 6"/>
          <p:cNvSpPr/>
          <p:nvPr/>
        </p:nvSpPr>
        <p:spPr>
          <a:xfrm>
            <a:off x="3563938" y="260350"/>
            <a:ext cx="4321175" cy="701675"/>
          </a:xfrm>
          <a:prstGeom prst="rect">
            <a:avLst/>
          </a:prstGeom>
          <a:noFill/>
          <a:ln w="9525">
            <a:noFill/>
          </a:ln>
        </p:spPr>
        <p:txBody>
          <a:bodyPr>
            <a:spAutoFit/>
          </a:bodyPr>
          <a:p>
            <a:pPr eaLnBrk="1" hangingPunct="1"/>
            <a:r>
              <a:rPr lang="zh-CN" altLang="en-US" sz="4000" b="1" dirty="0">
                <a:solidFill>
                  <a:schemeClr val="tx2"/>
                </a:solidFill>
                <a:latin typeface="Arial" panose="020B0604020202020204" pitchFamily="34" charset="0"/>
                <a:ea typeface="楷体_GB2312" pitchFamily="49" charset="-122"/>
              </a:rPr>
              <a:t>焊接应力与变形</a:t>
            </a:r>
            <a:endParaRPr lang="zh-CN" altLang="en-US" sz="4000" b="1" dirty="0">
              <a:solidFill>
                <a:schemeClr val="tx2"/>
              </a:solidFill>
              <a:latin typeface="Arial" panose="020B0604020202020204" pitchFamily="34" charset="0"/>
              <a:ea typeface="楷体_GB2312" pitchFamily="49"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标题 1"/>
          <p:cNvSpPr>
            <a:spLocks noGrp="1"/>
          </p:cNvSpPr>
          <p:nvPr>
            <p:ph type="title"/>
          </p:nvPr>
        </p:nvSpPr>
        <p:spPr/>
        <p:txBody>
          <a:bodyPr vert="horz" wrap="square" lIns="91440" tIns="45720" rIns="91440" bIns="45720" anchor="ctr" anchorCtr="0"/>
          <a:p>
            <a:pPr eaLnBrk="1" hangingPunct="1"/>
            <a:r>
              <a:rPr lang="zh-CN" altLang="en-US" dirty="0"/>
              <a:t>承上启下</a:t>
            </a:r>
            <a:endParaRPr lang="zh-CN" altLang="en-US" dirty="0"/>
          </a:p>
        </p:txBody>
      </p:sp>
      <p:sp>
        <p:nvSpPr>
          <p:cNvPr id="30723" name="内容占位符 2"/>
          <p:cNvSpPr>
            <a:spLocks noGrp="1"/>
          </p:cNvSpPr>
          <p:nvPr>
            <p:ph idx="1"/>
          </p:nvPr>
        </p:nvSpPr>
        <p:spPr/>
        <p:txBody>
          <a:bodyPr vert="horz" wrap="square" lIns="91440" tIns="45720" rIns="91440" bIns="45720" anchor="t" anchorCtr="0"/>
          <a:p>
            <a:pPr eaLnBrk="1" hangingPunct="1"/>
            <a:r>
              <a:rPr lang="zh-CN" altLang="en-US" dirty="0">
                <a:latin typeface="华文楷体" panose="02010600040101010101" pitchFamily="2" charset="-122"/>
                <a:ea typeface="华文楷体" panose="02010600040101010101" pitchFamily="2" charset="-122"/>
              </a:rPr>
              <a:t>焊接过程就是金属加热的过程，而且是个局部的不均匀的加热冷却过程，焊缝两侧的金属温度随距离呈陡降温度特性，在焊接过程中被强烈加热的金属受到周围金属的约束，无法自由的热涨冷缩，导致内部产生应力。</a:t>
            </a:r>
            <a:endParaRPr lang="en-US" altLang="zh-CN" dirty="0">
              <a:latin typeface="华文楷体" panose="02010600040101010101" pitchFamily="2" charset="-122"/>
              <a:ea typeface="华文楷体" panose="02010600040101010101" pitchFamily="2" charset="-122"/>
            </a:endParaRPr>
          </a:p>
          <a:p>
            <a:pPr eaLnBrk="1" hangingPunct="1"/>
            <a:r>
              <a:rPr lang="zh-CN" altLang="en-US" dirty="0">
                <a:latin typeface="华文楷体" panose="02010600040101010101" pitchFamily="2" charset="-122"/>
                <a:ea typeface="华文楷体" panose="02010600040101010101" pitchFamily="2" charset="-122"/>
              </a:rPr>
              <a:t>由于焊接过程的加热和冷却是不均匀的，母材金属内部的应力也是不均匀的，某些部位的应力会超过金属的屈服极限，形成</a:t>
            </a:r>
            <a:r>
              <a:rPr lang="zh-CN" altLang="en-US" dirty="0">
                <a:latin typeface="华文楷体" panose="02010600040101010101" pitchFamily="2" charset="-122"/>
                <a:ea typeface="华文楷体" panose="02010600040101010101" pitchFamily="2" charset="-122"/>
                <a:hlinkClick r:id="rId1"/>
              </a:rPr>
              <a:t>金属材料</a:t>
            </a:r>
            <a:r>
              <a:rPr lang="zh-CN" altLang="en-US" dirty="0">
                <a:latin typeface="华文楷体" panose="02010600040101010101" pitchFamily="2" charset="-122"/>
                <a:ea typeface="华文楷体" panose="02010600040101010101" pitchFamily="2" charset="-122"/>
              </a:rPr>
              <a:t>塑性变形。</a:t>
            </a:r>
            <a:endParaRPr lang="zh-CN" altLang="en-US" dirty="0">
              <a:latin typeface="华文楷体" panose="02010600040101010101" pitchFamily="2" charset="-122"/>
              <a:ea typeface="华文楷体" panose="02010600040101010101" pitchFamily="2" charset="-122"/>
            </a:endParaRPr>
          </a:p>
        </p:txBody>
      </p:sp>
      <p:grpSp>
        <p:nvGrpSpPr>
          <p:cNvPr id="2" name="Group 46"/>
          <p:cNvGrpSpPr/>
          <p:nvPr/>
        </p:nvGrpSpPr>
        <p:grpSpPr>
          <a:xfrm>
            <a:off x="1873250" y="90488"/>
            <a:ext cx="6767513" cy="3716337"/>
            <a:chOff x="1565" y="2659"/>
            <a:chExt cx="3130" cy="1588"/>
          </a:xfrm>
        </p:grpSpPr>
        <p:grpSp>
          <p:nvGrpSpPr>
            <p:cNvPr id="30725" name="Group 47"/>
            <p:cNvGrpSpPr/>
            <p:nvPr/>
          </p:nvGrpSpPr>
          <p:grpSpPr>
            <a:xfrm>
              <a:off x="1565" y="2659"/>
              <a:ext cx="3130" cy="1588"/>
              <a:chOff x="1700" y="2704"/>
              <a:chExt cx="3130" cy="1588"/>
            </a:xfrm>
          </p:grpSpPr>
          <p:sp>
            <p:nvSpPr>
              <p:cNvPr id="30727" name="Rectangle 48"/>
              <p:cNvSpPr/>
              <p:nvPr/>
            </p:nvSpPr>
            <p:spPr>
              <a:xfrm>
                <a:off x="4558" y="2704"/>
                <a:ext cx="272" cy="1406"/>
              </a:xfrm>
              <a:prstGeom prst="rect">
                <a:avLst/>
              </a:prstGeom>
              <a:solidFill>
                <a:srgbClr val="FFFFFF"/>
              </a:solidFill>
              <a:ln w="9525">
                <a:noFill/>
              </a:ln>
            </p:spPr>
            <p:txBody>
              <a:bodyPr wrap="none" anchor="ctr" anchorCtr="0"/>
              <a:p>
                <a:pPr eaLnBrk="1" hangingPunct="1"/>
                <a:endParaRPr lang="zh-CN" altLang="en-US" dirty="0">
                  <a:latin typeface="Arial" panose="020B0604020202020204" pitchFamily="34" charset="0"/>
                </a:endParaRPr>
              </a:p>
            </p:txBody>
          </p:sp>
          <p:grpSp>
            <p:nvGrpSpPr>
              <p:cNvPr id="30728" name="Group 49"/>
              <p:cNvGrpSpPr/>
              <p:nvPr/>
            </p:nvGrpSpPr>
            <p:grpSpPr>
              <a:xfrm>
                <a:off x="1700" y="2716"/>
                <a:ext cx="3130" cy="1576"/>
                <a:chOff x="1700" y="2505"/>
                <a:chExt cx="3130" cy="1576"/>
              </a:xfrm>
            </p:grpSpPr>
            <p:pic>
              <p:nvPicPr>
                <p:cNvPr id="30730" name="Picture 50" descr="焊接应力分布"/>
                <p:cNvPicPr>
                  <a:picLocks noChangeAspect="1"/>
                </p:cNvPicPr>
                <p:nvPr/>
              </p:nvPicPr>
              <p:blipFill>
                <a:blip r:embed="rId2">
                  <a:lum bright="-4001" contrast="38000"/>
                </a:blip>
                <a:stretch>
                  <a:fillRect/>
                </a:stretch>
              </p:blipFill>
              <p:spPr>
                <a:xfrm>
                  <a:off x="1973" y="2505"/>
                  <a:ext cx="2603" cy="1411"/>
                </a:xfrm>
                <a:prstGeom prst="rect">
                  <a:avLst/>
                </a:prstGeom>
                <a:noFill/>
                <a:ln w="114300">
                  <a:noFill/>
                </a:ln>
              </p:spPr>
            </p:pic>
            <p:sp>
              <p:nvSpPr>
                <p:cNvPr id="30731" name="Text Box 51"/>
                <p:cNvSpPr txBox="1"/>
                <p:nvPr/>
              </p:nvSpPr>
              <p:spPr>
                <a:xfrm>
                  <a:off x="1700" y="3884"/>
                  <a:ext cx="3130" cy="197"/>
                </a:xfrm>
                <a:prstGeom prst="rect">
                  <a:avLst/>
                </a:prstGeom>
                <a:solidFill>
                  <a:srgbClr val="FFFFFF"/>
                </a:solidFill>
                <a:ln w="9525">
                  <a:noFill/>
                </a:ln>
              </p:spPr>
              <p:txBody>
                <a:bodyPr lIns="0" tIns="0" rIns="0" bIns="0"/>
                <a:p>
                  <a:pPr eaLnBrk="1" hangingPunct="1"/>
                  <a:r>
                    <a:rPr lang="en-US" altLang="zh-CN" b="1" dirty="0">
                      <a:solidFill>
                        <a:srgbClr val="000000"/>
                      </a:solidFill>
                      <a:latin typeface="楷体_GB2312" pitchFamily="49" charset="-122"/>
                      <a:ea typeface="楷体_GB2312" pitchFamily="49" charset="-122"/>
                    </a:rPr>
                    <a:t>   </a:t>
                  </a:r>
                  <a:r>
                    <a:rPr lang="zh-CN" altLang="en-US" b="1" dirty="0">
                      <a:solidFill>
                        <a:srgbClr val="000000"/>
                      </a:solidFill>
                      <a:latin typeface="楷体_GB2312" pitchFamily="49" charset="-122"/>
                      <a:ea typeface="楷体_GB2312" pitchFamily="49" charset="-122"/>
                    </a:rPr>
                    <a:t>图</a:t>
                  </a:r>
                  <a:r>
                    <a:rPr lang="en-US" altLang="zh-CN" b="1" dirty="0">
                      <a:solidFill>
                        <a:srgbClr val="000000"/>
                      </a:solidFill>
                      <a:latin typeface="楷体_GB2312" pitchFamily="49" charset="-122"/>
                      <a:ea typeface="楷体_GB2312" pitchFamily="49" charset="-122"/>
                    </a:rPr>
                    <a:t>4-5  </a:t>
                  </a:r>
                  <a:r>
                    <a:rPr lang="zh-CN" altLang="en-US" sz="1600" b="1" dirty="0">
                      <a:solidFill>
                        <a:srgbClr val="000000"/>
                      </a:solidFill>
                      <a:latin typeface="楷体_GB2312" pitchFamily="49" charset="-122"/>
                      <a:ea typeface="楷体_GB2312" pitchFamily="49" charset="-122"/>
                    </a:rPr>
                    <a:t>对接焊缝、圆筒环形焊缝的焊接应力分布</a:t>
                  </a:r>
                  <a:endParaRPr lang="zh-CN" altLang="en-US" sz="1600" b="1" dirty="0">
                    <a:solidFill>
                      <a:srgbClr val="000000"/>
                    </a:solidFill>
                    <a:latin typeface="楷体_GB2312" pitchFamily="49" charset="-122"/>
                    <a:ea typeface="楷体_GB2312" pitchFamily="49" charset="-122"/>
                  </a:endParaRPr>
                </a:p>
              </p:txBody>
            </p:sp>
          </p:grpSp>
          <p:sp>
            <p:nvSpPr>
              <p:cNvPr id="30729" name="Rectangle 52"/>
              <p:cNvSpPr/>
              <p:nvPr/>
            </p:nvSpPr>
            <p:spPr>
              <a:xfrm>
                <a:off x="1701" y="2704"/>
                <a:ext cx="272" cy="1406"/>
              </a:xfrm>
              <a:prstGeom prst="rect">
                <a:avLst/>
              </a:prstGeom>
              <a:solidFill>
                <a:srgbClr val="FFFFFF"/>
              </a:solidFill>
              <a:ln w="9525">
                <a:noFill/>
              </a:ln>
            </p:spPr>
            <p:txBody>
              <a:bodyPr wrap="none" anchor="ctr" anchorCtr="0"/>
              <a:p>
                <a:pPr eaLnBrk="1" hangingPunct="1"/>
                <a:endParaRPr lang="zh-CN" altLang="en-US" dirty="0">
                  <a:latin typeface="Arial" panose="020B0604020202020204" pitchFamily="34" charset="0"/>
                </a:endParaRPr>
              </a:p>
            </p:txBody>
          </p:sp>
        </p:grpSp>
        <p:sp>
          <p:nvSpPr>
            <p:cNvPr id="30726" name="Text Box 53"/>
            <p:cNvSpPr txBox="1"/>
            <p:nvPr/>
          </p:nvSpPr>
          <p:spPr>
            <a:xfrm>
              <a:off x="3286" y="3748"/>
              <a:ext cx="701" cy="144"/>
            </a:xfrm>
            <a:prstGeom prst="rect">
              <a:avLst/>
            </a:prstGeom>
            <a:noFill/>
            <a:ln w="9525">
              <a:noFill/>
            </a:ln>
          </p:spPr>
          <p:txBody>
            <a:bodyPr wrap="none">
              <a:spAutoFit/>
            </a:bodyPr>
            <a:p>
              <a:pPr eaLnBrk="1" hangingPunct="1"/>
              <a:r>
                <a:rPr lang="zh-CN" altLang="en-US" sz="1600" b="1" dirty="0">
                  <a:latin typeface="楷体_GB2312" pitchFamily="49" charset="-122"/>
                  <a:ea typeface="楷体_GB2312" pitchFamily="49" charset="-122"/>
                </a:rPr>
                <a:t>（</a:t>
              </a:r>
              <a:r>
                <a:rPr lang="en-US" altLang="zh-CN" sz="1600" b="1" dirty="0">
                  <a:latin typeface="楷体_GB2312" pitchFamily="49" charset="-122"/>
                  <a:ea typeface="楷体_GB2312" pitchFamily="49" charset="-122"/>
                </a:rPr>
                <a:t>c</a:t>
              </a:r>
              <a:r>
                <a:rPr lang="zh-CN" altLang="en-US" sz="1600" b="1" dirty="0">
                  <a:latin typeface="楷体_GB2312" pitchFamily="49" charset="-122"/>
                  <a:ea typeface="楷体_GB2312" pitchFamily="49" charset="-122"/>
                </a:rPr>
                <a:t>）径向应力</a:t>
              </a:r>
              <a:endParaRPr lang="zh-CN" altLang="en-US" sz="1600" b="1" dirty="0">
                <a:latin typeface="楷体_GB2312" pitchFamily="49" charset="-122"/>
                <a:ea typeface="楷体_GB2312"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Rectangle 3"/>
          <p:cNvSpPr>
            <a:spLocks noGrp="1"/>
          </p:cNvSpPr>
          <p:nvPr>
            <p:ph idx="1"/>
          </p:nvPr>
        </p:nvSpPr>
        <p:spPr>
          <a:xfrm>
            <a:off x="-71437" y="1268413"/>
            <a:ext cx="9180512" cy="3455987"/>
          </a:xfrm>
        </p:spPr>
        <p:txBody>
          <a:bodyPr vert="horz" wrap="square" lIns="91440" tIns="45720" rIns="91440" bIns="45720" anchor="t" anchorCtr="0"/>
          <a:p>
            <a:pPr eaLnBrk="1" hangingPunct="1">
              <a:lnSpc>
                <a:spcPct val="80000"/>
              </a:lnSpc>
            </a:pPr>
            <a:r>
              <a:rPr lang="zh-CN" altLang="en-US" sz="2400" b="1" dirty="0">
                <a:solidFill>
                  <a:srgbClr val="008000"/>
                </a:solidFill>
                <a:latin typeface="华文楷体" panose="02010600040101010101" pitchFamily="2" charset="-122"/>
                <a:ea typeface="华文楷体" panose="02010600040101010101" pitchFamily="2" charset="-122"/>
                <a:cs typeface="华文楷体" panose="02010600040101010101" pitchFamily="2" charset="-122"/>
              </a:rPr>
              <a:t>焊接变形的基本形式：</a:t>
            </a:r>
            <a:endParaRPr lang="zh-CN" altLang="en-US" sz="2400" b="1" dirty="0">
              <a:solidFill>
                <a:srgbClr val="008000"/>
              </a:solidFill>
              <a:latin typeface="华文楷体" panose="02010600040101010101" pitchFamily="2" charset="-122"/>
              <a:ea typeface="华文楷体" panose="02010600040101010101" pitchFamily="2" charset="-122"/>
              <a:cs typeface="华文楷体" panose="02010600040101010101" pitchFamily="2" charset="-122"/>
            </a:endParaRPr>
          </a:p>
          <a:p>
            <a:pPr marL="0" indent="0" eaLnBrk="1" hangingPunct="1">
              <a:lnSpc>
                <a:spcPct val="80000"/>
              </a:lnSpc>
              <a:buNone/>
            </a:pPr>
            <a:r>
              <a:rPr lang="en-US" altLang="zh-CN" sz="2400" b="1" dirty="0">
                <a:solidFill>
                  <a:srgbClr val="CC3300"/>
                </a:solidFill>
                <a:latin typeface="华文楷体" panose="02010600040101010101" pitchFamily="2" charset="-122"/>
                <a:ea typeface="华文楷体" panose="02010600040101010101" pitchFamily="2" charset="-122"/>
                <a:cs typeface="华文楷体" panose="02010600040101010101" pitchFamily="2" charset="-122"/>
              </a:rPr>
              <a:t>  </a:t>
            </a:r>
            <a:r>
              <a:rPr lang="zh-CN" altLang="en-US" sz="2400" b="1" dirty="0">
                <a:solidFill>
                  <a:srgbClr val="CC3300"/>
                </a:solidFill>
                <a:latin typeface="华文楷体" panose="02010600040101010101" pitchFamily="2" charset="-122"/>
                <a:ea typeface="华文楷体" panose="02010600040101010101" pitchFamily="2" charset="-122"/>
                <a:cs typeface="华文楷体" panose="02010600040101010101" pitchFamily="2" charset="-122"/>
              </a:rPr>
              <a:t>收缩变形：</a:t>
            </a:r>
            <a:r>
              <a:rPr lang="zh-CN" altLang="en-US" sz="2400" b="1" dirty="0">
                <a:latin typeface="华文楷体" panose="02010600040101010101" pitchFamily="2" charset="-122"/>
                <a:ea typeface="华文楷体" panose="02010600040101010101" pitchFamily="2" charset="-122"/>
                <a:cs typeface="华文楷体" panose="02010600040101010101" pitchFamily="2" charset="-122"/>
              </a:rPr>
              <a:t>焊缝纵向、横向收缩，使构件纵向、横向尺寸减小。</a:t>
            </a:r>
            <a:endParaRPr lang="zh-CN" altLang="en-US" sz="2400" b="1" dirty="0">
              <a:latin typeface="华文楷体" panose="02010600040101010101" pitchFamily="2" charset="-122"/>
              <a:ea typeface="华文楷体" panose="02010600040101010101" pitchFamily="2" charset="-122"/>
              <a:cs typeface="华文楷体" panose="02010600040101010101" pitchFamily="2" charset="-122"/>
            </a:endParaRPr>
          </a:p>
          <a:p>
            <a:pPr eaLnBrk="1" hangingPunct="1">
              <a:lnSpc>
                <a:spcPct val="80000"/>
              </a:lnSpc>
              <a:buNone/>
            </a:pPr>
            <a:r>
              <a:rPr lang="zh-CN" altLang="en-US" sz="2400" b="1" dirty="0">
                <a:latin typeface="华文楷体" panose="02010600040101010101" pitchFamily="2" charset="-122"/>
                <a:ea typeface="华文楷体" panose="02010600040101010101" pitchFamily="2" charset="-122"/>
                <a:cs typeface="华文楷体" panose="02010600040101010101" pitchFamily="2" charset="-122"/>
              </a:rPr>
              <a:t>  </a:t>
            </a:r>
            <a:r>
              <a:rPr lang="zh-CN" altLang="en-US" sz="2400" b="1" dirty="0">
                <a:solidFill>
                  <a:srgbClr val="CC3300"/>
                </a:solidFill>
                <a:latin typeface="华文楷体" panose="02010600040101010101" pitchFamily="2" charset="-122"/>
                <a:ea typeface="华文楷体" panose="02010600040101010101" pitchFamily="2" charset="-122"/>
                <a:cs typeface="华文楷体" panose="02010600040101010101" pitchFamily="2" charset="-122"/>
              </a:rPr>
              <a:t>角变形：</a:t>
            </a:r>
            <a:r>
              <a:rPr lang="en-US" altLang="zh-CN" sz="2400" b="1" dirty="0">
                <a:latin typeface="华文楷体" panose="02010600040101010101" pitchFamily="2" charset="-122"/>
                <a:ea typeface="华文楷体" panose="02010600040101010101" pitchFamily="2" charset="-122"/>
                <a:cs typeface="华文楷体" panose="02010600040101010101" pitchFamily="2" charset="-122"/>
              </a:rPr>
              <a:t>Y</a:t>
            </a:r>
            <a:r>
              <a:rPr lang="zh-CN" altLang="en-US" sz="2400" b="1" dirty="0">
                <a:latin typeface="华文楷体" panose="02010600040101010101" pitchFamily="2" charset="-122"/>
                <a:ea typeface="华文楷体" panose="02010600040101010101" pitchFamily="2" charset="-122"/>
                <a:cs typeface="华文楷体" panose="02010600040101010101" pitchFamily="2" charset="-122"/>
              </a:rPr>
              <a:t>型坡口对接时，焊接次序不合理，焊缝横向收缩不均匀引起的变形。</a:t>
            </a:r>
            <a:endParaRPr lang="zh-CN" altLang="en-US" sz="2400" b="1" dirty="0">
              <a:latin typeface="华文楷体" panose="02010600040101010101" pitchFamily="2" charset="-122"/>
              <a:ea typeface="华文楷体" panose="02010600040101010101" pitchFamily="2" charset="-122"/>
              <a:cs typeface="华文楷体" panose="02010600040101010101" pitchFamily="2" charset="-122"/>
            </a:endParaRPr>
          </a:p>
          <a:p>
            <a:pPr eaLnBrk="1" hangingPunct="1">
              <a:lnSpc>
                <a:spcPct val="80000"/>
              </a:lnSpc>
              <a:buNone/>
            </a:pPr>
            <a:r>
              <a:rPr lang="zh-CN" altLang="en-US" sz="2400" b="1" dirty="0">
                <a:latin typeface="华文楷体" panose="02010600040101010101" pitchFamily="2" charset="-122"/>
                <a:ea typeface="华文楷体" panose="02010600040101010101" pitchFamily="2" charset="-122"/>
                <a:cs typeface="华文楷体" panose="02010600040101010101" pitchFamily="2" charset="-122"/>
              </a:rPr>
              <a:t>  </a:t>
            </a:r>
            <a:r>
              <a:rPr lang="zh-CN" altLang="en-US" sz="2400" b="1" dirty="0">
                <a:solidFill>
                  <a:srgbClr val="CC3300"/>
                </a:solidFill>
                <a:latin typeface="华文楷体" panose="02010600040101010101" pitchFamily="2" charset="-122"/>
                <a:ea typeface="华文楷体" panose="02010600040101010101" pitchFamily="2" charset="-122"/>
                <a:cs typeface="华文楷体" panose="02010600040101010101" pitchFamily="2" charset="-122"/>
              </a:rPr>
              <a:t>弯曲变形：</a:t>
            </a:r>
            <a:r>
              <a:rPr lang="zh-CN" altLang="en-US" sz="2400" b="1" dirty="0">
                <a:latin typeface="华文楷体" panose="02010600040101010101" pitchFamily="2" charset="-122"/>
                <a:ea typeface="华文楷体" panose="02010600040101010101" pitchFamily="2" charset="-122"/>
                <a:cs typeface="华文楷体" panose="02010600040101010101" pitchFamily="2" charset="-122"/>
              </a:rPr>
              <a:t>焊缝不对称，工艺不合理，焊接</a:t>
            </a:r>
            <a:r>
              <a:rPr lang="en-US" altLang="zh-CN" sz="2400" b="1" dirty="0">
                <a:latin typeface="华文楷体" panose="02010600040101010101" pitchFamily="2" charset="-122"/>
                <a:ea typeface="华文楷体" panose="02010600040101010101" pitchFamily="2" charset="-122"/>
                <a:cs typeface="华文楷体" panose="02010600040101010101" pitchFamily="2" charset="-122"/>
              </a:rPr>
              <a:t>T</a:t>
            </a:r>
            <a:r>
              <a:rPr lang="zh-CN" altLang="en-US" sz="2400" b="1" dirty="0">
                <a:latin typeface="华文楷体" panose="02010600040101010101" pitchFamily="2" charset="-122"/>
                <a:ea typeface="华文楷体" panose="02010600040101010101" pitchFamily="2" charset="-122"/>
                <a:cs typeface="华文楷体" panose="02010600040101010101" pitchFamily="2" charset="-122"/>
              </a:rPr>
              <a:t>形梁时，由于焊缝布置不对称，焊缝纵向收缩引起的变形。</a:t>
            </a:r>
            <a:endParaRPr lang="zh-CN" altLang="en-US" sz="2400" b="1" dirty="0">
              <a:latin typeface="华文楷体" panose="02010600040101010101" pitchFamily="2" charset="-122"/>
              <a:ea typeface="华文楷体" panose="02010600040101010101" pitchFamily="2" charset="-122"/>
              <a:cs typeface="华文楷体" panose="02010600040101010101" pitchFamily="2" charset="-122"/>
            </a:endParaRPr>
          </a:p>
          <a:p>
            <a:pPr eaLnBrk="1" hangingPunct="1">
              <a:lnSpc>
                <a:spcPct val="80000"/>
              </a:lnSpc>
              <a:buNone/>
            </a:pPr>
            <a:r>
              <a:rPr lang="zh-CN" altLang="en-US" sz="2400" b="1" dirty="0">
                <a:latin typeface="华文楷体" panose="02010600040101010101" pitchFamily="2" charset="-122"/>
                <a:ea typeface="华文楷体" panose="02010600040101010101" pitchFamily="2" charset="-122"/>
                <a:cs typeface="华文楷体" panose="02010600040101010101" pitchFamily="2" charset="-122"/>
              </a:rPr>
              <a:t>  </a:t>
            </a:r>
            <a:r>
              <a:rPr lang="zh-CN" altLang="en-US" sz="2400" b="1" dirty="0">
                <a:solidFill>
                  <a:srgbClr val="CC3300"/>
                </a:solidFill>
                <a:latin typeface="华文楷体" panose="02010600040101010101" pitchFamily="2" charset="-122"/>
                <a:ea typeface="华文楷体" panose="02010600040101010101" pitchFamily="2" charset="-122"/>
                <a:cs typeface="华文楷体" panose="02010600040101010101" pitchFamily="2" charset="-122"/>
              </a:rPr>
              <a:t>扭曲变形：</a:t>
            </a:r>
            <a:r>
              <a:rPr lang="zh-CN" altLang="en-US" sz="2400" b="1" dirty="0">
                <a:latin typeface="华文楷体" panose="02010600040101010101" pitchFamily="2" charset="-122"/>
                <a:ea typeface="华文楷体" panose="02010600040101010101" pitchFamily="2" charset="-122"/>
                <a:cs typeface="华文楷体" panose="02010600040101010101" pitchFamily="2" charset="-122"/>
              </a:rPr>
              <a:t>焊接工字梁时，由于焊接顺序和焊接方向不合理引起的变形。</a:t>
            </a:r>
            <a:endParaRPr lang="zh-CN" altLang="en-US" sz="2400" b="1" dirty="0">
              <a:latin typeface="华文楷体" panose="02010600040101010101" pitchFamily="2" charset="-122"/>
              <a:ea typeface="华文楷体" panose="02010600040101010101" pitchFamily="2" charset="-122"/>
              <a:cs typeface="华文楷体" panose="02010600040101010101" pitchFamily="2" charset="-122"/>
            </a:endParaRPr>
          </a:p>
          <a:p>
            <a:pPr eaLnBrk="1" hangingPunct="1">
              <a:lnSpc>
                <a:spcPct val="80000"/>
              </a:lnSpc>
              <a:buNone/>
            </a:pPr>
            <a:r>
              <a:rPr lang="zh-CN" altLang="en-US" sz="2400" b="1" dirty="0">
                <a:latin typeface="华文楷体" panose="02010600040101010101" pitchFamily="2" charset="-122"/>
                <a:ea typeface="华文楷体" panose="02010600040101010101" pitchFamily="2" charset="-122"/>
                <a:cs typeface="华文楷体" panose="02010600040101010101" pitchFamily="2" charset="-122"/>
              </a:rPr>
              <a:t>  </a:t>
            </a:r>
            <a:r>
              <a:rPr lang="zh-CN" altLang="en-US" sz="2400" b="1" dirty="0">
                <a:solidFill>
                  <a:srgbClr val="CC3300"/>
                </a:solidFill>
                <a:latin typeface="华文楷体" panose="02010600040101010101" pitchFamily="2" charset="-122"/>
                <a:ea typeface="华文楷体" panose="02010600040101010101" pitchFamily="2" charset="-122"/>
                <a:cs typeface="华文楷体" panose="02010600040101010101" pitchFamily="2" charset="-122"/>
              </a:rPr>
              <a:t>波浪变形：</a:t>
            </a:r>
            <a:r>
              <a:rPr lang="zh-CN" altLang="en-US" sz="2400" b="1" dirty="0">
                <a:latin typeface="华文楷体" panose="02010600040101010101" pitchFamily="2" charset="-122"/>
                <a:ea typeface="华文楷体" panose="02010600040101010101" pitchFamily="2" charset="-122"/>
                <a:cs typeface="华文楷体" panose="02010600040101010101" pitchFamily="2" charset="-122"/>
              </a:rPr>
              <a:t>焊接薄板时，由于焊缝收缩使薄板局部产生较大压力而失去稳定引起的变形。</a:t>
            </a:r>
            <a:endParaRPr lang="zh-CN" altLang="en-US" sz="2400" b="1" dirty="0">
              <a:latin typeface="华文楷体" panose="02010600040101010101" pitchFamily="2" charset="-122"/>
              <a:ea typeface="华文楷体" panose="02010600040101010101" pitchFamily="2" charset="-122"/>
              <a:cs typeface="华文楷体" panose="02010600040101010101" pitchFamily="2" charset="-122"/>
            </a:endParaRPr>
          </a:p>
          <a:p>
            <a:pPr lvl="1" eaLnBrk="1" hangingPunct="1">
              <a:lnSpc>
                <a:spcPct val="80000"/>
              </a:lnSpc>
            </a:pPr>
            <a:endParaRPr lang="zh-CN" altLang="en-US" sz="2400" b="1" dirty="0">
              <a:latin typeface="华文楷体" panose="02010600040101010101" pitchFamily="2" charset="-122"/>
              <a:ea typeface="华文楷体" panose="02010600040101010101" pitchFamily="2" charset="-122"/>
              <a:cs typeface="华文楷体" panose="02010600040101010101" pitchFamily="2" charset="-122"/>
            </a:endParaRPr>
          </a:p>
          <a:p>
            <a:pPr lvl="1" eaLnBrk="1" hangingPunct="1">
              <a:lnSpc>
                <a:spcPct val="80000"/>
              </a:lnSpc>
            </a:pPr>
            <a:endParaRPr lang="zh-CN" altLang="en-US" sz="2400" b="1" dirty="0">
              <a:latin typeface="华文楷体" panose="02010600040101010101" pitchFamily="2" charset="-122"/>
              <a:ea typeface="华文楷体" panose="02010600040101010101" pitchFamily="2" charset="-122"/>
              <a:cs typeface="华文楷体" panose="02010600040101010101" pitchFamily="2" charset="-122"/>
            </a:endParaRPr>
          </a:p>
        </p:txBody>
      </p:sp>
      <p:pic>
        <p:nvPicPr>
          <p:cNvPr id="31747" name="Picture 12" descr="001"/>
          <p:cNvPicPr>
            <a:picLocks noChangeAspect="1"/>
          </p:cNvPicPr>
          <p:nvPr/>
        </p:nvPicPr>
        <p:blipFill>
          <a:blip r:embed="rId1"/>
          <a:srcRect l="4053" t="6293" r="436"/>
          <a:stretch>
            <a:fillRect/>
          </a:stretch>
        </p:blipFill>
        <p:spPr>
          <a:xfrm>
            <a:off x="481330" y="4580890"/>
            <a:ext cx="8075930" cy="2278380"/>
          </a:xfrm>
          <a:prstGeom prst="rect">
            <a:avLst/>
          </a:prstGeom>
          <a:noFill/>
          <a:ln w="9525">
            <a:noFill/>
          </a:ln>
        </p:spPr>
      </p:pic>
      <p:sp>
        <p:nvSpPr>
          <p:cNvPr id="31748" name="Rectangle 14"/>
          <p:cNvSpPr/>
          <p:nvPr/>
        </p:nvSpPr>
        <p:spPr>
          <a:xfrm>
            <a:off x="3563938" y="260350"/>
            <a:ext cx="4321175" cy="701675"/>
          </a:xfrm>
          <a:prstGeom prst="rect">
            <a:avLst/>
          </a:prstGeom>
          <a:noFill/>
          <a:ln w="9525">
            <a:noFill/>
          </a:ln>
        </p:spPr>
        <p:txBody>
          <a:bodyPr>
            <a:spAutoFit/>
          </a:bodyPr>
          <a:p>
            <a:pPr eaLnBrk="1" hangingPunct="1"/>
            <a:r>
              <a:rPr lang="zh-CN" altLang="en-US" sz="4000" b="1" dirty="0">
                <a:solidFill>
                  <a:schemeClr val="tx2"/>
                </a:solidFill>
                <a:latin typeface="Arial" panose="020B0604020202020204" pitchFamily="34" charset="0"/>
                <a:ea typeface="楷体_GB2312" pitchFamily="49" charset="-122"/>
              </a:rPr>
              <a:t>焊接应力与变形</a:t>
            </a:r>
            <a:endParaRPr lang="zh-CN" altLang="en-US" sz="4000" b="1" dirty="0">
              <a:solidFill>
                <a:schemeClr val="tx2"/>
              </a:solidFill>
              <a:latin typeface="Arial" panose="020B0604020202020204" pitchFamily="34" charset="0"/>
              <a:ea typeface="楷体_GB2312" pitchFamily="49" charset="-122"/>
            </a:endParaRPr>
          </a:p>
        </p:txBody>
      </p:sp>
      <p:sp>
        <p:nvSpPr>
          <p:cNvPr id="31749" name="矩形 4"/>
          <p:cNvSpPr/>
          <p:nvPr/>
        </p:nvSpPr>
        <p:spPr>
          <a:xfrm>
            <a:off x="4572000" y="857250"/>
            <a:ext cx="4572000" cy="646113"/>
          </a:xfrm>
          <a:prstGeom prst="rect">
            <a:avLst/>
          </a:prstGeom>
          <a:noFill/>
          <a:ln w="9525">
            <a:noFill/>
          </a:ln>
        </p:spPr>
        <p:txBody>
          <a:bodyPr>
            <a:spAutoFit/>
          </a:bodyPr>
          <a:p>
            <a:r>
              <a:rPr lang="zh-CN" altLang="en-US" dirty="0">
                <a:latin typeface="Arial" panose="020B0604020202020204" pitchFamily="34" charset="0"/>
                <a:hlinkClick r:id="rId2"/>
              </a:rPr>
              <a:t>焊接应力与变形及其减少和防止措施</a:t>
            </a:r>
            <a:r>
              <a:rPr lang="en-US" altLang="zh-CN" dirty="0">
                <a:latin typeface="Arial" panose="020B0604020202020204" pitchFamily="34" charset="0"/>
                <a:hlinkClick r:id="rId2"/>
              </a:rPr>
              <a:t>_</a:t>
            </a:r>
            <a:r>
              <a:rPr lang="zh-CN" altLang="en-US" dirty="0">
                <a:latin typeface="Arial" panose="020B0604020202020204" pitchFamily="34" charset="0"/>
                <a:hlinkClick r:id="rId2"/>
              </a:rPr>
              <a:t>哔哩哔哩 </a:t>
            </a:r>
            <a:r>
              <a:rPr lang="en-US" altLang="zh-CN" dirty="0">
                <a:latin typeface="Arial" panose="020B0604020202020204" pitchFamily="34" charset="0"/>
                <a:hlinkClick r:id="rId2"/>
              </a:rPr>
              <a:t>(</a:t>
            </a:r>
            <a:r>
              <a:rPr lang="zh-CN" altLang="en-US" dirty="0">
                <a:latin typeface="Arial" panose="020B0604020202020204" pitchFamily="34" charset="0"/>
                <a:hlinkClick r:id="rId2"/>
              </a:rPr>
              <a:t>゜</a:t>
            </a:r>
            <a:r>
              <a:rPr lang="en-US" altLang="zh-CN" dirty="0">
                <a:latin typeface="Arial" panose="020B0604020202020204" pitchFamily="34" charset="0"/>
                <a:hlinkClick r:id="rId2"/>
              </a:rPr>
              <a:t>-</a:t>
            </a:r>
            <a:r>
              <a:rPr lang="zh-CN" altLang="en-US" dirty="0">
                <a:latin typeface="Arial" panose="020B0604020202020204" pitchFamily="34" charset="0"/>
                <a:hlinkClick r:id="rId2"/>
              </a:rPr>
              <a:t>゜</a:t>
            </a:r>
            <a:r>
              <a:rPr lang="en-US" altLang="zh-CN" dirty="0">
                <a:latin typeface="Arial" panose="020B0604020202020204" pitchFamily="34" charset="0"/>
                <a:hlinkClick r:id="rId2"/>
              </a:rPr>
              <a:t>)</a:t>
            </a:r>
            <a:r>
              <a:rPr lang="ja-JP" altLang="en-US" dirty="0">
                <a:latin typeface="Arial" panose="020B0604020202020204" pitchFamily="34" charset="0"/>
                <a:hlinkClick r:id="rId2"/>
              </a:rPr>
              <a:t>つロ </a:t>
            </a:r>
            <a:r>
              <a:rPr lang="zh-CN" altLang="en-US" dirty="0">
                <a:latin typeface="Arial" panose="020B0604020202020204" pitchFamily="34" charset="0"/>
                <a:hlinkClick r:id="rId2"/>
              </a:rPr>
              <a:t>干杯</a:t>
            </a:r>
            <a:r>
              <a:rPr lang="en-US" altLang="zh-CN" dirty="0">
                <a:latin typeface="Arial" panose="020B0604020202020204" pitchFamily="34" charset="0"/>
                <a:hlinkClick r:id="rId2"/>
              </a:rPr>
              <a:t>~-bilibili</a:t>
            </a:r>
            <a:endParaRPr lang="zh-CN" altLang="en-US" dirty="0">
              <a:latin typeface="Arial" panose="020B060402020202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1027"/>
          <p:cNvSpPr>
            <a:spLocks noGrp="1"/>
          </p:cNvSpPr>
          <p:nvPr>
            <p:ph type="body" sz="half" idx="1"/>
          </p:nvPr>
        </p:nvSpPr>
        <p:spPr>
          <a:xfrm>
            <a:off x="25400" y="1268413"/>
            <a:ext cx="8867775" cy="3240087"/>
          </a:xfrm>
        </p:spPr>
        <p:txBody>
          <a:bodyPr vert="horz" wrap="square" lIns="91440" tIns="45720" rIns="91440" bIns="45720" anchor="t" anchorCtr="0"/>
          <a:p>
            <a:pPr eaLnBrk="1" hangingPunct="1">
              <a:buClrTx/>
              <a:buSzTx/>
              <a:buFontTx/>
            </a:pPr>
            <a:r>
              <a:rPr lang="zh-CN" altLang="en-US" b="1" dirty="0">
                <a:solidFill>
                  <a:srgbClr val="CC3300"/>
                </a:solidFill>
                <a:latin typeface="华文楷体" panose="02010600040101010101" pitchFamily="2" charset="-122"/>
                <a:ea typeface="华文楷体" panose="02010600040101010101" pitchFamily="2" charset="-122"/>
              </a:rPr>
              <a:t>预防变形的措施</a:t>
            </a:r>
            <a:endParaRPr lang="zh-CN" altLang="en-US" b="1" dirty="0">
              <a:latin typeface="华文楷体" panose="02010600040101010101" pitchFamily="2" charset="-122"/>
              <a:ea typeface="华文楷体" panose="02010600040101010101" pitchFamily="2" charset="-122"/>
            </a:endParaRPr>
          </a:p>
          <a:p>
            <a:pPr lvl="1" eaLnBrk="1" hangingPunct="1">
              <a:buNone/>
            </a:pPr>
            <a:r>
              <a:rPr lang="zh-CN" altLang="en-US" b="1" dirty="0">
                <a:latin typeface="华文楷体" panose="02010600040101010101" pitchFamily="2" charset="-122"/>
                <a:ea typeface="华文楷体" panose="02010600040101010101" pitchFamily="2" charset="-122"/>
              </a:rPr>
              <a:t>①焊前措施：</a:t>
            </a:r>
            <a:endParaRPr lang="zh-CN" altLang="en-US" b="1" dirty="0">
              <a:latin typeface="华文楷体" panose="02010600040101010101" pitchFamily="2" charset="-122"/>
              <a:ea typeface="华文楷体" panose="02010600040101010101" pitchFamily="2" charset="-122"/>
            </a:endParaRPr>
          </a:p>
          <a:p>
            <a:pPr lvl="1" eaLnBrk="1" hangingPunct="1">
              <a:buNone/>
            </a:pPr>
            <a:r>
              <a:rPr lang="zh-CN" altLang="en-US" b="1" dirty="0">
                <a:solidFill>
                  <a:srgbClr val="008000"/>
                </a:solidFill>
                <a:latin typeface="华文楷体" panose="02010600040101010101" pitchFamily="2" charset="-122"/>
                <a:ea typeface="华文楷体" panose="02010600040101010101" pitchFamily="2" charset="-122"/>
              </a:rPr>
              <a:t>反变形法：</a:t>
            </a:r>
            <a:r>
              <a:rPr lang="zh-CN" altLang="en-US" b="1" dirty="0">
                <a:latin typeface="华文楷体" panose="02010600040101010101" pitchFamily="2" charset="-122"/>
                <a:ea typeface="华文楷体" panose="02010600040101010101" pitchFamily="2" charset="-122"/>
              </a:rPr>
              <a:t>在焊前装配时，将焊件向将要变形的反方向摆放，或人为地变形，控制得当，可使焊件得到正确的形状，防止留下残余变形。</a:t>
            </a:r>
            <a:endParaRPr lang="zh-CN" altLang="en-US" b="1" dirty="0">
              <a:latin typeface="华文楷体" panose="02010600040101010101" pitchFamily="2" charset="-122"/>
              <a:ea typeface="华文楷体" panose="02010600040101010101" pitchFamily="2" charset="-122"/>
            </a:endParaRPr>
          </a:p>
        </p:txBody>
      </p:sp>
      <p:grpSp>
        <p:nvGrpSpPr>
          <p:cNvPr id="32771" name="Group 1061"/>
          <p:cNvGrpSpPr/>
          <p:nvPr/>
        </p:nvGrpSpPr>
        <p:grpSpPr>
          <a:xfrm>
            <a:off x="323850" y="4076700"/>
            <a:ext cx="4178300" cy="2303463"/>
            <a:chOff x="1882" y="2567"/>
            <a:chExt cx="2360" cy="1362"/>
          </a:xfrm>
        </p:grpSpPr>
        <p:grpSp>
          <p:nvGrpSpPr>
            <p:cNvPr id="32776" name="Group 1062"/>
            <p:cNvGrpSpPr/>
            <p:nvPr/>
          </p:nvGrpSpPr>
          <p:grpSpPr>
            <a:xfrm>
              <a:off x="1882" y="2567"/>
              <a:ext cx="2360" cy="1158"/>
              <a:chOff x="3787" y="579"/>
              <a:chExt cx="1490" cy="812"/>
            </a:xfrm>
          </p:grpSpPr>
          <p:pic>
            <p:nvPicPr>
              <p:cNvPr id="32778" name="Picture 1063" descr="平板焊接的反变形"/>
              <p:cNvPicPr>
                <a:picLocks noChangeAspect="1"/>
              </p:cNvPicPr>
              <p:nvPr/>
            </p:nvPicPr>
            <p:blipFill>
              <a:blip r:embed="rId1">
                <a:lum bright="20001" contrast="20000"/>
              </a:blip>
              <a:srcRect r="46735"/>
              <a:stretch>
                <a:fillRect/>
              </a:stretch>
            </p:blipFill>
            <p:spPr>
              <a:xfrm>
                <a:off x="3795" y="1056"/>
                <a:ext cx="1482" cy="335"/>
              </a:xfrm>
              <a:prstGeom prst="rect">
                <a:avLst/>
              </a:prstGeom>
              <a:noFill/>
              <a:ln w="57150">
                <a:noFill/>
              </a:ln>
            </p:spPr>
          </p:pic>
          <p:pic>
            <p:nvPicPr>
              <p:cNvPr id="32779" name="Picture 1064" descr="4-5"/>
              <p:cNvPicPr>
                <a:picLocks noChangeAspect="1"/>
              </p:cNvPicPr>
              <p:nvPr/>
            </p:nvPicPr>
            <p:blipFill>
              <a:blip r:embed="rId2">
                <a:lum bright="-23999" contrast="66000"/>
              </a:blip>
              <a:stretch>
                <a:fillRect/>
              </a:stretch>
            </p:blipFill>
            <p:spPr>
              <a:xfrm>
                <a:off x="3787" y="579"/>
                <a:ext cx="1483" cy="488"/>
              </a:xfrm>
              <a:prstGeom prst="rect">
                <a:avLst/>
              </a:prstGeom>
              <a:noFill/>
              <a:ln w="57150">
                <a:noFill/>
              </a:ln>
            </p:spPr>
          </p:pic>
        </p:grpSp>
        <p:sp>
          <p:nvSpPr>
            <p:cNvPr id="32777" name="Text Box 1065"/>
            <p:cNvSpPr txBox="1"/>
            <p:nvPr/>
          </p:nvSpPr>
          <p:spPr>
            <a:xfrm>
              <a:off x="1883" y="3725"/>
              <a:ext cx="2358" cy="204"/>
            </a:xfrm>
            <a:prstGeom prst="rect">
              <a:avLst/>
            </a:prstGeom>
            <a:solidFill>
              <a:srgbClr val="FFFFFF"/>
            </a:solidFill>
            <a:ln w="9525">
              <a:noFill/>
            </a:ln>
          </p:spPr>
          <p:txBody>
            <a:bodyPr/>
            <a:p>
              <a:pPr eaLnBrk="1" hangingPunct="1"/>
              <a:r>
                <a:rPr lang="en-US" altLang="zh-CN" sz="2000" b="1" dirty="0">
                  <a:latin typeface="楷体_GB2312" pitchFamily="49" charset="-122"/>
                  <a:ea typeface="楷体_GB2312" pitchFamily="49" charset="-122"/>
                </a:rPr>
                <a:t>   </a:t>
              </a:r>
              <a:r>
                <a:rPr lang="zh-CN" altLang="en-US" sz="2000" b="1" dirty="0">
                  <a:latin typeface="楷体_GB2312" pitchFamily="49" charset="-122"/>
                  <a:ea typeface="楷体_GB2312" pitchFamily="49" charset="-122"/>
                </a:rPr>
                <a:t>图</a:t>
              </a:r>
              <a:r>
                <a:rPr lang="en-US" altLang="zh-CN" sz="2000" b="1" dirty="0">
                  <a:latin typeface="楷体_GB2312" pitchFamily="49" charset="-122"/>
                  <a:ea typeface="楷体_GB2312" pitchFamily="49" charset="-122"/>
                </a:rPr>
                <a:t>4.8 </a:t>
              </a:r>
              <a:r>
                <a:rPr lang="zh-CN" altLang="en-US" sz="2000" b="1" dirty="0">
                  <a:latin typeface="楷体_GB2312" pitchFamily="49" charset="-122"/>
                  <a:ea typeface="楷体_GB2312" pitchFamily="49" charset="-122"/>
                </a:rPr>
                <a:t>平板焊接的反变形</a:t>
              </a:r>
              <a:r>
                <a:rPr lang="zh-CN" altLang="en-US" sz="900" dirty="0">
                  <a:latin typeface="Times New Roman" panose="02020603050405020304" pitchFamily="18" charset="0"/>
                </a:rPr>
                <a:t>	 </a:t>
              </a:r>
              <a:endParaRPr lang="zh-CN" altLang="en-US" dirty="0">
                <a:latin typeface="GreekS" pitchFamily="2" charset="0"/>
              </a:endParaRPr>
            </a:p>
          </p:txBody>
        </p:sp>
      </p:grpSp>
      <p:grpSp>
        <p:nvGrpSpPr>
          <p:cNvPr id="32772" name="Group 1068"/>
          <p:cNvGrpSpPr/>
          <p:nvPr/>
        </p:nvGrpSpPr>
        <p:grpSpPr>
          <a:xfrm>
            <a:off x="4716463" y="4292600"/>
            <a:ext cx="4176712" cy="1843088"/>
            <a:chOff x="3038" y="2788"/>
            <a:chExt cx="2427" cy="896"/>
          </a:xfrm>
        </p:grpSpPr>
        <p:pic>
          <p:nvPicPr>
            <p:cNvPr id="32774" name="Picture 1066" descr="图片22_edited"/>
            <p:cNvPicPr>
              <a:picLocks noChangeAspect="1"/>
            </p:cNvPicPr>
            <p:nvPr/>
          </p:nvPicPr>
          <p:blipFill>
            <a:blip r:embed="rId3"/>
            <a:stretch>
              <a:fillRect/>
            </a:stretch>
          </p:blipFill>
          <p:spPr>
            <a:xfrm>
              <a:off x="3038" y="2788"/>
              <a:ext cx="2427" cy="869"/>
            </a:xfrm>
            <a:prstGeom prst="rect">
              <a:avLst/>
            </a:prstGeom>
            <a:noFill/>
            <a:ln w="9525">
              <a:noFill/>
            </a:ln>
          </p:spPr>
        </p:pic>
        <p:sp>
          <p:nvSpPr>
            <p:cNvPr id="32775" name="Rectangle 1067"/>
            <p:cNvSpPr/>
            <p:nvPr/>
          </p:nvSpPr>
          <p:spPr>
            <a:xfrm>
              <a:off x="3061" y="3521"/>
              <a:ext cx="2359" cy="163"/>
            </a:xfrm>
            <a:prstGeom prst="rect">
              <a:avLst/>
            </a:prstGeom>
            <a:solidFill>
              <a:srgbClr val="FFFFFF"/>
            </a:solidFill>
            <a:ln w="9525">
              <a:noFill/>
            </a:ln>
          </p:spPr>
          <p:txBody>
            <a:bodyPr>
              <a:spAutoFit/>
            </a:bodyPr>
            <a:p>
              <a:pPr eaLnBrk="1" hangingPunct="1">
                <a:spcBef>
                  <a:spcPct val="20000"/>
                </a:spcBef>
              </a:pPr>
              <a:r>
                <a:rPr lang="zh-CN" altLang="en-US" sz="1600" b="1" dirty="0">
                  <a:latin typeface="楷体_GB2312" pitchFamily="49" charset="-122"/>
                  <a:ea typeface="楷体_GB2312" pitchFamily="49" charset="-122"/>
                </a:rPr>
                <a:t>图</a:t>
              </a:r>
              <a:r>
                <a:rPr lang="en-US" altLang="zh-CN" sz="1600" b="1" dirty="0">
                  <a:latin typeface="楷体_GB2312" pitchFamily="49" charset="-122"/>
                  <a:ea typeface="楷体_GB2312" pitchFamily="49" charset="-122"/>
                </a:rPr>
                <a:t>4.9 </a:t>
              </a:r>
              <a:r>
                <a:rPr lang="zh-CN" altLang="en-US" sz="1600" b="1" dirty="0">
                  <a:latin typeface="楷体_GB2312" pitchFamily="49" charset="-122"/>
                  <a:ea typeface="楷体_GB2312" pitchFamily="49" charset="-122"/>
                </a:rPr>
                <a:t>防止壳体焊接局部塌陷的反变形</a:t>
              </a:r>
              <a:endParaRPr lang="zh-CN" altLang="en-US" sz="1600" b="1" dirty="0">
                <a:latin typeface="楷体_GB2312" pitchFamily="49" charset="-122"/>
                <a:ea typeface="楷体_GB2312" pitchFamily="49" charset="-122"/>
              </a:endParaRPr>
            </a:p>
          </p:txBody>
        </p:sp>
      </p:grpSp>
      <p:sp>
        <p:nvSpPr>
          <p:cNvPr id="32773" name="Rectangle 1070"/>
          <p:cNvSpPr/>
          <p:nvPr/>
        </p:nvSpPr>
        <p:spPr>
          <a:xfrm>
            <a:off x="3563938" y="260350"/>
            <a:ext cx="4321175" cy="762000"/>
          </a:xfrm>
          <a:prstGeom prst="rect">
            <a:avLst/>
          </a:prstGeom>
          <a:noFill/>
          <a:ln w="9525">
            <a:noFill/>
          </a:ln>
        </p:spPr>
        <p:txBody>
          <a:bodyPr>
            <a:spAutoFit/>
          </a:bodyPr>
          <a:p>
            <a:pPr eaLnBrk="1" hangingPunct="1"/>
            <a:r>
              <a:rPr lang="zh-CN" altLang="en-US" sz="4400" b="1" dirty="0">
                <a:solidFill>
                  <a:schemeClr val="tx2"/>
                </a:solidFill>
                <a:latin typeface="Arial" panose="020B0604020202020204" pitchFamily="34" charset="0"/>
                <a:ea typeface="楷体_GB2312" pitchFamily="49" charset="-122"/>
              </a:rPr>
              <a:t>焊接应力与变形</a:t>
            </a:r>
            <a:endParaRPr lang="zh-CN" altLang="en-US" sz="4400" b="1" dirty="0">
              <a:solidFill>
                <a:schemeClr val="tx2"/>
              </a:solidFill>
              <a:latin typeface="Arial" panose="020B0604020202020204" pitchFamily="34" charset="0"/>
              <a:ea typeface="楷体_GB2312" pitchFamily="49"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Rectangle 3"/>
          <p:cNvSpPr>
            <a:spLocks noGrp="1"/>
          </p:cNvSpPr>
          <p:nvPr>
            <p:ph type="body" sz="half" idx="1"/>
          </p:nvPr>
        </p:nvSpPr>
        <p:spPr>
          <a:xfrm>
            <a:off x="25400" y="1268730"/>
            <a:ext cx="3664585" cy="3673475"/>
          </a:xfrm>
        </p:spPr>
        <p:txBody>
          <a:bodyPr vert="horz" wrap="square" lIns="91440" tIns="45720" rIns="91440" bIns="45720" anchor="t" anchorCtr="0"/>
          <a:p>
            <a:pPr eaLnBrk="1" hangingPunct="1">
              <a:buClrTx/>
              <a:buSzTx/>
              <a:buFontTx/>
            </a:pPr>
            <a:r>
              <a:rPr lang="zh-CN" altLang="en-US" sz="2800" b="1" dirty="0">
                <a:solidFill>
                  <a:srgbClr val="CC3300"/>
                </a:solidFill>
                <a:latin typeface="华文楷体" panose="02010600040101010101" pitchFamily="2" charset="-122"/>
                <a:ea typeface="华文楷体" panose="02010600040101010101" pitchFamily="2" charset="-122"/>
              </a:rPr>
              <a:t>预防变形的措施</a:t>
            </a:r>
            <a:endParaRPr lang="zh-CN" altLang="en-US" sz="2400" b="1" dirty="0">
              <a:latin typeface="华文楷体" panose="02010600040101010101" pitchFamily="2" charset="-122"/>
              <a:ea typeface="华文楷体" panose="02010600040101010101" pitchFamily="2" charset="-122"/>
            </a:endParaRPr>
          </a:p>
          <a:p>
            <a:pPr lvl="1" eaLnBrk="1" hangingPunct="1">
              <a:buNone/>
            </a:pPr>
            <a:r>
              <a:rPr lang="zh-CN" altLang="en-US" sz="2400" b="1" dirty="0">
                <a:latin typeface="华文楷体" panose="02010600040101010101" pitchFamily="2" charset="-122"/>
                <a:ea typeface="华文楷体" panose="02010600040101010101" pitchFamily="2" charset="-122"/>
              </a:rPr>
              <a:t>①焊前措施：</a:t>
            </a:r>
            <a:endParaRPr lang="zh-CN" altLang="en-US" sz="2400" b="1" dirty="0">
              <a:latin typeface="华文楷体" panose="02010600040101010101" pitchFamily="2" charset="-122"/>
              <a:ea typeface="华文楷体" panose="02010600040101010101" pitchFamily="2" charset="-122"/>
            </a:endParaRPr>
          </a:p>
          <a:p>
            <a:pPr lvl="2" eaLnBrk="1" hangingPunct="1">
              <a:buNone/>
            </a:pPr>
            <a:r>
              <a:rPr lang="zh-CN" altLang="en-US" b="1" dirty="0">
                <a:solidFill>
                  <a:srgbClr val="008000"/>
                </a:solidFill>
                <a:latin typeface="华文楷体" panose="02010600040101010101" pitchFamily="2" charset="-122"/>
                <a:ea typeface="华文楷体" panose="02010600040101010101" pitchFamily="2" charset="-122"/>
              </a:rPr>
              <a:t>刚性夹持法：</a:t>
            </a:r>
            <a:r>
              <a:rPr lang="zh-CN" altLang="en-US" b="1" dirty="0">
                <a:latin typeface="华文楷体" panose="02010600040101010101" pitchFamily="2" charset="-122"/>
                <a:ea typeface="华文楷体" panose="02010600040101010101" pitchFamily="2" charset="-122"/>
              </a:rPr>
              <a:t>当焊件刚性较小时，利用外加刚性约束以减小焊件焊后变形的方法。压力容器和球罐焊接时的角变形，通常就采用局部刚性约束法来进行控制。刚性越大，内应力变得更大。</a:t>
            </a:r>
            <a:endParaRPr lang="zh-CN" altLang="en-US" b="1" dirty="0">
              <a:latin typeface="华文楷体" panose="02010600040101010101" pitchFamily="2" charset="-122"/>
              <a:ea typeface="华文楷体" panose="02010600040101010101" pitchFamily="2" charset="-122"/>
            </a:endParaRPr>
          </a:p>
          <a:p>
            <a:pPr lvl="2" eaLnBrk="1" hangingPunct="1">
              <a:buNone/>
            </a:pPr>
            <a:endParaRPr lang="en-US" altLang="zh-CN" b="1" dirty="0">
              <a:latin typeface="华文楷体" panose="02010600040101010101" pitchFamily="2" charset="-122"/>
              <a:ea typeface="华文楷体" panose="02010600040101010101" pitchFamily="2" charset="-122"/>
            </a:endParaRPr>
          </a:p>
        </p:txBody>
      </p:sp>
      <p:sp>
        <p:nvSpPr>
          <p:cNvPr id="33795" name="Rectangle 21"/>
          <p:cNvSpPr/>
          <p:nvPr/>
        </p:nvSpPr>
        <p:spPr>
          <a:xfrm>
            <a:off x="3563938" y="260350"/>
            <a:ext cx="4321175" cy="762000"/>
          </a:xfrm>
          <a:prstGeom prst="rect">
            <a:avLst/>
          </a:prstGeom>
          <a:noFill/>
          <a:ln w="9525">
            <a:noFill/>
          </a:ln>
        </p:spPr>
        <p:txBody>
          <a:bodyPr>
            <a:spAutoFit/>
          </a:bodyPr>
          <a:p>
            <a:pPr eaLnBrk="1" hangingPunct="1"/>
            <a:r>
              <a:rPr lang="zh-CN" altLang="en-US" sz="4400" b="1" dirty="0">
                <a:solidFill>
                  <a:schemeClr val="tx2"/>
                </a:solidFill>
                <a:latin typeface="Arial" panose="020B0604020202020204" pitchFamily="34" charset="0"/>
                <a:ea typeface="楷体_GB2312" pitchFamily="49" charset="-122"/>
              </a:rPr>
              <a:t>焊接应力与变形</a:t>
            </a:r>
            <a:endParaRPr lang="zh-CN" altLang="en-US" sz="4400" b="1" dirty="0">
              <a:solidFill>
                <a:schemeClr val="tx2"/>
              </a:solidFill>
              <a:latin typeface="Arial" panose="020B0604020202020204" pitchFamily="34" charset="0"/>
              <a:ea typeface="楷体_GB2312" pitchFamily="49" charset="-122"/>
            </a:endParaRPr>
          </a:p>
        </p:txBody>
      </p:sp>
      <p:pic>
        <p:nvPicPr>
          <p:cNvPr id="23556" name="图片 23555" descr="v74">
            <a:hlinkClick r:id="rId1" action="ppaction://hlinkfile"/>
          </p:cNvPr>
          <p:cNvPicPr>
            <a:picLocks noChangeAspect="1"/>
          </p:cNvPicPr>
          <p:nvPr/>
        </p:nvPicPr>
        <p:blipFill>
          <a:blip r:embed="rId2"/>
          <a:srcRect l="10559" r="8447"/>
          <a:stretch>
            <a:fillRect/>
          </a:stretch>
        </p:blipFill>
        <p:spPr>
          <a:xfrm>
            <a:off x="3851910" y="908685"/>
            <a:ext cx="3455035" cy="3187700"/>
          </a:xfrm>
          <a:prstGeom prst="rect">
            <a:avLst/>
          </a:prstGeom>
          <a:noFill/>
          <a:ln w="9525">
            <a:noFill/>
          </a:ln>
        </p:spPr>
      </p:pic>
      <p:pic>
        <p:nvPicPr>
          <p:cNvPr id="23557" name="图片 23556" descr="刚性固定焊接"/>
          <p:cNvPicPr>
            <a:picLocks noChangeAspect="1"/>
          </p:cNvPicPr>
          <p:nvPr/>
        </p:nvPicPr>
        <p:blipFill>
          <a:blip r:embed="rId3"/>
          <a:stretch>
            <a:fillRect/>
          </a:stretch>
        </p:blipFill>
        <p:spPr>
          <a:xfrm>
            <a:off x="5435600" y="3849370"/>
            <a:ext cx="3315335" cy="300863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499"/>
                                          </p:stCondLst>
                                        </p:cTn>
                                        <p:tgtEl>
                                          <p:spTgt spid="23556"/>
                                        </p:tgtEl>
                                        <p:attrNameLst>
                                          <p:attrName>style.visibility</p:attrName>
                                        </p:attrNameLst>
                                      </p:cBhvr>
                                      <p:to>
                                        <p:strVal val="visible"/>
                                      </p:to>
                                    </p:set>
                                    <p:anim calcmode="lin" valueType="num">
                                      <p:cBhvr>
                                        <p:cTn id="7" dur="1" fill="hold"/>
                                        <p:tgtEl>
                                          <p:spTgt spid="23556"/>
                                        </p:tgtEl>
                                      </p:cBhvr>
                                    </p:anim>
                                  </p:childTnLst>
                                </p:cTn>
                              </p:par>
                              <p:par>
                                <p:cTn id="8" presetID="53" presetClass="entr" presetSubtype="16" fill="hold" nodeType="withEffect">
                                  <p:stCondLst>
                                    <p:cond delay="0"/>
                                  </p:stCondLst>
                                  <p:childTnLst>
                                    <p:set>
                                      <p:cBhvr>
                                        <p:cTn id="9" dur="1" fill="hold">
                                          <p:stCondLst>
                                            <p:cond delay="0"/>
                                          </p:stCondLst>
                                        </p:cTn>
                                        <p:tgtEl>
                                          <p:spTgt spid="23557"/>
                                        </p:tgtEl>
                                        <p:attrNameLst>
                                          <p:attrName>style.visibility</p:attrName>
                                        </p:attrNameLst>
                                      </p:cBhvr>
                                      <p:to>
                                        <p:strVal val="visible"/>
                                      </p:to>
                                    </p:set>
                                    <p:anim calcmode="lin" valueType="num">
                                      <p:cBhvr>
                                        <p:cTn id="10" dur="500" fill="hold"/>
                                        <p:tgtEl>
                                          <p:spTgt spid="23557"/>
                                        </p:tgtEl>
                                        <p:attrNameLst>
                                          <p:attrName>ppt_w</p:attrName>
                                        </p:attrNameLst>
                                      </p:cBhvr>
                                      <p:tavLst>
                                        <p:tav tm="0">
                                          <p:val>
                                            <p:fltVal val="0.000000"/>
                                          </p:val>
                                        </p:tav>
                                        <p:tav tm="100000">
                                          <p:val>
                                            <p:strVal val="#ppt_w"/>
                                          </p:val>
                                        </p:tav>
                                      </p:tavLst>
                                    </p:anim>
                                    <p:anim calcmode="lin" valueType="num">
                                      <p:cBhvr>
                                        <p:cTn id="11" dur="500" fill="hold"/>
                                        <p:tgtEl>
                                          <p:spTgt spid="23557"/>
                                        </p:tgtEl>
                                        <p:attrNameLst>
                                          <p:attrName>ppt_h</p:attrName>
                                        </p:attrNameLst>
                                      </p:cBhvr>
                                      <p:tavLst>
                                        <p:tav tm="0">
                                          <p:val>
                                            <p:fltVal val="0.000000"/>
                                          </p:val>
                                        </p:tav>
                                        <p:tav tm="100000">
                                          <p:val>
                                            <p:strVal val="#ppt_h"/>
                                          </p:val>
                                        </p:tav>
                                      </p:tavLst>
                                    </p:anim>
                                    <p:animEffect transition="in" filter="fade">
                                      <p:cBhvr>
                                        <p:cTn id="12" dur="500"/>
                                        <p:tgtEl>
                                          <p:spTgt spid="235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Rectangle 2"/>
          <p:cNvSpPr>
            <a:spLocks noGrp="1"/>
          </p:cNvSpPr>
          <p:nvPr>
            <p:ph type="body" sz="half" idx="1"/>
          </p:nvPr>
        </p:nvSpPr>
        <p:spPr>
          <a:xfrm>
            <a:off x="0" y="1773238"/>
            <a:ext cx="8867775" cy="3673475"/>
          </a:xfrm>
        </p:spPr>
        <p:txBody>
          <a:bodyPr vert="horz" wrap="square" lIns="91440" tIns="45720" rIns="91440" bIns="45720" anchor="t" anchorCtr="0"/>
          <a:p>
            <a:pPr eaLnBrk="1" hangingPunct="1">
              <a:buClrTx/>
              <a:buSzTx/>
              <a:buFontTx/>
            </a:pPr>
            <a:r>
              <a:rPr lang="zh-CN" altLang="en-US" sz="2800" b="1" dirty="0">
                <a:solidFill>
                  <a:srgbClr val="CC3300"/>
                </a:solidFill>
                <a:latin typeface="楷体_GB2312" pitchFamily="49" charset="-122"/>
                <a:ea typeface="楷体_GB2312" pitchFamily="49" charset="-122"/>
              </a:rPr>
              <a:t>预防变形的措施</a:t>
            </a:r>
            <a:endParaRPr lang="zh-CN" altLang="en-US" sz="2400" b="1" dirty="0">
              <a:latin typeface="楷体_GB2312" pitchFamily="49" charset="-122"/>
              <a:ea typeface="楷体_GB2312" pitchFamily="49" charset="-122"/>
            </a:endParaRPr>
          </a:p>
          <a:p>
            <a:pPr lvl="1" eaLnBrk="1" hangingPunct="1">
              <a:buNone/>
            </a:pPr>
            <a:r>
              <a:rPr lang="zh-CN" altLang="en-US" sz="2400" b="1" dirty="0">
                <a:latin typeface="楷体_GB2312" pitchFamily="49" charset="-122"/>
                <a:ea typeface="楷体_GB2312" pitchFamily="49" charset="-122"/>
              </a:rPr>
              <a:t>①焊前措施：</a:t>
            </a:r>
            <a:endParaRPr lang="zh-CN" altLang="en-US" sz="2400" b="1" dirty="0">
              <a:latin typeface="楷体_GB2312" pitchFamily="49" charset="-122"/>
              <a:ea typeface="楷体_GB2312" pitchFamily="49" charset="-122"/>
            </a:endParaRPr>
          </a:p>
          <a:p>
            <a:pPr lvl="2" eaLnBrk="1" hangingPunct="1">
              <a:buNone/>
            </a:pPr>
            <a:r>
              <a:rPr lang="zh-CN" altLang="en-US" b="1" dirty="0">
                <a:solidFill>
                  <a:srgbClr val="008000"/>
                </a:solidFill>
                <a:latin typeface="楷体_GB2312" pitchFamily="49" charset="-122"/>
                <a:ea typeface="楷体_GB2312" pitchFamily="49" charset="-122"/>
              </a:rPr>
              <a:t>合理的焊接次序：</a:t>
            </a:r>
            <a:r>
              <a:rPr lang="zh-CN" altLang="en-US" b="1" dirty="0">
                <a:latin typeface="楷体_GB2312" pitchFamily="49" charset="-122"/>
                <a:ea typeface="楷体_GB2312" pitchFamily="49" charset="-122"/>
              </a:rPr>
              <a:t>把大型结构适当地分成几个部件，分别</a:t>
            </a:r>
            <a:endParaRPr lang="zh-CN" altLang="en-US" b="1" dirty="0">
              <a:latin typeface="楷体_GB2312" pitchFamily="49" charset="-122"/>
              <a:ea typeface="楷体_GB2312" pitchFamily="49" charset="-122"/>
            </a:endParaRPr>
          </a:p>
          <a:p>
            <a:pPr lvl="2" eaLnBrk="1" hangingPunct="1">
              <a:buNone/>
            </a:pPr>
            <a:r>
              <a:rPr lang="zh-CN" altLang="en-US" b="1" dirty="0">
                <a:latin typeface="楷体_GB2312" pitchFamily="49" charset="-122"/>
                <a:ea typeface="楷体_GB2312" pitchFamily="49" charset="-122"/>
              </a:rPr>
              <a:t>装配焊接，然后再拼焊成整体。使不对称的焊缝或收缩量</a:t>
            </a:r>
            <a:endParaRPr lang="zh-CN" altLang="en-US" b="1" dirty="0">
              <a:latin typeface="楷体_GB2312" pitchFamily="49" charset="-122"/>
              <a:ea typeface="楷体_GB2312" pitchFamily="49" charset="-122"/>
            </a:endParaRPr>
          </a:p>
          <a:p>
            <a:pPr lvl="2" eaLnBrk="1" hangingPunct="1">
              <a:buNone/>
            </a:pPr>
            <a:r>
              <a:rPr lang="zh-CN" altLang="en-US" b="1" dirty="0">
                <a:latin typeface="楷体_GB2312" pitchFamily="49" charset="-122"/>
                <a:ea typeface="楷体_GB2312" pitchFamily="49" charset="-122"/>
              </a:rPr>
              <a:t>较大的焊缝能自由收缩，控制和减少焊接变形。构件对称</a:t>
            </a:r>
            <a:endParaRPr lang="zh-CN" altLang="en-US" b="1" dirty="0">
              <a:latin typeface="楷体_GB2312" pitchFamily="49" charset="-122"/>
              <a:ea typeface="楷体_GB2312" pitchFamily="49" charset="-122"/>
            </a:endParaRPr>
          </a:p>
          <a:p>
            <a:pPr lvl="2" eaLnBrk="1" hangingPunct="1">
              <a:buNone/>
            </a:pPr>
            <a:r>
              <a:rPr lang="zh-CN" altLang="en-US" b="1" dirty="0">
                <a:latin typeface="楷体_GB2312" pitchFamily="49" charset="-122"/>
                <a:ea typeface="楷体_GB2312" pitchFamily="49" charset="-122"/>
              </a:rPr>
              <a:t>两侧都有焊缝，应使两侧焊缝的收缩能互相抵消或减弱。</a:t>
            </a:r>
            <a:endParaRPr lang="zh-CN" altLang="en-US" b="1" dirty="0">
              <a:latin typeface="楷体_GB2312" pitchFamily="49" charset="-122"/>
              <a:ea typeface="楷体_GB2312" pitchFamily="49" charset="-122"/>
            </a:endParaRPr>
          </a:p>
        </p:txBody>
      </p:sp>
      <p:grpSp>
        <p:nvGrpSpPr>
          <p:cNvPr id="34819" name="Group 3"/>
          <p:cNvGrpSpPr/>
          <p:nvPr/>
        </p:nvGrpSpPr>
        <p:grpSpPr>
          <a:xfrm>
            <a:off x="611188" y="4508500"/>
            <a:ext cx="3168650" cy="2349500"/>
            <a:chOff x="68" y="2568"/>
            <a:chExt cx="1633" cy="1180"/>
          </a:xfrm>
        </p:grpSpPr>
        <p:grpSp>
          <p:nvGrpSpPr>
            <p:cNvPr id="34828" name="Group 4"/>
            <p:cNvGrpSpPr/>
            <p:nvPr/>
          </p:nvGrpSpPr>
          <p:grpSpPr>
            <a:xfrm>
              <a:off x="68" y="2568"/>
              <a:ext cx="1633" cy="858"/>
              <a:chOff x="68" y="2648"/>
              <a:chExt cx="1116" cy="778"/>
            </a:xfrm>
          </p:grpSpPr>
          <p:pic>
            <p:nvPicPr>
              <p:cNvPr id="34830" name="Picture 5" descr="2"/>
              <p:cNvPicPr>
                <a:picLocks noChangeAspect="1"/>
              </p:cNvPicPr>
              <p:nvPr/>
            </p:nvPicPr>
            <p:blipFill>
              <a:blip r:embed="rId1"/>
              <a:stretch>
                <a:fillRect/>
              </a:stretch>
            </p:blipFill>
            <p:spPr>
              <a:xfrm>
                <a:off x="68" y="2648"/>
                <a:ext cx="496" cy="778"/>
              </a:xfrm>
              <a:prstGeom prst="rect">
                <a:avLst/>
              </a:prstGeom>
              <a:noFill/>
              <a:ln w="57150">
                <a:noFill/>
              </a:ln>
            </p:spPr>
          </p:pic>
          <p:pic>
            <p:nvPicPr>
              <p:cNvPr id="34831" name="Picture 6" descr="顺序2"/>
              <p:cNvPicPr>
                <a:picLocks noChangeAspect="1"/>
              </p:cNvPicPr>
              <p:nvPr/>
            </p:nvPicPr>
            <p:blipFill>
              <a:blip r:embed="rId2"/>
              <a:stretch>
                <a:fillRect/>
              </a:stretch>
            </p:blipFill>
            <p:spPr>
              <a:xfrm>
                <a:off x="694" y="2648"/>
                <a:ext cx="490" cy="762"/>
              </a:xfrm>
              <a:prstGeom prst="rect">
                <a:avLst/>
              </a:prstGeom>
              <a:noFill/>
              <a:ln w="76200">
                <a:noFill/>
              </a:ln>
            </p:spPr>
          </p:pic>
        </p:grpSp>
        <p:sp>
          <p:nvSpPr>
            <p:cNvPr id="34829" name="Text Box 7"/>
            <p:cNvSpPr txBox="1"/>
            <p:nvPr/>
          </p:nvSpPr>
          <p:spPr>
            <a:xfrm>
              <a:off x="157" y="3494"/>
              <a:ext cx="1521" cy="254"/>
            </a:xfrm>
            <a:prstGeom prst="rect">
              <a:avLst/>
            </a:prstGeom>
            <a:noFill/>
            <a:ln w="9525">
              <a:noFill/>
            </a:ln>
          </p:spPr>
          <p:txBody>
            <a:bodyPr/>
            <a:p>
              <a:pPr eaLnBrk="1" hangingPunct="1"/>
              <a:r>
                <a:rPr lang="zh-CN" altLang="en-US" b="1" dirty="0">
                  <a:latin typeface="楷体_GB2312" pitchFamily="49" charset="-122"/>
                  <a:ea typeface="楷体_GB2312" pitchFamily="49" charset="-122"/>
                </a:rPr>
                <a:t>图</a:t>
              </a:r>
              <a:r>
                <a:rPr lang="en-US" altLang="zh-CN" b="1" dirty="0">
                  <a:latin typeface="楷体_GB2312" pitchFamily="49" charset="-122"/>
                  <a:ea typeface="楷体_GB2312" pitchFamily="49" charset="-122"/>
                </a:rPr>
                <a:t>4.11 </a:t>
              </a:r>
              <a:r>
                <a:rPr lang="zh-CN" altLang="en-US" b="1" dirty="0">
                  <a:latin typeface="楷体_GB2312" pitchFamily="49" charset="-122"/>
                  <a:ea typeface="楷体_GB2312" pitchFamily="49" charset="-122"/>
                </a:rPr>
                <a:t>梁的焊接次序</a:t>
              </a:r>
              <a:r>
                <a:rPr lang="zh-CN" altLang="en-US" sz="900" dirty="0">
                  <a:latin typeface="Times New Roman" panose="02020603050405020304" pitchFamily="18" charset="0"/>
                </a:rPr>
                <a:t>	</a:t>
              </a:r>
              <a:endParaRPr lang="zh-CN" altLang="en-US" sz="1000" dirty="0">
                <a:latin typeface="Times New Roman" panose="02020603050405020304" pitchFamily="18" charset="0"/>
              </a:endParaRPr>
            </a:p>
            <a:p>
              <a:pPr eaLnBrk="1" hangingPunct="1"/>
              <a:endParaRPr lang="en-US" altLang="zh-CN" dirty="0">
                <a:latin typeface="GreekS" pitchFamily="2" charset="0"/>
              </a:endParaRPr>
            </a:p>
          </p:txBody>
        </p:sp>
      </p:grpSp>
      <p:grpSp>
        <p:nvGrpSpPr>
          <p:cNvPr id="34820" name="Group 8"/>
          <p:cNvGrpSpPr/>
          <p:nvPr/>
        </p:nvGrpSpPr>
        <p:grpSpPr>
          <a:xfrm>
            <a:off x="4932363" y="1052513"/>
            <a:ext cx="3952875" cy="1693862"/>
            <a:chOff x="2885" y="2866"/>
            <a:chExt cx="2490" cy="1067"/>
          </a:xfrm>
        </p:grpSpPr>
        <p:pic>
          <p:nvPicPr>
            <p:cNvPr id="34826" name="Picture 9" descr="图片1_edited"/>
            <p:cNvPicPr>
              <a:picLocks noChangeAspect="1"/>
            </p:cNvPicPr>
            <p:nvPr/>
          </p:nvPicPr>
          <p:blipFill>
            <a:blip r:embed="rId3"/>
            <a:stretch>
              <a:fillRect/>
            </a:stretch>
          </p:blipFill>
          <p:spPr>
            <a:xfrm>
              <a:off x="2885" y="2866"/>
              <a:ext cx="2490" cy="1062"/>
            </a:xfrm>
            <a:prstGeom prst="rect">
              <a:avLst/>
            </a:prstGeom>
            <a:noFill/>
            <a:ln w="9525">
              <a:noFill/>
            </a:ln>
          </p:spPr>
        </p:pic>
        <p:sp>
          <p:nvSpPr>
            <p:cNvPr id="34827" name="Rectangle 10"/>
            <p:cNvSpPr/>
            <p:nvPr/>
          </p:nvSpPr>
          <p:spPr>
            <a:xfrm>
              <a:off x="3244" y="3702"/>
              <a:ext cx="1859" cy="231"/>
            </a:xfrm>
            <a:prstGeom prst="rect">
              <a:avLst/>
            </a:prstGeom>
            <a:solidFill>
              <a:srgbClr val="FFFFFF"/>
            </a:solidFill>
            <a:ln w="9525">
              <a:noFill/>
            </a:ln>
          </p:spPr>
          <p:txBody>
            <a:bodyPr wrap="none">
              <a:spAutoFit/>
            </a:bodyPr>
            <a:p>
              <a:pPr eaLnBrk="1" hangingPunct="1">
                <a:spcBef>
                  <a:spcPct val="20000"/>
                </a:spcBef>
              </a:pPr>
              <a:r>
                <a:rPr lang="ja-JP" altLang="en-US" b="1" dirty="0">
                  <a:latin typeface="楷体_GB2312" pitchFamily="49" charset="-122"/>
                  <a:ea typeface="楷体_GB2312" pitchFamily="49" charset="-122"/>
                </a:rPr>
                <a:t>图</a:t>
              </a:r>
              <a:r>
                <a:rPr lang="en-US" altLang="zh-CN" b="1" dirty="0">
                  <a:latin typeface="楷体_GB2312" pitchFamily="49" charset="-122"/>
                  <a:ea typeface="楷体_GB2312" pitchFamily="49" charset="-122"/>
                </a:rPr>
                <a:t>4</a:t>
              </a:r>
              <a:r>
                <a:rPr lang="en-US" altLang="ja-JP" b="1" dirty="0">
                  <a:latin typeface="楷体_GB2312" pitchFamily="49" charset="-122"/>
                  <a:ea typeface="楷体_GB2312" pitchFamily="49" charset="-122"/>
                </a:rPr>
                <a:t>.1</a:t>
              </a:r>
              <a:r>
                <a:rPr lang="en-US" altLang="zh-CN" b="1" dirty="0">
                  <a:latin typeface="楷体_GB2312" pitchFamily="49" charset="-122"/>
                  <a:ea typeface="楷体_GB2312" pitchFamily="49" charset="-122"/>
                </a:rPr>
                <a:t>0</a:t>
              </a:r>
              <a:r>
                <a:rPr lang="en-US" altLang="ja-JP" b="1" dirty="0">
                  <a:latin typeface="楷体_GB2312" pitchFamily="49" charset="-122"/>
                  <a:ea typeface="楷体_GB2312" pitchFamily="49" charset="-122"/>
                </a:rPr>
                <a:t> </a:t>
              </a:r>
              <a:r>
                <a:rPr lang="zh-CN" altLang="en-US" b="1" dirty="0">
                  <a:latin typeface="楷体_GB2312" pitchFamily="49" charset="-122"/>
                  <a:ea typeface="楷体_GB2312" pitchFamily="49" charset="-122"/>
                </a:rPr>
                <a:t>双</a:t>
              </a:r>
              <a:r>
                <a:rPr lang="en-US" altLang="ja-JP" b="1" dirty="0">
                  <a:latin typeface="楷体_GB2312" pitchFamily="49" charset="-122"/>
                  <a:ea typeface="楷体_GB2312" pitchFamily="49" charset="-122"/>
                </a:rPr>
                <a:t>X</a:t>
              </a:r>
              <a:r>
                <a:rPr lang="ja-JP" altLang="en-US" b="1" dirty="0">
                  <a:latin typeface="楷体_GB2312" pitchFamily="49" charset="-122"/>
                  <a:ea typeface="楷体_GB2312" pitchFamily="49" charset="-122"/>
                </a:rPr>
                <a:t>型坡口焊接次序</a:t>
              </a:r>
              <a:endParaRPr lang="zh-CN" altLang="en-US" b="1" dirty="0">
                <a:latin typeface="楷体_GB2312" pitchFamily="49" charset="-122"/>
                <a:ea typeface="楷体_GB2312" pitchFamily="49" charset="-122"/>
              </a:endParaRPr>
            </a:p>
          </p:txBody>
        </p:sp>
      </p:grpSp>
      <p:sp>
        <p:nvSpPr>
          <p:cNvPr id="34821" name="Rectangle 11"/>
          <p:cNvSpPr/>
          <p:nvPr/>
        </p:nvSpPr>
        <p:spPr>
          <a:xfrm>
            <a:off x="3563938" y="260350"/>
            <a:ext cx="4321175" cy="762000"/>
          </a:xfrm>
          <a:prstGeom prst="rect">
            <a:avLst/>
          </a:prstGeom>
          <a:noFill/>
          <a:ln w="9525">
            <a:noFill/>
          </a:ln>
        </p:spPr>
        <p:txBody>
          <a:bodyPr>
            <a:spAutoFit/>
          </a:bodyPr>
          <a:p>
            <a:pPr eaLnBrk="1" hangingPunct="1"/>
            <a:r>
              <a:rPr lang="zh-CN" altLang="en-US" sz="4400" b="1" dirty="0">
                <a:solidFill>
                  <a:schemeClr val="tx2"/>
                </a:solidFill>
                <a:latin typeface="Arial" panose="020B0604020202020204" pitchFamily="34" charset="0"/>
                <a:ea typeface="楷体_GB2312" pitchFamily="49" charset="-122"/>
              </a:rPr>
              <a:t>焊接应力与变形</a:t>
            </a:r>
            <a:endParaRPr lang="zh-CN" altLang="en-US" sz="4400" b="1" dirty="0">
              <a:solidFill>
                <a:schemeClr val="tx2"/>
              </a:solidFill>
              <a:latin typeface="Arial" panose="020B0604020202020204" pitchFamily="34" charset="0"/>
              <a:ea typeface="楷体_GB2312" pitchFamily="49" charset="-122"/>
            </a:endParaRPr>
          </a:p>
        </p:txBody>
      </p:sp>
      <p:grpSp>
        <p:nvGrpSpPr>
          <p:cNvPr id="34822" name="Group 14"/>
          <p:cNvGrpSpPr/>
          <p:nvPr/>
        </p:nvGrpSpPr>
        <p:grpSpPr>
          <a:xfrm>
            <a:off x="4284663" y="4508500"/>
            <a:ext cx="4859337" cy="2309813"/>
            <a:chOff x="2903" y="2659"/>
            <a:chExt cx="2835" cy="1293"/>
          </a:xfrm>
        </p:grpSpPr>
        <p:pic>
          <p:nvPicPr>
            <p:cNvPr id="34824" name="Picture 15" descr="02"/>
            <p:cNvPicPr>
              <a:picLocks noChangeAspect="1"/>
            </p:cNvPicPr>
            <p:nvPr/>
          </p:nvPicPr>
          <p:blipFill>
            <a:blip r:embed="rId4"/>
            <a:srcRect l="2570" t="7239" r="9163" b="7956"/>
            <a:stretch>
              <a:fillRect/>
            </a:stretch>
          </p:blipFill>
          <p:spPr>
            <a:xfrm>
              <a:off x="2903" y="2659"/>
              <a:ext cx="2835" cy="1293"/>
            </a:xfrm>
            <a:prstGeom prst="rect">
              <a:avLst/>
            </a:prstGeom>
            <a:noFill/>
            <a:ln w="9525">
              <a:noFill/>
            </a:ln>
          </p:spPr>
        </p:pic>
        <p:sp>
          <p:nvSpPr>
            <p:cNvPr id="34825" name="Rectangle 16"/>
            <p:cNvSpPr/>
            <p:nvPr/>
          </p:nvSpPr>
          <p:spPr>
            <a:xfrm>
              <a:off x="3334" y="3743"/>
              <a:ext cx="2131" cy="205"/>
            </a:xfrm>
            <a:prstGeom prst="rect">
              <a:avLst/>
            </a:prstGeom>
            <a:solidFill>
              <a:srgbClr val="FFFFFF"/>
            </a:solidFill>
            <a:ln w="9525">
              <a:noFill/>
            </a:ln>
          </p:spPr>
          <p:txBody>
            <a:bodyPr>
              <a:spAutoFit/>
            </a:bodyPr>
            <a:p>
              <a:pPr eaLnBrk="1" hangingPunct="1"/>
              <a:r>
                <a:rPr lang="zh-CN" altLang="en-US" b="1" dirty="0">
                  <a:solidFill>
                    <a:srgbClr val="000000"/>
                  </a:solidFill>
                  <a:latin typeface="楷体_GB2312" pitchFamily="49" charset="-122"/>
                  <a:ea typeface="楷体_GB2312" pitchFamily="49" charset="-122"/>
                </a:rPr>
                <a:t>图</a:t>
              </a:r>
              <a:r>
                <a:rPr lang="en-US" altLang="zh-CN" b="1" dirty="0">
                  <a:solidFill>
                    <a:srgbClr val="000000"/>
                  </a:solidFill>
                  <a:latin typeface="楷体_GB2312" pitchFamily="49" charset="-122"/>
                  <a:ea typeface="楷体_GB2312" pitchFamily="49" charset="-122"/>
                </a:rPr>
                <a:t>4-6 </a:t>
              </a:r>
              <a:r>
                <a:rPr lang="zh-CN" altLang="en-US" b="1" dirty="0">
                  <a:solidFill>
                    <a:srgbClr val="000000"/>
                  </a:solidFill>
                  <a:latin typeface="楷体_GB2312" pitchFamily="49" charset="-122"/>
                  <a:ea typeface="楷体_GB2312" pitchFamily="49" charset="-122"/>
                </a:rPr>
                <a:t>焊接次序对应力的影响</a:t>
              </a:r>
              <a:endParaRPr lang="zh-CN" altLang="en-US" b="1" dirty="0">
                <a:solidFill>
                  <a:srgbClr val="000000"/>
                </a:solidFill>
                <a:latin typeface="楷体_GB2312" pitchFamily="49" charset="-122"/>
                <a:ea typeface="楷体_GB2312" pitchFamily="49" charset="-122"/>
              </a:endParaRPr>
            </a:p>
          </p:txBody>
        </p:sp>
      </p:grpSp>
      <p:sp>
        <p:nvSpPr>
          <p:cNvPr id="15" name="圆角矩形标注 14"/>
          <p:cNvSpPr/>
          <p:nvPr/>
        </p:nvSpPr>
        <p:spPr>
          <a:xfrm>
            <a:off x="142875" y="2714625"/>
            <a:ext cx="642938" cy="2143125"/>
          </a:xfrm>
          <a:prstGeom prst="wedgeRoundRectCallout">
            <a:avLst>
              <a:gd name="adj1" fmla="val 65092"/>
              <a:gd name="adj2" fmla="val 34056"/>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FF0000"/>
                </a:solidFill>
                <a:effectLst/>
                <a:uLnTx/>
                <a:uFillTx/>
                <a:latin typeface="+mn-lt"/>
                <a:ea typeface="+mn-ea"/>
                <a:cs typeface="+mn-cs"/>
              </a:rPr>
              <a:t>实际也是反变形</a:t>
            </a:r>
            <a:endParaRPr kumimoji="0" lang="en-US" altLang="zh-CN" sz="1800" b="0" i="0" u="none" strike="noStrike" kern="1200" cap="none" spc="0" normalizeH="0" baseline="0" noProof="0" dirty="0">
              <a:ln>
                <a:noFill/>
              </a:ln>
              <a:solidFill>
                <a:srgbClr val="FF0000"/>
              </a:solidFill>
              <a:effectLst/>
              <a:uLnTx/>
              <a:uFillTx/>
              <a:latin typeface="+mn-lt"/>
              <a:ea typeface="+mn-ea"/>
              <a:cs typeface="+mn-cs"/>
            </a:endParaRPr>
          </a:p>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FF0000"/>
                </a:solidFill>
                <a:effectLst/>
                <a:uLnTx/>
                <a:uFillTx/>
                <a:latin typeface="+mn-lt"/>
                <a:ea typeface="+mn-ea"/>
                <a:cs typeface="+mn-cs"/>
              </a:rPr>
              <a:t>法</a:t>
            </a:r>
            <a:endParaRPr kumimoji="0" lang="zh-CN" altLang="en-US" sz="1800" b="0" i="0" u="none" strike="noStrike" kern="1200" cap="none" spc="0" normalizeH="0" baseline="0" noProof="0" dirty="0">
              <a:ln>
                <a:noFill/>
              </a:ln>
              <a:solidFill>
                <a:srgbClr val="FF0000"/>
              </a:solidFill>
              <a:effectLst/>
              <a:uLnTx/>
              <a:uFillTx/>
              <a:latin typeface="+mn-lt"/>
              <a:ea typeface="+mn-ea"/>
              <a:cs typeface="+mn-c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Rectangle 5"/>
          <p:cNvSpPr/>
          <p:nvPr/>
        </p:nvSpPr>
        <p:spPr>
          <a:xfrm>
            <a:off x="252413" y="1412875"/>
            <a:ext cx="5111750" cy="5029200"/>
          </a:xfrm>
          <a:prstGeom prst="rect">
            <a:avLst/>
          </a:prstGeom>
          <a:noFill/>
          <a:ln w="9525">
            <a:noFill/>
          </a:ln>
        </p:spPr>
        <p:txBody>
          <a:bodyPr>
            <a:spAutoFit/>
          </a:bodyPr>
          <a:p>
            <a:pPr eaLnBrk="1" hangingPunct="1"/>
            <a:r>
              <a:rPr lang="en-US" altLang="zh-CN" sz="2800" b="1" dirty="0">
                <a:solidFill>
                  <a:srgbClr val="FF0000"/>
                </a:solidFill>
                <a:latin typeface="楷体_GB2312" pitchFamily="49" charset="-122"/>
                <a:ea typeface="楷体_GB2312" pitchFamily="49" charset="-122"/>
              </a:rPr>
              <a:t>2.</a:t>
            </a:r>
            <a:r>
              <a:rPr lang="zh-CN" altLang="en-US" sz="2800" b="1" dirty="0">
                <a:solidFill>
                  <a:srgbClr val="FF0000"/>
                </a:solidFill>
                <a:latin typeface="楷体_GB2312" pitchFamily="49" charset="-122"/>
                <a:ea typeface="楷体_GB2312" pitchFamily="49" charset="-122"/>
              </a:rPr>
              <a:t>焊后措施：</a:t>
            </a:r>
            <a:endParaRPr lang="zh-CN" altLang="en-US" sz="2800" b="1" dirty="0">
              <a:solidFill>
                <a:srgbClr val="FF0000"/>
              </a:solidFill>
              <a:latin typeface="楷体_GB2312" pitchFamily="49" charset="-122"/>
              <a:ea typeface="楷体_GB2312" pitchFamily="49" charset="-122"/>
            </a:endParaRPr>
          </a:p>
          <a:p>
            <a:pPr lvl="1" eaLnBrk="1" hangingPunct="1"/>
            <a:r>
              <a:rPr lang="zh-CN" altLang="en-US" sz="2400" b="1" dirty="0">
                <a:solidFill>
                  <a:srgbClr val="008000"/>
                </a:solidFill>
                <a:latin typeface="楷体_GB2312" pitchFamily="49" charset="-122"/>
                <a:ea typeface="楷体_GB2312" pitchFamily="49" charset="-122"/>
              </a:rPr>
              <a:t>机械矫正法：</a:t>
            </a:r>
            <a:r>
              <a:rPr lang="zh-CN" altLang="en-US" sz="2000" b="1" dirty="0">
                <a:latin typeface="楷体_GB2312" pitchFamily="49" charset="-122"/>
                <a:ea typeface="楷体_GB2312" pitchFamily="49" charset="-122"/>
              </a:rPr>
              <a:t>将变形的构件中尺寸较短的部分，通过机械力的作用，使之产生塑性延展而恢复原来形状，或达到所要求的形状。如辊床、压力机、矫直机。</a:t>
            </a:r>
            <a:endParaRPr lang="zh-CN" altLang="en-US" sz="2000" b="1" dirty="0">
              <a:latin typeface="楷体_GB2312" pitchFamily="49" charset="-122"/>
              <a:ea typeface="楷体_GB2312" pitchFamily="49" charset="-122"/>
            </a:endParaRPr>
          </a:p>
          <a:p>
            <a:pPr lvl="1" eaLnBrk="1" hangingPunct="1"/>
            <a:r>
              <a:rPr lang="zh-CN" altLang="en-US" sz="2400" b="1" dirty="0">
                <a:solidFill>
                  <a:srgbClr val="008000"/>
                </a:solidFill>
                <a:latin typeface="楷体_GB2312" pitchFamily="49" charset="-122"/>
                <a:ea typeface="楷体_GB2312" pitchFamily="49" charset="-122"/>
              </a:rPr>
              <a:t>火焰加热矫正法：</a:t>
            </a:r>
            <a:r>
              <a:rPr lang="zh-CN" altLang="en-US" sz="2000" b="1" dirty="0">
                <a:latin typeface="楷体_GB2312" pitchFamily="49" charset="-122"/>
                <a:ea typeface="楷体_GB2312" pitchFamily="49" charset="-122"/>
              </a:rPr>
              <a:t>利用火焰加热时产生的局部压缩塑性变形，使较长的部分在冷却后缩短来消除变形。氧</a:t>
            </a:r>
            <a:r>
              <a:rPr lang="en-US" altLang="zh-CN" sz="2000" b="1" dirty="0">
                <a:latin typeface="GreekS" pitchFamily="2" charset="0"/>
                <a:ea typeface="楷体_GB2312" pitchFamily="49" charset="-122"/>
              </a:rPr>
              <a:t>—</a:t>
            </a:r>
            <a:r>
              <a:rPr lang="zh-CN" altLang="en-US" sz="2000" b="1" dirty="0">
                <a:latin typeface="楷体_GB2312" pitchFamily="49" charset="-122"/>
                <a:ea typeface="楷体_GB2312" pitchFamily="49" charset="-122"/>
              </a:rPr>
              <a:t>乙炔火焰加热压应力处（靠经验）冷却收缩，消除变形图</a:t>
            </a:r>
            <a:r>
              <a:rPr lang="en-US" altLang="zh-CN" sz="2000" b="1" dirty="0">
                <a:latin typeface="楷体_GB2312" pitchFamily="49" charset="-122"/>
                <a:ea typeface="楷体_GB2312" pitchFamily="49" charset="-122"/>
              </a:rPr>
              <a:t>4.13</a:t>
            </a:r>
            <a:r>
              <a:rPr lang="zh-CN" altLang="en-US" sz="2000" b="1" dirty="0">
                <a:latin typeface="楷体_GB2312" pitchFamily="49" charset="-122"/>
                <a:ea typeface="楷体_GB2312" pitchFamily="49" charset="-122"/>
              </a:rPr>
              <a:t>反变形法。</a:t>
            </a:r>
            <a:endParaRPr lang="zh-CN" altLang="en-US" sz="2000" b="1" dirty="0">
              <a:latin typeface="楷体_GB2312" pitchFamily="49" charset="-122"/>
              <a:ea typeface="楷体_GB2312" pitchFamily="49" charset="-122"/>
            </a:endParaRPr>
          </a:p>
          <a:p>
            <a:pPr eaLnBrk="1" hangingPunct="1"/>
            <a:r>
              <a:rPr lang="en-US" altLang="zh-CN" sz="2800" b="1" dirty="0">
                <a:solidFill>
                  <a:srgbClr val="FF0000"/>
                </a:solidFill>
                <a:latin typeface="楷体_GB2312" pitchFamily="49" charset="-122"/>
                <a:ea typeface="楷体_GB2312" pitchFamily="49" charset="-122"/>
              </a:rPr>
              <a:t>3.</a:t>
            </a:r>
            <a:r>
              <a:rPr lang="zh-CN" altLang="en-US" sz="2800" b="1" dirty="0">
                <a:solidFill>
                  <a:srgbClr val="FF0000"/>
                </a:solidFill>
                <a:latin typeface="楷体_GB2312" pitchFamily="49" charset="-122"/>
                <a:ea typeface="楷体_GB2312" pitchFamily="49" charset="-122"/>
              </a:rPr>
              <a:t>焊接裂纹：</a:t>
            </a:r>
            <a:endParaRPr lang="zh-CN" altLang="en-US" sz="2800" b="1" dirty="0">
              <a:solidFill>
                <a:srgbClr val="FF0000"/>
              </a:solidFill>
              <a:latin typeface="楷体_GB2312" pitchFamily="49" charset="-122"/>
              <a:ea typeface="楷体_GB2312" pitchFamily="49" charset="-122"/>
            </a:endParaRPr>
          </a:p>
          <a:p>
            <a:pPr lvl="1" eaLnBrk="1" hangingPunct="1"/>
            <a:r>
              <a:rPr lang="zh-CN" altLang="en-US" sz="2000" b="1" dirty="0">
                <a:latin typeface="楷体_GB2312" pitchFamily="49" charset="-122"/>
                <a:ea typeface="楷体_GB2312" pitchFamily="49" charset="-122"/>
              </a:rPr>
              <a:t>（</a:t>
            </a:r>
            <a:r>
              <a:rPr lang="en-US" altLang="zh-CN" sz="2000" b="1" dirty="0">
                <a:latin typeface="楷体_GB2312" pitchFamily="49" charset="-122"/>
                <a:ea typeface="楷体_GB2312" pitchFamily="49" charset="-122"/>
              </a:rPr>
              <a:t>1</a:t>
            </a:r>
            <a:r>
              <a:rPr lang="zh-CN" altLang="en-US" sz="2000" b="1" dirty="0">
                <a:latin typeface="楷体_GB2312" pitchFamily="49" charset="-122"/>
                <a:ea typeface="楷体_GB2312" pitchFamily="49" charset="-122"/>
              </a:rPr>
              <a:t>）</a:t>
            </a:r>
            <a:r>
              <a:rPr lang="zh-CN" altLang="en-US" sz="2000" b="1" dirty="0">
                <a:solidFill>
                  <a:srgbClr val="CC3300"/>
                </a:solidFill>
                <a:latin typeface="楷体_GB2312" pitchFamily="49" charset="-122"/>
                <a:ea typeface="楷体_GB2312" pitchFamily="49" charset="-122"/>
              </a:rPr>
              <a:t>原因</a:t>
            </a:r>
            <a:r>
              <a:rPr lang="zh-CN" altLang="en-US" sz="2000" b="1" dirty="0">
                <a:latin typeface="楷体_GB2312" pitchFamily="49" charset="-122"/>
                <a:ea typeface="楷体_GB2312" pitchFamily="49" charset="-122"/>
              </a:rPr>
              <a:t>  焊接应力过大</a:t>
            </a:r>
            <a:endParaRPr lang="zh-CN" altLang="en-US" sz="2000" b="1" dirty="0">
              <a:solidFill>
                <a:srgbClr val="0000FF"/>
              </a:solidFill>
              <a:latin typeface="楷体_GB2312" pitchFamily="49" charset="-122"/>
              <a:ea typeface="楷体_GB2312" pitchFamily="49" charset="-122"/>
            </a:endParaRPr>
          </a:p>
          <a:p>
            <a:pPr lvl="1" eaLnBrk="1" hangingPunct="1"/>
            <a:r>
              <a:rPr lang="zh-CN" altLang="en-US" sz="2000" b="1" dirty="0">
                <a:solidFill>
                  <a:srgbClr val="0000FF"/>
                </a:solidFill>
                <a:latin typeface="楷体_GB2312" pitchFamily="49" charset="-122"/>
                <a:ea typeface="楷体_GB2312" pitchFamily="49" charset="-122"/>
              </a:rPr>
              <a:t>     材料成分：</a:t>
            </a:r>
            <a:r>
              <a:rPr lang="en-US" altLang="zh-CN" sz="2000" b="1" dirty="0">
                <a:solidFill>
                  <a:srgbClr val="0000FF"/>
                </a:solidFill>
                <a:latin typeface="楷体_GB2312" pitchFamily="49" charset="-122"/>
                <a:ea typeface="楷体_GB2312" pitchFamily="49" charset="-122"/>
              </a:rPr>
              <a:t>S</a:t>
            </a:r>
            <a:r>
              <a:rPr lang="zh-CN" altLang="en-US" sz="2000" b="1" dirty="0">
                <a:solidFill>
                  <a:srgbClr val="0000FF"/>
                </a:solidFill>
                <a:latin typeface="楷体_GB2312" pitchFamily="49" charset="-122"/>
                <a:ea typeface="楷体_GB2312" pitchFamily="49" charset="-122"/>
              </a:rPr>
              <a:t>、</a:t>
            </a:r>
            <a:r>
              <a:rPr lang="en-US" altLang="zh-CN" sz="2000" b="1" dirty="0">
                <a:solidFill>
                  <a:srgbClr val="0000FF"/>
                </a:solidFill>
                <a:latin typeface="楷体_GB2312" pitchFamily="49" charset="-122"/>
                <a:ea typeface="楷体_GB2312" pitchFamily="49" charset="-122"/>
              </a:rPr>
              <a:t>P</a:t>
            </a:r>
            <a:endParaRPr lang="en-US" altLang="zh-CN" sz="2000" b="1" dirty="0">
              <a:solidFill>
                <a:srgbClr val="0000FF"/>
              </a:solidFill>
              <a:latin typeface="楷体_GB2312" pitchFamily="49" charset="-122"/>
              <a:ea typeface="楷体_GB2312" pitchFamily="49" charset="-122"/>
            </a:endParaRPr>
          </a:p>
          <a:p>
            <a:pPr lvl="1" eaLnBrk="1" hangingPunct="1"/>
            <a:r>
              <a:rPr lang="zh-CN" altLang="en-US" sz="2000" b="1" dirty="0">
                <a:latin typeface="楷体_GB2312" pitchFamily="49" charset="-122"/>
                <a:ea typeface="楷体_GB2312" pitchFamily="49" charset="-122"/>
              </a:rPr>
              <a:t>（</a:t>
            </a:r>
            <a:r>
              <a:rPr lang="en-US" altLang="zh-CN" sz="2000" b="1" dirty="0">
                <a:latin typeface="楷体_GB2312" pitchFamily="49" charset="-122"/>
                <a:ea typeface="楷体_GB2312" pitchFamily="49" charset="-122"/>
              </a:rPr>
              <a:t>2</a:t>
            </a:r>
            <a:r>
              <a:rPr lang="zh-CN" altLang="en-US" sz="2000" b="1" dirty="0">
                <a:latin typeface="楷体_GB2312" pitchFamily="49" charset="-122"/>
                <a:ea typeface="楷体_GB2312" pitchFamily="49" charset="-122"/>
              </a:rPr>
              <a:t>）</a:t>
            </a:r>
            <a:r>
              <a:rPr lang="zh-CN" altLang="en-US" sz="2000" b="1" dirty="0">
                <a:solidFill>
                  <a:srgbClr val="CC3300"/>
                </a:solidFill>
                <a:latin typeface="楷体_GB2312" pitchFamily="49" charset="-122"/>
                <a:ea typeface="楷体_GB2312" pitchFamily="49" charset="-122"/>
              </a:rPr>
              <a:t>预防</a:t>
            </a:r>
            <a:r>
              <a:rPr lang="zh-CN" altLang="en-US" sz="2000" b="1" dirty="0">
                <a:latin typeface="楷体_GB2312" pitchFamily="49" charset="-122"/>
                <a:ea typeface="楷体_GB2312" pitchFamily="49" charset="-122"/>
              </a:rPr>
              <a:t>  选用碱性焊条</a:t>
            </a:r>
            <a:r>
              <a:rPr lang="zh-CN" altLang="en-US" b="1" dirty="0">
                <a:latin typeface="楷体_GB2312" pitchFamily="49" charset="-122"/>
                <a:ea typeface="楷体_GB2312" pitchFamily="49" charset="-122"/>
              </a:rPr>
              <a:t>，</a:t>
            </a:r>
            <a:r>
              <a:rPr lang="zh-CN" altLang="en-US" sz="2000" b="1" dirty="0">
                <a:latin typeface="楷体_GB2312" pitchFamily="49" charset="-122"/>
                <a:ea typeface="楷体_GB2312" pitchFamily="49" charset="-122"/>
              </a:rPr>
              <a:t>预热，合理次序，小能量焊接。</a:t>
            </a:r>
            <a:endParaRPr lang="zh-CN" altLang="en-US" sz="2000" b="1" dirty="0">
              <a:latin typeface="楷体_GB2312" pitchFamily="49" charset="-122"/>
              <a:ea typeface="楷体_GB2312" pitchFamily="49" charset="-122"/>
            </a:endParaRPr>
          </a:p>
        </p:txBody>
      </p:sp>
      <p:grpSp>
        <p:nvGrpSpPr>
          <p:cNvPr id="35843" name="Group 15"/>
          <p:cNvGrpSpPr/>
          <p:nvPr/>
        </p:nvGrpSpPr>
        <p:grpSpPr>
          <a:xfrm>
            <a:off x="5686425" y="1143000"/>
            <a:ext cx="2619375" cy="5467350"/>
            <a:chOff x="3582" y="720"/>
            <a:chExt cx="1650" cy="3444"/>
          </a:xfrm>
        </p:grpSpPr>
        <p:pic>
          <p:nvPicPr>
            <p:cNvPr id="35845" name="Picture 10"/>
            <p:cNvPicPr>
              <a:picLocks noChangeAspect="1"/>
            </p:cNvPicPr>
            <p:nvPr/>
          </p:nvPicPr>
          <p:blipFill>
            <a:blip r:embed="rId1"/>
            <a:stretch>
              <a:fillRect/>
            </a:stretch>
          </p:blipFill>
          <p:spPr>
            <a:xfrm>
              <a:off x="3585" y="720"/>
              <a:ext cx="1633" cy="1794"/>
            </a:xfrm>
            <a:prstGeom prst="rect">
              <a:avLst/>
            </a:prstGeom>
            <a:noFill/>
            <a:ln w="9525">
              <a:noFill/>
            </a:ln>
          </p:spPr>
        </p:pic>
        <p:pic>
          <p:nvPicPr>
            <p:cNvPr id="35846" name="Picture 11"/>
            <p:cNvPicPr>
              <a:picLocks noChangeAspect="1"/>
            </p:cNvPicPr>
            <p:nvPr/>
          </p:nvPicPr>
          <p:blipFill>
            <a:blip r:embed="rId2"/>
            <a:stretch>
              <a:fillRect/>
            </a:stretch>
          </p:blipFill>
          <p:spPr>
            <a:xfrm>
              <a:off x="3582" y="2496"/>
              <a:ext cx="1650" cy="1668"/>
            </a:xfrm>
            <a:prstGeom prst="rect">
              <a:avLst/>
            </a:prstGeom>
            <a:noFill/>
            <a:ln w="9525">
              <a:noFill/>
            </a:ln>
          </p:spPr>
        </p:pic>
        <p:sp>
          <p:nvSpPr>
            <p:cNvPr id="35847" name="Rectangle 13"/>
            <p:cNvSpPr/>
            <p:nvPr/>
          </p:nvSpPr>
          <p:spPr>
            <a:xfrm>
              <a:off x="3653" y="2247"/>
              <a:ext cx="1495" cy="231"/>
            </a:xfrm>
            <a:prstGeom prst="rect">
              <a:avLst/>
            </a:prstGeom>
            <a:solidFill>
              <a:srgbClr val="FFFFFF"/>
            </a:solidFill>
            <a:ln w="9525">
              <a:noFill/>
            </a:ln>
          </p:spPr>
          <p:txBody>
            <a:bodyPr wrap="none">
              <a:spAutoFit/>
            </a:bodyPr>
            <a:p>
              <a:pPr eaLnBrk="1" hangingPunct="1"/>
              <a:r>
                <a:rPr lang="zh-CN" altLang="en-US" b="1" dirty="0">
                  <a:solidFill>
                    <a:srgbClr val="000000"/>
                  </a:solidFill>
                  <a:latin typeface="楷体_GB2312" pitchFamily="49" charset="-122"/>
                  <a:ea typeface="楷体_GB2312" pitchFamily="49" charset="-122"/>
                </a:rPr>
                <a:t>图</a:t>
              </a:r>
              <a:r>
                <a:rPr lang="en-US" altLang="zh-CN" b="1" dirty="0">
                  <a:solidFill>
                    <a:srgbClr val="000000"/>
                  </a:solidFill>
                  <a:latin typeface="楷体_GB2312" pitchFamily="49" charset="-122"/>
                  <a:ea typeface="楷体_GB2312" pitchFamily="49" charset="-122"/>
                </a:rPr>
                <a:t>4</a:t>
              </a:r>
              <a:r>
                <a:rPr lang="zh-CN" altLang="en-US" b="1" dirty="0">
                  <a:solidFill>
                    <a:srgbClr val="000000"/>
                  </a:solidFill>
                  <a:latin typeface="楷体_GB2312" pitchFamily="49" charset="-122"/>
                  <a:ea typeface="楷体_GB2312" pitchFamily="49" charset="-122"/>
                </a:rPr>
                <a:t>－</a:t>
              </a:r>
              <a:r>
                <a:rPr lang="en-US" altLang="zh-CN" b="1" dirty="0">
                  <a:solidFill>
                    <a:srgbClr val="000000"/>
                  </a:solidFill>
                  <a:latin typeface="楷体_GB2312" pitchFamily="49" charset="-122"/>
                  <a:ea typeface="楷体_GB2312" pitchFamily="49" charset="-122"/>
                </a:rPr>
                <a:t>12</a:t>
              </a:r>
              <a:r>
                <a:rPr lang="zh-CN" altLang="en-US" b="1" dirty="0">
                  <a:solidFill>
                    <a:srgbClr val="000000"/>
                  </a:solidFill>
                  <a:latin typeface="楷体_GB2312" pitchFamily="49" charset="-122"/>
                  <a:ea typeface="楷体_GB2312" pitchFamily="49" charset="-122"/>
                </a:rPr>
                <a:t>　机械矫正法</a:t>
              </a:r>
              <a:endParaRPr lang="zh-CN" altLang="en-US" b="1" dirty="0">
                <a:solidFill>
                  <a:srgbClr val="000000"/>
                </a:solidFill>
                <a:latin typeface="楷体_GB2312" pitchFamily="49" charset="-122"/>
                <a:ea typeface="楷体_GB2312" pitchFamily="49" charset="-122"/>
              </a:endParaRPr>
            </a:p>
          </p:txBody>
        </p:sp>
        <p:sp>
          <p:nvSpPr>
            <p:cNvPr id="35848" name="Rectangle 14"/>
            <p:cNvSpPr/>
            <p:nvPr/>
          </p:nvSpPr>
          <p:spPr>
            <a:xfrm>
              <a:off x="3698" y="3879"/>
              <a:ext cx="1495" cy="231"/>
            </a:xfrm>
            <a:prstGeom prst="rect">
              <a:avLst/>
            </a:prstGeom>
            <a:solidFill>
              <a:srgbClr val="FFFFFF"/>
            </a:solidFill>
            <a:ln w="9525">
              <a:noFill/>
            </a:ln>
          </p:spPr>
          <p:txBody>
            <a:bodyPr wrap="none">
              <a:spAutoFit/>
            </a:bodyPr>
            <a:p>
              <a:pPr eaLnBrk="1" hangingPunct="1"/>
              <a:r>
                <a:rPr lang="zh-CN" altLang="en-US" b="1" dirty="0">
                  <a:solidFill>
                    <a:srgbClr val="000000"/>
                  </a:solidFill>
                  <a:latin typeface="楷体_GB2312" pitchFamily="49" charset="-122"/>
                  <a:ea typeface="楷体_GB2312" pitchFamily="49" charset="-122"/>
                </a:rPr>
                <a:t>图</a:t>
              </a:r>
              <a:r>
                <a:rPr lang="en-US" altLang="zh-CN" b="1" dirty="0">
                  <a:solidFill>
                    <a:srgbClr val="000000"/>
                  </a:solidFill>
                  <a:latin typeface="楷体_GB2312" pitchFamily="49" charset="-122"/>
                  <a:ea typeface="楷体_GB2312" pitchFamily="49" charset="-122"/>
                </a:rPr>
                <a:t>4</a:t>
              </a:r>
              <a:r>
                <a:rPr lang="zh-CN" altLang="en-US" b="1" dirty="0">
                  <a:solidFill>
                    <a:srgbClr val="000000"/>
                  </a:solidFill>
                  <a:latin typeface="楷体_GB2312" pitchFamily="49" charset="-122"/>
                  <a:ea typeface="楷体_GB2312" pitchFamily="49" charset="-122"/>
                </a:rPr>
                <a:t>－</a:t>
              </a:r>
              <a:r>
                <a:rPr lang="en-US" altLang="zh-CN" b="1" dirty="0">
                  <a:solidFill>
                    <a:srgbClr val="000000"/>
                  </a:solidFill>
                  <a:latin typeface="楷体_GB2312" pitchFamily="49" charset="-122"/>
                  <a:ea typeface="楷体_GB2312" pitchFamily="49" charset="-122"/>
                </a:rPr>
                <a:t>13</a:t>
              </a:r>
              <a:r>
                <a:rPr lang="zh-CN" altLang="en-US" b="1" dirty="0">
                  <a:solidFill>
                    <a:srgbClr val="000000"/>
                  </a:solidFill>
                  <a:latin typeface="楷体_GB2312" pitchFamily="49" charset="-122"/>
                  <a:ea typeface="楷体_GB2312" pitchFamily="49" charset="-122"/>
                </a:rPr>
                <a:t>　火焰矫正法</a:t>
              </a:r>
              <a:endParaRPr lang="zh-CN" altLang="en-US" b="1" dirty="0">
                <a:solidFill>
                  <a:srgbClr val="000000"/>
                </a:solidFill>
                <a:latin typeface="楷体_GB2312" pitchFamily="49" charset="-122"/>
                <a:ea typeface="楷体_GB2312" pitchFamily="49" charset="-122"/>
              </a:endParaRPr>
            </a:p>
          </p:txBody>
        </p:sp>
      </p:grpSp>
      <p:sp>
        <p:nvSpPr>
          <p:cNvPr id="35844" name="Rectangle 3"/>
          <p:cNvSpPr/>
          <p:nvPr/>
        </p:nvSpPr>
        <p:spPr>
          <a:xfrm>
            <a:off x="3563938" y="260350"/>
            <a:ext cx="4321175" cy="762000"/>
          </a:xfrm>
          <a:prstGeom prst="rect">
            <a:avLst/>
          </a:prstGeom>
          <a:noFill/>
          <a:ln w="9525">
            <a:noFill/>
          </a:ln>
        </p:spPr>
        <p:txBody>
          <a:bodyPr>
            <a:spAutoFit/>
          </a:bodyPr>
          <a:p>
            <a:pPr eaLnBrk="1" hangingPunct="1"/>
            <a:r>
              <a:rPr lang="zh-CN" altLang="en-US" sz="4400" b="1" dirty="0">
                <a:solidFill>
                  <a:schemeClr val="tx2"/>
                </a:solidFill>
                <a:latin typeface="Arial" panose="020B0604020202020204" pitchFamily="34" charset="0"/>
                <a:ea typeface="楷体_GB2312" pitchFamily="49" charset="-122"/>
              </a:rPr>
              <a:t>焊接应力与变形</a:t>
            </a:r>
            <a:endParaRPr lang="zh-CN" altLang="en-US" sz="4400" b="1" dirty="0">
              <a:solidFill>
                <a:schemeClr val="tx2"/>
              </a:solidFill>
              <a:latin typeface="Arial" panose="020B0604020202020204" pitchFamily="34" charset="0"/>
              <a:ea typeface="楷体_GB2312" pitchFamily="49"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80" name="文本框 24579"/>
          <p:cNvSpPr txBox="1"/>
          <p:nvPr/>
        </p:nvSpPr>
        <p:spPr>
          <a:xfrm>
            <a:off x="755650" y="1701800"/>
            <a:ext cx="2592388" cy="398780"/>
          </a:xfrm>
          <a:prstGeom prst="rect">
            <a:avLst/>
          </a:prstGeom>
          <a:noFill/>
          <a:ln w="9525">
            <a:noFill/>
          </a:ln>
        </p:spPr>
        <p:txBody>
          <a:bodyPr vert="horz" wrap="square" anchor="t" anchorCtr="0">
            <a:spAutoFit/>
          </a:bodyPr>
          <a:p>
            <a:pPr>
              <a:spcBef>
                <a:spcPct val="50000"/>
              </a:spcBef>
            </a:pPr>
            <a:r>
              <a:rPr lang="zh-CN" altLang="en-US" sz="2000" b="1" dirty="0">
                <a:latin typeface="Arial" panose="020B0604020202020204" pitchFamily="34" charset="0"/>
              </a:rPr>
              <a:t>火焰矫正法</a:t>
            </a:r>
            <a:endParaRPr lang="zh-CN" altLang="en-US" sz="2000" b="1" dirty="0">
              <a:latin typeface="Arial" panose="020B0604020202020204" pitchFamily="34" charset="0"/>
            </a:endParaRPr>
          </a:p>
        </p:txBody>
      </p:sp>
      <p:pic>
        <p:nvPicPr>
          <p:cNvPr id="24581" name="图片 24580" descr="火焰矫正焊接变形"/>
          <p:cNvPicPr>
            <a:picLocks noChangeAspect="1"/>
          </p:cNvPicPr>
          <p:nvPr/>
        </p:nvPicPr>
        <p:blipFill>
          <a:blip r:embed="rId1"/>
          <a:srcRect l="20479" r="25311" b="51114"/>
          <a:stretch>
            <a:fillRect/>
          </a:stretch>
        </p:blipFill>
        <p:spPr>
          <a:xfrm>
            <a:off x="3059113" y="1854200"/>
            <a:ext cx="3240087" cy="2160588"/>
          </a:xfrm>
          <a:prstGeom prst="rect">
            <a:avLst/>
          </a:prstGeom>
          <a:noFill/>
          <a:ln w="9525">
            <a:noFill/>
          </a:ln>
        </p:spPr>
      </p:pic>
      <p:pic>
        <p:nvPicPr>
          <p:cNvPr id="24582" name="图片 24581"/>
          <p:cNvPicPr>
            <a:picLocks noChangeAspect="1"/>
          </p:cNvPicPr>
          <p:nvPr/>
        </p:nvPicPr>
        <p:blipFill>
          <a:blip r:embed="rId2"/>
          <a:stretch>
            <a:fillRect/>
          </a:stretch>
        </p:blipFill>
        <p:spPr>
          <a:xfrm>
            <a:off x="611188" y="4549775"/>
            <a:ext cx="3382962" cy="1912938"/>
          </a:xfrm>
          <a:prstGeom prst="rect">
            <a:avLst/>
          </a:prstGeom>
          <a:noFill/>
          <a:ln w="9525">
            <a:noFill/>
          </a:ln>
        </p:spPr>
      </p:pic>
      <p:pic>
        <p:nvPicPr>
          <p:cNvPr id="24583" name="图片 24582"/>
          <p:cNvPicPr>
            <a:picLocks noChangeAspect="1"/>
          </p:cNvPicPr>
          <p:nvPr/>
        </p:nvPicPr>
        <p:blipFill>
          <a:blip r:embed="rId3"/>
          <a:stretch>
            <a:fillRect/>
          </a:stretch>
        </p:blipFill>
        <p:spPr>
          <a:xfrm>
            <a:off x="4859338" y="4508500"/>
            <a:ext cx="3455987" cy="1916113"/>
          </a:xfrm>
          <a:prstGeom prst="rect">
            <a:avLst/>
          </a:prstGeom>
          <a:noFill/>
          <a:ln w="9525">
            <a:noFill/>
          </a:ln>
        </p:spPr>
      </p:pic>
      <p:sp>
        <p:nvSpPr>
          <p:cNvPr id="35844" name="Rectangle 3"/>
          <p:cNvSpPr/>
          <p:nvPr/>
        </p:nvSpPr>
        <p:spPr>
          <a:xfrm>
            <a:off x="3563938" y="260350"/>
            <a:ext cx="4321175" cy="762000"/>
          </a:xfrm>
          <a:prstGeom prst="rect">
            <a:avLst/>
          </a:prstGeom>
          <a:noFill/>
          <a:ln w="9525">
            <a:noFill/>
          </a:ln>
        </p:spPr>
        <p:txBody>
          <a:bodyPr>
            <a:spAutoFit/>
          </a:bodyPr>
          <a:p>
            <a:pPr eaLnBrk="1" hangingPunct="1"/>
            <a:r>
              <a:rPr lang="zh-CN" altLang="en-US" sz="4400" b="1" dirty="0">
                <a:solidFill>
                  <a:schemeClr val="tx2"/>
                </a:solidFill>
                <a:latin typeface="Arial" panose="020B0604020202020204" pitchFamily="34" charset="0"/>
                <a:ea typeface="楷体_GB2312" pitchFamily="49" charset="-122"/>
              </a:rPr>
              <a:t>焊接应力与变形</a:t>
            </a:r>
            <a:endParaRPr lang="zh-CN" altLang="en-US" sz="4400" b="1" dirty="0">
              <a:solidFill>
                <a:schemeClr val="tx2"/>
              </a:solidFill>
              <a:latin typeface="Arial" panose="020B0604020202020204" pitchFamily="34"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nodeType="clickEffect">
                                  <p:stCondLst>
                                    <p:cond delay="0"/>
                                  </p:stCondLst>
                                  <p:iterate type="lt">
                                    <p:tmPct val="50000"/>
                                  </p:iterate>
                                  <p:childTnLst>
                                    <p:set>
                                      <p:cBhvr>
                                        <p:cTn id="6" dur="1" fill="hold">
                                          <p:stCondLst>
                                            <p:cond delay="0"/>
                                          </p:stCondLst>
                                        </p:cTn>
                                        <p:tgtEl>
                                          <p:spTgt spid="24580">
                                            <p:txEl>
                                              <p:charRg st="0" end="7"/>
                                            </p:txEl>
                                          </p:spTgt>
                                        </p:tgtEl>
                                        <p:attrNameLst>
                                          <p:attrName>style.visibility</p:attrName>
                                        </p:attrNameLst>
                                      </p:cBhvr>
                                      <p:to>
                                        <p:strVal val="visible"/>
                                      </p:to>
                                    </p:set>
                                    <p:anim calcmode="discrete" valueType="clr">
                                      <p:cBhvr override="childStyle">
                                        <p:cTn id="7" dur="80"/>
                                        <p:tgtEl>
                                          <p:spTgt spid="24580">
                                            <p:txEl>
                                              <p:charRg st="0" end="7"/>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4580">
                                            <p:txEl>
                                              <p:charRg st="0" end="7"/>
                                            </p:txEl>
                                          </p:spTgt>
                                        </p:tgtEl>
                                        <p:attrNameLst>
                                          <p:attrName>fillcolor</p:attrName>
                                        </p:attrNameLst>
                                      </p:cBhvr>
                                      <p:tavLst>
                                        <p:tav tm="0">
                                          <p:val>
                                            <p:clrVal>
                                              <a:schemeClr val="accent2"/>
                                            </p:clrVal>
                                          </p:val>
                                        </p:tav>
                                        <p:tav tm="50000">
                                          <p:val>
                                            <p:clrVal>
                                              <a:schemeClr val="hlink"/>
                                            </p:clrVal>
                                          </p:val>
                                        </p:tav>
                                      </p:tavLst>
                                    </p:anim>
                                    <p:set>
                                      <p:cBhvr>
                                        <p:cTn id="9" dur="80"/>
                                        <p:tgtEl>
                                          <p:spTgt spid="24580">
                                            <p:txEl>
                                              <p:charRg st="0" end="7"/>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24581"/>
                                        </p:tgtEl>
                                        <p:attrNameLst>
                                          <p:attrName>style.visibility</p:attrName>
                                        </p:attrNameLst>
                                      </p:cBhvr>
                                      <p:to>
                                        <p:strVal val="visible"/>
                                      </p:to>
                                    </p:set>
                                    <p:anim calcmode="lin" valueType="num">
                                      <p:cBhvr>
                                        <p:cTn id="14" dur="500" fill="hold"/>
                                        <p:tgtEl>
                                          <p:spTgt spid="24581"/>
                                        </p:tgtEl>
                                        <p:attrNameLst>
                                          <p:attrName>ppt_w</p:attrName>
                                        </p:attrNameLst>
                                      </p:cBhvr>
                                      <p:tavLst>
                                        <p:tav tm="0">
                                          <p:val>
                                            <p:fltVal val="0.000000"/>
                                          </p:val>
                                        </p:tav>
                                        <p:tav tm="100000">
                                          <p:val>
                                            <p:strVal val="#ppt_w"/>
                                          </p:val>
                                        </p:tav>
                                      </p:tavLst>
                                    </p:anim>
                                    <p:anim calcmode="lin" valueType="num">
                                      <p:cBhvr>
                                        <p:cTn id="15" dur="500" fill="hold"/>
                                        <p:tgtEl>
                                          <p:spTgt spid="24581"/>
                                        </p:tgtEl>
                                        <p:attrNameLst>
                                          <p:attrName>ppt_h</p:attrName>
                                        </p:attrNameLst>
                                      </p:cBhvr>
                                      <p:tavLst>
                                        <p:tav tm="0">
                                          <p:val>
                                            <p:fltVal val="0.000000"/>
                                          </p:val>
                                        </p:tav>
                                        <p:tav tm="100000">
                                          <p:val>
                                            <p:strVal val="#ppt_h"/>
                                          </p:val>
                                        </p:tav>
                                      </p:tavLst>
                                    </p:anim>
                                    <p:animEffect transition="in" filter="fade">
                                      <p:cBhvr>
                                        <p:cTn id="16" dur="500"/>
                                        <p:tgtEl>
                                          <p:spTgt spid="24581"/>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24582"/>
                                        </p:tgtEl>
                                        <p:attrNameLst>
                                          <p:attrName>style.visibility</p:attrName>
                                        </p:attrNameLst>
                                      </p:cBhvr>
                                      <p:to>
                                        <p:strVal val="visible"/>
                                      </p:to>
                                    </p:set>
                                    <p:anim calcmode="lin" valueType="num">
                                      <p:cBhvr>
                                        <p:cTn id="21" dur="500" fill="hold"/>
                                        <p:tgtEl>
                                          <p:spTgt spid="24582"/>
                                        </p:tgtEl>
                                        <p:attrNameLst>
                                          <p:attrName>ppt_w</p:attrName>
                                        </p:attrNameLst>
                                      </p:cBhvr>
                                      <p:tavLst>
                                        <p:tav tm="0">
                                          <p:val>
                                            <p:fltVal val="0.000000"/>
                                          </p:val>
                                        </p:tav>
                                        <p:tav tm="100000">
                                          <p:val>
                                            <p:strVal val="#ppt_w"/>
                                          </p:val>
                                        </p:tav>
                                      </p:tavLst>
                                    </p:anim>
                                    <p:anim calcmode="lin" valueType="num">
                                      <p:cBhvr>
                                        <p:cTn id="22" dur="500" fill="hold"/>
                                        <p:tgtEl>
                                          <p:spTgt spid="24582"/>
                                        </p:tgtEl>
                                        <p:attrNameLst>
                                          <p:attrName>ppt_h</p:attrName>
                                        </p:attrNameLst>
                                      </p:cBhvr>
                                      <p:tavLst>
                                        <p:tav tm="0">
                                          <p:val>
                                            <p:fltVal val="0.000000"/>
                                          </p:val>
                                        </p:tav>
                                        <p:tav tm="100000">
                                          <p:val>
                                            <p:strVal val="#ppt_h"/>
                                          </p:val>
                                        </p:tav>
                                      </p:tavLst>
                                    </p:anim>
                                    <p:animEffect transition="in" filter="fade">
                                      <p:cBhvr>
                                        <p:cTn id="23" dur="500"/>
                                        <p:tgtEl>
                                          <p:spTgt spid="24582"/>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24583"/>
                                        </p:tgtEl>
                                        <p:attrNameLst>
                                          <p:attrName>style.visibility</p:attrName>
                                        </p:attrNameLst>
                                      </p:cBhvr>
                                      <p:to>
                                        <p:strVal val="visible"/>
                                      </p:to>
                                    </p:set>
                                    <p:anim calcmode="lin" valueType="num">
                                      <p:cBhvr>
                                        <p:cTn id="28" dur="500" fill="hold"/>
                                        <p:tgtEl>
                                          <p:spTgt spid="24583"/>
                                        </p:tgtEl>
                                        <p:attrNameLst>
                                          <p:attrName>ppt_w</p:attrName>
                                        </p:attrNameLst>
                                      </p:cBhvr>
                                      <p:tavLst>
                                        <p:tav tm="0">
                                          <p:val>
                                            <p:fltVal val="0.000000"/>
                                          </p:val>
                                        </p:tav>
                                        <p:tav tm="100000">
                                          <p:val>
                                            <p:strVal val="#ppt_w"/>
                                          </p:val>
                                        </p:tav>
                                      </p:tavLst>
                                    </p:anim>
                                    <p:anim calcmode="lin" valueType="num">
                                      <p:cBhvr>
                                        <p:cTn id="29" dur="500" fill="hold"/>
                                        <p:tgtEl>
                                          <p:spTgt spid="24583"/>
                                        </p:tgtEl>
                                        <p:attrNameLst>
                                          <p:attrName>ppt_h</p:attrName>
                                        </p:attrNameLst>
                                      </p:cBhvr>
                                      <p:tavLst>
                                        <p:tav tm="0">
                                          <p:val>
                                            <p:fltVal val="0.000000"/>
                                          </p:val>
                                        </p:tav>
                                        <p:tav tm="100000">
                                          <p:val>
                                            <p:strVal val="#ppt_h"/>
                                          </p:val>
                                        </p:tav>
                                      </p:tavLst>
                                    </p:anim>
                                    <p:animEffect transition="in" filter="fade">
                                      <p:cBhvr>
                                        <p:cTn id="30" dur="500"/>
                                        <p:tgtEl>
                                          <p:spTgt spid="245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5603" name="图片 25602" descr="机械矫正焊接变形"/>
          <p:cNvPicPr>
            <a:picLocks noChangeAspect="1"/>
          </p:cNvPicPr>
          <p:nvPr/>
        </p:nvPicPr>
        <p:blipFill>
          <a:blip r:embed="rId1"/>
          <a:srcRect b="53020"/>
          <a:stretch>
            <a:fillRect/>
          </a:stretch>
        </p:blipFill>
        <p:spPr>
          <a:xfrm>
            <a:off x="1908175" y="1700213"/>
            <a:ext cx="5545138" cy="2160587"/>
          </a:xfrm>
          <a:prstGeom prst="rect">
            <a:avLst/>
          </a:prstGeom>
          <a:noFill/>
          <a:ln w="9525">
            <a:noFill/>
          </a:ln>
        </p:spPr>
      </p:pic>
      <p:sp>
        <p:nvSpPr>
          <p:cNvPr id="25604" name="文本框 25603"/>
          <p:cNvSpPr txBox="1"/>
          <p:nvPr/>
        </p:nvSpPr>
        <p:spPr>
          <a:xfrm>
            <a:off x="395288" y="1197293"/>
            <a:ext cx="3382962" cy="398780"/>
          </a:xfrm>
          <a:prstGeom prst="rect">
            <a:avLst/>
          </a:prstGeom>
          <a:noFill/>
          <a:ln w="9525">
            <a:noFill/>
          </a:ln>
        </p:spPr>
        <p:txBody>
          <a:bodyPr vert="horz" wrap="square" anchor="t" anchorCtr="0">
            <a:spAutoFit/>
          </a:bodyPr>
          <a:p>
            <a:pPr>
              <a:spcBef>
                <a:spcPct val="50000"/>
              </a:spcBef>
            </a:pPr>
            <a:r>
              <a:rPr lang="zh-CN" altLang="en-US" sz="2000" b="1" dirty="0">
                <a:latin typeface="Arial" panose="020B0604020202020204" pitchFamily="34" charset="0"/>
              </a:rPr>
              <a:t>机械矫正法</a:t>
            </a:r>
            <a:endParaRPr lang="zh-CN" altLang="en-US" sz="2000" b="1" dirty="0">
              <a:latin typeface="Arial" panose="020B0604020202020204" pitchFamily="34" charset="0"/>
            </a:endParaRPr>
          </a:p>
        </p:txBody>
      </p:sp>
      <p:pic>
        <p:nvPicPr>
          <p:cNvPr id="25605" name="图片 25604" descr="机械矫正焊接变形"/>
          <p:cNvPicPr>
            <a:picLocks noChangeAspect="1"/>
          </p:cNvPicPr>
          <p:nvPr/>
        </p:nvPicPr>
        <p:blipFill>
          <a:blip r:embed="rId1"/>
          <a:srcRect t="46945"/>
          <a:stretch>
            <a:fillRect/>
          </a:stretch>
        </p:blipFill>
        <p:spPr>
          <a:xfrm>
            <a:off x="1979613" y="4221163"/>
            <a:ext cx="5545137" cy="2439987"/>
          </a:xfrm>
          <a:prstGeom prst="rect">
            <a:avLst/>
          </a:prstGeom>
          <a:noFill/>
          <a:ln w="9525">
            <a:noFill/>
          </a:ln>
        </p:spPr>
      </p:pic>
      <p:sp>
        <p:nvSpPr>
          <p:cNvPr id="35844" name="Rectangle 3"/>
          <p:cNvSpPr/>
          <p:nvPr/>
        </p:nvSpPr>
        <p:spPr>
          <a:xfrm>
            <a:off x="3563938" y="260350"/>
            <a:ext cx="4321175" cy="762000"/>
          </a:xfrm>
          <a:prstGeom prst="rect">
            <a:avLst/>
          </a:prstGeom>
          <a:noFill/>
          <a:ln w="9525">
            <a:noFill/>
          </a:ln>
        </p:spPr>
        <p:txBody>
          <a:bodyPr>
            <a:spAutoFit/>
          </a:bodyPr>
          <a:p>
            <a:pPr eaLnBrk="1" hangingPunct="1"/>
            <a:r>
              <a:rPr lang="zh-CN" altLang="en-US" sz="4400" b="1" dirty="0">
                <a:solidFill>
                  <a:schemeClr val="tx2"/>
                </a:solidFill>
                <a:latin typeface="Arial" panose="020B0604020202020204" pitchFamily="34" charset="0"/>
                <a:ea typeface="楷体_GB2312" pitchFamily="49" charset="-122"/>
              </a:rPr>
              <a:t>焊接应力与变形</a:t>
            </a:r>
            <a:endParaRPr lang="zh-CN" altLang="en-US" sz="4400" b="1" dirty="0">
              <a:solidFill>
                <a:schemeClr val="tx2"/>
              </a:solidFill>
              <a:latin typeface="Arial" panose="020B0604020202020204" pitchFamily="34"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5603"/>
                                        </p:tgtEl>
                                        <p:attrNameLst>
                                          <p:attrName>style.visibility</p:attrName>
                                        </p:attrNameLst>
                                      </p:cBhvr>
                                      <p:to>
                                        <p:strVal val="visible"/>
                                      </p:to>
                                    </p:set>
                                    <p:anim calcmode="lin" valueType="num">
                                      <p:cBhvr>
                                        <p:cTn id="7" dur="500" fill="hold"/>
                                        <p:tgtEl>
                                          <p:spTgt spid="25603"/>
                                        </p:tgtEl>
                                        <p:attrNameLst>
                                          <p:attrName>ppt_w</p:attrName>
                                        </p:attrNameLst>
                                      </p:cBhvr>
                                      <p:tavLst>
                                        <p:tav tm="0">
                                          <p:val>
                                            <p:fltVal val="0.000000"/>
                                          </p:val>
                                        </p:tav>
                                        <p:tav tm="100000">
                                          <p:val>
                                            <p:strVal val="#ppt_w"/>
                                          </p:val>
                                        </p:tav>
                                      </p:tavLst>
                                    </p:anim>
                                    <p:anim calcmode="lin" valueType="num">
                                      <p:cBhvr>
                                        <p:cTn id="8" dur="500" fill="hold"/>
                                        <p:tgtEl>
                                          <p:spTgt spid="25603"/>
                                        </p:tgtEl>
                                        <p:attrNameLst>
                                          <p:attrName>ppt_h</p:attrName>
                                        </p:attrNameLst>
                                      </p:cBhvr>
                                      <p:tavLst>
                                        <p:tav tm="0">
                                          <p:val>
                                            <p:fltVal val="0.000000"/>
                                          </p:val>
                                        </p:tav>
                                        <p:tav tm="100000">
                                          <p:val>
                                            <p:strVal val="#ppt_h"/>
                                          </p:val>
                                        </p:tav>
                                      </p:tavLst>
                                    </p:anim>
                                    <p:animEffect transition="in" filter="fade">
                                      <p:cBhvr>
                                        <p:cTn id="9" dur="500"/>
                                        <p:tgtEl>
                                          <p:spTgt spid="25603"/>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25605"/>
                                        </p:tgtEl>
                                        <p:attrNameLst>
                                          <p:attrName>style.visibility</p:attrName>
                                        </p:attrNameLst>
                                      </p:cBhvr>
                                      <p:to>
                                        <p:strVal val="visible"/>
                                      </p:to>
                                    </p:set>
                                    <p:anim calcmode="lin" valueType="num">
                                      <p:cBhvr>
                                        <p:cTn id="14" dur="500" fill="hold"/>
                                        <p:tgtEl>
                                          <p:spTgt spid="25605"/>
                                        </p:tgtEl>
                                        <p:attrNameLst>
                                          <p:attrName>ppt_w</p:attrName>
                                        </p:attrNameLst>
                                      </p:cBhvr>
                                      <p:tavLst>
                                        <p:tav tm="0">
                                          <p:val>
                                            <p:fltVal val="0.000000"/>
                                          </p:val>
                                        </p:tav>
                                        <p:tav tm="100000">
                                          <p:val>
                                            <p:strVal val="#ppt_w"/>
                                          </p:val>
                                        </p:tav>
                                      </p:tavLst>
                                    </p:anim>
                                    <p:anim calcmode="lin" valueType="num">
                                      <p:cBhvr>
                                        <p:cTn id="15" dur="500" fill="hold"/>
                                        <p:tgtEl>
                                          <p:spTgt spid="25605"/>
                                        </p:tgtEl>
                                        <p:attrNameLst>
                                          <p:attrName>ppt_h</p:attrName>
                                        </p:attrNameLst>
                                      </p:cBhvr>
                                      <p:tavLst>
                                        <p:tav tm="0">
                                          <p:val>
                                            <p:fltVal val="0.000000"/>
                                          </p:val>
                                        </p:tav>
                                        <p:tav tm="100000">
                                          <p:val>
                                            <p:strVal val="#ppt_h"/>
                                          </p:val>
                                        </p:tav>
                                      </p:tavLst>
                                    </p:anim>
                                    <p:animEffect transition="in" filter="fade">
                                      <p:cBhvr>
                                        <p:cTn id="16" dur="500"/>
                                        <p:tgtEl>
                                          <p:spTgt spid="256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2"/>
          <p:cNvSpPr>
            <a:spLocks noGrp="1"/>
          </p:cNvSpPr>
          <p:nvPr>
            <p:ph type="title"/>
          </p:nvPr>
        </p:nvSpPr>
        <p:spPr/>
        <p:txBody>
          <a:bodyPr vert="horz" wrap="square" lIns="91440" tIns="45720" rIns="91440" bIns="45720" anchor="ctr" anchorCtr="0"/>
          <a:p>
            <a:pPr algn="ctr" eaLnBrk="1" hangingPunct="1"/>
            <a:r>
              <a:rPr lang="zh-CN" altLang="en-US" sz="4400" dirty="0">
                <a:solidFill>
                  <a:schemeClr val="tx1"/>
                </a:solidFill>
                <a:ea typeface="楷体_GB2312" pitchFamily="49" charset="-122"/>
              </a:rPr>
              <a:t>焊条电弧焊</a:t>
            </a:r>
            <a:endParaRPr lang="zh-CN" altLang="en-US" sz="4400" dirty="0">
              <a:ea typeface="楷体_GB2312" pitchFamily="49" charset="-122"/>
            </a:endParaRPr>
          </a:p>
        </p:txBody>
      </p:sp>
      <p:sp>
        <p:nvSpPr>
          <p:cNvPr id="36867" name="Rectangle 3"/>
          <p:cNvSpPr>
            <a:spLocks noGrp="1"/>
          </p:cNvSpPr>
          <p:nvPr>
            <p:ph idx="1"/>
          </p:nvPr>
        </p:nvSpPr>
        <p:spPr>
          <a:xfrm>
            <a:off x="228600" y="1268413"/>
            <a:ext cx="8807450" cy="3048000"/>
          </a:xfrm>
        </p:spPr>
        <p:txBody>
          <a:bodyPr vert="horz" wrap="square" lIns="91440" tIns="45720" rIns="91440" bIns="45720" anchor="t" anchorCtr="0"/>
          <a:p>
            <a:pPr eaLnBrk="1" hangingPunct="1">
              <a:lnSpc>
                <a:spcPct val="90000"/>
              </a:lnSpc>
              <a:buNone/>
            </a:pPr>
            <a:r>
              <a:rPr lang="zh-CN" altLang="en-US" sz="2400" b="1" dirty="0">
                <a:solidFill>
                  <a:srgbClr val="FF0000"/>
                </a:solidFill>
                <a:latin typeface="楷体_GB2312" pitchFamily="49" charset="-122"/>
                <a:ea typeface="楷体_GB2312" pitchFamily="49" charset="-122"/>
              </a:rPr>
              <a:t>四</a:t>
            </a:r>
            <a:r>
              <a:rPr lang="en-US" altLang="zh-CN" sz="2400" b="1" dirty="0">
                <a:solidFill>
                  <a:srgbClr val="FF0000"/>
                </a:solidFill>
                <a:latin typeface="楷体_GB2312" pitchFamily="49" charset="-122"/>
                <a:ea typeface="楷体_GB2312" pitchFamily="49" charset="-122"/>
              </a:rPr>
              <a:t>.</a:t>
            </a:r>
            <a:r>
              <a:rPr lang="zh-CN" altLang="en-US" sz="2400" b="1" dirty="0">
                <a:solidFill>
                  <a:srgbClr val="FF0000"/>
                </a:solidFill>
                <a:latin typeface="楷体_GB2312" pitchFamily="49" charset="-122"/>
                <a:ea typeface="楷体_GB2312" pitchFamily="49" charset="-122"/>
              </a:rPr>
              <a:t>焊条电弧焊</a:t>
            </a:r>
            <a:r>
              <a:rPr lang="en-US" altLang="zh-CN" sz="2400" b="1" dirty="0">
                <a:solidFill>
                  <a:srgbClr val="FF0000"/>
                </a:solidFill>
                <a:latin typeface="楷体_GB2312" pitchFamily="49" charset="-122"/>
                <a:ea typeface="楷体_GB2312" pitchFamily="49" charset="-122"/>
              </a:rPr>
              <a:t>(</a:t>
            </a:r>
            <a:r>
              <a:rPr lang="zh-CN" altLang="en-US" sz="2400" b="1" dirty="0">
                <a:solidFill>
                  <a:srgbClr val="FF0000"/>
                </a:solidFill>
                <a:latin typeface="楷体_GB2312" pitchFamily="49" charset="-122"/>
                <a:ea typeface="楷体_GB2312" pitchFamily="49" charset="-122"/>
              </a:rPr>
              <a:t>手工电弧焊）：</a:t>
            </a:r>
            <a:r>
              <a:rPr lang="zh-CN" altLang="en-US" sz="2400" b="1" dirty="0">
                <a:latin typeface="楷体_GB2312" pitchFamily="49" charset="-122"/>
                <a:ea typeface="楷体_GB2312" pitchFamily="49" charset="-122"/>
              </a:rPr>
              <a:t>利用焊条与工件间产生电弧热，将工件和焊条溶化而进行焊接的方法。</a:t>
            </a:r>
            <a:endParaRPr lang="zh-CN" altLang="en-US" sz="2400" b="1" dirty="0">
              <a:latin typeface="楷体_GB2312" pitchFamily="49" charset="-122"/>
              <a:ea typeface="楷体_GB2312" pitchFamily="49" charset="-122"/>
            </a:endParaRPr>
          </a:p>
          <a:p>
            <a:pPr lvl="1" eaLnBrk="1" hangingPunct="1">
              <a:lnSpc>
                <a:spcPct val="90000"/>
              </a:lnSpc>
            </a:pPr>
            <a:r>
              <a:rPr lang="zh-CN" altLang="en-US" sz="2400" b="1" dirty="0">
                <a:solidFill>
                  <a:srgbClr val="CC3300"/>
                </a:solidFill>
                <a:latin typeface="楷体_GB2312" pitchFamily="49" charset="-122"/>
                <a:ea typeface="楷体_GB2312" pitchFamily="49" charset="-122"/>
              </a:rPr>
              <a:t>优点：</a:t>
            </a:r>
            <a:r>
              <a:rPr lang="zh-CN" altLang="en-US" sz="2400" b="1" dirty="0">
                <a:latin typeface="楷体_GB2312" pitchFamily="49" charset="-122"/>
                <a:ea typeface="楷体_GB2312" pitchFamily="49" charset="-122"/>
              </a:rPr>
              <a:t>设备简单，操作灵活，成本低。</a:t>
            </a:r>
            <a:endParaRPr lang="zh-CN" altLang="en-US" sz="2400" b="1" dirty="0">
              <a:latin typeface="楷体_GB2312" pitchFamily="49" charset="-122"/>
              <a:ea typeface="楷体_GB2312" pitchFamily="49" charset="-122"/>
            </a:endParaRPr>
          </a:p>
          <a:p>
            <a:pPr lvl="1" eaLnBrk="1" hangingPunct="1">
              <a:lnSpc>
                <a:spcPct val="90000"/>
              </a:lnSpc>
            </a:pPr>
            <a:r>
              <a:rPr lang="zh-CN" altLang="en-US" sz="2400" b="1" dirty="0">
                <a:solidFill>
                  <a:srgbClr val="CC3300"/>
                </a:solidFill>
                <a:latin typeface="楷体_GB2312" pitchFamily="49" charset="-122"/>
                <a:ea typeface="楷体_GB2312" pitchFamily="49" charset="-122"/>
              </a:rPr>
              <a:t>缺点</a:t>
            </a:r>
            <a:r>
              <a:rPr lang="zh-CN" altLang="en-US" sz="2400" b="1" dirty="0">
                <a:latin typeface="楷体_GB2312" pitchFamily="49" charset="-122"/>
                <a:ea typeface="楷体_GB2312" pitchFamily="49" charset="-122"/>
              </a:rPr>
              <a:t>：有强烈的弧光和烟尘，劳动条件差，生产率低，对工人技术水平要求高，焊接质量不稳定。</a:t>
            </a:r>
            <a:endParaRPr lang="zh-CN" altLang="en-US" sz="2400" b="1" dirty="0">
              <a:latin typeface="楷体_GB2312" pitchFamily="49" charset="-122"/>
              <a:ea typeface="楷体_GB2312" pitchFamily="49" charset="-122"/>
            </a:endParaRPr>
          </a:p>
          <a:p>
            <a:pPr lvl="1" eaLnBrk="1" hangingPunct="1">
              <a:lnSpc>
                <a:spcPct val="90000"/>
              </a:lnSpc>
            </a:pPr>
            <a:r>
              <a:rPr lang="zh-CN" altLang="en-US" sz="2400" b="1" dirty="0">
                <a:solidFill>
                  <a:srgbClr val="CC3300"/>
                </a:solidFill>
                <a:latin typeface="楷体_GB2312" pitchFamily="49" charset="-122"/>
                <a:ea typeface="楷体_GB2312" pitchFamily="49" charset="-122"/>
              </a:rPr>
              <a:t>适用</a:t>
            </a:r>
            <a:r>
              <a:rPr lang="zh-CN" altLang="en-US" sz="2400" b="1" dirty="0">
                <a:latin typeface="楷体_GB2312" pitchFamily="49" charset="-122"/>
                <a:ea typeface="楷体_GB2312" pitchFamily="49" charset="-122"/>
              </a:rPr>
              <a:t>：单件小批量生产，焊接碳素钢、低合金结构钢、不锈钢及铸铁的补焊等。</a:t>
            </a:r>
            <a:endParaRPr lang="zh-CN" altLang="en-US" sz="2400" b="1" dirty="0">
              <a:latin typeface="楷体_GB2312" pitchFamily="49" charset="-122"/>
              <a:ea typeface="楷体_GB2312" pitchFamily="49" charset="-122"/>
            </a:endParaRPr>
          </a:p>
        </p:txBody>
      </p:sp>
      <p:pic>
        <p:nvPicPr>
          <p:cNvPr id="36868" name="Picture 1034" descr="8575_3"/>
          <p:cNvPicPr>
            <a:picLocks noChangeAspect="1"/>
          </p:cNvPicPr>
          <p:nvPr/>
        </p:nvPicPr>
        <p:blipFill>
          <a:blip r:embed="rId1"/>
          <a:stretch>
            <a:fillRect/>
          </a:stretch>
        </p:blipFill>
        <p:spPr>
          <a:xfrm>
            <a:off x="4859338" y="4027488"/>
            <a:ext cx="4284662" cy="2830512"/>
          </a:xfrm>
          <a:prstGeom prst="rect">
            <a:avLst/>
          </a:prstGeom>
          <a:noFill/>
          <a:ln w="9525">
            <a:noFill/>
          </a:ln>
        </p:spPr>
      </p:pic>
      <p:pic>
        <p:nvPicPr>
          <p:cNvPr id="36869" name="Picture 1035" descr="Bs10_jpg"/>
          <p:cNvPicPr>
            <a:picLocks noChangeAspect="1"/>
          </p:cNvPicPr>
          <p:nvPr/>
        </p:nvPicPr>
        <p:blipFill>
          <a:blip r:embed="rId2"/>
          <a:stretch>
            <a:fillRect/>
          </a:stretch>
        </p:blipFill>
        <p:spPr>
          <a:xfrm>
            <a:off x="941388" y="4078288"/>
            <a:ext cx="3559175" cy="2779712"/>
          </a:xfrm>
          <a:prstGeom prst="rect">
            <a:avLst/>
          </a:prstGeom>
          <a:noFill/>
          <a:ln w="9525">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Rectangle 2"/>
          <p:cNvSpPr>
            <a:spLocks noGrp="1"/>
          </p:cNvSpPr>
          <p:nvPr>
            <p:ph type="title"/>
          </p:nvPr>
        </p:nvSpPr>
        <p:spPr/>
        <p:txBody>
          <a:bodyPr vert="horz" wrap="square" lIns="91440" tIns="45720" rIns="91440" bIns="45720" anchor="ctr" anchorCtr="0"/>
          <a:p>
            <a:pPr eaLnBrk="1" hangingPunct="1">
              <a:lnSpc>
                <a:spcPct val="90000"/>
              </a:lnSpc>
            </a:pPr>
            <a:r>
              <a:rPr lang="zh-CN" altLang="en-US" dirty="0">
                <a:solidFill>
                  <a:srgbClr val="CC3300"/>
                </a:solidFill>
                <a:latin typeface="楷体_GB2312" pitchFamily="49" charset="-122"/>
                <a:ea typeface="楷体_GB2312" pitchFamily="49" charset="-122"/>
              </a:rPr>
              <a:t>一、焊条电弧焊原理与质量</a:t>
            </a:r>
            <a:endParaRPr lang="zh-CN" altLang="en-US" dirty="0">
              <a:solidFill>
                <a:schemeClr val="tx1"/>
              </a:solidFill>
              <a:ea typeface="楷体_GB2312" pitchFamily="49" charset="-122"/>
            </a:endParaRPr>
          </a:p>
        </p:txBody>
      </p:sp>
      <p:sp>
        <p:nvSpPr>
          <p:cNvPr id="37891" name="Rectangle 3"/>
          <p:cNvSpPr>
            <a:spLocks noGrp="1"/>
          </p:cNvSpPr>
          <p:nvPr>
            <p:ph type="body" sz="half" idx="1"/>
          </p:nvPr>
        </p:nvSpPr>
        <p:spPr>
          <a:xfrm>
            <a:off x="179388" y="1484313"/>
            <a:ext cx="4537075" cy="5068887"/>
          </a:xfrm>
        </p:spPr>
        <p:txBody>
          <a:bodyPr vert="horz" wrap="square" lIns="91440" tIns="45720" rIns="91440" bIns="45720" anchor="t" anchorCtr="0"/>
          <a:p>
            <a:pPr eaLnBrk="1" hangingPunct="1">
              <a:lnSpc>
                <a:spcPct val="90000"/>
              </a:lnSpc>
              <a:buClrTx/>
              <a:buSzTx/>
              <a:buFontTx/>
              <a:buNone/>
            </a:pPr>
            <a:r>
              <a:rPr lang="en-US" altLang="zh-CN" sz="2400" b="1" dirty="0">
                <a:solidFill>
                  <a:srgbClr val="CC0066"/>
                </a:solidFill>
                <a:ea typeface="楷体_GB2312" pitchFamily="49" charset="-122"/>
              </a:rPr>
              <a:t>1.</a:t>
            </a:r>
            <a:r>
              <a:rPr lang="zh-CN" altLang="en-US" sz="2400" b="1" dirty="0">
                <a:solidFill>
                  <a:srgbClr val="CC0066"/>
                </a:solidFill>
                <a:ea typeface="楷体_GB2312" pitchFamily="49" charset="-122"/>
              </a:rPr>
              <a:t>原理：</a:t>
            </a:r>
            <a:r>
              <a:rPr lang="zh-CN" altLang="en-US" sz="2400" b="1" dirty="0">
                <a:ea typeface="楷体_GB2312" pitchFamily="49" charset="-122"/>
              </a:rPr>
              <a:t>在药皮焊条和母材间产生电弧，</a:t>
            </a:r>
            <a:r>
              <a:rPr lang="zh-CN" altLang="en-US" sz="2400" b="1" dirty="0">
                <a:solidFill>
                  <a:srgbClr val="FF0000"/>
                </a:solidFill>
                <a:ea typeface="楷体_GB2312" pitchFamily="49" charset="-122"/>
              </a:rPr>
              <a:t>利用电弧热融化焊条和母材的焊接方法。</a:t>
            </a:r>
            <a:r>
              <a:rPr lang="zh-CN" altLang="en-US" sz="2400" b="1" dirty="0">
                <a:ea typeface="楷体_GB2312" pitchFamily="49" charset="-122"/>
              </a:rPr>
              <a:t>焊条外层覆盖焊药，遇热融化，具有使电弧稳定、形成溶渣、脱氧、精炼等作用。</a:t>
            </a:r>
            <a:endParaRPr lang="en-US" altLang="zh-CN" sz="2400" b="1" dirty="0">
              <a:ea typeface="楷体_GB2312" pitchFamily="49" charset="-122"/>
            </a:endParaRPr>
          </a:p>
          <a:p>
            <a:pPr eaLnBrk="1" hangingPunct="1">
              <a:lnSpc>
                <a:spcPct val="90000"/>
              </a:lnSpc>
              <a:buClrTx/>
              <a:buSzTx/>
              <a:buFontTx/>
              <a:buNone/>
            </a:pPr>
            <a:r>
              <a:rPr lang="en-US" altLang="zh-CN" sz="2400" b="1" dirty="0">
                <a:ea typeface="楷体_GB2312" pitchFamily="49" charset="-122"/>
              </a:rPr>
              <a:t>2.</a:t>
            </a:r>
            <a:r>
              <a:rPr lang="zh-CN" altLang="en-US" sz="2400" b="1" dirty="0">
                <a:ea typeface="楷体_GB2312" pitchFamily="49" charset="-122"/>
              </a:rPr>
              <a:t>质量：</a:t>
            </a:r>
            <a:r>
              <a:rPr lang="zh-CN" altLang="en-US" sz="2400" b="1" dirty="0">
                <a:solidFill>
                  <a:srgbClr val="0000FF"/>
                </a:solidFill>
                <a:latin typeface="楷体_GB2312" pitchFamily="49" charset="-122"/>
                <a:ea typeface="楷体_GB2312" pitchFamily="49" charset="-122"/>
              </a:rPr>
              <a:t>由很多因素决定，</a:t>
            </a:r>
            <a:r>
              <a:rPr lang="zh-CN" altLang="en-US" sz="2400" b="1" dirty="0">
                <a:solidFill>
                  <a:srgbClr val="000000"/>
                </a:solidFill>
                <a:latin typeface="楷体_GB2312" pitchFamily="49" charset="-122"/>
                <a:ea typeface="楷体_GB2312" pitchFamily="49" charset="-122"/>
              </a:rPr>
              <a:t>如母材金属和焊条的质量、</a:t>
            </a:r>
            <a:r>
              <a:rPr lang="zh-CN" altLang="en-US" sz="2400" b="1" dirty="0">
                <a:latin typeface="楷体_GB2312" pitchFamily="49" charset="-122"/>
                <a:ea typeface="楷体_GB2312" pitchFamily="49" charset="-122"/>
              </a:rPr>
              <a:t>焊前的清理程度、焊接时电弧的稳定情况、焊接参数、焊接操作技术、焊后冷却速度以及焊后热处理等。</a:t>
            </a:r>
            <a:endParaRPr lang="zh-CN" altLang="en-US" sz="2400" b="1" dirty="0">
              <a:latin typeface="楷体_GB2312" pitchFamily="49" charset="-122"/>
              <a:ea typeface="楷体_GB2312" pitchFamily="49" charset="-122"/>
            </a:endParaRPr>
          </a:p>
          <a:p>
            <a:pPr eaLnBrk="1" hangingPunct="1">
              <a:lnSpc>
                <a:spcPct val="90000"/>
              </a:lnSpc>
              <a:buClrTx/>
              <a:buSzTx/>
              <a:buFontTx/>
              <a:buNone/>
            </a:pPr>
            <a:endParaRPr lang="en-US" altLang="zh-CN" sz="2400" b="1" dirty="0">
              <a:latin typeface="楷体_GB2312" pitchFamily="49" charset="-122"/>
              <a:ea typeface="楷体_GB2312" pitchFamily="49" charset="-122"/>
            </a:endParaRPr>
          </a:p>
        </p:txBody>
      </p:sp>
      <p:grpSp>
        <p:nvGrpSpPr>
          <p:cNvPr id="37892" name="Group 3"/>
          <p:cNvGrpSpPr/>
          <p:nvPr/>
        </p:nvGrpSpPr>
        <p:grpSpPr>
          <a:xfrm>
            <a:off x="4714875" y="1714500"/>
            <a:ext cx="4248150" cy="4446588"/>
            <a:chOff x="3148" y="1218"/>
            <a:chExt cx="2499" cy="2574"/>
          </a:xfrm>
        </p:grpSpPr>
        <p:pic>
          <p:nvPicPr>
            <p:cNvPr id="37893" name="Picture 7"/>
            <p:cNvPicPr>
              <a:picLocks noChangeAspect="1"/>
            </p:cNvPicPr>
            <p:nvPr/>
          </p:nvPicPr>
          <p:blipFill>
            <a:blip r:embed="rId1"/>
            <a:stretch>
              <a:fillRect/>
            </a:stretch>
          </p:blipFill>
          <p:spPr>
            <a:xfrm>
              <a:off x="3148" y="1218"/>
              <a:ext cx="2499" cy="2574"/>
            </a:xfrm>
            <a:prstGeom prst="rect">
              <a:avLst/>
            </a:prstGeom>
            <a:noFill/>
            <a:ln w="9525">
              <a:noFill/>
            </a:ln>
          </p:spPr>
        </p:pic>
        <p:sp>
          <p:nvSpPr>
            <p:cNvPr id="37894" name="Rectangle 2"/>
            <p:cNvSpPr/>
            <p:nvPr/>
          </p:nvSpPr>
          <p:spPr>
            <a:xfrm>
              <a:off x="3552" y="3475"/>
              <a:ext cx="1641" cy="231"/>
            </a:xfrm>
            <a:prstGeom prst="rect">
              <a:avLst/>
            </a:prstGeom>
            <a:solidFill>
              <a:srgbClr val="FFFFFF"/>
            </a:solidFill>
            <a:ln w="9525">
              <a:noFill/>
            </a:ln>
          </p:spPr>
          <p:txBody>
            <a:bodyPr wrap="none">
              <a:spAutoFit/>
            </a:bodyPr>
            <a:p>
              <a:pPr eaLnBrk="1" hangingPunct="1"/>
              <a:r>
                <a:rPr lang="zh-CN" altLang="en-US" b="1" dirty="0">
                  <a:solidFill>
                    <a:srgbClr val="000000"/>
                  </a:solidFill>
                  <a:latin typeface="楷体_GB2312" pitchFamily="49" charset="-122"/>
                  <a:ea typeface="楷体_GB2312" pitchFamily="49" charset="-122"/>
                </a:rPr>
                <a:t>图</a:t>
              </a:r>
              <a:r>
                <a:rPr lang="en-US" altLang="zh-CN" b="1" dirty="0">
                  <a:solidFill>
                    <a:srgbClr val="000000"/>
                  </a:solidFill>
                  <a:latin typeface="楷体_GB2312" pitchFamily="49" charset="-122"/>
                  <a:ea typeface="楷体_GB2312" pitchFamily="49" charset="-122"/>
                </a:rPr>
                <a:t>4-14 </a:t>
              </a:r>
              <a:r>
                <a:rPr lang="zh-CN" altLang="en-US" b="1" dirty="0">
                  <a:solidFill>
                    <a:srgbClr val="000000"/>
                  </a:solidFill>
                  <a:latin typeface="楷体_GB2312" pitchFamily="49" charset="-122"/>
                  <a:ea typeface="楷体_GB2312" pitchFamily="49" charset="-122"/>
                </a:rPr>
                <a:t>焊条电弧焊过程</a:t>
              </a:r>
              <a:endParaRPr lang="zh-CN" altLang="en-US" b="1" dirty="0">
                <a:solidFill>
                  <a:srgbClr val="000000"/>
                </a:solidFill>
                <a:latin typeface="楷体_GB2312" pitchFamily="49" charset="-122"/>
                <a:ea typeface="楷体_GB2312" pitchFamily="49" charset="-122"/>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3"/>
          <p:cNvSpPr>
            <a:spLocks noGrp="1"/>
          </p:cNvSpPr>
          <p:nvPr>
            <p:ph type="body" sz="half" idx="1"/>
          </p:nvPr>
        </p:nvSpPr>
        <p:spPr>
          <a:xfrm>
            <a:off x="468313" y="1827213"/>
            <a:ext cx="4608512" cy="4530725"/>
          </a:xfrm>
        </p:spPr>
        <p:txBody>
          <a:bodyPr vert="horz" wrap="square" lIns="91440" tIns="45720" rIns="91440" bIns="45720" anchor="t" anchorCtr="0"/>
          <a:p>
            <a:pPr lvl="1" eaLnBrk="1" hangingPunct="1">
              <a:lnSpc>
                <a:spcPct val="90000"/>
              </a:lnSpc>
            </a:pPr>
            <a:r>
              <a:rPr lang="zh-CN" altLang="en-US" sz="2000" b="1" dirty="0">
                <a:ea typeface="楷体_GB2312" pitchFamily="49" charset="-122"/>
              </a:rPr>
              <a:t>电弧在焊条与被焊工件之间燃烧，</a:t>
            </a:r>
            <a:r>
              <a:rPr lang="zh-CN" altLang="en-US" sz="2000" b="1" dirty="0">
                <a:solidFill>
                  <a:srgbClr val="CC0066"/>
                </a:solidFill>
                <a:ea typeface="楷体_GB2312" pitchFamily="49" charset="-122"/>
              </a:rPr>
              <a:t>产生电弧热</a:t>
            </a:r>
            <a:r>
              <a:rPr lang="zh-CN" altLang="en-US" sz="2000" b="1" dirty="0">
                <a:ea typeface="楷体_GB2312" pitchFamily="49" charset="-122"/>
              </a:rPr>
              <a:t>。</a:t>
            </a:r>
            <a:endParaRPr lang="zh-CN" altLang="en-US" sz="2000" b="1" dirty="0">
              <a:ea typeface="楷体_GB2312" pitchFamily="49" charset="-122"/>
            </a:endParaRPr>
          </a:p>
          <a:p>
            <a:pPr lvl="1" eaLnBrk="1" hangingPunct="1">
              <a:lnSpc>
                <a:spcPct val="90000"/>
              </a:lnSpc>
            </a:pPr>
            <a:r>
              <a:rPr lang="zh-CN" altLang="en-US" sz="2000" b="1" dirty="0">
                <a:ea typeface="楷体_GB2312" pitchFamily="49" charset="-122"/>
              </a:rPr>
              <a:t>电弧热使焊条和焊件同时熔化，</a:t>
            </a:r>
            <a:r>
              <a:rPr lang="zh-CN" altLang="en-US" sz="2000" b="1" dirty="0">
                <a:solidFill>
                  <a:srgbClr val="CC0066"/>
                </a:solidFill>
                <a:ea typeface="楷体_GB2312" pitchFamily="49" charset="-122"/>
              </a:rPr>
              <a:t>形成熔池</a:t>
            </a:r>
            <a:r>
              <a:rPr lang="zh-CN" altLang="en-US" sz="2000" b="1" dirty="0">
                <a:ea typeface="楷体_GB2312" pitchFamily="49" charset="-122"/>
              </a:rPr>
              <a:t>。</a:t>
            </a:r>
            <a:endParaRPr lang="zh-CN" altLang="en-US" sz="2000" b="1" dirty="0">
              <a:ea typeface="楷体_GB2312" pitchFamily="49" charset="-122"/>
            </a:endParaRPr>
          </a:p>
          <a:p>
            <a:pPr lvl="1" eaLnBrk="1" hangingPunct="1">
              <a:lnSpc>
                <a:spcPct val="90000"/>
              </a:lnSpc>
            </a:pPr>
            <a:r>
              <a:rPr lang="zh-CN" altLang="en-US" sz="2000" b="1" dirty="0">
                <a:ea typeface="楷体_GB2312" pitchFamily="49" charset="-122"/>
              </a:rPr>
              <a:t>焊条金属熔滴借重力和电弧气体吹力，</a:t>
            </a:r>
            <a:r>
              <a:rPr lang="zh-CN" altLang="en-US" sz="2000" b="1" dirty="0">
                <a:solidFill>
                  <a:srgbClr val="CC0066"/>
                </a:solidFill>
                <a:ea typeface="楷体_GB2312" pitchFamily="49" charset="-122"/>
              </a:rPr>
              <a:t>向熔池过渡</a:t>
            </a:r>
            <a:r>
              <a:rPr lang="zh-CN" altLang="en-US" sz="2000" b="1" dirty="0">
                <a:ea typeface="楷体_GB2312" pitchFamily="49" charset="-122"/>
              </a:rPr>
              <a:t>。</a:t>
            </a:r>
            <a:endParaRPr lang="zh-CN" altLang="en-US" sz="2000" b="1" dirty="0">
              <a:ea typeface="楷体_GB2312" pitchFamily="49" charset="-122"/>
            </a:endParaRPr>
          </a:p>
          <a:p>
            <a:pPr lvl="1" eaLnBrk="1" hangingPunct="1">
              <a:lnSpc>
                <a:spcPct val="90000"/>
              </a:lnSpc>
            </a:pPr>
            <a:r>
              <a:rPr lang="zh-CN" altLang="en-US" sz="2000" b="1" dirty="0">
                <a:ea typeface="楷体_GB2312" pitchFamily="49" charset="-122"/>
              </a:rPr>
              <a:t>电弧热使焊条药皮熔化或燃烧，熔渣从熔池中浮起，产生大量二氧化碳，</a:t>
            </a:r>
            <a:r>
              <a:rPr lang="zh-CN" altLang="en-US" sz="2000" b="1" dirty="0">
                <a:solidFill>
                  <a:srgbClr val="CC0066"/>
                </a:solidFill>
                <a:ea typeface="楷体_GB2312" pitchFamily="49" charset="-122"/>
              </a:rPr>
              <a:t>起保护作用</a:t>
            </a:r>
            <a:r>
              <a:rPr lang="zh-CN" altLang="en-US" sz="2000" b="1" dirty="0">
                <a:ea typeface="楷体_GB2312" pitchFamily="49" charset="-122"/>
              </a:rPr>
              <a:t>。</a:t>
            </a:r>
            <a:endParaRPr lang="zh-CN" altLang="en-US" sz="2000" b="1" dirty="0">
              <a:ea typeface="楷体_GB2312" pitchFamily="49" charset="-122"/>
            </a:endParaRPr>
          </a:p>
          <a:p>
            <a:pPr lvl="1" eaLnBrk="1" hangingPunct="1">
              <a:lnSpc>
                <a:spcPct val="90000"/>
              </a:lnSpc>
            </a:pPr>
            <a:r>
              <a:rPr lang="zh-CN" altLang="en-US" sz="2000" b="1" dirty="0">
                <a:ea typeface="楷体_GB2312" pitchFamily="49" charset="-122"/>
              </a:rPr>
              <a:t>当焊条向前移动时，焊条和焊件陆续熔化，</a:t>
            </a:r>
            <a:r>
              <a:rPr lang="zh-CN" altLang="en-US" sz="2000" b="1" dirty="0">
                <a:solidFill>
                  <a:srgbClr val="CC0066"/>
                </a:solidFill>
                <a:ea typeface="楷体_GB2312" pitchFamily="49" charset="-122"/>
              </a:rPr>
              <a:t>汇成新的熔池</a:t>
            </a:r>
            <a:r>
              <a:rPr lang="zh-CN" altLang="en-US" sz="2000" b="1" dirty="0">
                <a:ea typeface="楷体_GB2312" pitchFamily="49" charset="-122"/>
              </a:rPr>
              <a:t>。</a:t>
            </a:r>
            <a:endParaRPr lang="zh-CN" altLang="en-US" sz="2000" b="1" dirty="0">
              <a:ea typeface="楷体_GB2312" pitchFamily="49" charset="-122"/>
            </a:endParaRPr>
          </a:p>
          <a:p>
            <a:pPr lvl="1" eaLnBrk="1" hangingPunct="1">
              <a:lnSpc>
                <a:spcPct val="90000"/>
              </a:lnSpc>
            </a:pPr>
            <a:r>
              <a:rPr lang="zh-CN" altLang="en-US" sz="2000" b="1" dirty="0">
                <a:ea typeface="楷体_GB2312" pitchFamily="49" charset="-122"/>
              </a:rPr>
              <a:t>原先的熔池则不断冷却凝固，</a:t>
            </a:r>
            <a:r>
              <a:rPr lang="zh-CN" altLang="en-US" sz="2000" b="1" dirty="0">
                <a:solidFill>
                  <a:srgbClr val="CC0066"/>
                </a:solidFill>
                <a:ea typeface="楷体_GB2312" pitchFamily="49" charset="-122"/>
              </a:rPr>
              <a:t>构成连续焊缝</a:t>
            </a:r>
            <a:r>
              <a:rPr lang="zh-CN" altLang="en-US" sz="2000" b="1" dirty="0">
                <a:ea typeface="楷体_GB2312" pitchFamily="49" charset="-122"/>
              </a:rPr>
              <a:t>。</a:t>
            </a:r>
            <a:endParaRPr lang="zh-CN" altLang="en-US" sz="2000" b="1" dirty="0">
              <a:ea typeface="楷体_GB2312" pitchFamily="49" charset="-122"/>
            </a:endParaRPr>
          </a:p>
          <a:p>
            <a:pPr lvl="1" eaLnBrk="1" hangingPunct="1">
              <a:lnSpc>
                <a:spcPct val="90000"/>
              </a:lnSpc>
            </a:pPr>
            <a:r>
              <a:rPr lang="zh-CN" altLang="en-US" sz="2000" b="1" dirty="0">
                <a:ea typeface="楷体_GB2312" pitchFamily="49" charset="-122"/>
              </a:rPr>
              <a:t>覆盖在熔池表面的熔渣，</a:t>
            </a:r>
            <a:r>
              <a:rPr lang="zh-CN" altLang="en-US" sz="2000" b="1" dirty="0">
                <a:solidFill>
                  <a:srgbClr val="CC0066"/>
                </a:solidFill>
                <a:ea typeface="楷体_GB2312" pitchFamily="49" charset="-122"/>
              </a:rPr>
              <a:t>凝固成一层渣壳（焊渣）</a:t>
            </a:r>
            <a:r>
              <a:rPr lang="zh-CN" altLang="en-US" sz="2000" b="1" dirty="0">
                <a:ea typeface="楷体_GB2312" pitchFamily="49" charset="-122"/>
              </a:rPr>
              <a:t>。</a:t>
            </a:r>
            <a:endParaRPr lang="zh-CN" altLang="en-US" sz="2000" b="1" dirty="0">
              <a:ea typeface="楷体_GB2312" pitchFamily="49" charset="-122"/>
            </a:endParaRPr>
          </a:p>
          <a:p>
            <a:pPr lvl="2" eaLnBrk="1" hangingPunct="1">
              <a:lnSpc>
                <a:spcPct val="90000"/>
              </a:lnSpc>
            </a:pPr>
            <a:endParaRPr lang="en-US" altLang="zh-CN" sz="2000" b="1" dirty="0">
              <a:ea typeface="楷体_GB2312" pitchFamily="49" charset="-122"/>
            </a:endParaRPr>
          </a:p>
        </p:txBody>
      </p:sp>
      <p:pic>
        <p:nvPicPr>
          <p:cNvPr id="38915" name="Picture 4"/>
          <p:cNvPicPr>
            <a:picLocks noChangeAspect="1"/>
          </p:cNvPicPr>
          <p:nvPr>
            <p:ph sz="quarter" idx="2"/>
          </p:nvPr>
        </p:nvPicPr>
        <p:blipFill>
          <a:blip r:embed="rId1"/>
          <a:srcRect/>
          <a:stretch>
            <a:fillRect/>
          </a:stretch>
        </p:blipFill>
        <p:spPr>
          <a:xfrm>
            <a:off x="5026025" y="2349500"/>
            <a:ext cx="3954463" cy="3167063"/>
          </a:xfrm>
          <a:solidFill>
            <a:srgbClr val="CCFF33">
              <a:alpha val="100000"/>
            </a:srgbClr>
          </a:solidFill>
        </p:spPr>
      </p:pic>
      <p:grpSp>
        <p:nvGrpSpPr>
          <p:cNvPr id="2" name="Group 5"/>
          <p:cNvGrpSpPr/>
          <p:nvPr/>
        </p:nvGrpSpPr>
        <p:grpSpPr>
          <a:xfrm>
            <a:off x="684213" y="1989138"/>
            <a:ext cx="215900" cy="647700"/>
            <a:chOff x="431" y="1207"/>
            <a:chExt cx="136" cy="363"/>
          </a:xfrm>
        </p:grpSpPr>
        <p:sp>
          <p:nvSpPr>
            <p:cNvPr id="38933" name="Line 6"/>
            <p:cNvSpPr/>
            <p:nvPr/>
          </p:nvSpPr>
          <p:spPr>
            <a:xfrm flipH="1">
              <a:off x="431" y="1207"/>
              <a:ext cx="136" cy="0"/>
            </a:xfrm>
            <a:prstGeom prst="line">
              <a:avLst/>
            </a:prstGeom>
            <a:ln w="28575" cap="flat" cmpd="sng">
              <a:solidFill>
                <a:srgbClr val="9900CC"/>
              </a:solidFill>
              <a:prstDash val="solid"/>
              <a:headEnd type="none" w="med" len="med"/>
              <a:tailEnd type="none" w="med" len="med"/>
            </a:ln>
          </p:spPr>
        </p:sp>
        <p:sp>
          <p:nvSpPr>
            <p:cNvPr id="38934" name="Line 7"/>
            <p:cNvSpPr/>
            <p:nvPr/>
          </p:nvSpPr>
          <p:spPr>
            <a:xfrm>
              <a:off x="431" y="1207"/>
              <a:ext cx="0" cy="363"/>
            </a:xfrm>
            <a:prstGeom prst="line">
              <a:avLst/>
            </a:prstGeom>
            <a:ln w="28575" cap="flat" cmpd="sng">
              <a:solidFill>
                <a:srgbClr val="9900CC"/>
              </a:solidFill>
              <a:prstDash val="solid"/>
              <a:headEnd type="none" w="med" len="med"/>
              <a:tailEnd type="none" w="med" len="med"/>
            </a:ln>
          </p:spPr>
        </p:sp>
        <p:sp>
          <p:nvSpPr>
            <p:cNvPr id="38935" name="Line 8"/>
            <p:cNvSpPr/>
            <p:nvPr/>
          </p:nvSpPr>
          <p:spPr>
            <a:xfrm>
              <a:off x="431" y="1570"/>
              <a:ext cx="136" cy="0"/>
            </a:xfrm>
            <a:prstGeom prst="line">
              <a:avLst/>
            </a:prstGeom>
            <a:ln w="28575" cap="flat" cmpd="sng">
              <a:solidFill>
                <a:srgbClr val="9900CC"/>
              </a:solidFill>
              <a:prstDash val="solid"/>
              <a:headEnd type="none" w="med" len="med"/>
              <a:tailEnd type="triangle" w="med" len="med"/>
            </a:ln>
          </p:spPr>
        </p:sp>
      </p:grpSp>
      <p:sp>
        <p:nvSpPr>
          <p:cNvPr id="1040393" name="Line 9"/>
          <p:cNvSpPr/>
          <p:nvPr/>
        </p:nvSpPr>
        <p:spPr>
          <a:xfrm>
            <a:off x="684213" y="2635250"/>
            <a:ext cx="0" cy="1081088"/>
          </a:xfrm>
          <a:prstGeom prst="line">
            <a:avLst/>
          </a:prstGeom>
          <a:ln w="28575" cap="flat" cmpd="sng">
            <a:solidFill>
              <a:srgbClr val="9900CC"/>
            </a:solidFill>
            <a:prstDash val="solid"/>
            <a:headEnd type="none" w="med" len="med"/>
            <a:tailEnd type="none" w="med" len="med"/>
          </a:ln>
        </p:spPr>
      </p:sp>
      <p:sp>
        <p:nvSpPr>
          <p:cNvPr id="1040394" name="Line 10"/>
          <p:cNvSpPr/>
          <p:nvPr/>
        </p:nvSpPr>
        <p:spPr>
          <a:xfrm>
            <a:off x="684213" y="3213100"/>
            <a:ext cx="215900" cy="0"/>
          </a:xfrm>
          <a:prstGeom prst="line">
            <a:avLst/>
          </a:prstGeom>
          <a:ln w="28575" cap="flat" cmpd="sng">
            <a:solidFill>
              <a:srgbClr val="9900CC"/>
            </a:solidFill>
            <a:prstDash val="solid"/>
            <a:headEnd type="none" w="med" len="med"/>
            <a:tailEnd type="triangle" w="med" len="med"/>
          </a:ln>
        </p:spPr>
      </p:sp>
      <p:sp>
        <p:nvSpPr>
          <p:cNvPr id="1040395" name="Line 11"/>
          <p:cNvSpPr/>
          <p:nvPr/>
        </p:nvSpPr>
        <p:spPr>
          <a:xfrm>
            <a:off x="684213" y="3716338"/>
            <a:ext cx="215900" cy="0"/>
          </a:xfrm>
          <a:prstGeom prst="line">
            <a:avLst/>
          </a:prstGeom>
          <a:ln w="28575" cap="flat" cmpd="sng">
            <a:solidFill>
              <a:srgbClr val="9900CC"/>
            </a:solidFill>
            <a:prstDash val="solid"/>
            <a:headEnd type="none" w="med" len="med"/>
            <a:tailEnd type="triangle" w="med" len="med"/>
          </a:ln>
        </p:spPr>
      </p:sp>
      <p:grpSp>
        <p:nvGrpSpPr>
          <p:cNvPr id="3" name="Group 12"/>
          <p:cNvGrpSpPr/>
          <p:nvPr/>
        </p:nvGrpSpPr>
        <p:grpSpPr>
          <a:xfrm>
            <a:off x="684213" y="3816350"/>
            <a:ext cx="215900" cy="836613"/>
            <a:chOff x="431" y="1207"/>
            <a:chExt cx="136" cy="363"/>
          </a:xfrm>
        </p:grpSpPr>
        <p:sp>
          <p:nvSpPr>
            <p:cNvPr id="38930" name="Line 13"/>
            <p:cNvSpPr/>
            <p:nvPr/>
          </p:nvSpPr>
          <p:spPr>
            <a:xfrm flipH="1">
              <a:off x="431" y="1207"/>
              <a:ext cx="136" cy="0"/>
            </a:xfrm>
            <a:prstGeom prst="line">
              <a:avLst/>
            </a:prstGeom>
            <a:ln w="28575" cap="flat" cmpd="sng">
              <a:solidFill>
                <a:srgbClr val="9900CC"/>
              </a:solidFill>
              <a:prstDash val="solid"/>
              <a:headEnd type="none" w="med" len="med"/>
              <a:tailEnd type="none" w="med" len="med"/>
            </a:ln>
          </p:spPr>
        </p:sp>
        <p:sp>
          <p:nvSpPr>
            <p:cNvPr id="38931" name="Line 14"/>
            <p:cNvSpPr/>
            <p:nvPr/>
          </p:nvSpPr>
          <p:spPr>
            <a:xfrm>
              <a:off x="431" y="1207"/>
              <a:ext cx="0" cy="363"/>
            </a:xfrm>
            <a:prstGeom prst="line">
              <a:avLst/>
            </a:prstGeom>
            <a:ln w="28575" cap="flat" cmpd="sng">
              <a:solidFill>
                <a:srgbClr val="9900CC"/>
              </a:solidFill>
              <a:prstDash val="solid"/>
              <a:headEnd type="none" w="med" len="med"/>
              <a:tailEnd type="none" w="med" len="med"/>
            </a:ln>
          </p:spPr>
        </p:sp>
        <p:sp>
          <p:nvSpPr>
            <p:cNvPr id="38932" name="Line 15"/>
            <p:cNvSpPr/>
            <p:nvPr/>
          </p:nvSpPr>
          <p:spPr>
            <a:xfrm>
              <a:off x="431" y="1570"/>
              <a:ext cx="136" cy="0"/>
            </a:xfrm>
            <a:prstGeom prst="line">
              <a:avLst/>
            </a:prstGeom>
            <a:ln w="28575" cap="flat" cmpd="sng">
              <a:solidFill>
                <a:srgbClr val="9900CC"/>
              </a:solidFill>
              <a:prstDash val="solid"/>
              <a:headEnd type="none" w="med" len="med"/>
              <a:tailEnd type="triangle" w="med" len="med"/>
            </a:ln>
          </p:spPr>
        </p:sp>
      </p:grpSp>
      <p:grpSp>
        <p:nvGrpSpPr>
          <p:cNvPr id="4" name="Group 16"/>
          <p:cNvGrpSpPr/>
          <p:nvPr/>
        </p:nvGrpSpPr>
        <p:grpSpPr>
          <a:xfrm>
            <a:off x="687388" y="4713288"/>
            <a:ext cx="241300" cy="530225"/>
            <a:chOff x="431" y="1207"/>
            <a:chExt cx="136" cy="363"/>
          </a:xfrm>
        </p:grpSpPr>
        <p:sp>
          <p:nvSpPr>
            <p:cNvPr id="38927" name="Line 17"/>
            <p:cNvSpPr/>
            <p:nvPr/>
          </p:nvSpPr>
          <p:spPr>
            <a:xfrm flipH="1">
              <a:off x="431" y="1207"/>
              <a:ext cx="136" cy="0"/>
            </a:xfrm>
            <a:prstGeom prst="line">
              <a:avLst/>
            </a:prstGeom>
            <a:ln w="28575" cap="flat" cmpd="sng">
              <a:solidFill>
                <a:srgbClr val="9900CC"/>
              </a:solidFill>
              <a:prstDash val="solid"/>
              <a:headEnd type="none" w="med" len="med"/>
              <a:tailEnd type="none" w="med" len="med"/>
            </a:ln>
          </p:spPr>
        </p:sp>
        <p:sp>
          <p:nvSpPr>
            <p:cNvPr id="38928" name="Line 18"/>
            <p:cNvSpPr/>
            <p:nvPr/>
          </p:nvSpPr>
          <p:spPr>
            <a:xfrm>
              <a:off x="431" y="1207"/>
              <a:ext cx="0" cy="363"/>
            </a:xfrm>
            <a:prstGeom prst="line">
              <a:avLst/>
            </a:prstGeom>
            <a:ln w="28575" cap="flat" cmpd="sng">
              <a:solidFill>
                <a:srgbClr val="9900CC"/>
              </a:solidFill>
              <a:prstDash val="solid"/>
              <a:headEnd type="none" w="med" len="med"/>
              <a:tailEnd type="none" w="med" len="med"/>
            </a:ln>
          </p:spPr>
        </p:sp>
        <p:sp>
          <p:nvSpPr>
            <p:cNvPr id="38929" name="Line 19"/>
            <p:cNvSpPr/>
            <p:nvPr/>
          </p:nvSpPr>
          <p:spPr>
            <a:xfrm>
              <a:off x="431" y="1570"/>
              <a:ext cx="136" cy="0"/>
            </a:xfrm>
            <a:prstGeom prst="line">
              <a:avLst/>
            </a:prstGeom>
            <a:ln w="28575" cap="flat" cmpd="sng">
              <a:solidFill>
                <a:srgbClr val="9900CC"/>
              </a:solidFill>
              <a:prstDash val="solid"/>
              <a:headEnd type="none" w="med" len="med"/>
              <a:tailEnd type="triangle" w="med" len="med"/>
            </a:ln>
          </p:spPr>
        </p:sp>
      </p:grpSp>
      <p:grpSp>
        <p:nvGrpSpPr>
          <p:cNvPr id="5" name="Group 20"/>
          <p:cNvGrpSpPr/>
          <p:nvPr/>
        </p:nvGrpSpPr>
        <p:grpSpPr>
          <a:xfrm>
            <a:off x="684213" y="5300663"/>
            <a:ext cx="215900" cy="649287"/>
            <a:chOff x="431" y="1207"/>
            <a:chExt cx="136" cy="363"/>
          </a:xfrm>
        </p:grpSpPr>
        <p:sp>
          <p:nvSpPr>
            <p:cNvPr id="38924" name="Line 21"/>
            <p:cNvSpPr/>
            <p:nvPr/>
          </p:nvSpPr>
          <p:spPr>
            <a:xfrm flipH="1">
              <a:off x="431" y="1207"/>
              <a:ext cx="136" cy="0"/>
            </a:xfrm>
            <a:prstGeom prst="line">
              <a:avLst/>
            </a:prstGeom>
            <a:ln w="28575" cap="flat" cmpd="sng">
              <a:solidFill>
                <a:srgbClr val="9900CC"/>
              </a:solidFill>
              <a:prstDash val="solid"/>
              <a:headEnd type="none" w="med" len="med"/>
              <a:tailEnd type="none" w="med" len="med"/>
            </a:ln>
          </p:spPr>
        </p:sp>
        <p:sp>
          <p:nvSpPr>
            <p:cNvPr id="38925" name="Line 22"/>
            <p:cNvSpPr/>
            <p:nvPr/>
          </p:nvSpPr>
          <p:spPr>
            <a:xfrm>
              <a:off x="431" y="1207"/>
              <a:ext cx="0" cy="363"/>
            </a:xfrm>
            <a:prstGeom prst="line">
              <a:avLst/>
            </a:prstGeom>
            <a:ln w="28575" cap="flat" cmpd="sng">
              <a:solidFill>
                <a:srgbClr val="9900CC"/>
              </a:solidFill>
              <a:prstDash val="solid"/>
              <a:headEnd type="none" w="med" len="med"/>
              <a:tailEnd type="none" w="med" len="med"/>
            </a:ln>
          </p:spPr>
        </p:sp>
        <p:sp>
          <p:nvSpPr>
            <p:cNvPr id="38926" name="Line 23"/>
            <p:cNvSpPr/>
            <p:nvPr/>
          </p:nvSpPr>
          <p:spPr>
            <a:xfrm>
              <a:off x="431" y="1570"/>
              <a:ext cx="136" cy="0"/>
            </a:xfrm>
            <a:prstGeom prst="line">
              <a:avLst/>
            </a:prstGeom>
            <a:ln w="28575" cap="flat" cmpd="sng">
              <a:solidFill>
                <a:srgbClr val="9900CC"/>
              </a:solidFill>
              <a:prstDash val="solid"/>
              <a:headEnd type="none" w="med" len="med"/>
              <a:tailEnd type="triangle" w="med" len="med"/>
            </a:ln>
          </p:spPr>
        </p:sp>
      </p:grpSp>
      <p:sp>
        <p:nvSpPr>
          <p:cNvPr id="38923" name="Rectangle 25"/>
          <p:cNvSpPr>
            <a:spLocks noGrp="1"/>
          </p:cNvSpPr>
          <p:nvPr>
            <p:ph type="title"/>
          </p:nvPr>
        </p:nvSpPr>
        <p:spPr/>
        <p:txBody>
          <a:bodyPr vert="horz" wrap="square" lIns="91440" tIns="45720" rIns="91440" bIns="45720" anchor="ctr" anchorCtr="0"/>
          <a:p>
            <a:pPr algn="ctr" eaLnBrk="1" hangingPunct="1"/>
            <a:r>
              <a:rPr lang="en-US" altLang="zh-CN" sz="4400" dirty="0">
                <a:solidFill>
                  <a:srgbClr val="CC3300"/>
                </a:solidFill>
                <a:latin typeface="楷体_GB2312" pitchFamily="49" charset="-122"/>
                <a:ea typeface="楷体_GB2312" pitchFamily="49" charset="-122"/>
              </a:rPr>
              <a:t>3.</a:t>
            </a:r>
            <a:r>
              <a:rPr lang="zh-CN" altLang="en-US" sz="4400" dirty="0">
                <a:solidFill>
                  <a:srgbClr val="CC3300"/>
                </a:solidFill>
                <a:latin typeface="楷体_GB2312" pitchFamily="49" charset="-122"/>
                <a:ea typeface="楷体_GB2312" pitchFamily="49" charset="-122"/>
              </a:rPr>
              <a:t>焊接过程</a:t>
            </a:r>
            <a:endParaRPr lang="zh-CN" altLang="en-US" sz="4400" dirty="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040393"/>
                                        </p:tgtEl>
                                        <p:attrNameLst>
                                          <p:attrName>style.visibility</p:attrName>
                                        </p:attrNameLst>
                                      </p:cBhvr>
                                      <p:to>
                                        <p:strVal val="visible"/>
                                      </p:to>
                                    </p:set>
                                    <p:anim calcmode="lin" valueType="num">
                                      <p:cBhvr additive="base">
                                        <p:cTn id="13" dur="500" fill="hold"/>
                                        <p:tgtEl>
                                          <p:spTgt spid="1040393"/>
                                        </p:tgtEl>
                                        <p:attrNameLst>
                                          <p:attrName>ppt_x</p:attrName>
                                        </p:attrNameLst>
                                      </p:cBhvr>
                                      <p:tavLst>
                                        <p:tav tm="0">
                                          <p:val>
                                            <p:strVal val="0-#ppt_w/2"/>
                                          </p:val>
                                        </p:tav>
                                        <p:tav tm="100000">
                                          <p:val>
                                            <p:strVal val="#ppt_x"/>
                                          </p:val>
                                        </p:tav>
                                      </p:tavLst>
                                    </p:anim>
                                    <p:anim calcmode="lin" valueType="num">
                                      <p:cBhvr additive="base">
                                        <p:cTn id="14" dur="500" fill="hold"/>
                                        <p:tgtEl>
                                          <p:spTgt spid="1040393"/>
                                        </p:tgtEl>
                                        <p:attrNameLst>
                                          <p:attrName>ppt_y</p:attrName>
                                        </p:attrNameLst>
                                      </p:cBhvr>
                                      <p:tavLst>
                                        <p:tav tm="0">
                                          <p:val>
                                            <p:strVal val="#ppt_y"/>
                                          </p:val>
                                        </p:tav>
                                        <p:tav tm="100000">
                                          <p:val>
                                            <p:strVal val="#ppt_y"/>
                                          </p:val>
                                        </p:tav>
                                      </p:tavLst>
                                    </p:anim>
                                  </p:childTnLst>
                                </p:cTn>
                              </p:par>
                              <p:par>
                                <p:cTn id="15" presetID="2" presetClass="entr" presetSubtype="8" fill="hold" nodeType="withEffect">
                                  <p:stCondLst>
                                    <p:cond delay="0"/>
                                  </p:stCondLst>
                                  <p:childTnLst>
                                    <p:set>
                                      <p:cBhvr>
                                        <p:cTn id="16" dur="1" fill="hold">
                                          <p:stCondLst>
                                            <p:cond delay="0"/>
                                          </p:stCondLst>
                                        </p:cTn>
                                        <p:tgtEl>
                                          <p:spTgt spid="1040394"/>
                                        </p:tgtEl>
                                        <p:attrNameLst>
                                          <p:attrName>style.visibility</p:attrName>
                                        </p:attrNameLst>
                                      </p:cBhvr>
                                      <p:to>
                                        <p:strVal val="visible"/>
                                      </p:to>
                                    </p:set>
                                    <p:anim calcmode="lin" valueType="num">
                                      <p:cBhvr additive="base">
                                        <p:cTn id="17" dur="500" fill="hold"/>
                                        <p:tgtEl>
                                          <p:spTgt spid="1040394"/>
                                        </p:tgtEl>
                                        <p:attrNameLst>
                                          <p:attrName>ppt_x</p:attrName>
                                        </p:attrNameLst>
                                      </p:cBhvr>
                                      <p:tavLst>
                                        <p:tav tm="0">
                                          <p:val>
                                            <p:strVal val="0-#ppt_w/2"/>
                                          </p:val>
                                        </p:tav>
                                        <p:tav tm="100000">
                                          <p:val>
                                            <p:strVal val="#ppt_x"/>
                                          </p:val>
                                        </p:tav>
                                      </p:tavLst>
                                    </p:anim>
                                    <p:anim calcmode="lin" valueType="num">
                                      <p:cBhvr additive="base">
                                        <p:cTn id="18" dur="500" fill="hold"/>
                                        <p:tgtEl>
                                          <p:spTgt spid="1040394"/>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1040395"/>
                                        </p:tgtEl>
                                        <p:attrNameLst>
                                          <p:attrName>style.visibility</p:attrName>
                                        </p:attrNameLst>
                                      </p:cBhvr>
                                      <p:to>
                                        <p:strVal val="visible"/>
                                      </p:to>
                                    </p:set>
                                    <p:anim calcmode="lin" valueType="num">
                                      <p:cBhvr additive="base">
                                        <p:cTn id="23" dur="500" fill="hold"/>
                                        <p:tgtEl>
                                          <p:spTgt spid="1040395"/>
                                        </p:tgtEl>
                                        <p:attrNameLst>
                                          <p:attrName>ppt_x</p:attrName>
                                        </p:attrNameLst>
                                      </p:cBhvr>
                                      <p:tavLst>
                                        <p:tav tm="0">
                                          <p:val>
                                            <p:strVal val="0-#ppt_w/2"/>
                                          </p:val>
                                        </p:tav>
                                        <p:tav tm="100000">
                                          <p:val>
                                            <p:strVal val="#ppt_x"/>
                                          </p:val>
                                        </p:tav>
                                      </p:tavLst>
                                    </p:anim>
                                    <p:anim calcmode="lin" valueType="num">
                                      <p:cBhvr additive="base">
                                        <p:cTn id="24" dur="500" fill="hold"/>
                                        <p:tgtEl>
                                          <p:spTgt spid="1040395"/>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stCondLst>
                                    <p:cond delay="0"/>
                                  </p:stCondLst>
                                  <p:childTnLst>
                                    <p:set>
                                      <p:cBhvr>
                                        <p:cTn id="28" dur="1" fill="hold">
                                          <p:stCondLst>
                                            <p:cond delay="0"/>
                                          </p:stCondLst>
                                        </p:cTn>
                                        <p:tgtEl>
                                          <p:spTgt spid="3"/>
                                        </p:tgtEl>
                                        <p:attrNameLst>
                                          <p:attrName>style.visibility</p:attrName>
                                        </p:attrNameLst>
                                      </p:cBhvr>
                                      <p:to>
                                        <p:strVal val="visible"/>
                                      </p:to>
                                    </p:set>
                                    <p:anim calcmode="lin" valueType="num">
                                      <p:cBhvr additive="base">
                                        <p:cTn id="29" dur="500" fill="hold"/>
                                        <p:tgtEl>
                                          <p:spTgt spid="3"/>
                                        </p:tgtEl>
                                        <p:attrNameLst>
                                          <p:attrName>ppt_x</p:attrName>
                                        </p:attrNameLst>
                                      </p:cBhvr>
                                      <p:tavLst>
                                        <p:tav tm="0">
                                          <p:val>
                                            <p:strVal val="0-#ppt_w/2"/>
                                          </p:val>
                                        </p:tav>
                                        <p:tav tm="100000">
                                          <p:val>
                                            <p:strVal val="#ppt_x"/>
                                          </p:val>
                                        </p:tav>
                                      </p:tavLst>
                                    </p:anim>
                                    <p:anim calcmode="lin" valueType="num">
                                      <p:cBhvr additive="base">
                                        <p:cTn id="30"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nodeType="clickEffect">
                                  <p:stCondLst>
                                    <p:cond delay="0"/>
                                  </p:stCondLst>
                                  <p:childTnLst>
                                    <p:set>
                                      <p:cBhvr>
                                        <p:cTn id="34" dur="1" fill="hold">
                                          <p:stCondLst>
                                            <p:cond delay="0"/>
                                          </p:stCondLst>
                                        </p:cTn>
                                        <p:tgtEl>
                                          <p:spTgt spid="4"/>
                                        </p:tgtEl>
                                        <p:attrNameLst>
                                          <p:attrName>style.visibility</p:attrName>
                                        </p:attrNameLst>
                                      </p:cBhvr>
                                      <p:to>
                                        <p:strVal val="visible"/>
                                      </p:to>
                                    </p:set>
                                    <p:anim calcmode="lin" valueType="num">
                                      <p:cBhvr additive="base">
                                        <p:cTn id="35" dur="500" fill="hold"/>
                                        <p:tgtEl>
                                          <p:spTgt spid="4"/>
                                        </p:tgtEl>
                                        <p:attrNameLst>
                                          <p:attrName>ppt_x</p:attrName>
                                        </p:attrNameLst>
                                      </p:cBhvr>
                                      <p:tavLst>
                                        <p:tav tm="0">
                                          <p:val>
                                            <p:strVal val="0-#ppt_w/2"/>
                                          </p:val>
                                        </p:tav>
                                        <p:tav tm="100000">
                                          <p:val>
                                            <p:strVal val="#ppt_x"/>
                                          </p:val>
                                        </p:tav>
                                      </p:tavLst>
                                    </p:anim>
                                    <p:anim calcmode="lin" valueType="num">
                                      <p:cBhvr additive="base">
                                        <p:cTn id="36"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nodeType="clickEffect">
                                  <p:stCondLst>
                                    <p:cond delay="0"/>
                                  </p:stCondLst>
                                  <p:childTnLst>
                                    <p:set>
                                      <p:cBhvr>
                                        <p:cTn id="40" dur="1" fill="hold">
                                          <p:stCondLst>
                                            <p:cond delay="0"/>
                                          </p:stCondLst>
                                        </p:cTn>
                                        <p:tgtEl>
                                          <p:spTgt spid="5"/>
                                        </p:tgtEl>
                                        <p:attrNameLst>
                                          <p:attrName>style.visibility</p:attrName>
                                        </p:attrNameLst>
                                      </p:cBhvr>
                                      <p:to>
                                        <p:strVal val="visible"/>
                                      </p:to>
                                    </p:set>
                                    <p:anim calcmode="lin" valueType="num">
                                      <p:cBhvr additive="base">
                                        <p:cTn id="41" dur="500" fill="hold"/>
                                        <p:tgtEl>
                                          <p:spTgt spid="5"/>
                                        </p:tgtEl>
                                        <p:attrNameLst>
                                          <p:attrName>ppt_x</p:attrName>
                                        </p:attrNameLst>
                                      </p:cBhvr>
                                      <p:tavLst>
                                        <p:tav tm="0">
                                          <p:val>
                                            <p:strVal val="0-#ppt_w/2"/>
                                          </p:val>
                                        </p:tav>
                                        <p:tav tm="100000">
                                          <p:val>
                                            <p:strVal val="#ppt_x"/>
                                          </p:val>
                                        </p:tav>
                                      </p:tavLst>
                                    </p:anim>
                                    <p:anim calcmode="lin" valueType="num">
                                      <p:cBhvr additive="base">
                                        <p:cTn id="42"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Rectangle 3"/>
          <p:cNvSpPr>
            <a:spLocks noGrp="1"/>
          </p:cNvSpPr>
          <p:nvPr>
            <p:ph idx="1"/>
          </p:nvPr>
        </p:nvSpPr>
        <p:spPr>
          <a:xfrm>
            <a:off x="179388" y="1412875"/>
            <a:ext cx="8686800" cy="5111750"/>
          </a:xfrm>
        </p:spPr>
        <p:txBody>
          <a:bodyPr vert="horz" wrap="square" lIns="91440" tIns="45720" rIns="91440" bIns="45720" anchor="t" anchorCtr="0"/>
          <a:p>
            <a:pPr eaLnBrk="1" hangingPunct="1">
              <a:lnSpc>
                <a:spcPct val="90000"/>
              </a:lnSpc>
            </a:pPr>
            <a:r>
              <a:rPr lang="zh-CN" altLang="en-US" sz="2800" b="1" dirty="0">
                <a:solidFill>
                  <a:srgbClr val="CC3300"/>
                </a:solidFill>
                <a:latin typeface="楷体_GB2312" pitchFamily="49" charset="-122"/>
                <a:ea typeface="楷体_GB2312" pitchFamily="49" charset="-122"/>
              </a:rPr>
              <a:t>焊条：</a:t>
            </a:r>
            <a:r>
              <a:rPr lang="zh-CN" altLang="en-US" sz="2800" b="1" dirty="0">
                <a:latin typeface="楷体_GB2312" pitchFamily="49" charset="-122"/>
                <a:ea typeface="楷体_GB2312" pitchFamily="49" charset="-122"/>
              </a:rPr>
              <a:t>涂有药皮的供手工电弧焊用的熔化电极，由药皮和焊芯两部分组成。</a:t>
            </a:r>
            <a:endParaRPr lang="zh-CN" altLang="en-US" sz="2800" b="1" dirty="0">
              <a:latin typeface="楷体_GB2312" pitchFamily="49" charset="-122"/>
              <a:ea typeface="楷体_GB2312" pitchFamily="49" charset="-122"/>
            </a:endParaRPr>
          </a:p>
          <a:p>
            <a:pPr lvl="1" eaLnBrk="1" hangingPunct="1">
              <a:lnSpc>
                <a:spcPct val="90000"/>
              </a:lnSpc>
            </a:pPr>
            <a:r>
              <a:rPr lang="zh-CN" altLang="en-US" b="1" dirty="0">
                <a:solidFill>
                  <a:srgbClr val="008000"/>
                </a:solidFill>
                <a:latin typeface="楷体_GB2312" pitchFamily="49" charset="-122"/>
                <a:ea typeface="楷体_GB2312" pitchFamily="49" charset="-122"/>
              </a:rPr>
              <a:t>焊芯</a:t>
            </a:r>
            <a:r>
              <a:rPr lang="zh-CN" altLang="en-US" b="1" dirty="0">
                <a:solidFill>
                  <a:srgbClr val="FFFF99"/>
                </a:solidFill>
                <a:latin typeface="楷体_GB2312" pitchFamily="49" charset="-122"/>
                <a:ea typeface="楷体_GB2312" pitchFamily="49" charset="-122"/>
              </a:rPr>
              <a:t> </a:t>
            </a:r>
            <a:r>
              <a:rPr lang="zh-CN" altLang="en-US" b="1" dirty="0">
                <a:latin typeface="楷体_GB2312" pitchFamily="49" charset="-122"/>
                <a:ea typeface="楷体_GB2312" pitchFamily="49" charset="-122"/>
              </a:rPr>
              <a:t>：</a:t>
            </a:r>
            <a:r>
              <a:rPr lang="zh-CN" altLang="en-US" b="1" dirty="0">
                <a:ea typeface="楷体_GB2312" pitchFamily="49" charset="-122"/>
              </a:rPr>
              <a:t>导电和组成焊缝金属的主要材料。</a:t>
            </a:r>
            <a:r>
              <a:rPr lang="zh-CN" altLang="en-US" b="1" dirty="0">
                <a:solidFill>
                  <a:srgbClr val="9900CC"/>
                </a:solidFill>
                <a:ea typeface="楷体_GB2312" pitchFamily="49" charset="-122"/>
              </a:rPr>
              <a:t>作用</a:t>
            </a:r>
            <a:r>
              <a:rPr lang="zh-CN" altLang="en-US" dirty="0"/>
              <a:t>：</a:t>
            </a:r>
            <a:endParaRPr lang="zh-CN" altLang="en-US" dirty="0"/>
          </a:p>
          <a:p>
            <a:pPr lvl="2" eaLnBrk="1" hangingPunct="1">
              <a:lnSpc>
                <a:spcPct val="90000"/>
              </a:lnSpc>
            </a:pPr>
            <a:r>
              <a:rPr lang="zh-CN" altLang="en-US" b="1" dirty="0">
                <a:solidFill>
                  <a:srgbClr val="CC0066"/>
                </a:solidFill>
                <a:ea typeface="楷体_GB2312" pitchFamily="49" charset="-122"/>
              </a:rPr>
              <a:t>导电的电极</a:t>
            </a:r>
            <a:r>
              <a:rPr lang="zh-CN" altLang="en-US" b="1" dirty="0">
                <a:ea typeface="楷体_GB2312" pitchFamily="49" charset="-122"/>
              </a:rPr>
              <a:t>，传导焊接电流和引燃电弧；</a:t>
            </a:r>
            <a:endParaRPr lang="zh-CN" altLang="en-US" b="1" dirty="0">
              <a:ea typeface="楷体_GB2312" pitchFamily="49" charset="-122"/>
            </a:endParaRPr>
          </a:p>
          <a:p>
            <a:pPr lvl="2" eaLnBrk="1" hangingPunct="1">
              <a:lnSpc>
                <a:spcPct val="90000"/>
              </a:lnSpc>
            </a:pPr>
            <a:r>
              <a:rPr lang="zh-CN" altLang="en-US" b="1" dirty="0">
                <a:ea typeface="楷体_GB2312" pitchFamily="49" charset="-122"/>
              </a:rPr>
              <a:t>本身熔化作为</a:t>
            </a:r>
            <a:r>
              <a:rPr lang="zh-CN" altLang="en-US" b="1" dirty="0">
                <a:solidFill>
                  <a:srgbClr val="CC0066"/>
                </a:solidFill>
                <a:ea typeface="楷体_GB2312" pitchFamily="49" charset="-122"/>
              </a:rPr>
              <a:t>填充金属</a:t>
            </a:r>
            <a:r>
              <a:rPr lang="zh-CN" altLang="en-US" b="1" dirty="0">
                <a:ea typeface="楷体_GB2312" pitchFamily="49" charset="-122"/>
              </a:rPr>
              <a:t>，与熔化的母材共同形成焊缝金属。</a:t>
            </a:r>
            <a:endParaRPr lang="zh-CN" altLang="en-US" b="1" dirty="0">
              <a:ea typeface="楷体_GB2312" pitchFamily="49" charset="-122"/>
            </a:endParaRPr>
          </a:p>
          <a:p>
            <a:pPr lvl="1" eaLnBrk="1" hangingPunct="1">
              <a:lnSpc>
                <a:spcPct val="90000"/>
              </a:lnSpc>
            </a:pPr>
            <a:r>
              <a:rPr lang="zh-CN" altLang="en-US" b="1" dirty="0">
                <a:solidFill>
                  <a:srgbClr val="008000"/>
                </a:solidFill>
                <a:latin typeface="楷体_GB2312" pitchFamily="49" charset="-122"/>
                <a:ea typeface="楷体_GB2312" pitchFamily="49" charset="-122"/>
              </a:rPr>
              <a:t>药皮</a:t>
            </a:r>
            <a:r>
              <a:rPr lang="en-US" altLang="zh-CN" b="1" dirty="0">
                <a:latin typeface="楷体_GB2312" pitchFamily="49" charset="-122"/>
                <a:ea typeface="楷体_GB2312" pitchFamily="49" charset="-122"/>
              </a:rPr>
              <a:t>: </a:t>
            </a:r>
            <a:r>
              <a:rPr lang="zh-CN" altLang="en-US" b="1" dirty="0">
                <a:ea typeface="楷体_GB2312" pitchFamily="49" charset="-122"/>
              </a:rPr>
              <a:t>压涂在焊芯表面的涂料层。作用：</a:t>
            </a:r>
            <a:endParaRPr lang="zh-CN" altLang="en-US" b="1" dirty="0">
              <a:ea typeface="楷体_GB2312" pitchFamily="49" charset="-122"/>
            </a:endParaRPr>
          </a:p>
          <a:p>
            <a:pPr lvl="2" eaLnBrk="1" hangingPunct="1">
              <a:lnSpc>
                <a:spcPct val="90000"/>
              </a:lnSpc>
            </a:pPr>
            <a:r>
              <a:rPr lang="zh-CN" altLang="en-US" b="1" dirty="0">
                <a:solidFill>
                  <a:srgbClr val="CC0066"/>
                </a:solidFill>
                <a:ea typeface="楷体_GB2312" pitchFamily="49" charset="-122"/>
              </a:rPr>
              <a:t>保护</a:t>
            </a:r>
            <a:r>
              <a:rPr lang="zh-CN" altLang="en-US" sz="2000" dirty="0"/>
              <a:t>：</a:t>
            </a:r>
            <a:r>
              <a:rPr lang="zh-CN" altLang="en-US" b="1" dirty="0">
                <a:ea typeface="楷体_GB2312" pitchFamily="49" charset="-122"/>
              </a:rPr>
              <a:t>在焊接过程中造气造渣，防止空气进入焊缝，防止焊缝高温金属被空气氧化。</a:t>
            </a:r>
            <a:endParaRPr lang="zh-CN" altLang="en-US" b="1" dirty="0">
              <a:ea typeface="楷体_GB2312" pitchFamily="49" charset="-122"/>
            </a:endParaRPr>
          </a:p>
          <a:p>
            <a:pPr lvl="2" eaLnBrk="1" hangingPunct="1">
              <a:lnSpc>
                <a:spcPct val="90000"/>
              </a:lnSpc>
            </a:pPr>
            <a:r>
              <a:rPr lang="zh-CN" altLang="en-US" b="1" dirty="0">
                <a:solidFill>
                  <a:srgbClr val="CC0066"/>
                </a:solidFill>
                <a:ea typeface="楷体_GB2312" pitchFamily="49" charset="-122"/>
              </a:rPr>
              <a:t>冶金</a:t>
            </a:r>
            <a:r>
              <a:rPr lang="zh-CN" altLang="en-US" sz="1800" dirty="0"/>
              <a:t>：</a:t>
            </a:r>
            <a:r>
              <a:rPr lang="zh-CN" altLang="en-US" b="1" dirty="0">
                <a:ea typeface="楷体_GB2312" pitchFamily="49" charset="-122"/>
              </a:rPr>
              <a:t>如脱氧、脱磷等，最大限度地除去有害杂质，并保护或添加有益的合金元素，使焊缝具有一定的机械性能、抗气孔和抗裂缝能力等。</a:t>
            </a:r>
            <a:endParaRPr lang="zh-CN" altLang="en-US" b="1" dirty="0">
              <a:ea typeface="楷体_GB2312" pitchFamily="49" charset="-122"/>
            </a:endParaRPr>
          </a:p>
        </p:txBody>
      </p:sp>
      <p:sp>
        <p:nvSpPr>
          <p:cNvPr id="39939" name="Rectangle 1029"/>
          <p:cNvSpPr>
            <a:spLocks noGrp="1"/>
          </p:cNvSpPr>
          <p:nvPr>
            <p:ph type="title"/>
          </p:nvPr>
        </p:nvSpPr>
        <p:spPr/>
        <p:txBody>
          <a:bodyPr vert="horz" wrap="square" lIns="91440" tIns="45720" rIns="91440" bIns="45720" anchor="ctr" anchorCtr="0"/>
          <a:p>
            <a:pPr algn="ctr" eaLnBrk="1" hangingPunct="1"/>
            <a:r>
              <a:rPr lang="en-US" altLang="zh-CN" sz="4400" dirty="0">
                <a:ea typeface="楷体_GB2312" pitchFamily="49" charset="-122"/>
              </a:rPr>
              <a:t>4.</a:t>
            </a:r>
            <a:r>
              <a:rPr lang="zh-CN" altLang="en-US" sz="4400" dirty="0">
                <a:ea typeface="楷体_GB2312" pitchFamily="49" charset="-122"/>
              </a:rPr>
              <a:t>焊条</a:t>
            </a:r>
            <a:endParaRPr lang="zh-CN" altLang="en-US" sz="4400" dirty="0">
              <a:ea typeface="楷体_GB2312" pitchFamily="49" charset="-122"/>
            </a:endParaRPr>
          </a:p>
        </p:txBody>
      </p:sp>
      <p:pic>
        <p:nvPicPr>
          <p:cNvPr id="39940" name="Picture 6" descr="https://ss2.bdstatic.com/70cFvnSh_Q1YnxGkpoWK1HF6hhy/it/u=608062781,893807157&amp;fm=26&amp;gp=0.jpg"/>
          <p:cNvPicPr>
            <a:picLocks noChangeAspect="1"/>
          </p:cNvPicPr>
          <p:nvPr/>
        </p:nvPicPr>
        <p:blipFill>
          <a:blip r:embed="rId1"/>
          <a:stretch>
            <a:fillRect/>
          </a:stretch>
        </p:blipFill>
        <p:spPr>
          <a:xfrm>
            <a:off x="7429500" y="0"/>
            <a:ext cx="1619250" cy="1489075"/>
          </a:xfrm>
          <a:prstGeom prst="rect">
            <a:avLst/>
          </a:prstGeom>
          <a:noFill/>
          <a:ln w="9525">
            <a:noFill/>
          </a:ln>
        </p:spPr>
      </p:pic>
      <p:pic>
        <p:nvPicPr>
          <p:cNvPr id="39941" name="Picture 7"/>
          <p:cNvPicPr>
            <a:picLocks noChangeAspect="1"/>
          </p:cNvPicPr>
          <p:nvPr/>
        </p:nvPicPr>
        <p:blipFill>
          <a:blip r:embed="rId2"/>
          <a:stretch>
            <a:fillRect/>
          </a:stretch>
        </p:blipFill>
        <p:spPr>
          <a:xfrm>
            <a:off x="3071813" y="6143625"/>
            <a:ext cx="2647950" cy="542925"/>
          </a:xfrm>
          <a:prstGeom prst="rect">
            <a:avLst/>
          </a:prstGeom>
          <a:noFill/>
          <a:ln w="9525">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Rectangle 2"/>
          <p:cNvSpPr>
            <a:spLocks noGrp="1"/>
          </p:cNvSpPr>
          <p:nvPr>
            <p:ph type="title"/>
          </p:nvPr>
        </p:nvSpPr>
        <p:spPr/>
        <p:txBody>
          <a:bodyPr vert="horz" wrap="square" lIns="91440" tIns="45720" rIns="91440" bIns="45720" anchor="ctr" anchorCtr="0"/>
          <a:p>
            <a:pPr algn="ctr" eaLnBrk="1" hangingPunct="1"/>
            <a:r>
              <a:rPr lang="zh-CN" altLang="en-US" sz="2800" dirty="0">
                <a:solidFill>
                  <a:srgbClr val="CC3300"/>
                </a:solidFill>
                <a:latin typeface="楷体_GB2312" pitchFamily="49" charset="-122"/>
                <a:ea typeface="楷体_GB2312" pitchFamily="49" charset="-122"/>
              </a:rPr>
              <a:t>焊条的分类（按熔渣的化学性质分）</a:t>
            </a:r>
            <a:r>
              <a:rPr lang="zh-CN" altLang="en-US" sz="2800" dirty="0">
                <a:latin typeface="楷体_GB2312" pitchFamily="49" charset="-122"/>
                <a:ea typeface="楷体_GB2312" pitchFamily="49" charset="-122"/>
              </a:rPr>
              <a:t>    </a:t>
            </a:r>
            <a:endParaRPr lang="zh-CN" altLang="en-US" sz="2800" dirty="0">
              <a:ea typeface="楷体_GB2312" pitchFamily="49" charset="-122"/>
            </a:endParaRPr>
          </a:p>
        </p:txBody>
      </p:sp>
      <p:sp>
        <p:nvSpPr>
          <p:cNvPr id="68611" name="Rectangle 3"/>
          <p:cNvSpPr>
            <a:spLocks noGrp="1" noChangeArrowheads="1"/>
          </p:cNvSpPr>
          <p:nvPr>
            <p:ph idx="1"/>
          </p:nvPr>
        </p:nvSpPr>
        <p:spPr>
          <a:xfrm>
            <a:off x="34925" y="1412875"/>
            <a:ext cx="9036050" cy="5445125"/>
          </a:xfrm>
        </p:spPr>
        <p:txBody>
          <a:bodyPr vert="horz" wrap="square" lIns="91440" tIns="45720" rIns="91440" bIns="45720" numCol="1" anchor="t" anchorCtr="0" compatLnSpc="1"/>
          <a:lstStyle/>
          <a:p>
            <a:pPr marL="742950" marR="0" lvl="1" indent="-285750" algn="l" defTabSz="914400" rtl="0" eaLnBrk="1" fontAlgn="base" latinLnBrk="0" hangingPunct="1">
              <a:lnSpc>
                <a:spcPct val="80000"/>
              </a:lnSpc>
              <a:spcBef>
                <a:spcPct val="20000"/>
              </a:spcBef>
              <a:spcAft>
                <a:spcPct val="0"/>
              </a:spcAft>
              <a:buClrTx/>
              <a:buSzTx/>
              <a:buFontTx/>
              <a:buChar char="–"/>
              <a:defRPr/>
            </a:pPr>
            <a:r>
              <a:rPr kumimoji="0" lang="zh-CN" altLang="en-US" sz="2400" b="1" i="0" u="none" strike="noStrike" kern="1200" cap="none" spc="0" normalizeH="0" baseline="0" noProof="0" dirty="0" smtClean="0">
                <a:ln>
                  <a:noFill/>
                </a:ln>
                <a:solidFill>
                  <a:srgbClr val="008000"/>
                </a:solidFill>
                <a:effectLst/>
                <a:uLnTx/>
                <a:uFillTx/>
                <a:latin typeface="楷体_GB2312" pitchFamily="49" charset="-122"/>
                <a:ea typeface="楷体_GB2312" pitchFamily="49" charset="-122"/>
                <a:cs typeface="+mn-cs"/>
              </a:rPr>
              <a:t>酸性焊条（一般结构件的焊接）</a:t>
            </a:r>
            <a:r>
              <a:rPr kumimoji="0" lang="zh-CN" altLang="en-US" sz="24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 </a:t>
            </a:r>
            <a:endParaRPr kumimoji="0" lang="zh-CN" altLang="en-US" sz="24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endParaRPr>
          </a:p>
          <a:p>
            <a:pPr marL="1143000" marR="0" lvl="2" indent="-228600" algn="l" defTabSz="914400" rtl="0" eaLnBrk="1" fontAlgn="base" latinLnBrk="0" hangingPunct="1">
              <a:lnSpc>
                <a:spcPct val="80000"/>
              </a:lnSpc>
              <a:spcBef>
                <a:spcPct val="20000"/>
              </a:spcBef>
              <a:spcAft>
                <a:spcPct val="0"/>
              </a:spcAft>
              <a:buClrTx/>
              <a:buSzTx/>
              <a:buFontTx/>
              <a:buChar char="•"/>
              <a:defRPr/>
            </a:pPr>
            <a:r>
              <a:rPr kumimoji="0" lang="zh-CN" altLang="en-US" sz="24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优点：焊渣呈玻璃状，易脱渣；工艺性能较好，电弧稳定。对由铁锈、油脂及水造成的气孔不敏感，不易生成气孔 。</a:t>
            </a:r>
            <a:endParaRPr kumimoji="0" lang="zh-CN" altLang="en-US" sz="24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endParaRPr>
          </a:p>
          <a:p>
            <a:pPr marL="1143000" marR="0" lvl="2" indent="-228600" algn="l" defTabSz="914400" rtl="0" eaLnBrk="1" fontAlgn="base" latinLnBrk="0" hangingPunct="1">
              <a:lnSpc>
                <a:spcPct val="80000"/>
              </a:lnSpc>
              <a:spcBef>
                <a:spcPct val="20000"/>
              </a:spcBef>
              <a:spcAft>
                <a:spcPct val="0"/>
              </a:spcAft>
              <a:buClrTx/>
              <a:buSzTx/>
              <a:buFontTx/>
              <a:buChar char="•"/>
              <a:defRPr/>
            </a:pPr>
            <a:r>
              <a:rPr kumimoji="0" lang="zh-CN" altLang="en-US" sz="24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缺点：药皮含</a:t>
            </a:r>
            <a:r>
              <a:rPr kumimoji="0" lang="en-US" altLang="zh-CN" sz="24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sio</a:t>
            </a:r>
            <a:r>
              <a:rPr kumimoji="0" lang="en-US" altLang="zh-CN" sz="2400" b="1" i="0" u="none" strike="noStrike" kern="1200" cap="none" spc="0" normalizeH="0" baseline="-25000" noProof="0" dirty="0" smtClean="0">
                <a:ln>
                  <a:noFill/>
                </a:ln>
                <a:solidFill>
                  <a:schemeClr val="tx1"/>
                </a:solidFill>
                <a:effectLst/>
                <a:uLnTx/>
                <a:uFillTx/>
                <a:latin typeface="楷体_GB2312" pitchFamily="49" charset="-122"/>
                <a:ea typeface="楷体_GB2312" pitchFamily="49" charset="-122"/>
                <a:cs typeface="+mn-cs"/>
              </a:rPr>
              <a:t>2</a:t>
            </a:r>
            <a:r>
              <a:rPr kumimoji="0" lang="en-US" altLang="zh-CN" sz="24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 Tio</a:t>
            </a:r>
            <a:r>
              <a:rPr kumimoji="0" lang="en-US" altLang="zh-CN" sz="2400" b="1" i="0" u="none" strike="noStrike" kern="1200" cap="none" spc="0" normalizeH="0" baseline="-25000" noProof="0" dirty="0" smtClean="0">
                <a:ln>
                  <a:noFill/>
                </a:ln>
                <a:solidFill>
                  <a:schemeClr val="tx1"/>
                </a:solidFill>
                <a:effectLst/>
                <a:uLnTx/>
                <a:uFillTx/>
                <a:latin typeface="楷体_GB2312" pitchFamily="49" charset="-122"/>
                <a:ea typeface="楷体_GB2312" pitchFamily="49" charset="-122"/>
                <a:cs typeface="+mn-cs"/>
              </a:rPr>
              <a:t>2</a:t>
            </a:r>
            <a:r>
              <a:rPr kumimoji="0" lang="zh-CN" altLang="en-US" sz="24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氧化性强，焊接时合金元素烧损较多，力学性能，尤其是塑性和韧性差，抗裂性低。</a:t>
            </a:r>
            <a:endParaRPr kumimoji="0" lang="zh-CN" altLang="en-US" sz="24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endParaRPr>
          </a:p>
          <a:p>
            <a:pPr marL="1143000" marR="0" lvl="2" indent="-228600" algn="l" defTabSz="914400" rtl="0" eaLnBrk="1" fontAlgn="base" latinLnBrk="0" hangingPunct="1">
              <a:lnSpc>
                <a:spcPct val="80000"/>
              </a:lnSpc>
              <a:spcBef>
                <a:spcPct val="20000"/>
              </a:spcBef>
              <a:spcAft>
                <a:spcPct val="0"/>
              </a:spcAft>
              <a:buClrTx/>
              <a:buSzTx/>
              <a:buFontTx/>
              <a:buChar char="•"/>
              <a:defRPr/>
            </a:pPr>
            <a:r>
              <a:rPr kumimoji="0" lang="zh-CN" altLang="en-US" sz="24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典型型号：</a:t>
            </a:r>
            <a:r>
              <a:rPr kumimoji="0" lang="en-US" altLang="zh-CN" sz="24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E4303</a:t>
            </a:r>
            <a:endParaRPr kumimoji="0" lang="en-US" altLang="zh-CN" sz="24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endParaRPr>
          </a:p>
          <a:p>
            <a:pPr marL="742950" marR="0" lvl="1" indent="-285750" algn="l" defTabSz="914400" rtl="0" eaLnBrk="1" fontAlgn="base" latinLnBrk="0" hangingPunct="1">
              <a:lnSpc>
                <a:spcPct val="80000"/>
              </a:lnSpc>
              <a:spcBef>
                <a:spcPct val="20000"/>
              </a:spcBef>
              <a:spcAft>
                <a:spcPct val="0"/>
              </a:spcAft>
              <a:buClrTx/>
              <a:buSzTx/>
              <a:buFontTx/>
              <a:buChar char="–"/>
              <a:defRPr/>
            </a:pPr>
            <a:r>
              <a:rPr kumimoji="0" lang="zh-CN" altLang="en-US" sz="2400" b="1" i="0" u="none" strike="noStrike" kern="1200" cap="none" spc="0" normalizeH="0" baseline="0" noProof="0" dirty="0" smtClean="0">
                <a:ln>
                  <a:noFill/>
                </a:ln>
                <a:solidFill>
                  <a:srgbClr val="008000"/>
                </a:solidFill>
                <a:effectLst/>
                <a:uLnTx/>
                <a:uFillTx/>
                <a:latin typeface="楷体_GB2312" pitchFamily="49" charset="-122"/>
                <a:ea typeface="楷体_GB2312" pitchFamily="49" charset="-122"/>
                <a:cs typeface="+mn-cs"/>
              </a:rPr>
              <a:t>碱性焊条（重要结构件的焊接）</a:t>
            </a:r>
            <a:endParaRPr kumimoji="0" lang="zh-CN" altLang="en-US" sz="2400" b="1" i="0" u="none" strike="noStrike" kern="1200" cap="none" spc="0" normalizeH="0" baseline="0" noProof="0" dirty="0" smtClean="0">
              <a:ln>
                <a:noFill/>
              </a:ln>
              <a:solidFill>
                <a:srgbClr val="008000"/>
              </a:solidFill>
              <a:effectLst/>
              <a:uLnTx/>
              <a:uFillTx/>
              <a:latin typeface="楷体_GB2312" pitchFamily="49" charset="-122"/>
              <a:ea typeface="楷体_GB2312" pitchFamily="49" charset="-122"/>
              <a:cs typeface="+mn-cs"/>
            </a:endParaRPr>
          </a:p>
          <a:p>
            <a:pPr marL="1143000" marR="0" lvl="2" indent="-228600" algn="l" defTabSz="914400" rtl="0" eaLnBrk="1" fontAlgn="base" latinLnBrk="0" hangingPunct="1">
              <a:lnSpc>
                <a:spcPct val="80000"/>
              </a:lnSpc>
              <a:spcBef>
                <a:spcPct val="20000"/>
              </a:spcBef>
              <a:spcAft>
                <a:spcPct val="0"/>
              </a:spcAft>
              <a:buClrTx/>
              <a:buSzTx/>
              <a:buFontTx/>
              <a:buChar char="•"/>
              <a:defRPr/>
            </a:pPr>
            <a:r>
              <a:rPr kumimoji="0" lang="zh-CN" altLang="en-US" sz="24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优点：药皮具有足够的脱氧能力，合金元素损失少，焊缝金属合金化效果较好，塑性、韧性好；脱硫磷较干净，抗裂性强。</a:t>
            </a:r>
            <a:endParaRPr kumimoji="0" lang="zh-CN" altLang="en-US" sz="24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endParaRPr>
          </a:p>
          <a:p>
            <a:pPr marL="1143000" marR="0" lvl="2" indent="-228600" algn="l" defTabSz="914400" rtl="0" eaLnBrk="1" fontAlgn="base" latinLnBrk="0" hangingPunct="1">
              <a:lnSpc>
                <a:spcPct val="80000"/>
              </a:lnSpc>
              <a:spcBef>
                <a:spcPct val="20000"/>
              </a:spcBef>
              <a:spcAft>
                <a:spcPct val="0"/>
              </a:spcAft>
              <a:buClrTx/>
              <a:buSzTx/>
              <a:buFontTx/>
              <a:buChar char="•"/>
              <a:defRPr/>
            </a:pPr>
            <a:r>
              <a:rPr kumimoji="0" lang="zh-CN" altLang="en-US" sz="24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缺点：药皮中合有较多的萤石，影响气体电离，只能用直流电源焊接；对油、锈、污敏感；电弧不稳定；熔渣为结晶状，不易脱渣。</a:t>
            </a:r>
            <a:endParaRPr kumimoji="0" lang="zh-CN" altLang="en-US" sz="24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endParaRPr>
          </a:p>
          <a:p>
            <a:pPr marL="342900" marR="0" lvl="0" indent="-342900" algn="l" defTabSz="914400" rtl="0" eaLnBrk="1" fontAlgn="base" latinLnBrk="0" hangingPunct="1">
              <a:lnSpc>
                <a:spcPct val="80000"/>
              </a:lnSpc>
              <a:spcBef>
                <a:spcPct val="20000"/>
              </a:spcBef>
              <a:spcAft>
                <a:spcPct val="0"/>
              </a:spcAft>
              <a:buClrTx/>
              <a:buSzTx/>
              <a:buFont typeface="Wingdings" panose="05000000000000000000" pitchFamily="2" charset="2"/>
              <a:buChar char="Ø"/>
              <a:defRPr/>
            </a:pPr>
            <a:r>
              <a:rPr kumimoji="0" lang="zh-CN" altLang="en-US" sz="2400" b="1" i="0" u="none" strike="noStrike" kern="1200" cap="none" spc="0" normalizeH="0" baseline="0" noProof="0" dirty="0" smtClean="0">
                <a:ln>
                  <a:noFill/>
                </a:ln>
                <a:solidFill>
                  <a:srgbClr val="CC3300"/>
                </a:solidFill>
                <a:effectLst/>
                <a:uLnTx/>
                <a:uFillTx/>
                <a:latin typeface="楷体_GB2312" pitchFamily="49" charset="-122"/>
                <a:ea typeface="楷体_GB2312" pitchFamily="49" charset="-122"/>
                <a:cs typeface="+mn-cs"/>
              </a:rPr>
              <a:t>焊条的分类（按用途分），如结构钢焊条、不锈钢焊条、铸铁</a:t>
            </a:r>
            <a:endParaRPr kumimoji="0" lang="en-US" altLang="zh-CN" sz="2400" b="1" i="0" u="none" strike="noStrike" kern="1200" cap="none" spc="0" normalizeH="0" baseline="0" noProof="0" dirty="0" smtClean="0">
              <a:ln>
                <a:noFill/>
              </a:ln>
              <a:solidFill>
                <a:srgbClr val="CC3300"/>
              </a:solidFill>
              <a:effectLst/>
              <a:uLnTx/>
              <a:uFillTx/>
              <a:latin typeface="楷体_GB2312" pitchFamily="49" charset="-122"/>
              <a:ea typeface="楷体_GB2312" pitchFamily="49" charset="-122"/>
              <a:cs typeface="+mn-cs"/>
            </a:endParaRPr>
          </a:p>
          <a:p>
            <a:pPr marL="0" marR="0" lvl="0" indent="0" algn="l" defTabSz="914400" rtl="0" eaLnBrk="1" fontAlgn="base" latinLnBrk="0" hangingPunct="1">
              <a:lnSpc>
                <a:spcPct val="80000"/>
              </a:lnSpc>
              <a:spcBef>
                <a:spcPct val="20000"/>
              </a:spcBef>
              <a:spcAft>
                <a:spcPct val="0"/>
              </a:spcAft>
              <a:buClrTx/>
              <a:buSzTx/>
              <a:buFontTx/>
              <a:buNone/>
              <a:defRPr/>
            </a:pPr>
            <a:r>
              <a:rPr kumimoji="0" lang="en-US" altLang="zh-CN" sz="2400" b="1" i="0" u="none" strike="noStrike" kern="1200" cap="none" spc="0" normalizeH="0" baseline="0" noProof="0" dirty="0">
                <a:ln>
                  <a:noFill/>
                </a:ln>
                <a:solidFill>
                  <a:srgbClr val="CC3300"/>
                </a:solidFill>
                <a:effectLst/>
                <a:uLnTx/>
                <a:uFillTx/>
                <a:latin typeface="楷体_GB2312" pitchFamily="49" charset="-122"/>
                <a:ea typeface="楷体_GB2312" pitchFamily="49" charset="-122"/>
                <a:cs typeface="+mn-cs"/>
              </a:rPr>
              <a:t> </a:t>
            </a:r>
            <a:r>
              <a:rPr kumimoji="0" lang="en-US" altLang="zh-CN" sz="2400" b="1" i="0" u="none" strike="noStrike" kern="1200" cap="none" spc="0" normalizeH="0" baseline="0" noProof="0" dirty="0" smtClean="0">
                <a:ln>
                  <a:noFill/>
                </a:ln>
                <a:solidFill>
                  <a:srgbClr val="CC3300"/>
                </a:solidFill>
                <a:effectLst/>
                <a:uLnTx/>
                <a:uFillTx/>
                <a:latin typeface="楷体_GB2312" pitchFamily="49" charset="-122"/>
                <a:ea typeface="楷体_GB2312" pitchFamily="49" charset="-122"/>
                <a:cs typeface="+mn-cs"/>
              </a:rPr>
              <a:t>       </a:t>
            </a:r>
            <a:r>
              <a:rPr kumimoji="0" lang="zh-CN" altLang="en-US" sz="2400" b="1" i="0" u="none" strike="noStrike" kern="1200" cap="none" spc="0" normalizeH="0" baseline="0" noProof="0" dirty="0" smtClean="0">
                <a:ln>
                  <a:noFill/>
                </a:ln>
                <a:solidFill>
                  <a:srgbClr val="CC3300"/>
                </a:solidFill>
                <a:effectLst/>
                <a:uLnTx/>
                <a:uFillTx/>
                <a:latin typeface="楷体_GB2312" pitchFamily="49" charset="-122"/>
                <a:ea typeface="楷体_GB2312" pitchFamily="49" charset="-122"/>
                <a:cs typeface="+mn-cs"/>
              </a:rPr>
              <a:t>焊条等等。</a:t>
            </a:r>
            <a:endParaRPr kumimoji="0" lang="zh-CN" altLang="en-US" sz="2400" b="1" i="0" u="none" strike="noStrike" kern="1200" cap="none" spc="0" normalizeH="0" baseline="0" noProof="0" dirty="0" smtClean="0">
              <a:ln>
                <a:noFill/>
              </a:ln>
              <a:solidFill>
                <a:srgbClr val="CC3300"/>
              </a:solidFill>
              <a:effectLst/>
              <a:uLnTx/>
              <a:uFillTx/>
              <a:latin typeface="楷体_GB2312" pitchFamily="49" charset="-122"/>
              <a:ea typeface="楷体_GB2312" pitchFamily="49" charset="-122"/>
              <a:cs typeface="+mn-cs"/>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Rectangle 2"/>
          <p:cNvSpPr>
            <a:spLocks noGrp="1"/>
          </p:cNvSpPr>
          <p:nvPr>
            <p:ph type="title"/>
          </p:nvPr>
        </p:nvSpPr>
        <p:spPr/>
        <p:txBody>
          <a:bodyPr vert="horz" wrap="square" lIns="91440" tIns="45720" rIns="91440" bIns="45720" anchor="ctr" anchorCtr="0"/>
          <a:p>
            <a:pPr algn="ctr" eaLnBrk="1" hangingPunct="1"/>
            <a:r>
              <a:rPr lang="zh-CN" altLang="en-US" sz="3200" dirty="0">
                <a:solidFill>
                  <a:srgbClr val="CC3300"/>
                </a:solidFill>
                <a:ea typeface="楷体_GB2312" pitchFamily="49" charset="-122"/>
              </a:rPr>
              <a:t>焊条的选用（按强度等级和化学成分选用）</a:t>
            </a:r>
            <a:endParaRPr lang="zh-CN" altLang="en-US" sz="3200" dirty="0">
              <a:ea typeface="楷体_GB2312" pitchFamily="49" charset="-122"/>
            </a:endParaRPr>
          </a:p>
        </p:txBody>
      </p:sp>
      <p:sp>
        <p:nvSpPr>
          <p:cNvPr id="41987" name="Rectangle 3"/>
          <p:cNvSpPr>
            <a:spLocks noGrp="1"/>
          </p:cNvSpPr>
          <p:nvPr>
            <p:ph idx="1"/>
          </p:nvPr>
        </p:nvSpPr>
        <p:spPr>
          <a:xfrm>
            <a:off x="250825" y="1341438"/>
            <a:ext cx="8569325" cy="4824412"/>
          </a:xfrm>
        </p:spPr>
        <p:txBody>
          <a:bodyPr vert="horz" wrap="square" lIns="91440" tIns="45720" rIns="91440" bIns="45720" anchor="t" anchorCtr="0"/>
          <a:p>
            <a:pPr lvl="1" eaLnBrk="1" hangingPunct="1"/>
            <a:r>
              <a:rPr lang="zh-CN" altLang="en-US" b="1" dirty="0">
                <a:ea typeface="楷体_GB2312" pitchFamily="49" charset="-122"/>
              </a:rPr>
              <a:t>焊接一般结构．如</a:t>
            </a:r>
            <a:r>
              <a:rPr lang="zh-CN" altLang="en-US" b="1" dirty="0">
                <a:solidFill>
                  <a:srgbClr val="008000"/>
                </a:solidFill>
                <a:ea typeface="楷体_GB2312" pitchFamily="49" charset="-122"/>
              </a:rPr>
              <a:t>低碳钢、低合金钢</a:t>
            </a:r>
            <a:r>
              <a:rPr lang="zh-CN" altLang="en-US" b="1" dirty="0">
                <a:ea typeface="楷体_GB2312" pitchFamily="49" charset="-122"/>
              </a:rPr>
              <a:t>结构件时，一般</a:t>
            </a:r>
            <a:r>
              <a:rPr lang="zh-CN" altLang="en-US" b="1" dirty="0">
                <a:solidFill>
                  <a:srgbClr val="0000FF"/>
                </a:solidFill>
                <a:ea typeface="楷体_GB2312" pitchFamily="49" charset="-122"/>
              </a:rPr>
              <a:t>选用与焊件强度等级相同的焊条</a:t>
            </a:r>
            <a:r>
              <a:rPr lang="zh-CN" altLang="en-US" b="1" dirty="0">
                <a:ea typeface="楷体_GB2312" pitchFamily="49" charset="-122"/>
              </a:rPr>
              <a:t>，而不考虑化学成分相同或相近。</a:t>
            </a:r>
            <a:endParaRPr lang="zh-CN" altLang="en-US" b="1" dirty="0">
              <a:ea typeface="楷体_GB2312" pitchFamily="49" charset="-122"/>
            </a:endParaRPr>
          </a:p>
          <a:p>
            <a:pPr lvl="1" eaLnBrk="1" hangingPunct="1"/>
            <a:r>
              <a:rPr lang="zh-CN" altLang="en-US" b="1" dirty="0">
                <a:ea typeface="楷体_GB2312" pitchFamily="49" charset="-122"/>
              </a:rPr>
              <a:t>焊接</a:t>
            </a:r>
            <a:r>
              <a:rPr lang="zh-CN" altLang="en-US" b="1" dirty="0">
                <a:solidFill>
                  <a:srgbClr val="008000"/>
                </a:solidFill>
                <a:ea typeface="楷体_GB2312" pitchFamily="49" charset="-122"/>
              </a:rPr>
              <a:t>异种结构钢</a:t>
            </a:r>
            <a:r>
              <a:rPr lang="zh-CN" altLang="en-US" b="1" dirty="0">
                <a:ea typeface="楷体_GB2312" pitchFamily="49" charset="-122"/>
              </a:rPr>
              <a:t>时，按</a:t>
            </a:r>
            <a:r>
              <a:rPr lang="zh-CN" altLang="en-US" b="1" dirty="0">
                <a:solidFill>
                  <a:srgbClr val="0000FF"/>
                </a:solidFill>
                <a:ea typeface="楷体_GB2312" pitchFamily="49" charset="-122"/>
              </a:rPr>
              <a:t>强度等级低的钢种选用</a:t>
            </a:r>
            <a:r>
              <a:rPr lang="zh-CN" altLang="en-US" b="1" dirty="0">
                <a:ea typeface="楷体_GB2312" pitchFamily="49" charset="-122"/>
              </a:rPr>
              <a:t>焊条。</a:t>
            </a:r>
            <a:endParaRPr lang="zh-CN" altLang="en-US" b="1" dirty="0">
              <a:ea typeface="楷体_GB2312" pitchFamily="49" charset="-122"/>
            </a:endParaRPr>
          </a:p>
          <a:p>
            <a:pPr lvl="1" eaLnBrk="1" hangingPunct="1"/>
            <a:r>
              <a:rPr lang="zh-CN" altLang="en-US" b="1" dirty="0">
                <a:ea typeface="楷体_GB2312" pitchFamily="49" charset="-122"/>
              </a:rPr>
              <a:t>焊接</a:t>
            </a:r>
            <a:r>
              <a:rPr lang="zh-CN" altLang="en-US" b="1" dirty="0">
                <a:solidFill>
                  <a:srgbClr val="008000"/>
                </a:solidFill>
                <a:ea typeface="楷体_GB2312" pitchFamily="49" charset="-122"/>
              </a:rPr>
              <a:t>特殊性能钢种</a:t>
            </a:r>
            <a:r>
              <a:rPr lang="zh-CN" altLang="en-US" b="1" dirty="0">
                <a:ea typeface="楷体_GB2312" pitchFamily="49" charset="-122"/>
              </a:rPr>
              <a:t>，如不锈钢、耐热钢时，应选用与焊件</a:t>
            </a:r>
            <a:r>
              <a:rPr lang="zh-CN" altLang="en-US" b="1" dirty="0">
                <a:solidFill>
                  <a:srgbClr val="0000FF"/>
                </a:solidFill>
                <a:ea typeface="楷体_GB2312" pitchFamily="49" charset="-122"/>
              </a:rPr>
              <a:t>化学成分相同或相近</a:t>
            </a:r>
            <a:r>
              <a:rPr lang="zh-CN" altLang="en-US" b="1" dirty="0">
                <a:ea typeface="楷体_GB2312" pitchFamily="49" charset="-122"/>
              </a:rPr>
              <a:t>的特种焊条。</a:t>
            </a:r>
            <a:endParaRPr lang="zh-CN" altLang="en-US" b="1" dirty="0">
              <a:ea typeface="楷体_GB2312" pitchFamily="49" charset="-122"/>
            </a:endParaRPr>
          </a:p>
          <a:p>
            <a:pPr lvl="1" eaLnBrk="1" hangingPunct="1"/>
            <a:r>
              <a:rPr lang="zh-CN" altLang="en-US" b="1" dirty="0">
                <a:ea typeface="楷体_GB2312" pitchFamily="49" charset="-122"/>
              </a:rPr>
              <a:t>焊件的</a:t>
            </a:r>
            <a:r>
              <a:rPr lang="zh-CN" altLang="en-US" b="1" dirty="0">
                <a:solidFill>
                  <a:srgbClr val="008000"/>
                </a:solidFill>
                <a:ea typeface="楷体_GB2312" pitchFamily="49" charset="-122"/>
              </a:rPr>
              <a:t>碳、硫、磷质量分数较大时</a:t>
            </a:r>
            <a:r>
              <a:rPr lang="zh-CN" altLang="en-US" b="1" dirty="0">
                <a:ea typeface="楷体_GB2312" pitchFamily="49" charset="-122"/>
              </a:rPr>
              <a:t>，</a:t>
            </a:r>
            <a:r>
              <a:rPr lang="zh-CN" altLang="en-US" b="1" dirty="0">
                <a:solidFill>
                  <a:srgbClr val="0000FF"/>
                </a:solidFill>
                <a:ea typeface="楷体_GB2312" pitchFamily="49" charset="-122"/>
              </a:rPr>
              <a:t>应选用碱性焊条</a:t>
            </a:r>
            <a:r>
              <a:rPr lang="zh-CN" altLang="en-US" b="1" dirty="0">
                <a:ea typeface="楷体_GB2312" pitchFamily="49" charset="-122"/>
              </a:rPr>
              <a:t>。</a:t>
            </a:r>
            <a:endParaRPr lang="zh-CN" altLang="en-US" b="1" dirty="0">
              <a:ea typeface="楷体_GB2312" pitchFamily="49"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Rectangle 2"/>
          <p:cNvSpPr>
            <a:spLocks noGrp="1"/>
          </p:cNvSpPr>
          <p:nvPr>
            <p:ph type="title"/>
          </p:nvPr>
        </p:nvSpPr>
        <p:spPr/>
        <p:txBody>
          <a:bodyPr vert="horz" wrap="square" lIns="91440" tIns="45720" rIns="91440" bIns="45720" anchor="ctr" anchorCtr="0"/>
          <a:p>
            <a:pPr algn="ctr" eaLnBrk="1" hangingPunct="1">
              <a:lnSpc>
                <a:spcPct val="90000"/>
              </a:lnSpc>
            </a:pPr>
            <a:r>
              <a:rPr lang="zh-CN" altLang="en-US" sz="3200" dirty="0">
                <a:solidFill>
                  <a:srgbClr val="CC3300"/>
                </a:solidFill>
                <a:ea typeface="楷体_GB2312" pitchFamily="49" charset="-122"/>
              </a:rPr>
              <a:t>焊条的选用（按焊件的工作条件选用）</a:t>
            </a:r>
            <a:endParaRPr lang="zh-CN" altLang="en-US" sz="3200" dirty="0">
              <a:solidFill>
                <a:srgbClr val="CC3300"/>
              </a:solidFill>
              <a:ea typeface="楷体_GB2312" pitchFamily="49" charset="-122"/>
            </a:endParaRPr>
          </a:p>
        </p:txBody>
      </p:sp>
      <p:sp>
        <p:nvSpPr>
          <p:cNvPr id="43011" name="Rectangle 3"/>
          <p:cNvSpPr>
            <a:spLocks noGrp="1"/>
          </p:cNvSpPr>
          <p:nvPr>
            <p:ph idx="1"/>
          </p:nvPr>
        </p:nvSpPr>
        <p:spPr>
          <a:xfrm>
            <a:off x="179388" y="1371600"/>
            <a:ext cx="8686800" cy="4937125"/>
          </a:xfrm>
        </p:spPr>
        <p:txBody>
          <a:bodyPr vert="horz" wrap="square" lIns="91440" tIns="45720" rIns="91440" bIns="45720" anchor="t" anchorCtr="0"/>
          <a:p>
            <a:pPr lvl="1" eaLnBrk="1" hangingPunct="1">
              <a:lnSpc>
                <a:spcPct val="90000"/>
              </a:lnSpc>
            </a:pPr>
            <a:r>
              <a:rPr lang="zh-CN" altLang="en-US" b="1" dirty="0">
                <a:ea typeface="楷体_GB2312" pitchFamily="49" charset="-122"/>
              </a:rPr>
              <a:t>焊接</a:t>
            </a:r>
            <a:r>
              <a:rPr lang="zh-CN" altLang="en-US" b="1" dirty="0">
                <a:solidFill>
                  <a:srgbClr val="FF0000"/>
                </a:solidFill>
                <a:ea typeface="楷体_GB2312" pitchFamily="49" charset="-122"/>
              </a:rPr>
              <a:t>铸造</a:t>
            </a:r>
            <a:r>
              <a:rPr lang="zh-CN" altLang="en-US" b="1" dirty="0">
                <a:solidFill>
                  <a:srgbClr val="008000"/>
                </a:solidFill>
                <a:ea typeface="楷体_GB2312" pitchFamily="49" charset="-122"/>
              </a:rPr>
              <a:t>碳钢或合金钢</a:t>
            </a:r>
            <a:r>
              <a:rPr lang="zh-CN" altLang="en-US" b="1" dirty="0">
                <a:ea typeface="楷体_GB2312" pitchFamily="49" charset="-122"/>
              </a:rPr>
              <a:t>时，因为</a:t>
            </a:r>
            <a:r>
              <a:rPr lang="zh-CN" altLang="en-US" b="1" dirty="0">
                <a:solidFill>
                  <a:srgbClr val="FF0000"/>
                </a:solidFill>
                <a:ea typeface="楷体_GB2312" pitchFamily="49" charset="-122"/>
              </a:rPr>
              <a:t>碳和合金元素</a:t>
            </a:r>
            <a:r>
              <a:rPr lang="zh-CN" altLang="en-US" b="1" dirty="0">
                <a:ea typeface="楷体_GB2312" pitchFamily="49" charset="-122"/>
              </a:rPr>
              <a:t>较高，铸件厚度、刚度较大，形状复杂，</a:t>
            </a:r>
            <a:r>
              <a:rPr lang="zh-CN" altLang="en-US" b="1" dirty="0">
                <a:solidFill>
                  <a:srgbClr val="0000FF"/>
                </a:solidFill>
                <a:ea typeface="楷体_GB2312" pitchFamily="49" charset="-122"/>
              </a:rPr>
              <a:t>应选用碱性焊条</a:t>
            </a:r>
            <a:r>
              <a:rPr lang="zh-CN" altLang="en-US" b="1" dirty="0">
                <a:ea typeface="楷体_GB2312" pitchFamily="49" charset="-122"/>
              </a:rPr>
              <a:t>。</a:t>
            </a:r>
            <a:endParaRPr lang="zh-CN" altLang="en-US" b="1" dirty="0">
              <a:ea typeface="楷体_GB2312" pitchFamily="49" charset="-122"/>
            </a:endParaRPr>
          </a:p>
          <a:p>
            <a:pPr lvl="1" eaLnBrk="1" hangingPunct="1">
              <a:lnSpc>
                <a:spcPct val="90000"/>
              </a:lnSpc>
            </a:pPr>
            <a:r>
              <a:rPr lang="zh-CN" altLang="en-US" b="1" dirty="0">
                <a:ea typeface="楷体_GB2312" pitchFamily="49" charset="-122"/>
              </a:rPr>
              <a:t>焊接</a:t>
            </a:r>
            <a:r>
              <a:rPr lang="zh-CN" altLang="en-US" b="1" dirty="0">
                <a:solidFill>
                  <a:srgbClr val="000000"/>
                </a:solidFill>
                <a:ea typeface="楷体_GB2312" pitchFamily="49" charset="-122"/>
              </a:rPr>
              <a:t>承受</a:t>
            </a:r>
            <a:r>
              <a:rPr lang="zh-CN" altLang="en-US" b="1" dirty="0">
                <a:solidFill>
                  <a:srgbClr val="008000"/>
                </a:solidFill>
                <a:ea typeface="楷体_GB2312" pitchFamily="49" charset="-122"/>
              </a:rPr>
              <a:t>动载</a:t>
            </a:r>
            <a:r>
              <a:rPr lang="zh-CN" altLang="en-US" b="1" dirty="0">
                <a:ea typeface="楷体_GB2312" pitchFamily="49" charset="-122"/>
              </a:rPr>
              <a:t>、</a:t>
            </a:r>
            <a:r>
              <a:rPr lang="zh-CN" altLang="en-US" b="1" dirty="0">
                <a:solidFill>
                  <a:srgbClr val="008000"/>
                </a:solidFill>
                <a:ea typeface="楷体_GB2312" pitchFamily="49" charset="-122"/>
              </a:rPr>
              <a:t>交变</a:t>
            </a:r>
            <a:r>
              <a:rPr lang="zh-CN" altLang="en-US" b="1" dirty="0">
                <a:ea typeface="楷体_GB2312" pitchFamily="49" charset="-122"/>
              </a:rPr>
              <a:t>载荷及</a:t>
            </a:r>
            <a:r>
              <a:rPr lang="zh-CN" altLang="en-US" b="1" dirty="0">
                <a:solidFill>
                  <a:srgbClr val="008000"/>
                </a:solidFill>
                <a:ea typeface="楷体_GB2312" pitchFamily="49" charset="-122"/>
              </a:rPr>
              <a:t>冲击</a:t>
            </a:r>
            <a:r>
              <a:rPr lang="zh-CN" altLang="en-US" b="1" dirty="0">
                <a:ea typeface="楷体_GB2312" pitchFamily="49" charset="-122"/>
              </a:rPr>
              <a:t>载荷的结构件时，</a:t>
            </a:r>
            <a:r>
              <a:rPr lang="zh-CN" altLang="en-US" b="1" dirty="0">
                <a:solidFill>
                  <a:srgbClr val="0000FF"/>
                </a:solidFill>
                <a:ea typeface="楷体_GB2312" pitchFamily="49" charset="-122"/>
              </a:rPr>
              <a:t>应选用碱性焊条</a:t>
            </a:r>
            <a:r>
              <a:rPr lang="zh-CN" altLang="en-US" b="1" dirty="0">
                <a:ea typeface="楷体_GB2312" pitchFamily="49" charset="-122"/>
              </a:rPr>
              <a:t>。</a:t>
            </a:r>
            <a:endParaRPr lang="zh-CN" altLang="en-US" b="1" dirty="0">
              <a:ea typeface="楷体_GB2312" pitchFamily="49" charset="-122"/>
            </a:endParaRPr>
          </a:p>
          <a:p>
            <a:pPr lvl="1" eaLnBrk="1" hangingPunct="1">
              <a:lnSpc>
                <a:spcPct val="90000"/>
              </a:lnSpc>
            </a:pPr>
            <a:r>
              <a:rPr lang="zh-CN" altLang="en-US" b="1" dirty="0">
                <a:ea typeface="楷体_GB2312" pitchFamily="49" charset="-122"/>
              </a:rPr>
              <a:t>焊接</a:t>
            </a:r>
            <a:r>
              <a:rPr lang="zh-CN" altLang="en-US" b="1" dirty="0">
                <a:solidFill>
                  <a:srgbClr val="000000"/>
                </a:solidFill>
                <a:ea typeface="楷体_GB2312" pitchFamily="49" charset="-122"/>
              </a:rPr>
              <a:t>承受</a:t>
            </a:r>
            <a:r>
              <a:rPr lang="zh-CN" altLang="en-US" b="1" dirty="0">
                <a:solidFill>
                  <a:srgbClr val="008000"/>
                </a:solidFill>
                <a:ea typeface="楷体_GB2312" pitchFamily="49" charset="-122"/>
              </a:rPr>
              <a:t>静载</a:t>
            </a:r>
            <a:r>
              <a:rPr lang="zh-CN" altLang="en-US" b="1" dirty="0">
                <a:ea typeface="楷体_GB2312" pitchFamily="49" charset="-122"/>
              </a:rPr>
              <a:t>的结构件时，</a:t>
            </a:r>
            <a:r>
              <a:rPr lang="zh-CN" altLang="en-US" b="1" dirty="0">
                <a:solidFill>
                  <a:srgbClr val="0000FF"/>
                </a:solidFill>
                <a:ea typeface="楷体_GB2312" pitchFamily="49" charset="-122"/>
              </a:rPr>
              <a:t>可选用酸性焊条</a:t>
            </a:r>
            <a:r>
              <a:rPr lang="zh-CN" altLang="en-US" b="1" dirty="0">
                <a:ea typeface="楷体_GB2312" pitchFamily="49" charset="-122"/>
              </a:rPr>
              <a:t>。</a:t>
            </a:r>
            <a:endParaRPr lang="zh-CN" altLang="en-US" b="1" dirty="0">
              <a:ea typeface="楷体_GB2312" pitchFamily="49" charset="-122"/>
            </a:endParaRPr>
          </a:p>
          <a:p>
            <a:pPr lvl="1" eaLnBrk="1" hangingPunct="1">
              <a:lnSpc>
                <a:spcPct val="90000"/>
              </a:lnSpc>
            </a:pPr>
            <a:r>
              <a:rPr lang="zh-CN" altLang="en-US" b="1" dirty="0">
                <a:ea typeface="楷体_GB2312" pitchFamily="49" charset="-122"/>
              </a:rPr>
              <a:t>焊接</a:t>
            </a:r>
            <a:r>
              <a:rPr lang="zh-CN" altLang="en-US" b="1" dirty="0">
                <a:solidFill>
                  <a:srgbClr val="000000"/>
                </a:solidFill>
                <a:ea typeface="楷体_GB2312" pitchFamily="49" charset="-122"/>
              </a:rPr>
              <a:t>表面带有</a:t>
            </a:r>
            <a:r>
              <a:rPr lang="zh-CN" altLang="en-US" b="1" dirty="0">
                <a:solidFill>
                  <a:srgbClr val="008000"/>
                </a:solidFill>
                <a:ea typeface="楷体_GB2312" pitchFamily="49" charset="-122"/>
              </a:rPr>
              <a:t>油、锈、污</a:t>
            </a:r>
            <a:r>
              <a:rPr lang="zh-CN" altLang="en-US" b="1" dirty="0">
                <a:ea typeface="楷体_GB2312" pitchFamily="49" charset="-122"/>
              </a:rPr>
              <a:t>等结构件时，</a:t>
            </a:r>
            <a:r>
              <a:rPr lang="zh-CN" altLang="en-US" b="1" dirty="0">
                <a:solidFill>
                  <a:srgbClr val="0000FF"/>
                </a:solidFill>
                <a:ea typeface="楷体_GB2312" pitchFamily="49" charset="-122"/>
              </a:rPr>
              <a:t>应选用酸性焊条。</a:t>
            </a:r>
            <a:endParaRPr lang="zh-CN" altLang="en-US" b="1" dirty="0">
              <a:solidFill>
                <a:srgbClr val="0000FF"/>
              </a:solidFill>
              <a:ea typeface="楷体_GB2312" pitchFamily="49" charset="-122"/>
            </a:endParaRPr>
          </a:p>
          <a:p>
            <a:pPr lvl="1" eaLnBrk="1" hangingPunct="1">
              <a:lnSpc>
                <a:spcPct val="90000"/>
              </a:lnSpc>
            </a:pPr>
            <a:r>
              <a:rPr lang="zh-CN" altLang="en-US" b="1" dirty="0">
                <a:ea typeface="楷体_GB2312" pitchFamily="49" charset="-122"/>
              </a:rPr>
              <a:t>焊接在</a:t>
            </a:r>
            <a:r>
              <a:rPr lang="zh-CN" altLang="en-US" b="1" dirty="0">
                <a:solidFill>
                  <a:srgbClr val="008000"/>
                </a:solidFill>
                <a:ea typeface="楷体_GB2312" pitchFamily="49" charset="-122"/>
              </a:rPr>
              <a:t>特殊条件（腐蚀、高温）</a:t>
            </a:r>
            <a:r>
              <a:rPr lang="zh-CN" altLang="en-US" b="1" dirty="0">
                <a:ea typeface="楷体_GB2312" pitchFamily="49" charset="-122"/>
              </a:rPr>
              <a:t>下工作的结构件时，应选用</a:t>
            </a:r>
            <a:r>
              <a:rPr lang="zh-CN" altLang="en-US" b="1" dirty="0">
                <a:solidFill>
                  <a:srgbClr val="0000FF"/>
                </a:solidFill>
                <a:ea typeface="楷体_GB2312" pitchFamily="49" charset="-122"/>
              </a:rPr>
              <a:t>特殊用途焊条。</a:t>
            </a:r>
            <a:endParaRPr lang="zh-CN" altLang="en-US" b="1" dirty="0">
              <a:solidFill>
                <a:srgbClr val="0000FF"/>
              </a:solidFill>
              <a:ea typeface="楷体_GB2312" pitchFamily="49" charset="-122"/>
            </a:endParaRPr>
          </a:p>
          <a:p>
            <a:pPr lvl="2" eaLnBrk="1" hangingPunct="1">
              <a:lnSpc>
                <a:spcPct val="90000"/>
              </a:lnSpc>
              <a:buNone/>
            </a:pPr>
            <a:endParaRPr lang="en-US" altLang="zh-CN" sz="2800" b="1" dirty="0">
              <a:ea typeface="楷体_GB2312" pitchFamily="49"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2"/>
          <p:cNvSpPr>
            <a:spLocks noGrp="1"/>
          </p:cNvSpPr>
          <p:nvPr>
            <p:ph type="title"/>
          </p:nvPr>
        </p:nvSpPr>
        <p:spPr/>
        <p:txBody>
          <a:bodyPr vert="horz" wrap="square" lIns="91440" tIns="45720" rIns="91440" bIns="45720" anchor="ctr" anchorCtr="0"/>
          <a:p>
            <a:pPr algn="ctr" eaLnBrk="1" hangingPunct="1"/>
            <a:r>
              <a:rPr lang="zh-CN" altLang="en-US" sz="3200" dirty="0">
                <a:solidFill>
                  <a:srgbClr val="CC3300"/>
                </a:solidFill>
                <a:ea typeface="楷体_GB2312" pitchFamily="49" charset="-122"/>
              </a:rPr>
              <a:t>焊条的选用（按焊件的形状、刚度及焊接位置选用）</a:t>
            </a:r>
            <a:endParaRPr lang="zh-CN" altLang="en-US" sz="3200" dirty="0">
              <a:solidFill>
                <a:srgbClr val="CC3300"/>
              </a:solidFill>
              <a:ea typeface="楷体_GB2312" pitchFamily="49" charset="-122"/>
            </a:endParaRPr>
          </a:p>
        </p:txBody>
      </p:sp>
      <p:sp>
        <p:nvSpPr>
          <p:cNvPr id="44035" name="Rectangle 3"/>
          <p:cNvSpPr>
            <a:spLocks noGrp="1"/>
          </p:cNvSpPr>
          <p:nvPr>
            <p:ph idx="1"/>
          </p:nvPr>
        </p:nvSpPr>
        <p:spPr>
          <a:xfrm>
            <a:off x="34925" y="1485900"/>
            <a:ext cx="8820150" cy="4319588"/>
          </a:xfrm>
        </p:spPr>
        <p:txBody>
          <a:bodyPr vert="horz" wrap="square" lIns="91440" tIns="45720" rIns="91440" bIns="45720" anchor="t" anchorCtr="0"/>
          <a:p>
            <a:pPr lvl="1" eaLnBrk="1" hangingPunct="1"/>
            <a:r>
              <a:rPr lang="zh-CN" altLang="en-US" b="1" dirty="0">
                <a:ea typeface="楷体_GB2312" pitchFamily="49" charset="-122"/>
              </a:rPr>
              <a:t>厚度、刚度大、形状复杂的结构件，应选用碱性焊条。</a:t>
            </a:r>
            <a:endParaRPr lang="zh-CN" altLang="en-US" b="1" dirty="0">
              <a:ea typeface="楷体_GB2312" pitchFamily="49" charset="-122"/>
            </a:endParaRPr>
          </a:p>
          <a:p>
            <a:pPr lvl="1" eaLnBrk="1" hangingPunct="1"/>
            <a:r>
              <a:rPr lang="zh-CN" altLang="en-US" b="1" dirty="0">
                <a:ea typeface="楷体_GB2312" pitchFamily="49" charset="-122"/>
              </a:rPr>
              <a:t>厚度、刚度不大，形状一般，尤其是均可采用平焊的结构件，应选用适当的酸性焊条。</a:t>
            </a:r>
            <a:endParaRPr lang="zh-CN" altLang="en-US" b="1" dirty="0">
              <a:ea typeface="楷体_GB2312" pitchFamily="49" charset="-122"/>
            </a:endParaRPr>
          </a:p>
          <a:p>
            <a:pPr lvl="1" eaLnBrk="1" hangingPunct="1"/>
            <a:r>
              <a:rPr lang="zh-CN" altLang="en-US" b="1" dirty="0">
                <a:ea typeface="楷体_GB2312" pitchFamily="49" charset="-122"/>
              </a:rPr>
              <a:t>除平焊外，立焊、横焊、仰焊等焊接位置的结构件应选用全位置焊条。</a:t>
            </a:r>
            <a:endParaRPr lang="zh-CN" altLang="en-US" b="1" dirty="0">
              <a:ea typeface="楷体_GB2312" pitchFamily="49"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Rectangle 2"/>
          <p:cNvSpPr>
            <a:spLocks noGrp="1"/>
          </p:cNvSpPr>
          <p:nvPr>
            <p:ph type="title"/>
          </p:nvPr>
        </p:nvSpPr>
        <p:spPr/>
        <p:txBody>
          <a:bodyPr vert="horz" wrap="square" lIns="91440" tIns="45720" rIns="91440" bIns="45720" anchor="ctr" anchorCtr="0"/>
          <a:p>
            <a:pPr algn="ctr" eaLnBrk="1" hangingPunct="1"/>
            <a:r>
              <a:rPr lang="zh-CN" altLang="en-US" sz="4400" dirty="0">
                <a:ea typeface="楷体_GB2312" pitchFamily="49" charset="-122"/>
              </a:rPr>
              <a:t>埋弧焊</a:t>
            </a:r>
            <a:endParaRPr lang="zh-CN" altLang="en-US" sz="4400" dirty="0">
              <a:ea typeface="楷体_GB2312" pitchFamily="49" charset="-122"/>
            </a:endParaRPr>
          </a:p>
        </p:txBody>
      </p:sp>
      <p:sp>
        <p:nvSpPr>
          <p:cNvPr id="45059" name="Rectangle 3"/>
          <p:cNvSpPr>
            <a:spLocks noGrp="1"/>
          </p:cNvSpPr>
          <p:nvPr>
            <p:ph idx="1"/>
          </p:nvPr>
        </p:nvSpPr>
        <p:spPr>
          <a:xfrm>
            <a:off x="250825" y="1411288"/>
            <a:ext cx="8353425" cy="1441450"/>
          </a:xfrm>
        </p:spPr>
        <p:txBody>
          <a:bodyPr vert="horz" wrap="square" lIns="91440" tIns="45720" rIns="91440" bIns="45720" anchor="t" anchorCtr="0"/>
          <a:p>
            <a:pPr eaLnBrk="1" hangingPunct="1">
              <a:lnSpc>
                <a:spcPct val="80000"/>
              </a:lnSpc>
              <a:buNone/>
            </a:pPr>
            <a:r>
              <a:rPr lang="en-US" altLang="zh-CN" sz="2800" dirty="0"/>
              <a:t> </a:t>
            </a:r>
            <a:r>
              <a:rPr lang="en-US" altLang="zh-CN" sz="2800" b="1" dirty="0">
                <a:solidFill>
                  <a:srgbClr val="FF0000"/>
                </a:solidFill>
                <a:latin typeface="楷体_GB2312" pitchFamily="49" charset="-122"/>
                <a:ea typeface="楷体_GB2312" pitchFamily="49" charset="-122"/>
              </a:rPr>
              <a:t>1.</a:t>
            </a:r>
            <a:r>
              <a:rPr lang="zh-CN" altLang="en-US" sz="2800" b="1" dirty="0">
                <a:solidFill>
                  <a:srgbClr val="FF0000"/>
                </a:solidFill>
                <a:latin typeface="楷体_GB2312" pitchFamily="49" charset="-122"/>
                <a:ea typeface="楷体_GB2312" pitchFamily="49" charset="-122"/>
              </a:rPr>
              <a:t>埋弧焊</a:t>
            </a:r>
            <a:r>
              <a:rPr lang="en-US" altLang="zh-CN" sz="2800" b="1" dirty="0">
                <a:solidFill>
                  <a:srgbClr val="FF0000"/>
                </a:solidFill>
                <a:latin typeface="楷体_GB2312" pitchFamily="49" charset="-122"/>
                <a:ea typeface="楷体_GB2312" pitchFamily="49" charset="-122"/>
              </a:rPr>
              <a:t>:</a:t>
            </a:r>
            <a:r>
              <a:rPr lang="zh-CN" altLang="en-US" sz="2800" b="1" dirty="0">
                <a:latin typeface="楷体_GB2312" pitchFamily="49" charset="-122"/>
                <a:ea typeface="楷体_GB2312" pitchFamily="49" charset="-122"/>
              </a:rPr>
              <a:t>将焊条电弧焊的引弧、焊条送进、电弧移动几个动作改由机械</a:t>
            </a:r>
            <a:r>
              <a:rPr lang="zh-CN" altLang="en-US" sz="2800" b="1" dirty="0">
                <a:solidFill>
                  <a:srgbClr val="CC0066"/>
                </a:solidFill>
                <a:latin typeface="楷体_GB2312" pitchFamily="49" charset="-122"/>
                <a:ea typeface="楷体_GB2312" pitchFamily="49" charset="-122"/>
              </a:rPr>
              <a:t>自动完成</a:t>
            </a:r>
            <a:r>
              <a:rPr lang="zh-CN" altLang="en-US" sz="2800" b="1" dirty="0">
                <a:latin typeface="楷体_GB2312" pitchFamily="49" charset="-122"/>
                <a:ea typeface="楷体_GB2312" pitchFamily="49" charset="-122"/>
              </a:rPr>
              <a:t>，</a:t>
            </a:r>
            <a:r>
              <a:rPr lang="zh-CN" altLang="en-US" sz="2800" b="1" dirty="0">
                <a:solidFill>
                  <a:srgbClr val="CC0066"/>
                </a:solidFill>
                <a:latin typeface="楷体_GB2312" pitchFamily="49" charset="-122"/>
                <a:ea typeface="楷体_GB2312" pitchFamily="49" charset="-122"/>
              </a:rPr>
              <a:t>电弧在焊剂层下燃烧</a:t>
            </a:r>
            <a:r>
              <a:rPr lang="zh-CN" altLang="en-US" sz="2800" b="1" dirty="0">
                <a:latin typeface="楷体_GB2312" pitchFamily="49" charset="-122"/>
                <a:ea typeface="楷体_GB2312" pitchFamily="49" charset="-122"/>
              </a:rPr>
              <a:t>。若部分实现机械化，称半自动化。广泛用于</a:t>
            </a:r>
            <a:r>
              <a:rPr lang="zh-CN" altLang="en-US" sz="2800" b="1" dirty="0">
                <a:solidFill>
                  <a:srgbClr val="CC0066"/>
                </a:solidFill>
                <a:latin typeface="楷体_GB2312" pitchFamily="49" charset="-122"/>
                <a:ea typeface="楷体_GB2312" pitchFamily="49" charset="-122"/>
              </a:rPr>
              <a:t>压力容器、管道焊接等。</a:t>
            </a:r>
            <a:endParaRPr lang="zh-CN" altLang="en-US" sz="2800" b="1" dirty="0">
              <a:solidFill>
                <a:srgbClr val="CC0066"/>
              </a:solidFill>
              <a:latin typeface="楷体_GB2312" pitchFamily="49" charset="-122"/>
              <a:ea typeface="楷体_GB2312" pitchFamily="49" charset="-122"/>
            </a:endParaRPr>
          </a:p>
          <a:p>
            <a:pPr eaLnBrk="1" hangingPunct="1">
              <a:lnSpc>
                <a:spcPct val="80000"/>
              </a:lnSpc>
              <a:buNone/>
            </a:pPr>
            <a:endParaRPr lang="en-US" altLang="zh-CN" sz="2800" b="1" dirty="0">
              <a:solidFill>
                <a:srgbClr val="CC0066"/>
              </a:solidFill>
              <a:latin typeface="楷体_GB2312" pitchFamily="49" charset="-122"/>
              <a:ea typeface="楷体_GB2312" pitchFamily="49" charset="-122"/>
            </a:endParaRPr>
          </a:p>
        </p:txBody>
      </p:sp>
      <p:grpSp>
        <p:nvGrpSpPr>
          <p:cNvPr id="45060" name="Group 6"/>
          <p:cNvGrpSpPr/>
          <p:nvPr/>
        </p:nvGrpSpPr>
        <p:grpSpPr>
          <a:xfrm>
            <a:off x="2700338" y="2997200"/>
            <a:ext cx="6443662" cy="3860800"/>
            <a:chOff x="656" y="1231"/>
            <a:chExt cx="4673" cy="2970"/>
          </a:xfrm>
        </p:grpSpPr>
        <p:sp>
          <p:nvSpPr>
            <p:cNvPr id="45065" name="Text Box 7"/>
            <p:cNvSpPr txBox="1"/>
            <p:nvPr/>
          </p:nvSpPr>
          <p:spPr>
            <a:xfrm>
              <a:off x="657" y="3969"/>
              <a:ext cx="4672" cy="232"/>
            </a:xfrm>
            <a:prstGeom prst="rect">
              <a:avLst/>
            </a:prstGeom>
            <a:solidFill>
              <a:srgbClr val="FFFFFF"/>
            </a:solidFill>
            <a:ln w="9525">
              <a:noFill/>
            </a:ln>
          </p:spPr>
          <p:txBody>
            <a:bodyPr/>
            <a:p>
              <a:pPr eaLnBrk="1" hangingPunct="1"/>
              <a:r>
                <a:rPr lang="en-US" altLang="zh-CN" b="1" dirty="0">
                  <a:latin typeface="楷体_GB2312" pitchFamily="49" charset="-122"/>
                  <a:ea typeface="楷体_GB2312" pitchFamily="49" charset="-122"/>
                </a:rPr>
                <a:t>                  </a:t>
              </a:r>
              <a:r>
                <a:rPr lang="zh-CN" altLang="en-US" sz="2000" b="1" dirty="0">
                  <a:latin typeface="楷体_GB2312" pitchFamily="49" charset="-122"/>
                  <a:ea typeface="楷体_GB2312" pitchFamily="49" charset="-122"/>
                </a:rPr>
                <a:t>图</a:t>
              </a:r>
              <a:r>
                <a:rPr lang="en-US" altLang="zh-CN" sz="2000" b="1" dirty="0">
                  <a:latin typeface="楷体_GB2312" pitchFamily="49" charset="-122"/>
                  <a:ea typeface="楷体_GB2312" pitchFamily="49" charset="-122"/>
                </a:rPr>
                <a:t>4-15 </a:t>
              </a:r>
              <a:r>
                <a:rPr lang="zh-CN" altLang="en-US" sz="2000" b="1" dirty="0">
                  <a:latin typeface="楷体_GB2312" pitchFamily="49" charset="-122"/>
                  <a:ea typeface="楷体_GB2312" pitchFamily="49" charset="-122"/>
                </a:rPr>
                <a:t>埋弧焊原理</a:t>
              </a:r>
              <a:r>
                <a:rPr lang="zh-CN" altLang="en-US" dirty="0">
                  <a:latin typeface="Times New Roman" panose="02020603050405020304" pitchFamily="18" charset="0"/>
                </a:rPr>
                <a:t>	</a:t>
              </a:r>
              <a:endParaRPr lang="zh-CN" altLang="en-US" sz="1600" dirty="0">
                <a:latin typeface="GreekS" pitchFamily="2" charset="0"/>
              </a:endParaRPr>
            </a:p>
          </p:txBody>
        </p:sp>
        <p:pic>
          <p:nvPicPr>
            <p:cNvPr id="45066" name="Picture 5" descr="5-7"/>
            <p:cNvPicPr>
              <a:picLocks noChangeAspect="1"/>
            </p:cNvPicPr>
            <p:nvPr/>
          </p:nvPicPr>
          <p:blipFill>
            <a:blip r:embed="rId1">
              <a:lum contrast="66000"/>
            </a:blip>
            <a:stretch>
              <a:fillRect/>
            </a:stretch>
          </p:blipFill>
          <p:spPr>
            <a:xfrm>
              <a:off x="656" y="1231"/>
              <a:ext cx="4673" cy="2743"/>
            </a:xfrm>
            <a:prstGeom prst="rect">
              <a:avLst/>
            </a:prstGeom>
            <a:noFill/>
            <a:ln w="9525">
              <a:noFill/>
            </a:ln>
          </p:spPr>
        </p:pic>
      </p:grpSp>
      <p:pic>
        <p:nvPicPr>
          <p:cNvPr id="45061" name="Picture 7"/>
          <p:cNvPicPr>
            <a:picLocks noChangeAspect="1"/>
          </p:cNvPicPr>
          <p:nvPr/>
        </p:nvPicPr>
        <p:blipFill>
          <a:blip r:embed="rId2"/>
          <a:stretch>
            <a:fillRect/>
          </a:stretch>
        </p:blipFill>
        <p:spPr>
          <a:xfrm>
            <a:off x="179388" y="3068638"/>
            <a:ext cx="2439987" cy="1487487"/>
          </a:xfrm>
          <a:prstGeom prst="rect">
            <a:avLst/>
          </a:prstGeom>
          <a:solidFill>
            <a:srgbClr val="99FF33"/>
          </a:solidFill>
          <a:ln w="9525">
            <a:noFill/>
          </a:ln>
        </p:spPr>
      </p:pic>
      <p:pic>
        <p:nvPicPr>
          <p:cNvPr id="45062" name="Picture 8" descr="image_24b_jpg">
            <a:hlinkClick r:id="rId3"/>
          </p:cNvPr>
          <p:cNvPicPr>
            <a:picLocks noChangeAspect="1"/>
          </p:cNvPicPr>
          <p:nvPr/>
        </p:nvPicPr>
        <p:blipFill>
          <a:blip r:embed="rId4"/>
          <a:stretch>
            <a:fillRect/>
          </a:stretch>
        </p:blipFill>
        <p:spPr>
          <a:xfrm>
            <a:off x="539750" y="4797425"/>
            <a:ext cx="1658938" cy="1957388"/>
          </a:xfrm>
          <a:prstGeom prst="rect">
            <a:avLst/>
          </a:prstGeom>
          <a:noFill/>
          <a:ln w="9525">
            <a:noFill/>
          </a:ln>
        </p:spPr>
      </p:pic>
      <p:sp>
        <p:nvSpPr>
          <p:cNvPr id="45063" name="矩形 8"/>
          <p:cNvSpPr/>
          <p:nvPr/>
        </p:nvSpPr>
        <p:spPr>
          <a:xfrm>
            <a:off x="2500313" y="142875"/>
            <a:ext cx="6357937" cy="369888"/>
          </a:xfrm>
          <a:prstGeom prst="rect">
            <a:avLst/>
          </a:prstGeom>
          <a:noFill/>
          <a:ln w="9525">
            <a:noFill/>
          </a:ln>
        </p:spPr>
        <p:txBody>
          <a:bodyPr>
            <a:spAutoFit/>
          </a:bodyPr>
          <a:p>
            <a:r>
              <a:rPr lang="zh-CN" altLang="en-US" dirty="0">
                <a:latin typeface="Arial" panose="020B0604020202020204" pitchFamily="34" charset="0"/>
                <a:hlinkClick r:id="rId5"/>
              </a:rPr>
              <a:t>高效率的机械化焊接方法：全自动埋弧焊</a:t>
            </a:r>
            <a:r>
              <a:rPr lang="en-US" altLang="zh-CN" dirty="0">
                <a:latin typeface="Arial" panose="020B0604020202020204" pitchFamily="34" charset="0"/>
                <a:hlinkClick r:id="rId5"/>
              </a:rPr>
              <a:t>_</a:t>
            </a:r>
            <a:r>
              <a:rPr lang="zh-CN" altLang="en-US" dirty="0">
                <a:latin typeface="Arial" panose="020B0604020202020204" pitchFamily="34" charset="0"/>
                <a:hlinkClick r:id="rId5"/>
              </a:rPr>
              <a:t>腾讯视频 </a:t>
            </a:r>
            <a:r>
              <a:rPr lang="en-US" altLang="zh-CN" dirty="0">
                <a:latin typeface="Arial" panose="020B0604020202020204" pitchFamily="34" charset="0"/>
                <a:hlinkClick r:id="rId5"/>
              </a:rPr>
              <a:t>(qq.com)</a:t>
            </a:r>
            <a:endParaRPr lang="zh-CN" altLang="en-US" dirty="0">
              <a:latin typeface="Arial" panose="020B0604020202020204" pitchFamily="34" charset="0"/>
            </a:endParaRPr>
          </a:p>
        </p:txBody>
      </p:sp>
      <p:sp>
        <p:nvSpPr>
          <p:cNvPr id="45064" name="矩形 9"/>
          <p:cNvSpPr/>
          <p:nvPr/>
        </p:nvSpPr>
        <p:spPr>
          <a:xfrm>
            <a:off x="2500313" y="857250"/>
            <a:ext cx="6143625" cy="369888"/>
          </a:xfrm>
          <a:prstGeom prst="rect">
            <a:avLst/>
          </a:prstGeom>
          <a:noFill/>
          <a:ln w="9525">
            <a:noFill/>
          </a:ln>
        </p:spPr>
        <p:txBody>
          <a:bodyPr>
            <a:spAutoFit/>
          </a:bodyPr>
          <a:p>
            <a:r>
              <a:rPr lang="zh-CN" altLang="en-US" dirty="0">
                <a:latin typeface="Arial" panose="020B0604020202020204" pitchFamily="34" charset="0"/>
                <a:hlinkClick r:id="rId6"/>
              </a:rPr>
              <a:t>精细化埋弧焊</a:t>
            </a:r>
            <a:r>
              <a:rPr lang="en-US" altLang="zh-CN" dirty="0">
                <a:latin typeface="Arial" panose="020B0604020202020204" pitchFamily="34" charset="0"/>
                <a:hlinkClick r:id="rId6"/>
              </a:rPr>
              <a:t>——2.0mm</a:t>
            </a:r>
            <a:r>
              <a:rPr lang="zh-CN" altLang="en-US" dirty="0">
                <a:latin typeface="Arial" panose="020B0604020202020204" pitchFamily="34" charset="0"/>
                <a:hlinkClick r:id="rId6"/>
              </a:rPr>
              <a:t>焊接</a:t>
            </a:r>
            <a:r>
              <a:rPr lang="en-US" altLang="zh-CN" dirty="0">
                <a:latin typeface="Arial" panose="020B0604020202020204" pitchFamily="34" charset="0"/>
                <a:hlinkClick r:id="rId6"/>
              </a:rPr>
              <a:t>_</a:t>
            </a:r>
            <a:r>
              <a:rPr lang="zh-CN" altLang="en-US" dirty="0">
                <a:latin typeface="Arial" panose="020B0604020202020204" pitchFamily="34" charset="0"/>
                <a:hlinkClick r:id="rId6"/>
              </a:rPr>
              <a:t>好看视频 </a:t>
            </a:r>
            <a:r>
              <a:rPr lang="en-US" altLang="zh-CN" dirty="0">
                <a:latin typeface="Arial" panose="020B0604020202020204" pitchFamily="34" charset="0"/>
                <a:hlinkClick r:id="rId6"/>
              </a:rPr>
              <a:t>(baidu.com)</a:t>
            </a:r>
            <a:endParaRPr lang="zh-CN" altLang="en-US" dirty="0">
              <a:latin typeface="Arial" panose="020B0604020202020204" pitchFamily="34"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标题 1"/>
          <p:cNvSpPr>
            <a:spLocks noGrp="1"/>
          </p:cNvSpPr>
          <p:nvPr>
            <p:ph type="title"/>
          </p:nvPr>
        </p:nvSpPr>
        <p:spPr/>
        <p:txBody>
          <a:bodyPr vert="horz" wrap="square" lIns="91440" tIns="45720" rIns="91440" bIns="45720" anchor="ctr" anchorCtr="0"/>
          <a:p>
            <a:pPr>
              <a:buNone/>
            </a:pPr>
            <a:r>
              <a:rPr lang="zh-CN" altLang="en-US" dirty="0">
                <a:ea typeface="楷体_GB2312" pitchFamily="49" charset="-122"/>
              </a:rPr>
              <a:t>埋弧焊</a:t>
            </a:r>
            <a:endParaRPr lang="zh-CN" altLang="en-US" dirty="0"/>
          </a:p>
        </p:txBody>
      </p:sp>
      <p:sp>
        <p:nvSpPr>
          <p:cNvPr id="46083" name="内容占位符 2"/>
          <p:cNvSpPr>
            <a:spLocks noGrp="1"/>
          </p:cNvSpPr>
          <p:nvPr>
            <p:ph idx="1"/>
          </p:nvPr>
        </p:nvSpPr>
        <p:spPr/>
        <p:txBody>
          <a:bodyPr vert="horz" wrap="square" lIns="91440" tIns="45720" rIns="91440" bIns="45720" anchor="t" anchorCtr="0"/>
          <a:p>
            <a:endParaRPr lang="zh-CN" altLang="en-US" dirty="0"/>
          </a:p>
        </p:txBody>
      </p:sp>
      <p:pic>
        <p:nvPicPr>
          <p:cNvPr id="46084" name="Picture 2"/>
          <p:cNvPicPr>
            <a:picLocks noChangeAspect="1"/>
          </p:cNvPicPr>
          <p:nvPr/>
        </p:nvPicPr>
        <p:blipFill>
          <a:blip r:embed="rId1"/>
          <a:stretch>
            <a:fillRect/>
          </a:stretch>
        </p:blipFill>
        <p:spPr>
          <a:xfrm>
            <a:off x="785813" y="1714500"/>
            <a:ext cx="7397750" cy="3943350"/>
          </a:xfrm>
          <a:prstGeom prst="rect">
            <a:avLst/>
          </a:prstGeom>
          <a:noFill/>
          <a:ln w="9525">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Rectangle 3"/>
          <p:cNvSpPr>
            <a:spLocks noGrp="1"/>
          </p:cNvSpPr>
          <p:nvPr>
            <p:ph type="body" sz="half" idx="1"/>
          </p:nvPr>
        </p:nvSpPr>
        <p:spPr>
          <a:xfrm>
            <a:off x="468313" y="1412875"/>
            <a:ext cx="8064500" cy="4530725"/>
          </a:xfrm>
        </p:spPr>
        <p:txBody>
          <a:bodyPr vert="horz" wrap="square" lIns="91440" tIns="45720" rIns="91440" bIns="45720" anchor="t" anchorCtr="0"/>
          <a:p>
            <a:pPr eaLnBrk="1" hangingPunct="1">
              <a:buClrTx/>
              <a:buSzTx/>
              <a:buFontTx/>
            </a:pPr>
            <a:r>
              <a:rPr lang="zh-CN" altLang="en-US" b="1" dirty="0">
                <a:solidFill>
                  <a:srgbClr val="0033CC"/>
                </a:solidFill>
                <a:latin typeface="楷体_GB2312" pitchFamily="49" charset="-122"/>
                <a:ea typeface="楷体_GB2312" pitchFamily="49" charset="-122"/>
              </a:rPr>
              <a:t>特点</a:t>
            </a:r>
            <a:r>
              <a:rPr lang="zh-CN" altLang="en-US" b="1" dirty="0">
                <a:latin typeface="楷体_GB2312" pitchFamily="49" charset="-122"/>
                <a:ea typeface="楷体_GB2312" pitchFamily="49" charset="-122"/>
              </a:rPr>
              <a:t>：</a:t>
            </a:r>
            <a:endParaRPr lang="zh-CN" altLang="en-US" b="1" dirty="0">
              <a:latin typeface="楷体_GB2312" pitchFamily="49" charset="-122"/>
              <a:ea typeface="楷体_GB2312" pitchFamily="49" charset="-122"/>
            </a:endParaRPr>
          </a:p>
          <a:p>
            <a:pPr lvl="1" eaLnBrk="1" hangingPunct="1"/>
            <a:r>
              <a:rPr lang="zh-CN" altLang="en-US" b="1" dirty="0">
                <a:latin typeface="楷体_GB2312" pitchFamily="49" charset="-122"/>
                <a:ea typeface="楷体_GB2312" pitchFamily="49" charset="-122"/>
              </a:rPr>
              <a:t>比手工焊大</a:t>
            </a:r>
            <a:r>
              <a:rPr lang="en-US" altLang="zh-CN" b="1" dirty="0">
                <a:latin typeface="楷体_GB2312" pitchFamily="49" charset="-122"/>
                <a:ea typeface="楷体_GB2312" pitchFamily="49" charset="-122"/>
              </a:rPr>
              <a:t>3</a:t>
            </a:r>
            <a:r>
              <a:rPr lang="zh-CN" altLang="en-US" b="1" dirty="0">
                <a:latin typeface="楷体_GB2312" pitchFamily="49" charset="-122"/>
                <a:ea typeface="楷体_GB2312" pitchFamily="49" charset="-122"/>
              </a:rPr>
              <a:t>～</a:t>
            </a:r>
            <a:r>
              <a:rPr lang="en-US" altLang="zh-CN" b="1" dirty="0">
                <a:latin typeface="楷体_GB2312" pitchFamily="49" charset="-122"/>
                <a:ea typeface="楷体_GB2312" pitchFamily="49" charset="-122"/>
              </a:rPr>
              <a:t>6</a:t>
            </a:r>
            <a:r>
              <a:rPr lang="zh-CN" altLang="en-US" b="1" dirty="0">
                <a:latin typeface="楷体_GB2312" pitchFamily="49" charset="-122"/>
                <a:ea typeface="楷体_GB2312" pitchFamily="49" charset="-122"/>
              </a:rPr>
              <a:t>倍的焊接电流；对</a:t>
            </a:r>
            <a:r>
              <a:rPr lang="en-US" altLang="zh-CN" b="1" dirty="0">
                <a:latin typeface="楷体_GB2312" pitchFamily="49" charset="-122"/>
                <a:ea typeface="楷体_GB2312" pitchFamily="49" charset="-122"/>
              </a:rPr>
              <a:t>20</a:t>
            </a:r>
            <a:r>
              <a:rPr lang="zh-CN" altLang="en-US" b="1" dirty="0">
                <a:latin typeface="楷体_GB2312" pitchFamily="49" charset="-122"/>
                <a:ea typeface="楷体_GB2312" pitchFamily="49" charset="-122"/>
              </a:rPr>
              <a:t>～</a:t>
            </a:r>
            <a:r>
              <a:rPr lang="en-US" altLang="zh-CN" b="1" dirty="0">
                <a:latin typeface="楷体_GB2312" pitchFamily="49" charset="-122"/>
                <a:ea typeface="楷体_GB2312" pitchFamily="49" charset="-122"/>
              </a:rPr>
              <a:t>25</a:t>
            </a:r>
            <a:r>
              <a:rPr lang="zh-CN" altLang="en-US" b="1" dirty="0">
                <a:latin typeface="楷体_GB2312" pitchFamily="49" charset="-122"/>
                <a:ea typeface="楷体_GB2312" pitchFamily="49" charset="-122"/>
              </a:rPr>
              <a:t>毫米以下焊件不开坡口也能焊透。</a:t>
            </a:r>
            <a:endParaRPr lang="zh-CN" altLang="en-US" b="1" dirty="0">
              <a:latin typeface="楷体_GB2312" pitchFamily="49" charset="-122"/>
              <a:ea typeface="楷体_GB2312" pitchFamily="49" charset="-122"/>
            </a:endParaRPr>
          </a:p>
          <a:p>
            <a:pPr lvl="1" eaLnBrk="1" hangingPunct="1"/>
            <a:r>
              <a:rPr lang="zh-CN" altLang="en-US" b="1" dirty="0">
                <a:latin typeface="楷体_GB2312" pitchFamily="49" charset="-122"/>
                <a:ea typeface="楷体_GB2312" pitchFamily="49" charset="-122"/>
              </a:rPr>
              <a:t>生产率高，质量好，劳动强度低，节省材料和电能，易实现机械化和自动化。</a:t>
            </a:r>
            <a:endParaRPr lang="zh-CN" altLang="en-US" b="1" dirty="0">
              <a:latin typeface="楷体_GB2312" pitchFamily="49" charset="-122"/>
              <a:ea typeface="楷体_GB2312" pitchFamily="49" charset="-122"/>
            </a:endParaRPr>
          </a:p>
          <a:p>
            <a:pPr lvl="1" eaLnBrk="1" hangingPunct="1"/>
            <a:r>
              <a:rPr lang="zh-CN" altLang="en-US" b="1" dirty="0">
                <a:latin typeface="楷体_GB2312" pitchFamily="49" charset="-122"/>
                <a:ea typeface="楷体_GB2312" pitchFamily="49" charset="-122"/>
              </a:rPr>
              <a:t>电弧</a:t>
            </a:r>
            <a:r>
              <a:rPr lang="zh-CN" altLang="en-US" b="1" dirty="0">
                <a:solidFill>
                  <a:srgbClr val="FF0000"/>
                </a:solidFill>
                <a:latin typeface="楷体_GB2312" pitchFamily="49" charset="-122"/>
                <a:ea typeface="楷体_GB2312" pitchFamily="49" charset="-122"/>
              </a:rPr>
              <a:t>不可见</a:t>
            </a:r>
            <a:r>
              <a:rPr lang="zh-CN" altLang="en-US" b="1" dirty="0">
                <a:latin typeface="楷体_GB2312" pitchFamily="49" charset="-122"/>
                <a:ea typeface="楷体_GB2312" pitchFamily="49" charset="-122"/>
              </a:rPr>
              <a:t>，对接头加工和装配要求较高，只适于平焊。</a:t>
            </a:r>
            <a:endParaRPr lang="zh-CN" altLang="en-US" b="1" dirty="0">
              <a:latin typeface="楷体_GB2312" pitchFamily="49" charset="-122"/>
              <a:ea typeface="楷体_GB2312" pitchFamily="49" charset="-122"/>
            </a:endParaRPr>
          </a:p>
          <a:p>
            <a:pPr lvl="1" eaLnBrk="1" hangingPunct="1"/>
            <a:r>
              <a:rPr lang="zh-CN" altLang="en-US" b="1" dirty="0">
                <a:solidFill>
                  <a:srgbClr val="FF0000"/>
                </a:solidFill>
                <a:latin typeface="楷体_GB2312" pitchFamily="49" charset="-122"/>
                <a:ea typeface="楷体_GB2312" pitchFamily="49" charset="-122"/>
              </a:rPr>
              <a:t>大批量生产</a:t>
            </a:r>
            <a:r>
              <a:rPr lang="zh-CN" altLang="en-US" b="1" dirty="0">
                <a:latin typeface="楷体_GB2312" pitchFamily="49" charset="-122"/>
                <a:ea typeface="楷体_GB2312" pitchFamily="49" charset="-122"/>
              </a:rPr>
              <a:t>时，焊接</a:t>
            </a:r>
            <a:r>
              <a:rPr lang="zh-CN" altLang="en-US" b="1" dirty="0">
                <a:solidFill>
                  <a:srgbClr val="FF0000"/>
                </a:solidFill>
                <a:latin typeface="楷体_GB2312" pitchFamily="49" charset="-122"/>
                <a:ea typeface="楷体_GB2312" pitchFamily="49" charset="-122"/>
              </a:rPr>
              <a:t>厚</a:t>
            </a:r>
            <a:r>
              <a:rPr lang="zh-CN" altLang="en-US" b="1" dirty="0">
                <a:latin typeface="楷体_GB2312" pitchFamily="49" charset="-122"/>
                <a:ea typeface="楷体_GB2312" pitchFamily="49" charset="-122"/>
              </a:rPr>
              <a:t>的、</a:t>
            </a:r>
            <a:r>
              <a:rPr lang="zh-CN" altLang="en-US" b="1" dirty="0">
                <a:solidFill>
                  <a:srgbClr val="FF0000"/>
                </a:solidFill>
                <a:latin typeface="楷体_GB2312" pitchFamily="49" charset="-122"/>
                <a:ea typeface="楷体_GB2312" pitchFamily="49" charset="-122"/>
              </a:rPr>
              <a:t>长</a:t>
            </a:r>
            <a:r>
              <a:rPr lang="zh-CN" altLang="en-US" b="1" dirty="0">
                <a:latin typeface="楷体_GB2312" pitchFamily="49" charset="-122"/>
                <a:ea typeface="楷体_GB2312" pitchFamily="49" charset="-122"/>
              </a:rPr>
              <a:t>的直线焊缝或</a:t>
            </a:r>
            <a:r>
              <a:rPr lang="zh-CN" altLang="en-US" b="1" dirty="0">
                <a:solidFill>
                  <a:srgbClr val="FF0000"/>
                </a:solidFill>
                <a:latin typeface="楷体_GB2312" pitchFamily="49" charset="-122"/>
                <a:ea typeface="楷体_GB2312" pitchFamily="49" charset="-122"/>
              </a:rPr>
              <a:t>大圆周</a:t>
            </a:r>
            <a:r>
              <a:rPr lang="zh-CN" altLang="en-US" b="1" dirty="0">
                <a:latin typeface="楷体_GB2312" pitchFamily="49" charset="-122"/>
                <a:ea typeface="楷体_GB2312" pitchFamily="49" charset="-122"/>
              </a:rPr>
              <a:t>悍缝时优点才显著，手工焊需要不停的换焊条和引弧。 </a:t>
            </a:r>
            <a:endParaRPr lang="zh-CN" altLang="en-US" b="1" dirty="0">
              <a:latin typeface="楷体_GB2312" pitchFamily="49" charset="-122"/>
              <a:ea typeface="楷体_GB2312" pitchFamily="49" charset="-122"/>
            </a:endParaRPr>
          </a:p>
        </p:txBody>
      </p:sp>
      <p:pic>
        <p:nvPicPr>
          <p:cNvPr id="47107" name="Picture 5" descr="T4-1_gif">
            <a:hlinkClick r:id="rId1"/>
          </p:cNvPr>
          <p:cNvPicPr>
            <a:picLocks noChangeAspect="1"/>
          </p:cNvPicPr>
          <p:nvPr>
            <p:ph sz="quarter" idx="2"/>
          </p:nvPr>
        </p:nvPicPr>
        <p:blipFill>
          <a:blip r:embed="rId2"/>
          <a:srcRect/>
          <a:stretch>
            <a:fillRect/>
          </a:stretch>
        </p:blipFill>
        <p:spPr>
          <a:xfrm>
            <a:off x="7437438" y="0"/>
            <a:ext cx="1706562" cy="1879600"/>
          </a:xfrm>
        </p:spPr>
      </p:pic>
      <p:sp>
        <p:nvSpPr>
          <p:cNvPr id="47108" name="Rectangle 8"/>
          <p:cNvSpPr>
            <a:spLocks noGrp="1"/>
          </p:cNvSpPr>
          <p:nvPr>
            <p:ph type="title"/>
          </p:nvPr>
        </p:nvSpPr>
        <p:spPr>
          <a:xfrm>
            <a:off x="2051050" y="26988"/>
            <a:ext cx="6019800" cy="1190625"/>
          </a:xfrm>
        </p:spPr>
        <p:txBody>
          <a:bodyPr vert="horz" wrap="square" lIns="91440" tIns="45720" rIns="91440" bIns="45720" anchor="ctr" anchorCtr="0"/>
          <a:p>
            <a:pPr algn="ctr" eaLnBrk="1" hangingPunct="1"/>
            <a:r>
              <a:rPr lang="zh-CN" altLang="en-US" sz="4400" dirty="0">
                <a:ea typeface="楷体_GB2312" pitchFamily="49" charset="-122"/>
              </a:rPr>
              <a:t>埋弧焊</a:t>
            </a:r>
            <a:endParaRPr lang="zh-CN" altLang="en-US" sz="4400" dirty="0">
              <a:ea typeface="楷体_GB2312" pitchFamily="49"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Rectangle 3"/>
          <p:cNvSpPr>
            <a:spLocks noGrp="1"/>
          </p:cNvSpPr>
          <p:nvPr>
            <p:ph type="body" sz="half" idx="1"/>
          </p:nvPr>
        </p:nvSpPr>
        <p:spPr>
          <a:xfrm>
            <a:off x="250825" y="1371600"/>
            <a:ext cx="4206875" cy="5153025"/>
          </a:xfrm>
        </p:spPr>
        <p:txBody>
          <a:bodyPr vert="horz" wrap="square" lIns="91440" tIns="45720" rIns="91440" bIns="45720" anchor="t" anchorCtr="0"/>
          <a:p>
            <a:pPr lvl="1" eaLnBrk="1" hangingPunct="1">
              <a:lnSpc>
                <a:spcPct val="80000"/>
              </a:lnSpc>
            </a:pPr>
            <a:r>
              <a:rPr lang="zh-CN" altLang="en-US" sz="2400" b="1" dirty="0">
                <a:latin typeface="楷体_GB2312" pitchFamily="49" charset="-122"/>
                <a:ea typeface="楷体_GB2312" pitchFamily="49" charset="-122"/>
              </a:rPr>
              <a:t>在焊剂层下，</a:t>
            </a:r>
            <a:r>
              <a:rPr lang="zh-CN" altLang="en-US" sz="2400" b="1" dirty="0">
                <a:solidFill>
                  <a:srgbClr val="CC0066"/>
                </a:solidFill>
                <a:latin typeface="楷体_GB2312" pitchFamily="49" charset="-122"/>
                <a:ea typeface="楷体_GB2312" pitchFamily="49" charset="-122"/>
              </a:rPr>
              <a:t>电弧</a:t>
            </a:r>
            <a:r>
              <a:rPr lang="zh-CN" altLang="en-US" sz="2400" b="1" dirty="0">
                <a:latin typeface="楷体_GB2312" pitchFamily="49" charset="-122"/>
                <a:ea typeface="楷体_GB2312" pitchFamily="49" charset="-122"/>
              </a:rPr>
              <a:t>在焊丝末端与焊件之间</a:t>
            </a:r>
            <a:r>
              <a:rPr lang="zh-CN" altLang="en-US" sz="2400" b="1" dirty="0">
                <a:solidFill>
                  <a:srgbClr val="CC0066"/>
                </a:solidFill>
                <a:latin typeface="楷体_GB2312" pitchFamily="49" charset="-122"/>
                <a:ea typeface="楷体_GB2312" pitchFamily="49" charset="-122"/>
              </a:rPr>
              <a:t>燃烧</a:t>
            </a:r>
            <a:r>
              <a:rPr lang="zh-CN" altLang="en-US" sz="2400" b="1" dirty="0">
                <a:latin typeface="楷体_GB2312" pitchFamily="49" charset="-122"/>
                <a:ea typeface="楷体_GB2312" pitchFamily="49" charset="-122"/>
              </a:rPr>
              <a:t>。</a:t>
            </a:r>
            <a:endParaRPr lang="zh-CN" altLang="en-US" sz="2400" b="1" dirty="0">
              <a:latin typeface="楷体_GB2312" pitchFamily="49" charset="-122"/>
              <a:ea typeface="楷体_GB2312" pitchFamily="49" charset="-122"/>
            </a:endParaRPr>
          </a:p>
          <a:p>
            <a:pPr lvl="1" eaLnBrk="1" hangingPunct="1">
              <a:lnSpc>
                <a:spcPct val="80000"/>
              </a:lnSpc>
            </a:pPr>
            <a:r>
              <a:rPr lang="zh-CN" altLang="en-US" sz="2400" b="1" dirty="0">
                <a:latin typeface="楷体_GB2312" pitchFamily="49" charset="-122"/>
                <a:ea typeface="楷体_GB2312" pitchFamily="49" charset="-122"/>
              </a:rPr>
              <a:t>焊丝的端头和被焊工件以及焊剂熔化，</a:t>
            </a:r>
            <a:r>
              <a:rPr lang="zh-CN" altLang="en-US" sz="2400" b="1" dirty="0">
                <a:solidFill>
                  <a:srgbClr val="CC0066"/>
                </a:solidFill>
                <a:latin typeface="楷体_GB2312" pitchFamily="49" charset="-122"/>
                <a:ea typeface="楷体_GB2312" pitchFamily="49" charset="-122"/>
              </a:rPr>
              <a:t>形成熔池和熔渣</a:t>
            </a:r>
            <a:r>
              <a:rPr lang="zh-CN" altLang="en-US" sz="2400" b="1" dirty="0">
                <a:latin typeface="楷体_GB2312" pitchFamily="49" charset="-122"/>
                <a:ea typeface="楷体_GB2312" pitchFamily="49" charset="-122"/>
              </a:rPr>
              <a:t>。</a:t>
            </a:r>
            <a:endParaRPr lang="zh-CN" altLang="en-US" sz="2400" b="1" dirty="0">
              <a:latin typeface="楷体_GB2312" pitchFamily="49" charset="-122"/>
              <a:ea typeface="楷体_GB2312" pitchFamily="49" charset="-122"/>
            </a:endParaRPr>
          </a:p>
          <a:p>
            <a:pPr lvl="1" eaLnBrk="1" hangingPunct="1">
              <a:lnSpc>
                <a:spcPct val="80000"/>
              </a:lnSpc>
            </a:pPr>
            <a:r>
              <a:rPr lang="zh-CN" altLang="en-US" sz="2400" b="1" dirty="0">
                <a:latin typeface="楷体_GB2312" pitchFamily="49" charset="-122"/>
                <a:ea typeface="楷体_GB2312" pitchFamily="49" charset="-122"/>
              </a:rPr>
              <a:t>熔化的焊剂在焊接时产生的气体作用下，在电弧周围形成一个封闭空间，</a:t>
            </a:r>
            <a:r>
              <a:rPr lang="zh-CN" altLang="en-US" sz="2400" b="1" dirty="0">
                <a:solidFill>
                  <a:srgbClr val="CC0066"/>
                </a:solidFill>
                <a:latin typeface="楷体_GB2312" pitchFamily="49" charset="-122"/>
                <a:ea typeface="楷体_GB2312" pitchFamily="49" charset="-122"/>
              </a:rPr>
              <a:t>使电弧与空气隔绝</a:t>
            </a:r>
            <a:r>
              <a:rPr lang="zh-CN" altLang="en-US" sz="2400" b="1" dirty="0">
                <a:latin typeface="楷体_GB2312" pitchFamily="49" charset="-122"/>
                <a:ea typeface="楷体_GB2312" pitchFamily="49" charset="-122"/>
              </a:rPr>
              <a:t>。</a:t>
            </a:r>
            <a:endParaRPr lang="zh-CN" altLang="en-US" sz="2400" b="1" dirty="0">
              <a:latin typeface="楷体_GB2312" pitchFamily="49" charset="-122"/>
              <a:ea typeface="楷体_GB2312" pitchFamily="49" charset="-122"/>
            </a:endParaRPr>
          </a:p>
          <a:p>
            <a:pPr lvl="1" eaLnBrk="1" hangingPunct="1">
              <a:lnSpc>
                <a:spcPct val="80000"/>
              </a:lnSpc>
            </a:pPr>
            <a:r>
              <a:rPr lang="zh-CN" altLang="en-US" sz="2400" b="1" dirty="0">
                <a:latin typeface="楷体_GB2312" pitchFamily="49" charset="-122"/>
                <a:ea typeface="楷体_GB2312" pitchFamily="49" charset="-122"/>
              </a:rPr>
              <a:t>电弧向前移动，焊接熔池随之冷却而凝固，</a:t>
            </a:r>
            <a:r>
              <a:rPr lang="zh-CN" altLang="en-US" sz="2400" b="1" dirty="0">
                <a:solidFill>
                  <a:srgbClr val="CC0066"/>
                </a:solidFill>
                <a:latin typeface="楷体_GB2312" pitchFamily="49" charset="-122"/>
                <a:ea typeface="楷体_GB2312" pitchFamily="49" charset="-122"/>
              </a:rPr>
              <a:t>形成焊缝</a:t>
            </a:r>
            <a:r>
              <a:rPr lang="zh-CN" altLang="en-US" sz="2400" b="1" dirty="0">
                <a:latin typeface="楷体_GB2312" pitchFamily="49" charset="-122"/>
                <a:ea typeface="楷体_GB2312" pitchFamily="49" charset="-122"/>
              </a:rPr>
              <a:t>。</a:t>
            </a:r>
            <a:endParaRPr lang="zh-CN" altLang="en-US" sz="2400" b="1" dirty="0">
              <a:latin typeface="楷体_GB2312" pitchFamily="49" charset="-122"/>
              <a:ea typeface="楷体_GB2312" pitchFamily="49" charset="-122"/>
            </a:endParaRPr>
          </a:p>
          <a:p>
            <a:pPr lvl="1" eaLnBrk="1" hangingPunct="1">
              <a:lnSpc>
                <a:spcPct val="80000"/>
              </a:lnSpc>
            </a:pPr>
            <a:r>
              <a:rPr lang="zh-CN" altLang="en-US" sz="2400" b="1" dirty="0">
                <a:latin typeface="楷体_GB2312" pitchFamily="49" charset="-122"/>
                <a:ea typeface="楷体_GB2312" pitchFamily="49" charset="-122"/>
              </a:rPr>
              <a:t>比重较轻的熔融熔渣浮在熔池的表面，</a:t>
            </a:r>
            <a:r>
              <a:rPr lang="zh-CN" altLang="en-US" sz="2400" b="1" dirty="0">
                <a:solidFill>
                  <a:srgbClr val="CC0066"/>
                </a:solidFill>
                <a:latin typeface="楷体_GB2312" pitchFamily="49" charset="-122"/>
                <a:ea typeface="楷体_GB2312" pitchFamily="49" charset="-122"/>
              </a:rPr>
              <a:t>冷却后成为渣完</a:t>
            </a:r>
            <a:r>
              <a:rPr lang="en-US" altLang="zh-CN" sz="2400" b="1" dirty="0">
                <a:latin typeface="楷体_GB2312" pitchFamily="49" charset="-122"/>
                <a:ea typeface="楷体_GB2312" pitchFamily="49" charset="-122"/>
              </a:rPr>
              <a:t>(</a:t>
            </a:r>
            <a:r>
              <a:rPr lang="zh-CN" altLang="en-US" sz="2400" b="1" dirty="0">
                <a:latin typeface="楷体_GB2312" pitchFamily="49" charset="-122"/>
                <a:ea typeface="楷体_GB2312" pitchFamily="49" charset="-122"/>
              </a:rPr>
              <a:t>焊渣</a:t>
            </a:r>
            <a:r>
              <a:rPr lang="en-US" altLang="zh-CN" sz="2400" b="1" dirty="0">
                <a:latin typeface="楷体_GB2312" pitchFamily="49" charset="-122"/>
                <a:ea typeface="楷体_GB2312" pitchFamily="49" charset="-122"/>
              </a:rPr>
              <a:t>)</a:t>
            </a:r>
            <a:r>
              <a:rPr lang="zh-CN" altLang="en-US" sz="2400" b="1" dirty="0">
                <a:latin typeface="楷体_GB2312" pitchFamily="49" charset="-122"/>
                <a:ea typeface="楷体_GB2312" pitchFamily="49" charset="-122"/>
              </a:rPr>
              <a:t>。 </a:t>
            </a:r>
            <a:endParaRPr lang="zh-CN" altLang="en-US" sz="2400" b="1" dirty="0">
              <a:latin typeface="楷体_GB2312" pitchFamily="49" charset="-122"/>
              <a:ea typeface="楷体_GB2312" pitchFamily="49" charset="-122"/>
            </a:endParaRPr>
          </a:p>
        </p:txBody>
      </p:sp>
      <p:pic>
        <p:nvPicPr>
          <p:cNvPr id="48131" name="Picture 4"/>
          <p:cNvPicPr>
            <a:picLocks noChangeAspect="1"/>
          </p:cNvPicPr>
          <p:nvPr>
            <p:ph sz="half" idx="2"/>
          </p:nvPr>
        </p:nvPicPr>
        <p:blipFill>
          <a:blip r:embed="rId1"/>
          <a:srcRect/>
          <a:stretch>
            <a:fillRect/>
          </a:stretch>
        </p:blipFill>
        <p:spPr>
          <a:xfrm>
            <a:off x="4429125" y="1643063"/>
            <a:ext cx="4454525" cy="3989387"/>
          </a:xfrm>
        </p:spPr>
      </p:pic>
      <p:sp>
        <p:nvSpPr>
          <p:cNvPr id="48132" name="Rectangle 6"/>
          <p:cNvSpPr>
            <a:spLocks noGrp="1"/>
          </p:cNvSpPr>
          <p:nvPr>
            <p:ph type="title"/>
          </p:nvPr>
        </p:nvSpPr>
        <p:spPr/>
        <p:txBody>
          <a:bodyPr vert="horz" wrap="square" lIns="91440" tIns="45720" rIns="91440" bIns="45720" anchor="ctr" anchorCtr="0"/>
          <a:p>
            <a:pPr algn="ctr" eaLnBrk="1" hangingPunct="1"/>
            <a:r>
              <a:rPr lang="zh-CN" altLang="en-US" sz="4400" dirty="0">
                <a:ea typeface="楷体_GB2312" pitchFamily="49" charset="-122"/>
              </a:rPr>
              <a:t>埋弧焊</a:t>
            </a:r>
            <a:r>
              <a:rPr lang="zh-CN" altLang="en-US" sz="4400" dirty="0">
                <a:solidFill>
                  <a:srgbClr val="800080"/>
                </a:solidFill>
                <a:latin typeface="楷体_GB2312" pitchFamily="49" charset="-122"/>
                <a:ea typeface="楷体_GB2312" pitchFamily="49" charset="-122"/>
              </a:rPr>
              <a:t>焊接过程</a:t>
            </a:r>
            <a:endParaRPr lang="zh-CN" altLang="en-US" sz="4400" dirty="0">
              <a:ea typeface="楷体_GB2312" pitchFamily="49"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Rectangle 3"/>
          <p:cNvSpPr>
            <a:spLocks noGrp="1"/>
          </p:cNvSpPr>
          <p:nvPr>
            <p:ph type="body" sz="half" idx="1"/>
          </p:nvPr>
        </p:nvSpPr>
        <p:spPr>
          <a:xfrm>
            <a:off x="457200" y="1371600"/>
            <a:ext cx="8142288" cy="4572000"/>
          </a:xfrm>
        </p:spPr>
        <p:txBody>
          <a:bodyPr vert="horz" wrap="square" lIns="91440" tIns="45720" rIns="91440" bIns="45720" anchor="t" anchorCtr="0"/>
          <a:p>
            <a:pPr eaLnBrk="1" hangingPunct="1">
              <a:buClrTx/>
              <a:buSzTx/>
              <a:buFontTx/>
            </a:pPr>
            <a:r>
              <a:rPr lang="zh-CN" altLang="en-US" b="1" dirty="0">
                <a:solidFill>
                  <a:srgbClr val="800080"/>
                </a:solidFill>
                <a:latin typeface="楷体_GB2312" pitchFamily="49" charset="-122"/>
                <a:ea typeface="楷体_GB2312" pitchFamily="49" charset="-122"/>
              </a:rPr>
              <a:t>埋弧焊材料</a:t>
            </a:r>
            <a:endParaRPr lang="zh-CN" altLang="en-US" b="1" dirty="0">
              <a:solidFill>
                <a:srgbClr val="800080"/>
              </a:solidFill>
              <a:latin typeface="楷体_GB2312" pitchFamily="49" charset="-122"/>
              <a:ea typeface="楷体_GB2312" pitchFamily="49" charset="-122"/>
            </a:endParaRPr>
          </a:p>
          <a:p>
            <a:pPr lvl="1" eaLnBrk="1" hangingPunct="1"/>
            <a:r>
              <a:rPr lang="zh-CN" altLang="en-US" sz="2400" b="1" dirty="0">
                <a:latin typeface="楷体_GB2312" pitchFamily="49" charset="-122"/>
                <a:ea typeface="楷体_GB2312" pitchFamily="49" charset="-122"/>
              </a:rPr>
              <a:t>焊丝：相当于焊芯</a:t>
            </a:r>
            <a:endParaRPr lang="zh-CN" altLang="en-US" sz="2400" b="1" dirty="0">
              <a:latin typeface="楷体_GB2312" pitchFamily="49" charset="-122"/>
              <a:ea typeface="楷体_GB2312" pitchFamily="49" charset="-122"/>
            </a:endParaRPr>
          </a:p>
          <a:p>
            <a:pPr lvl="2" eaLnBrk="1" hangingPunct="1"/>
            <a:r>
              <a:rPr lang="zh-CN" altLang="en-US" b="1" dirty="0">
                <a:latin typeface="楷体_GB2312" pitchFamily="49" charset="-122"/>
                <a:ea typeface="楷体_GB2312" pitchFamily="49" charset="-122"/>
              </a:rPr>
              <a:t>作用：除了作电极和填充材料外，</a:t>
            </a:r>
            <a:endParaRPr lang="zh-CN" altLang="en-US" b="1" dirty="0">
              <a:latin typeface="楷体_GB2312" pitchFamily="49" charset="-122"/>
              <a:ea typeface="楷体_GB2312" pitchFamily="49" charset="-122"/>
            </a:endParaRPr>
          </a:p>
          <a:p>
            <a:pPr lvl="2" eaLnBrk="1" hangingPunct="1">
              <a:buNone/>
            </a:pPr>
            <a:r>
              <a:rPr lang="zh-CN" altLang="en-US" b="1" dirty="0">
                <a:latin typeface="楷体_GB2312" pitchFamily="49" charset="-122"/>
                <a:ea typeface="楷体_GB2312" pitchFamily="49" charset="-122"/>
              </a:rPr>
              <a:t>	还起到渗合金、脱氧、去硫等冶</a:t>
            </a:r>
            <a:endParaRPr lang="zh-CN" altLang="en-US" b="1" dirty="0">
              <a:latin typeface="楷体_GB2312" pitchFamily="49" charset="-122"/>
              <a:ea typeface="楷体_GB2312" pitchFamily="49" charset="-122"/>
            </a:endParaRPr>
          </a:p>
          <a:p>
            <a:pPr lvl="2" eaLnBrk="1" hangingPunct="1">
              <a:buNone/>
            </a:pPr>
            <a:r>
              <a:rPr lang="zh-CN" altLang="en-US" b="1" dirty="0">
                <a:latin typeface="楷体_GB2312" pitchFamily="49" charset="-122"/>
                <a:ea typeface="楷体_GB2312" pitchFamily="49" charset="-122"/>
              </a:rPr>
              <a:t>	金作用。</a:t>
            </a:r>
            <a:endParaRPr lang="zh-CN" altLang="en-US" b="1" dirty="0">
              <a:latin typeface="楷体_GB2312" pitchFamily="49" charset="-122"/>
              <a:ea typeface="楷体_GB2312" pitchFamily="49" charset="-122"/>
            </a:endParaRPr>
          </a:p>
          <a:p>
            <a:pPr lvl="1" eaLnBrk="1" hangingPunct="1"/>
            <a:r>
              <a:rPr lang="zh-CN" altLang="en-US" sz="2400" b="1" dirty="0">
                <a:latin typeface="楷体_GB2312" pitchFamily="49" charset="-122"/>
                <a:ea typeface="楷体_GB2312" pitchFamily="49" charset="-122"/>
              </a:rPr>
              <a:t>焊剂：相当于焊条药皮。分</a:t>
            </a:r>
            <a:r>
              <a:rPr lang="zh-CN" altLang="en-US" sz="2400" b="1" dirty="0">
                <a:solidFill>
                  <a:srgbClr val="CC0066"/>
                </a:solidFill>
                <a:latin typeface="楷体_GB2312" pitchFamily="49" charset="-122"/>
                <a:ea typeface="楷体_GB2312" pitchFamily="49" charset="-122"/>
              </a:rPr>
              <a:t>熔炼焊剂</a:t>
            </a:r>
            <a:r>
              <a:rPr lang="zh-CN" altLang="en-US" sz="2400" b="1" dirty="0">
                <a:latin typeface="楷体_GB2312" pitchFamily="49" charset="-122"/>
                <a:ea typeface="楷体_GB2312" pitchFamily="49" charset="-122"/>
              </a:rPr>
              <a:t>和</a:t>
            </a:r>
            <a:r>
              <a:rPr lang="zh-CN" altLang="en-US" sz="2400" b="1" dirty="0">
                <a:solidFill>
                  <a:srgbClr val="CC0066"/>
                </a:solidFill>
                <a:latin typeface="楷体_GB2312" pitchFamily="49" charset="-122"/>
                <a:ea typeface="楷体_GB2312" pitchFamily="49" charset="-122"/>
              </a:rPr>
              <a:t>非熔炼焊剂</a:t>
            </a:r>
            <a:r>
              <a:rPr lang="zh-CN" altLang="en-US" sz="2400" b="1" dirty="0">
                <a:latin typeface="楷体_GB2312" pitchFamily="49" charset="-122"/>
                <a:ea typeface="楷体_GB2312" pitchFamily="49" charset="-122"/>
              </a:rPr>
              <a:t>，非熔炼焊剂又分</a:t>
            </a:r>
            <a:r>
              <a:rPr lang="zh-CN" altLang="en-US" sz="2400" b="1" dirty="0">
                <a:solidFill>
                  <a:srgbClr val="CC0066"/>
                </a:solidFill>
                <a:latin typeface="楷体_GB2312" pitchFamily="49" charset="-122"/>
                <a:ea typeface="楷体_GB2312" pitchFamily="49" charset="-122"/>
              </a:rPr>
              <a:t>烧结焊剂</a:t>
            </a:r>
            <a:r>
              <a:rPr lang="zh-CN" altLang="en-US" sz="2400" b="1" dirty="0">
                <a:latin typeface="楷体_GB2312" pitchFamily="49" charset="-122"/>
                <a:ea typeface="楷体_GB2312" pitchFamily="49" charset="-122"/>
              </a:rPr>
              <a:t>和</a:t>
            </a:r>
            <a:r>
              <a:rPr lang="zh-CN" altLang="en-US" sz="2400" b="1" dirty="0">
                <a:solidFill>
                  <a:srgbClr val="CC0066"/>
                </a:solidFill>
                <a:latin typeface="楷体_GB2312" pitchFamily="49" charset="-122"/>
                <a:ea typeface="楷体_GB2312" pitchFamily="49" charset="-122"/>
              </a:rPr>
              <a:t>粘结焊剂</a:t>
            </a:r>
            <a:r>
              <a:rPr lang="zh-CN" altLang="en-US" sz="2400" b="1" dirty="0">
                <a:latin typeface="楷体_GB2312" pitchFamily="49" charset="-122"/>
                <a:ea typeface="楷体_GB2312" pitchFamily="49" charset="-122"/>
              </a:rPr>
              <a:t>。</a:t>
            </a:r>
            <a:endParaRPr lang="zh-CN" altLang="en-US" sz="2400" b="1" dirty="0">
              <a:latin typeface="楷体_GB2312" pitchFamily="49" charset="-122"/>
              <a:ea typeface="楷体_GB2312" pitchFamily="49" charset="-122"/>
            </a:endParaRPr>
          </a:p>
          <a:p>
            <a:pPr lvl="2" eaLnBrk="1" hangingPunct="1"/>
            <a:r>
              <a:rPr lang="zh-CN" altLang="en-US" b="1" dirty="0">
                <a:latin typeface="楷体_GB2312" pitchFamily="49" charset="-122"/>
                <a:ea typeface="楷体_GB2312" pitchFamily="49" charset="-122"/>
              </a:rPr>
              <a:t>作用：熔炼焊剂主要起保护作用。非熔炼焊剂除保护作用外，还有冶金处理作用。烧结焊剂是指一种优质、高效、节能、环保型焊剂。</a:t>
            </a:r>
            <a:endParaRPr lang="zh-CN" altLang="en-US" b="1" dirty="0">
              <a:latin typeface="楷体_GB2312" pitchFamily="49" charset="-122"/>
              <a:ea typeface="楷体_GB2312" pitchFamily="49" charset="-122"/>
            </a:endParaRPr>
          </a:p>
        </p:txBody>
      </p:sp>
      <p:pic>
        <p:nvPicPr>
          <p:cNvPr id="49155" name="Picture 4" descr="004"/>
          <p:cNvPicPr>
            <a:picLocks noChangeAspect="1"/>
          </p:cNvPicPr>
          <p:nvPr>
            <p:ph sz="half" idx="2"/>
          </p:nvPr>
        </p:nvPicPr>
        <p:blipFill>
          <a:blip r:embed="rId1"/>
          <a:srcRect/>
          <a:stretch>
            <a:fillRect/>
          </a:stretch>
        </p:blipFill>
        <p:spPr>
          <a:xfrm>
            <a:off x="7019925" y="1268413"/>
            <a:ext cx="1887538" cy="1443037"/>
          </a:xfrm>
        </p:spPr>
      </p:pic>
      <p:sp>
        <p:nvSpPr>
          <p:cNvPr id="49156" name="Rectangle 6"/>
          <p:cNvSpPr>
            <a:spLocks noGrp="1"/>
          </p:cNvSpPr>
          <p:nvPr>
            <p:ph type="title"/>
          </p:nvPr>
        </p:nvSpPr>
        <p:spPr/>
        <p:txBody>
          <a:bodyPr vert="horz" wrap="square" lIns="91440" tIns="45720" rIns="91440" bIns="45720" anchor="ctr" anchorCtr="0"/>
          <a:p>
            <a:pPr algn="ctr" eaLnBrk="1" hangingPunct="1"/>
            <a:r>
              <a:rPr lang="zh-CN" altLang="en-US" sz="4400" dirty="0">
                <a:ea typeface="楷体_GB2312" pitchFamily="49" charset="-122"/>
              </a:rPr>
              <a:t>埋弧焊</a:t>
            </a:r>
            <a:endParaRPr lang="zh-CN" altLang="en-US" sz="4400" dirty="0">
              <a:ea typeface="楷体_GB2312" pitchFamily="49" charset="-122"/>
            </a:endParaRPr>
          </a:p>
        </p:txBody>
      </p:sp>
      <p:sp>
        <p:nvSpPr>
          <p:cNvPr id="49157" name="Text Box 7"/>
          <p:cNvSpPr txBox="1"/>
          <p:nvPr/>
        </p:nvSpPr>
        <p:spPr>
          <a:xfrm>
            <a:off x="611188" y="5516563"/>
            <a:ext cx="8077200" cy="1201737"/>
          </a:xfrm>
          <a:prstGeom prst="rect">
            <a:avLst/>
          </a:prstGeom>
          <a:noFill/>
          <a:ln w="12700">
            <a:noFill/>
          </a:ln>
        </p:spPr>
        <p:txBody>
          <a:bodyPr lIns="90000" tIns="46800" rIns="90000" bIns="46800">
            <a:spAutoFit/>
          </a:bodyPr>
          <a:p>
            <a:pPr algn="just" eaLnBrk="1" hangingPunct="1">
              <a:lnSpc>
                <a:spcPct val="140000"/>
              </a:lnSpc>
              <a:spcBef>
                <a:spcPct val="20000"/>
              </a:spcBef>
              <a:buClr>
                <a:schemeClr val="tx2"/>
              </a:buClr>
              <a:buSzPct val="75000"/>
              <a:buFont typeface="Wingdings" panose="05000000000000000000" pitchFamily="2" charset="2"/>
            </a:pPr>
            <a:r>
              <a:rPr lang="en-US" altLang="zh-CN" sz="2400" dirty="0">
                <a:solidFill>
                  <a:srgbClr val="FF6600"/>
                </a:solidFill>
                <a:latin typeface="Times New Roman" panose="02020603050405020304" pitchFamily="18" charset="0"/>
              </a:rPr>
              <a:t> </a:t>
            </a:r>
            <a:r>
              <a:rPr lang="zh-CN" altLang="en-US" sz="2400" b="1" dirty="0">
                <a:solidFill>
                  <a:srgbClr val="008000"/>
                </a:solidFill>
                <a:latin typeface="Times New Roman" panose="02020603050405020304" pitchFamily="18" charset="0"/>
                <a:ea typeface="楷体_GB2312" pitchFamily="49" charset="-122"/>
              </a:rPr>
              <a:t>熔炼焊剂：</a:t>
            </a:r>
            <a:r>
              <a:rPr lang="zh-CN" altLang="en-US" sz="2400" b="1" dirty="0">
                <a:solidFill>
                  <a:srgbClr val="000000"/>
                </a:solidFill>
                <a:latin typeface="楷体_GB2312" pitchFamily="49" charset="-122"/>
                <a:ea typeface="楷体_GB2312" pitchFamily="49" charset="-122"/>
              </a:rPr>
              <a:t>在熔炼炉中制备，成分均匀，适于大量生产；</a:t>
            </a:r>
            <a:endParaRPr lang="zh-CN" altLang="en-US" sz="2400" b="1" dirty="0">
              <a:solidFill>
                <a:srgbClr val="000000"/>
              </a:solidFill>
              <a:latin typeface="楷体_GB2312" pitchFamily="49" charset="-122"/>
              <a:ea typeface="楷体_GB2312" pitchFamily="49" charset="-122"/>
            </a:endParaRPr>
          </a:p>
          <a:p>
            <a:pPr algn="just" eaLnBrk="1" hangingPunct="1">
              <a:lnSpc>
                <a:spcPct val="140000"/>
              </a:lnSpc>
              <a:spcBef>
                <a:spcPct val="20000"/>
              </a:spcBef>
              <a:buClr>
                <a:schemeClr val="tx2"/>
              </a:buClr>
              <a:buSzPct val="75000"/>
              <a:buFont typeface="Wingdings" panose="05000000000000000000" pitchFamily="2" charset="2"/>
            </a:pPr>
            <a:r>
              <a:rPr lang="zh-CN" altLang="en-US" sz="2400" b="1" dirty="0">
                <a:solidFill>
                  <a:srgbClr val="008000"/>
                </a:solidFill>
                <a:latin typeface="楷体_GB2312" pitchFamily="49" charset="-122"/>
                <a:ea typeface="楷体_GB2312" pitchFamily="49" charset="-122"/>
              </a:rPr>
              <a:t> 陶瓷焊剂：</a:t>
            </a:r>
            <a:r>
              <a:rPr lang="zh-CN" altLang="en-US" sz="2400" b="1" dirty="0">
                <a:solidFill>
                  <a:srgbClr val="000000"/>
                </a:solidFill>
                <a:latin typeface="楷体_GB2312" pitchFamily="49" charset="-122"/>
                <a:ea typeface="楷体_GB2312" pitchFamily="49" charset="-122"/>
              </a:rPr>
              <a:t>利用粉末冶金工艺制备，颗粒强度低，碱性强。</a:t>
            </a:r>
            <a:endParaRPr lang="zh-CN" altLang="en-US" sz="2400" b="1" dirty="0">
              <a:solidFill>
                <a:srgbClr val="000000"/>
              </a:solidFill>
              <a:latin typeface="楷体_GB2312" pitchFamily="49" charset="-122"/>
              <a:ea typeface="楷体_GB2312" pitchFamily="49"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Rectangle 2"/>
          <p:cNvSpPr>
            <a:spLocks noGrp="1"/>
          </p:cNvSpPr>
          <p:nvPr>
            <p:ph type="title"/>
          </p:nvPr>
        </p:nvSpPr>
        <p:spPr/>
        <p:txBody>
          <a:bodyPr vert="horz" wrap="square" lIns="91440" tIns="45720" rIns="91440" bIns="45720" anchor="ctr" anchorCtr="0"/>
          <a:p>
            <a:pPr algn="ctr" eaLnBrk="1" hangingPunct="1"/>
            <a:r>
              <a:rPr lang="zh-CN" altLang="en-US" sz="4400" dirty="0">
                <a:ea typeface="楷体_GB2312" pitchFamily="49" charset="-122"/>
              </a:rPr>
              <a:t>埋弧焊工艺</a:t>
            </a:r>
            <a:endParaRPr lang="zh-CN" altLang="en-US" sz="4400" dirty="0">
              <a:ea typeface="楷体_GB2312" pitchFamily="49" charset="-122"/>
            </a:endParaRPr>
          </a:p>
        </p:txBody>
      </p:sp>
      <p:sp>
        <p:nvSpPr>
          <p:cNvPr id="50179" name="Rectangle 3"/>
          <p:cNvSpPr>
            <a:spLocks noGrp="1"/>
          </p:cNvSpPr>
          <p:nvPr>
            <p:ph type="body" sz="half" idx="1"/>
          </p:nvPr>
        </p:nvSpPr>
        <p:spPr>
          <a:xfrm>
            <a:off x="250825" y="1303338"/>
            <a:ext cx="8353425" cy="5365750"/>
          </a:xfrm>
        </p:spPr>
        <p:txBody>
          <a:bodyPr vert="horz" wrap="square" lIns="91440" tIns="45720" rIns="91440" bIns="45720" anchor="t" anchorCtr="0"/>
          <a:p>
            <a:pPr eaLnBrk="1" hangingPunct="1">
              <a:lnSpc>
                <a:spcPct val="90000"/>
              </a:lnSpc>
              <a:buClrTx/>
              <a:buSzTx/>
              <a:buFontTx/>
            </a:pPr>
            <a:r>
              <a:rPr lang="zh-CN" altLang="en-US" b="1" dirty="0">
                <a:solidFill>
                  <a:srgbClr val="CC0066"/>
                </a:solidFill>
                <a:latin typeface="楷体_GB2312" pitchFamily="49" charset="-122"/>
                <a:ea typeface="楷体_GB2312" pitchFamily="49" charset="-122"/>
              </a:rPr>
              <a:t>焊接前</a:t>
            </a:r>
            <a:r>
              <a:rPr lang="zh-CN" altLang="en-US" b="1" dirty="0">
                <a:latin typeface="楷体_GB2312" pitchFamily="49" charset="-122"/>
                <a:ea typeface="楷体_GB2312" pitchFamily="49" charset="-122"/>
              </a:rPr>
              <a:t>：</a:t>
            </a:r>
            <a:endParaRPr lang="zh-CN" altLang="en-US" b="1" dirty="0">
              <a:latin typeface="楷体_GB2312" pitchFamily="49" charset="-122"/>
              <a:ea typeface="楷体_GB2312" pitchFamily="49" charset="-122"/>
            </a:endParaRPr>
          </a:p>
          <a:p>
            <a:pPr lvl="1" eaLnBrk="1" hangingPunct="1">
              <a:lnSpc>
                <a:spcPct val="90000"/>
              </a:lnSpc>
            </a:pPr>
            <a:r>
              <a:rPr lang="zh-CN" altLang="en-US" b="1" dirty="0">
                <a:latin typeface="楷体_GB2312" pitchFamily="49" charset="-122"/>
                <a:ea typeface="楷体_GB2312" pitchFamily="49" charset="-122"/>
              </a:rPr>
              <a:t>坡口加工；</a:t>
            </a:r>
            <a:endParaRPr lang="zh-CN" altLang="en-US" b="1" dirty="0">
              <a:latin typeface="楷体_GB2312" pitchFamily="49" charset="-122"/>
              <a:ea typeface="楷体_GB2312" pitchFamily="49" charset="-122"/>
            </a:endParaRPr>
          </a:p>
          <a:p>
            <a:pPr lvl="1" eaLnBrk="1" hangingPunct="1">
              <a:lnSpc>
                <a:spcPct val="90000"/>
              </a:lnSpc>
            </a:pPr>
            <a:r>
              <a:rPr lang="zh-CN" altLang="en-US" b="1" dirty="0">
                <a:latin typeface="楷体_GB2312" pitchFamily="49" charset="-122"/>
                <a:ea typeface="楷体_GB2312" pitchFamily="49" charset="-122"/>
              </a:rPr>
              <a:t>清理预焊部位，消除坡口及两侧</a:t>
            </a:r>
            <a:r>
              <a:rPr lang="en-US" altLang="zh-CN" b="1" dirty="0">
                <a:latin typeface="楷体_GB2312" pitchFamily="49" charset="-122"/>
                <a:ea typeface="楷体_GB2312" pitchFamily="49" charset="-122"/>
              </a:rPr>
              <a:t>50</a:t>
            </a:r>
            <a:r>
              <a:rPr lang="zh-CN" altLang="en-US" b="1" dirty="0">
                <a:latin typeface="楷体_GB2312" pitchFamily="49" charset="-122"/>
                <a:ea typeface="楷体_GB2312" pitchFamily="49" charset="-122"/>
              </a:rPr>
              <a:t>～</a:t>
            </a:r>
            <a:r>
              <a:rPr lang="en-US" altLang="zh-CN" b="1" dirty="0">
                <a:latin typeface="楷体_GB2312" pitchFamily="49" charset="-122"/>
                <a:ea typeface="楷体_GB2312" pitchFamily="49" charset="-122"/>
              </a:rPr>
              <a:t>60mm</a:t>
            </a:r>
            <a:r>
              <a:rPr lang="zh-CN" altLang="en-US" b="1" dirty="0">
                <a:latin typeface="楷体_GB2312" pitchFamily="49" charset="-122"/>
                <a:ea typeface="楷体_GB2312" pitchFamily="49" charset="-122"/>
              </a:rPr>
              <a:t>内的一切油垢和铁锈，以免产生气孔；</a:t>
            </a:r>
            <a:endParaRPr lang="zh-CN" altLang="en-US" b="1" dirty="0">
              <a:latin typeface="楷体_GB2312" pitchFamily="49" charset="-122"/>
              <a:ea typeface="楷体_GB2312" pitchFamily="49" charset="-122"/>
            </a:endParaRPr>
          </a:p>
          <a:p>
            <a:pPr lvl="1" eaLnBrk="1" hangingPunct="1">
              <a:lnSpc>
                <a:spcPct val="90000"/>
              </a:lnSpc>
            </a:pPr>
            <a:r>
              <a:rPr lang="zh-CN" altLang="en-US" b="1" dirty="0">
                <a:latin typeface="楷体_GB2312" pitchFamily="49" charset="-122"/>
                <a:ea typeface="楷体_GB2312" pitchFamily="49" charset="-122"/>
              </a:rPr>
              <a:t>焊件的装配、点固焊等；</a:t>
            </a:r>
            <a:endParaRPr lang="zh-CN" altLang="en-US" b="1" dirty="0">
              <a:latin typeface="楷体_GB2312" pitchFamily="49" charset="-122"/>
              <a:ea typeface="楷体_GB2312" pitchFamily="49" charset="-122"/>
            </a:endParaRPr>
          </a:p>
          <a:p>
            <a:pPr lvl="1" eaLnBrk="1" hangingPunct="1">
              <a:lnSpc>
                <a:spcPct val="90000"/>
              </a:lnSpc>
            </a:pPr>
            <a:r>
              <a:rPr lang="zh-CN" altLang="en-US" b="1" dirty="0">
                <a:latin typeface="楷体_GB2312" pitchFamily="49" charset="-122"/>
                <a:ea typeface="楷体_GB2312" pitchFamily="49" charset="-122"/>
              </a:rPr>
              <a:t>在焊件两端装焊上引弧板和引出板，以确保焊缝质量可靠；</a:t>
            </a:r>
            <a:endParaRPr lang="zh-CN" altLang="en-US" b="1" dirty="0">
              <a:latin typeface="楷体_GB2312" pitchFamily="49" charset="-122"/>
              <a:ea typeface="楷体_GB2312" pitchFamily="49" charset="-122"/>
            </a:endParaRPr>
          </a:p>
        </p:txBody>
      </p:sp>
      <p:grpSp>
        <p:nvGrpSpPr>
          <p:cNvPr id="50180" name="Group 7"/>
          <p:cNvGrpSpPr/>
          <p:nvPr/>
        </p:nvGrpSpPr>
        <p:grpSpPr>
          <a:xfrm>
            <a:off x="3635375" y="4437063"/>
            <a:ext cx="4752975" cy="2106612"/>
            <a:chOff x="1655" y="2614"/>
            <a:chExt cx="3039" cy="1453"/>
          </a:xfrm>
        </p:grpSpPr>
        <p:pic>
          <p:nvPicPr>
            <p:cNvPr id="50181" name="Picture 8" descr="416"/>
            <p:cNvPicPr>
              <a:picLocks noChangeAspect="1"/>
            </p:cNvPicPr>
            <p:nvPr/>
          </p:nvPicPr>
          <p:blipFill>
            <a:blip r:embed="rId1"/>
            <a:srcRect l="4434" t="7825" r="6052" b="16513"/>
            <a:stretch>
              <a:fillRect/>
            </a:stretch>
          </p:blipFill>
          <p:spPr>
            <a:xfrm>
              <a:off x="1655" y="2614"/>
              <a:ext cx="3039" cy="1444"/>
            </a:xfrm>
            <a:prstGeom prst="rect">
              <a:avLst/>
            </a:prstGeom>
            <a:noFill/>
            <a:ln w="9525">
              <a:noFill/>
            </a:ln>
          </p:spPr>
        </p:pic>
        <p:sp>
          <p:nvSpPr>
            <p:cNvPr id="50182" name="Rectangle 9"/>
            <p:cNvSpPr/>
            <p:nvPr/>
          </p:nvSpPr>
          <p:spPr>
            <a:xfrm>
              <a:off x="1701" y="3794"/>
              <a:ext cx="2947" cy="273"/>
            </a:xfrm>
            <a:prstGeom prst="rect">
              <a:avLst/>
            </a:prstGeom>
            <a:solidFill>
              <a:srgbClr val="FFFFFF"/>
            </a:solidFill>
            <a:ln w="9525">
              <a:noFill/>
            </a:ln>
          </p:spPr>
          <p:txBody>
            <a:bodyPr>
              <a:spAutoFit/>
            </a:bodyPr>
            <a:p>
              <a:pPr eaLnBrk="1" hangingPunct="1"/>
              <a:r>
                <a:rPr lang="en-US" altLang="zh-CN" sz="2000" b="1" dirty="0">
                  <a:solidFill>
                    <a:srgbClr val="000000"/>
                  </a:solidFill>
                  <a:latin typeface="楷体_GB2312" pitchFamily="49" charset="-122"/>
                  <a:ea typeface="楷体_GB2312" pitchFamily="49" charset="-122"/>
                </a:rPr>
                <a:t>   </a:t>
              </a:r>
              <a:r>
                <a:rPr lang="zh-CN" altLang="en-US" sz="2000" b="1" dirty="0">
                  <a:solidFill>
                    <a:srgbClr val="000000"/>
                  </a:solidFill>
                  <a:latin typeface="楷体_GB2312" pitchFamily="49" charset="-122"/>
                  <a:ea typeface="楷体_GB2312" pitchFamily="49" charset="-122"/>
                </a:rPr>
                <a:t>图</a:t>
              </a:r>
              <a:r>
                <a:rPr lang="en-US" altLang="zh-CN" sz="2000" b="1" dirty="0">
                  <a:solidFill>
                    <a:srgbClr val="000000"/>
                  </a:solidFill>
                  <a:latin typeface="楷体_GB2312" pitchFamily="49" charset="-122"/>
                  <a:ea typeface="楷体_GB2312" pitchFamily="49" charset="-122"/>
                </a:rPr>
                <a:t>4-16 </a:t>
              </a:r>
              <a:r>
                <a:rPr lang="zh-CN" altLang="en-US" sz="2000" b="1" dirty="0">
                  <a:solidFill>
                    <a:srgbClr val="000000"/>
                  </a:solidFill>
                  <a:latin typeface="楷体_GB2312" pitchFamily="49" charset="-122"/>
                  <a:ea typeface="楷体_GB2312" pitchFamily="49" charset="-122"/>
                </a:rPr>
                <a:t>埋弧焊的引弧板与引出板</a:t>
              </a:r>
              <a:endParaRPr lang="zh-CN" altLang="en-US" sz="2000" b="1" dirty="0">
                <a:solidFill>
                  <a:srgbClr val="000000"/>
                </a:solidFill>
                <a:latin typeface="楷体_GB2312" pitchFamily="49" charset="-122"/>
                <a:ea typeface="楷体_GB2312" pitchFamily="49" charset="-122"/>
              </a:endParaRPr>
            </a:p>
          </p:txBody>
        </p:sp>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Rectangle 2"/>
          <p:cNvSpPr>
            <a:spLocks noGrp="1"/>
          </p:cNvSpPr>
          <p:nvPr>
            <p:ph type="title"/>
          </p:nvPr>
        </p:nvSpPr>
        <p:spPr/>
        <p:txBody>
          <a:bodyPr vert="horz" wrap="square" lIns="91440" tIns="45720" rIns="91440" bIns="45720" anchor="ctr" anchorCtr="0"/>
          <a:p>
            <a:pPr algn="ctr" eaLnBrk="1" hangingPunct="1"/>
            <a:r>
              <a:rPr lang="zh-CN" altLang="en-US" sz="4400" dirty="0">
                <a:ea typeface="楷体_GB2312" pitchFamily="49" charset="-122"/>
              </a:rPr>
              <a:t>埋弧焊工艺</a:t>
            </a:r>
            <a:endParaRPr lang="zh-CN" altLang="en-US" sz="4400" dirty="0">
              <a:ea typeface="楷体_GB2312" pitchFamily="49" charset="-122"/>
            </a:endParaRPr>
          </a:p>
        </p:txBody>
      </p:sp>
      <p:sp>
        <p:nvSpPr>
          <p:cNvPr id="51203" name="Rectangle 3"/>
          <p:cNvSpPr>
            <a:spLocks noGrp="1"/>
          </p:cNvSpPr>
          <p:nvPr>
            <p:ph type="body" sz="half" idx="1"/>
          </p:nvPr>
        </p:nvSpPr>
        <p:spPr>
          <a:xfrm>
            <a:off x="250825" y="1303338"/>
            <a:ext cx="8281988" cy="5365750"/>
          </a:xfrm>
        </p:spPr>
        <p:txBody>
          <a:bodyPr vert="horz" wrap="square" lIns="91440" tIns="45720" rIns="91440" bIns="45720" anchor="t" anchorCtr="0"/>
          <a:p>
            <a:pPr eaLnBrk="1" hangingPunct="1">
              <a:lnSpc>
                <a:spcPct val="90000"/>
              </a:lnSpc>
              <a:buClrTx/>
              <a:buSzTx/>
              <a:buFontTx/>
            </a:pPr>
            <a:r>
              <a:rPr lang="zh-CN" altLang="en-US" sz="2800" b="1" dirty="0">
                <a:solidFill>
                  <a:srgbClr val="CC0066"/>
                </a:solidFill>
                <a:latin typeface="楷体_GB2312" pitchFamily="49" charset="-122"/>
                <a:ea typeface="楷体_GB2312" pitchFamily="49" charset="-122"/>
              </a:rPr>
              <a:t>焊接前</a:t>
            </a:r>
            <a:r>
              <a:rPr lang="zh-CN" altLang="en-US" sz="2800" b="1" dirty="0">
                <a:latin typeface="楷体_GB2312" pitchFamily="49" charset="-122"/>
                <a:ea typeface="楷体_GB2312" pitchFamily="49" charset="-122"/>
              </a:rPr>
              <a:t>：</a:t>
            </a:r>
            <a:endParaRPr lang="zh-CN" altLang="en-US" sz="2800" b="1" dirty="0">
              <a:latin typeface="楷体_GB2312" pitchFamily="49" charset="-122"/>
              <a:ea typeface="楷体_GB2312" pitchFamily="49" charset="-122"/>
            </a:endParaRPr>
          </a:p>
          <a:p>
            <a:pPr lvl="1" eaLnBrk="1" hangingPunct="1">
              <a:lnSpc>
                <a:spcPct val="90000"/>
              </a:lnSpc>
            </a:pPr>
            <a:r>
              <a:rPr lang="zh-CN" altLang="en-US" sz="2400" b="1" dirty="0">
                <a:latin typeface="楷体_GB2312" pitchFamily="49" charset="-122"/>
                <a:ea typeface="楷体_GB2312" pitchFamily="49" charset="-122"/>
              </a:rPr>
              <a:t>在平焊位置焊接，常用对接、</a:t>
            </a:r>
            <a:r>
              <a:rPr lang="en-US" altLang="zh-CN" sz="2400" b="1" dirty="0">
                <a:latin typeface="楷体_GB2312" pitchFamily="49" charset="-122"/>
                <a:ea typeface="楷体_GB2312" pitchFamily="49" charset="-122"/>
              </a:rPr>
              <a:t>T</a:t>
            </a:r>
            <a:r>
              <a:rPr lang="zh-CN" altLang="en-US" sz="2400" b="1" dirty="0">
                <a:latin typeface="楷体_GB2312" pitchFamily="49" charset="-122"/>
                <a:ea typeface="楷体_GB2312" pitchFamily="49" charset="-122"/>
              </a:rPr>
              <a:t>字接与搭接接头；</a:t>
            </a:r>
            <a:endParaRPr lang="zh-CN" altLang="en-US" sz="2400" b="1" dirty="0">
              <a:latin typeface="楷体_GB2312" pitchFamily="49" charset="-122"/>
              <a:ea typeface="楷体_GB2312" pitchFamily="49" charset="-122"/>
            </a:endParaRPr>
          </a:p>
          <a:p>
            <a:pPr lvl="1" eaLnBrk="1" hangingPunct="1">
              <a:lnSpc>
                <a:spcPct val="90000"/>
              </a:lnSpc>
            </a:pPr>
            <a:r>
              <a:rPr lang="zh-CN" altLang="en-US" sz="2400" b="1" dirty="0">
                <a:latin typeface="楷体_GB2312" pitchFamily="49" charset="-122"/>
                <a:ea typeface="楷体_GB2312" pitchFamily="49" charset="-122"/>
              </a:rPr>
              <a:t>用焊剂垫和垫板，保持焊剂保证焊缝成形和防止烧穿。</a:t>
            </a:r>
            <a:endParaRPr lang="zh-CN" altLang="en-US" sz="2400" b="1" dirty="0">
              <a:latin typeface="楷体_GB2312" pitchFamily="49" charset="-122"/>
              <a:ea typeface="楷体_GB2312" pitchFamily="49" charset="-122"/>
            </a:endParaRPr>
          </a:p>
          <a:p>
            <a:pPr lvl="1" eaLnBrk="1" hangingPunct="1">
              <a:lnSpc>
                <a:spcPct val="90000"/>
              </a:lnSpc>
            </a:pPr>
            <a:r>
              <a:rPr lang="zh-CN" altLang="en-US" sz="2400" b="1" dirty="0">
                <a:latin typeface="楷体_GB2312" pitchFamily="49" charset="-122"/>
                <a:ea typeface="楷体_GB2312" pitchFamily="49" charset="-122"/>
              </a:rPr>
              <a:t>大直径（＞</a:t>
            </a:r>
            <a:r>
              <a:rPr lang="en-US" altLang="zh-CN" sz="2400" b="1" dirty="0">
                <a:latin typeface="楷体_GB2312" pitchFamily="49" charset="-122"/>
                <a:ea typeface="楷体_GB2312" pitchFamily="49" charset="-122"/>
              </a:rPr>
              <a:t>250mm</a:t>
            </a:r>
            <a:r>
              <a:rPr lang="zh-CN" altLang="en-US" sz="2400" b="1" dirty="0">
                <a:latin typeface="楷体_GB2312" pitchFamily="49" charset="-122"/>
                <a:ea typeface="楷体_GB2312" pitchFamily="49" charset="-122"/>
              </a:rPr>
              <a:t>）筒体环焊缝时，防止熔池金属流失，焊丝位置应逆旋转方向偏离焊件中心线一定距离</a:t>
            </a:r>
            <a:r>
              <a:rPr lang="en-US" altLang="zh-CN" sz="2400" b="1" dirty="0">
                <a:latin typeface="楷体_GB2312" pitchFamily="49" charset="-122"/>
                <a:ea typeface="楷体_GB2312" pitchFamily="49" charset="-122"/>
              </a:rPr>
              <a:t>a</a:t>
            </a:r>
            <a:r>
              <a:rPr lang="zh-CN" altLang="en-US" sz="2400" b="1" dirty="0">
                <a:latin typeface="楷体_GB2312" pitchFamily="49" charset="-122"/>
                <a:ea typeface="楷体_GB2312" pitchFamily="49" charset="-122"/>
              </a:rPr>
              <a:t>，（图</a:t>
            </a:r>
            <a:r>
              <a:rPr lang="en-US" altLang="zh-CN" sz="2400" b="1" dirty="0">
                <a:latin typeface="楷体_GB2312" pitchFamily="49" charset="-122"/>
                <a:ea typeface="楷体_GB2312" pitchFamily="49" charset="-122"/>
              </a:rPr>
              <a:t>18</a:t>
            </a:r>
            <a:r>
              <a:rPr lang="zh-CN" altLang="en-US" sz="2400" b="1" dirty="0">
                <a:latin typeface="楷体_GB2312" pitchFamily="49" charset="-122"/>
                <a:ea typeface="楷体_GB2312" pitchFamily="49" charset="-122"/>
              </a:rPr>
              <a:t>）。其大小视筒体直径与焊接速度等而定。</a:t>
            </a:r>
            <a:endParaRPr lang="zh-CN" altLang="en-US" sz="2400" b="1" dirty="0">
              <a:latin typeface="楷体_GB2312" pitchFamily="49" charset="-122"/>
              <a:ea typeface="楷体_GB2312" pitchFamily="49" charset="-122"/>
            </a:endParaRPr>
          </a:p>
        </p:txBody>
      </p:sp>
      <p:pic>
        <p:nvPicPr>
          <p:cNvPr id="51204" name="Picture 7" descr="417"/>
          <p:cNvPicPr>
            <a:picLocks noChangeAspect="1"/>
          </p:cNvPicPr>
          <p:nvPr/>
        </p:nvPicPr>
        <p:blipFill>
          <a:blip r:embed="rId1"/>
          <a:srcRect l="7254" t="3050"/>
          <a:stretch>
            <a:fillRect/>
          </a:stretch>
        </p:blipFill>
        <p:spPr>
          <a:xfrm>
            <a:off x="3044825" y="3678238"/>
            <a:ext cx="5111750" cy="3194050"/>
          </a:xfrm>
          <a:prstGeom prst="rect">
            <a:avLst/>
          </a:prstGeom>
          <a:noFill/>
          <a:ln w="9525">
            <a:noFill/>
          </a:ln>
        </p:spPr>
      </p:pic>
      <p:sp>
        <p:nvSpPr>
          <p:cNvPr id="2" name="矩形标注 1"/>
          <p:cNvSpPr/>
          <p:nvPr/>
        </p:nvSpPr>
        <p:spPr>
          <a:xfrm>
            <a:off x="688975" y="3933825"/>
            <a:ext cx="2082800" cy="2836863"/>
          </a:xfrm>
          <a:prstGeom prst="wedgeRectCallout">
            <a:avLst>
              <a:gd name="adj1" fmla="val 2592"/>
              <a:gd name="adj2" fmla="val -59877"/>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chemeClr val="bg1"/>
                </a:solidFill>
                <a:effectLst/>
                <a:uLnTx/>
                <a:uFillTx/>
                <a:latin typeface="+mn-lt"/>
                <a:ea typeface="+mn-ea"/>
                <a:cs typeface="+mn-cs"/>
              </a:rPr>
              <a:t> 烧穿</a:t>
            </a:r>
            <a:r>
              <a:rPr kumimoji="0" lang="en-US" altLang="zh-CN" sz="1800" b="1" i="0" u="none" strike="noStrike" kern="1200" cap="none" spc="0" normalizeH="0" baseline="0" noProof="0" dirty="0">
                <a:ln>
                  <a:noFill/>
                </a:ln>
                <a:solidFill>
                  <a:schemeClr val="bg1"/>
                </a:solidFill>
                <a:effectLst/>
                <a:uLnTx/>
                <a:uFillTx/>
                <a:latin typeface="+mn-lt"/>
                <a:ea typeface="+mn-ea"/>
                <a:cs typeface="+mn-cs"/>
              </a:rPr>
              <a:t>,</a:t>
            </a:r>
            <a:r>
              <a:rPr kumimoji="0" lang="zh-CN" altLang="en-US" sz="1800" b="1" i="0" u="none" strike="noStrike" kern="1200" cap="none" spc="0" normalizeH="0" baseline="0" noProof="0" dirty="0">
                <a:ln>
                  <a:noFill/>
                </a:ln>
                <a:solidFill>
                  <a:schemeClr val="bg1"/>
                </a:solidFill>
                <a:effectLst/>
                <a:uLnTx/>
                <a:uFillTx/>
                <a:latin typeface="+mn-lt"/>
                <a:ea typeface="+mn-ea"/>
                <a:cs typeface="+mn-cs"/>
              </a:rPr>
              <a:t>也叫焊穿</a:t>
            </a:r>
            <a:r>
              <a:rPr kumimoji="0" lang="en-US" altLang="zh-CN" sz="1800" b="1" i="0" u="none" strike="noStrike" kern="1200" cap="none" spc="0" normalizeH="0" baseline="0" noProof="0" dirty="0">
                <a:ln>
                  <a:noFill/>
                </a:ln>
                <a:solidFill>
                  <a:schemeClr val="bg1"/>
                </a:solidFill>
                <a:effectLst/>
                <a:uLnTx/>
                <a:uFillTx/>
                <a:latin typeface="+mn-lt"/>
                <a:ea typeface="+mn-ea"/>
                <a:cs typeface="+mn-cs"/>
              </a:rPr>
              <a:t>,</a:t>
            </a:r>
            <a:r>
              <a:rPr kumimoji="0" lang="zh-CN" altLang="en-US" sz="1800" b="1" i="0" u="none" strike="noStrike" kern="1200" cap="none" spc="0" normalizeH="0" baseline="0" noProof="0" dirty="0">
                <a:ln>
                  <a:noFill/>
                </a:ln>
                <a:solidFill>
                  <a:schemeClr val="bg1"/>
                </a:solidFill>
                <a:effectLst/>
                <a:uLnTx/>
                <a:uFillTx/>
                <a:latin typeface="+mn-lt"/>
                <a:ea typeface="+mn-ea"/>
                <a:cs typeface="+mn-cs"/>
              </a:rPr>
              <a:t>即电焊条在焊接时由于焊接电流过大</a:t>
            </a:r>
            <a:r>
              <a:rPr kumimoji="0" lang="en-US" altLang="zh-CN" sz="1800" b="1" i="0" u="none" strike="noStrike" kern="1200" cap="none" spc="0" normalizeH="0" baseline="0" noProof="0" dirty="0">
                <a:ln>
                  <a:noFill/>
                </a:ln>
                <a:solidFill>
                  <a:schemeClr val="bg1"/>
                </a:solidFill>
                <a:effectLst/>
                <a:uLnTx/>
                <a:uFillTx/>
                <a:latin typeface="+mn-lt"/>
                <a:ea typeface="+mn-ea"/>
                <a:cs typeface="+mn-cs"/>
              </a:rPr>
              <a:t>,</a:t>
            </a:r>
            <a:r>
              <a:rPr kumimoji="0" lang="zh-CN" altLang="en-US" sz="1800" b="1" i="0" u="none" strike="noStrike" kern="1200" cap="none" spc="0" normalizeH="0" baseline="0" noProof="0" dirty="0">
                <a:ln>
                  <a:noFill/>
                </a:ln>
                <a:solidFill>
                  <a:schemeClr val="bg1"/>
                </a:solidFill>
                <a:effectLst/>
                <a:uLnTx/>
                <a:uFillTx/>
                <a:latin typeface="+mn-lt"/>
                <a:ea typeface="+mn-ea"/>
                <a:cs typeface="+mn-cs"/>
              </a:rPr>
              <a:t>或熔池高温停留时间过长</a:t>
            </a:r>
            <a:r>
              <a:rPr kumimoji="0" lang="en-US" altLang="zh-CN" sz="1800" b="1" i="0" u="none" strike="noStrike" kern="1200" cap="none" spc="0" normalizeH="0" baseline="0" noProof="0" dirty="0">
                <a:ln>
                  <a:noFill/>
                </a:ln>
                <a:solidFill>
                  <a:schemeClr val="bg1"/>
                </a:solidFill>
                <a:effectLst/>
                <a:uLnTx/>
                <a:uFillTx/>
                <a:latin typeface="+mn-lt"/>
                <a:ea typeface="+mn-ea"/>
                <a:cs typeface="+mn-cs"/>
              </a:rPr>
              <a:t>,</a:t>
            </a:r>
            <a:r>
              <a:rPr kumimoji="0" lang="zh-CN" altLang="en-US" sz="1800" b="1" i="0" u="none" strike="noStrike" kern="1200" cap="none" spc="0" normalizeH="0" baseline="0" noProof="0" dirty="0">
                <a:ln>
                  <a:noFill/>
                </a:ln>
                <a:solidFill>
                  <a:schemeClr val="bg1"/>
                </a:solidFill>
                <a:effectLst/>
                <a:uLnTx/>
                <a:uFillTx/>
                <a:latin typeface="+mn-lt"/>
                <a:ea typeface="+mn-ea"/>
                <a:cs typeface="+mn-cs"/>
              </a:rPr>
              <a:t>而引起焊点的液体金属流失到焊件反面，并形成孔洞的现象</a:t>
            </a:r>
            <a:r>
              <a:rPr kumimoji="0" lang="en-US" altLang="zh-CN" sz="1800" b="1" i="0" u="none" strike="noStrike" kern="1200" cap="none" spc="0" normalizeH="0" baseline="0" noProof="0" dirty="0">
                <a:ln>
                  <a:noFill/>
                </a:ln>
                <a:solidFill>
                  <a:schemeClr val="bg1"/>
                </a:solidFill>
                <a:effectLst/>
                <a:uLnTx/>
                <a:uFillTx/>
                <a:latin typeface="+mn-lt"/>
                <a:ea typeface="+mn-ea"/>
                <a:cs typeface="+mn-cs"/>
              </a:rPr>
              <a:t>,</a:t>
            </a:r>
            <a:r>
              <a:rPr kumimoji="0" lang="zh-CN" altLang="en-US" sz="1800" b="1" i="0" u="none" strike="noStrike" kern="1200" cap="none" spc="0" normalizeH="0" baseline="0" noProof="0" dirty="0">
                <a:ln>
                  <a:noFill/>
                </a:ln>
                <a:solidFill>
                  <a:schemeClr val="bg1"/>
                </a:solidFill>
                <a:effectLst/>
                <a:uLnTx/>
                <a:uFillTx/>
                <a:latin typeface="+mn-lt"/>
                <a:ea typeface="+mn-ea"/>
                <a:cs typeface="+mn-cs"/>
              </a:rPr>
              <a:t>叫做烧穿。</a:t>
            </a:r>
            <a:endParaRPr kumimoji="0" lang="zh-CN" altLang="en-US" sz="1800" b="1" i="0" u="none" strike="noStrike" kern="1200" cap="none" spc="0" normalizeH="0" baseline="0" noProof="0" dirty="0">
              <a:ln>
                <a:noFill/>
              </a:ln>
              <a:solidFill>
                <a:schemeClr val="bg1"/>
              </a:solidFill>
              <a:effectLst/>
              <a:uLnTx/>
              <a:uFillTx/>
              <a:latin typeface="+mn-lt"/>
              <a:ea typeface="+mn-ea"/>
              <a:cs typeface="+mn-cs"/>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Rectangle 3"/>
          <p:cNvSpPr>
            <a:spLocks noGrp="1"/>
          </p:cNvSpPr>
          <p:nvPr>
            <p:ph type="body" sz="half" idx="1"/>
          </p:nvPr>
        </p:nvSpPr>
        <p:spPr>
          <a:xfrm>
            <a:off x="250825" y="1371600"/>
            <a:ext cx="4535488" cy="5081588"/>
          </a:xfrm>
        </p:spPr>
        <p:txBody>
          <a:bodyPr vert="horz" wrap="square" lIns="91440" tIns="45720" rIns="91440" bIns="45720" anchor="t" anchorCtr="0"/>
          <a:p>
            <a:pPr eaLnBrk="1" hangingPunct="1">
              <a:lnSpc>
                <a:spcPct val="80000"/>
              </a:lnSpc>
              <a:buClrTx/>
              <a:buSzTx/>
              <a:buFontTx/>
            </a:pPr>
            <a:r>
              <a:rPr lang="zh-CN" altLang="en-US" sz="2700" b="1" dirty="0">
                <a:solidFill>
                  <a:srgbClr val="CC0066"/>
                </a:solidFill>
                <a:latin typeface="楷体_GB2312" pitchFamily="49" charset="-122"/>
                <a:ea typeface="楷体_GB2312" pitchFamily="49" charset="-122"/>
              </a:rPr>
              <a:t>气体保护焊</a:t>
            </a:r>
            <a:r>
              <a:rPr lang="zh-CN" altLang="en-US" sz="2700" b="1" dirty="0">
                <a:latin typeface="楷体_GB2312" pitchFamily="49" charset="-122"/>
                <a:ea typeface="楷体_GB2312" pitchFamily="49" charset="-122"/>
              </a:rPr>
              <a:t>：利用气体作为保护介质的熔化焊方法。</a:t>
            </a:r>
            <a:r>
              <a:rPr lang="zh-CN" altLang="en-US" sz="2400" b="1" dirty="0">
                <a:solidFill>
                  <a:srgbClr val="CC0066"/>
                </a:solidFill>
                <a:latin typeface="楷体_GB2312" pitchFamily="49" charset="-122"/>
                <a:ea typeface="楷体_GB2312" pitchFamily="49" charset="-122"/>
              </a:rPr>
              <a:t>特点</a:t>
            </a:r>
            <a:r>
              <a:rPr lang="zh-CN" altLang="en-US" sz="2400" b="1" dirty="0">
                <a:latin typeface="楷体_GB2312" pitchFamily="49" charset="-122"/>
                <a:ea typeface="楷体_GB2312" pitchFamily="49" charset="-122"/>
              </a:rPr>
              <a:t>：</a:t>
            </a:r>
            <a:endParaRPr lang="zh-CN" altLang="en-US" sz="2400" b="1" dirty="0">
              <a:latin typeface="楷体_GB2312" pitchFamily="49" charset="-122"/>
              <a:ea typeface="楷体_GB2312" pitchFamily="49" charset="-122"/>
            </a:endParaRPr>
          </a:p>
          <a:p>
            <a:pPr lvl="1" eaLnBrk="1" hangingPunct="1">
              <a:lnSpc>
                <a:spcPct val="80000"/>
              </a:lnSpc>
            </a:pPr>
            <a:r>
              <a:rPr lang="zh-CN" altLang="en-US" sz="2200" b="1" dirty="0">
                <a:latin typeface="楷体_GB2312" pitchFamily="49" charset="-122"/>
                <a:ea typeface="楷体_GB2312" pitchFamily="49" charset="-122"/>
              </a:rPr>
              <a:t>直接依靠氢、氮、氩或二氧化碳等气体，把电弧和熔池与空气隔开，杜绝空气的有害作用，获得高质量焊缝。</a:t>
            </a:r>
            <a:endParaRPr lang="zh-CN" altLang="en-US" sz="2200" b="1" dirty="0">
              <a:latin typeface="楷体_GB2312" pitchFamily="49" charset="-122"/>
              <a:ea typeface="楷体_GB2312" pitchFamily="49" charset="-122"/>
            </a:endParaRPr>
          </a:p>
          <a:p>
            <a:pPr lvl="1" eaLnBrk="1" hangingPunct="1">
              <a:lnSpc>
                <a:spcPct val="80000"/>
              </a:lnSpc>
            </a:pPr>
            <a:r>
              <a:rPr lang="zh-CN" altLang="en-US" sz="2200" b="1" dirty="0">
                <a:latin typeface="楷体_GB2312" pitchFamily="49" charset="-122"/>
                <a:ea typeface="楷体_GB2312" pitchFamily="49" charset="-122"/>
              </a:rPr>
              <a:t>采用明弧便于操作，适合全位置焊接，易于实现自动化和半自动化；</a:t>
            </a:r>
            <a:endParaRPr lang="zh-CN" altLang="en-US" sz="2200" b="1" dirty="0">
              <a:latin typeface="楷体_GB2312" pitchFamily="49" charset="-122"/>
              <a:ea typeface="楷体_GB2312" pitchFamily="49" charset="-122"/>
            </a:endParaRPr>
          </a:p>
          <a:p>
            <a:pPr lvl="1" eaLnBrk="1" hangingPunct="1">
              <a:lnSpc>
                <a:spcPct val="80000"/>
              </a:lnSpc>
            </a:pPr>
            <a:r>
              <a:rPr lang="zh-CN" altLang="en-US" sz="2200" b="1" dirty="0">
                <a:latin typeface="楷体_GB2312" pitchFamily="49" charset="-122"/>
                <a:ea typeface="楷体_GB2312" pitchFamily="49" charset="-122"/>
              </a:rPr>
              <a:t>电弧热量集中，焊速较快，熔池小，热影响区较窄，焊件变形较小，特别适合薄板焊接；</a:t>
            </a:r>
            <a:endParaRPr lang="zh-CN" altLang="en-US" sz="2200" b="1" dirty="0">
              <a:latin typeface="楷体_GB2312" pitchFamily="49" charset="-122"/>
              <a:ea typeface="楷体_GB2312" pitchFamily="49" charset="-122"/>
            </a:endParaRPr>
          </a:p>
          <a:p>
            <a:pPr lvl="1" eaLnBrk="1" hangingPunct="1">
              <a:lnSpc>
                <a:spcPct val="80000"/>
              </a:lnSpc>
            </a:pPr>
            <a:r>
              <a:rPr lang="zh-CN" altLang="en-US" sz="2200" b="1" dirty="0">
                <a:latin typeface="楷体_GB2312" pitchFamily="49" charset="-122"/>
                <a:ea typeface="楷体_GB2312" pitchFamily="49" charset="-122"/>
              </a:rPr>
              <a:t>采用氩、氦等惰性气体焊接化学性质较活泼的金属和合金时，焊接接头质量高； </a:t>
            </a:r>
            <a:endParaRPr lang="zh-CN" altLang="en-US" sz="2200" b="1" dirty="0">
              <a:latin typeface="楷体_GB2312" pitchFamily="49" charset="-122"/>
              <a:ea typeface="楷体_GB2312" pitchFamily="49" charset="-122"/>
            </a:endParaRPr>
          </a:p>
        </p:txBody>
      </p:sp>
      <p:pic>
        <p:nvPicPr>
          <p:cNvPr id="52227" name="Picture 4" descr="sb0085"/>
          <p:cNvPicPr>
            <a:picLocks noChangeAspect="1"/>
          </p:cNvPicPr>
          <p:nvPr>
            <p:ph sz="half" idx="2"/>
          </p:nvPr>
        </p:nvPicPr>
        <p:blipFill>
          <a:blip r:embed="rId1"/>
          <a:srcRect/>
          <a:stretch>
            <a:fillRect/>
          </a:stretch>
        </p:blipFill>
        <p:spPr>
          <a:xfrm>
            <a:off x="5205413" y="2060575"/>
            <a:ext cx="3440112" cy="3968750"/>
          </a:xfrm>
        </p:spPr>
      </p:pic>
      <p:sp>
        <p:nvSpPr>
          <p:cNvPr id="52228" name="Rectangle 6"/>
          <p:cNvSpPr>
            <a:spLocks noGrp="1"/>
          </p:cNvSpPr>
          <p:nvPr>
            <p:ph type="title"/>
          </p:nvPr>
        </p:nvSpPr>
        <p:spPr/>
        <p:txBody>
          <a:bodyPr vert="horz" wrap="square" lIns="91440" tIns="45720" rIns="91440" bIns="45720" anchor="ctr" anchorCtr="0"/>
          <a:p>
            <a:pPr algn="ctr" eaLnBrk="1" hangingPunct="1"/>
            <a:r>
              <a:rPr lang="zh-CN" altLang="en-US" sz="4400" dirty="0">
                <a:ea typeface="楷体_GB2312" pitchFamily="49" charset="-122"/>
              </a:rPr>
              <a:t>气体保护焊</a:t>
            </a:r>
            <a:endParaRPr lang="zh-CN" altLang="en-US" sz="4400" dirty="0">
              <a:ea typeface="楷体_GB2312" pitchFamily="49"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Rectangle 2"/>
          <p:cNvSpPr>
            <a:spLocks noGrp="1" noChangeArrowheads="1"/>
          </p:cNvSpPr>
          <p:nvPr>
            <p:ph type="body" sz="half" idx="1"/>
          </p:nvPr>
        </p:nvSpPr>
        <p:spPr>
          <a:xfrm>
            <a:off x="250825" y="1371600"/>
            <a:ext cx="8359775" cy="5081588"/>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8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埋弧焊</a:t>
            </a:r>
            <a:endParaRPr kumimoji="0" lang="en-US" altLang="zh-CN" sz="28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en-US" altLang="zh-CN" sz="2800" b="0" i="0" u="none" strike="noStrike" kern="1200" cap="none" spc="0" normalizeH="0" baseline="0" noProof="0" dirty="0" smtClean="0">
                <a:ln>
                  <a:noFill/>
                </a:ln>
                <a:solidFill>
                  <a:schemeClr val="tx1"/>
                </a:solidFill>
                <a:effectLst/>
                <a:uLnTx/>
                <a:uFillTx/>
                <a:latin typeface="+mn-lt"/>
                <a:ea typeface="+mn-ea"/>
                <a:cs typeface="+mn-cs"/>
                <a:hlinkClick r:id="rId1"/>
              </a:rPr>
              <a:t>     https://v.qq.com/x/page/b0551qvjipq.html</a:t>
            </a:r>
            <a:endParaRPr kumimoji="0" lang="en-US" altLang="zh-CN" sz="28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8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氩弧焊视频</a:t>
            </a:r>
            <a:r>
              <a:rPr kumimoji="0" lang="en-US" altLang="zh-CN" sz="2800" b="0" i="0" u="none" strike="noStrike" kern="1200" cap="none" spc="0" normalizeH="0" baseline="0" noProof="0" dirty="0" smtClean="0">
                <a:ln>
                  <a:noFill/>
                </a:ln>
                <a:solidFill>
                  <a:schemeClr val="tx1"/>
                </a:solidFill>
                <a:effectLst/>
                <a:uLnTx/>
                <a:uFillTx/>
                <a:latin typeface="+mn-lt"/>
                <a:ea typeface="+mn-ea"/>
                <a:cs typeface="+mn-cs"/>
                <a:hlinkClick r:id="rId2"/>
              </a:rPr>
              <a:t>https://haokan.baidu.com/v?vid=4472104022889140456&amp;pd=bjh&amp;fr=bjhauthor&amp;type=video</a:t>
            </a:r>
            <a:r>
              <a:rPr kumimoji="0" lang="en-US" altLang="zh-CN" sz="2800" b="0" i="0" u="none" strike="noStrike" kern="1200" cap="none" spc="0" normalizeH="0" baseline="0" noProof="0" dirty="0" smtClean="0">
                <a:ln>
                  <a:noFill/>
                </a:ln>
                <a:solidFill>
                  <a:schemeClr val="tx1"/>
                </a:solidFill>
                <a:effectLst/>
                <a:uLnTx/>
                <a:uFillTx/>
                <a:latin typeface="+mn-lt"/>
                <a:ea typeface="+mn-ea"/>
                <a:cs typeface="+mn-cs"/>
              </a:rPr>
              <a:t> </a:t>
            </a:r>
            <a:endParaRPr kumimoji="0" lang="zh-CN" altLang="en-US" sz="28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endParaRPr>
          </a:p>
        </p:txBody>
      </p:sp>
      <p:sp>
        <p:nvSpPr>
          <p:cNvPr id="53251" name="Rectangle 4"/>
          <p:cNvSpPr>
            <a:spLocks noGrp="1"/>
          </p:cNvSpPr>
          <p:nvPr>
            <p:ph type="title"/>
          </p:nvPr>
        </p:nvSpPr>
        <p:spPr/>
        <p:txBody>
          <a:bodyPr vert="horz" wrap="square" lIns="91440" tIns="45720" rIns="91440" bIns="45720" anchor="ctr" anchorCtr="0"/>
          <a:p>
            <a:pPr algn="ctr" eaLnBrk="1" hangingPunct="1"/>
            <a:r>
              <a:rPr lang="zh-CN" altLang="en-US" sz="4400" dirty="0">
                <a:ea typeface="楷体_GB2312" pitchFamily="49" charset="-122"/>
              </a:rPr>
              <a:t>气体保护焊</a:t>
            </a:r>
            <a:endParaRPr lang="zh-CN" altLang="en-US" sz="4400" dirty="0">
              <a:ea typeface="楷体_GB2312" pitchFamily="49" charset="-122"/>
            </a:endParaRPr>
          </a:p>
        </p:txBody>
      </p:sp>
      <p:sp>
        <p:nvSpPr>
          <p:cNvPr id="53252" name="矩形 1"/>
          <p:cNvSpPr/>
          <p:nvPr/>
        </p:nvSpPr>
        <p:spPr>
          <a:xfrm>
            <a:off x="611188" y="4005263"/>
            <a:ext cx="6915150" cy="522287"/>
          </a:xfrm>
          <a:prstGeom prst="rect">
            <a:avLst/>
          </a:prstGeom>
          <a:noFill/>
          <a:ln w="9525">
            <a:noFill/>
          </a:ln>
        </p:spPr>
        <p:txBody>
          <a:bodyPr wrap="none">
            <a:spAutoFit/>
          </a:bodyPr>
          <a:p>
            <a:r>
              <a:rPr lang="en-US" altLang="zh-CN" sz="2800" dirty="0">
                <a:latin typeface="Arial" panose="020B0604020202020204" pitchFamily="34" charset="0"/>
                <a:hlinkClick r:id="rId3"/>
              </a:rPr>
              <a:t>https://v.qq.com/x/page/v0504pcanqu.html</a:t>
            </a:r>
            <a:endParaRPr lang="zh-CN" altLang="en-US" sz="2800" dirty="0">
              <a:latin typeface="Arial" panose="020B0604020202020204" pitchFamily="34"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Rectangle 2"/>
          <p:cNvSpPr>
            <a:spLocks noGrp="1"/>
          </p:cNvSpPr>
          <p:nvPr>
            <p:ph type="title"/>
          </p:nvPr>
        </p:nvSpPr>
        <p:spPr/>
        <p:txBody>
          <a:bodyPr vert="horz" wrap="square" lIns="91440" tIns="45720" rIns="91440" bIns="45720" anchor="ctr" anchorCtr="0"/>
          <a:p>
            <a:pPr algn="ctr" eaLnBrk="1" hangingPunct="1"/>
            <a:r>
              <a:rPr lang="zh-CN" altLang="en-US" sz="4000" dirty="0">
                <a:ea typeface="楷体_GB2312" pitchFamily="49" charset="-122"/>
              </a:rPr>
              <a:t>气体保护焊</a:t>
            </a:r>
            <a:endParaRPr lang="zh-CN" altLang="en-US" sz="4000" dirty="0">
              <a:ea typeface="楷体_GB2312" pitchFamily="49" charset="-122"/>
            </a:endParaRPr>
          </a:p>
        </p:txBody>
      </p:sp>
      <p:sp>
        <p:nvSpPr>
          <p:cNvPr id="54275" name="Rectangle 3"/>
          <p:cNvSpPr>
            <a:spLocks noGrp="1"/>
          </p:cNvSpPr>
          <p:nvPr>
            <p:ph idx="1"/>
          </p:nvPr>
        </p:nvSpPr>
        <p:spPr>
          <a:xfrm>
            <a:off x="179388" y="1628775"/>
            <a:ext cx="8497887" cy="5256213"/>
          </a:xfrm>
        </p:spPr>
        <p:txBody>
          <a:bodyPr vert="horz" wrap="square" lIns="91440" tIns="45720" rIns="91440" bIns="45720" anchor="t" anchorCtr="0"/>
          <a:p>
            <a:pPr eaLnBrk="1" hangingPunct="1">
              <a:lnSpc>
                <a:spcPct val="80000"/>
              </a:lnSpc>
            </a:pPr>
            <a:r>
              <a:rPr lang="zh-CN" altLang="en-US" sz="2400" b="1" dirty="0">
                <a:solidFill>
                  <a:srgbClr val="CC3300"/>
                </a:solidFill>
                <a:latin typeface="楷体_GB2312" pitchFamily="49" charset="-122"/>
                <a:ea typeface="楷体_GB2312" pitchFamily="49" charset="-122"/>
              </a:rPr>
              <a:t>氩弧焊</a:t>
            </a:r>
            <a:r>
              <a:rPr lang="zh-CN" altLang="en-US" sz="2400" b="1" dirty="0">
                <a:latin typeface="楷体_GB2312" pitchFamily="49" charset="-122"/>
                <a:ea typeface="楷体_GB2312" pitchFamily="49" charset="-122"/>
              </a:rPr>
              <a:t> 利用从喷嘴流出的氩气，在喷嘴和焊接熔池的周围形成连续封闭的气罩，将钨极（或焊丝）和焊接熔池与空气隔开，杜绝其有害作用 。</a:t>
            </a:r>
            <a:endParaRPr lang="zh-CN" altLang="en-US" sz="2400" b="1" dirty="0">
              <a:latin typeface="楷体_GB2312" pitchFamily="49" charset="-122"/>
              <a:ea typeface="楷体_GB2312" pitchFamily="49" charset="-122"/>
            </a:endParaRPr>
          </a:p>
          <a:p>
            <a:pPr eaLnBrk="1" hangingPunct="1">
              <a:lnSpc>
                <a:spcPct val="80000"/>
              </a:lnSpc>
            </a:pPr>
            <a:r>
              <a:rPr lang="zh-CN" altLang="en-US" sz="2400" b="1" dirty="0">
                <a:solidFill>
                  <a:srgbClr val="CC3300"/>
                </a:solidFill>
                <a:latin typeface="楷体_GB2312" pitchFamily="49" charset="-122"/>
                <a:ea typeface="楷体_GB2312" pitchFamily="49" charset="-122"/>
              </a:rPr>
              <a:t>分类：</a:t>
            </a:r>
            <a:endParaRPr lang="zh-CN" altLang="en-US" sz="2400" b="1" dirty="0">
              <a:solidFill>
                <a:srgbClr val="CC3300"/>
              </a:solidFill>
              <a:latin typeface="楷体_GB2312" pitchFamily="49" charset="-122"/>
              <a:ea typeface="楷体_GB2312" pitchFamily="49" charset="-122"/>
            </a:endParaRPr>
          </a:p>
          <a:p>
            <a:pPr eaLnBrk="1" hangingPunct="1">
              <a:lnSpc>
                <a:spcPct val="80000"/>
              </a:lnSpc>
              <a:buNone/>
            </a:pPr>
            <a:r>
              <a:rPr lang="zh-CN" altLang="en-US" sz="2400" b="1" dirty="0">
                <a:latin typeface="楷体_GB2312" pitchFamily="49" charset="-122"/>
                <a:ea typeface="楷体_GB2312" pitchFamily="49" charset="-122"/>
              </a:rPr>
              <a:t> （</a:t>
            </a:r>
            <a:r>
              <a:rPr lang="en-US" altLang="zh-CN" sz="2400" b="1" dirty="0">
                <a:latin typeface="楷体_GB2312" pitchFamily="49" charset="-122"/>
                <a:ea typeface="楷体_GB2312" pitchFamily="49" charset="-122"/>
              </a:rPr>
              <a:t>1</a:t>
            </a:r>
            <a:r>
              <a:rPr lang="zh-CN" altLang="en-US" sz="2400" b="1" dirty="0">
                <a:latin typeface="楷体_GB2312" pitchFamily="49" charset="-122"/>
                <a:ea typeface="楷体_GB2312" pitchFamily="49" charset="-122"/>
              </a:rPr>
              <a:t>）</a:t>
            </a:r>
            <a:r>
              <a:rPr lang="zh-CN" altLang="en-US" sz="2400" b="1" dirty="0">
                <a:solidFill>
                  <a:srgbClr val="008000"/>
                </a:solidFill>
                <a:latin typeface="楷体_GB2312" pitchFamily="49" charset="-122"/>
                <a:ea typeface="楷体_GB2312" pitchFamily="49" charset="-122"/>
              </a:rPr>
              <a:t>不熔化极氩弧焊：</a:t>
            </a:r>
            <a:r>
              <a:rPr lang="zh-CN" altLang="en-US" sz="2400" b="1" dirty="0">
                <a:latin typeface="楷体_GB2312" pitchFamily="49" charset="-122"/>
                <a:ea typeface="楷体_GB2312" pitchFamily="49" charset="-122"/>
              </a:rPr>
              <a:t>电极：铈钨棒</a:t>
            </a:r>
            <a:r>
              <a:rPr lang="zh-CN" altLang="en-US" sz="2400" b="1" dirty="0">
                <a:solidFill>
                  <a:srgbClr val="FF0000"/>
                </a:solidFill>
                <a:latin typeface="楷体_GB2312" pitchFamily="49" charset="-122"/>
                <a:ea typeface="楷体_GB2312" pitchFamily="49" charset="-122"/>
              </a:rPr>
              <a:t>不熔化</a:t>
            </a:r>
            <a:r>
              <a:rPr lang="zh-CN" altLang="en-US" sz="2400" b="1" dirty="0">
                <a:latin typeface="楷体_GB2312" pitchFamily="49" charset="-122"/>
                <a:ea typeface="楷体_GB2312" pitchFamily="49" charset="-122"/>
              </a:rPr>
              <a:t>，起导电和产生电弧作用，易于实现自动化。电流有限，焊接厚度</a:t>
            </a:r>
            <a:r>
              <a:rPr lang="en-US" altLang="zh-CN" sz="2400" b="1" dirty="0">
                <a:latin typeface="楷体_GB2312" pitchFamily="49" charset="-122"/>
                <a:ea typeface="楷体_GB2312" pitchFamily="49" charset="-122"/>
              </a:rPr>
              <a:t>6mm</a:t>
            </a:r>
            <a:r>
              <a:rPr lang="zh-CN" altLang="en-US" sz="2400" b="1" dirty="0">
                <a:latin typeface="楷体_GB2312" pitchFamily="49" charset="-122"/>
                <a:ea typeface="楷体_GB2312" pitchFamily="49" charset="-122"/>
              </a:rPr>
              <a:t>以下的工件。</a:t>
            </a:r>
            <a:endParaRPr lang="zh-CN" altLang="en-US" sz="2400" b="1" dirty="0">
              <a:latin typeface="楷体_GB2312" pitchFamily="49" charset="-122"/>
              <a:ea typeface="楷体_GB2312" pitchFamily="49" charset="-122"/>
            </a:endParaRPr>
          </a:p>
          <a:p>
            <a:pPr eaLnBrk="1" hangingPunct="1">
              <a:lnSpc>
                <a:spcPct val="80000"/>
              </a:lnSpc>
              <a:buNone/>
            </a:pPr>
            <a:r>
              <a:rPr lang="zh-CN" altLang="en-US" sz="2400" b="1" dirty="0">
                <a:latin typeface="楷体_GB2312" pitchFamily="49" charset="-122"/>
                <a:ea typeface="楷体_GB2312" pitchFamily="49" charset="-122"/>
              </a:rPr>
              <a:t> （</a:t>
            </a:r>
            <a:r>
              <a:rPr lang="en-US" altLang="zh-CN" sz="2400" b="1" dirty="0">
                <a:latin typeface="楷体_GB2312" pitchFamily="49" charset="-122"/>
                <a:ea typeface="楷体_GB2312" pitchFamily="49" charset="-122"/>
              </a:rPr>
              <a:t>2</a:t>
            </a:r>
            <a:r>
              <a:rPr lang="zh-CN" altLang="en-US" sz="2400" b="1" dirty="0">
                <a:latin typeface="楷体_GB2312" pitchFamily="49" charset="-122"/>
                <a:ea typeface="楷体_GB2312" pitchFamily="49" charset="-122"/>
              </a:rPr>
              <a:t>）</a:t>
            </a:r>
            <a:r>
              <a:rPr lang="zh-CN" altLang="en-US" sz="2400" b="1" dirty="0">
                <a:solidFill>
                  <a:srgbClr val="008000"/>
                </a:solidFill>
                <a:latin typeface="楷体_GB2312" pitchFamily="49" charset="-122"/>
                <a:ea typeface="楷体_GB2312" pitchFamily="49" charset="-122"/>
              </a:rPr>
              <a:t>熔化极氩弧焊：</a:t>
            </a:r>
            <a:endParaRPr lang="zh-CN" altLang="en-US" sz="2400" b="1" dirty="0">
              <a:solidFill>
                <a:srgbClr val="008000"/>
              </a:solidFill>
              <a:latin typeface="楷体_GB2312" pitchFamily="49" charset="-122"/>
              <a:ea typeface="楷体_GB2312" pitchFamily="49" charset="-122"/>
            </a:endParaRPr>
          </a:p>
          <a:p>
            <a:pPr eaLnBrk="1" hangingPunct="1">
              <a:lnSpc>
                <a:spcPct val="80000"/>
              </a:lnSpc>
              <a:buNone/>
            </a:pPr>
            <a:r>
              <a:rPr lang="zh-CN" altLang="en-US" sz="2400" b="1" dirty="0">
                <a:latin typeface="楷体_GB2312" pitchFamily="49" charset="-122"/>
                <a:ea typeface="楷体_GB2312" pitchFamily="49" charset="-122"/>
              </a:rPr>
              <a:t>      连续送进焊丝（电极），</a:t>
            </a:r>
            <a:endParaRPr lang="zh-CN" altLang="en-US" sz="2400" b="1" dirty="0">
              <a:latin typeface="楷体_GB2312" pitchFamily="49" charset="-122"/>
              <a:ea typeface="楷体_GB2312" pitchFamily="49" charset="-122"/>
            </a:endParaRPr>
          </a:p>
          <a:p>
            <a:pPr eaLnBrk="1" hangingPunct="1">
              <a:lnSpc>
                <a:spcPct val="80000"/>
              </a:lnSpc>
              <a:buNone/>
            </a:pPr>
            <a:r>
              <a:rPr lang="zh-CN" altLang="en-US" sz="2400" b="1" dirty="0">
                <a:latin typeface="楷体_GB2312" pitchFamily="49" charset="-122"/>
                <a:ea typeface="楷体_GB2312" pitchFamily="49" charset="-122"/>
              </a:rPr>
              <a:t>   不需填充金属，可用较大</a:t>
            </a:r>
            <a:endParaRPr lang="zh-CN" altLang="en-US" sz="2400" b="1" dirty="0">
              <a:latin typeface="楷体_GB2312" pitchFamily="49" charset="-122"/>
              <a:ea typeface="楷体_GB2312" pitchFamily="49" charset="-122"/>
            </a:endParaRPr>
          </a:p>
          <a:p>
            <a:pPr eaLnBrk="1" hangingPunct="1">
              <a:lnSpc>
                <a:spcPct val="80000"/>
              </a:lnSpc>
              <a:buNone/>
            </a:pPr>
            <a:r>
              <a:rPr lang="zh-CN" altLang="en-US" sz="2400" b="1" dirty="0">
                <a:latin typeface="楷体_GB2312" pitchFamily="49" charset="-122"/>
                <a:ea typeface="楷体_GB2312" pitchFamily="49" charset="-122"/>
              </a:rPr>
              <a:t>   电流，焊接厚度为</a:t>
            </a:r>
            <a:r>
              <a:rPr lang="en-US" altLang="zh-CN" sz="2400" b="1" dirty="0">
                <a:latin typeface="楷体_GB2312" pitchFamily="49" charset="-122"/>
                <a:ea typeface="楷体_GB2312" pitchFamily="49" charset="-122"/>
              </a:rPr>
              <a:t>25mm</a:t>
            </a:r>
            <a:r>
              <a:rPr lang="zh-CN" altLang="en-US" sz="2400" b="1" dirty="0">
                <a:latin typeface="楷体_GB2312" pitchFamily="49" charset="-122"/>
                <a:ea typeface="楷体_GB2312" pitchFamily="49" charset="-122"/>
              </a:rPr>
              <a:t>以</a:t>
            </a:r>
            <a:endParaRPr lang="zh-CN" altLang="en-US" sz="2400" b="1" dirty="0">
              <a:latin typeface="楷体_GB2312" pitchFamily="49" charset="-122"/>
              <a:ea typeface="楷体_GB2312" pitchFamily="49" charset="-122"/>
            </a:endParaRPr>
          </a:p>
          <a:p>
            <a:pPr eaLnBrk="1" hangingPunct="1">
              <a:lnSpc>
                <a:spcPct val="80000"/>
              </a:lnSpc>
              <a:buNone/>
            </a:pPr>
            <a:r>
              <a:rPr lang="zh-CN" altLang="en-US" sz="2400" b="1" dirty="0">
                <a:latin typeface="楷体_GB2312" pitchFamily="49" charset="-122"/>
                <a:ea typeface="楷体_GB2312" pitchFamily="49" charset="-122"/>
              </a:rPr>
              <a:t>   下的工件。</a:t>
            </a:r>
            <a:endParaRPr lang="zh-CN" altLang="en-US" sz="2400" b="1" dirty="0">
              <a:latin typeface="楷体_GB2312" pitchFamily="49" charset="-122"/>
              <a:ea typeface="楷体_GB2312" pitchFamily="49" charset="-122"/>
            </a:endParaRPr>
          </a:p>
        </p:txBody>
      </p:sp>
      <p:pic>
        <p:nvPicPr>
          <p:cNvPr id="54276" name="Picture 9" descr="419"/>
          <p:cNvPicPr>
            <a:picLocks noChangeAspect="1"/>
          </p:cNvPicPr>
          <p:nvPr/>
        </p:nvPicPr>
        <p:blipFill>
          <a:blip r:embed="rId1"/>
          <a:srcRect l="18663" t="8751"/>
          <a:stretch>
            <a:fillRect/>
          </a:stretch>
        </p:blipFill>
        <p:spPr>
          <a:xfrm>
            <a:off x="4248150" y="3927475"/>
            <a:ext cx="4895850" cy="2930525"/>
          </a:xfrm>
          <a:prstGeom prst="rect">
            <a:avLst/>
          </a:prstGeom>
          <a:noFill/>
          <a:ln w="9525">
            <a:noFill/>
          </a:ln>
        </p:spPr>
      </p:pic>
      <p:sp>
        <p:nvSpPr>
          <p:cNvPr id="54277" name="矩形 4"/>
          <p:cNvSpPr/>
          <p:nvPr/>
        </p:nvSpPr>
        <p:spPr>
          <a:xfrm>
            <a:off x="3071813" y="1214438"/>
            <a:ext cx="4502150" cy="369887"/>
          </a:xfrm>
          <a:prstGeom prst="rect">
            <a:avLst/>
          </a:prstGeom>
          <a:noFill/>
          <a:ln w="9525">
            <a:noFill/>
          </a:ln>
        </p:spPr>
        <p:txBody>
          <a:bodyPr wrap="none">
            <a:spAutoFit/>
          </a:bodyPr>
          <a:p>
            <a:r>
              <a:rPr lang="en-US" altLang="zh-CN" dirty="0">
                <a:latin typeface="Arial" panose="020B0604020202020204" pitchFamily="34" charset="0"/>
                <a:hlinkClick r:id="rId2"/>
              </a:rPr>
              <a:t>https://v.qq.com/x/page/v0504pcanqu.html</a:t>
            </a:r>
            <a:endParaRPr lang="zh-CN" altLang="en-US" dirty="0">
              <a:latin typeface="Arial" panose="020B0604020202020204" pitchFamily="34"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Rectangle 2"/>
          <p:cNvSpPr>
            <a:spLocks noGrp="1"/>
          </p:cNvSpPr>
          <p:nvPr>
            <p:ph type="title"/>
          </p:nvPr>
        </p:nvSpPr>
        <p:spPr/>
        <p:txBody>
          <a:bodyPr vert="horz" wrap="square" lIns="91440" tIns="45720" rIns="91440" bIns="45720" anchor="ctr" anchorCtr="0"/>
          <a:p>
            <a:pPr algn="ctr" eaLnBrk="1" hangingPunct="1"/>
            <a:r>
              <a:rPr lang="zh-CN" altLang="en-US" sz="4000" dirty="0">
                <a:ea typeface="楷体_GB2312" pitchFamily="49" charset="-122"/>
              </a:rPr>
              <a:t>气体保护焊</a:t>
            </a:r>
            <a:endParaRPr lang="zh-CN" altLang="en-US" sz="4000" dirty="0">
              <a:ea typeface="楷体_GB2312" pitchFamily="49" charset="-122"/>
            </a:endParaRPr>
          </a:p>
        </p:txBody>
      </p:sp>
      <p:sp>
        <p:nvSpPr>
          <p:cNvPr id="55299" name="Rectangle 3"/>
          <p:cNvSpPr>
            <a:spLocks noGrp="1"/>
          </p:cNvSpPr>
          <p:nvPr>
            <p:ph idx="1"/>
          </p:nvPr>
        </p:nvSpPr>
        <p:spPr>
          <a:xfrm>
            <a:off x="107950" y="1600200"/>
            <a:ext cx="8686800" cy="4781550"/>
          </a:xfrm>
        </p:spPr>
        <p:txBody>
          <a:bodyPr vert="horz" wrap="square" lIns="91440" tIns="45720" rIns="91440" bIns="45720" anchor="t" anchorCtr="0"/>
          <a:p>
            <a:pPr eaLnBrk="1" hangingPunct="1"/>
            <a:r>
              <a:rPr lang="zh-CN" altLang="en-US" b="1" dirty="0">
                <a:solidFill>
                  <a:srgbClr val="CC3300"/>
                </a:solidFill>
                <a:latin typeface="楷体_GB2312" pitchFamily="49" charset="-122"/>
                <a:ea typeface="楷体_GB2312" pitchFamily="49" charset="-122"/>
              </a:rPr>
              <a:t>氩弧焊</a:t>
            </a:r>
            <a:endParaRPr lang="zh-CN" altLang="en-US" b="1" dirty="0">
              <a:solidFill>
                <a:srgbClr val="CC3300"/>
              </a:solidFill>
              <a:latin typeface="楷体_GB2312" pitchFamily="49" charset="-122"/>
              <a:ea typeface="楷体_GB2312" pitchFamily="49" charset="-122"/>
            </a:endParaRPr>
          </a:p>
          <a:p>
            <a:pPr lvl="1" eaLnBrk="1" hangingPunct="1"/>
            <a:r>
              <a:rPr lang="zh-CN" altLang="en-US" b="1" dirty="0">
                <a:latin typeface="楷体_GB2312" pitchFamily="49" charset="-122"/>
                <a:ea typeface="楷体_GB2312" pitchFamily="49" charset="-122"/>
              </a:rPr>
              <a:t>特点：</a:t>
            </a:r>
            <a:endParaRPr lang="zh-CN" altLang="en-US" b="1" dirty="0">
              <a:latin typeface="楷体_GB2312" pitchFamily="49" charset="-122"/>
              <a:ea typeface="楷体_GB2312" pitchFamily="49" charset="-122"/>
            </a:endParaRPr>
          </a:p>
          <a:p>
            <a:pPr lvl="2" eaLnBrk="1" hangingPunct="1"/>
            <a:r>
              <a:rPr lang="zh-CN" altLang="en-US" b="1" dirty="0">
                <a:latin typeface="楷体_GB2312" pitchFamily="49" charset="-122"/>
                <a:ea typeface="楷体_GB2312" pitchFamily="49" charset="-122"/>
              </a:rPr>
              <a:t>机械保护效果好，焊缝金属纯净，成形美观，质量好。</a:t>
            </a:r>
            <a:endParaRPr lang="zh-CN" altLang="en-US" b="1" dirty="0">
              <a:latin typeface="楷体_GB2312" pitchFamily="49" charset="-122"/>
              <a:ea typeface="楷体_GB2312" pitchFamily="49" charset="-122"/>
            </a:endParaRPr>
          </a:p>
          <a:p>
            <a:pPr lvl="2" eaLnBrk="1" hangingPunct="1"/>
            <a:r>
              <a:rPr lang="zh-CN" altLang="en-US" b="1" dirty="0">
                <a:latin typeface="楷体_GB2312" pitchFamily="49" charset="-122"/>
                <a:ea typeface="楷体_GB2312" pitchFamily="49" charset="-122"/>
              </a:rPr>
              <a:t>电弧稳定，小电流时也很稳定。熔池温度容易控制，单面焊双面成形。</a:t>
            </a:r>
            <a:endParaRPr lang="zh-CN" altLang="en-US" b="1" dirty="0">
              <a:latin typeface="楷体_GB2312" pitchFamily="49" charset="-122"/>
              <a:ea typeface="楷体_GB2312" pitchFamily="49" charset="-122"/>
            </a:endParaRPr>
          </a:p>
          <a:p>
            <a:pPr lvl="2" eaLnBrk="1" hangingPunct="1"/>
            <a:r>
              <a:rPr lang="zh-CN" altLang="en-US" b="1" dirty="0">
                <a:latin typeface="楷体_GB2312" pitchFamily="49" charset="-122"/>
                <a:ea typeface="楷体_GB2312" pitchFamily="49" charset="-122"/>
              </a:rPr>
              <a:t>采用气体保护，电弧可见</a:t>
            </a:r>
            <a:r>
              <a:rPr lang="en-US" altLang="zh-CN" b="1" dirty="0">
                <a:latin typeface="楷体_GB2312" pitchFamily="49" charset="-122"/>
                <a:ea typeface="楷体_GB2312" pitchFamily="49" charset="-122"/>
              </a:rPr>
              <a:t>(</a:t>
            </a:r>
            <a:r>
              <a:rPr lang="zh-CN" altLang="en-US" b="1" dirty="0">
                <a:latin typeface="楷体_GB2312" pitchFamily="49" charset="-122"/>
                <a:ea typeface="楷体_GB2312" pitchFamily="49" charset="-122"/>
              </a:rPr>
              <a:t>称为明弧</a:t>
            </a:r>
            <a:r>
              <a:rPr lang="en-US" altLang="zh-CN" b="1" dirty="0">
                <a:latin typeface="楷体_GB2312" pitchFamily="49" charset="-122"/>
                <a:ea typeface="楷体_GB2312" pitchFamily="49" charset="-122"/>
              </a:rPr>
              <a:t>)</a:t>
            </a:r>
            <a:r>
              <a:rPr lang="zh-CN" altLang="en-US" b="1" dirty="0">
                <a:latin typeface="楷体_GB2312" pitchFamily="49" charset="-122"/>
                <a:ea typeface="楷体_GB2312" pitchFamily="49" charset="-122"/>
              </a:rPr>
              <a:t>，易实现全位置自动焊接。</a:t>
            </a:r>
            <a:endParaRPr lang="zh-CN" altLang="en-US" b="1" dirty="0">
              <a:latin typeface="楷体_GB2312" pitchFamily="49" charset="-122"/>
              <a:ea typeface="楷体_GB2312" pitchFamily="49" charset="-122"/>
            </a:endParaRPr>
          </a:p>
          <a:p>
            <a:pPr lvl="2" eaLnBrk="1" hangingPunct="1"/>
            <a:r>
              <a:rPr lang="zh-CN" altLang="en-US" b="1" dirty="0">
                <a:latin typeface="楷体_GB2312" pitchFamily="49" charset="-122"/>
                <a:ea typeface="楷体_GB2312" pitchFamily="49" charset="-122"/>
              </a:rPr>
              <a:t>电弧在气流压缩下燃烧，热量集中，熔池小，焊速快，热影响区小，焊接变形小。</a:t>
            </a:r>
            <a:endParaRPr lang="zh-CN" altLang="en-US" b="1" dirty="0">
              <a:latin typeface="楷体_GB2312" pitchFamily="49" charset="-122"/>
              <a:ea typeface="楷体_GB2312" pitchFamily="49" charset="-122"/>
            </a:endParaRPr>
          </a:p>
          <a:p>
            <a:pPr lvl="2" eaLnBrk="1" hangingPunct="1"/>
            <a:r>
              <a:rPr lang="zh-CN" altLang="en-US" b="1" dirty="0">
                <a:latin typeface="楷体_GB2312" pitchFamily="49" charset="-122"/>
                <a:ea typeface="楷体_GB2312" pitchFamily="49" charset="-122"/>
              </a:rPr>
              <a:t>氢气价格较高，因此成本较高。</a:t>
            </a:r>
            <a:endParaRPr lang="zh-CN" altLang="en-US" b="1" dirty="0">
              <a:latin typeface="楷体_GB2312" pitchFamily="49" charset="-122"/>
              <a:ea typeface="楷体_GB2312" pitchFamily="49" charset="-122"/>
            </a:endParaRPr>
          </a:p>
          <a:p>
            <a:pPr lvl="1" eaLnBrk="1" hangingPunct="1"/>
            <a:endParaRPr lang="en-US" altLang="zh-CN" b="1" dirty="0">
              <a:latin typeface="楷体_GB2312" pitchFamily="49" charset="-122"/>
              <a:ea typeface="楷体_GB2312" pitchFamily="49"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Rectangle 4"/>
          <p:cNvSpPr/>
          <p:nvPr/>
        </p:nvSpPr>
        <p:spPr>
          <a:xfrm>
            <a:off x="250825" y="1557338"/>
            <a:ext cx="8497888" cy="4170362"/>
          </a:xfrm>
          <a:prstGeom prst="rect">
            <a:avLst/>
          </a:prstGeom>
          <a:noFill/>
          <a:ln w="9525">
            <a:noFill/>
          </a:ln>
        </p:spPr>
        <p:txBody>
          <a:bodyPr>
            <a:spAutoFit/>
          </a:bodyPr>
          <a:p>
            <a:pPr eaLnBrk="1" hangingPunct="1">
              <a:buClr>
                <a:srgbClr val="FF0000"/>
              </a:buClr>
              <a:buFont typeface="Wingdings" panose="05000000000000000000" pitchFamily="2" charset="2"/>
              <a:buChar char="Ø"/>
            </a:pPr>
            <a:r>
              <a:rPr lang="zh-CN" altLang="en-US" sz="2800" b="1" dirty="0">
                <a:solidFill>
                  <a:srgbClr val="FF0000"/>
                </a:solidFill>
                <a:latin typeface="楷体_GB2312" pitchFamily="49" charset="-122"/>
                <a:ea typeface="楷体_GB2312" pitchFamily="49" charset="-122"/>
              </a:rPr>
              <a:t>钨极脉冲氩弧焊</a:t>
            </a:r>
            <a:r>
              <a:rPr lang="zh-CN" altLang="en-US" sz="2400" b="1" dirty="0">
                <a:latin typeface="楷体_GB2312" pitchFamily="49" charset="-122"/>
                <a:ea typeface="楷体_GB2312" pitchFamily="49" charset="-122"/>
              </a:rPr>
              <a:t>（不熔化极氩弧焊的一种）</a:t>
            </a:r>
            <a:endParaRPr lang="zh-CN" altLang="en-US" sz="2400" b="1" dirty="0">
              <a:latin typeface="楷体_GB2312" pitchFamily="49" charset="-122"/>
              <a:ea typeface="楷体_GB2312" pitchFamily="49" charset="-122"/>
            </a:endParaRPr>
          </a:p>
          <a:p>
            <a:pPr eaLnBrk="1" hangingPunct="1"/>
            <a:r>
              <a:rPr lang="zh-CN" altLang="en-US" sz="2400" b="1" dirty="0">
                <a:latin typeface="楷体_GB2312" pitchFamily="49" charset="-122"/>
                <a:ea typeface="楷体_GB2312" pitchFamily="49" charset="-122"/>
              </a:rPr>
              <a:t>常用于薄板、管材和易淬火钢、高强钢 </a:t>
            </a:r>
            <a:r>
              <a:rPr lang="en-US" altLang="zh-CN" sz="2400" b="1" dirty="0">
                <a:latin typeface="楷体_GB2312" pitchFamily="49" charset="-122"/>
                <a:ea typeface="楷体_GB2312" pitchFamily="49" charset="-122"/>
              </a:rPr>
              <a:t>(</a:t>
            </a:r>
            <a:r>
              <a:rPr lang="zh-CN" altLang="en-US" sz="2400" b="1" dirty="0">
                <a:latin typeface="楷体_GB2312" pitchFamily="49" charset="-122"/>
                <a:ea typeface="楷体_GB2312" pitchFamily="49" charset="-122"/>
              </a:rPr>
              <a:t>原理</a:t>
            </a:r>
            <a:r>
              <a:rPr lang="en-US" altLang="zh-CN" sz="2400" b="1" dirty="0">
                <a:latin typeface="楷体_GB2312" pitchFamily="49" charset="-122"/>
                <a:ea typeface="楷体_GB2312" pitchFamily="49" charset="-122"/>
              </a:rPr>
              <a:t>:</a:t>
            </a:r>
            <a:r>
              <a:rPr lang="zh-CN" altLang="en-US" sz="2400" b="1" dirty="0">
                <a:latin typeface="楷体_GB2312" pitchFamily="49" charset="-122"/>
                <a:ea typeface="楷体_GB2312" pitchFamily="49" charset="-122"/>
              </a:rPr>
              <a:t>图</a:t>
            </a:r>
            <a:r>
              <a:rPr lang="en-US" altLang="zh-CN" sz="2400" b="1" dirty="0">
                <a:latin typeface="楷体_GB2312" pitchFamily="49" charset="-122"/>
                <a:ea typeface="楷体_GB2312" pitchFamily="49" charset="-122"/>
              </a:rPr>
              <a:t>20</a:t>
            </a:r>
            <a:r>
              <a:rPr lang="zh-CN" altLang="en-US" sz="2400" b="1" dirty="0">
                <a:solidFill>
                  <a:srgbClr val="0000FF"/>
                </a:solidFill>
                <a:latin typeface="楷体_GB2312" pitchFamily="49" charset="-122"/>
                <a:ea typeface="楷体_GB2312" pitchFamily="49" charset="-122"/>
              </a:rPr>
              <a:t>脉冲电流</a:t>
            </a:r>
            <a:r>
              <a:rPr lang="en-US" altLang="zh-CN" sz="2400" b="1" dirty="0">
                <a:latin typeface="楷体_GB2312" pitchFamily="49" charset="-122"/>
                <a:ea typeface="楷体_GB2312" pitchFamily="49" charset="-122"/>
              </a:rPr>
              <a:t>)</a:t>
            </a:r>
            <a:endParaRPr lang="en-US" altLang="zh-CN" sz="2400" b="1" dirty="0">
              <a:latin typeface="楷体_GB2312" pitchFamily="49" charset="-122"/>
              <a:ea typeface="楷体_GB2312" pitchFamily="49" charset="-122"/>
            </a:endParaRPr>
          </a:p>
          <a:p>
            <a:pPr eaLnBrk="1" hangingPunct="1"/>
            <a:endParaRPr lang="en-US" altLang="zh-CN" sz="2400" b="1" dirty="0">
              <a:latin typeface="楷体_GB2312" pitchFamily="49" charset="-122"/>
              <a:ea typeface="楷体_GB2312" pitchFamily="49" charset="-122"/>
            </a:endParaRPr>
          </a:p>
          <a:p>
            <a:pPr eaLnBrk="1" hangingPunct="1"/>
            <a:r>
              <a:rPr lang="zh-CN" altLang="en-US" sz="2400" b="1" dirty="0">
                <a:solidFill>
                  <a:srgbClr val="CC3300"/>
                </a:solidFill>
                <a:latin typeface="楷体_GB2312" pitchFamily="49" charset="-122"/>
                <a:ea typeface="楷体_GB2312" pitchFamily="49" charset="-122"/>
              </a:rPr>
              <a:t>氩弧焊特点及使用范围：</a:t>
            </a:r>
            <a:endParaRPr lang="zh-CN" altLang="en-US" sz="2400" b="1" dirty="0">
              <a:solidFill>
                <a:srgbClr val="CC3300"/>
              </a:solidFill>
              <a:latin typeface="楷体_GB2312" pitchFamily="49" charset="-122"/>
              <a:ea typeface="楷体_GB2312" pitchFamily="49" charset="-122"/>
            </a:endParaRPr>
          </a:p>
          <a:p>
            <a:pPr eaLnBrk="1" hangingPunct="1"/>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1</a:t>
            </a:r>
            <a:r>
              <a:rPr lang="zh-CN" altLang="en-US" sz="2400" b="1" dirty="0">
                <a:latin typeface="楷体_GB2312" pitchFamily="49" charset="-122"/>
                <a:ea typeface="楷体_GB2312" pitchFamily="49" charset="-122"/>
              </a:rPr>
              <a:t>）</a:t>
            </a:r>
            <a:r>
              <a:rPr lang="zh-CN" altLang="en-US" sz="2400" b="1" dirty="0">
                <a:solidFill>
                  <a:srgbClr val="008000"/>
                </a:solidFill>
                <a:latin typeface="楷体_GB2312" pitchFamily="49" charset="-122"/>
                <a:ea typeface="楷体_GB2312" pitchFamily="49" charset="-122"/>
              </a:rPr>
              <a:t>电弧燃烧稳定</a:t>
            </a:r>
            <a:r>
              <a:rPr lang="zh-CN" altLang="en-US" sz="2400" b="1" dirty="0">
                <a:latin typeface="楷体_GB2312" pitchFamily="49" charset="-122"/>
                <a:ea typeface="楷体_GB2312" pitchFamily="49" charset="-122"/>
              </a:rPr>
              <a:t>，飞溅小，焊缝致密、成形美观，焊接质量好；</a:t>
            </a:r>
            <a:endParaRPr lang="zh-CN" altLang="en-US" sz="2400" b="1" dirty="0">
              <a:latin typeface="楷体_GB2312" pitchFamily="49" charset="-122"/>
              <a:ea typeface="楷体_GB2312" pitchFamily="49" charset="-122"/>
            </a:endParaRPr>
          </a:p>
          <a:p>
            <a:pPr eaLnBrk="1" hangingPunct="1"/>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2</a:t>
            </a:r>
            <a:r>
              <a:rPr lang="zh-CN" altLang="en-US" sz="2400" b="1" dirty="0">
                <a:latin typeface="楷体_GB2312" pitchFamily="49" charset="-122"/>
                <a:ea typeface="楷体_GB2312" pitchFamily="49" charset="-122"/>
              </a:rPr>
              <a:t>）</a:t>
            </a:r>
            <a:r>
              <a:rPr lang="zh-CN" altLang="en-US" sz="2400" b="1" dirty="0">
                <a:solidFill>
                  <a:srgbClr val="008000"/>
                </a:solidFill>
                <a:latin typeface="楷体_GB2312" pitchFamily="49" charset="-122"/>
                <a:ea typeface="楷体_GB2312" pitchFamily="49" charset="-122"/>
              </a:rPr>
              <a:t>有气体保护</a:t>
            </a:r>
            <a:r>
              <a:rPr lang="zh-CN" altLang="en-US" sz="2400" b="1" dirty="0">
                <a:latin typeface="楷体_GB2312" pitchFamily="49" charset="-122"/>
                <a:ea typeface="楷体_GB2312" pitchFamily="49" charset="-122"/>
              </a:rPr>
              <a:t>，明弧可见，便于操作。</a:t>
            </a:r>
            <a:endParaRPr lang="zh-CN" altLang="en-US" sz="2400" b="1" dirty="0">
              <a:latin typeface="楷体_GB2312" pitchFamily="49" charset="-122"/>
              <a:ea typeface="楷体_GB2312" pitchFamily="49" charset="-122"/>
            </a:endParaRPr>
          </a:p>
          <a:p>
            <a:pPr eaLnBrk="1" hangingPunct="1"/>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3</a:t>
            </a:r>
            <a:r>
              <a:rPr lang="zh-CN" altLang="en-US" sz="2400" b="1" dirty="0">
                <a:latin typeface="楷体_GB2312" pitchFamily="49" charset="-122"/>
                <a:ea typeface="楷体_GB2312" pitchFamily="49" charset="-122"/>
              </a:rPr>
              <a:t>）</a:t>
            </a:r>
            <a:r>
              <a:rPr lang="zh-CN" altLang="en-US" sz="2400" b="1" dirty="0">
                <a:solidFill>
                  <a:srgbClr val="008000"/>
                </a:solidFill>
                <a:latin typeface="楷体_GB2312" pitchFamily="49" charset="-122"/>
                <a:ea typeface="楷体_GB2312" pitchFamily="49" charset="-122"/>
              </a:rPr>
              <a:t>热量集中</a:t>
            </a:r>
            <a:r>
              <a:rPr lang="zh-CN" altLang="en-US" sz="2400" b="1" dirty="0">
                <a:latin typeface="楷体_GB2312" pitchFamily="49" charset="-122"/>
                <a:ea typeface="楷体_GB2312" pitchFamily="49" charset="-122"/>
              </a:rPr>
              <a:t>，焊接速度快，焊接热影响区较窄，工件变形小。</a:t>
            </a:r>
            <a:endParaRPr lang="zh-CN" altLang="en-US" sz="2400" b="1" dirty="0">
              <a:latin typeface="楷体_GB2312" pitchFamily="49" charset="-122"/>
              <a:ea typeface="楷体_GB2312" pitchFamily="49" charset="-122"/>
            </a:endParaRPr>
          </a:p>
          <a:p>
            <a:pPr eaLnBrk="1" hangingPunct="1"/>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4</a:t>
            </a:r>
            <a:r>
              <a:rPr lang="zh-CN" altLang="en-US" sz="2400" b="1" dirty="0">
                <a:latin typeface="楷体_GB2312" pitchFamily="49" charset="-122"/>
                <a:ea typeface="楷体_GB2312" pitchFamily="49" charset="-122"/>
              </a:rPr>
              <a:t>）</a:t>
            </a:r>
            <a:r>
              <a:rPr lang="zh-CN" altLang="en-US" sz="2400" b="1" dirty="0">
                <a:solidFill>
                  <a:srgbClr val="008000"/>
                </a:solidFill>
                <a:latin typeface="楷体_GB2312" pitchFamily="49" charset="-122"/>
                <a:ea typeface="楷体_GB2312" pitchFamily="49" charset="-122"/>
              </a:rPr>
              <a:t>适用于</a:t>
            </a:r>
            <a:r>
              <a:rPr lang="zh-CN" altLang="en-US" sz="2400" b="1" dirty="0">
                <a:latin typeface="楷体_GB2312" pitchFamily="49" charset="-122"/>
                <a:ea typeface="楷体_GB2312" pitchFamily="49" charset="-122"/>
              </a:rPr>
              <a:t>各类</a:t>
            </a:r>
            <a:r>
              <a:rPr lang="zh-CN" altLang="en-US" sz="2400" b="1" dirty="0">
                <a:solidFill>
                  <a:srgbClr val="0000FF"/>
                </a:solidFill>
                <a:latin typeface="楷体_GB2312" pitchFamily="49" charset="-122"/>
                <a:ea typeface="楷体_GB2312" pitchFamily="49" charset="-122"/>
              </a:rPr>
              <a:t>合金钢、不锈钢、有色金属</a:t>
            </a:r>
            <a:r>
              <a:rPr lang="zh-CN" altLang="en-US" sz="2400" b="1" dirty="0">
                <a:latin typeface="楷体_GB2312" pitchFamily="49" charset="-122"/>
                <a:ea typeface="楷体_GB2312" pitchFamily="49" charset="-122"/>
              </a:rPr>
              <a:t>（铝、镁、钛等），</a:t>
            </a:r>
            <a:r>
              <a:rPr lang="zh-CN" altLang="en-US" sz="2400" b="1" dirty="0">
                <a:solidFill>
                  <a:srgbClr val="0000FF"/>
                </a:solidFill>
                <a:latin typeface="楷体_GB2312" pitchFamily="49" charset="-122"/>
                <a:ea typeface="楷体_GB2312" pitchFamily="49" charset="-122"/>
              </a:rPr>
              <a:t>稀有金属</a:t>
            </a:r>
            <a:r>
              <a:rPr lang="zh-CN" altLang="en-US" sz="2400" b="1" dirty="0">
                <a:latin typeface="楷体_GB2312" pitchFamily="49" charset="-122"/>
                <a:ea typeface="楷体_GB2312" pitchFamily="49" charset="-122"/>
              </a:rPr>
              <a:t>（锆、钼、钽等）的焊接。</a:t>
            </a:r>
            <a:endParaRPr lang="zh-CN" altLang="en-US" sz="2400" b="1" dirty="0">
              <a:latin typeface="楷体_GB2312" pitchFamily="49" charset="-122"/>
              <a:ea typeface="楷体_GB2312" pitchFamily="49" charset="-122"/>
            </a:endParaRPr>
          </a:p>
        </p:txBody>
      </p:sp>
      <p:sp>
        <p:nvSpPr>
          <p:cNvPr id="56323" name="Rectangle 5"/>
          <p:cNvSpPr/>
          <p:nvPr/>
        </p:nvSpPr>
        <p:spPr>
          <a:xfrm>
            <a:off x="3863975" y="384175"/>
            <a:ext cx="2724150" cy="701675"/>
          </a:xfrm>
          <a:prstGeom prst="rect">
            <a:avLst/>
          </a:prstGeom>
          <a:noFill/>
          <a:ln w="9525">
            <a:noFill/>
          </a:ln>
        </p:spPr>
        <p:txBody>
          <a:bodyPr wrap="none">
            <a:spAutoFit/>
          </a:bodyPr>
          <a:p>
            <a:pPr eaLnBrk="1" hangingPunct="1"/>
            <a:r>
              <a:rPr lang="zh-CN" altLang="en-US" sz="4000" dirty="0">
                <a:solidFill>
                  <a:schemeClr val="tx2"/>
                </a:solidFill>
                <a:latin typeface="GreekS" pitchFamily="2" charset="0"/>
                <a:ea typeface="楷体_GB2312" pitchFamily="49" charset="-122"/>
              </a:rPr>
              <a:t>气体保护焊</a:t>
            </a:r>
            <a:endParaRPr lang="zh-CN" altLang="en-US" sz="4000" dirty="0">
              <a:solidFill>
                <a:schemeClr val="tx2"/>
              </a:solidFill>
              <a:latin typeface="GreekS" pitchFamily="2" charset="0"/>
              <a:ea typeface="楷体_GB2312" pitchFamily="49"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Rectangle 2"/>
          <p:cNvSpPr>
            <a:spLocks noGrp="1"/>
          </p:cNvSpPr>
          <p:nvPr>
            <p:ph type="title"/>
          </p:nvPr>
        </p:nvSpPr>
        <p:spPr/>
        <p:txBody>
          <a:bodyPr vert="horz" wrap="square" lIns="91440" tIns="45720" rIns="91440" bIns="45720" anchor="ctr" anchorCtr="0"/>
          <a:p>
            <a:pPr algn="ctr" eaLnBrk="1" hangingPunct="1"/>
            <a:r>
              <a:rPr lang="zh-CN" altLang="en-US" sz="4000" dirty="0">
                <a:ea typeface="楷体_GB2312" pitchFamily="49" charset="-122"/>
              </a:rPr>
              <a:t>气体保护焊</a:t>
            </a:r>
            <a:endParaRPr lang="zh-CN" altLang="en-US" sz="4000" dirty="0">
              <a:ea typeface="楷体_GB2312" pitchFamily="49" charset="-122"/>
            </a:endParaRPr>
          </a:p>
        </p:txBody>
      </p:sp>
      <p:sp>
        <p:nvSpPr>
          <p:cNvPr id="57347" name="Rectangle 3"/>
          <p:cNvSpPr>
            <a:spLocks noGrp="1"/>
          </p:cNvSpPr>
          <p:nvPr>
            <p:ph idx="1"/>
          </p:nvPr>
        </p:nvSpPr>
        <p:spPr>
          <a:xfrm>
            <a:off x="107950" y="1600200"/>
            <a:ext cx="8856663" cy="2044700"/>
          </a:xfrm>
        </p:spPr>
        <p:txBody>
          <a:bodyPr vert="horz" wrap="square" lIns="91440" tIns="45720" rIns="91440" bIns="45720" anchor="t" anchorCtr="0"/>
          <a:p>
            <a:pPr eaLnBrk="1" hangingPunct="1"/>
            <a:r>
              <a:rPr lang="zh-CN" altLang="en-US" sz="2800" b="1" dirty="0">
                <a:solidFill>
                  <a:srgbClr val="FF0000"/>
                </a:solidFill>
                <a:latin typeface="楷体_GB2312" pitchFamily="49" charset="-122"/>
                <a:ea typeface="楷体_GB2312" pitchFamily="49" charset="-122"/>
              </a:rPr>
              <a:t>二氧化碳气体保护焊</a:t>
            </a:r>
            <a:r>
              <a:rPr lang="zh-CN" altLang="en-US" sz="2800" b="1" dirty="0">
                <a:latin typeface="楷体_GB2312" pitchFamily="49" charset="-122"/>
                <a:ea typeface="楷体_GB2312" pitchFamily="49" charset="-122"/>
              </a:rPr>
              <a:t>  以二氧化碳作为保护气体，以焊丝作电极，以自动或半自动方式进行焊接。</a:t>
            </a:r>
            <a:r>
              <a:rPr lang="en-US" altLang="zh-CN" sz="2800" b="1"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原理</a:t>
            </a:r>
            <a:r>
              <a:rPr lang="en-US" altLang="zh-CN" sz="2800" b="1"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图</a:t>
            </a:r>
            <a:r>
              <a:rPr lang="en-US" altLang="zh-CN" sz="2800" b="1" dirty="0">
                <a:latin typeface="楷体_GB2312" pitchFamily="49" charset="-122"/>
                <a:ea typeface="楷体_GB2312" pitchFamily="49" charset="-122"/>
              </a:rPr>
              <a:t>4.21)</a:t>
            </a:r>
            <a:endParaRPr lang="en-US" altLang="zh-CN" sz="2800" b="1" dirty="0">
              <a:latin typeface="楷体_GB2312" pitchFamily="49" charset="-122"/>
              <a:ea typeface="楷体_GB2312" pitchFamily="49" charset="-122"/>
            </a:endParaRPr>
          </a:p>
          <a:p>
            <a:pPr eaLnBrk="1" hangingPunct="1"/>
            <a:r>
              <a:rPr lang="zh-CN" altLang="en-US" sz="2800" b="1" dirty="0">
                <a:solidFill>
                  <a:srgbClr val="FF0000"/>
                </a:solidFill>
                <a:latin typeface="楷体_GB2312" pitchFamily="49" charset="-122"/>
                <a:ea typeface="楷体_GB2312" pitchFamily="49" charset="-122"/>
              </a:rPr>
              <a:t>视频</a:t>
            </a:r>
            <a:endParaRPr lang="zh-CN" altLang="en-US" sz="2800" b="1" dirty="0">
              <a:solidFill>
                <a:srgbClr val="FF0000"/>
              </a:solidFill>
              <a:latin typeface="楷体_GB2312" pitchFamily="49" charset="-122"/>
              <a:ea typeface="楷体_GB2312" pitchFamily="49" charset="-122"/>
            </a:endParaRPr>
          </a:p>
        </p:txBody>
      </p:sp>
      <p:pic>
        <p:nvPicPr>
          <p:cNvPr id="57348" name="Picture 4" descr="420"/>
          <p:cNvPicPr>
            <a:picLocks noChangeAspect="1"/>
          </p:cNvPicPr>
          <p:nvPr/>
        </p:nvPicPr>
        <p:blipFill>
          <a:blip r:embed="rId1"/>
          <a:srcRect l="55206" t="1759"/>
          <a:stretch>
            <a:fillRect/>
          </a:stretch>
        </p:blipFill>
        <p:spPr>
          <a:xfrm>
            <a:off x="2411413" y="2536825"/>
            <a:ext cx="4679950" cy="4321175"/>
          </a:xfrm>
          <a:prstGeom prst="rect">
            <a:avLst/>
          </a:prstGeom>
          <a:noFill/>
          <a:ln w="9525">
            <a:noFill/>
          </a:ln>
        </p:spPr>
      </p:pic>
      <p:sp>
        <p:nvSpPr>
          <p:cNvPr id="57349" name="矩形 4"/>
          <p:cNvSpPr/>
          <p:nvPr/>
        </p:nvSpPr>
        <p:spPr>
          <a:xfrm>
            <a:off x="2214563" y="1214438"/>
            <a:ext cx="6583362" cy="369887"/>
          </a:xfrm>
          <a:prstGeom prst="rect">
            <a:avLst/>
          </a:prstGeom>
          <a:noFill/>
          <a:ln w="9525">
            <a:noFill/>
          </a:ln>
        </p:spPr>
        <p:txBody>
          <a:bodyPr wrap="none">
            <a:spAutoFit/>
          </a:bodyPr>
          <a:p>
            <a:r>
              <a:rPr lang="en-US" altLang="zh-CN" dirty="0">
                <a:latin typeface="Arial" panose="020B0604020202020204" pitchFamily="34" charset="0"/>
                <a:hlinkClick r:id="rId2"/>
              </a:rPr>
              <a:t>co2</a:t>
            </a:r>
            <a:r>
              <a:rPr lang="zh-CN" altLang="en-US" dirty="0">
                <a:latin typeface="Arial" panose="020B0604020202020204" pitchFamily="34" charset="0"/>
                <a:hlinkClick r:id="rId2"/>
              </a:rPr>
              <a:t>气保焊教学视频，角焊，立焊，平焊</a:t>
            </a:r>
            <a:r>
              <a:rPr lang="en-US" altLang="zh-CN" dirty="0">
                <a:latin typeface="Arial" panose="020B0604020202020204" pitchFamily="34" charset="0"/>
                <a:hlinkClick r:id="rId2"/>
              </a:rPr>
              <a:t>_</a:t>
            </a:r>
            <a:r>
              <a:rPr lang="zh-CN" altLang="en-US" dirty="0">
                <a:latin typeface="Arial" panose="020B0604020202020204" pitchFamily="34" charset="0"/>
                <a:hlinkClick r:id="rId2"/>
              </a:rPr>
              <a:t>好看视频 </a:t>
            </a:r>
            <a:r>
              <a:rPr lang="en-US" altLang="zh-CN" dirty="0">
                <a:latin typeface="Arial" panose="020B0604020202020204" pitchFamily="34" charset="0"/>
                <a:hlinkClick r:id="rId2"/>
              </a:rPr>
              <a:t>(baidu.com)</a:t>
            </a:r>
            <a:endParaRPr lang="zh-CN" altLang="en-US" dirty="0">
              <a:latin typeface="Arial" panose="020B0604020202020204" pitchFamily="34"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Rectangle 2"/>
          <p:cNvSpPr>
            <a:spLocks noGrp="1"/>
          </p:cNvSpPr>
          <p:nvPr>
            <p:ph type="title"/>
          </p:nvPr>
        </p:nvSpPr>
        <p:spPr/>
        <p:txBody>
          <a:bodyPr vert="horz" wrap="square" lIns="91440" tIns="45720" rIns="91440" bIns="45720" anchor="ctr" anchorCtr="0"/>
          <a:p>
            <a:pPr algn="ctr" eaLnBrk="1" hangingPunct="1"/>
            <a:r>
              <a:rPr lang="zh-CN" altLang="en-US" sz="4000" dirty="0">
                <a:ea typeface="楷体_GB2312" pitchFamily="49" charset="-122"/>
              </a:rPr>
              <a:t>二氧化碳气体保护焊</a:t>
            </a:r>
            <a:endParaRPr lang="zh-CN" altLang="en-US" sz="4000" dirty="0">
              <a:ea typeface="楷体_GB2312" pitchFamily="49" charset="-122"/>
            </a:endParaRPr>
          </a:p>
        </p:txBody>
      </p:sp>
      <p:sp>
        <p:nvSpPr>
          <p:cNvPr id="58371" name="Rectangle 3"/>
          <p:cNvSpPr>
            <a:spLocks noGrp="1"/>
          </p:cNvSpPr>
          <p:nvPr>
            <p:ph idx="1"/>
          </p:nvPr>
        </p:nvSpPr>
        <p:spPr>
          <a:xfrm>
            <a:off x="323850" y="1341438"/>
            <a:ext cx="8496300" cy="4608512"/>
          </a:xfrm>
        </p:spPr>
        <p:txBody>
          <a:bodyPr vert="horz" wrap="square" lIns="91440" tIns="45720" rIns="91440" bIns="45720" anchor="t" anchorCtr="0"/>
          <a:p>
            <a:pPr eaLnBrk="1" hangingPunct="1">
              <a:lnSpc>
                <a:spcPct val="80000"/>
              </a:lnSpc>
            </a:pPr>
            <a:r>
              <a:rPr lang="zh-CN" altLang="en-US" b="1" dirty="0">
                <a:latin typeface="楷体_GB2312" pitchFamily="49" charset="-122"/>
                <a:ea typeface="楷体_GB2312" pitchFamily="49" charset="-122"/>
              </a:rPr>
              <a:t>特点：</a:t>
            </a:r>
            <a:endParaRPr lang="zh-CN" altLang="en-US" b="1" dirty="0">
              <a:latin typeface="楷体_GB2312" pitchFamily="49" charset="-122"/>
              <a:ea typeface="楷体_GB2312" pitchFamily="49" charset="-122"/>
            </a:endParaRPr>
          </a:p>
          <a:p>
            <a:pPr lvl="1" eaLnBrk="1" hangingPunct="1">
              <a:lnSpc>
                <a:spcPct val="80000"/>
              </a:lnSpc>
            </a:pPr>
            <a:r>
              <a:rPr lang="zh-CN" altLang="en-US" b="1" dirty="0">
                <a:solidFill>
                  <a:srgbClr val="CC3300"/>
                </a:solidFill>
                <a:latin typeface="楷体_GB2312" pitchFamily="49" charset="-122"/>
                <a:ea typeface="楷体_GB2312" pitchFamily="49" charset="-122"/>
              </a:rPr>
              <a:t>成本低</a:t>
            </a:r>
            <a:r>
              <a:rPr lang="zh-CN" altLang="en-US" b="1" dirty="0">
                <a:solidFill>
                  <a:srgbClr val="FFFF00"/>
                </a:solidFill>
                <a:latin typeface="楷体_GB2312" pitchFamily="49" charset="-122"/>
                <a:ea typeface="楷体_GB2312" pitchFamily="49" charset="-122"/>
              </a:rPr>
              <a:t>  </a:t>
            </a:r>
            <a:r>
              <a:rPr lang="zh-CN" altLang="en-US" b="1" dirty="0">
                <a:latin typeface="楷体_GB2312" pitchFamily="49" charset="-122"/>
                <a:ea typeface="楷体_GB2312" pitchFamily="49" charset="-122"/>
              </a:rPr>
              <a:t>焊接成本仅是埋弧自动焊和手工电弧焊的</a:t>
            </a:r>
            <a:r>
              <a:rPr lang="en-US" altLang="zh-CN" b="1" dirty="0">
                <a:latin typeface="楷体_GB2312" pitchFamily="49" charset="-122"/>
                <a:ea typeface="楷体_GB2312" pitchFamily="49" charset="-122"/>
              </a:rPr>
              <a:t>40</a:t>
            </a:r>
            <a:r>
              <a:rPr lang="zh-CN" altLang="en-US" b="1" dirty="0">
                <a:latin typeface="楷体_GB2312" pitchFamily="49" charset="-122"/>
                <a:ea typeface="楷体_GB2312" pitchFamily="49" charset="-122"/>
              </a:rPr>
              <a:t>％左右。</a:t>
            </a:r>
            <a:endParaRPr lang="zh-CN" altLang="en-US" b="1" dirty="0">
              <a:latin typeface="楷体_GB2312" pitchFamily="49" charset="-122"/>
              <a:ea typeface="楷体_GB2312" pitchFamily="49" charset="-122"/>
            </a:endParaRPr>
          </a:p>
          <a:p>
            <a:pPr lvl="1" eaLnBrk="1" hangingPunct="1">
              <a:lnSpc>
                <a:spcPct val="80000"/>
              </a:lnSpc>
            </a:pPr>
            <a:r>
              <a:rPr lang="zh-CN" altLang="en-US" b="1" dirty="0">
                <a:solidFill>
                  <a:srgbClr val="CC3300"/>
                </a:solidFill>
                <a:latin typeface="楷体_GB2312" pitchFamily="49" charset="-122"/>
                <a:ea typeface="楷体_GB2312" pitchFamily="49" charset="-122"/>
              </a:rPr>
              <a:t>生产率高</a:t>
            </a:r>
            <a:r>
              <a:rPr lang="zh-CN" altLang="en-US" b="1" dirty="0">
                <a:solidFill>
                  <a:srgbClr val="FFFF00"/>
                </a:solidFill>
                <a:latin typeface="楷体_GB2312" pitchFamily="49" charset="-122"/>
                <a:ea typeface="楷体_GB2312" pitchFamily="49" charset="-122"/>
              </a:rPr>
              <a:t>  </a:t>
            </a:r>
            <a:r>
              <a:rPr lang="zh-CN" altLang="en-US" b="1" dirty="0">
                <a:latin typeface="楷体_GB2312" pitchFamily="49" charset="-122"/>
                <a:ea typeface="楷体_GB2312" pitchFamily="49" charset="-122"/>
              </a:rPr>
              <a:t>焊丝送进自动化，电流密度大，电弧热量集中，焊接速度快。焊后没有熔渣，不需清渣，比手工电弧焊提高生产率</a:t>
            </a:r>
            <a:r>
              <a:rPr lang="en-US" altLang="zh-CN" b="1" dirty="0">
                <a:latin typeface="楷体_GB2312" pitchFamily="49" charset="-122"/>
                <a:ea typeface="楷体_GB2312" pitchFamily="49" charset="-122"/>
              </a:rPr>
              <a:t>1</a:t>
            </a:r>
            <a:r>
              <a:rPr lang="zh-CN" altLang="en-US" b="1" dirty="0">
                <a:latin typeface="楷体_GB2312" pitchFamily="49" charset="-122"/>
                <a:ea typeface="楷体_GB2312" pitchFamily="49" charset="-122"/>
              </a:rPr>
              <a:t>一</a:t>
            </a:r>
            <a:r>
              <a:rPr lang="en-US" altLang="zh-CN" b="1" dirty="0">
                <a:latin typeface="楷体_GB2312" pitchFamily="49" charset="-122"/>
                <a:ea typeface="楷体_GB2312" pitchFamily="49" charset="-122"/>
              </a:rPr>
              <a:t>3</a:t>
            </a:r>
            <a:r>
              <a:rPr lang="zh-CN" altLang="en-US" b="1" dirty="0">
                <a:latin typeface="楷体_GB2312" pitchFamily="49" charset="-122"/>
                <a:ea typeface="楷体_GB2312" pitchFamily="49" charset="-122"/>
              </a:rPr>
              <a:t>倍。</a:t>
            </a:r>
            <a:endParaRPr lang="zh-CN" altLang="en-US" b="1" dirty="0">
              <a:latin typeface="楷体_GB2312" pitchFamily="49" charset="-122"/>
              <a:ea typeface="楷体_GB2312" pitchFamily="49" charset="-122"/>
            </a:endParaRPr>
          </a:p>
          <a:p>
            <a:pPr lvl="1" eaLnBrk="1" hangingPunct="1">
              <a:lnSpc>
                <a:spcPct val="80000"/>
              </a:lnSpc>
            </a:pPr>
            <a:r>
              <a:rPr lang="zh-CN" altLang="en-US" b="1" dirty="0">
                <a:solidFill>
                  <a:srgbClr val="CC3300"/>
                </a:solidFill>
                <a:latin typeface="楷体_GB2312" pitchFamily="49" charset="-122"/>
                <a:ea typeface="楷体_GB2312" pitchFamily="49" charset="-122"/>
              </a:rPr>
              <a:t>操作性能好</a:t>
            </a:r>
            <a:r>
              <a:rPr lang="zh-CN" altLang="en-US" b="1" dirty="0">
                <a:solidFill>
                  <a:srgbClr val="FFFF00"/>
                </a:solidFill>
                <a:latin typeface="楷体_GB2312" pitchFamily="49" charset="-122"/>
                <a:ea typeface="楷体_GB2312" pitchFamily="49" charset="-122"/>
              </a:rPr>
              <a:t>  </a:t>
            </a:r>
            <a:r>
              <a:rPr lang="zh-CN" altLang="en-US" b="1" dirty="0">
                <a:latin typeface="楷体_GB2312" pitchFamily="49" charset="-122"/>
                <a:ea typeface="楷体_GB2312" pitchFamily="49" charset="-122"/>
              </a:rPr>
              <a:t>电弧是明弧，可清楚看到焊接过程。</a:t>
            </a:r>
            <a:endParaRPr lang="zh-CN" altLang="en-US" b="1" dirty="0">
              <a:latin typeface="楷体_GB2312" pitchFamily="49" charset="-122"/>
              <a:ea typeface="楷体_GB2312" pitchFamily="49" charset="-122"/>
            </a:endParaRPr>
          </a:p>
          <a:p>
            <a:pPr lvl="1" eaLnBrk="1" hangingPunct="1">
              <a:lnSpc>
                <a:spcPct val="80000"/>
              </a:lnSpc>
            </a:pPr>
            <a:r>
              <a:rPr lang="zh-CN" altLang="en-US" b="1" dirty="0">
                <a:solidFill>
                  <a:srgbClr val="CC3300"/>
                </a:solidFill>
                <a:latin typeface="楷体_GB2312" pitchFamily="49" charset="-122"/>
                <a:ea typeface="楷体_GB2312" pitchFamily="49" charset="-122"/>
              </a:rPr>
              <a:t>焊接质量较好</a:t>
            </a:r>
            <a:r>
              <a:rPr lang="zh-CN" altLang="en-US" b="1" dirty="0">
                <a:solidFill>
                  <a:srgbClr val="FFFF00"/>
                </a:solidFill>
                <a:latin typeface="楷体_GB2312" pitchFamily="49" charset="-122"/>
                <a:ea typeface="楷体_GB2312" pitchFamily="49" charset="-122"/>
              </a:rPr>
              <a:t>  </a:t>
            </a:r>
            <a:r>
              <a:rPr lang="zh-CN" altLang="en-US" b="1" dirty="0">
                <a:latin typeface="楷体_GB2312" pitchFamily="49" charset="-122"/>
                <a:ea typeface="楷体_GB2312" pitchFamily="49" charset="-122"/>
              </a:rPr>
              <a:t>电弧在气流压缩下燃烧，热量集中，热影响区较小，变形和开裂倾向也小。</a:t>
            </a:r>
            <a:endParaRPr lang="zh-CN" altLang="en-US" b="1" dirty="0">
              <a:latin typeface="楷体_GB2312" pitchFamily="49" charset="-122"/>
              <a:ea typeface="楷体_GB2312" pitchFamily="49" charset="-122"/>
            </a:endParaRPr>
          </a:p>
          <a:p>
            <a:pPr lvl="1" eaLnBrk="1" hangingPunct="1">
              <a:lnSpc>
                <a:spcPct val="80000"/>
              </a:lnSpc>
            </a:pPr>
            <a:r>
              <a:rPr lang="zh-CN" altLang="en-US" b="1" dirty="0">
                <a:solidFill>
                  <a:srgbClr val="CC3300"/>
                </a:solidFill>
                <a:latin typeface="楷体_GB2312" pitchFamily="49" charset="-122"/>
                <a:ea typeface="楷体_GB2312" pitchFamily="49" charset="-122"/>
              </a:rPr>
              <a:t>焊缝成形差</a:t>
            </a:r>
            <a:r>
              <a:rPr lang="zh-CN" altLang="en-US" b="1" dirty="0">
                <a:solidFill>
                  <a:srgbClr val="FFFF00"/>
                </a:solidFill>
                <a:latin typeface="楷体_GB2312" pitchFamily="49" charset="-122"/>
                <a:ea typeface="楷体_GB2312" pitchFamily="49" charset="-122"/>
              </a:rPr>
              <a:t>  </a:t>
            </a:r>
            <a:r>
              <a:rPr lang="zh-CN" altLang="en-US" b="1" dirty="0">
                <a:latin typeface="楷体_GB2312" pitchFamily="49" charset="-122"/>
                <a:ea typeface="楷体_GB2312" pitchFamily="49" charset="-122"/>
              </a:rPr>
              <a:t>飞溅大。烟雾较大，控制不当易产生气孔。</a:t>
            </a:r>
            <a:endParaRPr lang="zh-CN" altLang="en-US" b="1" dirty="0">
              <a:latin typeface="楷体_GB2312" pitchFamily="49" charset="-122"/>
              <a:ea typeface="楷体_GB2312" pitchFamily="49" charset="-122"/>
            </a:endParaRPr>
          </a:p>
          <a:p>
            <a:pPr lvl="1" eaLnBrk="1" hangingPunct="1">
              <a:lnSpc>
                <a:spcPct val="80000"/>
              </a:lnSpc>
            </a:pPr>
            <a:r>
              <a:rPr lang="zh-CN" altLang="en-US" b="1" dirty="0">
                <a:solidFill>
                  <a:srgbClr val="CC3300"/>
                </a:solidFill>
                <a:latin typeface="楷体_GB2312" pitchFamily="49" charset="-122"/>
                <a:ea typeface="楷体_GB2312" pitchFamily="49" charset="-122"/>
              </a:rPr>
              <a:t>设备使用和维修不便</a:t>
            </a:r>
            <a:r>
              <a:rPr lang="zh-CN" altLang="en-US" b="1" dirty="0">
                <a:solidFill>
                  <a:srgbClr val="FFFF00"/>
                </a:solidFill>
                <a:latin typeface="楷体_GB2312" pitchFamily="49" charset="-122"/>
                <a:ea typeface="楷体_GB2312" pitchFamily="49" charset="-122"/>
              </a:rPr>
              <a:t>  </a:t>
            </a:r>
            <a:r>
              <a:rPr lang="zh-CN" altLang="en-US" b="1" dirty="0">
                <a:latin typeface="楷体_GB2312" pitchFamily="49" charset="-122"/>
                <a:ea typeface="楷体_GB2312" pitchFamily="49" charset="-122"/>
              </a:rPr>
              <a:t>送丝机构容易出故障，需要经常维修。</a:t>
            </a:r>
            <a:endParaRPr lang="zh-CN" altLang="en-US" b="1" dirty="0">
              <a:latin typeface="楷体_GB2312" pitchFamily="49" charset="-122"/>
              <a:ea typeface="楷体_GB2312" pitchFamily="49" charset="-122"/>
            </a:endParaRPr>
          </a:p>
          <a:p>
            <a:pPr eaLnBrk="1" hangingPunct="1">
              <a:lnSpc>
                <a:spcPct val="80000"/>
              </a:lnSpc>
              <a:buNone/>
            </a:pPr>
            <a:endParaRPr lang="en-US" altLang="zh-CN" sz="2400" b="1" dirty="0">
              <a:latin typeface="宋体" panose="02010600030101010101" pitchFamily="2"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Rectangle 2"/>
          <p:cNvSpPr/>
          <p:nvPr/>
        </p:nvSpPr>
        <p:spPr>
          <a:xfrm>
            <a:off x="3271838" y="381000"/>
            <a:ext cx="5548312" cy="701675"/>
          </a:xfrm>
          <a:prstGeom prst="rect">
            <a:avLst/>
          </a:prstGeom>
          <a:noFill/>
          <a:ln w="9525">
            <a:noFill/>
          </a:ln>
        </p:spPr>
        <p:txBody>
          <a:bodyPr>
            <a:spAutoFit/>
          </a:bodyPr>
          <a:p>
            <a:pPr eaLnBrk="1" hangingPunct="1"/>
            <a:r>
              <a:rPr lang="zh-CN" altLang="en-US" sz="4000" b="1" dirty="0">
                <a:latin typeface="GreekS" pitchFamily="2" charset="0"/>
                <a:ea typeface="楷体_GB2312" pitchFamily="49" charset="-122"/>
              </a:rPr>
              <a:t>等离子弧焊接与切割</a:t>
            </a:r>
            <a:endParaRPr lang="zh-CN" altLang="en-US" sz="4000" b="1" dirty="0">
              <a:latin typeface="GreekS" pitchFamily="2" charset="0"/>
              <a:ea typeface="楷体_GB2312" pitchFamily="49" charset="-122"/>
            </a:endParaRPr>
          </a:p>
        </p:txBody>
      </p:sp>
      <p:grpSp>
        <p:nvGrpSpPr>
          <p:cNvPr id="59395" name="Group 3"/>
          <p:cNvGrpSpPr/>
          <p:nvPr/>
        </p:nvGrpSpPr>
        <p:grpSpPr>
          <a:xfrm>
            <a:off x="895350" y="1560513"/>
            <a:ext cx="6989763" cy="5073650"/>
            <a:chOff x="564" y="983"/>
            <a:chExt cx="4403" cy="3196"/>
          </a:xfrm>
        </p:grpSpPr>
        <p:pic>
          <p:nvPicPr>
            <p:cNvPr id="59397" name="Picture 4" descr="5-12"/>
            <p:cNvPicPr>
              <a:picLocks noChangeAspect="1"/>
            </p:cNvPicPr>
            <p:nvPr/>
          </p:nvPicPr>
          <p:blipFill>
            <a:blip r:embed="rId1">
              <a:lum contrast="42000"/>
            </a:blip>
            <a:stretch>
              <a:fillRect/>
            </a:stretch>
          </p:blipFill>
          <p:spPr>
            <a:xfrm>
              <a:off x="564" y="983"/>
              <a:ext cx="4403" cy="3006"/>
            </a:xfrm>
            <a:prstGeom prst="rect">
              <a:avLst/>
            </a:prstGeom>
            <a:noFill/>
            <a:ln w="9525">
              <a:noFill/>
            </a:ln>
          </p:spPr>
        </p:pic>
        <p:sp>
          <p:nvSpPr>
            <p:cNvPr id="59398" name="Rectangle 5"/>
            <p:cNvSpPr/>
            <p:nvPr/>
          </p:nvSpPr>
          <p:spPr>
            <a:xfrm>
              <a:off x="567" y="3929"/>
              <a:ext cx="4400" cy="250"/>
            </a:xfrm>
            <a:prstGeom prst="rect">
              <a:avLst/>
            </a:prstGeom>
            <a:solidFill>
              <a:srgbClr val="FFFFFF"/>
            </a:solidFill>
            <a:ln w="9525">
              <a:noFill/>
            </a:ln>
          </p:spPr>
          <p:txBody>
            <a:bodyPr>
              <a:spAutoFit/>
            </a:bodyPr>
            <a:p>
              <a:pPr eaLnBrk="1" hangingPunct="1"/>
              <a:r>
                <a:rPr lang="en-US" altLang="zh-CN" sz="2000" b="1" dirty="0">
                  <a:solidFill>
                    <a:srgbClr val="000000"/>
                  </a:solidFill>
                  <a:latin typeface="楷体_GB2312" pitchFamily="49" charset="-122"/>
                  <a:ea typeface="楷体_GB2312" pitchFamily="49" charset="-122"/>
                </a:rPr>
                <a:t>            </a:t>
              </a:r>
              <a:r>
                <a:rPr lang="zh-CN" altLang="en-US" sz="2000" b="1" dirty="0">
                  <a:solidFill>
                    <a:srgbClr val="000000"/>
                  </a:solidFill>
                  <a:latin typeface="楷体_GB2312" pitchFamily="49" charset="-122"/>
                  <a:ea typeface="楷体_GB2312" pitchFamily="49" charset="-122"/>
                </a:rPr>
                <a:t>图</a:t>
              </a:r>
              <a:r>
                <a:rPr lang="en-US" altLang="zh-CN" sz="2000" b="1" dirty="0">
                  <a:solidFill>
                    <a:srgbClr val="000000"/>
                  </a:solidFill>
                  <a:latin typeface="楷体_GB2312" pitchFamily="49" charset="-122"/>
                  <a:ea typeface="楷体_GB2312" pitchFamily="49" charset="-122"/>
                </a:rPr>
                <a:t>4-22</a:t>
              </a:r>
              <a:r>
                <a:rPr lang="zh-CN" altLang="en-US" sz="2000" b="1" dirty="0">
                  <a:solidFill>
                    <a:srgbClr val="000000"/>
                  </a:solidFill>
                  <a:latin typeface="楷体_GB2312" pitchFamily="49" charset="-122"/>
                  <a:ea typeface="楷体_GB2312" pitchFamily="49" charset="-122"/>
                </a:rPr>
                <a:t>离子电弧发生装置原理</a:t>
              </a:r>
              <a:endParaRPr lang="zh-CN" altLang="en-US" sz="2000" b="1" dirty="0">
                <a:solidFill>
                  <a:srgbClr val="000000"/>
                </a:solidFill>
                <a:latin typeface="楷体_GB2312" pitchFamily="49" charset="-122"/>
                <a:ea typeface="楷体_GB2312" pitchFamily="49" charset="-122"/>
              </a:endParaRPr>
            </a:p>
          </p:txBody>
        </p:sp>
      </p:grpSp>
      <p:sp>
        <p:nvSpPr>
          <p:cNvPr id="59396" name="矩形 1"/>
          <p:cNvSpPr/>
          <p:nvPr/>
        </p:nvSpPr>
        <p:spPr>
          <a:xfrm>
            <a:off x="1071563" y="1071563"/>
            <a:ext cx="7632700" cy="523875"/>
          </a:xfrm>
          <a:prstGeom prst="rect">
            <a:avLst/>
          </a:prstGeom>
          <a:noFill/>
          <a:ln w="9525">
            <a:noFill/>
          </a:ln>
        </p:spPr>
        <p:txBody>
          <a:bodyPr wrap="none">
            <a:spAutoFit/>
          </a:bodyPr>
          <a:p>
            <a:r>
              <a:rPr lang="en-US" altLang="zh-CN" sz="2800" dirty="0">
                <a:latin typeface="Arial" panose="020B0604020202020204" pitchFamily="34" charset="0"/>
                <a:hlinkClick r:id="rId2"/>
              </a:rPr>
              <a:t>https://v.qq.com/x/page/o0388k18jg7.html</a:t>
            </a:r>
            <a:r>
              <a:rPr lang="en-US" altLang="zh-CN" sz="2800" dirty="0">
                <a:latin typeface="Arial" panose="020B0604020202020204" pitchFamily="34" charset="0"/>
              </a:rPr>
              <a:t> </a:t>
            </a:r>
            <a:r>
              <a:rPr lang="zh-CN" altLang="en-US" sz="2800" dirty="0">
                <a:latin typeface="Arial" panose="020B0604020202020204" pitchFamily="34" charset="0"/>
              </a:rPr>
              <a:t>讲解</a:t>
            </a:r>
            <a:endParaRPr lang="zh-CN" altLang="en-US" sz="2800" dirty="0">
              <a:latin typeface="Arial" panose="020B0604020202020204" pitchFamily="34"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Rectangle 2"/>
          <p:cNvSpPr/>
          <p:nvPr/>
        </p:nvSpPr>
        <p:spPr>
          <a:xfrm>
            <a:off x="3271838" y="381000"/>
            <a:ext cx="5548312" cy="701675"/>
          </a:xfrm>
          <a:prstGeom prst="rect">
            <a:avLst/>
          </a:prstGeom>
          <a:noFill/>
          <a:ln w="9525">
            <a:noFill/>
          </a:ln>
        </p:spPr>
        <p:txBody>
          <a:bodyPr>
            <a:spAutoFit/>
          </a:bodyPr>
          <a:p>
            <a:pPr eaLnBrk="1" hangingPunct="1"/>
            <a:r>
              <a:rPr lang="zh-CN" altLang="en-US" sz="4000" b="1" dirty="0">
                <a:latin typeface="GreekS" pitchFamily="2" charset="0"/>
                <a:ea typeface="楷体_GB2312" pitchFamily="49" charset="-122"/>
              </a:rPr>
              <a:t>等离子弧焊接与切割</a:t>
            </a:r>
            <a:endParaRPr lang="zh-CN" altLang="en-US" sz="4000" b="1" dirty="0">
              <a:latin typeface="GreekS" pitchFamily="2" charset="0"/>
              <a:ea typeface="楷体_GB2312" pitchFamily="49" charset="-122"/>
            </a:endParaRPr>
          </a:p>
        </p:txBody>
      </p:sp>
      <p:sp>
        <p:nvSpPr>
          <p:cNvPr id="60419" name="Text Box 8"/>
          <p:cNvSpPr txBox="1"/>
          <p:nvPr/>
        </p:nvSpPr>
        <p:spPr>
          <a:xfrm>
            <a:off x="539750" y="1557338"/>
            <a:ext cx="7632700" cy="519112"/>
          </a:xfrm>
          <a:prstGeom prst="rect">
            <a:avLst/>
          </a:prstGeom>
          <a:noFill/>
          <a:ln w="9525">
            <a:noFill/>
          </a:ln>
        </p:spPr>
        <p:txBody>
          <a:bodyPr>
            <a:spAutoFit/>
          </a:bodyPr>
          <a:p>
            <a:pPr eaLnBrk="1" hangingPunct="1">
              <a:buFont typeface="Wingdings" panose="05000000000000000000" pitchFamily="2" charset="2"/>
              <a:buChar char="p"/>
            </a:pPr>
            <a:r>
              <a:rPr lang="zh-CN" altLang="en-US" sz="2800" b="1" dirty="0">
                <a:latin typeface="Arial" panose="020B0604020202020204" pitchFamily="34" charset="0"/>
                <a:ea typeface="楷体_GB2312" pitchFamily="49" charset="-122"/>
              </a:rPr>
              <a:t>等离子弧焊接与切割视频</a:t>
            </a:r>
            <a:endParaRPr lang="zh-CN" altLang="en-US" sz="2800" b="1" dirty="0">
              <a:latin typeface="Arial" panose="020B0604020202020204" pitchFamily="34" charset="0"/>
              <a:ea typeface="楷体_GB2312" pitchFamily="49" charset="-122"/>
            </a:endParaRPr>
          </a:p>
        </p:txBody>
      </p:sp>
      <p:sp>
        <p:nvSpPr>
          <p:cNvPr id="60420" name="矩形 1"/>
          <p:cNvSpPr/>
          <p:nvPr/>
        </p:nvSpPr>
        <p:spPr>
          <a:xfrm>
            <a:off x="1116013" y="2420938"/>
            <a:ext cx="7632700" cy="523875"/>
          </a:xfrm>
          <a:prstGeom prst="rect">
            <a:avLst/>
          </a:prstGeom>
          <a:noFill/>
          <a:ln w="9525">
            <a:noFill/>
          </a:ln>
        </p:spPr>
        <p:txBody>
          <a:bodyPr wrap="none">
            <a:spAutoFit/>
          </a:bodyPr>
          <a:p>
            <a:r>
              <a:rPr lang="en-US" altLang="zh-CN" sz="2800" dirty="0">
                <a:latin typeface="Arial" panose="020B0604020202020204" pitchFamily="34" charset="0"/>
                <a:hlinkClick r:id="rId1"/>
              </a:rPr>
              <a:t>https://v.qq.com/x/page/o0388k18jg7.html</a:t>
            </a:r>
            <a:r>
              <a:rPr lang="en-US" altLang="zh-CN" sz="2800" dirty="0">
                <a:latin typeface="Arial" panose="020B0604020202020204" pitchFamily="34" charset="0"/>
              </a:rPr>
              <a:t> </a:t>
            </a:r>
            <a:r>
              <a:rPr lang="zh-CN" altLang="en-US" sz="2800" dirty="0">
                <a:latin typeface="Arial" panose="020B0604020202020204" pitchFamily="34" charset="0"/>
              </a:rPr>
              <a:t>讲解</a:t>
            </a:r>
            <a:endParaRPr lang="zh-CN" altLang="en-US" sz="2800" dirty="0">
              <a:latin typeface="Arial" panose="020B0604020202020204" pitchFamily="34" charset="0"/>
            </a:endParaRPr>
          </a:p>
        </p:txBody>
      </p:sp>
      <p:sp>
        <p:nvSpPr>
          <p:cNvPr id="60421" name="矩形 2"/>
          <p:cNvSpPr/>
          <p:nvPr/>
        </p:nvSpPr>
        <p:spPr>
          <a:xfrm>
            <a:off x="1547813" y="3289300"/>
            <a:ext cx="6173787" cy="460375"/>
          </a:xfrm>
          <a:prstGeom prst="rect">
            <a:avLst/>
          </a:prstGeom>
          <a:noFill/>
          <a:ln w="9525">
            <a:noFill/>
          </a:ln>
        </p:spPr>
        <p:txBody>
          <a:bodyPr wrap="none">
            <a:spAutoFit/>
          </a:bodyPr>
          <a:p>
            <a:r>
              <a:rPr lang="en-US" altLang="zh-CN" sz="2400" dirty="0">
                <a:latin typeface="Arial" panose="020B0604020202020204" pitchFamily="34" charset="0"/>
                <a:hlinkClick r:id="rId2"/>
              </a:rPr>
              <a:t>http://www.iqiyi.com/w_19ruhe3zit.html</a:t>
            </a:r>
            <a:r>
              <a:rPr lang="en-US" altLang="zh-CN" sz="2400" dirty="0">
                <a:latin typeface="Arial" panose="020B0604020202020204" pitchFamily="34" charset="0"/>
              </a:rPr>
              <a:t> </a:t>
            </a:r>
            <a:r>
              <a:rPr lang="zh-CN" altLang="en-US" sz="2400" dirty="0">
                <a:latin typeface="Arial" panose="020B0604020202020204" pitchFamily="34" charset="0"/>
              </a:rPr>
              <a:t>实例</a:t>
            </a:r>
            <a:endParaRPr lang="zh-CN" altLang="en-US" sz="2400" dirty="0">
              <a:latin typeface="Arial" panose="020B0604020202020204" pitchFamily="34"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Rectangle 5"/>
          <p:cNvSpPr/>
          <p:nvPr/>
        </p:nvSpPr>
        <p:spPr>
          <a:xfrm>
            <a:off x="3271838" y="381000"/>
            <a:ext cx="5548312" cy="701675"/>
          </a:xfrm>
          <a:prstGeom prst="rect">
            <a:avLst/>
          </a:prstGeom>
          <a:noFill/>
          <a:ln w="9525">
            <a:noFill/>
          </a:ln>
        </p:spPr>
        <p:txBody>
          <a:bodyPr>
            <a:spAutoFit/>
          </a:bodyPr>
          <a:p>
            <a:pPr eaLnBrk="1" hangingPunct="1"/>
            <a:r>
              <a:rPr lang="zh-CN" altLang="en-US" sz="4000" b="1" dirty="0">
                <a:latin typeface="GreekS" pitchFamily="2" charset="0"/>
                <a:ea typeface="楷体_GB2312" pitchFamily="49" charset="-122"/>
              </a:rPr>
              <a:t>等离子弧焊接与切割</a:t>
            </a:r>
            <a:endParaRPr lang="zh-CN" altLang="en-US" sz="4000" b="1" dirty="0">
              <a:latin typeface="GreekS" pitchFamily="2" charset="0"/>
              <a:ea typeface="楷体_GB2312" pitchFamily="49" charset="-122"/>
            </a:endParaRPr>
          </a:p>
        </p:txBody>
      </p:sp>
      <p:sp>
        <p:nvSpPr>
          <p:cNvPr id="61443" name="Rectangle 6"/>
          <p:cNvSpPr/>
          <p:nvPr/>
        </p:nvSpPr>
        <p:spPr>
          <a:xfrm>
            <a:off x="250825" y="1557338"/>
            <a:ext cx="4608513" cy="4784725"/>
          </a:xfrm>
          <a:prstGeom prst="rect">
            <a:avLst/>
          </a:prstGeom>
          <a:noFill/>
          <a:ln w="9525">
            <a:noFill/>
          </a:ln>
        </p:spPr>
        <p:txBody>
          <a:bodyPr>
            <a:spAutoFit/>
          </a:bodyPr>
          <a:p>
            <a:pPr marL="342900" indent="-342900" eaLnBrk="1" hangingPunct="1"/>
            <a:r>
              <a:rPr lang="zh-CN" altLang="en-US" sz="2400" b="1" dirty="0">
                <a:solidFill>
                  <a:srgbClr val="FF0000"/>
                </a:solidFill>
                <a:latin typeface="楷体_GB2312" pitchFamily="49" charset="-122"/>
                <a:ea typeface="楷体_GB2312" pitchFamily="49" charset="-122"/>
              </a:rPr>
              <a:t>离子电弧</a:t>
            </a:r>
            <a:r>
              <a:rPr lang="en-US" altLang="zh-CN" sz="2400" b="1" dirty="0">
                <a:latin typeface="楷体_GB2312" pitchFamily="49" charset="-122"/>
                <a:ea typeface="楷体_GB2312" pitchFamily="49" charset="-122"/>
              </a:rPr>
              <a:t>: </a:t>
            </a:r>
            <a:r>
              <a:rPr lang="zh-CN" altLang="en-US" sz="2000" b="1" dirty="0">
                <a:latin typeface="楷体_GB2312" pitchFamily="49" charset="-122"/>
                <a:ea typeface="楷体_GB2312" pitchFamily="49" charset="-122"/>
              </a:rPr>
              <a:t>使自由电弧的弧柱受到压缩，产生温度比自由电弧高得多的等离子弧</a:t>
            </a:r>
            <a:r>
              <a:rPr lang="zh-CN" altLang="en-US" sz="2400" b="1" dirty="0">
                <a:latin typeface="楷体_GB2312" pitchFamily="49" charset="-122"/>
                <a:ea typeface="楷体_GB2312" pitchFamily="49" charset="-122"/>
              </a:rPr>
              <a:t>。</a:t>
            </a:r>
            <a:endParaRPr lang="zh-CN" altLang="en-US" sz="2400" b="1" dirty="0">
              <a:latin typeface="楷体_GB2312" pitchFamily="49" charset="-122"/>
              <a:ea typeface="楷体_GB2312" pitchFamily="49" charset="-122"/>
            </a:endParaRPr>
          </a:p>
          <a:p>
            <a:pPr marL="342900" indent="-342900" eaLnBrk="1" hangingPunct="1"/>
            <a:r>
              <a:rPr lang="en-US" altLang="zh-CN" sz="2000" b="1" dirty="0">
                <a:latin typeface="楷体_GB2312" pitchFamily="49" charset="-122"/>
                <a:ea typeface="楷体_GB2312" pitchFamily="49" charset="-122"/>
              </a:rPr>
              <a:t>(1) </a:t>
            </a:r>
            <a:r>
              <a:rPr lang="zh-CN" altLang="en-US" sz="2000" b="1" dirty="0">
                <a:solidFill>
                  <a:srgbClr val="CC3300"/>
                </a:solidFill>
                <a:latin typeface="楷体_GB2312" pitchFamily="49" charset="-122"/>
                <a:ea typeface="楷体_GB2312" pitchFamily="49" charset="-122"/>
              </a:rPr>
              <a:t>机械压缩效应</a:t>
            </a:r>
            <a:r>
              <a:rPr lang="zh-CN" altLang="en-US" sz="2000" b="1" dirty="0">
                <a:latin typeface="楷体_GB2312" pitchFamily="49" charset="-122"/>
                <a:ea typeface="楷体_GB2312" pitchFamily="49" charset="-122"/>
              </a:rPr>
              <a:t>：经高频振荡使气体产生电离形成的电弧通过喷嘴细孔道，弧柱被强迫压缩。</a:t>
            </a:r>
            <a:endParaRPr lang="zh-CN" altLang="en-US" sz="2000" b="1" dirty="0">
              <a:latin typeface="楷体_GB2312" pitchFamily="49" charset="-122"/>
              <a:ea typeface="楷体_GB2312" pitchFamily="49" charset="-122"/>
            </a:endParaRPr>
          </a:p>
          <a:p>
            <a:pPr marL="342900" indent="-342900" eaLnBrk="1" hangingPunct="1"/>
            <a:r>
              <a:rPr lang="en-US" altLang="zh-CN" sz="2000" b="1" dirty="0">
                <a:latin typeface="楷体_GB2312" pitchFamily="49" charset="-122"/>
                <a:ea typeface="楷体_GB2312" pitchFamily="49" charset="-122"/>
              </a:rPr>
              <a:t>(2) </a:t>
            </a:r>
            <a:r>
              <a:rPr lang="zh-CN" altLang="en-US" sz="2000" b="1" dirty="0">
                <a:solidFill>
                  <a:srgbClr val="CC3300"/>
                </a:solidFill>
                <a:latin typeface="楷体_GB2312" pitchFamily="49" charset="-122"/>
                <a:ea typeface="楷体_GB2312" pitchFamily="49" charset="-122"/>
              </a:rPr>
              <a:t>热压缩效应</a:t>
            </a:r>
            <a:r>
              <a:rPr lang="zh-CN" altLang="en-US" sz="2000" b="1" dirty="0">
                <a:latin typeface="楷体_GB2312" pitchFamily="49" charset="-122"/>
                <a:ea typeface="楷体_GB2312" pitchFamily="49" charset="-122"/>
              </a:rPr>
              <a:t>：是水冷喷嘴以及通入一定压力的冷气（氩气、氮气）使电弧外层冷却，迫使带电粒子流向弧柱中心收缩。</a:t>
            </a:r>
            <a:endParaRPr lang="zh-CN" altLang="en-US" sz="2000" b="1" dirty="0">
              <a:latin typeface="楷体_GB2312" pitchFamily="49" charset="-122"/>
              <a:ea typeface="楷体_GB2312" pitchFamily="49" charset="-122"/>
            </a:endParaRPr>
          </a:p>
          <a:p>
            <a:pPr marL="342900" indent="-342900" eaLnBrk="1" hangingPunct="1"/>
            <a:r>
              <a:rPr lang="en-US" altLang="zh-CN" sz="2000" b="1" dirty="0">
                <a:latin typeface="楷体_GB2312" pitchFamily="49" charset="-122"/>
                <a:ea typeface="楷体_GB2312" pitchFamily="49" charset="-122"/>
              </a:rPr>
              <a:t>(3) </a:t>
            </a:r>
            <a:r>
              <a:rPr lang="zh-CN" altLang="en-US" sz="2000" b="1" dirty="0">
                <a:solidFill>
                  <a:srgbClr val="CC3300"/>
                </a:solidFill>
                <a:latin typeface="楷体_GB2312" pitchFamily="49" charset="-122"/>
                <a:ea typeface="楷体_GB2312" pitchFamily="49" charset="-122"/>
              </a:rPr>
              <a:t>磁压缩效应</a:t>
            </a:r>
            <a:r>
              <a:rPr lang="zh-CN" altLang="en-US" sz="2000" b="1" dirty="0">
                <a:latin typeface="楷体_GB2312" pitchFamily="49" charset="-122"/>
                <a:ea typeface="楷体_GB2312" pitchFamily="49" charset="-122"/>
              </a:rPr>
              <a:t>：是无数根平行导线（带电粒子在弧柱中的运动）所产生的自身磁场，使这些导线相互吸引，电弧被进一步压缩。</a:t>
            </a:r>
            <a:endParaRPr lang="zh-CN" altLang="en-US" sz="2000" b="1" dirty="0">
              <a:latin typeface="楷体_GB2312" pitchFamily="49" charset="-122"/>
              <a:ea typeface="楷体_GB2312" pitchFamily="49" charset="-122"/>
            </a:endParaRPr>
          </a:p>
          <a:p>
            <a:pPr marL="342900" indent="-342900" eaLnBrk="1" hangingPunct="1">
              <a:buClr>
                <a:srgbClr val="CCFFFF"/>
              </a:buClr>
              <a:buFont typeface="Wingdings" panose="05000000000000000000" pitchFamily="2" charset="2"/>
            </a:pPr>
            <a:endParaRPr lang="en-US" altLang="zh-CN" sz="2000" b="1" dirty="0">
              <a:latin typeface="楷体_GB2312" pitchFamily="49" charset="-122"/>
              <a:ea typeface="楷体_GB2312" pitchFamily="49" charset="-122"/>
            </a:endParaRPr>
          </a:p>
        </p:txBody>
      </p:sp>
      <p:sp>
        <p:nvSpPr>
          <p:cNvPr id="830471" name="Rectangle 7"/>
          <p:cNvSpPr/>
          <p:nvPr/>
        </p:nvSpPr>
        <p:spPr>
          <a:xfrm>
            <a:off x="5003800" y="4837113"/>
            <a:ext cx="3816350" cy="1616075"/>
          </a:xfrm>
          <a:prstGeom prst="rect">
            <a:avLst/>
          </a:prstGeom>
          <a:solidFill>
            <a:srgbClr val="CCFFFF"/>
          </a:solidFill>
          <a:ln w="9525">
            <a:noFill/>
          </a:ln>
        </p:spPr>
        <p:txBody>
          <a:bodyPr>
            <a:spAutoFit/>
          </a:bodyPr>
          <a:p>
            <a:pPr eaLnBrk="1" hangingPunct="1"/>
            <a:r>
              <a:rPr lang="zh-CN" altLang="en-US" sz="2000" b="1" dirty="0">
                <a:solidFill>
                  <a:srgbClr val="000000"/>
                </a:solidFill>
                <a:latin typeface="楷体_GB2312" pitchFamily="49" charset="-122"/>
                <a:ea typeface="楷体_GB2312" pitchFamily="49" charset="-122"/>
              </a:rPr>
              <a:t>　　电弧在上述</a:t>
            </a:r>
            <a:r>
              <a:rPr lang="zh-CN" altLang="en-US" sz="2000" b="1" dirty="0">
                <a:solidFill>
                  <a:srgbClr val="FF0000"/>
                </a:solidFill>
                <a:latin typeface="楷体_GB2312" pitchFamily="49" charset="-122"/>
                <a:ea typeface="楷体_GB2312" pitchFamily="49" charset="-122"/>
              </a:rPr>
              <a:t>三种效应</a:t>
            </a:r>
            <a:r>
              <a:rPr lang="zh-CN" altLang="en-US" sz="2000" b="1" dirty="0">
                <a:solidFill>
                  <a:srgbClr val="000000"/>
                </a:solidFill>
                <a:latin typeface="楷体_GB2312" pitchFamily="49" charset="-122"/>
                <a:ea typeface="楷体_GB2312" pitchFamily="49" charset="-122"/>
              </a:rPr>
              <a:t>的作用下，被压缩得</a:t>
            </a:r>
            <a:r>
              <a:rPr lang="zh-CN" altLang="en-US" sz="2000" b="1" dirty="0">
                <a:solidFill>
                  <a:srgbClr val="FF0000"/>
                </a:solidFill>
                <a:latin typeface="楷体_GB2312" pitchFamily="49" charset="-122"/>
                <a:ea typeface="楷体_GB2312" pitchFamily="49" charset="-122"/>
              </a:rPr>
              <a:t>很细，能量高度集中，</a:t>
            </a:r>
            <a:r>
              <a:rPr lang="zh-CN" altLang="en-US" sz="2000" b="1" dirty="0">
                <a:solidFill>
                  <a:srgbClr val="000000"/>
                </a:solidFill>
                <a:latin typeface="楷体_GB2312" pitchFamily="49" charset="-122"/>
                <a:ea typeface="楷体_GB2312" pitchFamily="49" charset="-122"/>
              </a:rPr>
              <a:t>弧柱内的气体完全电离为电子和离子，称为等离子弧，其温度高达</a:t>
            </a:r>
            <a:r>
              <a:rPr lang="en-US" altLang="zh-CN" sz="2000" b="1" dirty="0">
                <a:solidFill>
                  <a:srgbClr val="FF0000"/>
                </a:solidFill>
                <a:latin typeface="楷体_GB2312" pitchFamily="49" charset="-122"/>
                <a:ea typeface="楷体_GB2312" pitchFamily="49" charset="-122"/>
              </a:rPr>
              <a:t>16,000K</a:t>
            </a:r>
            <a:r>
              <a:rPr lang="zh-CN" altLang="en-US" sz="2000" b="1" dirty="0">
                <a:solidFill>
                  <a:srgbClr val="000000"/>
                </a:solidFill>
                <a:latin typeface="楷体_GB2312" pitchFamily="49" charset="-122"/>
                <a:ea typeface="楷体_GB2312" pitchFamily="49" charset="-122"/>
              </a:rPr>
              <a:t>以上。</a:t>
            </a:r>
            <a:endParaRPr lang="zh-CN" altLang="en-US" sz="2000" b="1" dirty="0">
              <a:solidFill>
                <a:srgbClr val="000000"/>
              </a:solidFill>
              <a:latin typeface="楷体_GB2312" pitchFamily="49" charset="-122"/>
              <a:ea typeface="楷体_GB2312" pitchFamily="49" charset="-122"/>
            </a:endParaRPr>
          </a:p>
        </p:txBody>
      </p:sp>
      <p:grpSp>
        <p:nvGrpSpPr>
          <p:cNvPr id="61445" name="Group 16"/>
          <p:cNvGrpSpPr/>
          <p:nvPr/>
        </p:nvGrpSpPr>
        <p:grpSpPr>
          <a:xfrm>
            <a:off x="5467350" y="1416050"/>
            <a:ext cx="2849563" cy="3381375"/>
            <a:chOff x="3172" y="618"/>
            <a:chExt cx="1795" cy="2130"/>
          </a:xfrm>
        </p:grpSpPr>
        <p:pic>
          <p:nvPicPr>
            <p:cNvPr id="61446" name="Picture 13" descr="按此在新窗口浏览图片">
              <a:hlinkClick r:id="rId1"/>
            </p:cNvPr>
            <p:cNvPicPr>
              <a:picLocks noChangeAspect="1"/>
            </p:cNvPicPr>
            <p:nvPr/>
          </p:nvPicPr>
          <p:blipFill>
            <a:blip r:embed="rId2"/>
            <a:stretch>
              <a:fillRect/>
            </a:stretch>
          </p:blipFill>
          <p:spPr>
            <a:xfrm>
              <a:off x="3196" y="618"/>
              <a:ext cx="1680" cy="1920"/>
            </a:xfrm>
            <a:prstGeom prst="rect">
              <a:avLst/>
            </a:prstGeom>
            <a:noFill/>
            <a:ln w="9525">
              <a:noFill/>
            </a:ln>
          </p:spPr>
        </p:pic>
        <p:sp>
          <p:nvSpPr>
            <p:cNvPr id="61447" name="Rectangle 15"/>
            <p:cNvSpPr/>
            <p:nvPr/>
          </p:nvSpPr>
          <p:spPr>
            <a:xfrm>
              <a:off x="3172" y="2536"/>
              <a:ext cx="1795" cy="212"/>
            </a:xfrm>
            <a:prstGeom prst="rect">
              <a:avLst/>
            </a:prstGeom>
            <a:solidFill>
              <a:srgbClr val="FFFFFF"/>
            </a:solidFill>
            <a:ln w="9525">
              <a:noFill/>
            </a:ln>
          </p:spPr>
          <p:txBody>
            <a:bodyPr wrap="none">
              <a:spAutoFit/>
            </a:bodyPr>
            <a:p>
              <a:pPr eaLnBrk="1" hangingPunct="1"/>
              <a:r>
                <a:rPr lang="zh-CN" altLang="en-US" sz="1600" b="1" dirty="0">
                  <a:solidFill>
                    <a:srgbClr val="000000"/>
                  </a:solidFill>
                  <a:latin typeface="楷体_GB2312" pitchFamily="49" charset="-122"/>
                  <a:ea typeface="楷体_GB2312" pitchFamily="49" charset="-122"/>
                </a:rPr>
                <a:t>图</a:t>
              </a:r>
              <a:r>
                <a:rPr lang="en-US" altLang="zh-CN" sz="1600" b="1" dirty="0">
                  <a:solidFill>
                    <a:srgbClr val="000000"/>
                  </a:solidFill>
                  <a:latin typeface="楷体_GB2312" pitchFamily="49" charset="-122"/>
                  <a:ea typeface="楷体_GB2312" pitchFamily="49" charset="-122"/>
                </a:rPr>
                <a:t>4-22</a:t>
              </a:r>
              <a:r>
                <a:rPr lang="zh-CN" altLang="en-US" sz="1600" b="1" dirty="0">
                  <a:solidFill>
                    <a:srgbClr val="000000"/>
                  </a:solidFill>
                  <a:latin typeface="楷体_GB2312" pitchFamily="49" charset="-122"/>
                  <a:ea typeface="楷体_GB2312" pitchFamily="49" charset="-122"/>
                </a:rPr>
                <a:t>离子电弧发生装置原理</a:t>
              </a:r>
              <a:endParaRPr lang="zh-CN" altLang="en-US" sz="1600" b="1" dirty="0">
                <a:solidFill>
                  <a:srgbClr val="000000"/>
                </a:solidFill>
                <a:latin typeface="楷体_GB2312" pitchFamily="49" charset="-122"/>
                <a:ea typeface="楷体_GB2312"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830471">
                                            <p:txEl>
                                              <p:charRg st="0" end="70"/>
                                            </p:txEl>
                                          </p:spTgt>
                                        </p:tgtEl>
                                        <p:attrNameLst>
                                          <p:attrName>style.visibility</p:attrName>
                                        </p:attrNameLst>
                                      </p:cBhvr>
                                      <p:to>
                                        <p:strVal val="visible"/>
                                      </p:to>
                                    </p:set>
                                    <p:animEffect transition="in" filter="diamond(in)">
                                      <p:cBhvr>
                                        <p:cTn id="7" dur="2000"/>
                                        <p:tgtEl>
                                          <p:spTgt spid="830471">
                                            <p:txEl>
                                              <p:charRg st="0" end="7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Rectangle 2"/>
          <p:cNvSpPr/>
          <p:nvPr/>
        </p:nvSpPr>
        <p:spPr>
          <a:xfrm>
            <a:off x="3041650" y="404813"/>
            <a:ext cx="4770438" cy="701675"/>
          </a:xfrm>
          <a:prstGeom prst="rect">
            <a:avLst/>
          </a:prstGeom>
          <a:noFill/>
          <a:ln w="9525">
            <a:noFill/>
          </a:ln>
        </p:spPr>
        <p:txBody>
          <a:bodyPr wrap="none">
            <a:spAutoFit/>
          </a:bodyPr>
          <a:p>
            <a:pPr eaLnBrk="1" hangingPunct="1"/>
            <a:r>
              <a:rPr lang="zh-CN" altLang="en-US" sz="4000" b="1" dirty="0">
                <a:latin typeface="GreekS" pitchFamily="2" charset="0"/>
                <a:ea typeface="楷体_GB2312" pitchFamily="49" charset="-122"/>
              </a:rPr>
              <a:t>等离子弧焊接与切割</a:t>
            </a:r>
            <a:endParaRPr lang="zh-CN" altLang="en-US" sz="4000" b="1" dirty="0">
              <a:latin typeface="GreekS" pitchFamily="2" charset="0"/>
              <a:ea typeface="楷体_GB2312" pitchFamily="49" charset="-122"/>
            </a:endParaRPr>
          </a:p>
        </p:txBody>
      </p:sp>
      <p:sp>
        <p:nvSpPr>
          <p:cNvPr id="62467" name="Rectangle 3"/>
          <p:cNvSpPr/>
          <p:nvPr/>
        </p:nvSpPr>
        <p:spPr>
          <a:xfrm>
            <a:off x="107950" y="1600200"/>
            <a:ext cx="8567738" cy="4838700"/>
          </a:xfrm>
          <a:prstGeom prst="rect">
            <a:avLst/>
          </a:prstGeom>
          <a:noFill/>
          <a:ln w="9525">
            <a:noFill/>
          </a:ln>
        </p:spPr>
        <p:txBody>
          <a:bodyPr>
            <a:spAutoFit/>
          </a:bodyPr>
          <a:p>
            <a:pPr marL="342900" indent="-342900" eaLnBrk="1" hangingPunct="1"/>
            <a:r>
              <a:rPr lang="zh-CN" altLang="en-US" sz="2400" b="1" dirty="0">
                <a:solidFill>
                  <a:srgbClr val="FF0000"/>
                </a:solidFill>
                <a:latin typeface="楷体_GB2312" pitchFamily="49" charset="-122"/>
                <a:ea typeface="楷体_GB2312" pitchFamily="49" charset="-122"/>
              </a:rPr>
              <a:t>离子电弧</a:t>
            </a:r>
            <a:r>
              <a:rPr lang="en-US" altLang="zh-CN" sz="2400" b="1" dirty="0">
                <a:latin typeface="楷体_GB2312" pitchFamily="49" charset="-122"/>
                <a:ea typeface="楷体_GB2312" pitchFamily="49" charset="-122"/>
              </a:rPr>
              <a:t>:</a:t>
            </a:r>
            <a:r>
              <a:rPr lang="en-US" altLang="zh-CN" sz="2000" b="1" dirty="0">
                <a:latin typeface="楷体_GB2312" pitchFamily="49" charset="-122"/>
                <a:ea typeface="楷体_GB2312" pitchFamily="49" charset="-122"/>
              </a:rPr>
              <a:t> </a:t>
            </a:r>
            <a:r>
              <a:rPr lang="zh-CN" altLang="en-US" sz="2400" b="1" dirty="0">
                <a:latin typeface="楷体_GB2312" pitchFamily="49" charset="-122"/>
                <a:ea typeface="楷体_GB2312" pitchFamily="49" charset="-122"/>
              </a:rPr>
              <a:t>离子弧用于切割时，称为等离子弧切割。比氧气切割效率高</a:t>
            </a:r>
            <a:r>
              <a:rPr lang="en-US" altLang="zh-CN" sz="2400" b="1" dirty="0">
                <a:latin typeface="楷体_GB2312" pitchFamily="49" charset="-122"/>
                <a:ea typeface="楷体_GB2312" pitchFamily="49" charset="-122"/>
              </a:rPr>
              <a:t>1</a:t>
            </a:r>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3</a:t>
            </a:r>
            <a:r>
              <a:rPr lang="zh-CN" altLang="en-US" sz="2400" b="1" dirty="0">
                <a:latin typeface="楷体_GB2312" pitchFamily="49" charset="-122"/>
                <a:ea typeface="楷体_GB2312" pitchFamily="49" charset="-122"/>
              </a:rPr>
              <a:t>倍，可以切割不锈钢、铜、铝及其合金、难熔的金属和非金属材料。等离子弧用于焊接时，称为等离子弧焊接。</a:t>
            </a:r>
            <a:endParaRPr lang="zh-CN" altLang="en-US" sz="2400" b="1" dirty="0">
              <a:latin typeface="楷体_GB2312" pitchFamily="49" charset="-122"/>
              <a:ea typeface="楷体_GB2312" pitchFamily="49" charset="-122"/>
            </a:endParaRPr>
          </a:p>
          <a:p>
            <a:pPr marL="342900" indent="-342900" eaLnBrk="1" hangingPunct="1"/>
            <a:r>
              <a:rPr lang="zh-CN" altLang="en-US" sz="2400" b="1" dirty="0">
                <a:solidFill>
                  <a:srgbClr val="CC3300"/>
                </a:solidFill>
                <a:latin typeface="楷体_GB2312" pitchFamily="49" charset="-122"/>
                <a:ea typeface="楷体_GB2312" pitchFamily="49" charset="-122"/>
              </a:rPr>
              <a:t>等离子弧焊特点：</a:t>
            </a:r>
            <a:endParaRPr lang="zh-CN" altLang="en-US" sz="2400" b="1" dirty="0">
              <a:solidFill>
                <a:srgbClr val="CC3300"/>
              </a:solidFill>
              <a:latin typeface="楷体_GB2312" pitchFamily="49" charset="-122"/>
              <a:ea typeface="楷体_GB2312" pitchFamily="49" charset="-122"/>
            </a:endParaRPr>
          </a:p>
          <a:p>
            <a:pPr marL="342900" indent="-342900" eaLnBrk="1" hangingPunct="1"/>
            <a:r>
              <a:rPr lang="en-US" altLang="zh-CN" sz="2400" b="1" dirty="0">
                <a:latin typeface="楷体_GB2312" pitchFamily="49" charset="-122"/>
                <a:ea typeface="楷体_GB2312" pitchFamily="49" charset="-122"/>
              </a:rPr>
              <a:t>(1)</a:t>
            </a:r>
            <a:r>
              <a:rPr lang="zh-CN" altLang="en-US" sz="2400" b="1" dirty="0">
                <a:latin typeface="楷体_GB2312" pitchFamily="49" charset="-122"/>
                <a:ea typeface="楷体_GB2312" pitchFamily="49" charset="-122"/>
              </a:rPr>
              <a:t>等离子弧焊除具有氩弧焊的优点</a:t>
            </a:r>
            <a:r>
              <a:rPr lang="en-US" altLang="zh-CN" sz="2400" b="1" dirty="0">
                <a:latin typeface="楷体_GB2312" pitchFamily="49" charset="-122"/>
                <a:ea typeface="楷体_GB2312" pitchFamily="49" charset="-122"/>
              </a:rPr>
              <a:t>(</a:t>
            </a:r>
            <a:r>
              <a:rPr lang="zh-CN" altLang="en-US" sz="2400" b="1" dirty="0">
                <a:latin typeface="楷体_GB2312" pitchFamily="49" charset="-122"/>
                <a:ea typeface="楷体_GB2312" pitchFamily="49" charset="-122"/>
              </a:rPr>
              <a:t>压缩效应的钨极氩弧焊</a:t>
            </a:r>
            <a:r>
              <a:rPr lang="en-US" altLang="zh-CN" sz="2400" b="1" dirty="0">
                <a:latin typeface="楷体_GB2312" pitchFamily="49" charset="-122"/>
                <a:ea typeface="楷体_GB2312" pitchFamily="49" charset="-122"/>
              </a:rPr>
              <a:t>)</a:t>
            </a:r>
            <a:r>
              <a:rPr lang="zh-CN" altLang="en-US" sz="2400" b="1" dirty="0">
                <a:latin typeface="楷体_GB2312" pitchFamily="49" charset="-122"/>
                <a:ea typeface="楷体_GB2312" pitchFamily="49" charset="-122"/>
              </a:rPr>
              <a:t>。</a:t>
            </a:r>
            <a:endParaRPr lang="zh-CN" altLang="en-US" sz="2400" b="1" dirty="0">
              <a:latin typeface="楷体_GB2312" pitchFamily="49" charset="-122"/>
              <a:ea typeface="楷体_GB2312" pitchFamily="49" charset="-122"/>
            </a:endParaRPr>
          </a:p>
          <a:p>
            <a:pPr marL="342900" indent="-342900" eaLnBrk="1" hangingPunct="1"/>
            <a:r>
              <a:rPr lang="en-US" altLang="zh-CN" sz="2400" b="1" dirty="0">
                <a:latin typeface="楷体_GB2312" pitchFamily="49" charset="-122"/>
                <a:ea typeface="楷体_GB2312" pitchFamily="49" charset="-122"/>
              </a:rPr>
              <a:t>(2)</a:t>
            </a:r>
            <a:r>
              <a:rPr lang="zh-CN" altLang="en-US" sz="2400" b="1" dirty="0">
                <a:latin typeface="楷体_GB2312" pitchFamily="49" charset="-122"/>
                <a:ea typeface="楷体_GB2312" pitchFamily="49" charset="-122"/>
              </a:rPr>
              <a:t>等离子弧能量密度大，弧柱温度高，穿透能力强，因此焊接厚度</a:t>
            </a:r>
            <a:r>
              <a:rPr lang="en-US" altLang="zh-CN" sz="2400" b="1" dirty="0">
                <a:solidFill>
                  <a:srgbClr val="0000FF"/>
                </a:solidFill>
                <a:latin typeface="楷体_GB2312" pitchFamily="49" charset="-122"/>
                <a:ea typeface="楷体_GB2312" pitchFamily="49" charset="-122"/>
              </a:rPr>
              <a:t>10</a:t>
            </a:r>
            <a:r>
              <a:rPr lang="zh-CN" altLang="en-US" sz="2400" b="1" dirty="0">
                <a:solidFill>
                  <a:srgbClr val="0000FF"/>
                </a:solidFill>
                <a:latin typeface="楷体_GB2312" pitchFamily="49" charset="-122"/>
                <a:ea typeface="楷体_GB2312" pitchFamily="49" charset="-122"/>
              </a:rPr>
              <a:t>～</a:t>
            </a:r>
            <a:r>
              <a:rPr lang="en-US" altLang="zh-CN" sz="2400" b="1" dirty="0">
                <a:solidFill>
                  <a:srgbClr val="0000FF"/>
                </a:solidFill>
                <a:latin typeface="楷体_GB2312" pitchFamily="49" charset="-122"/>
                <a:ea typeface="楷体_GB2312" pitchFamily="49" charset="-122"/>
              </a:rPr>
              <a:t>12 mm</a:t>
            </a:r>
            <a:r>
              <a:rPr lang="zh-CN" altLang="en-US" sz="2400" b="1" dirty="0">
                <a:solidFill>
                  <a:srgbClr val="0000FF"/>
                </a:solidFill>
                <a:latin typeface="楷体_GB2312" pitchFamily="49" charset="-122"/>
                <a:ea typeface="楷体_GB2312" pitchFamily="49" charset="-122"/>
              </a:rPr>
              <a:t>的钢材可不开坡口，</a:t>
            </a:r>
            <a:r>
              <a:rPr lang="zh-CN" altLang="en-US" sz="2400" b="1" dirty="0">
                <a:latin typeface="楷体_GB2312" pitchFamily="49" charset="-122"/>
                <a:ea typeface="楷体_GB2312" pitchFamily="49" charset="-122"/>
              </a:rPr>
              <a:t>一次焊透双面成形。等离子弧焊的焊接速度高，</a:t>
            </a:r>
            <a:r>
              <a:rPr lang="zh-CN" altLang="en-US" sz="2400" b="1" dirty="0">
                <a:solidFill>
                  <a:srgbClr val="0000FF"/>
                </a:solidFill>
                <a:latin typeface="楷体_GB2312" pitchFamily="49" charset="-122"/>
                <a:ea typeface="楷体_GB2312" pitchFamily="49" charset="-122"/>
              </a:rPr>
              <a:t>生产率高，焊后的焊缝宽度和高度较均匀一致，焊缝表面光洁。</a:t>
            </a:r>
            <a:endParaRPr lang="zh-CN" altLang="en-US" sz="2400" b="1" dirty="0">
              <a:solidFill>
                <a:srgbClr val="0000FF"/>
              </a:solidFill>
              <a:latin typeface="楷体_GB2312" pitchFamily="49" charset="-122"/>
              <a:ea typeface="楷体_GB2312" pitchFamily="49" charset="-122"/>
            </a:endParaRPr>
          </a:p>
          <a:p>
            <a:pPr marL="342900" indent="-342900" eaLnBrk="1" hangingPunct="1"/>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3</a:t>
            </a:r>
            <a:r>
              <a:rPr lang="zh-CN" altLang="en-US" sz="2400" b="1" dirty="0">
                <a:latin typeface="楷体_GB2312" pitchFamily="49" charset="-122"/>
                <a:ea typeface="楷体_GB2312" pitchFamily="49" charset="-122"/>
              </a:rPr>
              <a:t>）当</a:t>
            </a:r>
            <a:r>
              <a:rPr lang="zh-CN" altLang="en-US" sz="2400" b="1" dirty="0">
                <a:solidFill>
                  <a:srgbClr val="0000FF"/>
                </a:solidFill>
                <a:latin typeface="楷体_GB2312" pitchFamily="49" charset="-122"/>
                <a:ea typeface="楷体_GB2312" pitchFamily="49" charset="-122"/>
              </a:rPr>
              <a:t>电流小到</a:t>
            </a:r>
            <a:r>
              <a:rPr lang="en-US" altLang="zh-CN" sz="2400" b="1" dirty="0">
                <a:solidFill>
                  <a:srgbClr val="0000FF"/>
                </a:solidFill>
                <a:latin typeface="楷体_GB2312" pitchFamily="49" charset="-122"/>
                <a:ea typeface="楷体_GB2312" pitchFamily="49" charset="-122"/>
              </a:rPr>
              <a:t>0.1A </a:t>
            </a:r>
            <a:r>
              <a:rPr lang="zh-CN" altLang="en-US" sz="2400" b="1" dirty="0">
                <a:solidFill>
                  <a:srgbClr val="0000FF"/>
                </a:solidFill>
                <a:latin typeface="楷体_GB2312" pitchFamily="49" charset="-122"/>
                <a:ea typeface="楷体_GB2312" pitchFamily="49" charset="-122"/>
              </a:rPr>
              <a:t>时，</a:t>
            </a:r>
            <a:r>
              <a:rPr lang="zh-CN" altLang="en-US" sz="2400" b="1" dirty="0">
                <a:latin typeface="楷体_GB2312" pitchFamily="49" charset="-122"/>
                <a:ea typeface="楷体_GB2312" pitchFamily="49" charset="-122"/>
              </a:rPr>
              <a:t>电弧仍能稳定燃烧，并保持</a:t>
            </a:r>
            <a:r>
              <a:rPr lang="zh-CN" altLang="en-US" sz="2400" b="1" dirty="0">
                <a:solidFill>
                  <a:srgbClr val="0000FF"/>
                </a:solidFill>
                <a:latin typeface="楷体_GB2312" pitchFamily="49" charset="-122"/>
                <a:ea typeface="楷体_GB2312" pitchFamily="49" charset="-122"/>
              </a:rPr>
              <a:t>良好的挺直度和方向性，</a:t>
            </a:r>
            <a:r>
              <a:rPr lang="zh-CN" altLang="en-US" sz="2400" b="1" dirty="0">
                <a:latin typeface="楷体_GB2312" pitchFamily="49" charset="-122"/>
                <a:ea typeface="楷体_GB2312" pitchFamily="49" charset="-122"/>
              </a:rPr>
              <a:t>故等离子弧焊可焊接很薄的箔材。</a:t>
            </a:r>
            <a:endParaRPr lang="zh-CN" altLang="en-US" sz="2400" b="1" dirty="0">
              <a:latin typeface="楷体_GB2312" pitchFamily="49" charset="-122"/>
              <a:ea typeface="楷体_GB2312" pitchFamily="49" charset="-122"/>
            </a:endParaRPr>
          </a:p>
          <a:p>
            <a:pPr marL="342900" indent="-342900" eaLnBrk="1" hangingPunct="1">
              <a:buClr>
                <a:srgbClr val="CCFFFF"/>
              </a:buClr>
              <a:buFont typeface="Wingdings" panose="05000000000000000000" pitchFamily="2" charset="2"/>
            </a:pPr>
            <a:endParaRPr lang="en-US" altLang="zh-CN" sz="2400" b="1" dirty="0">
              <a:latin typeface="宋体" panose="02010600030101010101" pitchFamily="2"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Rectangle 2"/>
          <p:cNvSpPr>
            <a:spLocks noGrp="1"/>
          </p:cNvSpPr>
          <p:nvPr>
            <p:ph type="title"/>
          </p:nvPr>
        </p:nvSpPr>
        <p:spPr>
          <a:xfrm>
            <a:off x="2735263" y="90488"/>
            <a:ext cx="6229350" cy="1190625"/>
          </a:xfrm>
        </p:spPr>
        <p:txBody>
          <a:bodyPr vert="horz" wrap="square" lIns="91440" tIns="45720" rIns="91440" bIns="45720" anchor="ctr" anchorCtr="0"/>
          <a:p>
            <a:pPr eaLnBrk="1" hangingPunct="1"/>
            <a:r>
              <a:rPr lang="zh-CN" altLang="en-US" dirty="0">
                <a:ea typeface="楷体_GB2312" pitchFamily="49" charset="-122"/>
              </a:rPr>
              <a:t>微型计算机在电弧焊中的应用</a:t>
            </a:r>
            <a:endParaRPr lang="zh-CN" altLang="en-US" dirty="0">
              <a:ea typeface="楷体_GB2312" pitchFamily="49" charset="-122"/>
            </a:endParaRPr>
          </a:p>
        </p:txBody>
      </p:sp>
      <p:sp>
        <p:nvSpPr>
          <p:cNvPr id="63491" name="Rectangle 6"/>
          <p:cNvSpPr/>
          <p:nvPr/>
        </p:nvSpPr>
        <p:spPr>
          <a:xfrm>
            <a:off x="107950" y="1484313"/>
            <a:ext cx="4235450" cy="4778375"/>
          </a:xfrm>
          <a:prstGeom prst="rect">
            <a:avLst/>
          </a:prstGeom>
          <a:noFill/>
          <a:ln w="9525">
            <a:noFill/>
          </a:ln>
        </p:spPr>
        <p:txBody>
          <a:bodyPr>
            <a:spAutoFit/>
          </a:bodyPr>
          <a:p>
            <a:pPr eaLnBrk="1" hangingPunct="1">
              <a:buClr>
                <a:srgbClr val="FF0000"/>
              </a:buClr>
              <a:buFont typeface="Wingdings" panose="05000000000000000000" pitchFamily="2" charset="2"/>
              <a:buChar char="Ø"/>
            </a:pPr>
            <a:r>
              <a:rPr lang="zh-CN" altLang="en-US" sz="2400" b="1" dirty="0">
                <a:solidFill>
                  <a:srgbClr val="CC3300"/>
                </a:solidFill>
                <a:latin typeface="楷体_GB2312" pitchFamily="49" charset="-122"/>
                <a:ea typeface="楷体_GB2312" pitchFamily="49" charset="-122"/>
              </a:rPr>
              <a:t>利用微型计算机</a:t>
            </a:r>
            <a:r>
              <a:rPr lang="zh-CN" altLang="en-US" sz="2400" b="1" dirty="0">
                <a:latin typeface="楷体_GB2312" pitchFamily="49" charset="-122"/>
                <a:ea typeface="楷体_GB2312" pitchFamily="49" charset="-122"/>
              </a:rPr>
              <a:t>可以对焊接电流、电压、焊接速度、气体流量和压力等</a:t>
            </a:r>
            <a:r>
              <a:rPr lang="zh-CN" altLang="en-US" sz="2400" b="1" dirty="0">
                <a:solidFill>
                  <a:srgbClr val="0000FF"/>
                </a:solidFill>
                <a:latin typeface="楷体_GB2312" pitchFamily="49" charset="-122"/>
                <a:ea typeface="楷体_GB2312" pitchFamily="49" charset="-122"/>
              </a:rPr>
              <a:t>参数进行快速综合运算分析和控制</a:t>
            </a:r>
            <a:r>
              <a:rPr lang="zh-CN" altLang="en-US" sz="2400" b="1" dirty="0">
                <a:latin typeface="楷体_GB2312" pitchFamily="49" charset="-122"/>
                <a:ea typeface="楷体_GB2312" pitchFamily="49" charset="-122"/>
              </a:rPr>
              <a:t>，也可对各种焊接过程的数据进行</a:t>
            </a:r>
            <a:r>
              <a:rPr lang="zh-CN" altLang="en-US" sz="2400" b="1" dirty="0">
                <a:solidFill>
                  <a:srgbClr val="0000FF"/>
                </a:solidFill>
                <a:latin typeface="楷体_GB2312" pitchFamily="49" charset="-122"/>
                <a:ea typeface="楷体_GB2312" pitchFamily="49" charset="-122"/>
              </a:rPr>
              <a:t>数理统计分析，</a:t>
            </a:r>
            <a:r>
              <a:rPr lang="zh-CN" altLang="en-US" sz="2400" b="1" dirty="0">
                <a:latin typeface="楷体_GB2312" pitchFamily="49" charset="-122"/>
                <a:ea typeface="楷体_GB2312" pitchFamily="49" charset="-122"/>
              </a:rPr>
              <a:t>并已</a:t>
            </a:r>
            <a:r>
              <a:rPr lang="zh-CN" altLang="en-US" sz="2400" b="1" dirty="0">
                <a:solidFill>
                  <a:srgbClr val="000000"/>
                </a:solidFill>
                <a:latin typeface="楷体_GB2312" pitchFamily="49" charset="-122"/>
                <a:ea typeface="楷体_GB2312" pitchFamily="49" charset="-122"/>
              </a:rPr>
              <a:t>总结</a:t>
            </a:r>
            <a:r>
              <a:rPr lang="zh-CN" altLang="en-US" sz="2400" b="1" dirty="0">
                <a:latin typeface="楷体_GB2312" pitchFamily="49" charset="-122"/>
                <a:ea typeface="楷体_GB2312" pitchFamily="49" charset="-122"/>
              </a:rPr>
              <a:t>出焊接不同材料。不同板厚的</a:t>
            </a:r>
            <a:r>
              <a:rPr lang="zh-CN" altLang="en-US" sz="2400" b="1" dirty="0">
                <a:solidFill>
                  <a:srgbClr val="0000FF"/>
                </a:solidFill>
                <a:latin typeface="楷体_GB2312" pitchFamily="49" charset="-122"/>
                <a:ea typeface="楷体_GB2312" pitchFamily="49" charset="-122"/>
              </a:rPr>
              <a:t>最佳参数方程与图表。</a:t>
            </a:r>
            <a:endParaRPr lang="zh-CN" altLang="en-US" sz="2400" b="1" dirty="0">
              <a:solidFill>
                <a:srgbClr val="0000FF"/>
              </a:solidFill>
              <a:latin typeface="楷体_GB2312" pitchFamily="49" charset="-122"/>
              <a:ea typeface="楷体_GB2312" pitchFamily="49" charset="-122"/>
            </a:endParaRPr>
          </a:p>
          <a:p>
            <a:pPr eaLnBrk="1" hangingPunct="1"/>
            <a:endParaRPr lang="zh-CN" altLang="en-US" sz="2000" b="1" dirty="0">
              <a:solidFill>
                <a:srgbClr val="008000"/>
              </a:solidFill>
              <a:latin typeface="楷体_GB2312" pitchFamily="49" charset="-122"/>
              <a:ea typeface="楷体_GB2312" pitchFamily="49" charset="-122"/>
            </a:endParaRPr>
          </a:p>
          <a:p>
            <a:pPr eaLnBrk="1" hangingPunct="1"/>
            <a:r>
              <a:rPr lang="zh-CN" altLang="en-US" sz="2400" b="1" dirty="0">
                <a:solidFill>
                  <a:srgbClr val="FF0000"/>
                </a:solidFill>
                <a:latin typeface="楷体_GB2312" pitchFamily="49" charset="-122"/>
                <a:ea typeface="楷体_GB2312" pitchFamily="49" charset="-122"/>
              </a:rPr>
              <a:t>功能</a:t>
            </a:r>
            <a:r>
              <a:rPr lang="en-US" altLang="zh-CN" sz="2400" b="1" dirty="0">
                <a:solidFill>
                  <a:srgbClr val="FF0000"/>
                </a:solidFill>
                <a:latin typeface="楷体_GB2312" pitchFamily="49" charset="-122"/>
                <a:ea typeface="楷体_GB2312" pitchFamily="49" charset="-122"/>
              </a:rPr>
              <a:t>:</a:t>
            </a:r>
            <a:r>
              <a:rPr lang="zh-CN" altLang="en-US" sz="2400" b="1" dirty="0">
                <a:latin typeface="楷体_GB2312" pitchFamily="49" charset="-122"/>
                <a:ea typeface="楷体_GB2312" pitchFamily="49" charset="-122"/>
              </a:rPr>
              <a:t>微型计算机可以储存有关生产技术的操作程序、焊接程序、焊接参数调整程序等。</a:t>
            </a:r>
            <a:endParaRPr lang="zh-CN" altLang="en-US" sz="2400" b="1" dirty="0">
              <a:latin typeface="楷体_GB2312" pitchFamily="49" charset="-122"/>
              <a:ea typeface="楷体_GB2312" pitchFamily="49" charset="-122"/>
            </a:endParaRPr>
          </a:p>
          <a:p>
            <a:pPr eaLnBrk="1" hangingPunct="1"/>
            <a:endParaRPr lang="en-US" altLang="zh-CN" sz="2400" dirty="0">
              <a:latin typeface="GreekS" pitchFamily="2" charset="0"/>
            </a:endParaRPr>
          </a:p>
        </p:txBody>
      </p:sp>
      <p:sp>
        <p:nvSpPr>
          <p:cNvPr id="832520" name="Rectangle 8"/>
          <p:cNvSpPr/>
          <p:nvPr/>
        </p:nvSpPr>
        <p:spPr>
          <a:xfrm>
            <a:off x="4787900" y="3860800"/>
            <a:ext cx="4176713" cy="2647950"/>
          </a:xfrm>
          <a:prstGeom prst="rect">
            <a:avLst/>
          </a:prstGeom>
          <a:solidFill>
            <a:srgbClr val="CCFFFF"/>
          </a:solidFill>
          <a:ln w="9525">
            <a:noFill/>
          </a:ln>
        </p:spPr>
        <p:txBody>
          <a:bodyPr>
            <a:spAutoFit/>
          </a:bodyPr>
          <a:p>
            <a:pPr eaLnBrk="1" hangingPunct="1"/>
            <a:r>
              <a:rPr lang="zh-CN" altLang="en-US" sz="2400" b="1" dirty="0">
                <a:solidFill>
                  <a:srgbClr val="FF0000"/>
                </a:solidFill>
                <a:latin typeface="楷体_GB2312" pitchFamily="49" charset="-122"/>
                <a:ea typeface="楷体_GB2312" pitchFamily="49" charset="-122"/>
              </a:rPr>
              <a:t>原理</a:t>
            </a:r>
            <a:r>
              <a:rPr lang="en-US" altLang="zh-CN" sz="2400" b="1" dirty="0">
                <a:solidFill>
                  <a:srgbClr val="FF0000"/>
                </a:solidFill>
                <a:latin typeface="楷体_GB2312" pitchFamily="49" charset="-122"/>
                <a:ea typeface="楷体_GB2312" pitchFamily="49" charset="-122"/>
              </a:rPr>
              <a:t>:</a:t>
            </a:r>
            <a:r>
              <a:rPr lang="zh-CN" altLang="en-US" sz="2400" b="1" dirty="0">
                <a:solidFill>
                  <a:srgbClr val="008000"/>
                </a:solidFill>
                <a:latin typeface="楷体_GB2312" pitchFamily="49" charset="-122"/>
                <a:ea typeface="楷体_GB2312" pitchFamily="49" charset="-122"/>
              </a:rPr>
              <a:t>微型计算机从焊接执行情况与参数中</a:t>
            </a:r>
            <a:r>
              <a:rPr lang="zh-CN" altLang="en-US" sz="2400" b="1" dirty="0">
                <a:solidFill>
                  <a:srgbClr val="FF0000"/>
                </a:solidFill>
                <a:latin typeface="楷体_GB2312" pitchFamily="49" charset="-122"/>
                <a:ea typeface="楷体_GB2312" pitchFamily="49" charset="-122"/>
              </a:rPr>
              <a:t>提取信息</a:t>
            </a:r>
            <a:r>
              <a:rPr lang="zh-CN" altLang="en-US" sz="2400" b="1" dirty="0">
                <a:solidFill>
                  <a:srgbClr val="008000"/>
                </a:solidFill>
                <a:latin typeface="楷体_GB2312" pitchFamily="49" charset="-122"/>
                <a:ea typeface="楷体_GB2312" pitchFamily="49" charset="-122"/>
              </a:rPr>
              <a:t>，而后在微型计算机中进行</a:t>
            </a:r>
            <a:r>
              <a:rPr lang="zh-CN" altLang="en-US" sz="2400" b="1" dirty="0">
                <a:solidFill>
                  <a:srgbClr val="FF0000"/>
                </a:solidFill>
                <a:latin typeface="楷体_GB2312" pitchFamily="49" charset="-122"/>
                <a:ea typeface="楷体_GB2312" pitchFamily="49" charset="-122"/>
              </a:rPr>
              <a:t>对比</a:t>
            </a:r>
            <a:r>
              <a:rPr lang="zh-CN" altLang="en-US" sz="2400" b="1" dirty="0">
                <a:solidFill>
                  <a:srgbClr val="008000"/>
                </a:solidFill>
                <a:latin typeface="楷体_GB2312" pitchFamily="49" charset="-122"/>
                <a:ea typeface="楷体_GB2312" pitchFamily="49" charset="-122"/>
              </a:rPr>
              <a:t>，</a:t>
            </a:r>
            <a:r>
              <a:rPr lang="zh-CN" altLang="en-US" sz="2400" b="1" dirty="0">
                <a:solidFill>
                  <a:srgbClr val="000000"/>
                </a:solidFill>
                <a:latin typeface="楷体_GB2312" pitchFamily="49" charset="-122"/>
                <a:ea typeface="楷体_GB2312" pitchFamily="49" charset="-122"/>
              </a:rPr>
              <a:t>再通过数字模拟转换器控制电源、送丝机构、气流阀、伺服机构等及时反馈，调整操作与参数，从而确保焊接质量。</a:t>
            </a:r>
            <a:endParaRPr lang="zh-CN" altLang="en-US" sz="2400" b="1" dirty="0">
              <a:solidFill>
                <a:srgbClr val="000000"/>
              </a:solidFill>
              <a:latin typeface="楷体_GB2312" pitchFamily="49" charset="-122"/>
              <a:ea typeface="楷体_GB2312" pitchFamily="49" charset="-122"/>
            </a:endParaRPr>
          </a:p>
        </p:txBody>
      </p:sp>
      <p:grpSp>
        <p:nvGrpSpPr>
          <p:cNvPr id="63493" name="Group 12"/>
          <p:cNvGrpSpPr/>
          <p:nvPr/>
        </p:nvGrpSpPr>
        <p:grpSpPr>
          <a:xfrm>
            <a:off x="4787900" y="1233488"/>
            <a:ext cx="4032250" cy="2555875"/>
            <a:chOff x="3107" y="752"/>
            <a:chExt cx="2540" cy="1610"/>
          </a:xfrm>
        </p:grpSpPr>
        <p:pic>
          <p:nvPicPr>
            <p:cNvPr id="63494" name="Picture 9"/>
            <p:cNvPicPr>
              <a:picLocks noChangeAspect="1"/>
            </p:cNvPicPr>
            <p:nvPr/>
          </p:nvPicPr>
          <p:blipFill>
            <a:blip r:embed="rId1"/>
            <a:stretch>
              <a:fillRect/>
            </a:stretch>
          </p:blipFill>
          <p:spPr>
            <a:xfrm>
              <a:off x="3107" y="752"/>
              <a:ext cx="2540" cy="1610"/>
            </a:xfrm>
            <a:prstGeom prst="rect">
              <a:avLst/>
            </a:prstGeom>
            <a:noFill/>
            <a:ln w="9525">
              <a:noFill/>
            </a:ln>
          </p:spPr>
        </p:pic>
        <p:sp>
          <p:nvSpPr>
            <p:cNvPr id="63495" name="Rectangle 10"/>
            <p:cNvSpPr/>
            <p:nvPr/>
          </p:nvSpPr>
          <p:spPr>
            <a:xfrm>
              <a:off x="3107" y="2160"/>
              <a:ext cx="2524" cy="192"/>
            </a:xfrm>
            <a:prstGeom prst="rect">
              <a:avLst/>
            </a:prstGeom>
            <a:solidFill>
              <a:srgbClr val="FFFFFF"/>
            </a:solidFill>
            <a:ln w="9525">
              <a:noFill/>
            </a:ln>
          </p:spPr>
          <p:txBody>
            <a:bodyPr wrap="none">
              <a:spAutoFit/>
            </a:bodyPr>
            <a:p>
              <a:pPr eaLnBrk="1" hangingPunct="1"/>
              <a:r>
                <a:rPr lang="zh-CN" altLang="en-US" sz="1400" b="1" dirty="0">
                  <a:solidFill>
                    <a:srgbClr val="000000"/>
                  </a:solidFill>
                  <a:latin typeface="楷体_GB2312" pitchFamily="49" charset="-122"/>
                  <a:ea typeface="楷体_GB2312" pitchFamily="49" charset="-122"/>
                </a:rPr>
                <a:t>图</a:t>
              </a:r>
              <a:r>
                <a:rPr lang="en-US" altLang="zh-CN" sz="1400" b="1" dirty="0">
                  <a:solidFill>
                    <a:srgbClr val="000000"/>
                  </a:solidFill>
                  <a:latin typeface="楷体_GB2312" pitchFamily="49" charset="-122"/>
                  <a:ea typeface="楷体_GB2312" pitchFamily="49" charset="-122"/>
                </a:rPr>
                <a:t>4-23 </a:t>
              </a:r>
              <a:r>
                <a:rPr lang="zh-CN" altLang="en-US" sz="1400" b="1" dirty="0">
                  <a:solidFill>
                    <a:srgbClr val="000000"/>
                  </a:solidFill>
                  <a:latin typeface="楷体_GB2312" pitchFamily="49" charset="-122"/>
                  <a:ea typeface="楷体_GB2312" pitchFamily="49" charset="-122"/>
                </a:rPr>
                <a:t>利用微型计算机监控焊焊接质量的示意图</a:t>
              </a:r>
              <a:endParaRPr lang="zh-CN" altLang="en-US" sz="1400" b="1" dirty="0">
                <a:solidFill>
                  <a:srgbClr val="000000"/>
                </a:solidFill>
                <a:latin typeface="楷体_GB2312" pitchFamily="49" charset="-122"/>
                <a:ea typeface="楷体_GB2312"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832520"/>
                                        </p:tgtEl>
                                        <p:attrNameLst>
                                          <p:attrName>style.visibility</p:attrName>
                                        </p:attrNameLst>
                                      </p:cBhvr>
                                      <p:to>
                                        <p:strVal val="visible"/>
                                      </p:to>
                                    </p:set>
                                    <p:animEffect transition="in" filter="diamond(in)">
                                      <p:cBhvr>
                                        <p:cTn id="7" dur="2000"/>
                                        <p:tgtEl>
                                          <p:spTgt spid="8325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2520"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7" name="Rectangle 2"/>
          <p:cNvSpPr>
            <a:spLocks noGrp="1"/>
          </p:cNvSpPr>
          <p:nvPr>
            <p:ph type="title"/>
          </p:nvPr>
        </p:nvSpPr>
        <p:spPr>
          <a:xfrm>
            <a:off x="2617788" y="152400"/>
            <a:ext cx="6202362" cy="1139825"/>
          </a:xfrm>
        </p:spPr>
        <p:txBody>
          <a:bodyPr vert="horz" wrap="square" lIns="91440" tIns="45720" rIns="91440" bIns="45720" anchor="ctr" anchorCtr="0"/>
          <a:p>
            <a:pPr eaLnBrk="1" hangingPunct="1"/>
            <a:r>
              <a:rPr lang="zh-CN" altLang="en-US" dirty="0">
                <a:ea typeface="楷体_GB2312" pitchFamily="49" charset="-122"/>
              </a:rPr>
              <a:t>微型计算机在电弧焊中的应用</a:t>
            </a:r>
            <a:endParaRPr lang="zh-CN" altLang="en-US" dirty="0">
              <a:ea typeface="楷体_GB2312" pitchFamily="49" charset="-122"/>
            </a:endParaRPr>
          </a:p>
        </p:txBody>
      </p:sp>
      <p:sp>
        <p:nvSpPr>
          <p:cNvPr id="1028" name="Rectangle 4"/>
          <p:cNvSpPr/>
          <p:nvPr/>
        </p:nvSpPr>
        <p:spPr>
          <a:xfrm>
            <a:off x="34925" y="1196975"/>
            <a:ext cx="9217025" cy="1552575"/>
          </a:xfrm>
          <a:prstGeom prst="rect">
            <a:avLst/>
          </a:prstGeom>
          <a:noFill/>
          <a:ln w="9525">
            <a:noFill/>
          </a:ln>
        </p:spPr>
        <p:txBody>
          <a:bodyPr>
            <a:spAutoFit/>
          </a:bodyPr>
          <a:p>
            <a:pPr eaLnBrk="1" hangingPunct="1">
              <a:buClr>
                <a:srgbClr val="FF0000"/>
              </a:buClr>
              <a:buFont typeface="Wingdings" panose="05000000000000000000" pitchFamily="2" charset="2"/>
              <a:buChar char="Ø"/>
            </a:pPr>
            <a:r>
              <a:rPr lang="zh-CN" altLang="zh-CN" sz="2400" b="1" dirty="0">
                <a:solidFill>
                  <a:srgbClr val="FF0000"/>
                </a:solidFill>
                <a:latin typeface="楷体_GB2312" pitchFamily="49" charset="-122"/>
                <a:ea typeface="楷体_GB2312" pitchFamily="49" charset="-122"/>
              </a:rPr>
              <a:t>焊接机器人</a:t>
            </a:r>
            <a:r>
              <a:rPr lang="en-US" altLang="zh-CN" sz="2400" b="1" dirty="0">
                <a:solidFill>
                  <a:srgbClr val="FF0000"/>
                </a:solidFill>
                <a:latin typeface="楷体_GB2312" pitchFamily="49" charset="-122"/>
                <a:ea typeface="楷体_GB2312" pitchFamily="49" charset="-122"/>
              </a:rPr>
              <a:t>:</a:t>
            </a:r>
            <a:endParaRPr lang="en-US" altLang="zh-CN" sz="2400" b="1" dirty="0">
              <a:solidFill>
                <a:srgbClr val="FF0000"/>
              </a:solidFill>
              <a:latin typeface="楷体_GB2312" pitchFamily="49" charset="-122"/>
              <a:ea typeface="楷体_GB2312" pitchFamily="49" charset="-122"/>
            </a:endParaRPr>
          </a:p>
          <a:p>
            <a:pPr eaLnBrk="1" hangingPunct="1"/>
            <a:r>
              <a:rPr lang="zh-CN" altLang="en-US" sz="2400" b="1" dirty="0">
                <a:solidFill>
                  <a:srgbClr val="CC3300"/>
                </a:solidFill>
                <a:latin typeface="楷体_GB2312" pitchFamily="49" charset="-122"/>
                <a:ea typeface="楷体_GB2312" pitchFamily="49" charset="-122"/>
              </a:rPr>
              <a:t>特点</a:t>
            </a:r>
            <a:r>
              <a:rPr lang="en-US" altLang="zh-CN" sz="2400" b="1" dirty="0">
                <a:solidFill>
                  <a:srgbClr val="CC3300"/>
                </a:solidFill>
                <a:latin typeface="楷体_GB2312" pitchFamily="49" charset="-122"/>
                <a:ea typeface="楷体_GB2312" pitchFamily="49" charset="-122"/>
              </a:rPr>
              <a:t>:</a:t>
            </a:r>
            <a:r>
              <a:rPr lang="en-US" altLang="zh-CN" sz="2400" b="1" dirty="0">
                <a:solidFill>
                  <a:srgbClr val="FF0000"/>
                </a:solidFill>
                <a:latin typeface="楷体_GB2312" pitchFamily="49" charset="-122"/>
                <a:ea typeface="楷体_GB2312" pitchFamily="49" charset="-122"/>
              </a:rPr>
              <a:t> </a:t>
            </a:r>
            <a:r>
              <a:rPr lang="zh-CN" altLang="en-US" sz="2400" b="1" dirty="0">
                <a:latin typeface="楷体_GB2312" pitchFamily="49" charset="-122"/>
                <a:ea typeface="楷体_GB2312" pitchFamily="49" charset="-122"/>
              </a:rPr>
              <a:t>具有手工操作所固有的灵活性，如果要焊接机器人去焊接另一种产品，只要对它重新示教就可以了。焊接机器人</a:t>
            </a:r>
            <a:r>
              <a:rPr lang="zh-CN" altLang="en-US" sz="2400" b="1" dirty="0">
                <a:solidFill>
                  <a:srgbClr val="0000FF"/>
                </a:solidFill>
                <a:latin typeface="楷体_GB2312" pitchFamily="49" charset="-122"/>
                <a:ea typeface="楷体_GB2312" pitchFamily="49" charset="-122"/>
              </a:rPr>
              <a:t>用于大量生产的焊接生产自动线，为实现小批量生产自动化</a:t>
            </a:r>
            <a:r>
              <a:rPr lang="zh-CN" altLang="en-US" sz="2400" b="1" dirty="0">
                <a:latin typeface="楷体_GB2312" pitchFamily="49" charset="-122"/>
                <a:ea typeface="楷体_GB2312" pitchFamily="49" charset="-122"/>
              </a:rPr>
              <a:t>开辟了新的道路。</a:t>
            </a:r>
            <a:endParaRPr lang="zh-CN" altLang="en-US" sz="2400" b="1" dirty="0">
              <a:latin typeface="楷体_GB2312" pitchFamily="49" charset="-122"/>
              <a:ea typeface="楷体_GB2312" pitchFamily="49" charset="-122"/>
            </a:endParaRPr>
          </a:p>
        </p:txBody>
      </p:sp>
      <p:grpSp>
        <p:nvGrpSpPr>
          <p:cNvPr id="1029" name="Group 1038"/>
          <p:cNvGrpSpPr/>
          <p:nvPr/>
        </p:nvGrpSpPr>
        <p:grpSpPr>
          <a:xfrm>
            <a:off x="5219700" y="2997200"/>
            <a:ext cx="3744913" cy="3462338"/>
            <a:chOff x="2562" y="486"/>
            <a:chExt cx="3040" cy="2352"/>
          </a:xfrm>
        </p:grpSpPr>
        <p:graphicFrame>
          <p:nvGraphicFramePr>
            <p:cNvPr id="1026" name="Object 1032"/>
            <p:cNvGraphicFramePr>
              <a:graphicFrameLocks noChangeAspect="1"/>
            </p:cNvGraphicFramePr>
            <p:nvPr/>
          </p:nvGraphicFramePr>
          <p:xfrm>
            <a:off x="2562" y="486"/>
            <a:ext cx="3040" cy="2082"/>
          </p:xfrm>
          <a:graphic>
            <a:graphicData uri="http://schemas.openxmlformats.org/presentationml/2006/ole">
              <mc:AlternateContent xmlns:mc="http://schemas.openxmlformats.org/markup-compatibility/2006">
                <mc:Choice xmlns:v="urn:schemas-microsoft-com:vml" Requires="v">
                  <p:oleObj spid="_x0000_s3076" name="" r:id="rId1" imgW="3810000" imgH="2609850" progId="MSPhotoEd.3">
                    <p:embed/>
                  </p:oleObj>
                </mc:Choice>
                <mc:Fallback>
                  <p:oleObj name="" r:id="rId1" imgW="3810000" imgH="2609850" progId="MSPhotoEd.3">
                    <p:embed/>
                    <p:pic>
                      <p:nvPicPr>
                        <p:cNvPr id="0" name="图片 3075"/>
                        <p:cNvPicPr/>
                        <p:nvPr/>
                      </p:nvPicPr>
                      <p:blipFill>
                        <a:blip r:embed="rId2"/>
                        <a:stretch>
                          <a:fillRect/>
                        </a:stretch>
                      </p:blipFill>
                      <p:spPr>
                        <a:xfrm>
                          <a:off x="2562" y="486"/>
                          <a:ext cx="3040" cy="2082"/>
                        </a:xfrm>
                        <a:prstGeom prst="rect">
                          <a:avLst/>
                        </a:prstGeom>
                        <a:noFill/>
                        <a:ln w="38100">
                          <a:noFill/>
                          <a:miter/>
                        </a:ln>
                      </p:spPr>
                    </p:pic>
                  </p:oleObj>
                </mc:Fallback>
              </mc:AlternateContent>
            </a:graphicData>
          </a:graphic>
        </p:graphicFrame>
        <p:sp>
          <p:nvSpPr>
            <p:cNvPr id="1031" name="Rectangle 1037"/>
            <p:cNvSpPr/>
            <p:nvPr/>
          </p:nvSpPr>
          <p:spPr>
            <a:xfrm>
              <a:off x="3199" y="2569"/>
              <a:ext cx="2020" cy="269"/>
            </a:xfrm>
            <a:prstGeom prst="rect">
              <a:avLst/>
            </a:prstGeom>
            <a:noFill/>
            <a:ln w="9525">
              <a:noFill/>
            </a:ln>
          </p:spPr>
          <p:txBody>
            <a:bodyPr wrap="none">
              <a:spAutoFit/>
            </a:bodyPr>
            <a:p>
              <a:pPr eaLnBrk="1" hangingPunct="1"/>
              <a:r>
                <a:rPr lang="zh-CN" altLang="en-US" sz="2000" b="1" dirty="0">
                  <a:latin typeface="楷体_GB2312" pitchFamily="49" charset="-122"/>
                  <a:ea typeface="楷体_GB2312" pitchFamily="49" charset="-122"/>
                </a:rPr>
                <a:t>图</a:t>
              </a:r>
              <a:r>
                <a:rPr lang="en-US" altLang="zh-CN" sz="2000" b="1" dirty="0">
                  <a:latin typeface="楷体_GB2312" pitchFamily="49" charset="-122"/>
                  <a:ea typeface="楷体_GB2312" pitchFamily="49" charset="-122"/>
                </a:rPr>
                <a:t>4-24  </a:t>
              </a:r>
              <a:r>
                <a:rPr lang="zh-CN" altLang="en-US" sz="2000" b="1" dirty="0">
                  <a:latin typeface="楷体_GB2312" pitchFamily="49" charset="-122"/>
                  <a:ea typeface="楷体_GB2312" pitchFamily="49" charset="-122"/>
                </a:rPr>
                <a:t>焊接机器人</a:t>
              </a:r>
              <a:endParaRPr lang="zh-CN" altLang="en-US" sz="2000" b="1" dirty="0">
                <a:latin typeface="楷体_GB2312" pitchFamily="49" charset="-122"/>
                <a:ea typeface="楷体_GB2312" pitchFamily="49" charset="-122"/>
              </a:endParaRPr>
            </a:p>
          </p:txBody>
        </p:sp>
      </p:grpSp>
      <p:sp>
        <p:nvSpPr>
          <p:cNvPr id="1030" name="Rectangle 1039"/>
          <p:cNvSpPr/>
          <p:nvPr/>
        </p:nvSpPr>
        <p:spPr>
          <a:xfrm>
            <a:off x="106363" y="2803525"/>
            <a:ext cx="5041900" cy="3505200"/>
          </a:xfrm>
          <a:prstGeom prst="rect">
            <a:avLst/>
          </a:prstGeom>
          <a:noFill/>
          <a:ln w="9525">
            <a:noFill/>
          </a:ln>
        </p:spPr>
        <p:txBody>
          <a:bodyPr>
            <a:spAutoFit/>
          </a:bodyPr>
          <a:p>
            <a:pPr eaLnBrk="1" hangingPunct="1"/>
            <a:r>
              <a:rPr lang="zh-CN" altLang="zh-CN" sz="2400" b="1" dirty="0">
                <a:solidFill>
                  <a:srgbClr val="CC3300"/>
                </a:solidFill>
                <a:latin typeface="楷体_GB2312" pitchFamily="49" charset="-122"/>
                <a:ea typeface="楷体_GB2312" pitchFamily="49" charset="-122"/>
              </a:rPr>
              <a:t>优点</a:t>
            </a:r>
            <a:r>
              <a:rPr lang="en-US" altLang="zh-CN" sz="2400" b="1" dirty="0">
                <a:solidFill>
                  <a:srgbClr val="CC3300"/>
                </a:solidFill>
                <a:latin typeface="楷体_GB2312" pitchFamily="49" charset="-122"/>
                <a:ea typeface="楷体_GB2312" pitchFamily="49" charset="-122"/>
              </a:rPr>
              <a:t>:</a:t>
            </a:r>
            <a:r>
              <a:rPr lang="en-US" altLang="zh-CN" sz="2000" b="1" dirty="0">
                <a:solidFill>
                  <a:srgbClr val="CC3300"/>
                </a:solidFill>
                <a:latin typeface="楷体_GB2312" pitchFamily="49" charset="-122"/>
                <a:ea typeface="楷体_GB2312" pitchFamily="49" charset="-122"/>
              </a:rPr>
              <a:t> </a:t>
            </a:r>
            <a:endParaRPr lang="en-US" altLang="zh-CN" sz="2000" b="1" dirty="0">
              <a:solidFill>
                <a:srgbClr val="CC3300"/>
              </a:solidFill>
              <a:latin typeface="楷体_GB2312" pitchFamily="49" charset="-122"/>
              <a:ea typeface="楷体_GB2312" pitchFamily="49" charset="-122"/>
            </a:endParaRPr>
          </a:p>
          <a:p>
            <a:pPr eaLnBrk="1" hangingPunct="1"/>
            <a:r>
              <a:rPr lang="zh-CN" altLang="zh-CN" sz="2000" b="1" dirty="0">
                <a:latin typeface="楷体_GB2312" pitchFamily="49" charset="-122"/>
                <a:ea typeface="楷体_GB2312" pitchFamily="49" charset="-122"/>
              </a:rPr>
              <a:t>（1）能代替人在危险、污染或特殊情况下进行焊接，例如在高温、高压、易爆、有毒、水下、放射性等条件下进行焊接。</a:t>
            </a:r>
            <a:endParaRPr lang="zh-CN" altLang="en-US" sz="2000" b="1" dirty="0">
              <a:latin typeface="楷体_GB2312" pitchFamily="49" charset="-122"/>
              <a:ea typeface="楷体_GB2312" pitchFamily="49" charset="-122"/>
            </a:endParaRPr>
          </a:p>
          <a:p>
            <a:pPr eaLnBrk="1" hangingPunct="1"/>
            <a:r>
              <a:rPr lang="zh-CN" altLang="en-US" sz="2000" b="1" dirty="0">
                <a:latin typeface="楷体_GB2312" pitchFamily="49" charset="-122"/>
                <a:ea typeface="楷体_GB2312" pitchFamily="49" charset="-122"/>
              </a:rPr>
              <a:t>（</a:t>
            </a:r>
            <a:r>
              <a:rPr lang="en-US" altLang="zh-CN" sz="2000" b="1" dirty="0">
                <a:latin typeface="楷体_GB2312" pitchFamily="49" charset="-122"/>
                <a:ea typeface="楷体_GB2312" pitchFamily="49" charset="-122"/>
              </a:rPr>
              <a:t>2</a:t>
            </a:r>
            <a:r>
              <a:rPr lang="zh-CN" altLang="en-US" sz="2000" b="1" dirty="0">
                <a:latin typeface="楷体_GB2312" pitchFamily="49" charset="-122"/>
                <a:ea typeface="楷体_GB2312" pitchFamily="49" charset="-122"/>
              </a:rPr>
              <a:t>）能代替人从事简单而单调重复的焊接工作，可解放工人从事其它更复杂的劳动。</a:t>
            </a:r>
            <a:endParaRPr lang="zh-CN" altLang="en-US" sz="2000" b="1" dirty="0">
              <a:latin typeface="楷体_GB2312" pitchFamily="49" charset="-122"/>
              <a:ea typeface="楷体_GB2312" pitchFamily="49" charset="-122"/>
            </a:endParaRPr>
          </a:p>
          <a:p>
            <a:pPr eaLnBrk="1" hangingPunct="1"/>
            <a:r>
              <a:rPr lang="zh-CN" altLang="en-US" sz="2000" b="1" dirty="0">
                <a:latin typeface="楷体_GB2312" pitchFamily="49" charset="-122"/>
                <a:ea typeface="楷体_GB2312" pitchFamily="49" charset="-122"/>
              </a:rPr>
              <a:t>（</a:t>
            </a:r>
            <a:r>
              <a:rPr lang="en-US" altLang="zh-CN" sz="2000" b="1" dirty="0">
                <a:latin typeface="楷体_GB2312" pitchFamily="49" charset="-122"/>
                <a:ea typeface="楷体_GB2312" pitchFamily="49" charset="-122"/>
              </a:rPr>
              <a:t>3</a:t>
            </a:r>
            <a:r>
              <a:rPr lang="zh-CN" altLang="en-US" sz="2000" b="1" dirty="0">
                <a:latin typeface="楷体_GB2312" pitchFamily="49" charset="-122"/>
                <a:ea typeface="楷体_GB2312" pitchFamily="49" charset="-122"/>
              </a:rPr>
              <a:t>）焊接工作具有相当高的重复再现精度，不会发生人所常有的误动作，能保证焊接质量稳定可靠。</a:t>
            </a:r>
            <a:endParaRPr lang="zh-CN" altLang="en-US" sz="2000" b="1" dirty="0">
              <a:latin typeface="楷体_GB2312" pitchFamily="49" charset="-122"/>
              <a:ea typeface="楷体_GB2312" pitchFamily="49" charset="-122"/>
            </a:endParaRPr>
          </a:p>
          <a:p>
            <a:pPr eaLnBrk="1" hangingPunct="1"/>
            <a:r>
              <a:rPr lang="zh-CN" altLang="en-US" sz="2000" b="1" dirty="0">
                <a:latin typeface="楷体_GB2312" pitchFamily="49" charset="-122"/>
                <a:ea typeface="楷体_GB2312" pitchFamily="49" charset="-122"/>
              </a:rPr>
              <a:t>（</a:t>
            </a:r>
            <a:r>
              <a:rPr lang="en-US" altLang="zh-CN" sz="2000" b="1" dirty="0">
                <a:latin typeface="楷体_GB2312" pitchFamily="49" charset="-122"/>
                <a:ea typeface="楷体_GB2312" pitchFamily="49" charset="-122"/>
              </a:rPr>
              <a:t>4</a:t>
            </a:r>
            <a:r>
              <a:rPr lang="zh-CN" altLang="en-US" sz="2000" b="1" dirty="0">
                <a:latin typeface="楷体_GB2312" pitchFamily="49" charset="-122"/>
                <a:ea typeface="楷体_GB2312" pitchFamily="49" charset="-122"/>
              </a:rPr>
              <a:t>）具有相当高的运动精度和焊接参数控制精度，可实现超小型焊件的精密焊接。</a:t>
            </a:r>
            <a:endParaRPr lang="zh-CN" altLang="en-US" sz="2000" b="1" dirty="0">
              <a:latin typeface="楷体_GB2312" pitchFamily="49" charset="-122"/>
              <a:ea typeface="楷体_GB2312" pitchFamily="49" charset="-12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Rectangle 3"/>
          <p:cNvSpPr>
            <a:spLocks noGrp="1"/>
          </p:cNvSpPr>
          <p:nvPr>
            <p:ph idx="1"/>
          </p:nvPr>
        </p:nvSpPr>
        <p:spPr/>
        <p:txBody>
          <a:bodyPr vert="horz" wrap="square" lIns="91440" tIns="45720" rIns="91440" bIns="45720" anchor="t" anchorCtr="0"/>
          <a:p>
            <a:pPr eaLnBrk="1" hangingPunct="1"/>
            <a:r>
              <a:rPr lang="zh-CN" altLang="en-US" b="1" dirty="0">
                <a:ea typeface="楷体_GB2312" pitchFamily="49" charset="-122"/>
              </a:rPr>
              <a:t>焊接机器人视频</a:t>
            </a:r>
            <a:endParaRPr lang="zh-CN" altLang="en-US" b="1" dirty="0">
              <a:ea typeface="楷体_GB2312" pitchFamily="49" charset="-122"/>
            </a:endParaRPr>
          </a:p>
        </p:txBody>
      </p:sp>
      <p:sp>
        <p:nvSpPr>
          <p:cNvPr id="64515" name="Rectangle 4"/>
          <p:cNvSpPr>
            <a:spLocks noGrp="1"/>
          </p:cNvSpPr>
          <p:nvPr>
            <p:ph type="title"/>
          </p:nvPr>
        </p:nvSpPr>
        <p:spPr>
          <a:xfrm>
            <a:off x="2590800" y="90488"/>
            <a:ext cx="6553200" cy="1190625"/>
          </a:xfrm>
        </p:spPr>
        <p:txBody>
          <a:bodyPr vert="horz" wrap="square" lIns="91440" tIns="45720" rIns="91440" bIns="45720" anchor="ctr" anchorCtr="0"/>
          <a:p>
            <a:pPr eaLnBrk="1" hangingPunct="1"/>
            <a:r>
              <a:rPr lang="zh-CN" altLang="en-US" dirty="0">
                <a:ea typeface="楷体_GB2312" pitchFamily="49" charset="-122"/>
              </a:rPr>
              <a:t>微型计算机在电弧焊中的应用</a:t>
            </a:r>
            <a:endParaRPr lang="zh-CN" altLang="en-US" dirty="0">
              <a:ea typeface="楷体_GB2312" pitchFamily="49" charset="-122"/>
            </a:endParaRPr>
          </a:p>
        </p:txBody>
      </p:sp>
      <p:sp>
        <p:nvSpPr>
          <p:cNvPr id="64516" name="矩形 1"/>
          <p:cNvSpPr/>
          <p:nvPr/>
        </p:nvSpPr>
        <p:spPr>
          <a:xfrm>
            <a:off x="2247900" y="2636838"/>
            <a:ext cx="4572000" cy="1200150"/>
          </a:xfrm>
          <a:prstGeom prst="rect">
            <a:avLst/>
          </a:prstGeom>
          <a:noFill/>
          <a:ln w="9525">
            <a:noFill/>
          </a:ln>
        </p:spPr>
        <p:txBody>
          <a:bodyPr>
            <a:spAutoFit/>
          </a:bodyPr>
          <a:p>
            <a:r>
              <a:rPr lang="en-US" altLang="zh-CN" sz="2400" dirty="0">
                <a:latin typeface="Arial" panose="020B0604020202020204" pitchFamily="34" charset="0"/>
                <a:hlinkClick r:id="rId1"/>
              </a:rPr>
              <a:t>https://haokan.baidu.com/v?vid=5187378294138984040&amp;pd=bjh&amp;fr=bjhauthor&amp;type=video</a:t>
            </a:r>
            <a:endParaRPr lang="zh-CN" altLang="en-US" sz="2400" dirty="0">
              <a:latin typeface="Arial" panose="020B0604020202020204" pitchFamily="34"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Text Box 4"/>
          <p:cNvSpPr txBox="1"/>
          <p:nvPr/>
        </p:nvSpPr>
        <p:spPr>
          <a:xfrm>
            <a:off x="107950" y="1752600"/>
            <a:ext cx="8986838" cy="579438"/>
          </a:xfrm>
          <a:prstGeom prst="rect">
            <a:avLst/>
          </a:prstGeom>
          <a:noFill/>
          <a:ln w="9525">
            <a:noFill/>
          </a:ln>
        </p:spPr>
        <p:txBody>
          <a:bodyPr wrap="none">
            <a:spAutoFit/>
          </a:bodyPr>
          <a:p>
            <a:pPr eaLnBrk="1" hangingPunct="1"/>
            <a:r>
              <a:rPr lang="zh-CN" altLang="en-US" sz="3200" b="1" dirty="0">
                <a:latin typeface="楷体_GB2312" pitchFamily="49" charset="-122"/>
                <a:ea typeface="楷体_GB2312" pitchFamily="49" charset="-122"/>
              </a:rPr>
              <a:t>作业 </a:t>
            </a:r>
            <a:r>
              <a:rPr lang="en-US" altLang="zh-CN" sz="3200" b="1" dirty="0">
                <a:latin typeface="楷体_GB2312" pitchFamily="49" charset="-122"/>
                <a:ea typeface="楷体_GB2312" pitchFamily="49" charset="-122"/>
              </a:rPr>
              <a:t>P166-167, (2), (3), (4), (6), (7), (8)</a:t>
            </a:r>
            <a:endParaRPr lang="en-US" altLang="zh-CN" sz="3200" b="1" dirty="0">
              <a:latin typeface="楷体_GB2312" pitchFamily="49" charset="-122"/>
              <a:ea typeface="楷体_GB2312" pitchFamily="49" charset="-122"/>
            </a:endParaRPr>
          </a:p>
        </p:txBody>
      </p:sp>
    </p:spTree>
  </p:cSld>
  <p:clrMapOvr>
    <a:masterClrMapping/>
  </p:clrMapOvr>
</p:sld>
</file>

<file path=ppt/tags/tag1.xml><?xml version="1.0" encoding="utf-8"?>
<p:tagLst xmlns:p="http://schemas.openxmlformats.org/presentationml/2006/main">
  <p:tag name="KSO_WM_UNIT_PLACING_PICTURE_USER_VIEWPORT" val="{&quot;height&quot;:5406,&quot;width&quot;:6984}"/>
</p:tagLst>
</file>

<file path=ppt/tags/tag2.xml><?xml version="1.0" encoding="utf-8"?>
<p:tagLst xmlns:p="http://schemas.openxmlformats.org/presentationml/2006/main">
  <p:tag name="KSO_WM_UNIT_PLACING_PICTURE_USER_VIEWPORT" val="{&quot;height&quot;:4604,&quot;width&quot;:6045}"/>
</p:tagLst>
</file>

<file path=ppt/theme/theme1.xml><?xml version="1.0" encoding="utf-8"?>
<a:theme xmlns:a="http://schemas.openxmlformats.org/drawingml/2006/main" name="麦田夕照">
  <a:themeElements>
    <a:clrScheme name="麦田夕照 11">
      <a:dk1>
        <a:srgbClr val="1C1C1C"/>
      </a:dk1>
      <a:lt1>
        <a:srgbClr val="523E26"/>
      </a:lt1>
      <a:dk2>
        <a:srgbClr val="654A1D"/>
      </a:dk2>
      <a:lt2>
        <a:srgbClr val="2D2015"/>
      </a:lt2>
      <a:accent1>
        <a:srgbClr val="B1A59D"/>
      </a:accent1>
      <a:accent2>
        <a:srgbClr val="8F5F2F"/>
      </a:accent2>
      <a:accent3>
        <a:srgbClr val="B3AFAC"/>
      </a:accent3>
      <a:accent4>
        <a:srgbClr val="161616"/>
      </a:accent4>
      <a:accent5>
        <a:srgbClr val="D5CFCC"/>
      </a:accent5>
      <a:accent6>
        <a:srgbClr val="81552A"/>
      </a:accent6>
      <a:hlink>
        <a:srgbClr val="F4D700"/>
      </a:hlink>
      <a:folHlink>
        <a:srgbClr val="E7EBEB"/>
      </a:folHlink>
    </a:clrScheme>
    <a:fontScheme name="麦田夕照">
      <a:majorFont>
        <a:latin typeface="Tahoma"/>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麦田夕照 1">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麦田夕照 2">
        <a:dk1>
          <a:srgbClr val="000000"/>
        </a:dk1>
        <a:lt1>
          <a:srgbClr val="FFFFD9"/>
        </a:lt1>
        <a:dk2>
          <a:srgbClr val="000000"/>
        </a:dk2>
        <a:lt2>
          <a:srgbClr val="777777"/>
        </a:lt2>
        <a:accent1>
          <a:srgbClr val="FFFFF7"/>
        </a:accent1>
        <a:accent2>
          <a:srgbClr val="CC9900"/>
        </a:accent2>
        <a:accent3>
          <a:srgbClr val="FFFFE9"/>
        </a:accent3>
        <a:accent4>
          <a:srgbClr val="000000"/>
        </a:accent4>
        <a:accent5>
          <a:srgbClr val="FFFFFA"/>
        </a:accent5>
        <a:accent6>
          <a:srgbClr val="B98A00"/>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麦田夕照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969696"/>
        </a:folHlink>
      </a:clrScheme>
      <a:clrMap bg1="lt1" tx1="dk1" bg2="lt2" tx2="dk2" accent1="accent1" accent2="accent2" accent3="accent3" accent4="accent4" accent5="accent5" accent6="accent6" hlink="hlink" folHlink="folHlink"/>
    </a:extraClrScheme>
    <a:extraClrScheme>
      <a:clrScheme name="麦田夕照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C5B303"/>
        </a:folHlink>
      </a:clrScheme>
      <a:clrMap bg1="lt1" tx1="dk1" bg2="lt2" tx2="dk2" accent1="accent1" accent2="accent2" accent3="accent3" accent4="accent4" accent5="accent5" accent6="accent6" hlink="hlink" folHlink="folHlink"/>
    </a:extraClrScheme>
    <a:extraClrScheme>
      <a:clrScheme name="麦田夕照 5">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CC9900"/>
        </a:folHlink>
      </a:clrScheme>
      <a:clrMap bg1="lt1" tx1="dk1" bg2="lt2" tx2="dk2" accent1="accent1" accent2="accent2" accent3="accent3" accent4="accent4" accent5="accent5" accent6="accent6" hlink="hlink" folHlink="folHlink"/>
    </a:extraClrScheme>
    <a:extraClrScheme>
      <a:clrScheme name="麦田夕照 6">
        <a:dk1>
          <a:srgbClr val="000000"/>
        </a:dk1>
        <a:lt1>
          <a:srgbClr val="FFFFFF"/>
        </a:lt1>
        <a:dk2>
          <a:srgbClr val="000000"/>
        </a:dk2>
        <a:lt2>
          <a:srgbClr val="808080"/>
        </a:lt2>
        <a:accent1>
          <a:srgbClr val="FFCC66"/>
        </a:accent1>
        <a:accent2>
          <a:srgbClr val="EAEAEA"/>
        </a:accent2>
        <a:accent3>
          <a:srgbClr val="FFFFFF"/>
        </a:accent3>
        <a:accent4>
          <a:srgbClr val="000000"/>
        </a:accent4>
        <a:accent5>
          <a:srgbClr val="FFE2B8"/>
        </a:accent5>
        <a:accent6>
          <a:srgbClr val="D4D4D4"/>
        </a:accent6>
        <a:hlink>
          <a:srgbClr val="CC6600"/>
        </a:hlink>
        <a:folHlink>
          <a:srgbClr val="993300"/>
        </a:folHlink>
      </a:clrScheme>
      <a:clrMap bg1="lt1" tx1="dk1" bg2="lt2" tx2="dk2" accent1="accent1" accent2="accent2" accent3="accent3" accent4="accent4" accent5="accent5" accent6="accent6" hlink="hlink" folHlink="folHlink"/>
    </a:extraClrScheme>
    <a:extraClrScheme>
      <a:clrScheme name="麦田夕照 7">
        <a:dk1>
          <a:srgbClr val="003366"/>
        </a:dk1>
        <a:lt1>
          <a:srgbClr val="361B00"/>
        </a:lt1>
        <a:dk2>
          <a:srgbClr val="000099"/>
        </a:dk2>
        <a:lt2>
          <a:srgbClr val="333333"/>
        </a:lt2>
        <a:accent1>
          <a:srgbClr val="3366CC"/>
        </a:accent1>
        <a:accent2>
          <a:srgbClr val="F09A00"/>
        </a:accent2>
        <a:accent3>
          <a:srgbClr val="AAAACA"/>
        </a:accent3>
        <a:accent4>
          <a:srgbClr val="2D1500"/>
        </a:accent4>
        <a:accent5>
          <a:srgbClr val="ADB8E2"/>
        </a:accent5>
        <a:accent6>
          <a:srgbClr val="D98B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麦田夕照 8">
        <a:dk1>
          <a:srgbClr val="777777"/>
        </a:dk1>
        <a:lt1>
          <a:srgbClr val="926C00"/>
        </a:lt1>
        <a:dk2>
          <a:srgbClr val="686B5D"/>
        </a:dk2>
        <a:lt2>
          <a:srgbClr val="4D4D4D"/>
        </a:lt2>
        <a:accent1>
          <a:srgbClr val="B2B2B2"/>
        </a:accent1>
        <a:accent2>
          <a:srgbClr val="809EA8"/>
        </a:accent2>
        <a:accent3>
          <a:srgbClr val="B9BAB6"/>
        </a:accent3>
        <a:accent4>
          <a:srgbClr val="7C5B00"/>
        </a:accent4>
        <a:accent5>
          <a:srgbClr val="D5D5D5"/>
        </a:accent5>
        <a:accent6>
          <a:srgbClr val="738F98"/>
        </a:accent6>
        <a:hlink>
          <a:srgbClr val="FFCC66"/>
        </a:hlink>
        <a:folHlink>
          <a:srgbClr val="F7F3E7"/>
        </a:folHlink>
      </a:clrScheme>
      <a:clrMap bg1="dk2" tx1="lt1" bg2="dk1" tx2="lt2" accent1="accent1" accent2="accent2" accent3="accent3" accent4="accent4" accent5="accent5" accent6="accent6" hlink="hlink" folHlink="folHlink"/>
    </a:extraClrScheme>
    <a:extraClrScheme>
      <a:clrScheme name="麦田夕照 9">
        <a:dk1>
          <a:srgbClr val="005A58"/>
        </a:dk1>
        <a:lt1>
          <a:srgbClr val="CC9900"/>
        </a:lt1>
        <a:dk2>
          <a:srgbClr val="008080"/>
        </a:dk2>
        <a:lt2>
          <a:srgbClr val="006666"/>
        </a:lt2>
        <a:accent1>
          <a:srgbClr val="006462"/>
        </a:accent1>
        <a:accent2>
          <a:srgbClr val="6D6FC7"/>
        </a:accent2>
        <a:accent3>
          <a:srgbClr val="AAC0C0"/>
        </a:accent3>
        <a:accent4>
          <a:srgbClr val="AE8200"/>
        </a:accent4>
        <a:accent5>
          <a:srgbClr val="AAB8B7"/>
        </a:accent5>
        <a:accent6>
          <a:srgbClr val="6264B4"/>
        </a:accent6>
        <a:hlink>
          <a:srgbClr val="FFC41F"/>
        </a:hlink>
        <a:folHlink>
          <a:srgbClr val="FFFFCC"/>
        </a:folHlink>
      </a:clrScheme>
      <a:clrMap bg1="dk2" tx1="lt1" bg2="dk1" tx2="lt2" accent1="accent1" accent2="accent2" accent3="accent3" accent4="accent4" accent5="accent5" accent6="accent6" hlink="hlink" folHlink="folHlink"/>
    </a:extraClrScheme>
    <a:extraClrScheme>
      <a:clrScheme name="麦田夕照 10">
        <a:dk1>
          <a:srgbClr val="111111"/>
        </a:dk1>
        <a:lt1>
          <a:srgbClr val="800000"/>
        </a:lt1>
        <a:dk2>
          <a:srgbClr val="663300"/>
        </a:dk2>
        <a:lt2>
          <a:srgbClr val="5C1F00"/>
        </a:lt2>
        <a:accent1>
          <a:srgbClr val="CC3300"/>
        </a:accent1>
        <a:accent2>
          <a:srgbClr val="BE7960"/>
        </a:accent2>
        <a:accent3>
          <a:srgbClr val="C0AAAA"/>
        </a:accent3>
        <a:accent4>
          <a:srgbClr val="0D0D0D"/>
        </a:accent4>
        <a:accent5>
          <a:srgbClr val="E2ADAA"/>
        </a:accent5>
        <a:accent6>
          <a:srgbClr val="AC6D56"/>
        </a:accent6>
        <a:hlink>
          <a:srgbClr val="FFCC66"/>
        </a:hlink>
        <a:folHlink>
          <a:srgbClr val="D3A219"/>
        </a:folHlink>
      </a:clrScheme>
      <a:clrMap bg1="lt1" tx1="dk1" bg2="lt2" tx2="dk2" accent1="accent1" accent2="accent2" accent3="accent3" accent4="accent4" accent5="accent5" accent6="accent6" hlink="hlink" folHlink="folHlink"/>
    </a:extraClrScheme>
    <a:extraClrScheme>
      <a:clrScheme name="麦田夕照 11">
        <a:dk1>
          <a:srgbClr val="1C1C1C"/>
        </a:dk1>
        <a:lt1>
          <a:srgbClr val="523E26"/>
        </a:lt1>
        <a:dk2>
          <a:srgbClr val="654A1D"/>
        </a:dk2>
        <a:lt2>
          <a:srgbClr val="2D2015"/>
        </a:lt2>
        <a:accent1>
          <a:srgbClr val="B1A59D"/>
        </a:accent1>
        <a:accent2>
          <a:srgbClr val="8F5F2F"/>
        </a:accent2>
        <a:accent3>
          <a:srgbClr val="B3AFAC"/>
        </a:accent3>
        <a:accent4>
          <a:srgbClr val="161616"/>
        </a:accent4>
        <a:accent5>
          <a:srgbClr val="D5CFCC"/>
        </a:accent5>
        <a:accent6>
          <a:srgbClr val="81552A"/>
        </a:accent6>
        <a:hlink>
          <a:srgbClr val="F4D700"/>
        </a:hlink>
        <a:folHlink>
          <a:srgbClr val="E7EBE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CDESIGNF</Template>
  <TotalTime>0</TotalTime>
  <Words>10379</Words>
  <Application>WPS 演示</Application>
  <PresentationFormat>全屏显示(4:3)</PresentationFormat>
  <Paragraphs>605</Paragraphs>
  <Slides>64</Slides>
  <Notes>39</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3</vt:i4>
      </vt:variant>
      <vt:variant>
        <vt:lpstr>幻灯片标题</vt:lpstr>
      </vt:variant>
      <vt:variant>
        <vt:i4>64</vt:i4>
      </vt:variant>
    </vt:vector>
  </HeadingPairs>
  <TitlesOfParts>
    <vt:vector size="82" baseType="lpstr">
      <vt:lpstr>Arial</vt:lpstr>
      <vt:lpstr>宋体</vt:lpstr>
      <vt:lpstr>Wingdings</vt:lpstr>
      <vt:lpstr>Tahoma</vt:lpstr>
      <vt:lpstr>GreekS</vt:lpstr>
      <vt:lpstr>Segoe Print</vt:lpstr>
      <vt:lpstr>华文彩云</vt:lpstr>
      <vt:lpstr>楷体_GB2312</vt:lpstr>
      <vt:lpstr>新宋体</vt:lpstr>
      <vt:lpstr>华文楷体</vt:lpstr>
      <vt:lpstr>微软雅黑</vt:lpstr>
      <vt:lpstr>Arial Unicode MS</vt:lpstr>
      <vt:lpstr>Times New Roman</vt:lpstr>
      <vt:lpstr>Symath</vt:lpstr>
      <vt:lpstr>麦田夕照</vt:lpstr>
      <vt:lpstr>Paint.Picture</vt:lpstr>
      <vt:lpstr>Paint.Picture</vt:lpstr>
      <vt:lpstr>MSPhotoEd.3</vt:lpstr>
      <vt:lpstr>机械制造基础</vt:lpstr>
      <vt:lpstr>     第四篇  焊接</vt:lpstr>
      <vt:lpstr>焊 接</vt:lpstr>
      <vt:lpstr>焊 接</vt:lpstr>
      <vt:lpstr>焊 接</vt:lpstr>
      <vt:lpstr>本篇内容</vt:lpstr>
      <vt:lpstr>焊接视频</vt:lpstr>
      <vt:lpstr>电弧焊</vt:lpstr>
      <vt:lpstr>焊接电弧</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电弧焊</vt:lpstr>
      <vt:lpstr>电弧焊</vt:lpstr>
      <vt:lpstr>PowerPoint 演示文稿</vt:lpstr>
      <vt:lpstr>PowerPoint 演示文稿</vt:lpstr>
      <vt:lpstr>PowerPoint 演示文稿</vt:lpstr>
      <vt:lpstr>PowerPoint 演示文稿</vt:lpstr>
      <vt:lpstr>PowerPoint 演示文稿</vt:lpstr>
      <vt:lpstr>承上启下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焊条电弧焊</vt:lpstr>
      <vt:lpstr>一、焊条电弧焊原理与质量</vt:lpstr>
      <vt:lpstr>3.焊接过程</vt:lpstr>
      <vt:lpstr>4.焊条</vt:lpstr>
      <vt:lpstr>焊条的分类（按熔渣的化学性质分）    </vt:lpstr>
      <vt:lpstr>焊条的选用（按强度等级和化学成分选用）</vt:lpstr>
      <vt:lpstr>焊条的选用（按焊件的工作条件选用）</vt:lpstr>
      <vt:lpstr>焊条的选用（按焊件的形状、刚度及焊接位置选用）</vt:lpstr>
      <vt:lpstr>埋弧焊</vt:lpstr>
      <vt:lpstr>埋弧焊</vt:lpstr>
      <vt:lpstr>埋弧焊</vt:lpstr>
      <vt:lpstr>埋弧焊焊接过程</vt:lpstr>
      <vt:lpstr>埋弧焊</vt:lpstr>
      <vt:lpstr>埋弧焊工艺</vt:lpstr>
      <vt:lpstr>埋弧焊工艺</vt:lpstr>
      <vt:lpstr>气体保护焊</vt:lpstr>
      <vt:lpstr>气体保护焊</vt:lpstr>
      <vt:lpstr>气体保护焊</vt:lpstr>
      <vt:lpstr>气体保护焊</vt:lpstr>
      <vt:lpstr>PowerPoint 演示文稿</vt:lpstr>
      <vt:lpstr>气体保护焊</vt:lpstr>
      <vt:lpstr>二氧化碳气体保护焊</vt:lpstr>
      <vt:lpstr>PowerPoint 演示文稿</vt:lpstr>
      <vt:lpstr>PowerPoint 演示文稿</vt:lpstr>
      <vt:lpstr>PowerPoint 演示文稿</vt:lpstr>
      <vt:lpstr>PowerPoint 演示文稿</vt:lpstr>
      <vt:lpstr>微型计算机在电弧焊中的应用</vt:lpstr>
      <vt:lpstr>微型计算机在电弧焊中的应用</vt:lpstr>
      <vt:lpstr>微型计算机在电弧焊中的应用</vt:lpstr>
      <vt:lpstr>PowerPoint 演示文稿</vt:lpstr>
    </vt:vector>
  </TitlesOfParts>
  <Company>cws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机械制造基础</dc:title>
  <dc:creator>cdd</dc:creator>
  <cp:lastModifiedBy>rainbow</cp:lastModifiedBy>
  <cp:revision>891</cp:revision>
  <dcterms:created xsi:type="dcterms:W3CDTF">2003-11-04T05:35:00Z</dcterms:created>
  <dcterms:modified xsi:type="dcterms:W3CDTF">2021-11-04T03:31:50Z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57E4685A61EF44DC9D985A1B497ACAD7</vt:lpwstr>
  </property>
  <property fmtid="{D5CDD505-2E9C-101B-9397-08002B2CF9AE}" pid="3" name="KSOProductBuildVer">
    <vt:lpwstr>2052-11.1.0.11045</vt:lpwstr>
  </property>
</Properties>
</file>