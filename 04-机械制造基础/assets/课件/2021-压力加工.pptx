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ctiveX/activeX1.bin" ContentType="application/vnd.ms-office.activeX"/>
  <Override PartName="/ppt/activeX/activeX1.xml" ContentType="application/vnd.ms-office.activeX+xml"/>
  <Override PartName="/ppt/activeX/activeX2.bin" ContentType="application/vnd.ms-office.activeX"/>
  <Override PartName="/ppt/activeX/activeX2.xml" ContentType="application/vnd.ms-office.activeX+xml"/>
  <Override PartName="/ppt/activeX/activeX3.bin" ContentType="application/vnd.ms-office.activeX"/>
  <Override PartName="/ppt/activeX/activeX3.xml" ContentType="application/vnd.ms-office.activeX+xml"/>
  <Override PartName="/ppt/activeX/activeX4.bin" ContentType="application/vnd.ms-office.activeX"/>
  <Override PartName="/ppt/activeX/activeX4.xml" ContentType="application/vnd.ms-office.activeX+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51"/>
  </p:handoutMasterIdLst>
  <p:sldIdLst>
    <p:sldId id="256" r:id="rId3"/>
    <p:sldId id="262" r:id="rId5"/>
    <p:sldId id="856" r:id="rId6"/>
    <p:sldId id="662" r:id="rId7"/>
    <p:sldId id="794" r:id="rId8"/>
    <p:sldId id="802" r:id="rId9"/>
    <p:sldId id="857" r:id="rId10"/>
    <p:sldId id="364" r:id="rId11"/>
    <p:sldId id="365" r:id="rId12"/>
    <p:sldId id="781" r:id="rId13"/>
    <p:sldId id="366" r:id="rId14"/>
    <p:sldId id="858" r:id="rId15"/>
    <p:sldId id="859" r:id="rId16"/>
    <p:sldId id="860" r:id="rId17"/>
    <p:sldId id="367" r:id="rId18"/>
    <p:sldId id="368" r:id="rId19"/>
    <p:sldId id="682" r:id="rId20"/>
    <p:sldId id="827" r:id="rId21"/>
    <p:sldId id="369" r:id="rId22"/>
    <p:sldId id="862" r:id="rId23"/>
    <p:sldId id="370" r:id="rId24"/>
    <p:sldId id="371" r:id="rId25"/>
    <p:sldId id="784" r:id="rId26"/>
    <p:sldId id="785" r:id="rId27"/>
    <p:sldId id="795" r:id="rId28"/>
    <p:sldId id="373" r:id="rId29"/>
    <p:sldId id="767" r:id="rId30"/>
    <p:sldId id="863" r:id="rId31"/>
    <p:sldId id="829" r:id="rId32"/>
    <p:sldId id="831" r:id="rId33"/>
    <p:sldId id="832" r:id="rId34"/>
    <p:sldId id="663" r:id="rId35"/>
    <p:sldId id="664" r:id="rId36"/>
    <p:sldId id="669" r:id="rId37"/>
    <p:sldId id="375" r:id="rId38"/>
    <p:sldId id="670" r:id="rId39"/>
    <p:sldId id="1000" r:id="rId40"/>
    <p:sldId id="1001" r:id="rId41"/>
    <p:sldId id="1002" r:id="rId42"/>
    <p:sldId id="1005" r:id="rId43"/>
    <p:sldId id="773" r:id="rId44"/>
    <p:sldId id="835" r:id="rId45"/>
    <p:sldId id="833" r:id="rId46"/>
    <p:sldId id="376" r:id="rId47"/>
    <p:sldId id="768" r:id="rId48"/>
    <p:sldId id="769" r:id="rId49"/>
    <p:sldId id="808" r:id="rId50"/>
    <p:sldId id="809" r:id="rId51"/>
    <p:sldId id="843" r:id="rId52"/>
    <p:sldId id="844" r:id="rId53"/>
    <p:sldId id="845" r:id="rId54"/>
    <p:sldId id="841" r:id="rId55"/>
    <p:sldId id="842" r:id="rId56"/>
    <p:sldId id="804" r:id="rId57"/>
    <p:sldId id="812" r:id="rId58"/>
    <p:sldId id="813" r:id="rId59"/>
    <p:sldId id="814" r:id="rId60"/>
    <p:sldId id="815" r:id="rId61"/>
    <p:sldId id="816" r:id="rId62"/>
    <p:sldId id="673" r:id="rId63"/>
    <p:sldId id="834" r:id="rId64"/>
    <p:sldId id="837" r:id="rId65"/>
    <p:sldId id="838" r:id="rId66"/>
    <p:sldId id="674" r:id="rId67"/>
    <p:sldId id="675" r:id="rId68"/>
    <p:sldId id="849" r:id="rId69"/>
    <p:sldId id="684" r:id="rId70"/>
    <p:sldId id="776" r:id="rId71"/>
    <p:sldId id="747" r:id="rId72"/>
    <p:sldId id="686" r:id="rId73"/>
    <p:sldId id="772" r:id="rId74"/>
    <p:sldId id="687" r:id="rId75"/>
    <p:sldId id="748" r:id="rId76"/>
    <p:sldId id="865" r:id="rId77"/>
    <p:sldId id="677" r:id="rId78"/>
    <p:sldId id="750" r:id="rId79"/>
    <p:sldId id="749" r:id="rId80"/>
    <p:sldId id="866" r:id="rId81"/>
    <p:sldId id="853" r:id="rId82"/>
    <p:sldId id="676" r:id="rId83"/>
    <p:sldId id="679" r:id="rId84"/>
    <p:sldId id="867" r:id="rId85"/>
    <p:sldId id="680" r:id="rId86"/>
    <p:sldId id="741" r:id="rId87"/>
    <p:sldId id="727" r:id="rId88"/>
    <p:sldId id="854" r:id="rId89"/>
    <p:sldId id="379" r:id="rId90"/>
    <p:sldId id="696" r:id="rId91"/>
    <p:sldId id="695" r:id="rId92"/>
    <p:sldId id="697" r:id="rId93"/>
    <p:sldId id="694" r:id="rId94"/>
    <p:sldId id="796" r:id="rId95"/>
    <p:sldId id="751" r:id="rId96"/>
    <p:sldId id="726" r:id="rId97"/>
    <p:sldId id="752" r:id="rId98"/>
    <p:sldId id="685" r:id="rId99"/>
    <p:sldId id="799" r:id="rId100"/>
    <p:sldId id="864" r:id="rId101"/>
    <p:sldId id="688" r:id="rId102"/>
    <p:sldId id="385" r:id="rId103"/>
    <p:sldId id="755" r:id="rId104"/>
    <p:sldId id="1117" r:id="rId105"/>
    <p:sldId id="1118" r:id="rId106"/>
    <p:sldId id="690" r:id="rId107"/>
    <p:sldId id="691" r:id="rId108"/>
    <p:sldId id="700" r:id="rId109"/>
    <p:sldId id="701" r:id="rId110"/>
    <p:sldId id="869" r:id="rId111"/>
    <p:sldId id="870" r:id="rId112"/>
    <p:sldId id="825" r:id="rId113"/>
    <p:sldId id="780" r:id="rId114"/>
    <p:sldId id="715" r:id="rId115"/>
    <p:sldId id="872" r:id="rId116"/>
    <p:sldId id="699" r:id="rId117"/>
    <p:sldId id="702" r:id="rId118"/>
    <p:sldId id="797" r:id="rId119"/>
    <p:sldId id="704" r:id="rId120"/>
    <p:sldId id="716" r:id="rId121"/>
    <p:sldId id="705" r:id="rId122"/>
    <p:sldId id="387" r:id="rId123"/>
    <p:sldId id="388" r:id="rId124"/>
    <p:sldId id="706" r:id="rId125"/>
    <p:sldId id="787" r:id="rId126"/>
    <p:sldId id="1116" r:id="rId127"/>
    <p:sldId id="717" r:id="rId128"/>
    <p:sldId id="719" r:id="rId129"/>
    <p:sldId id="846" r:id="rId130"/>
    <p:sldId id="720" r:id="rId131"/>
    <p:sldId id="721" r:id="rId132"/>
    <p:sldId id="722" r:id="rId133"/>
    <p:sldId id="723" r:id="rId134"/>
    <p:sldId id="724" r:id="rId135"/>
    <p:sldId id="725" r:id="rId136"/>
    <p:sldId id="753" r:id="rId137"/>
    <p:sldId id="707" r:id="rId138"/>
    <p:sldId id="708" r:id="rId139"/>
    <p:sldId id="763" r:id="rId140"/>
    <p:sldId id="764" r:id="rId141"/>
    <p:sldId id="765" r:id="rId142"/>
    <p:sldId id="766" r:id="rId143"/>
    <p:sldId id="756" r:id="rId144"/>
    <p:sldId id="743" r:id="rId145"/>
    <p:sldId id="709" r:id="rId146"/>
    <p:sldId id="710" r:id="rId147"/>
    <p:sldId id="711" r:id="rId148"/>
    <p:sldId id="693" r:id="rId149"/>
    <p:sldId id="744" r:id="rId150"/>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CCECFF"/>
    <a:srgbClr val="0000FF"/>
    <a:srgbClr val="FFFFFF"/>
    <a:srgbClr val="FFFFCC"/>
    <a:srgbClr val="FFCC66"/>
    <a:srgbClr val="000000"/>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9677"/>
    <p:restoredTop sz="96678"/>
  </p:normalViewPr>
  <p:slideViewPr>
    <p:cSldViewPr showGuides="1">
      <p:cViewPr varScale="1">
        <p:scale>
          <a:sx n="62" d="100"/>
          <a:sy n="62" d="100"/>
        </p:scale>
        <p:origin x="-1624" y="-80"/>
      </p:cViewPr>
      <p:guideLst>
        <p:guide orient="horz" pos="2122"/>
        <p:guide pos="2857"/>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369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4" Type="http://schemas.openxmlformats.org/officeDocument/2006/relationships/tableStyles" Target="tableStyles.xml"/><Relationship Id="rId153" Type="http://schemas.openxmlformats.org/officeDocument/2006/relationships/viewProps" Target="viewProps.xml"/><Relationship Id="rId152" Type="http://schemas.openxmlformats.org/officeDocument/2006/relationships/presProps" Target="presProps.xml"/><Relationship Id="rId151" Type="http://schemas.openxmlformats.org/officeDocument/2006/relationships/handoutMaster" Target="handoutMasters/handoutMaster1.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_rels/activeX3.xml.rels><?xml version="1.0" encoding="UTF-8" standalone="yes"?>
<Relationships xmlns="http://schemas.openxmlformats.org/package/2006/relationships"><Relationship Id="rId1" Type="http://schemas.microsoft.com/office/2006/relationships/activeXControlBinary" Target="activeX3.bin"/></Relationships>
</file>

<file path=ppt/activeX/_rels/activeX4.xml.rels><?xml version="1.0" encoding="UTF-8" standalone="yes"?>
<Relationships xmlns="http://schemas.openxmlformats.org/package/2006/relationships"><Relationship Id="rId1" Type="http://schemas.microsoft.com/office/2006/relationships/activeXControlBinary" Target="activeX4.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activeX/activeX2.xml><?xml version="1.0" encoding="utf-8"?>
<ax:ocx xmlns:ax="http://schemas.microsoft.com/office/2006/activeX" xmlns:r="http://schemas.openxmlformats.org/officeDocument/2006/relationships" ax:classid="{D27CDB6E-AE6D-11CF-96B8-444553540000}" ax:persistence="persistStorage" r:id="rId1"/>
</file>

<file path=ppt/activeX/activeX3.xml><?xml version="1.0" encoding="utf-8"?>
<ax:ocx xmlns:ax="http://schemas.microsoft.com/office/2006/activeX" xmlns:r="http://schemas.openxmlformats.org/officeDocument/2006/relationships" ax:classid="{D27CDB6E-AE6D-11CF-96B8-444553540000}" ax:persistence="persistStorage" r:id="rId1"/>
</file>

<file path=ppt/activeX/activeX4.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3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7.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7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75778"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779" name="Rectangle 3"/>
          <p:cNvSpPr>
            <a:spLocks noGrp="1" noChangeArrowheads="1"/>
          </p:cNvSpPr>
          <p:nvPr>
            <p:ph type="dt" sz="quarter"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780" name="Rectangle 4"/>
          <p:cNvSpPr>
            <a:spLocks noGrp="1" noChangeArrowheads="1"/>
          </p:cNvSpPr>
          <p:nvPr>
            <p:ph type="ftr" sz="quarter" idx="2"/>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781" name="Rectangle 5"/>
          <p:cNvSpPr>
            <a:spLocks noGrp="1" noChangeArrowheads="1"/>
          </p:cNvSpPr>
          <p:nvPr>
            <p:ph type="sldNum" sz="quarter" idx="3"/>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
            <a:pPr lvl="0" algn="r" eaLnBrk="1" hangingPunct="1">
              <a:buNone/>
            </a:pPr>
            <a:fld id="{9A0DB2DC-4C9A-4742-B13C-FB6460FD3503}" type="slidenum">
              <a:rPr lang="en-US" altLang="zh-CN" sz="1200" dirty="0"/>
            </a:fld>
            <a:endParaRPr lang="en-US" altLang="zh-CN"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34562"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a:latin typeface="GreekS" pitchFamily="2"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GreekS" pitchFamily="2" charset="0"/>
              <a:ea typeface="宋体" panose="02010600030101010101" pitchFamily="2" charset="-122"/>
              <a:cs typeface="+mn-cs"/>
            </a:endParaRPr>
          </a:p>
        </p:txBody>
      </p:sp>
      <p:sp>
        <p:nvSpPr>
          <p:cNvPr id="834563"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a:latin typeface="GreekS" pitchFamily="2"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GreekS" pitchFamily="2" charset="0"/>
              <a:ea typeface="宋体" panose="02010600030101010101" pitchFamily="2" charset="-122"/>
              <a:cs typeface="+mn-cs"/>
            </a:endParaRPr>
          </a:p>
        </p:txBody>
      </p:sp>
      <p:sp>
        <p:nvSpPr>
          <p:cNvPr id="153604" name="Rectangle 4"/>
          <p:cNvSpPr>
            <a:spLocks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834565"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34566"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a:latin typeface="GreekS" pitchFamily="2"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GreekS" pitchFamily="2" charset="0"/>
              <a:ea typeface="宋体" panose="02010600030101010101" pitchFamily="2" charset="-122"/>
              <a:cs typeface="+mn-cs"/>
            </a:endParaRPr>
          </a:p>
        </p:txBody>
      </p:sp>
      <p:sp>
        <p:nvSpPr>
          <p:cNvPr id="834567"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
            <a:pPr lvl="0" algn="r" eaLnBrk="1" hangingPunct="1">
              <a:buNone/>
            </a:pPr>
            <a:fld id="{9A0DB2DC-4C9A-4742-B13C-FB6460FD3503}" type="slidenum">
              <a:rPr lang="en-US" altLang="zh-CN" sz="1200" dirty="0">
                <a:latin typeface="GreekS" pitchFamily="2" charset="0"/>
              </a:rPr>
            </a:fld>
            <a:endParaRPr lang="en-US" altLang="zh-CN" sz="1200" dirty="0">
              <a:latin typeface="GreekS" pitchFamily="2"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54627" name="Rectangle 1026"/>
          <p:cNvSpPr>
            <a:spLocks noTextEdit="1"/>
          </p:cNvSpPr>
          <p:nvPr>
            <p:ph type="sldImg"/>
          </p:nvPr>
        </p:nvSpPr>
        <p:spPr/>
      </p:sp>
      <p:sp>
        <p:nvSpPr>
          <p:cNvPr id="154628" name="Rectangle 1027"/>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55651" name="Rectangle 2"/>
          <p:cNvSpPr>
            <a:spLocks noTextEdit="1"/>
          </p:cNvSpPr>
          <p:nvPr>
            <p:ph type="sldImg"/>
          </p:nvPr>
        </p:nvSpPr>
        <p:spPr/>
      </p:sp>
      <p:sp>
        <p:nvSpPr>
          <p:cNvPr id="15565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56675" name="Rectangle 2"/>
          <p:cNvSpPr>
            <a:spLocks noTextEdit="1"/>
          </p:cNvSpPr>
          <p:nvPr>
            <p:ph type="sldImg"/>
          </p:nvPr>
        </p:nvSpPr>
        <p:spPr/>
      </p:sp>
      <p:sp>
        <p:nvSpPr>
          <p:cNvPr id="15667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57699" name="Rectangle 2"/>
          <p:cNvSpPr>
            <a:spLocks noTextEdit="1"/>
          </p:cNvSpPr>
          <p:nvPr>
            <p:ph type="sldImg"/>
          </p:nvPr>
        </p:nvSpPr>
        <p:spPr/>
      </p:sp>
      <p:sp>
        <p:nvSpPr>
          <p:cNvPr id="15770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58723" name="Rectangle 2"/>
          <p:cNvSpPr>
            <a:spLocks noTextEdit="1"/>
          </p:cNvSpPr>
          <p:nvPr>
            <p:ph type="sldImg"/>
          </p:nvPr>
        </p:nvSpPr>
        <p:spPr/>
      </p:sp>
      <p:sp>
        <p:nvSpPr>
          <p:cNvPr id="15872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59747" name="Rectangle 2"/>
          <p:cNvSpPr>
            <a:spLocks noTextEdit="1"/>
          </p:cNvSpPr>
          <p:nvPr>
            <p:ph type="sldImg"/>
          </p:nvPr>
        </p:nvSpPr>
        <p:spPr/>
      </p:sp>
      <p:sp>
        <p:nvSpPr>
          <p:cNvPr id="15974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60771" name="Rectangle 2"/>
          <p:cNvSpPr>
            <a:spLocks noTextEdit="1"/>
          </p:cNvSpPr>
          <p:nvPr>
            <p:ph type="sldImg"/>
          </p:nvPr>
        </p:nvSpPr>
        <p:spPr/>
      </p:sp>
      <p:sp>
        <p:nvSpPr>
          <p:cNvPr id="16077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61795" name="Rectangle 2"/>
          <p:cNvSpPr>
            <a:spLocks noTextEdit="1"/>
          </p:cNvSpPr>
          <p:nvPr>
            <p:ph type="sldImg"/>
          </p:nvPr>
        </p:nvSpPr>
        <p:spPr/>
      </p:sp>
      <p:sp>
        <p:nvSpPr>
          <p:cNvPr id="16179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62819" name="Rectangle 2"/>
          <p:cNvSpPr>
            <a:spLocks noTextEdit="1"/>
          </p:cNvSpPr>
          <p:nvPr>
            <p:ph type="sldImg"/>
          </p:nvPr>
        </p:nvSpPr>
        <p:spPr/>
      </p:sp>
      <p:sp>
        <p:nvSpPr>
          <p:cNvPr id="16282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63843" name="Rectangle 2"/>
          <p:cNvSpPr>
            <a:spLocks noTextEdit="1"/>
          </p:cNvSpPr>
          <p:nvPr>
            <p:ph type="sldImg"/>
          </p:nvPr>
        </p:nvSpPr>
        <p:spPr/>
      </p:sp>
      <p:sp>
        <p:nvSpPr>
          <p:cNvPr id="16384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64867" name="Rectangle 2"/>
          <p:cNvSpPr>
            <a:spLocks noTextEdit="1"/>
          </p:cNvSpPr>
          <p:nvPr>
            <p:ph type="sldImg"/>
          </p:nvPr>
        </p:nvSpPr>
        <p:spPr/>
      </p:sp>
      <p:sp>
        <p:nvSpPr>
          <p:cNvPr id="16486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65891" name="Rectangle 2"/>
          <p:cNvSpPr>
            <a:spLocks noTextEdit="1"/>
          </p:cNvSpPr>
          <p:nvPr>
            <p:ph type="sldImg"/>
          </p:nvPr>
        </p:nvSpPr>
        <p:spPr/>
      </p:sp>
      <p:sp>
        <p:nvSpPr>
          <p:cNvPr id="16589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66915" name="Rectangle 2"/>
          <p:cNvSpPr>
            <a:spLocks noTextEdit="1"/>
          </p:cNvSpPr>
          <p:nvPr>
            <p:ph type="sldImg"/>
          </p:nvPr>
        </p:nvSpPr>
        <p:spPr/>
      </p:sp>
      <p:sp>
        <p:nvSpPr>
          <p:cNvPr id="16691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67939" name="Rectangle 2"/>
          <p:cNvSpPr>
            <a:spLocks noTextEdit="1"/>
          </p:cNvSpPr>
          <p:nvPr>
            <p:ph type="sldImg"/>
          </p:nvPr>
        </p:nvSpPr>
        <p:spPr/>
      </p:sp>
      <p:sp>
        <p:nvSpPr>
          <p:cNvPr id="16794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68963" name="Rectangle 2"/>
          <p:cNvSpPr>
            <a:spLocks noTextEdit="1"/>
          </p:cNvSpPr>
          <p:nvPr>
            <p:ph type="sldImg"/>
          </p:nvPr>
        </p:nvSpPr>
        <p:spPr/>
      </p:sp>
      <p:sp>
        <p:nvSpPr>
          <p:cNvPr id="16896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69987" name="Rectangle 2"/>
          <p:cNvSpPr>
            <a:spLocks noTextEdit="1"/>
          </p:cNvSpPr>
          <p:nvPr>
            <p:ph type="sldImg"/>
          </p:nvPr>
        </p:nvSpPr>
        <p:spPr/>
      </p:sp>
      <p:sp>
        <p:nvSpPr>
          <p:cNvPr id="16998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72035" name="Rectangle 2"/>
          <p:cNvSpPr>
            <a:spLocks noTextEdit="1"/>
          </p:cNvSpPr>
          <p:nvPr>
            <p:ph type="sldImg"/>
          </p:nvPr>
        </p:nvSpPr>
        <p:spPr/>
      </p:sp>
      <p:sp>
        <p:nvSpPr>
          <p:cNvPr id="17203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71011" name="Rectangle 2"/>
          <p:cNvSpPr>
            <a:spLocks noTextEdit="1"/>
          </p:cNvSpPr>
          <p:nvPr>
            <p:ph type="sldImg"/>
          </p:nvPr>
        </p:nvSpPr>
        <p:spPr/>
      </p:sp>
      <p:sp>
        <p:nvSpPr>
          <p:cNvPr id="17101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73059" name="Rectangle 2"/>
          <p:cNvSpPr>
            <a:spLocks noTextEdit="1"/>
          </p:cNvSpPr>
          <p:nvPr>
            <p:ph type="sldImg"/>
          </p:nvPr>
        </p:nvSpPr>
        <p:spPr/>
      </p:sp>
      <p:sp>
        <p:nvSpPr>
          <p:cNvPr id="17306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74083" name="Rectangle 2"/>
          <p:cNvSpPr>
            <a:spLocks noTextEdit="1"/>
          </p:cNvSpPr>
          <p:nvPr>
            <p:ph type="sldImg"/>
          </p:nvPr>
        </p:nvSpPr>
        <p:spPr/>
      </p:sp>
      <p:sp>
        <p:nvSpPr>
          <p:cNvPr id="17408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75107" name="Rectangle 2"/>
          <p:cNvSpPr>
            <a:spLocks noTextEdit="1"/>
          </p:cNvSpPr>
          <p:nvPr>
            <p:ph type="sldImg"/>
          </p:nvPr>
        </p:nvSpPr>
        <p:spPr/>
      </p:sp>
      <p:sp>
        <p:nvSpPr>
          <p:cNvPr id="17510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76131" name="Rectangle 2"/>
          <p:cNvSpPr>
            <a:spLocks noTextEdit="1"/>
          </p:cNvSpPr>
          <p:nvPr>
            <p:ph type="sldImg"/>
          </p:nvPr>
        </p:nvSpPr>
        <p:spPr/>
      </p:sp>
      <p:sp>
        <p:nvSpPr>
          <p:cNvPr id="17613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77155" name="Rectangle 2"/>
          <p:cNvSpPr>
            <a:spLocks noTextEdit="1"/>
          </p:cNvSpPr>
          <p:nvPr>
            <p:ph type="sldImg"/>
          </p:nvPr>
        </p:nvSpPr>
        <p:spPr/>
      </p:sp>
      <p:sp>
        <p:nvSpPr>
          <p:cNvPr id="17715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78179" name="Rectangle 2"/>
          <p:cNvSpPr>
            <a:spLocks noTextEdit="1"/>
          </p:cNvSpPr>
          <p:nvPr>
            <p:ph type="sldImg"/>
          </p:nvPr>
        </p:nvSpPr>
        <p:spPr/>
      </p:sp>
      <p:sp>
        <p:nvSpPr>
          <p:cNvPr id="17818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79203" name="Rectangle 2"/>
          <p:cNvSpPr>
            <a:spLocks noTextEdit="1"/>
          </p:cNvSpPr>
          <p:nvPr>
            <p:ph type="sldImg"/>
          </p:nvPr>
        </p:nvSpPr>
        <p:spPr/>
      </p:sp>
      <p:sp>
        <p:nvSpPr>
          <p:cNvPr id="17920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80227" name="Rectangle 2"/>
          <p:cNvSpPr>
            <a:spLocks noTextEdit="1"/>
          </p:cNvSpPr>
          <p:nvPr>
            <p:ph type="sldImg"/>
          </p:nvPr>
        </p:nvSpPr>
        <p:spPr/>
      </p:sp>
      <p:sp>
        <p:nvSpPr>
          <p:cNvPr id="18022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81251" name="Rectangle 2"/>
          <p:cNvSpPr>
            <a:spLocks noTextEdit="1"/>
          </p:cNvSpPr>
          <p:nvPr>
            <p:ph type="sldImg"/>
          </p:nvPr>
        </p:nvSpPr>
        <p:spPr/>
      </p:sp>
      <p:sp>
        <p:nvSpPr>
          <p:cNvPr id="18125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82275" name="Rectangle 2"/>
          <p:cNvSpPr>
            <a:spLocks noTextEdit="1"/>
          </p:cNvSpPr>
          <p:nvPr>
            <p:ph type="sldImg"/>
          </p:nvPr>
        </p:nvSpPr>
        <p:spPr/>
      </p:sp>
      <p:sp>
        <p:nvSpPr>
          <p:cNvPr id="18227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83299" name="Rectangle 2"/>
          <p:cNvSpPr>
            <a:spLocks noTextEdit="1"/>
          </p:cNvSpPr>
          <p:nvPr>
            <p:ph type="sldImg"/>
          </p:nvPr>
        </p:nvSpPr>
        <p:spPr/>
      </p:sp>
      <p:sp>
        <p:nvSpPr>
          <p:cNvPr id="18330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84323" name="Rectangle 2"/>
          <p:cNvSpPr>
            <a:spLocks noTextEdit="1"/>
          </p:cNvSpPr>
          <p:nvPr>
            <p:ph type="sldImg"/>
          </p:nvPr>
        </p:nvSpPr>
        <p:spPr/>
      </p:sp>
      <p:sp>
        <p:nvSpPr>
          <p:cNvPr id="18432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85347" name="Rectangle 2"/>
          <p:cNvSpPr>
            <a:spLocks noTextEdit="1"/>
          </p:cNvSpPr>
          <p:nvPr>
            <p:ph type="sldImg"/>
          </p:nvPr>
        </p:nvSpPr>
        <p:spPr/>
      </p:sp>
      <p:sp>
        <p:nvSpPr>
          <p:cNvPr id="18534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86371" name="Rectangle 2"/>
          <p:cNvSpPr>
            <a:spLocks noTextEdit="1"/>
          </p:cNvSpPr>
          <p:nvPr>
            <p:ph type="sldImg"/>
          </p:nvPr>
        </p:nvSpPr>
        <p:spPr/>
      </p:sp>
      <p:sp>
        <p:nvSpPr>
          <p:cNvPr id="18637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87395" name="Rectangle 2"/>
          <p:cNvSpPr>
            <a:spLocks noTextEdit="1"/>
          </p:cNvSpPr>
          <p:nvPr>
            <p:ph type="sldImg"/>
          </p:nvPr>
        </p:nvSpPr>
        <p:spPr/>
      </p:sp>
      <p:sp>
        <p:nvSpPr>
          <p:cNvPr id="18739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88419" name="Rectangle 2"/>
          <p:cNvSpPr>
            <a:spLocks noTextEdit="1"/>
          </p:cNvSpPr>
          <p:nvPr>
            <p:ph type="sldImg"/>
          </p:nvPr>
        </p:nvSpPr>
        <p:spPr/>
      </p:sp>
      <p:sp>
        <p:nvSpPr>
          <p:cNvPr id="18842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89443" name="Rectangle 2"/>
          <p:cNvSpPr>
            <a:spLocks noTextEdit="1"/>
          </p:cNvSpPr>
          <p:nvPr>
            <p:ph type="sldImg"/>
          </p:nvPr>
        </p:nvSpPr>
        <p:spPr/>
      </p:sp>
      <p:sp>
        <p:nvSpPr>
          <p:cNvPr id="18944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90467" name="Rectangle 2"/>
          <p:cNvSpPr>
            <a:spLocks noTextEdit="1"/>
          </p:cNvSpPr>
          <p:nvPr>
            <p:ph type="sldImg"/>
          </p:nvPr>
        </p:nvSpPr>
        <p:spPr>
          <a:solidFill>
            <a:srgbClr val="FFFFFF">
              <a:alpha val="100000"/>
            </a:srgbClr>
          </a:solidFill>
        </p:spPr>
      </p:sp>
      <p:sp>
        <p:nvSpPr>
          <p:cNvPr id="190468" name="Rectangle 3"/>
          <p:cNvSpPr/>
          <p:nvPr>
            <p:ph type="body" idx="1"/>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91491" name="Rectangle 2"/>
          <p:cNvSpPr>
            <a:spLocks noTextEdit="1"/>
          </p:cNvSpPr>
          <p:nvPr>
            <p:ph type="sldImg"/>
          </p:nvPr>
        </p:nvSpPr>
        <p:spPr/>
      </p:sp>
      <p:sp>
        <p:nvSpPr>
          <p:cNvPr id="19149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92515" name="Rectangle 2"/>
          <p:cNvSpPr>
            <a:spLocks noTextEdit="1"/>
          </p:cNvSpPr>
          <p:nvPr>
            <p:ph type="sldImg"/>
          </p:nvPr>
        </p:nvSpPr>
        <p:spPr/>
      </p:sp>
      <p:sp>
        <p:nvSpPr>
          <p:cNvPr id="19251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93539" name="Rectangle 2"/>
          <p:cNvSpPr>
            <a:spLocks noTextEdit="1"/>
          </p:cNvSpPr>
          <p:nvPr>
            <p:ph type="sldImg"/>
          </p:nvPr>
        </p:nvSpPr>
        <p:spPr/>
      </p:sp>
      <p:sp>
        <p:nvSpPr>
          <p:cNvPr id="19354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94563" name="Rectangle 2"/>
          <p:cNvSpPr>
            <a:spLocks noTextEdit="1"/>
          </p:cNvSpPr>
          <p:nvPr>
            <p:ph type="sldImg"/>
          </p:nvPr>
        </p:nvSpPr>
        <p:spPr>
          <a:solidFill>
            <a:srgbClr val="FFFFFF">
              <a:alpha val="100000"/>
            </a:srgbClr>
          </a:solidFill>
        </p:spPr>
      </p:sp>
      <p:sp>
        <p:nvSpPr>
          <p:cNvPr id="194564" name="Rectangle 3"/>
          <p:cNvSpPr/>
          <p:nvPr>
            <p:ph type="body" idx="1"/>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95587" name="Rectangle 2"/>
          <p:cNvSpPr>
            <a:spLocks noTextEdit="1"/>
          </p:cNvSpPr>
          <p:nvPr>
            <p:ph type="sldImg"/>
          </p:nvPr>
        </p:nvSpPr>
        <p:spPr/>
      </p:sp>
      <p:sp>
        <p:nvSpPr>
          <p:cNvPr id="19558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1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96611" name="Rectangle 2"/>
          <p:cNvSpPr>
            <a:spLocks noTextEdit="1"/>
          </p:cNvSpPr>
          <p:nvPr>
            <p:ph type="sldImg"/>
          </p:nvPr>
        </p:nvSpPr>
        <p:spPr>
          <a:solidFill>
            <a:srgbClr val="FFFFFF">
              <a:alpha val="100000"/>
            </a:srgbClr>
          </a:solidFill>
        </p:spPr>
      </p:sp>
      <p:sp>
        <p:nvSpPr>
          <p:cNvPr id="196612" name="Rectangle 3"/>
          <p:cNvSpPr/>
          <p:nvPr>
            <p:ph type="body" idx="1"/>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763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97635" name="Rectangle 2"/>
          <p:cNvSpPr>
            <a:spLocks noTextEdit="1"/>
          </p:cNvSpPr>
          <p:nvPr>
            <p:ph type="sldImg"/>
          </p:nvPr>
        </p:nvSpPr>
        <p:spPr>
          <a:solidFill>
            <a:srgbClr val="FFFFFF">
              <a:alpha val="100000"/>
            </a:srgbClr>
          </a:solidFill>
        </p:spPr>
      </p:sp>
      <p:sp>
        <p:nvSpPr>
          <p:cNvPr id="197636" name="Rectangle 3"/>
          <p:cNvSpPr/>
          <p:nvPr>
            <p:ph type="body" idx="1"/>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98659" name="Rectangle 2"/>
          <p:cNvSpPr>
            <a:spLocks noTextEdit="1"/>
          </p:cNvSpPr>
          <p:nvPr>
            <p:ph type="sldImg"/>
          </p:nvPr>
        </p:nvSpPr>
        <p:spPr/>
      </p:sp>
      <p:sp>
        <p:nvSpPr>
          <p:cNvPr id="19866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99683" name="Rectangle 2"/>
          <p:cNvSpPr>
            <a:spLocks noTextEdit="1"/>
          </p:cNvSpPr>
          <p:nvPr>
            <p:ph type="sldImg"/>
          </p:nvPr>
        </p:nvSpPr>
        <p:spPr/>
      </p:sp>
      <p:sp>
        <p:nvSpPr>
          <p:cNvPr id="19968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00707" name="Rectangle 2"/>
          <p:cNvSpPr>
            <a:spLocks noTextEdit="1"/>
          </p:cNvSpPr>
          <p:nvPr>
            <p:ph type="sldImg"/>
          </p:nvPr>
        </p:nvSpPr>
        <p:spPr/>
      </p:sp>
      <p:sp>
        <p:nvSpPr>
          <p:cNvPr id="20070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01731" name="Rectangle 2"/>
          <p:cNvSpPr>
            <a:spLocks noTextEdit="1"/>
          </p:cNvSpPr>
          <p:nvPr>
            <p:ph type="sldImg"/>
          </p:nvPr>
        </p:nvSpPr>
        <p:spPr/>
      </p:sp>
      <p:sp>
        <p:nvSpPr>
          <p:cNvPr id="20173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02755" name="Rectangle 2"/>
          <p:cNvSpPr>
            <a:spLocks noTextEdit="1"/>
          </p:cNvSpPr>
          <p:nvPr>
            <p:ph type="sldImg"/>
          </p:nvPr>
        </p:nvSpPr>
        <p:spPr/>
      </p:sp>
      <p:sp>
        <p:nvSpPr>
          <p:cNvPr id="20275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377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03779" name="Rectangle 2"/>
          <p:cNvSpPr>
            <a:spLocks noTextEdit="1"/>
          </p:cNvSpPr>
          <p:nvPr>
            <p:ph type="sldImg"/>
          </p:nvPr>
        </p:nvSpPr>
        <p:spPr/>
      </p:sp>
      <p:sp>
        <p:nvSpPr>
          <p:cNvPr id="20378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04803" name="Rectangle 2"/>
          <p:cNvSpPr>
            <a:spLocks noTextEdit="1"/>
          </p:cNvSpPr>
          <p:nvPr>
            <p:ph type="sldImg"/>
          </p:nvPr>
        </p:nvSpPr>
        <p:spPr/>
      </p:sp>
      <p:sp>
        <p:nvSpPr>
          <p:cNvPr id="20480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2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05827" name="Rectangle 2"/>
          <p:cNvSpPr>
            <a:spLocks noTextEdit="1"/>
          </p:cNvSpPr>
          <p:nvPr>
            <p:ph type="sldImg"/>
          </p:nvPr>
        </p:nvSpPr>
        <p:spPr/>
      </p:sp>
      <p:sp>
        <p:nvSpPr>
          <p:cNvPr id="20582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685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06851" name="Rectangle 2"/>
          <p:cNvSpPr>
            <a:spLocks noTextEdit="1"/>
          </p:cNvSpPr>
          <p:nvPr>
            <p:ph type="sldImg"/>
          </p:nvPr>
        </p:nvSpPr>
        <p:spPr/>
      </p:sp>
      <p:sp>
        <p:nvSpPr>
          <p:cNvPr id="20685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787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07875" name="Rectangle 2"/>
          <p:cNvSpPr>
            <a:spLocks noTextEdit="1"/>
          </p:cNvSpPr>
          <p:nvPr>
            <p:ph type="sldImg"/>
          </p:nvPr>
        </p:nvSpPr>
        <p:spPr/>
      </p:sp>
      <p:sp>
        <p:nvSpPr>
          <p:cNvPr id="20787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889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08899" name="Rectangle 2"/>
          <p:cNvSpPr>
            <a:spLocks noTextEdit="1"/>
          </p:cNvSpPr>
          <p:nvPr>
            <p:ph type="sldImg"/>
          </p:nvPr>
        </p:nvSpPr>
        <p:spPr/>
      </p:sp>
      <p:sp>
        <p:nvSpPr>
          <p:cNvPr id="20890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992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09923" name="Rectangle 2"/>
          <p:cNvSpPr>
            <a:spLocks noTextEdit="1"/>
          </p:cNvSpPr>
          <p:nvPr>
            <p:ph type="sldImg"/>
          </p:nvPr>
        </p:nvSpPr>
        <p:spPr/>
      </p:sp>
      <p:sp>
        <p:nvSpPr>
          <p:cNvPr id="20992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094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10947" name="Rectangle 2"/>
          <p:cNvSpPr>
            <a:spLocks noTextEdit="1"/>
          </p:cNvSpPr>
          <p:nvPr>
            <p:ph type="sldImg"/>
          </p:nvPr>
        </p:nvSpPr>
        <p:spPr/>
      </p:sp>
      <p:sp>
        <p:nvSpPr>
          <p:cNvPr id="21094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197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11971" name="Rectangle 2"/>
          <p:cNvSpPr>
            <a:spLocks noTextEdit="1"/>
          </p:cNvSpPr>
          <p:nvPr>
            <p:ph type="sldImg"/>
          </p:nvPr>
        </p:nvSpPr>
        <p:spPr>
          <a:solidFill>
            <a:srgbClr val="FFFFFF">
              <a:alpha val="100000"/>
            </a:srgbClr>
          </a:solidFill>
        </p:spPr>
      </p:sp>
      <p:sp>
        <p:nvSpPr>
          <p:cNvPr id="211972" name="Rectangle 3"/>
          <p:cNvSpPr/>
          <p:nvPr>
            <p:ph type="body" idx="1"/>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299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12995" name="Rectangle 2"/>
          <p:cNvSpPr>
            <a:spLocks noTextEdit="1"/>
          </p:cNvSpPr>
          <p:nvPr>
            <p:ph type="sldImg"/>
          </p:nvPr>
        </p:nvSpPr>
        <p:spPr/>
      </p:sp>
      <p:sp>
        <p:nvSpPr>
          <p:cNvPr id="21299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401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14019" name="Rectangle 2"/>
          <p:cNvSpPr>
            <a:spLocks noTextEdit="1"/>
          </p:cNvSpPr>
          <p:nvPr>
            <p:ph type="sldImg"/>
          </p:nvPr>
        </p:nvSpPr>
        <p:spPr>
          <a:solidFill>
            <a:srgbClr val="FFFFFF">
              <a:alpha val="100000"/>
            </a:srgbClr>
          </a:solidFill>
        </p:spPr>
      </p:sp>
      <p:sp>
        <p:nvSpPr>
          <p:cNvPr id="214020" name="Rectangle 3"/>
          <p:cNvSpPr/>
          <p:nvPr>
            <p:ph type="body" idx="1"/>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4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15043" name="Rectangle 2"/>
          <p:cNvSpPr>
            <a:spLocks noTextEdit="1"/>
          </p:cNvSpPr>
          <p:nvPr>
            <p:ph type="sldImg"/>
          </p:nvPr>
        </p:nvSpPr>
        <p:spPr/>
      </p:sp>
      <p:sp>
        <p:nvSpPr>
          <p:cNvPr id="21504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606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16067" name="Rectangle 2"/>
          <p:cNvSpPr>
            <a:spLocks noTextEdit="1"/>
          </p:cNvSpPr>
          <p:nvPr>
            <p:ph type="sldImg"/>
          </p:nvPr>
        </p:nvSpPr>
        <p:spPr/>
      </p:sp>
      <p:sp>
        <p:nvSpPr>
          <p:cNvPr id="21606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709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17091" name="Rectangle 2"/>
          <p:cNvSpPr>
            <a:spLocks noTextEdit="1"/>
          </p:cNvSpPr>
          <p:nvPr>
            <p:ph type="sldImg"/>
          </p:nvPr>
        </p:nvSpPr>
        <p:spPr/>
      </p:sp>
      <p:sp>
        <p:nvSpPr>
          <p:cNvPr id="21709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811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18115" name="Rectangle 2"/>
          <p:cNvSpPr>
            <a:spLocks noTextEdit="1"/>
          </p:cNvSpPr>
          <p:nvPr>
            <p:ph type="sldImg"/>
          </p:nvPr>
        </p:nvSpPr>
        <p:spPr/>
      </p:sp>
      <p:sp>
        <p:nvSpPr>
          <p:cNvPr id="21811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913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19139" name="Rectangle 2"/>
          <p:cNvSpPr>
            <a:spLocks noTextEdit="1"/>
          </p:cNvSpPr>
          <p:nvPr>
            <p:ph type="sldImg"/>
          </p:nvPr>
        </p:nvSpPr>
        <p:spPr>
          <a:solidFill>
            <a:srgbClr val="FFFFFF">
              <a:alpha val="100000"/>
            </a:srgbClr>
          </a:solidFill>
        </p:spPr>
      </p:sp>
      <p:sp>
        <p:nvSpPr>
          <p:cNvPr id="219140" name="Rectangle 3"/>
          <p:cNvSpPr/>
          <p:nvPr>
            <p:ph type="body" idx="1"/>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016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20163" name="Rectangle 2"/>
          <p:cNvSpPr>
            <a:spLocks noTextEdit="1"/>
          </p:cNvSpPr>
          <p:nvPr>
            <p:ph type="sldImg"/>
          </p:nvPr>
        </p:nvSpPr>
        <p:spPr/>
      </p:sp>
      <p:sp>
        <p:nvSpPr>
          <p:cNvPr id="22016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118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21187" name="Rectangle 2"/>
          <p:cNvSpPr>
            <a:spLocks noTextEdit="1"/>
          </p:cNvSpPr>
          <p:nvPr>
            <p:ph type="sldImg"/>
          </p:nvPr>
        </p:nvSpPr>
        <p:spPr/>
      </p:sp>
      <p:sp>
        <p:nvSpPr>
          <p:cNvPr id="22118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221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22211" name="Rectangle 2"/>
          <p:cNvSpPr>
            <a:spLocks noTextEdit="1"/>
          </p:cNvSpPr>
          <p:nvPr>
            <p:ph type="sldImg"/>
          </p:nvPr>
        </p:nvSpPr>
        <p:spPr/>
      </p:sp>
      <p:sp>
        <p:nvSpPr>
          <p:cNvPr id="22221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323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23235" name="Rectangle 2"/>
          <p:cNvSpPr>
            <a:spLocks noTextEdit="1"/>
          </p:cNvSpPr>
          <p:nvPr>
            <p:ph type="sldImg"/>
          </p:nvPr>
        </p:nvSpPr>
        <p:spPr/>
      </p:sp>
      <p:sp>
        <p:nvSpPr>
          <p:cNvPr id="22323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425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24259" name="Rectangle 2"/>
          <p:cNvSpPr>
            <a:spLocks noTextEdit="1"/>
          </p:cNvSpPr>
          <p:nvPr>
            <p:ph type="sldImg"/>
          </p:nvPr>
        </p:nvSpPr>
        <p:spPr/>
      </p:sp>
      <p:sp>
        <p:nvSpPr>
          <p:cNvPr id="22426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8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25283" name="Rectangle 2"/>
          <p:cNvSpPr>
            <a:spLocks noTextEdit="1"/>
          </p:cNvSpPr>
          <p:nvPr>
            <p:ph type="sldImg"/>
          </p:nvPr>
        </p:nvSpPr>
        <p:spPr/>
      </p:sp>
      <p:sp>
        <p:nvSpPr>
          <p:cNvPr id="22528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630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26307" name="Rectangle 2"/>
          <p:cNvSpPr>
            <a:spLocks noTextEdit="1"/>
          </p:cNvSpPr>
          <p:nvPr>
            <p:ph type="sldImg"/>
          </p:nvPr>
        </p:nvSpPr>
        <p:spPr/>
      </p:sp>
      <p:sp>
        <p:nvSpPr>
          <p:cNvPr id="22630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733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27331" name="Rectangle 2"/>
          <p:cNvSpPr>
            <a:spLocks noTextEdit="1"/>
          </p:cNvSpPr>
          <p:nvPr>
            <p:ph type="sldImg"/>
          </p:nvPr>
        </p:nvSpPr>
        <p:spPr/>
      </p:sp>
      <p:sp>
        <p:nvSpPr>
          <p:cNvPr id="22733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835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28355" name="Rectangle 2"/>
          <p:cNvSpPr>
            <a:spLocks noTextEdit="1"/>
          </p:cNvSpPr>
          <p:nvPr>
            <p:ph type="sldImg"/>
          </p:nvPr>
        </p:nvSpPr>
        <p:spPr/>
      </p:sp>
      <p:sp>
        <p:nvSpPr>
          <p:cNvPr id="22835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937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29379" name="Rectangle 2"/>
          <p:cNvSpPr>
            <a:spLocks noTextEdit="1"/>
          </p:cNvSpPr>
          <p:nvPr>
            <p:ph type="sldImg"/>
          </p:nvPr>
        </p:nvSpPr>
        <p:spPr/>
      </p:sp>
      <p:sp>
        <p:nvSpPr>
          <p:cNvPr id="22938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040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30403" name="Rectangle 2"/>
          <p:cNvSpPr>
            <a:spLocks noTextEdit="1"/>
          </p:cNvSpPr>
          <p:nvPr>
            <p:ph type="sldImg"/>
          </p:nvPr>
        </p:nvSpPr>
        <p:spPr/>
      </p:sp>
      <p:sp>
        <p:nvSpPr>
          <p:cNvPr id="23040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142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31427" name="Rectangle 2"/>
          <p:cNvSpPr>
            <a:spLocks noTextEdit="1"/>
          </p:cNvSpPr>
          <p:nvPr>
            <p:ph type="sldImg"/>
          </p:nvPr>
        </p:nvSpPr>
        <p:spPr/>
      </p:sp>
      <p:sp>
        <p:nvSpPr>
          <p:cNvPr id="23142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245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32451" name="Rectangle 2"/>
          <p:cNvSpPr>
            <a:spLocks noTextEdit="1"/>
          </p:cNvSpPr>
          <p:nvPr>
            <p:ph type="sldImg"/>
          </p:nvPr>
        </p:nvSpPr>
        <p:spPr/>
      </p:sp>
      <p:sp>
        <p:nvSpPr>
          <p:cNvPr id="23245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347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33475" name="Rectangle 2"/>
          <p:cNvSpPr>
            <a:spLocks noTextEdit="1"/>
          </p:cNvSpPr>
          <p:nvPr>
            <p:ph type="sldImg"/>
          </p:nvPr>
        </p:nvSpPr>
        <p:spPr/>
      </p:sp>
      <p:sp>
        <p:nvSpPr>
          <p:cNvPr id="23347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449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34499" name="Rectangle 2"/>
          <p:cNvSpPr>
            <a:spLocks noTextEdit="1"/>
          </p:cNvSpPr>
          <p:nvPr>
            <p:ph type="sldImg"/>
          </p:nvPr>
        </p:nvSpPr>
        <p:spPr/>
      </p:sp>
      <p:sp>
        <p:nvSpPr>
          <p:cNvPr id="23450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2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35523" name="Rectangle 2"/>
          <p:cNvSpPr>
            <a:spLocks noTextEdit="1"/>
          </p:cNvSpPr>
          <p:nvPr>
            <p:ph type="sldImg"/>
          </p:nvPr>
        </p:nvSpPr>
        <p:spPr/>
      </p:sp>
      <p:sp>
        <p:nvSpPr>
          <p:cNvPr id="23552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654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36547" name="Rectangle 2"/>
          <p:cNvSpPr>
            <a:spLocks noTextEdit="1"/>
          </p:cNvSpPr>
          <p:nvPr>
            <p:ph type="sldImg"/>
          </p:nvPr>
        </p:nvSpPr>
        <p:spPr/>
      </p:sp>
      <p:sp>
        <p:nvSpPr>
          <p:cNvPr id="23654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757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37571" name="Rectangle 2"/>
          <p:cNvSpPr>
            <a:spLocks noTextEdit="1"/>
          </p:cNvSpPr>
          <p:nvPr>
            <p:ph type="sldImg"/>
          </p:nvPr>
        </p:nvSpPr>
        <p:spPr/>
      </p:sp>
      <p:sp>
        <p:nvSpPr>
          <p:cNvPr id="23757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859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38595" name="Rectangle 2"/>
          <p:cNvSpPr>
            <a:spLocks noTextEdit="1"/>
          </p:cNvSpPr>
          <p:nvPr>
            <p:ph type="sldImg"/>
          </p:nvPr>
        </p:nvSpPr>
        <p:spPr/>
      </p:sp>
      <p:sp>
        <p:nvSpPr>
          <p:cNvPr id="23859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961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39619" name="Rectangle 2"/>
          <p:cNvSpPr>
            <a:spLocks noTextEdit="1"/>
          </p:cNvSpPr>
          <p:nvPr>
            <p:ph type="sldImg"/>
          </p:nvPr>
        </p:nvSpPr>
        <p:spPr/>
      </p:sp>
      <p:sp>
        <p:nvSpPr>
          <p:cNvPr id="23962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064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40643" name="Rectangle 2"/>
          <p:cNvSpPr>
            <a:spLocks noTextEdit="1"/>
          </p:cNvSpPr>
          <p:nvPr>
            <p:ph type="sldImg"/>
          </p:nvPr>
        </p:nvSpPr>
        <p:spPr/>
      </p:sp>
      <p:sp>
        <p:nvSpPr>
          <p:cNvPr id="24064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166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41667" name="Rectangle 2"/>
          <p:cNvSpPr>
            <a:spLocks noTextEdit="1"/>
          </p:cNvSpPr>
          <p:nvPr>
            <p:ph type="sldImg"/>
          </p:nvPr>
        </p:nvSpPr>
        <p:spPr/>
      </p:sp>
      <p:sp>
        <p:nvSpPr>
          <p:cNvPr id="24166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269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42691" name="Rectangle 2"/>
          <p:cNvSpPr>
            <a:spLocks noTextEdit="1"/>
          </p:cNvSpPr>
          <p:nvPr>
            <p:ph type="sldImg"/>
          </p:nvPr>
        </p:nvSpPr>
        <p:spPr/>
      </p:sp>
      <p:sp>
        <p:nvSpPr>
          <p:cNvPr id="24269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371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43715" name="Rectangle 2"/>
          <p:cNvSpPr>
            <a:spLocks noTextEdit="1"/>
          </p:cNvSpPr>
          <p:nvPr>
            <p:ph type="sldImg"/>
          </p:nvPr>
        </p:nvSpPr>
        <p:spPr/>
      </p:sp>
      <p:sp>
        <p:nvSpPr>
          <p:cNvPr id="24371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473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44739" name="Rectangle 2"/>
          <p:cNvSpPr>
            <a:spLocks noTextEdit="1"/>
          </p:cNvSpPr>
          <p:nvPr>
            <p:ph type="sldImg"/>
          </p:nvPr>
        </p:nvSpPr>
        <p:spPr>
          <a:solidFill>
            <a:srgbClr val="FFFFFF">
              <a:alpha val="100000"/>
            </a:srgbClr>
          </a:solidFill>
        </p:spPr>
      </p:sp>
      <p:sp>
        <p:nvSpPr>
          <p:cNvPr id="244740" name="Rectangle 3"/>
          <p:cNvSpPr/>
          <p:nvPr>
            <p:ph type="body" idx="1"/>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6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45763" name="Rectangle 2"/>
          <p:cNvSpPr>
            <a:spLocks noTextEdit="1"/>
          </p:cNvSpPr>
          <p:nvPr>
            <p:ph type="sldImg"/>
          </p:nvPr>
        </p:nvSpPr>
        <p:spPr/>
      </p:sp>
      <p:sp>
        <p:nvSpPr>
          <p:cNvPr id="24576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678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46787" name="Rectangle 2"/>
          <p:cNvSpPr>
            <a:spLocks noTextEdit="1"/>
          </p:cNvSpPr>
          <p:nvPr>
            <p:ph type="sldImg"/>
          </p:nvPr>
        </p:nvSpPr>
        <p:spPr/>
      </p:sp>
      <p:sp>
        <p:nvSpPr>
          <p:cNvPr id="24678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781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47811" name="Rectangle 2"/>
          <p:cNvSpPr>
            <a:spLocks noTextEdit="1"/>
          </p:cNvSpPr>
          <p:nvPr>
            <p:ph type="sldImg"/>
          </p:nvPr>
        </p:nvSpPr>
        <p:spPr/>
      </p:sp>
      <p:sp>
        <p:nvSpPr>
          <p:cNvPr id="24781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883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48835" name="Rectangle 2"/>
          <p:cNvSpPr>
            <a:spLocks noTextEdit="1"/>
          </p:cNvSpPr>
          <p:nvPr>
            <p:ph type="sldImg"/>
          </p:nvPr>
        </p:nvSpPr>
        <p:spPr/>
      </p:sp>
      <p:sp>
        <p:nvSpPr>
          <p:cNvPr id="24883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985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49859" name="Rectangle 2"/>
          <p:cNvSpPr>
            <a:spLocks noTextEdit="1"/>
          </p:cNvSpPr>
          <p:nvPr>
            <p:ph type="sldImg"/>
          </p:nvPr>
        </p:nvSpPr>
        <p:spPr/>
      </p:sp>
      <p:sp>
        <p:nvSpPr>
          <p:cNvPr id="24986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088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50883" name="Rectangle 2"/>
          <p:cNvSpPr>
            <a:spLocks noTextEdit="1"/>
          </p:cNvSpPr>
          <p:nvPr>
            <p:ph type="sldImg"/>
          </p:nvPr>
        </p:nvSpPr>
        <p:spPr/>
      </p:sp>
      <p:sp>
        <p:nvSpPr>
          <p:cNvPr id="25088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190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51907" name="Rectangle 2"/>
          <p:cNvSpPr>
            <a:spLocks noTextEdit="1"/>
          </p:cNvSpPr>
          <p:nvPr>
            <p:ph type="sldImg"/>
          </p:nvPr>
        </p:nvSpPr>
        <p:spPr>
          <a:solidFill>
            <a:srgbClr val="FFFFFF">
              <a:alpha val="100000"/>
            </a:srgbClr>
          </a:solidFill>
        </p:spPr>
      </p:sp>
      <p:sp>
        <p:nvSpPr>
          <p:cNvPr id="251908" name="Rectangle 3"/>
          <p:cNvSpPr/>
          <p:nvPr>
            <p:ph type="body" idx="1"/>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293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52931" name="Rectangle 2"/>
          <p:cNvSpPr>
            <a:spLocks noTextEdit="1"/>
          </p:cNvSpPr>
          <p:nvPr>
            <p:ph type="sldImg"/>
          </p:nvPr>
        </p:nvSpPr>
        <p:spPr/>
      </p:sp>
      <p:sp>
        <p:nvSpPr>
          <p:cNvPr id="25293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395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53955" name="Rectangle 2"/>
          <p:cNvSpPr>
            <a:spLocks noTextEdit="1"/>
          </p:cNvSpPr>
          <p:nvPr>
            <p:ph type="sldImg"/>
          </p:nvPr>
        </p:nvSpPr>
        <p:spPr/>
      </p:sp>
      <p:sp>
        <p:nvSpPr>
          <p:cNvPr id="25395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497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54979" name="Rectangle 2"/>
          <p:cNvSpPr>
            <a:spLocks noTextEdit="1"/>
          </p:cNvSpPr>
          <p:nvPr>
            <p:ph type="sldImg"/>
          </p:nvPr>
        </p:nvSpPr>
        <p:spPr/>
      </p:sp>
      <p:sp>
        <p:nvSpPr>
          <p:cNvPr id="25498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0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56003" name="Rectangle 2"/>
          <p:cNvSpPr>
            <a:spLocks noTextEdit="1"/>
          </p:cNvSpPr>
          <p:nvPr>
            <p:ph type="sldImg"/>
          </p:nvPr>
        </p:nvSpPr>
        <p:spPr/>
      </p:sp>
      <p:sp>
        <p:nvSpPr>
          <p:cNvPr id="25600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702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57027" name="Rectangle 2"/>
          <p:cNvSpPr>
            <a:spLocks noTextEdit="1"/>
          </p:cNvSpPr>
          <p:nvPr>
            <p:ph type="sldImg"/>
          </p:nvPr>
        </p:nvSpPr>
        <p:spPr/>
      </p:sp>
      <p:sp>
        <p:nvSpPr>
          <p:cNvPr id="25702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805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258051" name="Rectangle 2"/>
          <p:cNvSpPr>
            <a:spLocks noTextEdit="1"/>
          </p:cNvSpPr>
          <p:nvPr>
            <p:ph type="sldImg"/>
          </p:nvPr>
        </p:nvSpPr>
        <p:spPr/>
      </p:sp>
      <p:sp>
        <p:nvSpPr>
          <p:cNvPr id="25805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012738" name="Rectangle 2"/>
          <p:cNvSpPr>
            <a:spLocks noGrp="1" noChangeArrowheads="1"/>
          </p:cNvSpPr>
          <p:nvPr>
            <p:ph type="ctrTitle"/>
          </p:nvPr>
        </p:nvSpPr>
        <p:spPr>
          <a:xfrm>
            <a:off x="2514600" y="3962400"/>
            <a:ext cx="5638800" cy="1295400"/>
          </a:xfrm>
        </p:spPr>
        <p:txBody>
          <a:bodyPr/>
          <a:lstStyle>
            <a:lvl1pPr>
              <a:lnSpc>
                <a:spcPct val="80000"/>
              </a:lnSpc>
              <a:defRPr sz="4000"/>
            </a:lvl1pPr>
          </a:lstStyle>
          <a:p>
            <a:pPr lvl="0"/>
            <a:r>
              <a:rPr lang="zh-CN" altLang="en-US" noProof="0" smtClean="0"/>
              <a:t>单击此处编辑母版标题样式</a:t>
            </a:r>
            <a:endParaRPr lang="zh-CN" altLang="en-US" noProof="0" smtClean="0"/>
          </a:p>
        </p:txBody>
      </p:sp>
      <p:sp>
        <p:nvSpPr>
          <p:cNvPr id="1012739" name="Rectangle 3"/>
          <p:cNvSpPr>
            <a:spLocks noGrp="1" noChangeArrowheads="1"/>
          </p:cNvSpPr>
          <p:nvPr>
            <p:ph type="subTitle" idx="1"/>
          </p:nvPr>
        </p:nvSpPr>
        <p:spPr>
          <a:xfrm>
            <a:off x="2514600" y="5486400"/>
            <a:ext cx="5638800" cy="609600"/>
          </a:xfrm>
        </p:spPr>
        <p:txBody>
          <a:bodyPr/>
          <a:lstStyle>
            <a:lvl1pPr marL="0" indent="0">
              <a:buFontTx/>
              <a:buNone/>
              <a:defRPr sz="2800"/>
            </a:lvl1pPr>
          </a:lstStyle>
          <a:p>
            <a:pPr lvl="0"/>
            <a:r>
              <a:rPr lang="zh-CN" altLang="en-US" noProof="0" smtClean="0"/>
              <a:t>单击此处编辑母版副标题样式</a:t>
            </a:r>
            <a:endParaRPr lang="zh-CN" altLang="en-US" noProof="0" smtClean="0"/>
          </a:p>
        </p:txBody>
      </p:sp>
      <p:sp>
        <p:nvSpPr>
          <p:cNvPr id="7" name="Rectangle 4"/>
          <p:cNvSpPr>
            <a:spLocks noGrp="1" noChangeArrowheads="1"/>
          </p:cNvSpPr>
          <p:nvPr>
            <p:ph type="dt" sz="half" idx="2"/>
          </p:nvPr>
        </p:nvSpPr>
        <p:spPr bwMode="auto">
          <a:xfrm>
            <a:off x="228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2362200" y="6248400"/>
            <a:ext cx="43434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70104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71600"/>
            <a:ext cx="400050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10100" y="1371600"/>
            <a:ext cx="400050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90488"/>
            <a:ext cx="2038350" cy="5853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90488"/>
            <a:ext cx="5962650" cy="58531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2590800" y="90488"/>
            <a:ext cx="6019800" cy="119062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371600"/>
            <a:ext cx="400050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10100" y="1371600"/>
            <a:ext cx="4000500" cy="2209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10100" y="3733800"/>
            <a:ext cx="4000500" cy="2209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590800" y="90488"/>
            <a:ext cx="6019800" cy="119062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371600"/>
            <a:ext cx="400050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10100" y="1371600"/>
            <a:ext cx="400050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7170" name="Rectangle 2"/>
          <p:cNvSpPr>
            <a:spLocks noGrp="1"/>
          </p:cNvSpPr>
          <p:nvPr>
            <p:ph type="title"/>
          </p:nvPr>
        </p:nvSpPr>
        <p:spPr>
          <a:xfrm>
            <a:off x="2590800" y="90488"/>
            <a:ext cx="6019800" cy="1190625"/>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7171" name="Rectangle 3"/>
          <p:cNvSpPr>
            <a:spLocks noGrp="1"/>
          </p:cNvSpPr>
          <p:nvPr>
            <p:ph type="body" idx="1"/>
          </p:nvPr>
        </p:nvSpPr>
        <p:spPr>
          <a:xfrm>
            <a:off x="457200" y="1371600"/>
            <a:ext cx="8153400" cy="45720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11716" name="Rectangle 4"/>
          <p:cNvSpPr>
            <a:spLocks noGrp="1" noChangeArrowheads="1"/>
          </p:cNvSpPr>
          <p:nvPr>
            <p:ph type="dt" sz="half" idx="2"/>
          </p:nvPr>
        </p:nvSpPr>
        <p:spPr bwMode="auto">
          <a:xfrm>
            <a:off x="2819400" y="6248400"/>
            <a:ext cx="1295400" cy="457200"/>
          </a:xfrm>
          <a:prstGeom prst="rect">
            <a:avLst/>
          </a:prstGeom>
          <a:noFill/>
          <a:ln>
            <a:noFill/>
          </a:ln>
          <a:effectLst/>
        </p:spPr>
        <p:txBody>
          <a:bodyPr vert="horz" wrap="square" lIns="91440" tIns="45720" rIns="91440" bIns="45720" numCol="1" anchor="t" anchorCtr="0" compatLnSpc="1"/>
          <a:lstStyle>
            <a:lvl1pPr eaLnBrk="1" hangingPunct="1">
              <a:defRPr sz="10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11717" name="Rectangle 5"/>
          <p:cNvSpPr>
            <a:spLocks noGrp="1" noChangeArrowheads="1"/>
          </p:cNvSpPr>
          <p:nvPr>
            <p:ph type="ftr" sz="quarter" idx="3"/>
          </p:nvPr>
        </p:nvSpPr>
        <p:spPr bwMode="auto">
          <a:xfrm>
            <a:off x="4267200" y="6248400"/>
            <a:ext cx="2895600" cy="457200"/>
          </a:xfrm>
          <a:prstGeom prst="rect">
            <a:avLst/>
          </a:prstGeom>
          <a:noFill/>
          <a:ln>
            <a:noFill/>
          </a:ln>
          <a:effectLst/>
        </p:spPr>
        <p:txBody>
          <a:bodyPr vert="horz" wrap="square" lIns="91440" tIns="45720" rIns="91440" bIns="45720" numCol="1" anchor="t" anchorCtr="0" compatLnSpc="1"/>
          <a:lstStyle>
            <a:lvl1pPr algn="ctr" eaLnBrk="1" hangingPunct="1">
              <a:defRPr sz="100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11718" name="Rectangle 6"/>
          <p:cNvSpPr>
            <a:spLocks noGrp="1" noChangeArrowheads="1"/>
          </p:cNvSpPr>
          <p:nvPr>
            <p:ph type="sldNum" sz="quarter" idx="4"/>
          </p:nvPr>
        </p:nvSpPr>
        <p:spPr bwMode="auto">
          <a:xfrm>
            <a:off x="7315200" y="6248400"/>
            <a:ext cx="1295400" cy="457200"/>
          </a:xfrm>
          <a:prstGeom prst="rect">
            <a:avLst/>
          </a:prstGeom>
          <a:noFill/>
          <a:ln>
            <a:noFill/>
          </a:ln>
          <a:effectLst/>
        </p:spPr>
        <p:txBody>
          <a:bodyPr vert="horz" wrap="square" lIns="91440" tIns="45720" rIns="91440" bIns="45720" numCol="1" anchor="t" anchorCtr="0" compatLnSpc="1"/>
          <a:lstStyle>
            <a:lvl1pPr algn="r">
              <a:defRPr sz="1000"/>
            </a:lvl1p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3600" b="1" kern="1200">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3600" b="1">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3600" b="1">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3600" b="1">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3600" b="1">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3600" b="1">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3600" b="1">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3600" b="1">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0.jpeg"/><Relationship Id="rId7" Type="http://schemas.openxmlformats.org/officeDocument/2006/relationships/image" Target="../media/image9.jpeg"/><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3" Type="http://schemas.openxmlformats.org/officeDocument/2006/relationships/image" Target="../media/image5.jpeg"/><Relationship Id="rId2" Type="http://schemas.openxmlformats.org/officeDocument/2006/relationships/image" Target="../media/image4.jpeg"/><Relationship Id="rId10" Type="http://schemas.openxmlformats.org/officeDocument/2006/relationships/notesSlide" Target="../notesSlides/notesSlide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image" Target="../media/image11.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 Target="slide13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image" Target="../media/image27.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34.png"/><Relationship Id="rId2" Type="http://schemas.openxmlformats.org/officeDocument/2006/relationships/oleObject" Target="../embeddings/oleObject1.bin"/><Relationship Id="rId1" Type="http://schemas.openxmlformats.org/officeDocument/2006/relationships/image" Target="../media/image33.wmf"/></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image" Target="../media/image22.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2.xml"/><Relationship Id="rId2" Type="http://schemas.openxmlformats.org/officeDocument/2006/relationships/image" Target="../media/image38.png"/><Relationship Id="rId1" Type="http://schemas.openxmlformats.org/officeDocument/2006/relationships/image" Target="../media/image37.wmf"/></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42.png"/><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image" Target="../media/image39.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44.jpeg"/><Relationship Id="rId1" Type="http://schemas.openxmlformats.org/officeDocument/2006/relationships/image" Target="../media/image4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7.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49.png"/><Relationship Id="rId1" Type="http://schemas.openxmlformats.org/officeDocument/2006/relationships/image" Target="../media/image48.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50.wm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image" Target="../media/image51.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3.png"/><Relationship Id="rId1" Type="http://schemas.openxmlformats.org/officeDocument/2006/relationships/image" Target="../media/image4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7.xml"/><Relationship Id="rId2" Type="http://schemas.openxmlformats.org/officeDocument/2006/relationships/image" Target="../media/image55.png"/><Relationship Id="rId1" Type="http://schemas.openxmlformats.org/officeDocument/2006/relationships/image" Target="../media/image54.wmf"/></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3.xml"/><Relationship Id="rId2" Type="http://schemas.openxmlformats.org/officeDocument/2006/relationships/image" Target="../media/image57.wmf"/><Relationship Id="rId1" Type="http://schemas.openxmlformats.org/officeDocument/2006/relationships/image" Target="../media/image56.wmf"/></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58.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3.png"/><Relationship Id="rId1" Type="http://schemas.openxmlformats.org/officeDocument/2006/relationships/image" Target="../media/image43.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9.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image" Target="../media/image60.jpe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1.jpeg"/><Relationship Id="rId1" Type="http://schemas.openxmlformats.org/officeDocument/2006/relationships/image" Target="../media/image14.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7.xml"/><Relationship Id="rId2" Type="http://schemas.openxmlformats.org/officeDocument/2006/relationships/image" Target="../media/image63.jpeg"/><Relationship Id="rId1" Type="http://schemas.openxmlformats.org/officeDocument/2006/relationships/image" Target="../media/image62.jpe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3.xml"/><Relationship Id="rId2" Type="http://schemas.openxmlformats.org/officeDocument/2006/relationships/image" Target="../media/image65.jpeg"/><Relationship Id="rId1" Type="http://schemas.openxmlformats.org/officeDocument/2006/relationships/image" Target="../media/image64.jpe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image" Target="../media/image66.jpe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8.jpeg"/><Relationship Id="rId1" Type="http://schemas.openxmlformats.org/officeDocument/2006/relationships/image" Target="../media/image67.jpe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69.jpe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0.jpe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1.jpe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2.jpe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3.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4.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5.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7.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8.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0.jpeg"/></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2.xml"/><Relationship Id="rId2" Type="http://schemas.openxmlformats.org/officeDocument/2006/relationships/image" Target="../media/image82.jpeg"/><Relationship Id="rId1" Type="http://schemas.openxmlformats.org/officeDocument/2006/relationships/image" Target="../media/image81.jpeg"/></Relationships>
</file>

<file path=ppt/slides/_rels/slide61.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2.xml"/><Relationship Id="rId3" Type="http://schemas.openxmlformats.org/officeDocument/2006/relationships/image" Target="../media/image85.png"/><Relationship Id="rId2" Type="http://schemas.openxmlformats.org/officeDocument/2006/relationships/image" Target="../media/image84.jpeg"/><Relationship Id="rId1" Type="http://schemas.openxmlformats.org/officeDocument/2006/relationships/image" Target="../media/image83.jpeg"/></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2.xml"/><Relationship Id="rId2" Type="http://schemas.openxmlformats.org/officeDocument/2006/relationships/image" Target="../media/image87.jpeg"/><Relationship Id="rId1" Type="http://schemas.openxmlformats.org/officeDocument/2006/relationships/image" Target="../media/image86.jpe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v.qq.com/x/page/s0712g2nzdu.html" TargetMode="External"/><Relationship Id="rId1" Type="http://schemas.openxmlformats.org/officeDocument/2006/relationships/hyperlink" Target="https://v.qq.com/x/page/s03438ljv3t.html" TargetMode="External"/></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2.xml"/><Relationship Id="rId2" Type="http://schemas.openxmlformats.org/officeDocument/2006/relationships/image" Target="../media/image89.jpeg"/><Relationship Id="rId1" Type="http://schemas.openxmlformats.org/officeDocument/2006/relationships/image" Target="../media/image88.jpe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90.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1.png"/></Relationships>
</file>

<file path=ppt/slides/_rels/slide67.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12.xml"/><Relationship Id="rId3" Type="http://schemas.openxmlformats.org/officeDocument/2006/relationships/image" Target="../media/image94.png"/><Relationship Id="rId2" Type="http://schemas.openxmlformats.org/officeDocument/2006/relationships/image" Target="../media/image93.wmf"/><Relationship Id="rId1" Type="http://schemas.openxmlformats.org/officeDocument/2006/relationships/image" Target="../media/image92.wmf"/></Relationships>
</file>

<file path=ppt/slides/_rels/slide68.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12.xml"/><Relationship Id="rId3" Type="http://schemas.openxmlformats.org/officeDocument/2006/relationships/image" Target="../media/image95.png"/><Relationship Id="rId2" Type="http://schemas.openxmlformats.org/officeDocument/2006/relationships/image" Target="../media/image93.wmf"/><Relationship Id="rId1" Type="http://schemas.openxmlformats.org/officeDocument/2006/relationships/image" Target="../media/image92.wmf"/></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96.pn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7.xml"/><Relationship Id="rId2" Type="http://schemas.openxmlformats.org/officeDocument/2006/relationships/image" Target="../media/image97.jpeg"/><Relationship Id="rId1" Type="http://schemas.openxmlformats.org/officeDocument/2006/relationships/hyperlink" Target="http://www.tzhi.com/heavy machines3.htm" TargetMode="Externa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image" Target="../media/image98.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99.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99.png"/></Relationships>
</file>

<file path=ppt/slides/_rels/slide7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3.png"/><Relationship Id="rId3" Type="http://schemas.openxmlformats.org/officeDocument/2006/relationships/image" Target="../media/image102.jpeg"/><Relationship Id="rId2" Type="http://schemas.openxmlformats.org/officeDocument/2006/relationships/image" Target="../media/image101.jpeg"/><Relationship Id="rId1" Type="http://schemas.openxmlformats.org/officeDocument/2006/relationships/image" Target="../media/image100.png"/></Relationships>
</file>

<file path=ppt/slides/_rels/slide75.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7.xml"/><Relationship Id="rId2" Type="http://schemas.openxmlformats.org/officeDocument/2006/relationships/hyperlink" Target="http://www.tudou.com/programs/view/fZoYzLgJJLk/&#8212;&#8212;" TargetMode="External"/><Relationship Id="rId1" Type="http://schemas.openxmlformats.org/officeDocument/2006/relationships/image" Target="../media/image104.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7.xml"/><Relationship Id="rId1" Type="http://schemas.openxmlformats.org/officeDocument/2006/relationships/image" Target="../media/image105.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7.xml"/><Relationship Id="rId1" Type="http://schemas.openxmlformats.org/officeDocument/2006/relationships/image" Target="../media/image106.jpe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8.png"/><Relationship Id="rId1" Type="http://schemas.openxmlformats.org/officeDocument/2006/relationships/image" Target="../media/image107.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7.xml"/><Relationship Id="rId1" Type="http://schemas.openxmlformats.org/officeDocument/2006/relationships/image" Target="../media/image109.wmf"/></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7.xml"/><Relationship Id="rId1" Type="http://schemas.openxmlformats.org/officeDocument/2006/relationships/image" Target="../media/image110.jpe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7.xml"/><Relationship Id="rId1" Type="http://schemas.openxmlformats.org/officeDocument/2006/relationships/image" Target="../media/image111.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2.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7.xml"/><Relationship Id="rId1" Type="http://schemas.openxmlformats.org/officeDocument/2006/relationships/image" Target="../media/image113.png"/></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7.xml"/><Relationship Id="rId1" Type="http://schemas.openxmlformats.org/officeDocument/2006/relationships/image" Target="../media/image114.png"/></Relationships>
</file>

<file path=ppt/slides/_rels/slide85.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7.xml"/><Relationship Id="rId2" Type="http://schemas.openxmlformats.org/officeDocument/2006/relationships/image" Target="../media/image116.png"/><Relationship Id="rId1" Type="http://schemas.openxmlformats.org/officeDocument/2006/relationships/image" Target="../media/image115.png"/></Relationships>
</file>

<file path=ppt/slides/_rels/slide86.xml.rels><?xml version="1.0" encoding="UTF-8" standalone="yes"?>
<Relationships xmlns="http://schemas.openxmlformats.org/package/2006/relationships"><Relationship Id="rId5" Type="http://schemas.openxmlformats.org/officeDocument/2006/relationships/notesSlide" Target="../notesSlides/notesSlide50.xml"/><Relationship Id="rId4" Type="http://schemas.openxmlformats.org/officeDocument/2006/relationships/slideLayout" Target="../slideLayouts/slideLayout7.xml"/><Relationship Id="rId3" Type="http://schemas.openxmlformats.org/officeDocument/2006/relationships/image" Target="../media/image118.jpeg"/><Relationship Id="rId2" Type="http://schemas.openxmlformats.org/officeDocument/2006/relationships/image" Target="../media/image117.jpeg"/><Relationship Id="rId1" Type="http://schemas.openxmlformats.org/officeDocument/2006/relationships/image" Target="../media/image114.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image" Target="../media/image119.png"/></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image" Target="../media/image120.png"/></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image" Target="../media/image121.png"/></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image" Target="../media/image122.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image" Target="../media/image110.jpeg"/></Relationships>
</file>

<file path=ppt/slides/_rels/slide92.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2.xml"/><Relationship Id="rId2" Type="http://schemas.openxmlformats.org/officeDocument/2006/relationships/image" Target="../media/image113.png"/><Relationship Id="rId1" Type="http://schemas.openxmlformats.org/officeDocument/2006/relationships/image" Target="../media/image111.pn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image" Target="../media/image123.png"/></Relationships>
</file>

<file path=ppt/slides/_rels/slide94.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2.xml"/><Relationship Id="rId2" Type="http://schemas.openxmlformats.org/officeDocument/2006/relationships/image" Target="../media/image125.png"/><Relationship Id="rId1" Type="http://schemas.openxmlformats.org/officeDocument/2006/relationships/image" Target="../media/image124.png"/></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image" Target="../media/image126.pn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6" Type="http://schemas.openxmlformats.org/officeDocument/2006/relationships/notesSlide" Target="../notesSlides/notesSlide61.xml"/><Relationship Id="rId5" Type="http://schemas.openxmlformats.org/officeDocument/2006/relationships/slideLayout" Target="../slideLayouts/slideLayout2.xml"/><Relationship Id="rId4" Type="http://schemas.openxmlformats.org/officeDocument/2006/relationships/image" Target="../media/image128.GIF"/><Relationship Id="rId3" Type="http://schemas.openxmlformats.org/officeDocument/2006/relationships/tags" Target="../tags/tag2.xml"/><Relationship Id="rId2" Type="http://schemas.openxmlformats.org/officeDocument/2006/relationships/image" Target="../media/image127.png"/><Relationship Id="rId1" Type="http://schemas.openxmlformats.org/officeDocument/2006/relationships/tags" Target="../tags/tag1.xml"/></Relationships>
</file>

<file path=ppt/slides/_rels/slide9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s://v.qq.com/x/page/s0603wcvceh.html" TargetMode="External"/><Relationship Id="rId3" Type="http://schemas.openxmlformats.org/officeDocument/2006/relationships/hyperlink" Target="https://v.qq.com/x/page/s06117wq5oc.html&#8212;&#8212;" TargetMode="External"/><Relationship Id="rId2" Type="http://schemas.openxmlformats.org/officeDocument/2006/relationships/hyperlink" Target="https://v.qq.com/x/page/l0527rccsbt.html-" TargetMode="External"/><Relationship Id="rId1" Type="http://schemas.openxmlformats.org/officeDocument/2006/relationships/hyperlink" Target="https://v.qq.com/x/page/f0792k95122.html&#8212;&#8212;" TargetMode="Externa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hyperlink" Target="https://v.qq.com/x/page/s06117wq5oc.html&#8212;&#8212;" TargetMode="External"/></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image" Target="../media/image129.jpeg"/></Relationships>
</file>

<file path=ppt/slides/_rels/slide101.xml.rels><?xml version="1.0" encoding="UTF-8" standalone="yes"?>
<Relationships xmlns="http://schemas.openxmlformats.org/package/2006/relationships"><Relationship Id="rId5" Type="http://schemas.openxmlformats.org/officeDocument/2006/relationships/notesSlide" Target="../notesSlides/notesSlide64.xml"/><Relationship Id="rId4" Type="http://schemas.openxmlformats.org/officeDocument/2006/relationships/slideLayout" Target="../slideLayouts/slideLayout2.xml"/><Relationship Id="rId3" Type="http://schemas.openxmlformats.org/officeDocument/2006/relationships/image" Target="../media/image131.GIF"/><Relationship Id="rId2" Type="http://schemas.openxmlformats.org/officeDocument/2006/relationships/image" Target="../media/image130.GIF"/><Relationship Id="rId1" Type="http://schemas.openxmlformats.org/officeDocument/2006/relationships/hyperlink" Target="https://haokan.baidu.com/v?pd=wisenatural&amp;vid=6602277092064168418-" TargetMode="External"/></Relationships>
</file>

<file path=ppt/slides/_rels/slide10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4.GIF"/><Relationship Id="rId2" Type="http://schemas.openxmlformats.org/officeDocument/2006/relationships/image" Target="../media/image133.GIF"/><Relationship Id="rId1" Type="http://schemas.openxmlformats.org/officeDocument/2006/relationships/image" Target="../media/image132.png"/></Relationships>
</file>

<file path=ppt/slides/_rels/slide10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s://v.qq.com/x/page/s0603wcvceh.html" TargetMode="External"/><Relationship Id="rId3" Type="http://schemas.openxmlformats.org/officeDocument/2006/relationships/hyperlink" Target="https://v.qq.com/x/page/s06117wq5oc.html&#8212;&#8212;" TargetMode="External"/><Relationship Id="rId2" Type="http://schemas.openxmlformats.org/officeDocument/2006/relationships/hyperlink" Target="https://v.qq.com/x/page/l0527rccsbt.html-" TargetMode="External"/><Relationship Id="rId1" Type="http://schemas.openxmlformats.org/officeDocument/2006/relationships/hyperlink" Target="https://v.qq.com/x/page/f0792k95122.html&#8212;&#8212;" TargetMode="Externa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image" Target="../media/image133.GIF"/></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image" Target="../media/image135.jpeg"/></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image" Target="../media/image135.jpeg"/></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image" Target="../media/image136.png"/></Relationships>
</file>

<file path=ppt/slides/_rels/slide108.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37.png"/><Relationship Id="rId1" Type="http://schemas.openxmlformats.org/officeDocument/2006/relationships/oleObject" Target="../embeddings/oleObject2.bin"/></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8.jpeg"/></Relationships>
</file>

<file path=ppt/slides/_rels/slide1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5.jpeg"/><Relationship Id="rId1" Type="http://schemas.openxmlformats.org/officeDocument/2006/relationships/tags" Target="../tags/tag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3.xml"/><Relationship Id="rId1" Type="http://schemas.openxmlformats.org/officeDocument/2006/relationships/image" Target="../media/image139.png"/></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0.png"/></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image" Target="../media/image141.wmf"/></Relationships>
</file>

<file path=ppt/slides/_rels/slide115.xml.rels><?xml version="1.0" encoding="UTF-8" standalone="yes"?>
<Relationships xmlns="http://schemas.openxmlformats.org/package/2006/relationships"><Relationship Id="rId5" Type="http://schemas.openxmlformats.org/officeDocument/2006/relationships/notesSlide" Target="../notesSlides/notesSlide72.xml"/><Relationship Id="rId4" Type="http://schemas.openxmlformats.org/officeDocument/2006/relationships/slideLayout" Target="../slideLayouts/slideLayout2.xml"/><Relationship Id="rId3" Type="http://schemas.openxmlformats.org/officeDocument/2006/relationships/image" Target="../media/image143.GIF"/><Relationship Id="rId2" Type="http://schemas.openxmlformats.org/officeDocument/2006/relationships/image" Target="../media/image142.jpeg"/><Relationship Id="rId1" Type="http://schemas.openxmlformats.org/officeDocument/2006/relationships/hyperlink" Target="file:///H:\5.2%20&#20914;&#21387;\&#25289;&#28145;2.swf" TargetMode="External"/></Relationships>
</file>

<file path=ppt/slides/_rels/slide116.xml.rels><?xml version="1.0" encoding="UTF-8" standalone="yes"?>
<Relationships xmlns="http://schemas.openxmlformats.org/package/2006/relationships"><Relationship Id="rId4" Type="http://schemas.openxmlformats.org/officeDocument/2006/relationships/notesSlide" Target="../notesSlides/notesSlide73.xml"/><Relationship Id="rId3" Type="http://schemas.openxmlformats.org/officeDocument/2006/relationships/slideLayout" Target="../slideLayouts/slideLayout2.xml"/><Relationship Id="rId2" Type="http://schemas.openxmlformats.org/officeDocument/2006/relationships/image" Target="../media/image142.jpeg"/><Relationship Id="rId1" Type="http://schemas.openxmlformats.org/officeDocument/2006/relationships/hyperlink" Target="file:///H:\5.2%20&#20914;&#21387;\&#25289;&#28145;2.swf" TargetMode="External"/></Relationships>
</file>

<file path=ppt/slides/_rels/slide117.xml.rels><?xml version="1.0" encoding="UTF-8" standalone="yes"?>
<Relationships xmlns="http://schemas.openxmlformats.org/package/2006/relationships"><Relationship Id="rId4" Type="http://schemas.openxmlformats.org/officeDocument/2006/relationships/notesSlide" Target="../notesSlides/notesSlide74.xml"/><Relationship Id="rId3" Type="http://schemas.openxmlformats.org/officeDocument/2006/relationships/slideLayout" Target="../slideLayouts/slideLayout4.xml"/><Relationship Id="rId2" Type="http://schemas.openxmlformats.org/officeDocument/2006/relationships/image" Target="../media/image142.jpeg"/><Relationship Id="rId1" Type="http://schemas.openxmlformats.org/officeDocument/2006/relationships/hyperlink" Target="file:///H:\5.2%20&#20914;&#21387;\&#25289;&#28145;2.swf" TargetMode="External"/></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image" Target="../media/image144.png"/></Relationships>
</file>

<file path=ppt/slides/_rels/slide119.xml.rels><?xml version="1.0" encoding="UTF-8" standalone="yes"?>
<Relationships xmlns="http://schemas.openxmlformats.org/package/2006/relationships"><Relationship Id="rId4" Type="http://schemas.openxmlformats.org/officeDocument/2006/relationships/notesSlide" Target="../notesSlides/notesSlide76.xml"/><Relationship Id="rId3" Type="http://schemas.openxmlformats.org/officeDocument/2006/relationships/slideLayout" Target="../slideLayouts/slideLayout4.xml"/><Relationship Id="rId2" Type="http://schemas.openxmlformats.org/officeDocument/2006/relationships/image" Target="../media/image146.png"/><Relationship Id="rId1" Type="http://schemas.openxmlformats.org/officeDocument/2006/relationships/image" Target="../media/image145.png"/></Relationships>
</file>

<file path=ppt/slides/_rels/slide120.xml.rels><?xml version="1.0" encoding="UTF-8" standalone="yes"?>
<Relationships xmlns="http://schemas.openxmlformats.org/package/2006/relationships"><Relationship Id="rId4" Type="http://schemas.openxmlformats.org/officeDocument/2006/relationships/notesSlide" Target="../notesSlides/notesSlide77.xml"/><Relationship Id="rId3" Type="http://schemas.openxmlformats.org/officeDocument/2006/relationships/slideLayout" Target="../slideLayouts/slideLayout2.xml"/><Relationship Id="rId2" Type="http://schemas.openxmlformats.org/officeDocument/2006/relationships/image" Target="../media/image148.wmf"/><Relationship Id="rId1" Type="http://schemas.openxmlformats.org/officeDocument/2006/relationships/image" Target="../media/image147.png"/></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image" Target="../media/image149.png"/></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2.xml"/><Relationship Id="rId1" Type="http://schemas.openxmlformats.org/officeDocument/2006/relationships/image" Target="../media/image150.wmf"/></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1.jpeg"/></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13.xml"/><Relationship Id="rId1" Type="http://schemas.openxmlformats.org/officeDocument/2006/relationships/image" Target="../media/image152.png"/></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4.xml"/><Relationship Id="rId1" Type="http://schemas.openxmlformats.org/officeDocument/2006/relationships/image" Target="../media/image153.wmf"/></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4.xml"/><Relationship Id="rId1" Type="http://schemas.openxmlformats.org/officeDocument/2006/relationships/image" Target="../media/image154.png"/></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2.xml"/><Relationship Id="rId1" Type="http://schemas.openxmlformats.org/officeDocument/2006/relationships/image" Target="../media/image155.png"/></Relationships>
</file>

<file path=ppt/slides/_rels/slide129.xml.rels><?xml version="1.0" encoding="UTF-8" standalone="yes"?>
<Relationships xmlns="http://schemas.openxmlformats.org/package/2006/relationships"><Relationship Id="rId5" Type="http://schemas.openxmlformats.org/officeDocument/2006/relationships/notesSlide" Target="../notesSlides/notesSlide84.xml"/><Relationship Id="rId4" Type="http://schemas.openxmlformats.org/officeDocument/2006/relationships/slideLayout" Target="../slideLayouts/slideLayout12.xml"/><Relationship Id="rId3" Type="http://schemas.openxmlformats.org/officeDocument/2006/relationships/image" Target="../media/image158.png"/><Relationship Id="rId2" Type="http://schemas.openxmlformats.org/officeDocument/2006/relationships/image" Target="../media/image157.wmf"/><Relationship Id="rId1" Type="http://schemas.openxmlformats.org/officeDocument/2006/relationships/image" Target="../media/image156.wmf"/></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13.xml"/><Relationship Id="rId1" Type="http://schemas.openxmlformats.org/officeDocument/2006/relationships/image" Target="../media/image159.png"/></Relationships>
</file>

<file path=ppt/slides/_rels/slide131.xml.rels><?xml version="1.0" encoding="UTF-8" standalone="yes"?>
<Relationships xmlns="http://schemas.openxmlformats.org/package/2006/relationships"><Relationship Id="rId4" Type="http://schemas.openxmlformats.org/officeDocument/2006/relationships/notesSlide" Target="../notesSlides/notesSlide86.xml"/><Relationship Id="rId3" Type="http://schemas.openxmlformats.org/officeDocument/2006/relationships/slideLayout" Target="../slideLayouts/slideLayout4.xml"/><Relationship Id="rId2" Type="http://schemas.openxmlformats.org/officeDocument/2006/relationships/image" Target="../media/image161.png"/><Relationship Id="rId1" Type="http://schemas.openxmlformats.org/officeDocument/2006/relationships/image" Target="../media/image160.png"/></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13.xml"/><Relationship Id="rId1" Type="http://schemas.openxmlformats.org/officeDocument/2006/relationships/image" Target="../media/image162.png"/></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12.xml"/><Relationship Id="rId1" Type="http://schemas.openxmlformats.org/officeDocument/2006/relationships/image" Target="../media/image163.wmf"/></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6" Type="http://schemas.openxmlformats.org/officeDocument/2006/relationships/notesSlide" Target="../notesSlides/notesSlide90.xml"/><Relationship Id="rId5" Type="http://schemas.openxmlformats.org/officeDocument/2006/relationships/slideLayout" Target="../slideLayouts/slideLayout7.xml"/><Relationship Id="rId4" Type="http://schemas.openxmlformats.org/officeDocument/2006/relationships/image" Target="../media/image165.png"/><Relationship Id="rId3" Type="http://schemas.openxmlformats.org/officeDocument/2006/relationships/hyperlink" Target="file:///L:\forge2\g14.bmp" TargetMode="External"/><Relationship Id="rId2" Type="http://schemas.openxmlformats.org/officeDocument/2006/relationships/image" Target="../media/image164.png"/><Relationship Id="rId1" Type="http://schemas.openxmlformats.org/officeDocument/2006/relationships/hyperlink" Target="file:///L:\forge2\g111.bmp" TargetMode="External"/></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7.xml"/><Relationship Id="rId1" Type="http://schemas.openxmlformats.org/officeDocument/2006/relationships/image" Target="../media/image166.png"/></Relationships>
</file>

<file path=ppt/slides/_rels/slide137.xml.rels><?xml version="1.0" encoding="UTF-8" standalone="yes"?>
<Relationships xmlns="http://schemas.openxmlformats.org/package/2006/relationships"><Relationship Id="rId5" Type="http://schemas.openxmlformats.org/officeDocument/2006/relationships/notesSlide" Target="../notesSlides/notesSlide92.xml"/><Relationship Id="rId4" Type="http://schemas.openxmlformats.org/officeDocument/2006/relationships/vmlDrawing" Target="../drawings/vmlDrawing3.vml"/><Relationship Id="rId3" Type="http://schemas.openxmlformats.org/officeDocument/2006/relationships/slideLayout" Target="../slideLayouts/slideLayout13.xml"/><Relationship Id="rId2" Type="http://schemas.openxmlformats.org/officeDocument/2006/relationships/image" Target="../media/image167.wmf"/><Relationship Id="rId1" Type="http://schemas.openxmlformats.org/officeDocument/2006/relationships/control" Target="../activeX/activeX1.xml"/></Relationships>
</file>

<file path=ppt/slides/_rels/slide138.xml.rels><?xml version="1.0" encoding="UTF-8" standalone="yes"?>
<Relationships xmlns="http://schemas.openxmlformats.org/package/2006/relationships"><Relationship Id="rId5" Type="http://schemas.openxmlformats.org/officeDocument/2006/relationships/notesSlide" Target="../notesSlides/notesSlide93.xml"/><Relationship Id="rId4" Type="http://schemas.openxmlformats.org/officeDocument/2006/relationships/vmlDrawing" Target="../drawings/vmlDrawing4.vml"/><Relationship Id="rId3" Type="http://schemas.openxmlformats.org/officeDocument/2006/relationships/slideLayout" Target="../slideLayouts/slideLayout13.xml"/><Relationship Id="rId2" Type="http://schemas.openxmlformats.org/officeDocument/2006/relationships/image" Target="../media/image168.wmf"/><Relationship Id="rId1" Type="http://schemas.openxmlformats.org/officeDocument/2006/relationships/control" Target="../activeX/activeX2.xml"/></Relationships>
</file>

<file path=ppt/slides/_rels/slide139.xml.rels><?xml version="1.0" encoding="UTF-8" standalone="yes"?>
<Relationships xmlns="http://schemas.openxmlformats.org/package/2006/relationships"><Relationship Id="rId5" Type="http://schemas.openxmlformats.org/officeDocument/2006/relationships/notesSlide" Target="../notesSlides/notesSlide94.xml"/><Relationship Id="rId4" Type="http://schemas.openxmlformats.org/officeDocument/2006/relationships/vmlDrawing" Target="../drawings/vmlDrawing5.vml"/><Relationship Id="rId3" Type="http://schemas.openxmlformats.org/officeDocument/2006/relationships/slideLayout" Target="../slideLayouts/slideLayout13.xml"/><Relationship Id="rId2" Type="http://schemas.openxmlformats.org/officeDocument/2006/relationships/image" Target="../media/image169.wmf"/><Relationship Id="rId1" Type="http://schemas.openxmlformats.org/officeDocument/2006/relationships/control" Target="../activeX/activeX3.xml"/></Relationships>
</file>

<file path=ppt/slides/_rels/slide140.xml.rels><?xml version="1.0" encoding="UTF-8" standalone="yes"?>
<Relationships xmlns="http://schemas.openxmlformats.org/package/2006/relationships"><Relationship Id="rId5" Type="http://schemas.openxmlformats.org/officeDocument/2006/relationships/notesSlide" Target="../notesSlides/notesSlide95.xml"/><Relationship Id="rId4" Type="http://schemas.openxmlformats.org/officeDocument/2006/relationships/vmlDrawing" Target="../drawings/vmlDrawing6.vml"/><Relationship Id="rId3" Type="http://schemas.openxmlformats.org/officeDocument/2006/relationships/slideLayout" Target="../slideLayouts/slideLayout13.xml"/><Relationship Id="rId2" Type="http://schemas.openxmlformats.org/officeDocument/2006/relationships/image" Target="../media/image170.wmf"/><Relationship Id="rId1" Type="http://schemas.openxmlformats.org/officeDocument/2006/relationships/control" Target="../activeX/activeX4.xml"/></Relationships>
</file>

<file path=ppt/slides/_rels/slide141.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7.xml"/><Relationship Id="rId1" Type="http://schemas.openxmlformats.org/officeDocument/2006/relationships/image" Target="../media/image171.png"/></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7.xml"/><Relationship Id="rId1" Type="http://schemas.openxmlformats.org/officeDocument/2006/relationships/image" Target="../media/image172.png"/></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7.xml"/><Relationship Id="rId1" Type="http://schemas.openxmlformats.org/officeDocument/2006/relationships/image" Target="../media/image173.png"/></Relationships>
</file>

<file path=ppt/slides/_rels/slide145.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7.xml"/><Relationship Id="rId1" Type="http://schemas.openxmlformats.org/officeDocument/2006/relationships/image" Target="../media/image174.png"/></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7.xml"/><Relationship Id="rId1" Type="http://schemas.openxmlformats.org/officeDocument/2006/relationships/image" Target="../media/image175.png"/></Relationships>
</file>

<file path=ppt/slides/_rels/slide147.xml.rels><?xml version="1.0" encoding="UTF-8" standalone="yes"?>
<Relationships xmlns="http://schemas.openxmlformats.org/package/2006/relationships"><Relationship Id="rId4" Type="http://schemas.openxmlformats.org/officeDocument/2006/relationships/notesSlide" Target="../notesSlides/notesSlide102.xml"/><Relationship Id="rId3" Type="http://schemas.openxmlformats.org/officeDocument/2006/relationships/slideLayout" Target="../slideLayouts/slideLayout7.xml"/><Relationship Id="rId2" Type="http://schemas.openxmlformats.org/officeDocument/2006/relationships/image" Target="../media/image177.jpeg"/><Relationship Id="rId1" Type="http://schemas.openxmlformats.org/officeDocument/2006/relationships/image" Target="../media/image17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type="ctrTitle"/>
          </p:nvPr>
        </p:nvSpPr>
        <p:spPr>
          <a:xfrm>
            <a:off x="2617788" y="1484313"/>
            <a:ext cx="3759200" cy="536575"/>
          </a:xfrm>
        </p:spPr>
        <p:txBody>
          <a:bodyPr vert="horz" wrap="square" lIns="91440" tIns="45720" rIns="91440" bIns="45720" anchor="ctr" anchorCtr="0"/>
          <a:p>
            <a:pPr eaLnBrk="1" hangingPunct="1">
              <a:buClrTx/>
              <a:buSzTx/>
              <a:buFontTx/>
            </a:pPr>
            <a:r>
              <a:rPr lang="zh-CN" altLang="en-US" sz="4400" kern="1200" dirty="0">
                <a:solidFill>
                  <a:srgbClr val="86511C"/>
                </a:solidFill>
                <a:latin typeface="+mj-lt"/>
                <a:ea typeface="华文彩云" panose="02010800040101010101" pitchFamily="2" charset="-122"/>
                <a:cs typeface="+mj-cs"/>
              </a:rPr>
              <a:t>机械制造基础</a:t>
            </a:r>
            <a:endParaRPr lang="zh-CN" altLang="en-US" sz="4400" kern="1200" dirty="0">
              <a:solidFill>
                <a:srgbClr val="86511C"/>
              </a:solidFill>
              <a:latin typeface="+mj-lt"/>
              <a:ea typeface="华文彩云" panose="02010800040101010101" pitchFamily="2" charset="-122"/>
              <a:cs typeface="+mj-cs"/>
            </a:endParaRPr>
          </a:p>
        </p:txBody>
      </p:sp>
      <p:sp>
        <p:nvSpPr>
          <p:cNvPr id="9219" name="Rectangle 3"/>
          <p:cNvSpPr>
            <a:spLocks noGrp="1"/>
          </p:cNvSpPr>
          <p:nvPr>
            <p:ph type="subTitle" idx="1"/>
          </p:nvPr>
        </p:nvSpPr>
        <p:spPr>
          <a:xfrm>
            <a:off x="2849563" y="3833813"/>
            <a:ext cx="5251450" cy="1611312"/>
          </a:xfrm>
        </p:spPr>
        <p:txBody>
          <a:bodyPr vert="horz" wrap="square" lIns="91440" tIns="45720" rIns="91440" bIns="45720" anchor="t" anchorCtr="0"/>
          <a:p>
            <a:pPr eaLnBrk="1" hangingPunct="1">
              <a:buClrTx/>
              <a:buSzTx/>
            </a:pPr>
            <a:r>
              <a:rPr lang="zh-CN" altLang="en-US" b="1" kern="1200" dirty="0">
                <a:solidFill>
                  <a:schemeClr val="bg1"/>
                </a:solidFill>
                <a:latin typeface="楷体_GB2312" pitchFamily="49" charset="-122"/>
                <a:ea typeface="楷体_GB2312" pitchFamily="49" charset="-122"/>
                <a:cs typeface="+mn-cs"/>
              </a:rPr>
              <a:t>许虹（机械与动力工程学院）</a:t>
            </a:r>
            <a:endParaRPr lang="zh-CN" altLang="en-US" b="1" kern="1200" dirty="0">
              <a:solidFill>
                <a:schemeClr val="bg1"/>
              </a:solidFill>
              <a:latin typeface="楷体_GB2312" pitchFamily="49" charset="-122"/>
              <a:ea typeface="楷体_GB2312" pitchFamily="49" charset="-122"/>
              <a:cs typeface="+mn-cs"/>
            </a:endParaRPr>
          </a:p>
          <a:p>
            <a:pPr eaLnBrk="1" hangingPunct="1">
              <a:buClrTx/>
              <a:buSzTx/>
            </a:pPr>
            <a:r>
              <a:rPr lang="en-US" altLang="zh-CN" b="1" kern="1200" dirty="0">
                <a:solidFill>
                  <a:schemeClr val="bg1"/>
                </a:solidFill>
                <a:latin typeface="楷体_GB2312" pitchFamily="49" charset="-122"/>
                <a:ea typeface="楷体_GB2312" pitchFamily="49" charset="-122"/>
                <a:cs typeface="+mn-cs"/>
              </a:rPr>
              <a:t>xuhong@ecust.edu.cn</a:t>
            </a:r>
            <a:endParaRPr lang="en-US" altLang="zh-CN" b="1" kern="1200" dirty="0">
              <a:solidFill>
                <a:schemeClr val="bg1"/>
              </a:solidFill>
              <a:latin typeface="楷体_GB2312" pitchFamily="49" charset="-122"/>
              <a:ea typeface="楷体_GB2312" pitchFamily="49" charset="-122"/>
              <a:cs typeface="+mn-cs"/>
            </a:endParaRPr>
          </a:p>
          <a:p>
            <a:pPr eaLnBrk="1" hangingPunct="1">
              <a:buClrTx/>
              <a:buSzTx/>
            </a:pPr>
            <a:r>
              <a:rPr lang="en-US" altLang="zh-CN" b="1" kern="1200" dirty="0">
                <a:solidFill>
                  <a:schemeClr val="bg1"/>
                </a:solidFill>
                <a:latin typeface="楷体_GB2312" pitchFamily="49" charset="-122"/>
                <a:ea typeface="楷体_GB2312" pitchFamily="49" charset="-122"/>
                <a:cs typeface="+mn-cs"/>
              </a:rPr>
              <a:t>32</a:t>
            </a:r>
            <a:r>
              <a:rPr lang="zh-CN" altLang="en-US" b="1" kern="1200" dirty="0">
                <a:solidFill>
                  <a:schemeClr val="bg1"/>
                </a:solidFill>
                <a:latin typeface="楷体_GB2312" pitchFamily="49" charset="-122"/>
                <a:ea typeface="楷体_GB2312" pitchFamily="49" charset="-122"/>
                <a:cs typeface="+mn-cs"/>
              </a:rPr>
              <a:t>学时（理论）</a:t>
            </a:r>
            <a:endParaRPr lang="zh-CN" altLang="en-US" kern="1200" dirty="0">
              <a:latin typeface="楷体_GB2312" pitchFamily="49" charset="-122"/>
              <a:ea typeface="楷体_GB2312" pitchFamily="49" charset="-122"/>
              <a:cs typeface="+mn-cs"/>
            </a:endParaRPr>
          </a:p>
        </p:txBody>
      </p:sp>
      <p:sp>
        <p:nvSpPr>
          <p:cNvPr id="9220" name="WordArt 8"/>
          <p:cNvSpPr>
            <a:spLocks noTextEdit="1"/>
          </p:cNvSpPr>
          <p:nvPr/>
        </p:nvSpPr>
        <p:spPr>
          <a:xfrm>
            <a:off x="6516688" y="1484313"/>
            <a:ext cx="1152525" cy="720725"/>
          </a:xfrm>
          <a:prstGeom prst="rect">
            <a:avLst/>
          </a:prstGeom>
        </p:spPr>
        <p:txBody>
          <a:bodyPr wrap="none" fromWordArt="1">
            <a:prstTxWarp prst="textWave1">
              <a:avLst>
                <a:gd name="adj1" fmla="val 13005"/>
                <a:gd name="adj2" fmla="val 0"/>
              </a:avLst>
            </a:prstTxWarp>
            <a:normAutofit/>
          </a:bodyPr>
          <a:p>
            <a:pPr algn="ctr"/>
            <a:r>
              <a:rPr lang="zh-CN" altLang="en-US" sz="3600" spc="-360">
                <a:ln w="12700" cap="flat" cmpd="sng">
                  <a:solidFill>
                    <a:srgbClr val="FF6600"/>
                  </a:solidFill>
                  <a:prstDash val="solid"/>
                  <a:headEnd type="none" w="med" len="med"/>
                  <a:tailEnd type="none" w="med" len="med"/>
                </a:ln>
                <a:solidFill>
                  <a:srgbClr val="00FF00"/>
                </a:solidFill>
                <a:effectLst>
                  <a:outerShdw dist="125724" dir="18900000" algn="ctr" rotWithShape="0">
                    <a:srgbClr val="000099"/>
                  </a:outerShdw>
                </a:effectLst>
                <a:latin typeface="宋体" panose="02010600030101010101" pitchFamily="2" charset="-122"/>
                <a:ea typeface="宋体" panose="02010600030101010101" pitchFamily="2" charset="-122"/>
              </a:rPr>
              <a:t>ECUST</a:t>
            </a:r>
            <a:endParaRPr lang="zh-CN" altLang="en-US" sz="3600" spc="-360">
              <a:ln w="12700" cap="flat" cmpd="sng">
                <a:solidFill>
                  <a:srgbClr val="FF6600"/>
                </a:solidFill>
                <a:prstDash val="solid"/>
                <a:headEnd type="none" w="med" len="med"/>
                <a:tailEnd type="none" w="med" len="med"/>
              </a:ln>
              <a:solidFill>
                <a:srgbClr val="00FF00"/>
              </a:solidFill>
              <a:effectLst>
                <a:outerShdw dist="125724" dir="18900000" algn="ctr" rotWithShape="0">
                  <a:srgbClr val="000099"/>
                </a:outerShdw>
              </a:effectLst>
              <a:latin typeface="宋体" panose="02010600030101010101" pitchFamily="2" charset="-122"/>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p:txBody>
          <a:bodyPr vert="horz" wrap="square" lIns="91440" tIns="45720" rIns="91440" bIns="45720" anchor="ctr" anchorCtr="0"/>
          <a:p>
            <a:pPr eaLnBrk="1" hangingPunct="1"/>
            <a:r>
              <a:rPr lang="zh-CN" altLang="en-US" sz="4000" dirty="0">
                <a:solidFill>
                  <a:schemeClr val="bg1"/>
                </a:solidFill>
                <a:latin typeface="楷体_GB2312" pitchFamily="49" charset="-122"/>
                <a:ea typeface="楷体_GB2312" pitchFamily="49" charset="-122"/>
              </a:rPr>
              <a:t>第三篇  金属塑性加工</a:t>
            </a:r>
            <a:endParaRPr lang="zh-CN" altLang="en-US" sz="4000" dirty="0">
              <a:solidFill>
                <a:schemeClr val="bg1"/>
              </a:solidFill>
              <a:latin typeface="楷体_GB2312" pitchFamily="49" charset="-122"/>
              <a:ea typeface="楷体_GB2312" pitchFamily="49" charset="-122"/>
            </a:endParaRPr>
          </a:p>
        </p:txBody>
      </p:sp>
      <p:sp>
        <p:nvSpPr>
          <p:cNvPr id="10243" name="Rectangle 5"/>
          <p:cNvSpPr/>
          <p:nvPr/>
        </p:nvSpPr>
        <p:spPr>
          <a:xfrm>
            <a:off x="298450" y="1428750"/>
            <a:ext cx="8496300" cy="1754188"/>
          </a:xfrm>
          <a:prstGeom prst="rect">
            <a:avLst/>
          </a:prstGeom>
          <a:noFill/>
          <a:ln w="9525">
            <a:noFill/>
          </a:ln>
        </p:spPr>
        <p:txBody>
          <a:bodyPr anchor="ctr" anchorCtr="0">
            <a:spAutoFit/>
          </a:bodyPr>
          <a:p>
            <a:pPr indent="228600" defTabSz="914400" eaLnBrk="1" hangingPunct="1">
              <a:spcAft>
                <a:spcPct val="50000"/>
              </a:spcAft>
              <a:tabLst>
                <a:tab pos="914400" algn="l"/>
              </a:tabLst>
            </a:pPr>
            <a:r>
              <a:rPr lang="zh-CN" altLang="en-US" sz="2400" b="1" u="sng" dirty="0">
                <a:solidFill>
                  <a:srgbClr val="0000FF"/>
                </a:solidFill>
                <a:latin typeface="楷体_GB2312" pitchFamily="49" charset="-122"/>
                <a:ea typeface="楷体_GB2312" pitchFamily="49" charset="-122"/>
              </a:rPr>
              <a:t>金属塑性加工：利用金属的塑性，使其改变形状、尺寸和改善性能，获得型材、棒材、板材或锻压件的加工方法。</a:t>
            </a:r>
            <a:endParaRPr lang="zh-CN" altLang="en-US" sz="2400" b="1" u="sng" dirty="0">
              <a:solidFill>
                <a:srgbClr val="0000FF"/>
              </a:solidFill>
              <a:latin typeface="楷体_GB2312" pitchFamily="49" charset="-122"/>
              <a:ea typeface="楷体_GB2312" pitchFamily="49" charset="-122"/>
            </a:endParaRPr>
          </a:p>
          <a:p>
            <a:pPr indent="228600" defTabSz="914400" eaLnBrk="1" hangingPunct="1">
              <a:tabLst>
                <a:tab pos="914400" algn="l"/>
              </a:tabLst>
            </a:pPr>
            <a:r>
              <a:rPr lang="en-US" altLang="zh-CN" sz="2400" b="1" dirty="0">
                <a:solidFill>
                  <a:srgbClr val="FF3300"/>
                </a:solidFill>
                <a:latin typeface="楷体_GB2312" pitchFamily="49" charset="-122"/>
                <a:ea typeface="楷体_GB2312" pitchFamily="49" charset="-122"/>
              </a:rPr>
              <a:t>1.</a:t>
            </a:r>
            <a:r>
              <a:rPr lang="zh-CN" altLang="en-US" sz="2400" b="1" dirty="0">
                <a:solidFill>
                  <a:srgbClr val="FF3300"/>
                </a:solidFill>
                <a:latin typeface="楷体_GB2312" pitchFamily="49" charset="-122"/>
                <a:ea typeface="楷体_GB2312" pitchFamily="49" charset="-122"/>
              </a:rPr>
              <a:t>塑性加工的历史发展：</a:t>
            </a:r>
            <a:endParaRPr lang="zh-CN" altLang="en-US" sz="2400" b="1" dirty="0">
              <a:solidFill>
                <a:srgbClr val="FF3300"/>
              </a:solidFill>
              <a:latin typeface="楷体_GB2312" pitchFamily="49" charset="-122"/>
              <a:ea typeface="楷体_GB2312" pitchFamily="49" charset="-122"/>
            </a:endParaRPr>
          </a:p>
          <a:p>
            <a:pPr indent="228600" defTabSz="914400" eaLnBrk="1" hangingPunct="1">
              <a:tabLst>
                <a:tab pos="914400" algn="l"/>
              </a:tabLst>
            </a:pPr>
            <a:r>
              <a:rPr lang="zh-CN" altLang="en-US" sz="2400" b="1" dirty="0">
                <a:latin typeface="楷体_GB2312" pitchFamily="49" charset="-122"/>
                <a:ea typeface="楷体_GB2312" pitchFamily="49" charset="-122"/>
              </a:rPr>
              <a:t>打铁→锻压→压力加工→塑性加工</a:t>
            </a:r>
            <a:endParaRPr lang="zh-CN" altLang="en-US" sz="2400" b="1" dirty="0">
              <a:latin typeface="楷体_GB2312" pitchFamily="49" charset="-122"/>
              <a:ea typeface="楷体_GB2312" pitchFamily="49" charset="-122"/>
            </a:endParaRPr>
          </a:p>
        </p:txBody>
      </p:sp>
      <p:pic>
        <p:nvPicPr>
          <p:cNvPr id="10244" name="图片 1"/>
          <p:cNvPicPr>
            <a:picLocks noChangeAspect="1"/>
          </p:cNvPicPr>
          <p:nvPr/>
        </p:nvPicPr>
        <p:blipFill>
          <a:blip r:embed="rId1"/>
          <a:stretch>
            <a:fillRect/>
          </a:stretch>
        </p:blipFill>
        <p:spPr>
          <a:xfrm>
            <a:off x="5300663" y="2247900"/>
            <a:ext cx="2095500" cy="1476375"/>
          </a:xfrm>
          <a:prstGeom prst="rect">
            <a:avLst/>
          </a:prstGeom>
          <a:noFill/>
          <a:ln w="9525">
            <a:noFill/>
          </a:ln>
        </p:spPr>
      </p:pic>
      <p:pic>
        <p:nvPicPr>
          <p:cNvPr id="10245" name="图片 2"/>
          <p:cNvPicPr>
            <a:picLocks noChangeAspect="1"/>
          </p:cNvPicPr>
          <p:nvPr/>
        </p:nvPicPr>
        <p:blipFill>
          <a:blip r:embed="rId2"/>
          <a:stretch>
            <a:fillRect/>
          </a:stretch>
        </p:blipFill>
        <p:spPr>
          <a:xfrm>
            <a:off x="7396163" y="2284413"/>
            <a:ext cx="1778000" cy="1333500"/>
          </a:xfrm>
          <a:prstGeom prst="rect">
            <a:avLst/>
          </a:prstGeom>
          <a:noFill/>
          <a:ln w="9525">
            <a:noFill/>
          </a:ln>
        </p:spPr>
      </p:pic>
      <p:pic>
        <p:nvPicPr>
          <p:cNvPr id="10246" name="图片 3"/>
          <p:cNvPicPr>
            <a:picLocks noChangeAspect="1"/>
          </p:cNvPicPr>
          <p:nvPr/>
        </p:nvPicPr>
        <p:blipFill>
          <a:blip r:embed="rId3"/>
          <a:stretch>
            <a:fillRect/>
          </a:stretch>
        </p:blipFill>
        <p:spPr>
          <a:xfrm>
            <a:off x="5422900" y="3879850"/>
            <a:ext cx="1849438" cy="1385888"/>
          </a:xfrm>
          <a:prstGeom prst="rect">
            <a:avLst/>
          </a:prstGeom>
          <a:noFill/>
          <a:ln w="9525">
            <a:noFill/>
          </a:ln>
        </p:spPr>
      </p:pic>
      <p:pic>
        <p:nvPicPr>
          <p:cNvPr id="10247" name="图片 4"/>
          <p:cNvPicPr>
            <a:picLocks noChangeAspect="1"/>
          </p:cNvPicPr>
          <p:nvPr/>
        </p:nvPicPr>
        <p:blipFill>
          <a:blip r:embed="rId4"/>
          <a:stretch>
            <a:fillRect/>
          </a:stretch>
        </p:blipFill>
        <p:spPr>
          <a:xfrm>
            <a:off x="7443788" y="3906838"/>
            <a:ext cx="1593850" cy="1193800"/>
          </a:xfrm>
          <a:prstGeom prst="rect">
            <a:avLst/>
          </a:prstGeom>
          <a:noFill/>
          <a:ln w="9525">
            <a:noFill/>
          </a:ln>
        </p:spPr>
      </p:pic>
      <p:pic>
        <p:nvPicPr>
          <p:cNvPr id="10248" name="图片 5"/>
          <p:cNvPicPr>
            <a:picLocks noChangeAspect="1"/>
          </p:cNvPicPr>
          <p:nvPr/>
        </p:nvPicPr>
        <p:blipFill>
          <a:blip r:embed="rId5"/>
          <a:stretch>
            <a:fillRect/>
          </a:stretch>
        </p:blipFill>
        <p:spPr>
          <a:xfrm>
            <a:off x="142875" y="3143250"/>
            <a:ext cx="1616075" cy="2128838"/>
          </a:xfrm>
          <a:prstGeom prst="rect">
            <a:avLst/>
          </a:prstGeom>
          <a:noFill/>
          <a:ln w="9525">
            <a:noFill/>
          </a:ln>
        </p:spPr>
      </p:pic>
      <p:pic>
        <p:nvPicPr>
          <p:cNvPr id="10249" name="图片 6"/>
          <p:cNvPicPr>
            <a:picLocks noChangeAspect="1"/>
          </p:cNvPicPr>
          <p:nvPr/>
        </p:nvPicPr>
        <p:blipFill>
          <a:blip r:embed="rId6"/>
          <a:stretch>
            <a:fillRect/>
          </a:stretch>
        </p:blipFill>
        <p:spPr>
          <a:xfrm>
            <a:off x="2143125" y="3357563"/>
            <a:ext cx="2198688" cy="1763712"/>
          </a:xfrm>
          <a:prstGeom prst="rect">
            <a:avLst/>
          </a:prstGeom>
          <a:noFill/>
          <a:ln w="9525">
            <a:noFill/>
          </a:ln>
        </p:spPr>
      </p:pic>
      <p:pic>
        <p:nvPicPr>
          <p:cNvPr id="10250" name="图片 7"/>
          <p:cNvPicPr>
            <a:picLocks noChangeAspect="1"/>
          </p:cNvPicPr>
          <p:nvPr/>
        </p:nvPicPr>
        <p:blipFill>
          <a:blip r:embed="rId7"/>
          <a:stretch>
            <a:fillRect/>
          </a:stretch>
        </p:blipFill>
        <p:spPr>
          <a:xfrm>
            <a:off x="571500" y="5221288"/>
            <a:ext cx="5286375" cy="1636712"/>
          </a:xfrm>
          <a:prstGeom prst="rect">
            <a:avLst/>
          </a:prstGeom>
          <a:noFill/>
          <a:ln w="9525">
            <a:noFill/>
          </a:ln>
        </p:spPr>
      </p:pic>
      <p:pic>
        <p:nvPicPr>
          <p:cNvPr id="10251" name="图片 8"/>
          <p:cNvPicPr>
            <a:picLocks noChangeAspect="1"/>
          </p:cNvPicPr>
          <p:nvPr/>
        </p:nvPicPr>
        <p:blipFill>
          <a:blip r:embed="rId8"/>
          <a:stretch>
            <a:fillRect/>
          </a:stretch>
        </p:blipFill>
        <p:spPr>
          <a:xfrm>
            <a:off x="7143750" y="5357813"/>
            <a:ext cx="1803400" cy="139065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
          <p:cNvSpPr>
            <a:spLocks noGrp="1"/>
          </p:cNvSpPr>
          <p:nvPr>
            <p:ph type="title"/>
          </p:nvPr>
        </p:nvSpPr>
        <p:spPr/>
        <p:txBody>
          <a:bodyPr vert="horz" wrap="square" lIns="91440" tIns="45720" rIns="91440" bIns="45720" anchor="ctr" anchorCtr="0"/>
          <a:p>
            <a:r>
              <a:rPr lang="zh-CN" altLang="en-US" dirty="0"/>
              <a:t>典型零件</a:t>
            </a:r>
            <a:endParaRPr lang="zh-CN" altLang="en-US" dirty="0"/>
          </a:p>
        </p:txBody>
      </p:sp>
      <p:sp>
        <p:nvSpPr>
          <p:cNvPr id="11267" name="内容占位符 2"/>
          <p:cNvSpPr>
            <a:spLocks noGrp="1"/>
          </p:cNvSpPr>
          <p:nvPr>
            <p:ph idx="1"/>
          </p:nvPr>
        </p:nvSpPr>
        <p:spPr/>
        <p:txBody>
          <a:bodyPr vert="horz" wrap="square" lIns="91440" tIns="45720" rIns="91440" bIns="45720" anchor="t" anchorCtr="0"/>
          <a:p>
            <a:endParaRPr lang="zh-CN" altLang="en-US" dirty="0"/>
          </a:p>
        </p:txBody>
      </p:sp>
      <p:pic>
        <p:nvPicPr>
          <p:cNvPr id="11268" name="Picture 2" descr="https://bkimg.cdn.bcebos.com/pic/9345d688d43f87943d594a0dd21b0ef41bd53a6a?x-bce-process=image/watermark,image_d2F0ZXIvYmFpa2U4MA==,g_7,xp_5,yp_5"/>
          <p:cNvPicPr>
            <a:picLocks noChangeAspect="1"/>
          </p:cNvPicPr>
          <p:nvPr/>
        </p:nvPicPr>
        <p:blipFill>
          <a:blip r:embed="rId1"/>
          <a:stretch>
            <a:fillRect/>
          </a:stretch>
        </p:blipFill>
        <p:spPr>
          <a:xfrm>
            <a:off x="71438" y="2000250"/>
            <a:ext cx="5715000" cy="3886200"/>
          </a:xfrm>
          <a:prstGeom prst="rect">
            <a:avLst/>
          </a:prstGeom>
          <a:noFill/>
          <a:ln w="9525">
            <a:noFill/>
          </a:ln>
        </p:spPr>
      </p:pic>
      <p:pic>
        <p:nvPicPr>
          <p:cNvPr id="11269" name="Picture 5"/>
          <p:cNvPicPr>
            <a:picLocks noChangeAspect="1"/>
          </p:cNvPicPr>
          <p:nvPr/>
        </p:nvPicPr>
        <p:blipFill>
          <a:blip r:embed="rId2"/>
          <a:stretch>
            <a:fillRect/>
          </a:stretch>
        </p:blipFill>
        <p:spPr>
          <a:xfrm>
            <a:off x="5929313" y="1285875"/>
            <a:ext cx="3214687" cy="2832100"/>
          </a:xfrm>
          <a:prstGeom prst="rect">
            <a:avLst/>
          </a:prstGeom>
          <a:noFill/>
          <a:ln w="9525">
            <a:noFill/>
          </a:ln>
        </p:spPr>
      </p:pic>
      <p:pic>
        <p:nvPicPr>
          <p:cNvPr id="11270" name="Picture 7" descr="https://timgsa.baidu.com/timg?image&amp;quality=80&amp;size=b9999_10000&amp;sec=1603777777975&amp;di=1b04e994a64dab41b82f1fea30a56d75&amp;imgtype=0&amp;src=http%3A%2F%2Fe.hiphotos.baidu.com%2Fbaike%2Fs%253D220%2Fsign%3Ddec89846e150352ab561220a6342fb1a%2F77c6a7efce1b9d1619c10d90fbdeb48f8c546439.jpg"/>
          <p:cNvPicPr>
            <a:picLocks noChangeAspect="1"/>
          </p:cNvPicPr>
          <p:nvPr/>
        </p:nvPicPr>
        <p:blipFill>
          <a:blip r:embed="rId3"/>
          <a:stretch>
            <a:fillRect/>
          </a:stretch>
        </p:blipFill>
        <p:spPr>
          <a:xfrm>
            <a:off x="5846763" y="4500563"/>
            <a:ext cx="3297237" cy="214312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a:xfrm>
            <a:off x="3592513" y="241300"/>
            <a:ext cx="3692525" cy="1035050"/>
          </a:xfrm>
        </p:spPr>
        <p:txBody>
          <a:bodyPr vert="horz" wrap="square" lIns="91440" tIns="45720" rIns="91440" bIns="45720" anchor="ctr" anchorCtr="0"/>
          <a:p>
            <a:pPr eaLnBrk="1" hangingPunct="1"/>
            <a:r>
              <a:rPr lang="en-US" altLang="zh-CN" dirty="0"/>
              <a:t>  </a:t>
            </a:r>
            <a:r>
              <a:rPr lang="zh-CN" altLang="en-US" sz="4000" dirty="0">
                <a:ea typeface="楷体_GB2312" pitchFamily="49" charset="-122"/>
              </a:rPr>
              <a:t>金属塑性加工</a:t>
            </a:r>
            <a:endParaRPr lang="zh-CN" altLang="en-US" sz="4000" dirty="0">
              <a:ea typeface="楷体_GB2312" pitchFamily="49" charset="-122"/>
            </a:endParaRPr>
          </a:p>
        </p:txBody>
      </p:sp>
      <p:sp>
        <p:nvSpPr>
          <p:cNvPr id="676867" name="Rectangle 3"/>
          <p:cNvSpPr>
            <a:spLocks noGrp="1"/>
          </p:cNvSpPr>
          <p:nvPr>
            <p:ph idx="1"/>
          </p:nvPr>
        </p:nvSpPr>
        <p:spPr>
          <a:xfrm>
            <a:off x="250825" y="1484313"/>
            <a:ext cx="4691063" cy="4924425"/>
          </a:xfrm>
        </p:spPr>
        <p:txBody>
          <a:bodyPr vert="horz" wrap="square" lIns="91440" tIns="45720" rIns="91440" bIns="45720" anchor="t" anchorCtr="0"/>
          <a:p>
            <a:pPr eaLnBrk="1" hangingPunct="1"/>
            <a:r>
              <a:rPr lang="zh-CN" sz="2800" b="1" dirty="0">
                <a:solidFill>
                  <a:srgbClr val="0000FF"/>
                </a:solidFill>
                <a:ea typeface="楷体_GB2312" pitchFamily="49" charset="-122"/>
              </a:rPr>
              <a:t>内容（包括</a:t>
            </a:r>
            <a:r>
              <a:rPr lang="zh-CN" altLang="en-US" sz="2800" b="1" dirty="0">
                <a:solidFill>
                  <a:srgbClr val="0000FF"/>
                </a:solidFill>
                <a:ea typeface="楷体_GB2312" pitchFamily="49" charset="-122"/>
              </a:rPr>
              <a:t>体积成形、板料成形、特种成形</a:t>
            </a:r>
            <a:r>
              <a:rPr lang="en-US" altLang="zh-CN" sz="2800" b="1" dirty="0">
                <a:solidFill>
                  <a:srgbClr val="0000FF"/>
                </a:solidFill>
                <a:ea typeface="楷体_GB2312" pitchFamily="49" charset="-122"/>
              </a:rPr>
              <a:t>)</a:t>
            </a:r>
            <a:r>
              <a:rPr lang="zh-CN" altLang="en-US" sz="2800" b="1" dirty="0">
                <a:solidFill>
                  <a:srgbClr val="0000FF"/>
                </a:solidFill>
                <a:ea typeface="楷体_GB2312" pitchFamily="49" charset="-122"/>
              </a:rPr>
              <a:t>：</a:t>
            </a:r>
            <a:endParaRPr lang="zh-CN" altLang="en-US" sz="2800" b="1" dirty="0">
              <a:solidFill>
                <a:srgbClr val="0000FF"/>
              </a:solidFill>
              <a:ea typeface="楷体_GB2312" pitchFamily="49" charset="-122"/>
            </a:endParaRPr>
          </a:p>
          <a:p>
            <a:pPr lvl="1" eaLnBrk="1" hangingPunct="1"/>
            <a:r>
              <a:rPr lang="zh-CN" altLang="en-US" sz="2400" b="1" dirty="0">
                <a:ea typeface="楷体_GB2312" pitchFamily="49" charset="-122"/>
              </a:rPr>
              <a:t>锻造：在加压设备及工（模）具的作用下，使坯料、铸锭产生局部或全部的塑性变形，以获得一定几何尺寸、形状和质量的锻件的加工方法。</a:t>
            </a:r>
            <a:endParaRPr lang="zh-CN" altLang="en-US" sz="2400" b="1" dirty="0">
              <a:ea typeface="楷体_GB2312" pitchFamily="49" charset="-122"/>
            </a:endParaRPr>
          </a:p>
          <a:p>
            <a:pPr lvl="1" eaLnBrk="1" hangingPunct="1"/>
            <a:r>
              <a:rPr lang="zh-CN" altLang="en-US" sz="2400" b="1" dirty="0">
                <a:ea typeface="楷体_GB2312" pitchFamily="49" charset="-122"/>
              </a:rPr>
              <a:t>挤压：坯料在封闭模腔内受三向不均匀压应力作用下，从模具的孔口或缝隙挤出，使之横截面积减小，成为所需制品的加工方法。</a:t>
            </a:r>
            <a:endParaRPr lang="zh-CN" altLang="en-US" sz="2400" b="1" dirty="0">
              <a:ea typeface="楷体_GB2312" pitchFamily="49" charset="-122"/>
            </a:endParaRPr>
          </a:p>
        </p:txBody>
      </p:sp>
      <p:pic>
        <p:nvPicPr>
          <p:cNvPr id="12292" name="Picture 6"/>
          <p:cNvPicPr>
            <a:picLocks noChangeAspect="1"/>
          </p:cNvPicPr>
          <p:nvPr/>
        </p:nvPicPr>
        <p:blipFill>
          <a:blip r:embed="rId1"/>
          <a:stretch>
            <a:fillRect/>
          </a:stretch>
        </p:blipFill>
        <p:spPr>
          <a:xfrm>
            <a:off x="5419725" y="2060575"/>
            <a:ext cx="3176588" cy="2066925"/>
          </a:xfrm>
          <a:prstGeom prst="rect">
            <a:avLst/>
          </a:prstGeom>
          <a:noFill/>
          <a:ln w="9525">
            <a:noFill/>
          </a:ln>
        </p:spPr>
      </p:pic>
      <p:pic>
        <p:nvPicPr>
          <p:cNvPr id="12293" name="Picture 10"/>
          <p:cNvPicPr>
            <a:picLocks noChangeAspect="1"/>
          </p:cNvPicPr>
          <p:nvPr/>
        </p:nvPicPr>
        <p:blipFill>
          <a:blip r:embed="rId2"/>
          <a:stretch>
            <a:fillRect/>
          </a:stretch>
        </p:blipFill>
        <p:spPr>
          <a:xfrm>
            <a:off x="5257800" y="4365625"/>
            <a:ext cx="3500438" cy="22733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676867">
                                            <p:txEl>
                                              <p:charRg st="0" end="19"/>
                                            </p:txEl>
                                          </p:spTgt>
                                        </p:tgtEl>
                                        <p:attrNameLst>
                                          <p:attrName>style.visibility</p:attrName>
                                        </p:attrNameLst>
                                      </p:cBhvr>
                                      <p:to>
                                        <p:strVal val="visible"/>
                                      </p:to>
                                    </p:set>
                                    <p:animEffect transition="in" filter="blinds(horizontal)">
                                      <p:cBhvr>
                                        <p:cTn id="7" dur="500"/>
                                        <p:tgtEl>
                                          <p:spTgt spid="676867">
                                            <p:txEl>
                                              <p:charRg st="0" end="19"/>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76867">
                                            <p:txEl>
                                              <p:charRg st="19" end="82"/>
                                            </p:txEl>
                                          </p:spTgt>
                                        </p:tgtEl>
                                        <p:attrNameLst>
                                          <p:attrName>style.visibility</p:attrName>
                                        </p:attrNameLst>
                                      </p:cBhvr>
                                      <p:to>
                                        <p:strVal val="visible"/>
                                      </p:to>
                                    </p:set>
                                    <p:animEffect transition="in" filter="blinds(horizontal)">
                                      <p:cBhvr>
                                        <p:cTn id="10" dur="500"/>
                                        <p:tgtEl>
                                          <p:spTgt spid="676867">
                                            <p:txEl>
                                              <p:charRg st="19" end="8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76867">
                                            <p:txEl>
                                              <p:charRg st="82" end="140"/>
                                            </p:txEl>
                                          </p:spTgt>
                                        </p:tgtEl>
                                        <p:attrNameLst>
                                          <p:attrName>style.visibility</p:attrName>
                                        </p:attrNameLst>
                                      </p:cBhvr>
                                      <p:to>
                                        <p:strVal val="visible"/>
                                      </p:to>
                                    </p:set>
                                    <p:animEffect transition="in" filter="blinds(horizontal)">
                                      <p:cBhvr>
                                        <p:cTn id="13" dur="500"/>
                                        <p:tgtEl>
                                          <p:spTgt spid="676867">
                                            <p:txEl>
                                              <p:charRg st="82" end="14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a:xfrm>
            <a:off x="3592513" y="241300"/>
            <a:ext cx="3692525" cy="1035050"/>
          </a:xfrm>
        </p:spPr>
        <p:txBody>
          <a:bodyPr vert="horz" wrap="square" lIns="91440" tIns="45720" rIns="91440" bIns="45720" anchor="ctr" anchorCtr="0"/>
          <a:p>
            <a:pPr eaLnBrk="1" hangingPunct="1"/>
            <a:r>
              <a:rPr lang="en-US" altLang="zh-CN" dirty="0"/>
              <a:t>  </a:t>
            </a:r>
            <a:r>
              <a:rPr lang="zh-CN" altLang="en-US" sz="4000" dirty="0">
                <a:ea typeface="楷体_GB2312" pitchFamily="49" charset="-122"/>
              </a:rPr>
              <a:t>金属塑性加工</a:t>
            </a:r>
            <a:endParaRPr lang="zh-CN" altLang="en-US" sz="4000" dirty="0">
              <a:ea typeface="楷体_GB2312" pitchFamily="49" charset="-122"/>
            </a:endParaRPr>
          </a:p>
        </p:txBody>
      </p:sp>
      <p:sp>
        <p:nvSpPr>
          <p:cNvPr id="1148931" name="Rectangle 3"/>
          <p:cNvSpPr>
            <a:spLocks noGrp="1"/>
          </p:cNvSpPr>
          <p:nvPr>
            <p:ph idx="1"/>
          </p:nvPr>
        </p:nvSpPr>
        <p:spPr>
          <a:xfrm>
            <a:off x="179388" y="1528763"/>
            <a:ext cx="4465637" cy="4924425"/>
          </a:xfrm>
        </p:spPr>
        <p:txBody>
          <a:bodyPr vert="horz" wrap="square" lIns="91440" tIns="45720" rIns="91440" bIns="45720" anchor="t" anchorCtr="0"/>
          <a:p>
            <a:pPr lvl="0" eaLnBrk="1" hangingPunct="1">
              <a:lnSpc>
                <a:spcPct val="90000"/>
              </a:lnSpc>
            </a:pPr>
            <a:r>
              <a:rPr lang="zh-CN" altLang="en-US" sz="2740" b="1" dirty="0">
                <a:ea typeface="楷体_GB2312" pitchFamily="49" charset="-122"/>
              </a:rPr>
              <a:t>内容：</a:t>
            </a:r>
            <a:endParaRPr lang="zh-CN" altLang="en-US" sz="2740" b="1" dirty="0">
              <a:ea typeface="楷体_GB2312" pitchFamily="49" charset="-122"/>
            </a:endParaRPr>
          </a:p>
          <a:p>
            <a:pPr lvl="1" eaLnBrk="1" hangingPunct="1">
              <a:lnSpc>
                <a:spcPct val="90000"/>
              </a:lnSpc>
            </a:pPr>
            <a:r>
              <a:rPr lang="zh-CN" altLang="en-US" sz="2400" b="1" dirty="0">
                <a:ea typeface="楷体_GB2312" pitchFamily="49" charset="-122"/>
              </a:rPr>
              <a:t>拉拔：坯料在牵引力作用下通过模孔拉出，使之产生塑性变形而得到截面小、长度增加制品的工艺。</a:t>
            </a:r>
            <a:endParaRPr lang="zh-CN" altLang="en-US" sz="2400" b="1" dirty="0">
              <a:ea typeface="楷体_GB2312" pitchFamily="49" charset="-122"/>
            </a:endParaRPr>
          </a:p>
          <a:p>
            <a:pPr lvl="1" eaLnBrk="1" hangingPunct="1">
              <a:lnSpc>
                <a:spcPct val="90000"/>
              </a:lnSpc>
            </a:pPr>
            <a:r>
              <a:rPr lang="zh-CN" altLang="en-US" sz="2400" b="1" dirty="0">
                <a:ea typeface="楷体_GB2312" pitchFamily="49" charset="-122"/>
              </a:rPr>
              <a:t>轧制：金属材料（或非金属材料）在旋转轧辊的压力作用下，产生连续塑性变形，获得所要求的截面形状并改变其性能的方法。</a:t>
            </a:r>
            <a:endParaRPr lang="zh-CN" altLang="en-US" sz="2400" b="1" dirty="0">
              <a:ea typeface="楷体_GB2312" pitchFamily="49" charset="-122"/>
            </a:endParaRPr>
          </a:p>
          <a:p>
            <a:pPr lvl="1" eaLnBrk="1" hangingPunct="1">
              <a:lnSpc>
                <a:spcPct val="90000"/>
              </a:lnSpc>
            </a:pPr>
            <a:r>
              <a:rPr lang="zh-CN" altLang="en-US" sz="2400" b="1" dirty="0">
                <a:ea typeface="楷体_GB2312" pitchFamily="49" charset="-122"/>
              </a:rPr>
              <a:t>冲压：使板料经分离或成形而得到制品的工艺统称。</a:t>
            </a:r>
            <a:endParaRPr lang="zh-CN" altLang="en-US" sz="2400" b="1" dirty="0">
              <a:ea typeface="楷体_GB2312" pitchFamily="49" charset="-122"/>
            </a:endParaRPr>
          </a:p>
          <a:p>
            <a:pPr lvl="1" eaLnBrk="1" hangingPunct="1">
              <a:lnSpc>
                <a:spcPct val="90000"/>
              </a:lnSpc>
            </a:pPr>
            <a:r>
              <a:rPr lang="zh-CN" altLang="en-US" sz="2400" b="1" dirty="0">
                <a:solidFill>
                  <a:srgbClr val="009900"/>
                </a:solidFill>
                <a:ea typeface="楷体_GB2312" pitchFamily="49" charset="-122"/>
                <a:hlinkClick r:id="rId1" action="ppaction://hlinksldjump"/>
              </a:rPr>
              <a:t>特种压力加工方</a:t>
            </a:r>
            <a:endParaRPr lang="zh-CN" altLang="en-US" sz="2400" b="1" dirty="0">
              <a:solidFill>
                <a:srgbClr val="009900"/>
              </a:solidFill>
              <a:ea typeface="楷体_GB2312" pitchFamily="49" charset="-122"/>
            </a:endParaRPr>
          </a:p>
        </p:txBody>
      </p:sp>
      <p:pic>
        <p:nvPicPr>
          <p:cNvPr id="13316" name="Picture 11"/>
          <p:cNvPicPr>
            <a:picLocks noChangeAspect="1"/>
          </p:cNvPicPr>
          <p:nvPr/>
        </p:nvPicPr>
        <p:blipFill>
          <a:blip r:embed="rId2"/>
          <a:stretch>
            <a:fillRect/>
          </a:stretch>
        </p:blipFill>
        <p:spPr>
          <a:xfrm>
            <a:off x="4670425" y="1235075"/>
            <a:ext cx="2185988" cy="1697038"/>
          </a:xfrm>
          <a:prstGeom prst="rect">
            <a:avLst/>
          </a:prstGeom>
          <a:noFill/>
          <a:ln w="9525">
            <a:noFill/>
          </a:ln>
        </p:spPr>
      </p:pic>
      <p:pic>
        <p:nvPicPr>
          <p:cNvPr id="13317" name="Picture 16"/>
          <p:cNvPicPr>
            <a:picLocks noChangeAspect="1"/>
          </p:cNvPicPr>
          <p:nvPr/>
        </p:nvPicPr>
        <p:blipFill>
          <a:blip r:embed="rId3"/>
          <a:stretch>
            <a:fillRect/>
          </a:stretch>
        </p:blipFill>
        <p:spPr>
          <a:xfrm>
            <a:off x="6981825" y="1268413"/>
            <a:ext cx="2127250" cy="1660525"/>
          </a:xfrm>
          <a:prstGeom prst="rect">
            <a:avLst/>
          </a:prstGeom>
          <a:noFill/>
          <a:ln w="9525">
            <a:noFill/>
          </a:ln>
        </p:spPr>
      </p:pic>
      <p:pic>
        <p:nvPicPr>
          <p:cNvPr id="13318" name="图片 1"/>
          <p:cNvPicPr>
            <a:picLocks noChangeAspect="1"/>
          </p:cNvPicPr>
          <p:nvPr/>
        </p:nvPicPr>
        <p:blipFill>
          <a:blip r:embed="rId4"/>
          <a:stretch>
            <a:fillRect/>
          </a:stretch>
        </p:blipFill>
        <p:spPr>
          <a:xfrm>
            <a:off x="4535488" y="4581525"/>
            <a:ext cx="4573587" cy="2287588"/>
          </a:xfrm>
          <a:prstGeom prst="rect">
            <a:avLst/>
          </a:prstGeom>
          <a:noFill/>
          <a:ln w="9525">
            <a:noFill/>
          </a:ln>
        </p:spPr>
      </p:pic>
      <p:pic>
        <p:nvPicPr>
          <p:cNvPr id="13319" name="Picture 5"/>
          <p:cNvPicPr>
            <a:picLocks noChangeAspect="1"/>
          </p:cNvPicPr>
          <p:nvPr/>
        </p:nvPicPr>
        <p:blipFill>
          <a:blip r:embed="rId5"/>
          <a:stretch>
            <a:fillRect/>
          </a:stretch>
        </p:blipFill>
        <p:spPr>
          <a:xfrm>
            <a:off x="7061200" y="2974975"/>
            <a:ext cx="1957388" cy="1677988"/>
          </a:xfrm>
          <a:prstGeom prst="rect">
            <a:avLst/>
          </a:prstGeom>
          <a:noFill/>
          <a:ln w="9525">
            <a:noFill/>
          </a:ln>
        </p:spPr>
      </p:pic>
      <p:pic>
        <p:nvPicPr>
          <p:cNvPr id="13320" name="Picture 12"/>
          <p:cNvPicPr>
            <a:picLocks noChangeAspect="1"/>
          </p:cNvPicPr>
          <p:nvPr/>
        </p:nvPicPr>
        <p:blipFill>
          <a:blip r:embed="rId6"/>
          <a:stretch>
            <a:fillRect/>
          </a:stretch>
        </p:blipFill>
        <p:spPr>
          <a:xfrm>
            <a:off x="4716463" y="2984500"/>
            <a:ext cx="2251075" cy="15875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148931">
                                            <p:txEl>
                                              <p:charRg st="105" end="129"/>
                                            </p:txEl>
                                          </p:spTgt>
                                        </p:tgtEl>
                                        <p:attrNameLst>
                                          <p:attrName>style.visibility</p:attrName>
                                        </p:attrNameLst>
                                      </p:cBhvr>
                                      <p:to>
                                        <p:strVal val="visible"/>
                                      </p:to>
                                    </p:set>
                                    <p:animEffect transition="in" filter="blinds(horizontal)">
                                      <p:cBhvr>
                                        <p:cTn id="7" dur="500"/>
                                        <p:tgtEl>
                                          <p:spTgt spid="1148931">
                                            <p:txEl>
                                              <p:charRg st="105" end="129"/>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148931">
                                            <p:txEl>
                                              <p:charRg st="48" end="105"/>
                                            </p:txEl>
                                          </p:spTgt>
                                        </p:tgtEl>
                                        <p:attrNameLst>
                                          <p:attrName>style.visibility</p:attrName>
                                        </p:attrNameLst>
                                      </p:cBhvr>
                                      <p:to>
                                        <p:strVal val="visible"/>
                                      </p:to>
                                    </p:set>
                                    <p:animEffect transition="in" filter="blinds(horizontal)">
                                      <p:cBhvr>
                                        <p:cTn id="10" dur="500"/>
                                        <p:tgtEl>
                                          <p:spTgt spid="1148931">
                                            <p:txEl>
                                              <p:charRg st="48" end="10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148931">
                                            <p:txEl>
                                              <p:charRg st="1" end="1"/>
                                            </p:txEl>
                                          </p:spTgt>
                                        </p:tgtEl>
                                        <p:attrNameLst>
                                          <p:attrName>style.visibility</p:attrName>
                                        </p:attrNameLst>
                                      </p:cBhvr>
                                      <p:to>
                                        <p:strVal val="visible"/>
                                      </p:to>
                                    </p:set>
                                    <p:animEffect transition="in" filter="blinds(horizontal)">
                                      <p:cBhvr>
                                        <p:cTn id="13" dur="500"/>
                                        <p:tgtEl>
                                          <p:spTgt spid="1148931">
                                            <p:txEl>
                                              <p:charRg st="1" end="1"/>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148931">
                                            <p:txEl>
                                              <p:charRg st="0" end="0"/>
                                            </p:txEl>
                                          </p:spTgt>
                                        </p:tgtEl>
                                        <p:attrNameLst>
                                          <p:attrName>style.visibility</p:attrName>
                                        </p:attrNameLst>
                                      </p:cBhvr>
                                      <p:to>
                                        <p:strVal val="visible"/>
                                      </p:to>
                                    </p:set>
                                    <p:animEffect transition="in" filter="blinds(horizontal)">
                                      <p:cBhvr>
                                        <p:cTn id="16" dur="500"/>
                                        <p:tgtEl>
                                          <p:spTgt spid="1148931">
                                            <p:txEl>
                                              <p:charRg st="0" end="0"/>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148931">
                                            <p:txEl>
                                              <p:charRg st="129" end="137"/>
                                            </p:txEl>
                                          </p:spTgt>
                                        </p:tgtEl>
                                        <p:attrNameLst>
                                          <p:attrName>style.visibility</p:attrName>
                                        </p:attrNameLst>
                                      </p:cBhvr>
                                      <p:to>
                                        <p:strVal val="visible"/>
                                      </p:to>
                                    </p:set>
                                    <p:animEffect transition="in" filter="blinds(horizontal)">
                                      <p:cBhvr>
                                        <p:cTn id="19" dur="500"/>
                                        <p:tgtEl>
                                          <p:spTgt spid="1148931">
                                            <p:txEl>
                                              <p:charRg st="129" end="13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p:txBody>
          <a:bodyPr vert="horz" wrap="square" lIns="91440" tIns="45720" rIns="91440" bIns="45720" anchor="ctr" anchorCtr="0"/>
          <a:p>
            <a:pPr eaLnBrk="1" hangingPunct="1"/>
            <a:r>
              <a:rPr lang="zh-CN" altLang="en-US" sz="4000" dirty="0">
                <a:solidFill>
                  <a:schemeClr val="bg1"/>
                </a:solidFill>
                <a:latin typeface="楷体_GB2312" pitchFamily="49" charset="-122"/>
                <a:ea typeface="楷体_GB2312" pitchFamily="49" charset="-122"/>
              </a:rPr>
              <a:t>第三篇  金属塑性加工</a:t>
            </a:r>
            <a:endParaRPr lang="zh-CN" altLang="en-US" sz="4000" dirty="0">
              <a:solidFill>
                <a:schemeClr val="bg1"/>
              </a:solidFill>
              <a:latin typeface="楷体_GB2312" pitchFamily="49" charset="-122"/>
              <a:ea typeface="楷体_GB2312" pitchFamily="49" charset="-122"/>
            </a:endParaRPr>
          </a:p>
        </p:txBody>
      </p:sp>
      <p:sp>
        <p:nvSpPr>
          <p:cNvPr id="14339" name="Rectangle 5"/>
          <p:cNvSpPr/>
          <p:nvPr/>
        </p:nvSpPr>
        <p:spPr>
          <a:xfrm>
            <a:off x="250825" y="1293813"/>
            <a:ext cx="8496300" cy="4894262"/>
          </a:xfrm>
          <a:prstGeom prst="rect">
            <a:avLst/>
          </a:prstGeom>
          <a:noFill/>
          <a:ln w="9525">
            <a:noFill/>
          </a:ln>
        </p:spPr>
        <p:txBody>
          <a:bodyPr anchor="ctr" anchorCtr="0">
            <a:spAutoFit/>
          </a:bodyPr>
          <a:p>
            <a:pPr indent="228600" defTabSz="914400" eaLnBrk="1" hangingPunct="1">
              <a:tabLst>
                <a:tab pos="914400" algn="l"/>
              </a:tabLst>
            </a:pPr>
            <a:r>
              <a:rPr lang="en-US" altLang="zh-CN" sz="2400" b="1" dirty="0">
                <a:solidFill>
                  <a:srgbClr val="FF3300"/>
                </a:solidFill>
                <a:latin typeface="楷体_GB2312" pitchFamily="49" charset="-122"/>
                <a:ea typeface="楷体_GB2312" pitchFamily="49" charset="-122"/>
              </a:rPr>
              <a:t>2.</a:t>
            </a:r>
            <a:r>
              <a:rPr lang="zh-CN" altLang="en-US" sz="2400" b="1" dirty="0">
                <a:solidFill>
                  <a:srgbClr val="FF3300"/>
                </a:solidFill>
                <a:latin typeface="楷体_GB2312" pitchFamily="49" charset="-122"/>
                <a:ea typeface="楷体_GB2312" pitchFamily="49" charset="-122"/>
              </a:rPr>
              <a:t>塑性加工</a:t>
            </a:r>
            <a:endParaRPr lang="zh-CN" altLang="en-US" sz="2400" b="1" dirty="0">
              <a:solidFill>
                <a:srgbClr val="FF3300"/>
              </a:solidFill>
              <a:latin typeface="楷体_GB2312" pitchFamily="49" charset="-122"/>
              <a:ea typeface="楷体_GB2312" pitchFamily="49" charset="-122"/>
            </a:endParaRPr>
          </a:p>
          <a:p>
            <a:pPr indent="228600" defTabSz="914400" eaLnBrk="1" hangingPunct="1">
              <a:tabLst>
                <a:tab pos="914400" algn="l"/>
              </a:tabLst>
            </a:pPr>
            <a:r>
              <a:rPr lang="zh-CN" altLang="en-US" sz="2400" b="1" dirty="0">
                <a:latin typeface="楷体_GB2312" pitchFamily="49" charset="-122"/>
                <a:ea typeface="楷体_GB2312" pitchFamily="49" charset="-122"/>
              </a:rPr>
              <a:t>金属材料外力</a:t>
            </a:r>
            <a:r>
              <a:rPr lang="en-US" altLang="zh-CN" sz="2400" b="1" dirty="0">
                <a:latin typeface="宋体" panose="02010600030101010101" pitchFamily="2" charset="-122"/>
                <a:ea typeface="楷体_GB2312" pitchFamily="49" charset="-122"/>
              </a:rPr>
              <a:t>——</a:t>
            </a:r>
            <a:r>
              <a:rPr lang="zh-CN" altLang="en-US" sz="2400" b="1" dirty="0">
                <a:latin typeface="楷体_GB2312" pitchFamily="49" charset="-122"/>
                <a:ea typeface="楷体_GB2312" pitchFamily="49" charset="-122"/>
              </a:rPr>
              <a:t>塑性变形</a:t>
            </a:r>
            <a:r>
              <a:rPr lang="en-US" altLang="zh-CN" sz="2400" b="1" dirty="0">
                <a:latin typeface="宋体" panose="02010600030101010101" pitchFamily="2" charset="-122"/>
                <a:ea typeface="楷体_GB2312" pitchFamily="49" charset="-122"/>
              </a:rPr>
              <a:t>——</a:t>
            </a:r>
            <a:r>
              <a:rPr lang="zh-CN" altLang="en-US" sz="2400" b="1" dirty="0">
                <a:latin typeface="楷体_GB2312" pitchFamily="49" charset="-122"/>
                <a:ea typeface="楷体_GB2312" pitchFamily="49" charset="-122"/>
              </a:rPr>
              <a:t>产品</a:t>
            </a:r>
            <a:endParaRPr lang="zh-CN" altLang="en-US" sz="2400" b="1" dirty="0">
              <a:latin typeface="楷体_GB2312" pitchFamily="49" charset="-122"/>
              <a:ea typeface="楷体_GB2312" pitchFamily="49" charset="-122"/>
            </a:endParaRPr>
          </a:p>
          <a:p>
            <a:pPr indent="228600" defTabSz="914400" eaLnBrk="1" hangingPunct="1">
              <a:tabLst>
                <a:tab pos="914400" algn="l"/>
              </a:tabLst>
            </a:pP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）金属材料：主要加工对象，现包括非金属材料</a:t>
            </a:r>
            <a:endParaRPr lang="zh-CN" altLang="en-US" sz="2400" b="1" dirty="0">
              <a:latin typeface="楷体_GB2312" pitchFamily="49" charset="-122"/>
              <a:ea typeface="楷体_GB2312" pitchFamily="49" charset="-122"/>
            </a:endParaRPr>
          </a:p>
          <a:p>
            <a:pPr indent="228600" defTabSz="914400" eaLnBrk="1" hangingPunct="1">
              <a:tabLst>
                <a:tab pos="914400" algn="l"/>
              </a:tabLst>
            </a:pP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）外力：多数情况下为压力，故亦称压力加工</a:t>
            </a:r>
            <a:endParaRPr lang="zh-CN" altLang="en-US" sz="2400" b="1" dirty="0">
              <a:latin typeface="楷体_GB2312" pitchFamily="49" charset="-122"/>
              <a:ea typeface="楷体_GB2312" pitchFamily="49" charset="-122"/>
            </a:endParaRPr>
          </a:p>
          <a:p>
            <a:pPr indent="228600" defTabSz="914400" eaLnBrk="1" hangingPunct="1">
              <a:tabLst>
                <a:tab pos="914400" algn="l"/>
              </a:tabLst>
            </a:pP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3</a:t>
            </a:r>
            <a:r>
              <a:rPr lang="zh-CN" altLang="en-US" sz="2400" b="1" dirty="0">
                <a:latin typeface="楷体_GB2312" pitchFamily="49" charset="-122"/>
                <a:ea typeface="楷体_GB2312" pitchFamily="49" charset="-122"/>
              </a:rPr>
              <a:t>）产品：原材料、毛坯、零件三大类</a:t>
            </a:r>
            <a:endParaRPr lang="zh-CN" altLang="en-US" sz="2400" b="1" dirty="0">
              <a:latin typeface="楷体_GB2312" pitchFamily="49" charset="-122"/>
              <a:ea typeface="楷体_GB2312" pitchFamily="49" charset="-122"/>
            </a:endParaRPr>
          </a:p>
          <a:p>
            <a:pPr indent="228600" defTabSz="914400" eaLnBrk="1" hangingPunct="1">
              <a:tabLst>
                <a:tab pos="914400" algn="l"/>
              </a:tabLst>
            </a:pPr>
            <a:r>
              <a:rPr lang="en-US" altLang="zh-CN" sz="2400" b="1" dirty="0">
                <a:solidFill>
                  <a:srgbClr val="FF3300"/>
                </a:solidFill>
                <a:latin typeface="楷体_GB2312" pitchFamily="49" charset="-122"/>
                <a:ea typeface="楷体_GB2312" pitchFamily="49" charset="-122"/>
              </a:rPr>
              <a:t>3.</a:t>
            </a:r>
            <a:r>
              <a:rPr lang="zh-CN" altLang="en-US" sz="2400" b="1" dirty="0">
                <a:solidFill>
                  <a:srgbClr val="FF3300"/>
                </a:solidFill>
                <a:latin typeface="楷体_GB2312" pitchFamily="49" charset="-122"/>
                <a:ea typeface="楷体_GB2312" pitchFamily="49" charset="-122"/>
              </a:rPr>
              <a:t>特点：</a:t>
            </a:r>
            <a:endParaRPr lang="zh-CN" altLang="en-US" sz="2400" b="1" dirty="0">
              <a:solidFill>
                <a:srgbClr val="FF3300"/>
              </a:solidFill>
              <a:latin typeface="楷体_GB2312" pitchFamily="49" charset="-122"/>
              <a:ea typeface="楷体_GB2312" pitchFamily="49" charset="-122"/>
            </a:endParaRPr>
          </a:p>
          <a:p>
            <a:pPr indent="228600" defTabSz="914400" eaLnBrk="1" hangingPunct="1">
              <a:tabLst>
                <a:tab pos="914400" algn="l"/>
              </a:tabLst>
            </a:pPr>
            <a:r>
              <a:rPr lang="zh-CN" altLang="en-US" sz="2400" b="1" dirty="0">
                <a:latin typeface="楷体_GB2312" pitchFamily="49" charset="-122"/>
                <a:ea typeface="楷体_GB2312" pitchFamily="49" charset="-122"/>
              </a:rPr>
              <a:t>节省材料：塑性变形，材料转移成形，后续少切削</a:t>
            </a:r>
            <a:endParaRPr lang="zh-CN" altLang="en-US" sz="2400" b="1" dirty="0">
              <a:latin typeface="楷体_GB2312" pitchFamily="49" charset="-122"/>
              <a:ea typeface="楷体_GB2312" pitchFamily="49" charset="-122"/>
            </a:endParaRPr>
          </a:p>
          <a:p>
            <a:pPr indent="228600" defTabSz="914400" eaLnBrk="1" hangingPunct="1">
              <a:tabLst>
                <a:tab pos="914400" algn="l"/>
              </a:tabLst>
            </a:pPr>
            <a:r>
              <a:rPr lang="zh-CN" altLang="en-US" sz="2400" b="1" dirty="0">
                <a:latin typeface="楷体_GB2312" pitchFamily="49" charset="-122"/>
                <a:ea typeface="楷体_GB2312" pitchFamily="49" charset="-122"/>
              </a:rPr>
              <a:t>生产率高：几十件甚至上千件</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分，易机械化</a:t>
            </a:r>
            <a:endParaRPr lang="zh-CN" altLang="en-US" sz="2400" b="1" dirty="0">
              <a:latin typeface="楷体_GB2312" pitchFamily="49" charset="-122"/>
              <a:ea typeface="楷体_GB2312" pitchFamily="49" charset="-122"/>
            </a:endParaRPr>
          </a:p>
          <a:p>
            <a:pPr indent="228600" defTabSz="914400" eaLnBrk="1" hangingPunct="1">
              <a:tabLst>
                <a:tab pos="914400" algn="l"/>
              </a:tabLst>
            </a:pPr>
            <a:r>
              <a:rPr lang="zh-CN" altLang="en-US" sz="2400" b="1" dirty="0">
                <a:latin typeface="楷体_GB2312" pitchFamily="49" charset="-122"/>
                <a:ea typeface="楷体_GB2312" pitchFamily="49" charset="-122"/>
              </a:rPr>
              <a:t>产品力学性能好：强度、硬度 提高很多</a:t>
            </a:r>
            <a:endParaRPr lang="zh-CN" altLang="en-US" sz="2400" b="1" dirty="0">
              <a:latin typeface="楷体_GB2312" pitchFamily="49" charset="-122"/>
              <a:ea typeface="楷体_GB2312" pitchFamily="49" charset="-122"/>
            </a:endParaRPr>
          </a:p>
          <a:p>
            <a:pPr indent="228600" defTabSz="914400" eaLnBrk="1" hangingPunct="1">
              <a:tabLst>
                <a:tab pos="914400" algn="l"/>
              </a:tabLst>
            </a:pPr>
            <a:r>
              <a:rPr lang="zh-CN" altLang="en-US" sz="2400" b="1" dirty="0">
                <a:latin typeface="楷体_GB2312" pitchFamily="49" charset="-122"/>
                <a:ea typeface="楷体_GB2312" pitchFamily="49" charset="-122"/>
              </a:rPr>
              <a:t>产品范围广：几克～上百吨</a:t>
            </a:r>
            <a:endParaRPr lang="en-US" altLang="zh-CN" sz="2400" b="1" dirty="0">
              <a:latin typeface="楷体_GB2312" pitchFamily="49" charset="-122"/>
              <a:ea typeface="楷体_GB2312" pitchFamily="49" charset="-122"/>
            </a:endParaRPr>
          </a:p>
          <a:p>
            <a:pPr indent="228600" defTabSz="914400" eaLnBrk="1" hangingPunct="1">
              <a:tabLst>
                <a:tab pos="914400" algn="l"/>
              </a:tabLst>
            </a:pPr>
            <a:r>
              <a:rPr lang="en-US" altLang="zh-CN" sz="2400" b="1" dirty="0">
                <a:latin typeface="楷体_GB2312" pitchFamily="49" charset="-122"/>
                <a:ea typeface="楷体_GB2312" pitchFamily="49" charset="-122"/>
              </a:rPr>
              <a:t>4. </a:t>
            </a:r>
            <a:r>
              <a:rPr lang="zh-CN" altLang="en-US" sz="2400" b="1" dirty="0">
                <a:latin typeface="楷体_GB2312" pitchFamily="49" charset="-122"/>
                <a:ea typeface="楷体_GB2312" pitchFamily="49" charset="-122"/>
              </a:rPr>
              <a:t>缺点</a:t>
            </a:r>
            <a:endParaRPr lang="en-US" altLang="zh-CN" sz="2400" b="1" dirty="0">
              <a:latin typeface="楷体_GB2312" pitchFamily="49" charset="-122"/>
              <a:ea typeface="楷体_GB2312" pitchFamily="49" charset="-122"/>
            </a:endParaRPr>
          </a:p>
          <a:p>
            <a:pPr indent="228600" defTabSz="914400" eaLnBrk="1" hangingPunct="1">
              <a:tabLst>
                <a:tab pos="914400" algn="l"/>
              </a:tabLst>
            </a:pPr>
            <a:r>
              <a:rPr lang="zh-CN" altLang="en-US" sz="2400" b="1" dirty="0">
                <a:latin typeface="楷体_GB2312" pitchFamily="49" charset="-122"/>
                <a:ea typeface="楷体_GB2312" pitchFamily="49" charset="-122"/>
              </a:rPr>
              <a:t>塑性好的材料，不能做内腔复杂的结构，关注外形，模具投资非常大</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设备投资大</a:t>
            </a:r>
            <a:endParaRPr lang="zh-CN" altLang="en-US" sz="2400" b="1" dirty="0">
              <a:latin typeface="楷体_GB2312" pitchFamily="49" charset="-122"/>
              <a:ea typeface="楷体_GB2312"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标题 1"/>
          <p:cNvSpPr>
            <a:spLocks noGrp="1"/>
          </p:cNvSpPr>
          <p:nvPr>
            <p:ph type="title"/>
          </p:nvPr>
        </p:nvSpPr>
        <p:spPr/>
        <p:txBody>
          <a:bodyPr vert="horz" wrap="square" lIns="91440" tIns="45720" rIns="91440" bIns="45720" anchor="ctr" anchorCtr="0"/>
          <a:p>
            <a:r>
              <a:rPr lang="zh-CN" altLang="en-US" dirty="0"/>
              <a:t>本篇内容</a:t>
            </a:r>
            <a:endParaRPr lang="zh-CN" altLang="en-US" dirty="0"/>
          </a:p>
        </p:txBody>
      </p:sp>
      <p:sp>
        <p:nvSpPr>
          <p:cNvPr id="15363" name="内容占位符 2"/>
          <p:cNvSpPr>
            <a:spLocks noGrp="1"/>
          </p:cNvSpPr>
          <p:nvPr>
            <p:ph idx="1"/>
          </p:nvPr>
        </p:nvSpPr>
        <p:spPr/>
        <p:txBody>
          <a:bodyPr vert="horz" wrap="square" lIns="91440" tIns="45720" rIns="91440" bIns="45720" anchor="t" anchorCtr="0"/>
          <a:p>
            <a:r>
              <a:rPr lang="zh-CN" altLang="en-US" dirty="0">
                <a:latin typeface="华文中宋" panose="02010600040101010101" pitchFamily="2" charset="-122"/>
                <a:ea typeface="华文中宋" panose="02010600040101010101" pitchFamily="2" charset="-122"/>
              </a:rPr>
              <a:t>第一章 金属的塑性变形</a:t>
            </a:r>
            <a:endParaRPr lang="en-US" altLang="zh-CN" dirty="0">
              <a:latin typeface="华文中宋" panose="02010600040101010101" pitchFamily="2" charset="-122"/>
              <a:ea typeface="华文中宋" panose="02010600040101010101" pitchFamily="2" charset="-122"/>
            </a:endParaRPr>
          </a:p>
          <a:p>
            <a:pPr lvl="1"/>
            <a:r>
              <a:rPr lang="zh-CN" altLang="en-US" dirty="0">
                <a:latin typeface="华文中宋" panose="02010600040101010101" pitchFamily="2" charset="-122"/>
                <a:ea typeface="华文中宋" panose="02010600040101010101" pitchFamily="2" charset="-122"/>
              </a:rPr>
              <a:t>变形实质</a:t>
            </a: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第二章 锻造</a:t>
            </a:r>
            <a:endParaRPr lang="en-US" altLang="zh-CN" dirty="0">
              <a:latin typeface="华文中宋" panose="02010600040101010101" pitchFamily="2" charset="-122"/>
              <a:ea typeface="华文中宋" panose="02010600040101010101" pitchFamily="2" charset="-122"/>
            </a:endParaRPr>
          </a:p>
          <a:p>
            <a:pPr lvl="1"/>
            <a:r>
              <a:rPr lang="zh-CN" altLang="en-US" dirty="0">
                <a:latin typeface="华文中宋" panose="02010600040101010101" pitchFamily="2" charset="-122"/>
                <a:ea typeface="华文中宋" panose="02010600040101010101" pitchFamily="2" charset="-122"/>
              </a:rPr>
              <a:t>热成形 大块金属的成形</a:t>
            </a: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第三章 冲压</a:t>
            </a:r>
            <a:endParaRPr lang="en-US" altLang="zh-CN" dirty="0">
              <a:latin typeface="华文中宋" panose="02010600040101010101" pitchFamily="2" charset="-122"/>
              <a:ea typeface="华文中宋" panose="02010600040101010101" pitchFamily="2" charset="-122"/>
            </a:endParaRPr>
          </a:p>
          <a:p>
            <a:pPr lvl="1"/>
            <a:r>
              <a:rPr lang="zh-CN" altLang="en-US" dirty="0">
                <a:latin typeface="华文中宋" panose="02010600040101010101" pitchFamily="2" charset="-122"/>
                <a:ea typeface="华文中宋" panose="02010600040101010101" pitchFamily="2" charset="-122"/>
              </a:rPr>
              <a:t>冷成形 板料成形</a:t>
            </a: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第四章 特种塑性加工简介</a:t>
            </a:r>
            <a:endParaRPr lang="en-US" altLang="zh-CN" dirty="0">
              <a:latin typeface="华文中宋" panose="02010600040101010101" pitchFamily="2" charset="-122"/>
              <a:ea typeface="华文中宋" panose="02010600040101010101" pitchFamily="2" charset="-122"/>
            </a:endParaRPr>
          </a:p>
          <a:p>
            <a:pPr lvl="1"/>
            <a:r>
              <a:rPr lang="zh-CN" altLang="en-US" dirty="0">
                <a:latin typeface="华文中宋" panose="02010600040101010101" pitchFamily="2" charset="-122"/>
                <a:ea typeface="华文中宋" panose="02010600040101010101" pitchFamily="2" charset="-122"/>
              </a:rPr>
              <a:t>自主学习</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p:nvPr>
        </p:nvSpPr>
        <p:spPr/>
        <p:txBody>
          <a:bodyPr vert="horz" wrap="square" lIns="91440" tIns="45720" rIns="91440" bIns="45720" anchor="ctr" anchorCtr="0"/>
          <a:p>
            <a:pPr eaLnBrk="1" hangingPunct="1"/>
            <a:r>
              <a:rPr lang="zh-CN" altLang="en-US" sz="4000" dirty="0">
                <a:solidFill>
                  <a:schemeClr val="bg1"/>
                </a:solidFill>
                <a:latin typeface="楷体_GB2312" pitchFamily="49" charset="-122"/>
                <a:ea typeface="楷体_GB2312" pitchFamily="49" charset="-122"/>
              </a:rPr>
              <a:t>第一章	金属的塑性变形</a:t>
            </a:r>
            <a:endParaRPr lang="zh-CN" altLang="en-US" sz="4000" dirty="0">
              <a:solidFill>
                <a:schemeClr val="bg1"/>
              </a:solidFill>
              <a:latin typeface="楷体_GB2312" pitchFamily="49" charset="-122"/>
              <a:ea typeface="楷体_GB2312" pitchFamily="49" charset="-122"/>
            </a:endParaRPr>
          </a:p>
        </p:txBody>
      </p:sp>
      <p:sp>
        <p:nvSpPr>
          <p:cNvPr id="251907" name="Rectangle 3"/>
          <p:cNvSpPr>
            <a:spLocks noGrp="1" noChangeArrowheads="1"/>
          </p:cNvSpPr>
          <p:nvPr>
            <p:ph idx="1"/>
          </p:nvPr>
        </p:nvSpPr>
        <p:spPr>
          <a:xfrm>
            <a:off x="0" y="1484313"/>
            <a:ext cx="8686800" cy="497681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smtClean="0">
                <a:ln>
                  <a:noFill/>
                </a:ln>
                <a:solidFill>
                  <a:srgbClr val="CC3300"/>
                </a:solidFill>
                <a:effectLst/>
                <a:uLnTx/>
                <a:uFillTx/>
                <a:latin typeface="楷体_GB2312" pitchFamily="49" charset="-122"/>
                <a:ea typeface="楷体_GB2312" pitchFamily="49" charset="-122"/>
                <a:cs typeface="+mn-cs"/>
              </a:rPr>
              <a:t>金属塑性变形的实质</a:t>
            </a:r>
            <a:endParaRPr kumimoji="0" lang="zh-CN" altLang="en-US" sz="2400" b="1" i="0" u="none" strike="noStrike" kern="1200" cap="none" spc="0" normalizeH="0" baseline="0" noProof="0" dirty="0" smtClean="0">
              <a:ln>
                <a:noFill/>
              </a:ln>
              <a:solidFill>
                <a:srgbClr val="CC3300"/>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smtClean="0">
                <a:ln>
                  <a:noFill/>
                </a:ln>
                <a:solidFill>
                  <a:srgbClr val="008000"/>
                </a:solidFill>
                <a:effectLst/>
                <a:uLnTx/>
                <a:uFillTx/>
                <a:latin typeface="楷体_GB2312" pitchFamily="49" charset="-122"/>
                <a:ea typeface="楷体_GB2312" pitchFamily="49" charset="-122"/>
                <a:cs typeface="+mn-cs"/>
              </a:rPr>
              <a:t>前提：</a:t>
            </a:r>
            <a:endParaRPr kumimoji="0" lang="zh-CN" altLang="en-US" sz="2400" b="1" i="0" u="none" strike="noStrike" kern="1200" cap="none" spc="0" normalizeH="0" baseline="0" noProof="0" dirty="0" smtClean="0">
              <a:ln>
                <a:noFill/>
              </a:ln>
              <a:solidFill>
                <a:srgbClr val="008000"/>
              </a:solidFill>
              <a:effectLst/>
              <a:uLnTx/>
              <a:uFillTx/>
              <a:latin typeface="楷体_GB2312" pitchFamily="49" charset="-122"/>
              <a:ea typeface="楷体_GB2312" pitchFamily="49" charset="-122"/>
              <a:cs typeface="+mn-cs"/>
            </a:endParaRPr>
          </a:p>
          <a:p>
            <a:pPr marL="1143000" marR="0" lvl="2" indent="-228600" algn="l" defTabSz="914400" rtl="0" eaLnBrk="1" fontAlgn="base" latinLnBrk="0" hangingPunct="1">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金属在外力作用下，其内部产生应力，迫使</a:t>
            </a:r>
            <a:r>
              <a:rPr kumimoji="0" lang="zh-CN" altLang="en-US" sz="2000" b="1" i="1" u="sng" strike="noStrike" kern="1200" cap="none" spc="0" normalizeH="0" baseline="0" noProof="0" dirty="0" smtClean="0">
                <a:ln>
                  <a:noFill/>
                </a:ln>
                <a:solidFill>
                  <a:srgbClr val="FF0000"/>
                </a:solidFill>
                <a:effectLst>
                  <a:outerShdw blurRad="38100" dist="38100" dir="2700000" algn="tl">
                    <a:srgbClr val="000000">
                      <a:alpha val="43137"/>
                    </a:srgbClr>
                  </a:outerShdw>
                </a:effectLst>
                <a:uLnTx/>
                <a:uFillTx/>
                <a:latin typeface="楷体_GB2312" pitchFamily="49" charset="-122"/>
                <a:ea typeface="楷体_GB2312" pitchFamily="49" charset="-122"/>
                <a:cs typeface="+mn-cs"/>
              </a:rPr>
              <a:t>原子离开原来的平衡位置，从而改变了原子间的距离，</a:t>
            </a:r>
            <a:r>
              <a:rPr kumimoji="0" lang="zh-CN" altLang="en-US" sz="20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使金属发生变形，并引起原子位能的增高，但处于高位能的原子具有返回到原来低位能平衡位置的倾向。</a:t>
            </a:r>
            <a:endParaRPr kumimoji="0" lang="zh-CN" altLang="en-US" sz="20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smtClean="0">
                <a:ln>
                  <a:noFill/>
                </a:ln>
                <a:solidFill>
                  <a:srgbClr val="008000"/>
                </a:solidFill>
                <a:effectLst/>
                <a:uLnTx/>
                <a:uFillTx/>
                <a:latin typeface="楷体_GB2312" pitchFamily="49" charset="-122"/>
                <a:ea typeface="楷体_GB2312" pitchFamily="49" charset="-122"/>
                <a:cs typeface="+mn-cs"/>
              </a:rPr>
              <a:t>现象：</a:t>
            </a:r>
            <a:endParaRPr kumimoji="0" lang="zh-CN" altLang="en-US" sz="2400" b="1" i="0" u="none" strike="noStrike" kern="1200" cap="none" spc="0" normalizeH="0" baseline="0" noProof="0" dirty="0" smtClean="0">
              <a:ln>
                <a:noFill/>
              </a:ln>
              <a:solidFill>
                <a:srgbClr val="008000"/>
              </a:solidFill>
              <a:effectLst/>
              <a:uLnTx/>
              <a:uFillTx/>
              <a:latin typeface="楷体_GB2312" pitchFamily="49" charset="-122"/>
              <a:ea typeface="楷体_GB2312" pitchFamily="49" charset="-122"/>
              <a:cs typeface="+mn-cs"/>
            </a:endParaRPr>
          </a:p>
          <a:p>
            <a:pPr marL="1143000" marR="0" lvl="2" indent="-228600" algn="l" defTabSz="914400" rtl="0" eaLnBrk="1" fontAlgn="base" latinLnBrk="0" hangingPunct="1">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当外力停止作用后，应力消失，变形完全恢复，称弹性变形。</a:t>
            </a:r>
            <a:endParaRPr kumimoji="0" lang="zh-CN" altLang="en-US" sz="20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1143000" marR="0" lvl="2" indent="-228600" algn="l" defTabSz="914400" rtl="0" eaLnBrk="1" fontAlgn="base" latinLnBrk="0" hangingPunct="1">
              <a:lnSpc>
                <a:spcPct val="100000"/>
              </a:lnSpc>
              <a:spcBef>
                <a:spcPct val="20000"/>
              </a:spcBef>
              <a:spcAft>
                <a:spcPct val="0"/>
              </a:spcAft>
              <a:buClrTx/>
              <a:buSzTx/>
              <a:buFontTx/>
              <a:buChar char="•"/>
              <a:defRPr/>
            </a:pPr>
            <a:r>
              <a:rPr kumimoji="0" lang="zh-CN" altLang="en-US" sz="20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当外力增大到使金属的内应力超过该金属的屈服点之后，即使停止外力作用，金属的变形也不完全恢复，而产生一部分永久变形，称塑性变形。</a:t>
            </a:r>
            <a:endParaRPr kumimoji="0" lang="zh-CN" altLang="en-US" sz="20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smtClean="0">
                <a:ln>
                  <a:noFill/>
                </a:ln>
                <a:solidFill>
                  <a:srgbClr val="008000"/>
                </a:solidFill>
                <a:effectLst/>
                <a:uLnTx/>
                <a:uFillTx/>
                <a:latin typeface="楷体_GB2312" pitchFamily="49" charset="-122"/>
                <a:ea typeface="楷体_GB2312" pitchFamily="49" charset="-122"/>
                <a:cs typeface="+mn-cs"/>
              </a:rPr>
              <a:t>实质：</a:t>
            </a:r>
            <a:endParaRPr kumimoji="0" lang="zh-CN" altLang="en-US" sz="2400" b="1" i="0" u="none" strike="noStrike" kern="1200" cap="none" spc="0" normalizeH="0" baseline="0" noProof="0" dirty="0" smtClean="0">
              <a:ln>
                <a:noFill/>
              </a:ln>
              <a:solidFill>
                <a:srgbClr val="008000"/>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zh-CN" altLang="en-US" sz="1800" b="1" i="0" u="none" strike="noStrike" kern="1200" cap="none" spc="0" normalizeH="0" baseline="0" noProof="0" dirty="0" smtClean="0">
                <a:ln>
                  <a:noFill/>
                </a:ln>
                <a:solidFill>
                  <a:srgbClr val="FF5050"/>
                </a:solidFill>
                <a:effectLst/>
                <a:uLnTx/>
                <a:uFillTx/>
                <a:latin typeface="楷体_GB2312" pitchFamily="49" charset="-122"/>
                <a:ea typeface="楷体_GB2312" pitchFamily="49" charset="-122"/>
                <a:cs typeface="+mn-cs"/>
              </a:rPr>
              <a:t>        </a:t>
            </a:r>
            <a:r>
              <a:rPr kumimoji="0" lang="zh-CN" altLang="en-US" sz="2000" b="1" i="0" u="none" strike="noStrike" kern="1200" cap="none" spc="0" normalizeH="0" baseline="0" noProof="0" dirty="0" smtClean="0">
                <a:ln>
                  <a:noFill/>
                </a:ln>
                <a:solidFill>
                  <a:srgbClr val="FF0066"/>
                </a:solidFill>
                <a:effectLst/>
                <a:uLnTx/>
                <a:uFillTx/>
                <a:latin typeface="楷体_GB2312" pitchFamily="49" charset="-122"/>
                <a:ea typeface="楷体_GB2312" pitchFamily="49" charset="-122"/>
                <a:cs typeface="+mn-cs"/>
              </a:rPr>
              <a:t>晶体内部产生滑移的结果。</a:t>
            </a:r>
            <a:endParaRPr kumimoji="0" lang="zh-CN" altLang="en-US" sz="2000" b="1" i="0" u="none" strike="noStrike" kern="1200" cap="none" spc="0" normalizeH="0" baseline="0" noProof="0" dirty="0" smtClean="0">
              <a:ln>
                <a:noFill/>
              </a:ln>
              <a:solidFill>
                <a:srgbClr val="FF0066"/>
              </a:solidFill>
              <a:effectLst/>
              <a:uLnTx/>
              <a:uFillTx/>
              <a:latin typeface="楷体_GB2312" pitchFamily="49" charset="-122"/>
              <a:ea typeface="楷体_GB2312" pitchFamily="49" charset="-122"/>
              <a:cs typeface="+mn-cs"/>
            </a:endParaRPr>
          </a:p>
          <a:p>
            <a:pPr marL="1143000" marR="0" lvl="2" indent="-228600" algn="l" defTabSz="914400" rtl="0" eaLnBrk="1" fontAlgn="base" latinLnBrk="0" hangingPunct="1">
              <a:lnSpc>
                <a:spcPct val="100000"/>
              </a:lnSpc>
              <a:spcBef>
                <a:spcPct val="20000"/>
              </a:spcBef>
              <a:spcAft>
                <a:spcPct val="0"/>
              </a:spcAft>
              <a:buClrTx/>
              <a:buSzTx/>
              <a:buFontTx/>
              <a:buChar char="•"/>
              <a:defRPr/>
            </a:pPr>
            <a:endParaRPr kumimoji="0" lang="zh-CN" altLang="en-US" sz="2000" b="1" i="0" u="none" strike="noStrike" kern="1200" cap="none" spc="0" normalizeH="0" baseline="0" noProof="0" dirty="0" smtClean="0">
              <a:ln>
                <a:noFill/>
              </a:ln>
              <a:solidFill>
                <a:srgbClr val="FF5050"/>
              </a:solidFill>
              <a:effectLst/>
              <a:uLnTx/>
              <a:uFillTx/>
              <a:latin typeface="楷体_GB2312" pitchFamily="49" charset="-122"/>
              <a:ea typeface="楷体_GB2312" pitchFamily="49" charset="-122"/>
              <a:cs typeface="+mn-cs"/>
            </a:endParaRPr>
          </a:p>
          <a:p>
            <a:pPr marL="1143000" marR="0" lvl="2" indent="-228600" algn="l" defTabSz="914400" rtl="0" eaLnBrk="1" fontAlgn="base" latinLnBrk="0" hangingPunct="1">
              <a:lnSpc>
                <a:spcPct val="100000"/>
              </a:lnSpc>
              <a:spcBef>
                <a:spcPct val="20000"/>
              </a:spcBef>
              <a:spcAft>
                <a:spcPct val="0"/>
              </a:spcAft>
              <a:buClrTx/>
              <a:buSzTx/>
              <a:buFontTx/>
              <a:buChar char="•"/>
              <a:defRPr/>
            </a:pPr>
            <a:endParaRPr kumimoji="0" lang="en-US" altLang="zh-CN" sz="2400" b="1" i="0" u="none" strike="noStrike" kern="1200" cap="none" spc="0" normalizeH="0" baseline="0" noProof="0" dirty="0" smtClean="0">
              <a:ln>
                <a:noFill/>
              </a:ln>
              <a:solidFill>
                <a:srgbClr val="008000"/>
              </a:solidFill>
              <a:effectLst/>
              <a:uLnTx/>
              <a:uFillTx/>
              <a:latin typeface="+mn-lt"/>
              <a:ea typeface="+mn-ea"/>
              <a:cs typeface="+mn-cs"/>
            </a:endParaRPr>
          </a:p>
        </p:txBody>
      </p:sp>
      <p:pic>
        <p:nvPicPr>
          <p:cNvPr id="16388" name="图片 1"/>
          <p:cNvPicPr>
            <a:picLocks noChangeAspect="1"/>
          </p:cNvPicPr>
          <p:nvPr/>
        </p:nvPicPr>
        <p:blipFill>
          <a:blip r:embed="rId1"/>
          <a:stretch>
            <a:fillRect/>
          </a:stretch>
        </p:blipFill>
        <p:spPr>
          <a:xfrm>
            <a:off x="6372225" y="5138738"/>
            <a:ext cx="2028825" cy="1719262"/>
          </a:xfrm>
          <a:prstGeom prst="rect">
            <a:avLst/>
          </a:prstGeom>
          <a:noFill/>
          <a:ln w="9525">
            <a:noFill/>
          </a:ln>
        </p:spPr>
      </p:pic>
      <p:pic>
        <p:nvPicPr>
          <p:cNvPr id="16389" name="图片 2"/>
          <p:cNvPicPr>
            <a:picLocks noChangeAspect="1"/>
          </p:cNvPicPr>
          <p:nvPr/>
        </p:nvPicPr>
        <p:blipFill>
          <a:blip r:embed="rId2"/>
          <a:stretch>
            <a:fillRect/>
          </a:stretch>
        </p:blipFill>
        <p:spPr>
          <a:xfrm>
            <a:off x="4500563" y="5178425"/>
            <a:ext cx="1716087" cy="16795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1907">
                                            <p:txEl>
                                              <p:charRg st="10" end="14"/>
                                            </p:txEl>
                                          </p:spTgt>
                                        </p:tgtEl>
                                        <p:attrNameLst>
                                          <p:attrName>style.visibility</p:attrName>
                                        </p:attrNameLst>
                                      </p:cBhvr>
                                      <p:to>
                                        <p:strVal val="visible"/>
                                      </p:to>
                                    </p:set>
                                    <p:animEffect transition="in" filter="blinds(horizontal)">
                                      <p:cBhvr>
                                        <p:cTn id="7" dur="500"/>
                                        <p:tgtEl>
                                          <p:spTgt spid="251907">
                                            <p:txEl>
                                              <p:charRg st="10" end="1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51907">
                                            <p:txEl>
                                              <p:charRg st="14" end="104"/>
                                            </p:txEl>
                                          </p:spTgt>
                                        </p:tgtEl>
                                        <p:attrNameLst>
                                          <p:attrName>style.visibility</p:attrName>
                                        </p:attrNameLst>
                                      </p:cBhvr>
                                      <p:to>
                                        <p:strVal val="visible"/>
                                      </p:to>
                                    </p:set>
                                    <p:animEffect transition="in" filter="blinds(horizontal)">
                                      <p:cBhvr>
                                        <p:cTn id="10" dur="500"/>
                                        <p:tgtEl>
                                          <p:spTgt spid="251907">
                                            <p:txEl>
                                              <p:charRg st="14" end="10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51907">
                                            <p:txEl>
                                              <p:charRg st="104" end="108"/>
                                            </p:txEl>
                                          </p:spTgt>
                                        </p:tgtEl>
                                        <p:attrNameLst>
                                          <p:attrName>style.visibility</p:attrName>
                                        </p:attrNameLst>
                                      </p:cBhvr>
                                      <p:to>
                                        <p:strVal val="visible"/>
                                      </p:to>
                                    </p:set>
                                    <p:animEffect transition="in" filter="blinds(horizontal)">
                                      <p:cBhvr>
                                        <p:cTn id="15" dur="500"/>
                                        <p:tgtEl>
                                          <p:spTgt spid="251907">
                                            <p:txEl>
                                              <p:charRg st="104" end="108"/>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51907">
                                            <p:txEl>
                                              <p:charRg st="108" end="136"/>
                                            </p:txEl>
                                          </p:spTgt>
                                        </p:tgtEl>
                                        <p:attrNameLst>
                                          <p:attrName>style.visibility</p:attrName>
                                        </p:attrNameLst>
                                      </p:cBhvr>
                                      <p:to>
                                        <p:strVal val="visible"/>
                                      </p:to>
                                    </p:set>
                                    <p:animEffect transition="in" filter="blinds(horizontal)">
                                      <p:cBhvr>
                                        <p:cTn id="18" dur="500"/>
                                        <p:tgtEl>
                                          <p:spTgt spid="251907">
                                            <p:txEl>
                                              <p:charRg st="108" end="136"/>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251907">
                                            <p:txEl>
                                              <p:charRg st="136" end="200"/>
                                            </p:txEl>
                                          </p:spTgt>
                                        </p:tgtEl>
                                        <p:attrNameLst>
                                          <p:attrName>style.visibility</p:attrName>
                                        </p:attrNameLst>
                                      </p:cBhvr>
                                      <p:to>
                                        <p:strVal val="visible"/>
                                      </p:to>
                                    </p:set>
                                    <p:animEffect transition="in" filter="blinds(horizontal)">
                                      <p:cBhvr>
                                        <p:cTn id="21" dur="500"/>
                                        <p:tgtEl>
                                          <p:spTgt spid="251907">
                                            <p:txEl>
                                              <p:charRg st="136" end="20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251907">
                                            <p:txEl>
                                              <p:charRg st="200" end="204"/>
                                            </p:txEl>
                                          </p:spTgt>
                                        </p:tgtEl>
                                        <p:attrNameLst>
                                          <p:attrName>style.visibility</p:attrName>
                                        </p:attrNameLst>
                                      </p:cBhvr>
                                      <p:to>
                                        <p:strVal val="visible"/>
                                      </p:to>
                                    </p:set>
                                    <p:animEffect transition="in" filter="blinds(horizontal)">
                                      <p:cBhvr>
                                        <p:cTn id="26" dur="500"/>
                                        <p:tgtEl>
                                          <p:spTgt spid="251907">
                                            <p:txEl>
                                              <p:charRg st="200" end="20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251907">
                                            <p:txEl>
                                              <p:charRg st="204" end="225"/>
                                            </p:txEl>
                                          </p:spTgt>
                                        </p:tgtEl>
                                        <p:attrNameLst>
                                          <p:attrName>style.visibility</p:attrName>
                                        </p:attrNameLst>
                                      </p:cBhvr>
                                      <p:to>
                                        <p:strVal val="visible"/>
                                      </p:to>
                                    </p:set>
                                    <p:animEffect transition="in" filter="blinds(horizontal)">
                                      <p:cBhvr>
                                        <p:cTn id="31" dur="500"/>
                                        <p:tgtEl>
                                          <p:spTgt spid="251907">
                                            <p:txEl>
                                              <p:charRg st="204" end="22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p:txBody>
          <a:bodyPr vert="horz" wrap="square" lIns="91440" tIns="45720" rIns="91440" bIns="45720" anchor="ctr" anchorCtr="0"/>
          <a:p>
            <a:pPr algn="ctr" eaLnBrk="1" hangingPunct="1"/>
            <a:r>
              <a:rPr lang="zh-CN" altLang="en-US" sz="4000" dirty="0">
                <a:ea typeface="楷体_GB2312" pitchFamily="49" charset="-122"/>
              </a:rPr>
              <a:t>金属塑性变形的实质</a:t>
            </a:r>
            <a:endParaRPr lang="zh-CN" altLang="en-US" sz="4000" dirty="0">
              <a:ea typeface="楷体_GB2312" pitchFamily="49" charset="-122"/>
            </a:endParaRPr>
          </a:p>
        </p:txBody>
      </p:sp>
      <p:sp>
        <p:nvSpPr>
          <p:cNvPr id="17411" name="Rectangle 3"/>
          <p:cNvSpPr>
            <a:spLocks noGrp="1"/>
          </p:cNvSpPr>
          <p:nvPr>
            <p:ph idx="1"/>
          </p:nvPr>
        </p:nvSpPr>
        <p:spPr>
          <a:xfrm>
            <a:off x="350838" y="1268413"/>
            <a:ext cx="8469312" cy="1852612"/>
          </a:xfrm>
        </p:spPr>
        <p:txBody>
          <a:bodyPr vert="horz" wrap="square" lIns="91440" tIns="45720" rIns="91440" bIns="45720" anchor="t" anchorCtr="0"/>
          <a:p>
            <a:pPr eaLnBrk="1" hangingPunct="1"/>
            <a:r>
              <a:rPr lang="zh-CN" altLang="en-US" b="1" dirty="0">
                <a:solidFill>
                  <a:srgbClr val="CC3300"/>
                </a:solidFill>
                <a:ea typeface="楷体_GB2312" pitchFamily="49" charset="-122"/>
              </a:rPr>
              <a:t>单晶体变形</a:t>
            </a:r>
            <a:r>
              <a:rPr lang="en-US" altLang="zh-CN" b="1" dirty="0">
                <a:solidFill>
                  <a:srgbClr val="CC3300"/>
                </a:solidFill>
                <a:ea typeface="楷体_GB2312" pitchFamily="49" charset="-122"/>
              </a:rPr>
              <a:t>——</a:t>
            </a:r>
            <a:r>
              <a:rPr lang="zh-CN" altLang="en-US" b="1" dirty="0">
                <a:solidFill>
                  <a:srgbClr val="CC3300"/>
                </a:solidFill>
                <a:ea typeface="楷体_GB2312" pitchFamily="49" charset="-122"/>
              </a:rPr>
              <a:t>弹性或破断变形</a:t>
            </a:r>
            <a:endParaRPr lang="zh-CN" altLang="en-US" b="1" dirty="0">
              <a:solidFill>
                <a:srgbClr val="CC3300"/>
              </a:solidFill>
              <a:ea typeface="楷体_GB2312" pitchFamily="49" charset="-122"/>
            </a:endParaRPr>
          </a:p>
          <a:p>
            <a:pPr eaLnBrk="1" hangingPunct="1">
              <a:buNone/>
            </a:pPr>
            <a:r>
              <a:rPr lang="zh-CN" altLang="en-US" sz="2400" b="1" dirty="0">
                <a:solidFill>
                  <a:schemeClr val="bg1"/>
                </a:solidFill>
                <a:ea typeface="楷体_GB2312" pitchFamily="49" charset="-122"/>
              </a:rPr>
              <a:t>          当金属受外力作用时，外力可分为正应力和切应力，正应力使金属产生弹性变形或破断。</a:t>
            </a:r>
            <a:endParaRPr lang="zh-CN" altLang="en-US" sz="2400" b="1" dirty="0">
              <a:solidFill>
                <a:schemeClr val="bg1"/>
              </a:solidFill>
              <a:ea typeface="楷体_GB2312" pitchFamily="49" charset="-122"/>
            </a:endParaRPr>
          </a:p>
          <a:p>
            <a:pPr eaLnBrk="1" hangingPunct="1">
              <a:spcBef>
                <a:spcPct val="0"/>
              </a:spcBef>
              <a:buNone/>
            </a:pPr>
            <a:endParaRPr lang="en-US" altLang="zh-CN" sz="2400" b="1" dirty="0">
              <a:ea typeface="楷体_GB2312" pitchFamily="49" charset="-122"/>
            </a:endParaRPr>
          </a:p>
        </p:txBody>
      </p:sp>
      <p:pic>
        <p:nvPicPr>
          <p:cNvPr id="17412" name="Picture 8" descr="图片1"/>
          <p:cNvPicPr>
            <a:picLocks noChangeAspect="1"/>
          </p:cNvPicPr>
          <p:nvPr/>
        </p:nvPicPr>
        <p:blipFill>
          <a:blip r:embed="rId1"/>
          <a:stretch>
            <a:fillRect/>
          </a:stretch>
        </p:blipFill>
        <p:spPr>
          <a:xfrm>
            <a:off x="1258888" y="3213100"/>
            <a:ext cx="1671637" cy="3168650"/>
          </a:xfrm>
          <a:prstGeom prst="rect">
            <a:avLst/>
          </a:prstGeom>
          <a:noFill/>
          <a:ln w="9525">
            <a:noFill/>
          </a:ln>
        </p:spPr>
      </p:pic>
      <p:sp>
        <p:nvSpPr>
          <p:cNvPr id="252937" name="AutoShape 9"/>
          <p:cNvSpPr/>
          <p:nvPr/>
        </p:nvSpPr>
        <p:spPr>
          <a:xfrm>
            <a:off x="3276600" y="4437063"/>
            <a:ext cx="1008063" cy="360362"/>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CC66"/>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grpSp>
        <p:nvGrpSpPr>
          <p:cNvPr id="2" name="Group 13"/>
          <p:cNvGrpSpPr/>
          <p:nvPr/>
        </p:nvGrpSpPr>
        <p:grpSpPr>
          <a:xfrm>
            <a:off x="4572000" y="2852738"/>
            <a:ext cx="4103688" cy="3743325"/>
            <a:chOff x="2880" y="1797"/>
            <a:chExt cx="2585" cy="2358"/>
          </a:xfrm>
        </p:grpSpPr>
        <p:pic>
          <p:nvPicPr>
            <p:cNvPr id="17415" name="Picture 10" descr="图片2"/>
            <p:cNvPicPr>
              <a:picLocks noChangeAspect="1"/>
            </p:cNvPicPr>
            <p:nvPr/>
          </p:nvPicPr>
          <p:blipFill>
            <a:blip r:embed="rId2"/>
            <a:stretch>
              <a:fillRect/>
            </a:stretch>
          </p:blipFill>
          <p:spPr>
            <a:xfrm>
              <a:off x="2880" y="1797"/>
              <a:ext cx="1023" cy="2348"/>
            </a:xfrm>
            <a:prstGeom prst="rect">
              <a:avLst/>
            </a:prstGeom>
            <a:noFill/>
            <a:ln w="9525">
              <a:noFill/>
            </a:ln>
          </p:spPr>
        </p:pic>
        <p:pic>
          <p:nvPicPr>
            <p:cNvPr id="17416" name="Picture 11" descr="图片3"/>
            <p:cNvPicPr>
              <a:picLocks noChangeAspect="1"/>
            </p:cNvPicPr>
            <p:nvPr/>
          </p:nvPicPr>
          <p:blipFill>
            <a:blip r:embed="rId3"/>
            <a:stretch>
              <a:fillRect/>
            </a:stretch>
          </p:blipFill>
          <p:spPr>
            <a:xfrm>
              <a:off x="4450" y="1797"/>
              <a:ext cx="1015" cy="2358"/>
            </a:xfrm>
            <a:prstGeom prst="rect">
              <a:avLst/>
            </a:prstGeom>
            <a:noFill/>
            <a:ln w="9525">
              <a:noFill/>
            </a:ln>
          </p:spPr>
        </p:pic>
        <p:sp>
          <p:nvSpPr>
            <p:cNvPr id="17417" name="Text Box 12"/>
            <p:cNvSpPr txBox="1"/>
            <p:nvPr/>
          </p:nvSpPr>
          <p:spPr>
            <a:xfrm>
              <a:off x="4022" y="2750"/>
              <a:ext cx="310" cy="288"/>
            </a:xfrm>
            <a:prstGeom prst="rect">
              <a:avLst/>
            </a:prstGeom>
            <a:noFill/>
            <a:ln w="9525">
              <a:noFill/>
            </a:ln>
          </p:spPr>
          <p:txBody>
            <a:bodyPr wrap="none">
              <a:spAutoFit/>
            </a:bodyPr>
            <a:p>
              <a:pPr eaLnBrk="1" hangingPunct="1"/>
              <a:r>
                <a:rPr lang="en-US" altLang="zh-CN" sz="2400" b="1" dirty="0">
                  <a:latin typeface="黑体" panose="02010609060101010101" pitchFamily="49" charset="-122"/>
                  <a:ea typeface="黑体" panose="02010609060101010101" pitchFamily="49" charset="-122"/>
                </a:rPr>
                <a:t>OR</a:t>
              </a:r>
              <a:endParaRPr lang="en-US" altLang="zh-CN" sz="2400" b="1" dirty="0">
                <a:latin typeface="黑体" panose="02010609060101010101" pitchFamily="49" charset="-122"/>
                <a:ea typeface="黑体" panose="020106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252937"/>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8" presetClass="entr" presetSubtype="16"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amond(in)">
                                      <p:cBhvr>
                                        <p:cTn id="11"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p:txBody>
          <a:bodyPr vert="horz" wrap="square" lIns="91440" tIns="45720" rIns="91440" bIns="45720" anchor="ctr" anchorCtr="0"/>
          <a:p>
            <a:pPr algn="ctr" eaLnBrk="1" hangingPunct="1"/>
            <a:r>
              <a:rPr lang="zh-CN" altLang="en-US" sz="4000" dirty="0">
                <a:ea typeface="楷体_GB2312" pitchFamily="49" charset="-122"/>
              </a:rPr>
              <a:t>金属塑性变形的实质</a:t>
            </a:r>
            <a:endParaRPr lang="zh-CN" altLang="en-US" sz="4000" dirty="0">
              <a:ea typeface="楷体_GB2312" pitchFamily="49" charset="-122"/>
            </a:endParaRPr>
          </a:p>
        </p:txBody>
      </p:sp>
      <p:sp>
        <p:nvSpPr>
          <p:cNvPr id="18435" name="Rectangle 3"/>
          <p:cNvSpPr>
            <a:spLocks noGrp="1"/>
          </p:cNvSpPr>
          <p:nvPr>
            <p:ph idx="1"/>
          </p:nvPr>
        </p:nvSpPr>
        <p:spPr>
          <a:xfrm>
            <a:off x="350838" y="1268413"/>
            <a:ext cx="8469312" cy="2881312"/>
          </a:xfrm>
        </p:spPr>
        <p:txBody>
          <a:bodyPr vert="horz" wrap="square" lIns="91440" tIns="45720" rIns="91440" bIns="45720" anchor="t" anchorCtr="0"/>
          <a:p>
            <a:pPr eaLnBrk="1" hangingPunct="1">
              <a:lnSpc>
                <a:spcPct val="80000"/>
              </a:lnSpc>
            </a:pPr>
            <a:r>
              <a:rPr lang="zh-CN" altLang="en-US" sz="3600" b="1" dirty="0">
                <a:solidFill>
                  <a:srgbClr val="CC3300"/>
                </a:solidFill>
                <a:ea typeface="楷体_GB2312" pitchFamily="49" charset="-122"/>
              </a:rPr>
              <a:t>单晶体变形</a:t>
            </a:r>
            <a:r>
              <a:rPr lang="en-US" altLang="zh-CN" sz="3600" b="1" dirty="0">
                <a:solidFill>
                  <a:srgbClr val="CC3300"/>
                </a:solidFill>
                <a:ea typeface="楷体_GB2312" pitchFamily="49" charset="-122"/>
              </a:rPr>
              <a:t>——</a:t>
            </a:r>
            <a:r>
              <a:rPr lang="zh-CN" altLang="en-US" sz="3600" b="1" dirty="0">
                <a:solidFill>
                  <a:srgbClr val="CC3300"/>
                </a:solidFill>
                <a:ea typeface="楷体_GB2312" pitchFamily="49" charset="-122"/>
              </a:rPr>
              <a:t>滑移变形</a:t>
            </a:r>
            <a:endParaRPr lang="zh-CN" altLang="en-US" sz="3600" b="1" dirty="0">
              <a:solidFill>
                <a:srgbClr val="CC3300"/>
              </a:solidFill>
              <a:ea typeface="楷体_GB2312" pitchFamily="49" charset="-122"/>
            </a:endParaRPr>
          </a:p>
          <a:p>
            <a:pPr lvl="1" eaLnBrk="1" hangingPunct="1">
              <a:lnSpc>
                <a:spcPct val="80000"/>
              </a:lnSpc>
            </a:pPr>
            <a:r>
              <a:rPr lang="zh-CN" altLang="en-US" b="1" dirty="0">
                <a:solidFill>
                  <a:srgbClr val="009900"/>
                </a:solidFill>
                <a:ea typeface="楷体_GB2312" pitchFamily="49" charset="-122"/>
              </a:rPr>
              <a:t>实验表明，</a:t>
            </a:r>
            <a:r>
              <a:rPr lang="zh-CN" altLang="en-US" b="1" dirty="0">
                <a:solidFill>
                  <a:srgbClr val="FF0066"/>
                </a:solidFill>
                <a:ea typeface="楷体_GB2312" pitchFamily="49" charset="-122"/>
              </a:rPr>
              <a:t>晶体只有在切应力的作用下才会发生塑性变形。</a:t>
            </a:r>
            <a:r>
              <a:rPr lang="zh-CN" altLang="en-US" b="1" dirty="0">
                <a:ea typeface="楷体_GB2312" pitchFamily="49" charset="-122"/>
              </a:rPr>
              <a:t>室温下，单晶体的塑性变形主要是通过滑移和孪生进行的。</a:t>
            </a:r>
            <a:endParaRPr lang="en-US" altLang="zh-CN" b="1" dirty="0">
              <a:ea typeface="楷体_GB2312" pitchFamily="49" charset="-122"/>
            </a:endParaRPr>
          </a:p>
          <a:p>
            <a:pPr lvl="1" eaLnBrk="1" hangingPunct="1">
              <a:lnSpc>
                <a:spcPct val="80000"/>
              </a:lnSpc>
            </a:pPr>
            <a:r>
              <a:rPr lang="zh-CN" altLang="en-US" b="1" dirty="0">
                <a:ea typeface="楷体_GB2312" pitchFamily="49" charset="-122"/>
              </a:rPr>
              <a:t>滑移是指在切应力作用下，晶体的一部分相对于晶体的另一部分沿滑移面作整体滑动。</a:t>
            </a:r>
            <a:endParaRPr lang="zh-CN" altLang="en-US" b="1" dirty="0">
              <a:ea typeface="楷体_GB2312" pitchFamily="49" charset="-122"/>
            </a:endParaRPr>
          </a:p>
        </p:txBody>
      </p:sp>
      <p:pic>
        <p:nvPicPr>
          <p:cNvPr id="18436" name="Picture 7"/>
          <p:cNvPicPr>
            <a:picLocks noChangeAspect="1"/>
          </p:cNvPicPr>
          <p:nvPr/>
        </p:nvPicPr>
        <p:blipFill>
          <a:blip r:embed="rId1"/>
          <a:stretch>
            <a:fillRect/>
          </a:stretch>
        </p:blipFill>
        <p:spPr>
          <a:xfrm>
            <a:off x="357188" y="3938588"/>
            <a:ext cx="8442325" cy="2919412"/>
          </a:xfrm>
          <a:prstGeom prst="rect">
            <a:avLst/>
          </a:prstGeom>
          <a:noFill/>
          <a:ln w="9525">
            <a:noFill/>
          </a:ln>
        </p:spPr>
      </p:pic>
      <p:sp>
        <p:nvSpPr>
          <p:cNvPr id="8" name="圆角矩形标注 7"/>
          <p:cNvSpPr/>
          <p:nvPr/>
        </p:nvSpPr>
        <p:spPr>
          <a:xfrm>
            <a:off x="7358063" y="3357563"/>
            <a:ext cx="1428750" cy="642938"/>
          </a:xfrm>
          <a:prstGeom prst="wedgeRoundRectCallout">
            <a:avLst>
              <a:gd name="adj1" fmla="val 31661"/>
              <a:gd name="adj2" fmla="val 99254"/>
              <a:gd name="adj3" fmla="val 16667"/>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mn-lt"/>
                <a:ea typeface="+mn-ea"/>
                <a:cs typeface="+mn-cs"/>
              </a:rPr>
              <a:t>原子离开了原位置</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sp>
        <p:nvSpPr>
          <p:cNvPr id="9" name="圆角矩形标注 8"/>
          <p:cNvSpPr/>
          <p:nvPr/>
        </p:nvSpPr>
        <p:spPr>
          <a:xfrm>
            <a:off x="4500563" y="3643313"/>
            <a:ext cx="1428750" cy="428625"/>
          </a:xfrm>
          <a:prstGeom prst="wedgeRoundRectCallout">
            <a:avLst>
              <a:gd name="adj1" fmla="val -4294"/>
              <a:gd name="adj2" fmla="val 98455"/>
              <a:gd name="adj3" fmla="val 16667"/>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mn-lt"/>
                <a:ea typeface="+mn-ea"/>
                <a:cs typeface="+mn-cs"/>
              </a:rPr>
              <a:t>倾斜</a:t>
            </a:r>
            <a:r>
              <a:rPr kumimoji="0" lang="en-US" altLang="zh-CN" sz="1800" b="1" i="0" u="none" strike="noStrike" kern="1200" cap="none" spc="0" normalizeH="0" baseline="0" noProof="0" dirty="0">
                <a:ln>
                  <a:noFill/>
                </a:ln>
                <a:solidFill>
                  <a:schemeClr val="lt1"/>
                </a:solidFill>
                <a:effectLst/>
                <a:uLnTx/>
                <a:uFillTx/>
                <a:latin typeface="+mn-lt"/>
                <a:ea typeface="+mn-ea"/>
                <a:cs typeface="+mn-cs"/>
              </a:rPr>
              <a:t>-</a:t>
            </a:r>
            <a:r>
              <a:rPr kumimoji="0" lang="zh-CN" altLang="en-US" sz="1800" b="1" i="0" u="none" strike="noStrike" kern="1200" cap="none" spc="0" normalizeH="0" baseline="0" noProof="0" dirty="0">
                <a:ln>
                  <a:noFill/>
                </a:ln>
                <a:solidFill>
                  <a:schemeClr val="lt1"/>
                </a:solidFill>
                <a:effectLst/>
                <a:uLnTx/>
                <a:uFillTx/>
                <a:latin typeface="+mn-lt"/>
                <a:ea typeface="+mn-ea"/>
                <a:cs typeface="+mn-cs"/>
              </a:rPr>
              <a:t>弹性</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p:txBody>
          <a:bodyPr vert="horz" wrap="square" lIns="91440" tIns="45720" rIns="91440" bIns="45720" anchor="ctr" anchorCtr="0"/>
          <a:p>
            <a:pPr algn="ctr" eaLnBrk="1" hangingPunct="1"/>
            <a:r>
              <a:rPr lang="zh-CN" altLang="en-US" sz="4000" dirty="0">
                <a:ea typeface="楷体_GB2312" pitchFamily="49" charset="-122"/>
              </a:rPr>
              <a:t>金属塑性变形的实质</a:t>
            </a:r>
            <a:endParaRPr lang="zh-CN" altLang="en-US" sz="4000" dirty="0">
              <a:ea typeface="楷体_GB2312" pitchFamily="49" charset="-122"/>
            </a:endParaRPr>
          </a:p>
        </p:txBody>
      </p:sp>
      <p:sp>
        <p:nvSpPr>
          <p:cNvPr id="19459" name="Rectangle 3"/>
          <p:cNvSpPr>
            <a:spLocks noGrp="1"/>
          </p:cNvSpPr>
          <p:nvPr>
            <p:ph idx="1"/>
          </p:nvPr>
        </p:nvSpPr>
        <p:spPr>
          <a:xfrm>
            <a:off x="395288" y="1268413"/>
            <a:ext cx="8218487" cy="1957387"/>
          </a:xfrm>
        </p:spPr>
        <p:txBody>
          <a:bodyPr vert="horz" wrap="square" lIns="91440" tIns="45720" rIns="91440" bIns="45720" anchor="t" anchorCtr="0"/>
          <a:p>
            <a:pPr eaLnBrk="1" hangingPunct="1"/>
            <a:r>
              <a:rPr lang="zh-CN" altLang="en-US" sz="2800" b="1" dirty="0">
                <a:solidFill>
                  <a:srgbClr val="CC3300"/>
                </a:solidFill>
                <a:latin typeface="楷体_GB2312" pitchFamily="49" charset="-122"/>
                <a:ea typeface="楷体_GB2312" pitchFamily="49" charset="-122"/>
              </a:rPr>
              <a:t>位错运动引起塑性变形</a:t>
            </a:r>
            <a:r>
              <a:rPr lang="en-US" altLang="zh-CN" sz="2800" b="1" dirty="0">
                <a:solidFill>
                  <a:srgbClr val="008000"/>
                </a:solidFill>
                <a:latin typeface="楷体_GB2312" pitchFamily="49" charset="-122"/>
                <a:ea typeface="楷体_GB2312" pitchFamily="49" charset="-122"/>
              </a:rPr>
              <a:t>(</a:t>
            </a:r>
            <a:r>
              <a:rPr lang="zh-CN" altLang="en-US" sz="2800" b="1" dirty="0">
                <a:solidFill>
                  <a:srgbClr val="008000"/>
                </a:solidFill>
                <a:latin typeface="楷体_GB2312" pitchFamily="49" charset="-122"/>
                <a:ea typeface="楷体_GB2312" pitchFamily="49" charset="-122"/>
              </a:rPr>
              <a:t>实际的晶体结构</a:t>
            </a:r>
            <a:r>
              <a:rPr lang="en-US" altLang="zh-CN" sz="2800" b="1" dirty="0">
                <a:solidFill>
                  <a:srgbClr val="008000"/>
                </a:solidFill>
                <a:latin typeface="楷体_GB2312" pitchFamily="49" charset="-122"/>
                <a:ea typeface="楷体_GB2312" pitchFamily="49" charset="-122"/>
              </a:rPr>
              <a:t>)</a:t>
            </a:r>
            <a:endParaRPr lang="en-US" altLang="zh-CN" sz="2800" b="1" dirty="0">
              <a:solidFill>
                <a:srgbClr val="008000"/>
              </a:solidFill>
              <a:latin typeface="楷体_GB2312" pitchFamily="49" charset="-122"/>
              <a:ea typeface="楷体_GB2312" pitchFamily="49" charset="-122"/>
            </a:endParaRPr>
          </a:p>
          <a:p>
            <a:pPr lvl="1" eaLnBrk="1" hangingPunct="1"/>
            <a:r>
              <a:rPr lang="zh-CN" altLang="en-US" sz="2400" b="1" dirty="0">
                <a:latin typeface="楷体_GB2312" pitchFamily="49" charset="-122"/>
                <a:ea typeface="楷体_GB2312" pitchFamily="49" charset="-122"/>
              </a:rPr>
              <a:t>单晶体的滑移是</a:t>
            </a:r>
            <a:r>
              <a:rPr lang="zh-CN" altLang="en-US" sz="2400" b="1" dirty="0">
                <a:solidFill>
                  <a:srgbClr val="FF0066"/>
                </a:solidFill>
                <a:latin typeface="楷体_GB2312" pitchFamily="49" charset="-122"/>
                <a:ea typeface="楷体_GB2312" pitchFamily="49" charset="-122"/>
              </a:rPr>
              <a:t>通过晶体内的位错运动</a:t>
            </a:r>
            <a:r>
              <a:rPr lang="zh-CN" altLang="en-US" sz="2400" b="1" dirty="0">
                <a:latin typeface="楷体_GB2312" pitchFamily="49" charset="-122"/>
                <a:ea typeface="楷体_GB2312" pitchFamily="49" charset="-122"/>
              </a:rPr>
              <a:t>来实现的，而不是沿滑移面所有的原子同时作刚性移动的结果，所以滑移所需要的切应力比理论值低很多。因此，位错运动的结果，实现了整个晶体的塑性变形。</a:t>
            </a:r>
            <a:endParaRPr lang="zh-CN" altLang="en-US" sz="2400" b="1" dirty="0">
              <a:latin typeface="楷体_GB2312" pitchFamily="49" charset="-122"/>
              <a:ea typeface="楷体_GB2312" pitchFamily="49" charset="-122"/>
            </a:endParaRPr>
          </a:p>
        </p:txBody>
      </p:sp>
      <p:grpSp>
        <p:nvGrpSpPr>
          <p:cNvPr id="19460" name="Group 13"/>
          <p:cNvGrpSpPr/>
          <p:nvPr/>
        </p:nvGrpSpPr>
        <p:grpSpPr>
          <a:xfrm>
            <a:off x="0" y="4772025"/>
            <a:ext cx="3421063" cy="2085975"/>
            <a:chOff x="0" y="3006"/>
            <a:chExt cx="2155" cy="1314"/>
          </a:xfrm>
        </p:grpSpPr>
        <p:pic>
          <p:nvPicPr>
            <p:cNvPr id="19467" name="Picture 7" descr="图片6"/>
            <p:cNvPicPr>
              <a:picLocks noChangeAspect="1"/>
            </p:cNvPicPr>
            <p:nvPr/>
          </p:nvPicPr>
          <p:blipFill>
            <a:blip r:embed="rId1"/>
            <a:stretch>
              <a:fillRect/>
            </a:stretch>
          </p:blipFill>
          <p:spPr>
            <a:xfrm>
              <a:off x="0" y="3006"/>
              <a:ext cx="2155" cy="1314"/>
            </a:xfrm>
            <a:prstGeom prst="rect">
              <a:avLst/>
            </a:prstGeom>
            <a:noFill/>
            <a:ln w="9525">
              <a:noFill/>
            </a:ln>
          </p:spPr>
        </p:pic>
        <p:sp>
          <p:nvSpPr>
            <p:cNvPr id="19468" name="Rectangle 10"/>
            <p:cNvSpPr/>
            <p:nvPr/>
          </p:nvSpPr>
          <p:spPr>
            <a:xfrm>
              <a:off x="0" y="3022"/>
              <a:ext cx="295" cy="136"/>
            </a:xfrm>
            <a:prstGeom prst="rect">
              <a:avLst/>
            </a:prstGeom>
            <a:solidFill>
              <a:srgbClr val="FFFFFF"/>
            </a:solidFill>
            <a:ln w="9525">
              <a:noFill/>
            </a:ln>
          </p:spPr>
          <p:txBody>
            <a:bodyPr wrap="none" anchor="ctr" anchorCtr="0"/>
            <a:p>
              <a:pPr eaLnBrk="1" hangingPunct="1"/>
              <a:endParaRPr lang="zh-CN" altLang="en-US" dirty="0">
                <a:latin typeface="Arial" panose="020B0604020202020204" pitchFamily="34" charset="0"/>
              </a:endParaRPr>
            </a:p>
          </p:txBody>
        </p:sp>
        <p:sp>
          <p:nvSpPr>
            <p:cNvPr id="19469" name="Rectangle 11"/>
            <p:cNvSpPr/>
            <p:nvPr/>
          </p:nvSpPr>
          <p:spPr>
            <a:xfrm>
              <a:off x="1859" y="4020"/>
              <a:ext cx="295" cy="136"/>
            </a:xfrm>
            <a:prstGeom prst="rect">
              <a:avLst/>
            </a:prstGeom>
            <a:solidFill>
              <a:srgbClr val="FFFFFF"/>
            </a:solidFill>
            <a:ln w="9525">
              <a:noFill/>
            </a:ln>
          </p:spPr>
          <p:txBody>
            <a:bodyPr wrap="none" anchor="ctr" anchorCtr="0"/>
            <a:p>
              <a:pPr eaLnBrk="1" hangingPunct="1"/>
              <a:endParaRPr lang="zh-CN" altLang="en-US" dirty="0">
                <a:latin typeface="Arial" panose="020B0604020202020204" pitchFamily="34" charset="0"/>
              </a:endParaRPr>
            </a:p>
          </p:txBody>
        </p:sp>
        <p:sp>
          <p:nvSpPr>
            <p:cNvPr id="19470" name="Rectangle 12"/>
            <p:cNvSpPr/>
            <p:nvPr/>
          </p:nvSpPr>
          <p:spPr>
            <a:xfrm>
              <a:off x="748" y="4201"/>
              <a:ext cx="590" cy="119"/>
            </a:xfrm>
            <a:prstGeom prst="rect">
              <a:avLst/>
            </a:prstGeom>
            <a:solidFill>
              <a:srgbClr val="FFCC66"/>
            </a:solidFill>
            <a:ln w="9525">
              <a:noFill/>
            </a:ln>
          </p:spPr>
          <p:txBody>
            <a:bodyPr wrap="none" anchor="ctr" anchorCtr="0"/>
            <a:p>
              <a:pPr algn="ctr" eaLnBrk="1" hangingPunct="1"/>
              <a:r>
                <a:rPr lang="zh-CN" altLang="en-US" dirty="0">
                  <a:latin typeface="Arial" panose="020B0604020202020204" pitchFamily="34" charset="0"/>
                </a:rPr>
                <a:t>未变形</a:t>
              </a:r>
              <a:endParaRPr lang="zh-CN" altLang="en-US" dirty="0">
                <a:latin typeface="Arial" panose="020B0604020202020204" pitchFamily="34" charset="0"/>
              </a:endParaRPr>
            </a:p>
          </p:txBody>
        </p:sp>
      </p:grpSp>
      <p:pic>
        <p:nvPicPr>
          <p:cNvPr id="253961" name="Picture 9" descr="图片8"/>
          <p:cNvPicPr>
            <a:picLocks noChangeAspect="1"/>
          </p:cNvPicPr>
          <p:nvPr/>
        </p:nvPicPr>
        <p:blipFill>
          <a:blip r:embed="rId2"/>
          <a:stretch>
            <a:fillRect/>
          </a:stretch>
        </p:blipFill>
        <p:spPr>
          <a:xfrm>
            <a:off x="2843213" y="3429000"/>
            <a:ext cx="3240087" cy="2090738"/>
          </a:xfrm>
          <a:prstGeom prst="rect">
            <a:avLst/>
          </a:prstGeom>
          <a:noFill/>
          <a:ln w="9525">
            <a:noFill/>
          </a:ln>
        </p:spPr>
      </p:pic>
      <p:grpSp>
        <p:nvGrpSpPr>
          <p:cNvPr id="19462" name="Group 17"/>
          <p:cNvGrpSpPr/>
          <p:nvPr/>
        </p:nvGrpSpPr>
        <p:grpSpPr>
          <a:xfrm>
            <a:off x="6084888" y="4508500"/>
            <a:ext cx="3059112" cy="2233613"/>
            <a:chOff x="3833" y="2840"/>
            <a:chExt cx="1927" cy="1407"/>
          </a:xfrm>
        </p:grpSpPr>
        <p:pic>
          <p:nvPicPr>
            <p:cNvPr id="19463" name="Picture 8" descr="图片7"/>
            <p:cNvPicPr>
              <a:picLocks noChangeAspect="1"/>
            </p:cNvPicPr>
            <p:nvPr/>
          </p:nvPicPr>
          <p:blipFill>
            <a:blip r:embed="rId3"/>
            <a:stretch>
              <a:fillRect/>
            </a:stretch>
          </p:blipFill>
          <p:spPr>
            <a:xfrm>
              <a:off x="3833" y="2840"/>
              <a:ext cx="1927" cy="1358"/>
            </a:xfrm>
            <a:prstGeom prst="rect">
              <a:avLst/>
            </a:prstGeom>
            <a:noFill/>
            <a:ln w="9525">
              <a:noFill/>
            </a:ln>
          </p:spPr>
        </p:pic>
        <p:sp>
          <p:nvSpPr>
            <p:cNvPr id="19464" name="Rectangle 14"/>
            <p:cNvSpPr/>
            <p:nvPr/>
          </p:nvSpPr>
          <p:spPr>
            <a:xfrm>
              <a:off x="3833" y="2840"/>
              <a:ext cx="317" cy="182"/>
            </a:xfrm>
            <a:prstGeom prst="rect">
              <a:avLst/>
            </a:prstGeom>
            <a:solidFill>
              <a:srgbClr val="FFFFFF"/>
            </a:solidFill>
            <a:ln w="9525">
              <a:noFill/>
            </a:ln>
          </p:spPr>
          <p:txBody>
            <a:bodyPr wrap="none" anchor="ctr" anchorCtr="0"/>
            <a:p>
              <a:pPr eaLnBrk="1" hangingPunct="1"/>
              <a:endParaRPr lang="zh-CN" altLang="en-US" dirty="0">
                <a:latin typeface="Arial" panose="020B0604020202020204" pitchFamily="34" charset="0"/>
              </a:endParaRPr>
            </a:p>
          </p:txBody>
        </p:sp>
        <p:sp>
          <p:nvSpPr>
            <p:cNvPr id="19465" name="Rectangle 15"/>
            <p:cNvSpPr/>
            <p:nvPr/>
          </p:nvSpPr>
          <p:spPr>
            <a:xfrm>
              <a:off x="5443" y="3884"/>
              <a:ext cx="317" cy="182"/>
            </a:xfrm>
            <a:prstGeom prst="rect">
              <a:avLst/>
            </a:prstGeom>
            <a:solidFill>
              <a:srgbClr val="FFFFFF"/>
            </a:solidFill>
            <a:ln w="9525">
              <a:noFill/>
            </a:ln>
          </p:spPr>
          <p:txBody>
            <a:bodyPr wrap="none" anchor="ctr" anchorCtr="0"/>
            <a:p>
              <a:pPr eaLnBrk="1" hangingPunct="1"/>
              <a:endParaRPr lang="zh-CN" altLang="en-US" dirty="0">
                <a:latin typeface="Arial" panose="020B0604020202020204" pitchFamily="34" charset="0"/>
              </a:endParaRPr>
            </a:p>
          </p:txBody>
        </p:sp>
        <p:sp>
          <p:nvSpPr>
            <p:cNvPr id="19466" name="Rectangle 16"/>
            <p:cNvSpPr/>
            <p:nvPr/>
          </p:nvSpPr>
          <p:spPr>
            <a:xfrm>
              <a:off x="4649" y="4065"/>
              <a:ext cx="544" cy="182"/>
            </a:xfrm>
            <a:prstGeom prst="rect">
              <a:avLst/>
            </a:prstGeom>
            <a:solidFill>
              <a:srgbClr val="FFCC66"/>
            </a:solidFill>
            <a:ln w="9525">
              <a:noFill/>
            </a:ln>
          </p:spPr>
          <p:txBody>
            <a:bodyPr wrap="none" anchor="ctr" anchorCtr="0"/>
            <a:p>
              <a:pPr algn="ctr" eaLnBrk="1" hangingPunct="1"/>
              <a:r>
                <a:rPr lang="zh-CN" altLang="en-US" dirty="0">
                  <a:latin typeface="Arial" panose="020B0604020202020204" pitchFamily="34" charset="0"/>
                </a:rPr>
                <a:t>塑性变形</a:t>
              </a:r>
              <a:endParaRPr lang="zh-CN" altLang="en-US" dirty="0">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53961"/>
                                        </p:tgtEl>
                                        <p:attrNameLst>
                                          <p:attrName>style.visibility</p:attrName>
                                        </p:attrNameLst>
                                      </p:cBhvr>
                                      <p:to>
                                        <p:strVal val="visible"/>
                                      </p:to>
                                    </p:set>
                                    <p:animEffect transition="in" filter="diamond(in)">
                                      <p:cBhvr>
                                        <p:cTn id="7" dur="2000"/>
                                        <p:tgtEl>
                                          <p:spTgt spid="2539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标题 1"/>
          <p:cNvSpPr>
            <a:spLocks noGrp="1"/>
          </p:cNvSpPr>
          <p:nvPr>
            <p:ph type="title"/>
          </p:nvPr>
        </p:nvSpPr>
        <p:spPr/>
        <p:txBody>
          <a:bodyPr vert="horz" wrap="square" lIns="91440" tIns="45720" rIns="91440" bIns="45720" anchor="ctr" anchorCtr="0"/>
          <a:p>
            <a:r>
              <a:rPr lang="zh-CN" altLang="en-US" dirty="0">
                <a:ea typeface="楷体_GB2312" pitchFamily="49" charset="-122"/>
              </a:rPr>
              <a:t>金属塑性变形的实质</a:t>
            </a:r>
            <a:endParaRPr lang="zh-CN" altLang="en-US" dirty="0"/>
          </a:p>
        </p:txBody>
      </p:sp>
      <p:sp>
        <p:nvSpPr>
          <p:cNvPr id="20483" name="内容占位符 2"/>
          <p:cNvSpPr>
            <a:spLocks noGrp="1"/>
          </p:cNvSpPr>
          <p:nvPr>
            <p:ph idx="1"/>
          </p:nvPr>
        </p:nvSpPr>
        <p:spPr/>
        <p:txBody>
          <a:bodyPr vert="horz" wrap="square" lIns="91440" tIns="45720" rIns="91440" bIns="45720" anchor="t" anchorCtr="0"/>
          <a:p>
            <a:endParaRPr lang="zh-CN" altLang="en-US" dirty="0"/>
          </a:p>
        </p:txBody>
      </p:sp>
      <p:pic>
        <p:nvPicPr>
          <p:cNvPr id="20484" name="Picture 2"/>
          <p:cNvPicPr>
            <a:picLocks noChangeAspect="1"/>
          </p:cNvPicPr>
          <p:nvPr/>
        </p:nvPicPr>
        <p:blipFill>
          <a:blip r:embed="rId1"/>
          <a:stretch>
            <a:fillRect/>
          </a:stretch>
        </p:blipFill>
        <p:spPr>
          <a:xfrm>
            <a:off x="71438" y="1708150"/>
            <a:ext cx="8897937" cy="4792663"/>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标题 1"/>
          <p:cNvSpPr>
            <a:spLocks noGrp="1"/>
          </p:cNvSpPr>
          <p:nvPr>
            <p:ph type="title"/>
          </p:nvPr>
        </p:nvSpPr>
        <p:spPr/>
        <p:txBody>
          <a:bodyPr vert="horz" wrap="square" lIns="91440" tIns="45720" rIns="91440" bIns="45720" anchor="ctr" anchorCtr="0"/>
          <a:p>
            <a:r>
              <a:rPr lang="zh-CN" altLang="en-US" dirty="0">
                <a:ea typeface="楷体_GB2312" pitchFamily="49" charset="-122"/>
              </a:rPr>
              <a:t>金属塑性变形的实质</a:t>
            </a:r>
            <a:endParaRPr lang="zh-CN" altLang="en-US" dirty="0"/>
          </a:p>
        </p:txBody>
      </p:sp>
      <p:sp>
        <p:nvSpPr>
          <p:cNvPr id="21507" name="内容占位符 2"/>
          <p:cNvSpPr>
            <a:spLocks noGrp="1"/>
          </p:cNvSpPr>
          <p:nvPr>
            <p:ph idx="1"/>
          </p:nvPr>
        </p:nvSpPr>
        <p:spPr/>
        <p:txBody>
          <a:bodyPr vert="horz" wrap="square" lIns="91440" tIns="45720" rIns="91440" bIns="45720" anchor="t" anchorCtr="0"/>
          <a:p>
            <a:r>
              <a:rPr lang="zh-CN" altLang="en-US" dirty="0"/>
              <a:t>滑移与孪生的区别</a:t>
            </a:r>
            <a:endParaRPr lang="zh-CN" altLang="en-US" dirty="0"/>
          </a:p>
        </p:txBody>
      </p:sp>
      <p:pic>
        <p:nvPicPr>
          <p:cNvPr id="21508" name="Picture 4"/>
          <p:cNvPicPr>
            <a:picLocks noChangeAspect="1"/>
          </p:cNvPicPr>
          <p:nvPr/>
        </p:nvPicPr>
        <p:blipFill>
          <a:blip r:embed="rId1"/>
          <a:stretch>
            <a:fillRect/>
          </a:stretch>
        </p:blipFill>
        <p:spPr>
          <a:xfrm>
            <a:off x="357188" y="1928813"/>
            <a:ext cx="8415337" cy="4725987"/>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1"/>
          <p:cNvSpPr>
            <a:spLocks noGrp="1"/>
          </p:cNvSpPr>
          <p:nvPr>
            <p:ph type="title"/>
          </p:nvPr>
        </p:nvSpPr>
        <p:spPr/>
        <p:txBody>
          <a:bodyPr vert="horz" wrap="square" lIns="91440" tIns="45720" rIns="91440" bIns="45720" anchor="ctr" anchorCtr="0"/>
          <a:p>
            <a:r>
              <a:rPr lang="zh-CN" altLang="en-US" dirty="0">
                <a:ea typeface="楷体_GB2312" pitchFamily="49" charset="-122"/>
              </a:rPr>
              <a:t>金属塑性变形的实质</a:t>
            </a:r>
            <a:endParaRPr lang="zh-CN" altLang="en-US" dirty="0"/>
          </a:p>
        </p:txBody>
      </p:sp>
      <p:sp>
        <p:nvSpPr>
          <p:cNvPr id="22531" name="内容占位符 2"/>
          <p:cNvSpPr>
            <a:spLocks noGrp="1"/>
          </p:cNvSpPr>
          <p:nvPr>
            <p:ph idx="1"/>
          </p:nvPr>
        </p:nvSpPr>
        <p:spPr/>
        <p:txBody>
          <a:bodyPr vert="horz" wrap="square" lIns="91440" tIns="45720" rIns="91440" bIns="45720" anchor="t" anchorCtr="0"/>
          <a:p>
            <a:r>
              <a:rPr lang="zh-CN" altLang="en-US" dirty="0"/>
              <a:t>单晶体变形</a:t>
            </a:r>
            <a:r>
              <a:rPr lang="en-US" altLang="zh-CN" dirty="0"/>
              <a:t>——</a:t>
            </a:r>
            <a:r>
              <a:rPr lang="zh-CN" altLang="en-US" dirty="0"/>
              <a:t>滑移与孪生共存</a:t>
            </a:r>
            <a:endParaRPr lang="zh-CN" altLang="en-US" dirty="0"/>
          </a:p>
        </p:txBody>
      </p:sp>
      <p:pic>
        <p:nvPicPr>
          <p:cNvPr id="22532" name="Picture 3"/>
          <p:cNvPicPr>
            <a:picLocks noChangeAspect="1"/>
          </p:cNvPicPr>
          <p:nvPr/>
        </p:nvPicPr>
        <p:blipFill>
          <a:blip r:embed="rId1"/>
          <a:stretch>
            <a:fillRect/>
          </a:stretch>
        </p:blipFill>
        <p:spPr>
          <a:xfrm>
            <a:off x="785813" y="2071688"/>
            <a:ext cx="7689850" cy="4243387"/>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7" name="Rectangle 2"/>
          <p:cNvSpPr>
            <a:spLocks noGrp="1"/>
          </p:cNvSpPr>
          <p:nvPr>
            <p:ph type="title"/>
          </p:nvPr>
        </p:nvSpPr>
        <p:spPr/>
        <p:txBody>
          <a:bodyPr vert="horz" wrap="square" lIns="91440" tIns="45720" rIns="91440" bIns="45720" anchor="ctr" anchorCtr="0"/>
          <a:p>
            <a:pPr algn="ctr" eaLnBrk="1" hangingPunct="1"/>
            <a:r>
              <a:rPr lang="zh-CN" altLang="en-US" sz="4000" dirty="0">
                <a:ea typeface="楷体_GB2312" pitchFamily="49" charset="-122"/>
              </a:rPr>
              <a:t>金属塑性变形的实质</a:t>
            </a:r>
            <a:endParaRPr lang="zh-CN" altLang="en-US" sz="4000" dirty="0">
              <a:ea typeface="楷体_GB2312" pitchFamily="49" charset="-122"/>
            </a:endParaRPr>
          </a:p>
        </p:txBody>
      </p:sp>
      <p:sp>
        <p:nvSpPr>
          <p:cNvPr id="254979" name="Rectangle 3"/>
          <p:cNvSpPr>
            <a:spLocks noGrp="1"/>
          </p:cNvSpPr>
          <p:nvPr>
            <p:ph idx="1"/>
          </p:nvPr>
        </p:nvSpPr>
        <p:spPr>
          <a:xfrm>
            <a:off x="323850" y="1419225"/>
            <a:ext cx="8002588" cy="2514600"/>
          </a:xfrm>
        </p:spPr>
        <p:txBody>
          <a:bodyPr vert="horz" wrap="square" lIns="91440" tIns="45720" rIns="91440" bIns="45720" anchor="t" anchorCtr="0"/>
          <a:p>
            <a:pPr eaLnBrk="1" hangingPunct="1">
              <a:lnSpc>
                <a:spcPct val="90000"/>
              </a:lnSpc>
            </a:pPr>
            <a:r>
              <a:rPr lang="zh-CN" altLang="en-US" sz="2800" b="1" dirty="0">
                <a:solidFill>
                  <a:srgbClr val="FF0000"/>
                </a:solidFill>
                <a:latin typeface="楷体_GB2312" pitchFamily="49" charset="-122"/>
                <a:ea typeface="楷体_GB2312" pitchFamily="49" charset="-122"/>
              </a:rPr>
              <a:t>多晶体的塑性变形</a:t>
            </a:r>
            <a:r>
              <a:rPr lang="en-US" altLang="zh-CN" sz="2800" b="1" dirty="0">
                <a:solidFill>
                  <a:srgbClr val="008000"/>
                </a:solidFill>
                <a:latin typeface="楷体_GB2312" pitchFamily="49" charset="-122"/>
                <a:ea typeface="楷体_GB2312" pitchFamily="49" charset="-122"/>
              </a:rPr>
              <a:t>(</a:t>
            </a:r>
            <a:r>
              <a:rPr lang="zh-CN" altLang="en-US" sz="2800" b="1" dirty="0">
                <a:solidFill>
                  <a:srgbClr val="008000"/>
                </a:solidFill>
                <a:latin typeface="楷体_GB2312" pitchFamily="49" charset="-122"/>
                <a:ea typeface="楷体_GB2312" pitchFamily="49" charset="-122"/>
              </a:rPr>
              <a:t>通常的金属</a:t>
            </a:r>
            <a:r>
              <a:rPr lang="en-US" altLang="zh-CN" sz="2800" b="1" dirty="0">
                <a:solidFill>
                  <a:srgbClr val="008000"/>
                </a:solidFill>
                <a:latin typeface="楷体_GB2312" pitchFamily="49" charset="-122"/>
                <a:ea typeface="楷体_GB2312" pitchFamily="49" charset="-122"/>
              </a:rPr>
              <a:t>)</a:t>
            </a:r>
            <a:endParaRPr lang="en-US" altLang="zh-CN" sz="2800" b="1" dirty="0">
              <a:solidFill>
                <a:srgbClr val="008000"/>
              </a:solidFill>
              <a:latin typeface="楷体_GB2312" pitchFamily="49" charset="-122"/>
              <a:ea typeface="楷体_GB2312" pitchFamily="49" charset="-122"/>
            </a:endParaRPr>
          </a:p>
          <a:p>
            <a:pPr lvl="1" eaLnBrk="1" hangingPunct="1">
              <a:lnSpc>
                <a:spcPct val="90000"/>
              </a:lnSpc>
            </a:pPr>
            <a:r>
              <a:rPr lang="zh-CN" altLang="en-US" sz="2400" b="1" dirty="0">
                <a:latin typeface="楷体_GB2312" pitchFamily="49" charset="-122"/>
                <a:ea typeface="楷体_GB2312" pitchFamily="49" charset="-122"/>
              </a:rPr>
              <a:t>多晶体的塑性变形是其单个晶粒塑性变形的综合。其中每个晶粒的塑性变形，仍主要以滑移方式进行。</a:t>
            </a:r>
            <a:endParaRPr lang="zh-CN" altLang="en-US" sz="2400" b="1" dirty="0">
              <a:latin typeface="楷体_GB2312" pitchFamily="49" charset="-122"/>
              <a:ea typeface="楷体_GB2312" pitchFamily="49" charset="-122"/>
            </a:endParaRPr>
          </a:p>
          <a:p>
            <a:pPr lvl="1" eaLnBrk="1" hangingPunct="1">
              <a:lnSpc>
                <a:spcPct val="90000"/>
              </a:lnSpc>
            </a:pPr>
            <a:r>
              <a:rPr lang="zh-CN" altLang="en-US" sz="2400" b="1" dirty="0">
                <a:solidFill>
                  <a:srgbClr val="0000FF"/>
                </a:solidFill>
                <a:latin typeface="楷体_GB2312" pitchFamily="49" charset="-122"/>
                <a:ea typeface="楷体_GB2312" pitchFamily="49" charset="-122"/>
              </a:rPr>
              <a:t>由于构成多晶体的晶粒位向不同，还有晶界的阻碍，在其滑移、变形时，分</a:t>
            </a:r>
            <a:r>
              <a:rPr lang="zh-CN" altLang="en-US" sz="2400" b="1" dirty="0">
                <a:solidFill>
                  <a:srgbClr val="FF0000"/>
                </a:solidFill>
                <a:latin typeface="楷体_GB2312" pitchFamily="49" charset="-122"/>
                <a:ea typeface="楷体_GB2312" pitchFamily="49" charset="-122"/>
              </a:rPr>
              <a:t>先后次序</a:t>
            </a:r>
            <a:r>
              <a:rPr lang="zh-CN" altLang="en-US" sz="2400" b="1" dirty="0">
                <a:solidFill>
                  <a:srgbClr val="0000FF"/>
                </a:solidFill>
                <a:latin typeface="楷体_GB2312" pitchFamily="49" charset="-122"/>
                <a:ea typeface="楷体_GB2312" pitchFamily="49" charset="-122"/>
              </a:rPr>
              <a:t>逐批进行。同时，还伴有晶间的滑移与转动。</a:t>
            </a:r>
            <a:endParaRPr lang="zh-CN" altLang="en-US" sz="2400" b="1" dirty="0">
              <a:solidFill>
                <a:srgbClr val="0000FF"/>
              </a:solidFill>
              <a:latin typeface="楷体_GB2312" pitchFamily="49" charset="-122"/>
              <a:ea typeface="楷体_GB2312" pitchFamily="49" charset="-122"/>
            </a:endParaRPr>
          </a:p>
        </p:txBody>
      </p:sp>
      <p:grpSp>
        <p:nvGrpSpPr>
          <p:cNvPr id="1030" name="Group 15"/>
          <p:cNvGrpSpPr/>
          <p:nvPr/>
        </p:nvGrpSpPr>
        <p:grpSpPr>
          <a:xfrm rot="0">
            <a:off x="1037590" y="3623945"/>
            <a:ext cx="7432675" cy="3234055"/>
            <a:chOff x="1680" y="3052"/>
            <a:chExt cx="2544" cy="1104"/>
          </a:xfrm>
        </p:grpSpPr>
        <p:sp>
          <p:nvSpPr>
            <p:cNvPr id="1032" name="Rectangle 14"/>
            <p:cNvSpPr/>
            <p:nvPr/>
          </p:nvSpPr>
          <p:spPr>
            <a:xfrm>
              <a:off x="1680" y="3052"/>
              <a:ext cx="2544" cy="1104"/>
            </a:xfrm>
            <a:prstGeom prst="rect">
              <a:avLst/>
            </a:prstGeom>
            <a:solidFill>
              <a:srgbClr val="FFFF00"/>
            </a:solidFill>
            <a:ln w="9525">
              <a:noFill/>
            </a:ln>
          </p:spPr>
          <p:txBody>
            <a:bodyPr wrap="none" anchor="ctr" anchorCtr="0"/>
            <a:p>
              <a:pPr algn="ctr" eaLnBrk="1" hangingPunct="1"/>
              <a:endParaRPr lang="zh-CN" altLang="zh-CN" dirty="0">
                <a:solidFill>
                  <a:srgbClr val="FFFF66"/>
                </a:solidFill>
                <a:latin typeface="Arial" panose="020B0604020202020204" pitchFamily="34" charset="0"/>
              </a:endParaRPr>
            </a:p>
          </p:txBody>
        </p:sp>
        <p:grpSp>
          <p:nvGrpSpPr>
            <p:cNvPr id="1033" name="Group 13"/>
            <p:cNvGrpSpPr/>
            <p:nvPr/>
          </p:nvGrpSpPr>
          <p:grpSpPr>
            <a:xfrm>
              <a:off x="1882" y="3113"/>
              <a:ext cx="2178" cy="852"/>
              <a:chOff x="1920" y="2784"/>
              <a:chExt cx="2178" cy="852"/>
            </a:xfrm>
          </p:grpSpPr>
          <p:pic>
            <p:nvPicPr>
              <p:cNvPr id="1034" name="Picture 4"/>
              <p:cNvPicPr>
                <a:picLocks noChangeAspect="1"/>
              </p:cNvPicPr>
              <p:nvPr/>
            </p:nvPicPr>
            <p:blipFill>
              <a:blip r:embed="rId1"/>
              <a:stretch>
                <a:fillRect/>
              </a:stretch>
            </p:blipFill>
            <p:spPr>
              <a:xfrm>
                <a:off x="1920" y="2880"/>
                <a:ext cx="768" cy="756"/>
              </a:xfrm>
              <a:prstGeom prst="rect">
                <a:avLst/>
              </a:prstGeom>
              <a:solidFill>
                <a:srgbClr val="FFFF00"/>
              </a:solidFill>
              <a:ln w="9525">
                <a:noFill/>
              </a:ln>
            </p:spPr>
          </p:pic>
          <p:sp>
            <p:nvSpPr>
              <p:cNvPr id="1035" name="Line 7"/>
              <p:cNvSpPr/>
              <p:nvPr/>
            </p:nvSpPr>
            <p:spPr>
              <a:xfrm>
                <a:off x="3552" y="2784"/>
                <a:ext cx="0" cy="240"/>
              </a:xfrm>
              <a:prstGeom prst="line">
                <a:avLst/>
              </a:prstGeom>
              <a:ln w="9525" cap="flat" cmpd="sng">
                <a:solidFill>
                  <a:srgbClr val="FF0000"/>
                </a:solidFill>
                <a:prstDash val="solid"/>
                <a:headEnd type="none" w="med" len="med"/>
                <a:tailEnd type="triangle" w="med" len="med"/>
              </a:ln>
            </p:spPr>
          </p:sp>
          <p:sp>
            <p:nvSpPr>
              <p:cNvPr id="1036" name="Text Box 8"/>
              <p:cNvSpPr txBox="1"/>
              <p:nvPr/>
            </p:nvSpPr>
            <p:spPr>
              <a:xfrm>
                <a:off x="3600" y="2784"/>
                <a:ext cx="192" cy="126"/>
              </a:xfrm>
              <a:prstGeom prst="rect">
                <a:avLst/>
              </a:prstGeom>
              <a:solidFill>
                <a:srgbClr val="FFFF00"/>
              </a:solidFill>
              <a:ln w="9525">
                <a:noFill/>
              </a:ln>
            </p:spPr>
            <p:txBody>
              <a:bodyPr>
                <a:spAutoFit/>
              </a:bodyPr>
              <a:p>
                <a:pPr eaLnBrk="1" hangingPunct="1">
                  <a:spcBef>
                    <a:spcPct val="50000"/>
                  </a:spcBef>
                </a:pPr>
                <a:r>
                  <a:rPr lang="en-US" altLang="zh-CN" dirty="0">
                    <a:latin typeface="Arial" panose="020B0604020202020204" pitchFamily="34" charset="0"/>
                  </a:rPr>
                  <a:t>F</a:t>
                </a:r>
                <a:endParaRPr lang="en-US" altLang="zh-CN" dirty="0">
                  <a:latin typeface="Arial" panose="020B0604020202020204" pitchFamily="34" charset="0"/>
                </a:endParaRPr>
              </a:p>
            </p:txBody>
          </p:sp>
          <p:sp>
            <p:nvSpPr>
              <p:cNvPr id="1037" name="AutoShape 9"/>
              <p:cNvSpPr/>
              <p:nvPr/>
            </p:nvSpPr>
            <p:spPr>
              <a:xfrm>
                <a:off x="2736" y="3168"/>
                <a:ext cx="336" cy="144"/>
              </a:xfrm>
              <a:custGeom>
                <a:avLst/>
                <a:gdLst>
                  <a:gd name="txL" fmla="*/ 3407 w 21600"/>
                  <a:gd name="txT" fmla="*/ 5400 h 21600"/>
                  <a:gd name="txR" fmla="*/ 18900 w 21600"/>
                  <a:gd name="txB" fmla="*/ 16200 h 21600"/>
                </a:gdLst>
                <a:ahLst/>
                <a:cxnLst>
                  <a:cxn ang="17694720">
                    <a:pos x="0" y="0"/>
                  </a:cxn>
                  <a:cxn ang="11796480">
                    <a:pos x="0" y="0"/>
                  </a:cxn>
                  <a:cxn ang="5898240">
                    <a:pos x="0" y="0"/>
                  </a:cxn>
                  <a:cxn ang="0">
                    <a:pos x="0" y="0"/>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00"/>
              </a:solidFill>
              <a:ln w="9525" cap="flat" cmpd="sng">
                <a:solidFill>
                  <a:srgbClr val="FF00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graphicFrame>
            <p:nvGraphicFramePr>
              <p:cNvPr id="1026" name="Object 12"/>
              <p:cNvGraphicFramePr>
                <a:graphicFrameLocks noChangeAspect="1"/>
              </p:cNvGraphicFramePr>
              <p:nvPr/>
            </p:nvGraphicFramePr>
            <p:xfrm>
              <a:off x="3264" y="3072"/>
              <a:ext cx="834" cy="390"/>
            </p:xfrm>
            <a:graphic>
              <a:graphicData uri="http://schemas.openxmlformats.org/presentationml/2006/ole">
                <mc:AlternateContent xmlns:mc="http://schemas.openxmlformats.org/markup-compatibility/2006">
                  <mc:Choice xmlns:v="urn:schemas-microsoft-com:vml" Requires="v">
                    <p:oleObj spid="_x0000_s3076" name="" r:id="rId2" imgW="1323975" imgH="619125" progId="Paint.Picture">
                      <p:embed/>
                    </p:oleObj>
                  </mc:Choice>
                  <mc:Fallback>
                    <p:oleObj name="" r:id="rId2" imgW="1323975" imgH="619125" progId="Paint.Picture">
                      <p:embed/>
                      <p:pic>
                        <p:nvPicPr>
                          <p:cNvPr id="0" name="图片 3075"/>
                          <p:cNvPicPr/>
                          <p:nvPr/>
                        </p:nvPicPr>
                        <p:blipFill>
                          <a:blip r:embed="rId3"/>
                          <a:stretch>
                            <a:fillRect/>
                          </a:stretch>
                        </p:blipFill>
                        <p:spPr>
                          <a:xfrm>
                            <a:off x="3264" y="3072"/>
                            <a:ext cx="834" cy="390"/>
                          </a:xfrm>
                          <a:prstGeom prst="rect">
                            <a:avLst/>
                          </a:prstGeom>
                          <a:solidFill>
                            <a:srgbClr val="FFFF00"/>
                          </a:solidFill>
                          <a:ln w="38100">
                            <a:noFill/>
                            <a:miter/>
                          </a:ln>
                        </p:spPr>
                      </p:pic>
                    </p:oleObj>
                  </mc:Fallback>
                </mc:AlternateContent>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4979">
                                            <p:txEl>
                                              <p:charRg st="16" end="62"/>
                                            </p:txEl>
                                          </p:spTgt>
                                        </p:tgtEl>
                                        <p:attrNameLst>
                                          <p:attrName>style.visibility</p:attrName>
                                        </p:attrNameLst>
                                      </p:cBhvr>
                                      <p:to>
                                        <p:strVal val="visible"/>
                                      </p:to>
                                    </p:set>
                                    <p:animEffect transition="in" filter="blinds(horizontal)">
                                      <p:cBhvr>
                                        <p:cTn id="7" dur="500"/>
                                        <p:tgtEl>
                                          <p:spTgt spid="254979">
                                            <p:txEl>
                                              <p:charRg st="16" end="6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54979">
                                            <p:txEl>
                                              <p:charRg st="62" end="120"/>
                                            </p:txEl>
                                          </p:spTgt>
                                        </p:tgtEl>
                                        <p:attrNameLst>
                                          <p:attrName>style.visibility</p:attrName>
                                        </p:attrNameLst>
                                      </p:cBhvr>
                                      <p:to>
                                        <p:strVal val="visible"/>
                                      </p:to>
                                    </p:set>
                                    <p:animEffect transition="in" filter="blinds(horizontal)">
                                      <p:cBhvr>
                                        <p:cTn id="12" dur="500"/>
                                        <p:tgtEl>
                                          <p:spTgt spid="254979">
                                            <p:txEl>
                                              <p:charRg st="62" end="1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a:xfrm>
            <a:off x="2484438" y="234950"/>
            <a:ext cx="6659562" cy="890588"/>
          </a:xfrm>
        </p:spPr>
        <p:txBody>
          <a:bodyPr vert="horz" wrap="square" lIns="91440" tIns="45720" rIns="91440" bIns="45720" anchor="ctr" anchorCtr="0"/>
          <a:p>
            <a:pPr eaLnBrk="1" hangingPunct="1"/>
            <a:r>
              <a:rPr lang="zh-CN" altLang="en-US" sz="3200" dirty="0">
                <a:ea typeface="楷体_GB2312" pitchFamily="49" charset="-122"/>
              </a:rPr>
              <a:t>塑性变形对金属组织和性能的影响</a:t>
            </a:r>
            <a:endParaRPr lang="zh-CN" altLang="en-US" sz="3200" dirty="0">
              <a:ea typeface="楷体_GB2312" pitchFamily="49" charset="-122"/>
            </a:endParaRPr>
          </a:p>
        </p:txBody>
      </p:sp>
      <p:sp>
        <p:nvSpPr>
          <p:cNvPr id="256003" name="Rectangle 3"/>
          <p:cNvSpPr>
            <a:spLocks noGrp="1"/>
          </p:cNvSpPr>
          <p:nvPr>
            <p:ph idx="1"/>
          </p:nvPr>
        </p:nvSpPr>
        <p:spPr>
          <a:xfrm>
            <a:off x="250825" y="1268413"/>
            <a:ext cx="8532813" cy="3744912"/>
          </a:xfrm>
        </p:spPr>
        <p:txBody>
          <a:bodyPr vert="horz" wrap="square" lIns="91440" tIns="45720" rIns="91440" bIns="45720" anchor="t" anchorCtr="0"/>
          <a:p>
            <a:pPr eaLnBrk="1" hangingPunct="1">
              <a:lnSpc>
                <a:spcPct val="90000"/>
              </a:lnSpc>
              <a:spcBef>
                <a:spcPct val="0"/>
              </a:spcBef>
              <a:buNone/>
            </a:pPr>
            <a:r>
              <a:rPr lang="en-US" altLang="zh-CN" sz="3600" b="1" dirty="0">
                <a:solidFill>
                  <a:srgbClr val="FFCCFF"/>
                </a:solidFill>
                <a:latin typeface="宋体" panose="02010600030101010101" pitchFamily="2" charset="-122"/>
              </a:rPr>
              <a:t>    </a:t>
            </a:r>
            <a:r>
              <a:rPr lang="zh-CN" altLang="en-US" sz="2400" b="1" dirty="0">
                <a:solidFill>
                  <a:srgbClr val="CC3300"/>
                </a:solidFill>
                <a:latin typeface="宋体" panose="02010600030101010101" pitchFamily="2" charset="-122"/>
                <a:ea typeface="楷体_GB2312" pitchFamily="49" charset="-122"/>
              </a:rPr>
              <a:t>金属内部有了应力就会发生弹性变形。应力增大到一定程度后使金属产生塑性变形。</a:t>
            </a:r>
            <a:r>
              <a:rPr lang="zh-CN" altLang="en-US" sz="2400" b="1" dirty="0">
                <a:solidFill>
                  <a:srgbClr val="FF0066"/>
                </a:solidFill>
                <a:latin typeface="宋体" panose="02010600030101010101" pitchFamily="2" charset="-122"/>
                <a:ea typeface="楷体_GB2312" pitchFamily="49" charset="-122"/>
              </a:rPr>
              <a:t>当外力去除后，弹性变形将恢复，称“弹复</a:t>
            </a:r>
            <a:r>
              <a:rPr lang="zh-CN" altLang="en-US" sz="2400" b="1" dirty="0">
                <a:solidFill>
                  <a:srgbClr val="FF0066"/>
                </a:solidFill>
                <a:ea typeface="楷体_GB2312" pitchFamily="49" charset="-122"/>
              </a:rPr>
              <a:t>”</a:t>
            </a:r>
            <a:r>
              <a:rPr lang="zh-CN" altLang="en-US" sz="2400" b="1" dirty="0">
                <a:solidFill>
                  <a:srgbClr val="FF0066"/>
                </a:solidFill>
                <a:latin typeface="宋体" panose="02010600030101010101" pitchFamily="2" charset="-122"/>
                <a:ea typeface="楷体_GB2312" pitchFamily="49" charset="-122"/>
              </a:rPr>
              <a:t>现象。</a:t>
            </a:r>
            <a:r>
              <a:rPr lang="zh-CN" altLang="en-US" sz="2400" b="1" dirty="0">
                <a:latin typeface="宋体" panose="02010600030101010101" pitchFamily="2" charset="-122"/>
                <a:ea typeface="楷体_GB2312" pitchFamily="49" charset="-122"/>
              </a:rPr>
              <a:t>这种现象对有些压力加工件的变形和工件质量有很大影响，必须采取工艺措施来保证产品的质量。</a:t>
            </a:r>
            <a:endParaRPr lang="zh-CN" altLang="en-US" sz="2400" b="1" dirty="0">
              <a:latin typeface="宋体" panose="02010600030101010101" pitchFamily="2" charset="-122"/>
              <a:ea typeface="楷体_GB2312" pitchFamily="49" charset="-122"/>
            </a:endParaRPr>
          </a:p>
          <a:p>
            <a:pPr eaLnBrk="1" hangingPunct="1">
              <a:lnSpc>
                <a:spcPct val="90000"/>
              </a:lnSpc>
              <a:spcBef>
                <a:spcPct val="0"/>
              </a:spcBef>
              <a:buNone/>
            </a:pPr>
            <a:endParaRPr lang="zh-CN" altLang="en-US" sz="2400" dirty="0">
              <a:ea typeface="楷体_GB2312" pitchFamily="49" charset="-122"/>
            </a:endParaRPr>
          </a:p>
          <a:p>
            <a:pPr eaLnBrk="1" hangingPunct="1">
              <a:lnSpc>
                <a:spcPct val="90000"/>
              </a:lnSpc>
            </a:pPr>
            <a:r>
              <a:rPr lang="zh-CN" altLang="en-US" sz="2400" b="1" dirty="0">
                <a:solidFill>
                  <a:srgbClr val="0000FF"/>
                </a:solidFill>
                <a:ea typeface="楷体_GB2312" pitchFamily="49" charset="-122"/>
              </a:rPr>
              <a:t>塑性变形后金属组织将发生变化</a:t>
            </a:r>
            <a:endParaRPr lang="zh-CN" altLang="en-US" sz="2400" b="1" dirty="0">
              <a:solidFill>
                <a:srgbClr val="0000FF"/>
              </a:solidFill>
              <a:ea typeface="楷体_GB2312" pitchFamily="49" charset="-122"/>
            </a:endParaRPr>
          </a:p>
          <a:p>
            <a:pPr lvl="1" eaLnBrk="1" hangingPunct="1">
              <a:lnSpc>
                <a:spcPct val="90000"/>
              </a:lnSpc>
            </a:pPr>
            <a:r>
              <a:rPr lang="zh-CN" altLang="en-US" sz="2400" b="1" dirty="0">
                <a:ea typeface="楷体_GB2312" pitchFamily="49" charset="-122"/>
              </a:rPr>
              <a:t>晶粒沿最大变形的方向伸长；</a:t>
            </a:r>
            <a:endParaRPr lang="zh-CN" altLang="en-US" sz="2400" b="1" dirty="0">
              <a:ea typeface="楷体_GB2312" pitchFamily="49" charset="-122"/>
            </a:endParaRPr>
          </a:p>
          <a:p>
            <a:pPr lvl="1" eaLnBrk="1" hangingPunct="1">
              <a:lnSpc>
                <a:spcPct val="90000"/>
              </a:lnSpc>
            </a:pPr>
            <a:r>
              <a:rPr lang="zh-CN" altLang="en-US" sz="2400" b="1" dirty="0">
                <a:ea typeface="楷体_GB2312" pitchFamily="49" charset="-122"/>
              </a:rPr>
              <a:t>晶格与晶粒均发生扭曲，产生内应力；</a:t>
            </a:r>
            <a:endParaRPr lang="zh-CN" altLang="en-US" sz="2400" b="1" dirty="0">
              <a:ea typeface="楷体_GB2312" pitchFamily="49" charset="-122"/>
            </a:endParaRPr>
          </a:p>
          <a:p>
            <a:pPr lvl="1" eaLnBrk="1" hangingPunct="1">
              <a:lnSpc>
                <a:spcPct val="90000"/>
              </a:lnSpc>
            </a:pPr>
            <a:r>
              <a:rPr lang="zh-CN" altLang="en-US" sz="2400" b="1" dirty="0">
                <a:ea typeface="楷体_GB2312" pitchFamily="49" charset="-122"/>
              </a:rPr>
              <a:t>晶粒间产生碎晶。</a:t>
            </a:r>
            <a:endParaRPr lang="zh-CN" altLang="en-US" sz="2400" b="1" dirty="0">
              <a:ea typeface="楷体_GB2312" pitchFamily="49" charset="-122"/>
            </a:endParaRPr>
          </a:p>
          <a:p>
            <a:pPr lvl="1" eaLnBrk="1" hangingPunct="1">
              <a:lnSpc>
                <a:spcPct val="90000"/>
              </a:lnSpc>
            </a:pPr>
            <a:endParaRPr lang="en-US" altLang="zh-CN" sz="2400" dirty="0"/>
          </a:p>
        </p:txBody>
      </p:sp>
      <p:pic>
        <p:nvPicPr>
          <p:cNvPr id="24580" name="图片 1"/>
          <p:cNvPicPr>
            <a:picLocks noChangeAspect="1"/>
          </p:cNvPicPr>
          <p:nvPr/>
        </p:nvPicPr>
        <p:blipFill>
          <a:blip r:embed="rId1"/>
          <a:stretch>
            <a:fillRect/>
          </a:stretch>
        </p:blipFill>
        <p:spPr>
          <a:xfrm>
            <a:off x="6227763" y="3933825"/>
            <a:ext cx="2724150" cy="2667000"/>
          </a:xfrm>
          <a:prstGeom prst="rect">
            <a:avLst/>
          </a:prstGeom>
          <a:noFill/>
          <a:ln w="9525">
            <a:noFill/>
          </a:ln>
        </p:spPr>
      </p:pic>
      <p:pic>
        <p:nvPicPr>
          <p:cNvPr id="24581" name="图片 2"/>
          <p:cNvPicPr>
            <a:picLocks noChangeAspect="1"/>
          </p:cNvPicPr>
          <p:nvPr/>
        </p:nvPicPr>
        <p:blipFill>
          <a:blip r:embed="rId2"/>
          <a:stretch>
            <a:fillRect/>
          </a:stretch>
        </p:blipFill>
        <p:spPr>
          <a:xfrm>
            <a:off x="3784600" y="4448175"/>
            <a:ext cx="2251075" cy="2382838"/>
          </a:xfrm>
          <a:prstGeom prst="rect">
            <a:avLst/>
          </a:prstGeom>
          <a:noFill/>
          <a:ln w="9525">
            <a:noFill/>
          </a:ln>
        </p:spPr>
      </p:pic>
      <p:pic>
        <p:nvPicPr>
          <p:cNvPr id="24582" name="Picture 6"/>
          <p:cNvPicPr>
            <a:picLocks noChangeAspect="1"/>
          </p:cNvPicPr>
          <p:nvPr/>
        </p:nvPicPr>
        <p:blipFill>
          <a:blip r:embed="rId3"/>
          <a:stretch>
            <a:fillRect/>
          </a:stretch>
        </p:blipFill>
        <p:spPr>
          <a:xfrm>
            <a:off x="500063" y="4776788"/>
            <a:ext cx="2881312" cy="20812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6003">
                                            <p:txEl>
                                              <p:charRg st="109" end="124"/>
                                            </p:txEl>
                                          </p:spTgt>
                                        </p:tgtEl>
                                        <p:attrNameLst>
                                          <p:attrName>style.visibility</p:attrName>
                                        </p:attrNameLst>
                                      </p:cBhvr>
                                      <p:to>
                                        <p:strVal val="visible"/>
                                      </p:to>
                                    </p:set>
                                    <p:animEffect transition="in" filter="blinds(horizontal)">
                                      <p:cBhvr>
                                        <p:cTn id="7" dur="500"/>
                                        <p:tgtEl>
                                          <p:spTgt spid="256003">
                                            <p:txEl>
                                              <p:charRg st="109" end="12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56003">
                                            <p:txEl>
                                              <p:charRg st="124" end="138"/>
                                            </p:txEl>
                                          </p:spTgt>
                                        </p:tgtEl>
                                        <p:attrNameLst>
                                          <p:attrName>style.visibility</p:attrName>
                                        </p:attrNameLst>
                                      </p:cBhvr>
                                      <p:to>
                                        <p:strVal val="visible"/>
                                      </p:to>
                                    </p:set>
                                    <p:animEffect transition="in" filter="blinds(horizontal)">
                                      <p:cBhvr>
                                        <p:cTn id="10" dur="500"/>
                                        <p:tgtEl>
                                          <p:spTgt spid="256003">
                                            <p:txEl>
                                              <p:charRg st="124" end="138"/>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56003">
                                            <p:txEl>
                                              <p:charRg st="138" end="156"/>
                                            </p:txEl>
                                          </p:spTgt>
                                        </p:tgtEl>
                                        <p:attrNameLst>
                                          <p:attrName>style.visibility</p:attrName>
                                        </p:attrNameLst>
                                      </p:cBhvr>
                                      <p:to>
                                        <p:strVal val="visible"/>
                                      </p:to>
                                    </p:set>
                                    <p:animEffect transition="in" filter="blinds(horizontal)">
                                      <p:cBhvr>
                                        <p:cTn id="13" dur="500"/>
                                        <p:tgtEl>
                                          <p:spTgt spid="256003">
                                            <p:txEl>
                                              <p:charRg st="138" end="156"/>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56003">
                                            <p:txEl>
                                              <p:charRg st="156" end="165"/>
                                            </p:txEl>
                                          </p:spTgt>
                                        </p:tgtEl>
                                        <p:attrNameLst>
                                          <p:attrName>style.visibility</p:attrName>
                                        </p:attrNameLst>
                                      </p:cBhvr>
                                      <p:to>
                                        <p:strVal val="visible"/>
                                      </p:to>
                                    </p:set>
                                    <p:animEffect transition="in" filter="blinds(horizontal)">
                                      <p:cBhvr>
                                        <p:cTn id="16" dur="500"/>
                                        <p:tgtEl>
                                          <p:spTgt spid="256003">
                                            <p:txEl>
                                              <p:charRg st="156" end="16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a:xfrm>
            <a:off x="2411413" y="234950"/>
            <a:ext cx="6553200" cy="890588"/>
          </a:xfrm>
        </p:spPr>
        <p:txBody>
          <a:bodyPr vert="horz" wrap="square" lIns="91440" tIns="45720" rIns="91440" bIns="45720" anchor="ctr" anchorCtr="0"/>
          <a:p>
            <a:pPr eaLnBrk="1" hangingPunct="1"/>
            <a:r>
              <a:rPr lang="zh-CN" altLang="en-US" sz="3200" dirty="0">
                <a:ea typeface="楷体_GB2312" pitchFamily="49" charset="-122"/>
              </a:rPr>
              <a:t>塑性变形对金属组织和性能的影响</a:t>
            </a:r>
            <a:endParaRPr lang="zh-CN" altLang="en-US" sz="3200" dirty="0">
              <a:ea typeface="楷体_GB2312" pitchFamily="49" charset="-122"/>
            </a:endParaRPr>
          </a:p>
        </p:txBody>
      </p:sp>
      <p:sp>
        <p:nvSpPr>
          <p:cNvPr id="25603" name="Rectangle 3"/>
          <p:cNvSpPr>
            <a:spLocks noGrp="1"/>
          </p:cNvSpPr>
          <p:nvPr>
            <p:ph type="body" sz="half" idx="1"/>
          </p:nvPr>
        </p:nvSpPr>
        <p:spPr>
          <a:xfrm>
            <a:off x="530225" y="1516063"/>
            <a:ext cx="7858125" cy="1912937"/>
          </a:xfrm>
        </p:spPr>
        <p:txBody>
          <a:bodyPr vert="horz" wrap="square" lIns="91440" tIns="45720" rIns="91440" bIns="45720" anchor="t" anchorCtr="0"/>
          <a:p>
            <a:pPr eaLnBrk="1" hangingPunct="1">
              <a:buClrTx/>
              <a:buSzTx/>
              <a:buFontTx/>
            </a:pPr>
            <a:r>
              <a:rPr lang="zh-CN" altLang="en-US" sz="2800" b="1" dirty="0">
                <a:solidFill>
                  <a:srgbClr val="CC3300"/>
                </a:solidFill>
                <a:ea typeface="楷体_GB2312" pitchFamily="49" charset="-122"/>
              </a:rPr>
              <a:t>冷变形强化</a:t>
            </a:r>
            <a:endParaRPr lang="zh-CN" altLang="en-US" sz="2800" b="1" dirty="0">
              <a:solidFill>
                <a:srgbClr val="CC3300"/>
              </a:solidFill>
              <a:ea typeface="楷体_GB2312" pitchFamily="49" charset="-122"/>
            </a:endParaRPr>
          </a:p>
          <a:p>
            <a:pPr lvl="1" eaLnBrk="1" hangingPunct="1"/>
            <a:r>
              <a:rPr lang="zh-CN" altLang="en-US" sz="2400" b="1" dirty="0">
                <a:ea typeface="楷体_GB2312" pitchFamily="49" charset="-122"/>
              </a:rPr>
              <a:t>金属在塑性变形过程中，随着变形程度的增加，强度和硬度提高而塑性和韧性下降的现象称为冷变形强化，又称</a:t>
            </a:r>
            <a:r>
              <a:rPr lang="zh-CN" altLang="en-US" sz="2400" b="1" dirty="0">
                <a:solidFill>
                  <a:srgbClr val="FF0066"/>
                </a:solidFill>
                <a:ea typeface="楷体_GB2312" pitchFamily="49" charset="-122"/>
              </a:rPr>
              <a:t>加工硬化。</a:t>
            </a:r>
            <a:endParaRPr lang="zh-CN" altLang="en-US" sz="2400" b="1" dirty="0">
              <a:solidFill>
                <a:srgbClr val="FF0066"/>
              </a:solidFill>
              <a:ea typeface="楷体_GB2312" pitchFamily="49" charset="-122"/>
            </a:endParaRPr>
          </a:p>
          <a:p>
            <a:pPr lvl="1" eaLnBrk="1" hangingPunct="1"/>
            <a:endParaRPr lang="en-US" altLang="zh-CN" sz="2400" b="1" dirty="0">
              <a:ea typeface="楷体_GB2312" pitchFamily="49" charset="-122"/>
            </a:endParaRPr>
          </a:p>
        </p:txBody>
      </p:sp>
      <p:pic>
        <p:nvPicPr>
          <p:cNvPr id="25604" name="Picture 6"/>
          <p:cNvPicPr/>
          <p:nvPr>
            <p:ph sz="quarter" idx="3"/>
          </p:nvPr>
        </p:nvPicPr>
        <p:blipFill>
          <a:blip r:embed="rId1"/>
          <a:srcRect/>
          <a:stretch>
            <a:fillRect/>
          </a:stretch>
        </p:blipFill>
        <p:spPr>
          <a:xfrm>
            <a:off x="4932363" y="3284538"/>
            <a:ext cx="4211637" cy="3573462"/>
          </a:xfrm>
        </p:spPr>
      </p:pic>
      <p:pic>
        <p:nvPicPr>
          <p:cNvPr id="25605" name="Picture 11"/>
          <p:cNvPicPr>
            <a:picLocks noChangeAspect="1"/>
          </p:cNvPicPr>
          <p:nvPr/>
        </p:nvPicPr>
        <p:blipFill>
          <a:blip r:embed="rId2"/>
          <a:stretch>
            <a:fillRect/>
          </a:stretch>
        </p:blipFill>
        <p:spPr>
          <a:xfrm>
            <a:off x="1331913" y="3933825"/>
            <a:ext cx="3527425" cy="1965325"/>
          </a:xfrm>
          <a:prstGeom prst="rect">
            <a:avLst/>
          </a:prstGeom>
          <a:noFill/>
          <a:ln w="9525">
            <a:noFill/>
          </a:ln>
        </p:spPr>
      </p:pic>
      <p:sp>
        <p:nvSpPr>
          <p:cNvPr id="25606" name="AutoShape 9"/>
          <p:cNvSpPr/>
          <p:nvPr/>
        </p:nvSpPr>
        <p:spPr>
          <a:xfrm>
            <a:off x="71438" y="2852738"/>
            <a:ext cx="1187450" cy="4005262"/>
          </a:xfrm>
          <a:prstGeom prst="wedgeRoundRectCallout">
            <a:avLst>
              <a:gd name="adj1" fmla="val 71125"/>
              <a:gd name="adj2" fmla="val -8116"/>
              <a:gd name="adj3" fmla="val 16667"/>
            </a:avLst>
          </a:prstGeom>
          <a:solidFill>
            <a:srgbClr val="FFC000"/>
          </a:solidFill>
          <a:ln w="9525" cap="flat" cmpd="sng">
            <a:solidFill>
              <a:schemeClr val="tx1"/>
            </a:solidFill>
            <a:prstDash val="solid"/>
            <a:miter/>
            <a:headEnd type="none" w="med" len="med"/>
            <a:tailEnd type="none" w="med" len="med"/>
          </a:ln>
        </p:spPr>
        <p:txBody>
          <a:bodyPr/>
          <a:p>
            <a:pPr algn="ctr" eaLnBrk="1" hangingPunct="1"/>
            <a:r>
              <a:rPr lang="zh-CN" altLang="en-US" dirty="0">
                <a:latin typeface="Arial" panose="020B0604020202020204" pitchFamily="34" charset="0"/>
              </a:rPr>
              <a:t>原因是由于滑移面上</a:t>
            </a:r>
            <a:r>
              <a:rPr lang="zh-CN" altLang="en-US" dirty="0">
                <a:solidFill>
                  <a:srgbClr val="FF0000"/>
                </a:solidFill>
                <a:latin typeface="Arial" panose="020B0604020202020204" pitchFamily="34" charset="0"/>
              </a:rPr>
              <a:t>碎晶块</a:t>
            </a:r>
            <a:r>
              <a:rPr lang="zh-CN" altLang="en-US" dirty="0">
                <a:latin typeface="Arial" panose="020B0604020202020204" pitchFamily="34" charset="0"/>
              </a:rPr>
              <a:t>和附近</a:t>
            </a:r>
            <a:r>
              <a:rPr lang="zh-CN" altLang="en-US" dirty="0">
                <a:solidFill>
                  <a:srgbClr val="FF0000"/>
                </a:solidFill>
                <a:latin typeface="Arial" panose="020B0604020202020204" pitchFamily="34" charset="0"/>
              </a:rPr>
              <a:t>晶格的强烈扭曲</a:t>
            </a:r>
            <a:r>
              <a:rPr lang="zh-CN" altLang="en-US" dirty="0">
                <a:latin typeface="Arial" panose="020B0604020202020204" pitchFamily="34" charset="0"/>
              </a:rPr>
              <a:t>，增大了滑移阻力，使继续滑移难于进行导致。</a:t>
            </a:r>
            <a:endParaRPr lang="zh-CN" altLang="en-US" dirty="0">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标题 1"/>
          <p:cNvSpPr>
            <a:spLocks noGrp="1"/>
          </p:cNvSpPr>
          <p:nvPr>
            <p:ph type="title"/>
          </p:nvPr>
        </p:nvSpPr>
        <p:spPr/>
        <p:txBody>
          <a:bodyPr vert="horz" wrap="square" lIns="91440" tIns="45720" rIns="91440" bIns="45720" anchor="ctr" anchorCtr="0"/>
          <a:p>
            <a:endParaRPr lang="zh-CN" altLang="en-US" dirty="0"/>
          </a:p>
        </p:txBody>
      </p:sp>
      <p:sp>
        <p:nvSpPr>
          <p:cNvPr id="26627" name="文本占位符 2"/>
          <p:cNvSpPr>
            <a:spLocks noGrp="1"/>
          </p:cNvSpPr>
          <p:nvPr>
            <p:ph type="body" sz="half" idx="1"/>
          </p:nvPr>
        </p:nvSpPr>
        <p:spPr/>
        <p:txBody>
          <a:bodyPr vert="horz" wrap="square" lIns="91440" tIns="45720" rIns="91440" bIns="45720" anchor="t" anchorCtr="0"/>
          <a:p>
            <a:pPr>
              <a:buClrTx/>
              <a:buSzTx/>
              <a:buFontTx/>
            </a:pPr>
            <a:endParaRPr lang="zh-CN" altLang="en-US" dirty="0"/>
          </a:p>
        </p:txBody>
      </p:sp>
      <p:sp>
        <p:nvSpPr>
          <p:cNvPr id="26628" name="内容占位符 3"/>
          <p:cNvSpPr>
            <a:spLocks noGrp="1"/>
          </p:cNvSpPr>
          <p:nvPr>
            <p:ph sz="quarter" idx="2"/>
          </p:nvPr>
        </p:nvSpPr>
        <p:spPr/>
        <p:txBody>
          <a:bodyPr vert="horz" wrap="square" lIns="91440" tIns="45720" rIns="91440" bIns="45720" anchor="t" anchorCtr="0"/>
          <a:p>
            <a:pPr>
              <a:buClrTx/>
              <a:buSzTx/>
              <a:buFontTx/>
            </a:pPr>
            <a:endParaRPr lang="zh-CN" altLang="en-US" dirty="0"/>
          </a:p>
        </p:txBody>
      </p:sp>
      <p:sp>
        <p:nvSpPr>
          <p:cNvPr id="26629" name="内容占位符 4"/>
          <p:cNvSpPr>
            <a:spLocks noGrp="1"/>
          </p:cNvSpPr>
          <p:nvPr>
            <p:ph sz="quarter" idx="3"/>
          </p:nvPr>
        </p:nvSpPr>
        <p:spPr/>
        <p:txBody>
          <a:bodyPr vert="horz" wrap="square" lIns="91440" tIns="45720" rIns="91440" bIns="45720" anchor="t" anchorCtr="0"/>
          <a:p>
            <a:pPr>
              <a:buClrTx/>
              <a:buSzTx/>
              <a:buFontTx/>
            </a:pPr>
            <a:endParaRPr lang="zh-CN" altLang="en-US" dirty="0"/>
          </a:p>
        </p:txBody>
      </p:sp>
      <p:pic>
        <p:nvPicPr>
          <p:cNvPr id="26630" name="Picture 2" descr="https://ss0.bdstatic.com/94oJfD_bAAcT8t7mm9GUKT-xh_/timg?image&amp;quality=100&amp;size=b4000_4000&amp;sec=1540780094&amp;di=382de45f5b986d8c9b7877b9cb4cf983&amp;src=http://imgsrc.baidu.com/imgad/pic/item/359b033b5bb5c9ea514f3ecdde39b6003af3b35b.jpg"/>
          <p:cNvPicPr>
            <a:picLocks noChangeAspect="1"/>
          </p:cNvPicPr>
          <p:nvPr/>
        </p:nvPicPr>
        <p:blipFill>
          <a:blip r:embed="rId1"/>
          <a:stretch>
            <a:fillRect/>
          </a:stretch>
        </p:blipFill>
        <p:spPr>
          <a:xfrm>
            <a:off x="214313" y="3714750"/>
            <a:ext cx="4500562" cy="3000375"/>
          </a:xfrm>
          <a:prstGeom prst="rect">
            <a:avLst/>
          </a:prstGeom>
          <a:noFill/>
          <a:ln w="9525">
            <a:noFill/>
          </a:ln>
        </p:spPr>
      </p:pic>
      <p:pic>
        <p:nvPicPr>
          <p:cNvPr id="26631" name="Picture 4" descr="http://s7.sinaimg.cn/large/005YZWgezy6TKVkn8ai06&amp;690"/>
          <p:cNvPicPr>
            <a:picLocks noChangeAspect="1"/>
          </p:cNvPicPr>
          <p:nvPr/>
        </p:nvPicPr>
        <p:blipFill>
          <a:blip r:embed="rId2"/>
          <a:stretch>
            <a:fillRect/>
          </a:stretch>
        </p:blipFill>
        <p:spPr>
          <a:xfrm>
            <a:off x="214313" y="642938"/>
            <a:ext cx="4467225" cy="2959100"/>
          </a:xfrm>
          <a:prstGeom prst="rect">
            <a:avLst/>
          </a:prstGeom>
          <a:noFill/>
          <a:ln w="9525">
            <a:noFill/>
          </a:ln>
        </p:spPr>
      </p:pic>
      <p:pic>
        <p:nvPicPr>
          <p:cNvPr id="26632" name="Picture 9" descr="https://timgsa.baidu.com/timg?image&amp;quality=80&amp;size=b9999_10000&amp;sec=1603785521661&amp;di=726289ba558380ef70b8bc3c0b274464&amp;imgtype=0&amp;src=http%3A%2F%2Fimg.mp.sohu.com%2Fupload%2F20170713%2F3ccf243d0f0049c4bfa19cdc0b6b4770_th.png"/>
          <p:cNvPicPr>
            <a:picLocks noChangeAspect="1"/>
          </p:cNvPicPr>
          <p:nvPr/>
        </p:nvPicPr>
        <p:blipFill>
          <a:blip r:embed="rId3"/>
          <a:stretch>
            <a:fillRect/>
          </a:stretch>
        </p:blipFill>
        <p:spPr>
          <a:xfrm>
            <a:off x="4929188" y="3714750"/>
            <a:ext cx="4000500" cy="3005138"/>
          </a:xfrm>
          <a:prstGeom prst="rect">
            <a:avLst/>
          </a:prstGeom>
          <a:noFill/>
          <a:ln w="9525">
            <a:noFill/>
          </a:ln>
        </p:spPr>
      </p:pic>
      <p:pic>
        <p:nvPicPr>
          <p:cNvPr id="26633" name="Picture 10"/>
          <p:cNvPicPr>
            <a:picLocks noChangeAspect="1"/>
          </p:cNvPicPr>
          <p:nvPr/>
        </p:nvPicPr>
        <p:blipFill>
          <a:blip r:embed="rId4"/>
          <a:stretch>
            <a:fillRect/>
          </a:stretch>
        </p:blipFill>
        <p:spPr>
          <a:xfrm>
            <a:off x="4438650" y="2286000"/>
            <a:ext cx="4705350" cy="1138238"/>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p:nvPr>
        </p:nvSpPr>
        <p:spPr>
          <a:xfrm>
            <a:off x="2590800" y="90488"/>
            <a:ext cx="6373813" cy="1190625"/>
          </a:xfrm>
        </p:spPr>
        <p:txBody>
          <a:bodyPr vert="horz" wrap="square" lIns="91440" tIns="45720" rIns="91440" bIns="45720" anchor="ctr" anchorCtr="0"/>
          <a:p>
            <a:pPr eaLnBrk="1" hangingPunct="1"/>
            <a:r>
              <a:rPr lang="zh-CN" altLang="en-US" sz="3200" dirty="0">
                <a:ea typeface="楷体_GB2312" pitchFamily="49" charset="-122"/>
              </a:rPr>
              <a:t>塑性变形对金属组织</a:t>
            </a:r>
            <a:br>
              <a:rPr lang="en-US" altLang="zh-CN" sz="3200" dirty="0">
                <a:ea typeface="楷体_GB2312" pitchFamily="49" charset="-122"/>
              </a:rPr>
            </a:br>
            <a:r>
              <a:rPr lang="zh-CN" altLang="en-US" sz="3200" dirty="0">
                <a:ea typeface="楷体_GB2312" pitchFamily="49" charset="-122"/>
              </a:rPr>
              <a:t>和性能的影响</a:t>
            </a:r>
            <a:endParaRPr lang="zh-CN" altLang="en-US" sz="3200" dirty="0">
              <a:ea typeface="楷体_GB2312" pitchFamily="49" charset="-122"/>
            </a:endParaRPr>
          </a:p>
        </p:txBody>
      </p:sp>
      <p:sp>
        <p:nvSpPr>
          <p:cNvPr id="27651" name="Rectangle 3"/>
          <p:cNvSpPr>
            <a:spLocks noGrp="1"/>
          </p:cNvSpPr>
          <p:nvPr>
            <p:ph idx="1"/>
          </p:nvPr>
        </p:nvSpPr>
        <p:spPr>
          <a:xfrm>
            <a:off x="323850" y="1341438"/>
            <a:ext cx="8445500" cy="4176712"/>
          </a:xfrm>
        </p:spPr>
        <p:txBody>
          <a:bodyPr vert="horz" wrap="square" lIns="91440" tIns="45720" rIns="91440" bIns="45720" anchor="t" anchorCtr="0"/>
          <a:p>
            <a:pPr eaLnBrk="1" hangingPunct="1"/>
            <a:r>
              <a:rPr lang="zh-CN" altLang="en-US" sz="2800" b="1" dirty="0">
                <a:solidFill>
                  <a:srgbClr val="CC3300"/>
                </a:solidFill>
                <a:latin typeface="楷体_GB2312" pitchFamily="49" charset="-122"/>
                <a:ea typeface="楷体_GB2312" pitchFamily="49" charset="-122"/>
              </a:rPr>
              <a:t>回复与再结晶</a:t>
            </a:r>
            <a:endParaRPr lang="zh-CN" altLang="en-US" sz="2800" b="1" dirty="0">
              <a:solidFill>
                <a:srgbClr val="CC3300"/>
              </a:solidFill>
              <a:latin typeface="楷体_GB2312" pitchFamily="49" charset="-122"/>
              <a:ea typeface="楷体_GB2312" pitchFamily="49" charset="-122"/>
            </a:endParaRPr>
          </a:p>
          <a:p>
            <a:pPr lvl="1" eaLnBrk="1" hangingPunct="1">
              <a:buFont typeface="Wingdings" panose="05000000000000000000" pitchFamily="2" charset="2"/>
              <a:buChar char="Ø"/>
            </a:pPr>
            <a:r>
              <a:rPr lang="zh-CN" altLang="en-US" sz="2000" b="1" dirty="0">
                <a:solidFill>
                  <a:srgbClr val="FF0066"/>
                </a:solidFill>
                <a:latin typeface="楷体_GB2312" pitchFamily="49" charset="-122"/>
                <a:ea typeface="楷体_GB2312" pitchFamily="49" charset="-122"/>
              </a:rPr>
              <a:t>冷变形强化是一种不稳定状态，具有恢复到稳定状态的趋势。</a:t>
            </a:r>
            <a:r>
              <a:rPr lang="zh-CN" altLang="en-US" sz="2000" b="1" dirty="0">
                <a:latin typeface="楷体_GB2312" pitchFamily="49" charset="-122"/>
                <a:ea typeface="楷体_GB2312" pitchFamily="49" charset="-122"/>
              </a:rPr>
              <a:t>当金属温度提高到一定程度，原子热运动加剧，使不规则的原子排列变为规则排列，消除晶格扭曲，内应力大为降低，但晶粒的形状、大小和金属的强度、塑性变化不大，这种现象称为回复（图</a:t>
            </a:r>
            <a:r>
              <a:rPr lang="en-US" altLang="zh-CN" sz="2000" b="1" dirty="0">
                <a:latin typeface="楷体_GB2312" pitchFamily="49" charset="-122"/>
                <a:ea typeface="楷体_GB2312" pitchFamily="49" charset="-122"/>
              </a:rPr>
              <a:t>b</a:t>
            </a:r>
            <a:r>
              <a:rPr lang="zh-CN" altLang="en-US" sz="2000" b="1" dirty="0">
                <a:latin typeface="楷体_GB2312" pitchFamily="49" charset="-122"/>
                <a:ea typeface="楷体_GB2312" pitchFamily="49" charset="-122"/>
              </a:rPr>
              <a:t>）。</a:t>
            </a:r>
            <a:r>
              <a:rPr lang="zh-CN" altLang="en-US" sz="2000" b="1" dirty="0">
                <a:solidFill>
                  <a:srgbClr val="0000FF"/>
                </a:solidFill>
                <a:latin typeface="楷体_GB2312" pitchFamily="49" charset="-122"/>
                <a:ea typeface="楷体_GB2312" pitchFamily="49" charset="-122"/>
              </a:rPr>
              <a:t>这时的温度称为回复温度，即</a:t>
            </a:r>
            <a:r>
              <a:rPr lang="en-US" altLang="zh-CN" sz="2000" b="1" i="1" dirty="0">
                <a:latin typeface="楷体_GB2312" pitchFamily="49" charset="-122"/>
                <a:ea typeface="楷体_GB2312" pitchFamily="49" charset="-122"/>
              </a:rPr>
              <a:t>T</a:t>
            </a:r>
            <a:r>
              <a:rPr lang="zh-CN" altLang="en-US" sz="2000" b="1" baseline="-25000" dirty="0">
                <a:latin typeface="楷体_GB2312" pitchFamily="49" charset="-122"/>
                <a:ea typeface="楷体_GB2312" pitchFamily="49" charset="-122"/>
              </a:rPr>
              <a:t>回</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0.25</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0.3</a:t>
            </a:r>
            <a:r>
              <a:rPr lang="zh-CN" altLang="en-US" sz="2000" b="1" dirty="0">
                <a:latin typeface="楷体_GB2312" pitchFamily="49" charset="-122"/>
                <a:ea typeface="楷体_GB2312" pitchFamily="49" charset="-122"/>
              </a:rPr>
              <a:t>） </a:t>
            </a:r>
            <a:r>
              <a:rPr lang="en-US" altLang="zh-CN" sz="2000" b="1" i="1" dirty="0">
                <a:latin typeface="楷体_GB2312" pitchFamily="49" charset="-122"/>
                <a:ea typeface="楷体_GB2312" pitchFamily="49" charset="-122"/>
              </a:rPr>
              <a:t>T</a:t>
            </a:r>
            <a:r>
              <a:rPr lang="zh-CN" altLang="en-US" sz="2000" b="1" baseline="-25000" dirty="0">
                <a:latin typeface="楷体_GB2312" pitchFamily="49" charset="-122"/>
                <a:ea typeface="楷体_GB2312" pitchFamily="49" charset="-122"/>
              </a:rPr>
              <a:t>熔</a:t>
            </a:r>
            <a:endParaRPr lang="zh-CN" altLang="en-US" sz="2000" b="1" i="1" dirty="0">
              <a:latin typeface="楷体_GB2312" pitchFamily="49" charset="-122"/>
              <a:ea typeface="楷体_GB2312" pitchFamily="49" charset="-122"/>
            </a:endParaRPr>
          </a:p>
          <a:p>
            <a:pPr lvl="1" eaLnBrk="1" hangingPunct="1">
              <a:buFont typeface="Wingdings" panose="05000000000000000000" pitchFamily="2" charset="2"/>
              <a:buChar char="Ø"/>
            </a:pPr>
            <a:r>
              <a:rPr lang="zh-CN" altLang="en-US" sz="2000" b="1" dirty="0">
                <a:latin typeface="楷体_GB2312" pitchFamily="49" charset="-122"/>
                <a:ea typeface="楷体_GB2312" pitchFamily="49" charset="-122"/>
              </a:rPr>
              <a:t>当温度继续升高，金属原子活动具有足够热运动力时，则开始以碎晶或杂质为核心结晶成新的晶粒，从而</a:t>
            </a:r>
            <a:r>
              <a:rPr lang="zh-CN" altLang="en-US" sz="2000" b="1" dirty="0">
                <a:solidFill>
                  <a:srgbClr val="FF0066"/>
                </a:solidFill>
                <a:latin typeface="楷体_GB2312" pitchFamily="49" charset="-122"/>
                <a:ea typeface="楷体_GB2312" pitchFamily="49" charset="-122"/>
              </a:rPr>
              <a:t>消除了冷变形强化现象，这个过程称为再结晶。</a:t>
            </a:r>
            <a:r>
              <a:rPr lang="zh-CN" altLang="en-US" sz="2000" b="1" dirty="0">
                <a:solidFill>
                  <a:srgbClr val="0000FF"/>
                </a:solidFill>
                <a:latin typeface="楷体_GB2312" pitchFamily="49" charset="-122"/>
                <a:ea typeface="楷体_GB2312" pitchFamily="49" charset="-122"/>
              </a:rPr>
              <a:t>这时的温度称为再结晶温度</a:t>
            </a:r>
            <a:r>
              <a:rPr lang="en-US" altLang="zh-CN" sz="2000" b="1" dirty="0">
                <a:solidFill>
                  <a:srgbClr val="0000FF"/>
                </a:solidFill>
                <a:latin typeface="楷体_GB2312" pitchFamily="49" charset="-122"/>
                <a:ea typeface="楷体_GB2312" pitchFamily="49" charset="-122"/>
              </a:rPr>
              <a:t>(</a:t>
            </a:r>
            <a:r>
              <a:rPr lang="zh-CN" altLang="en-US" sz="2000" b="1" dirty="0">
                <a:solidFill>
                  <a:srgbClr val="0000FF"/>
                </a:solidFill>
                <a:latin typeface="楷体_GB2312" pitchFamily="49" charset="-122"/>
                <a:ea typeface="楷体_GB2312" pitchFamily="49" charset="-122"/>
              </a:rPr>
              <a:t>图</a:t>
            </a:r>
            <a:r>
              <a:rPr lang="en-US" altLang="zh-CN" sz="2000" b="1" dirty="0">
                <a:solidFill>
                  <a:srgbClr val="0000FF"/>
                </a:solidFill>
                <a:latin typeface="楷体_GB2312" pitchFamily="49" charset="-122"/>
                <a:ea typeface="楷体_GB2312" pitchFamily="49" charset="-122"/>
              </a:rPr>
              <a:t>c)</a:t>
            </a:r>
            <a:r>
              <a:rPr lang="zh-CN" altLang="en-US" sz="2000" b="1" dirty="0">
                <a:solidFill>
                  <a:srgbClr val="0000FF"/>
                </a:solidFill>
                <a:latin typeface="楷体_GB2312" pitchFamily="49" charset="-122"/>
                <a:ea typeface="楷体_GB2312" pitchFamily="49" charset="-122"/>
              </a:rPr>
              <a:t>，</a:t>
            </a:r>
            <a:r>
              <a:rPr lang="zh-CN" altLang="en-US" sz="2000" b="1" dirty="0">
                <a:latin typeface="楷体_GB2312" pitchFamily="49" charset="-122"/>
                <a:ea typeface="楷体_GB2312" pitchFamily="49" charset="-122"/>
              </a:rPr>
              <a:t>一般为该金属熔点的</a:t>
            </a:r>
            <a:r>
              <a:rPr lang="en-US" altLang="zh-CN" sz="2000" b="1" dirty="0">
                <a:latin typeface="楷体_GB2312" pitchFamily="49" charset="-122"/>
                <a:ea typeface="楷体_GB2312" pitchFamily="49" charset="-122"/>
              </a:rPr>
              <a:t>0.4</a:t>
            </a:r>
            <a:r>
              <a:rPr lang="zh-CN" altLang="en-US" sz="2000" b="1" dirty="0">
                <a:latin typeface="楷体_GB2312" pitchFamily="49" charset="-122"/>
                <a:ea typeface="楷体_GB2312" pitchFamily="49" charset="-122"/>
              </a:rPr>
              <a:t>倍，即</a:t>
            </a:r>
            <a:r>
              <a:rPr lang="en-US" altLang="zh-CN" sz="2000" b="1" i="1" dirty="0">
                <a:latin typeface="楷体_GB2312" pitchFamily="49" charset="-122"/>
                <a:ea typeface="楷体_GB2312" pitchFamily="49" charset="-122"/>
              </a:rPr>
              <a:t>T</a:t>
            </a:r>
            <a:r>
              <a:rPr lang="zh-CN" altLang="en-US" sz="2000" b="1" baseline="-25000" dirty="0">
                <a:latin typeface="楷体_GB2312" pitchFamily="49" charset="-122"/>
                <a:ea typeface="楷体_GB2312" pitchFamily="49" charset="-122"/>
              </a:rPr>
              <a:t>再</a:t>
            </a:r>
            <a:r>
              <a:rPr lang="en-US" altLang="zh-CN" sz="2000" b="1" dirty="0">
                <a:latin typeface="楷体_GB2312" pitchFamily="49" charset="-122"/>
                <a:ea typeface="楷体_GB2312" pitchFamily="49" charset="-122"/>
              </a:rPr>
              <a:t>=0.4 </a:t>
            </a:r>
            <a:r>
              <a:rPr lang="en-US" altLang="zh-CN" sz="2000" b="1" i="1" dirty="0">
                <a:latin typeface="楷体_GB2312" pitchFamily="49" charset="-122"/>
                <a:ea typeface="楷体_GB2312" pitchFamily="49" charset="-122"/>
              </a:rPr>
              <a:t>T</a:t>
            </a:r>
            <a:r>
              <a:rPr lang="zh-CN" altLang="en-US" sz="2000" b="1" baseline="-25000" dirty="0">
                <a:latin typeface="楷体_GB2312" pitchFamily="49" charset="-122"/>
                <a:ea typeface="楷体_GB2312" pitchFamily="49" charset="-122"/>
              </a:rPr>
              <a:t>熔</a:t>
            </a:r>
            <a:endParaRPr lang="zh-CN" altLang="en-US" sz="2000" b="1" i="1" dirty="0">
              <a:latin typeface="楷体_GB2312" pitchFamily="49" charset="-122"/>
              <a:ea typeface="楷体_GB2312" pitchFamily="49" charset="-122"/>
            </a:endParaRPr>
          </a:p>
          <a:p>
            <a:pPr lvl="1" eaLnBrk="1" hangingPunct="1">
              <a:buNone/>
            </a:pPr>
            <a:endParaRPr lang="en-US" altLang="zh-CN" sz="2000" b="1" dirty="0">
              <a:latin typeface="楷体_GB2312" pitchFamily="49" charset="-122"/>
              <a:ea typeface="楷体_GB2312" pitchFamily="49" charset="-122"/>
            </a:endParaRPr>
          </a:p>
        </p:txBody>
      </p:sp>
      <p:pic>
        <p:nvPicPr>
          <p:cNvPr id="27652" name="Picture 13" descr="恢复与再结晶"/>
          <p:cNvPicPr>
            <a:picLocks noChangeAspect="1"/>
          </p:cNvPicPr>
          <p:nvPr/>
        </p:nvPicPr>
        <p:blipFill>
          <a:blip r:embed="rId1"/>
          <a:srcRect b="-294"/>
          <a:stretch>
            <a:fillRect/>
          </a:stretch>
        </p:blipFill>
        <p:spPr>
          <a:xfrm>
            <a:off x="323850" y="4699000"/>
            <a:ext cx="8459788" cy="2159000"/>
          </a:xfrm>
          <a:prstGeom prst="rect">
            <a:avLst/>
          </a:prstGeom>
          <a:solidFill>
            <a:srgbClr val="66CCFF"/>
          </a:solidFill>
          <a:ln w="9525" cap="flat" cmpd="sng">
            <a:solidFill>
              <a:srgbClr val="66CCFF"/>
            </a:solidFill>
            <a:prstDash val="solid"/>
            <a:miter/>
            <a:headEnd type="none" w="med" len="med"/>
            <a:tailEnd type="none" w="med" len="med"/>
          </a:ln>
        </p:spPr>
      </p:pic>
      <p:pic>
        <p:nvPicPr>
          <p:cNvPr id="27653" name="Picture 6" descr="https://timgsa.baidu.com/timg?image&amp;quality=80&amp;size=b9999_10000&amp;sec=1603786333633&amp;di=62337c3cfe0c9396b67334d24637acd6&amp;imgtype=0&amp;src=http%3A%2F%2Fimg.mp.itc.cn%2Fq_70%2Cc_zoom%2Cw_640%2Fupload%2F20161213%2F6099535a64e5453f968764b2f235d66d_th.jpeg"/>
          <p:cNvPicPr>
            <a:picLocks noChangeAspect="1"/>
          </p:cNvPicPr>
          <p:nvPr/>
        </p:nvPicPr>
        <p:blipFill>
          <a:blip r:embed="rId2"/>
          <a:stretch>
            <a:fillRect/>
          </a:stretch>
        </p:blipFill>
        <p:spPr>
          <a:xfrm>
            <a:off x="6410325" y="0"/>
            <a:ext cx="2733675" cy="1762125"/>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标题 1"/>
          <p:cNvSpPr>
            <a:spLocks noGrp="1"/>
          </p:cNvSpPr>
          <p:nvPr>
            <p:ph type="title"/>
          </p:nvPr>
        </p:nvSpPr>
        <p:spPr/>
        <p:txBody>
          <a:bodyPr vert="horz" wrap="square" lIns="91440" tIns="45720" rIns="91440" bIns="45720" anchor="ctr" anchorCtr="0"/>
          <a:p>
            <a:r>
              <a:rPr lang="zh-CN" altLang="en-US" sz="3000" dirty="0">
                <a:ea typeface="楷体_GB2312" pitchFamily="49" charset="-122"/>
              </a:rPr>
              <a:t>塑性变形对金属组织和性能的影响</a:t>
            </a:r>
            <a:endParaRPr lang="zh-CN" altLang="en-US" sz="3000" dirty="0"/>
          </a:p>
        </p:txBody>
      </p:sp>
      <p:sp>
        <p:nvSpPr>
          <p:cNvPr id="28675" name="内容占位符 2"/>
          <p:cNvSpPr>
            <a:spLocks noGrp="1"/>
          </p:cNvSpPr>
          <p:nvPr>
            <p:ph idx="1"/>
          </p:nvPr>
        </p:nvSpPr>
        <p:spPr/>
        <p:txBody>
          <a:bodyPr vert="horz" wrap="square" lIns="91440" tIns="45720" rIns="91440" bIns="45720" anchor="t" anchorCtr="0"/>
          <a:p>
            <a:endParaRPr lang="zh-CN" altLang="en-US" dirty="0"/>
          </a:p>
        </p:txBody>
      </p:sp>
      <p:pic>
        <p:nvPicPr>
          <p:cNvPr id="28676" name="Picture 3"/>
          <p:cNvPicPr>
            <a:picLocks noChangeAspect="1"/>
          </p:cNvPicPr>
          <p:nvPr/>
        </p:nvPicPr>
        <p:blipFill>
          <a:blip r:embed="rId1"/>
          <a:stretch>
            <a:fillRect/>
          </a:stretch>
        </p:blipFill>
        <p:spPr>
          <a:xfrm>
            <a:off x="428625" y="1500188"/>
            <a:ext cx="8132763" cy="4665662"/>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p:nvPr>
        </p:nvSpPr>
        <p:spPr>
          <a:xfrm>
            <a:off x="2590800" y="90488"/>
            <a:ext cx="6553200" cy="1190625"/>
          </a:xfrm>
        </p:spPr>
        <p:txBody>
          <a:bodyPr vert="horz" wrap="square" lIns="91440" tIns="45720" rIns="91440" bIns="45720" anchor="ctr" anchorCtr="0"/>
          <a:p>
            <a:pPr eaLnBrk="1" hangingPunct="1"/>
            <a:r>
              <a:rPr lang="zh-CN" altLang="en-US" sz="3200" dirty="0">
                <a:ea typeface="楷体_GB2312" pitchFamily="49" charset="-122"/>
              </a:rPr>
              <a:t>塑性变形对金属组织和性能的影响</a:t>
            </a:r>
            <a:endParaRPr lang="zh-CN" altLang="en-US" sz="3200" dirty="0">
              <a:ea typeface="楷体_GB2312" pitchFamily="49" charset="-122"/>
            </a:endParaRPr>
          </a:p>
        </p:txBody>
      </p:sp>
      <p:sp>
        <p:nvSpPr>
          <p:cNvPr id="29699" name="Rectangle 6"/>
          <p:cNvSpPr/>
          <p:nvPr/>
        </p:nvSpPr>
        <p:spPr>
          <a:xfrm>
            <a:off x="468313" y="1341438"/>
            <a:ext cx="8088312" cy="2308225"/>
          </a:xfrm>
          <a:prstGeom prst="rect">
            <a:avLst/>
          </a:prstGeom>
          <a:noFill/>
          <a:ln w="9525">
            <a:noFill/>
          </a:ln>
        </p:spPr>
        <p:txBody>
          <a:bodyPr>
            <a:spAutoFit/>
          </a:bodyPr>
          <a:p>
            <a:pPr eaLnBrk="1" hangingPunct="1">
              <a:spcBef>
                <a:spcPct val="50000"/>
              </a:spcBef>
            </a:pPr>
            <a:r>
              <a:rPr lang="en-US" altLang="zh-CN" sz="2400" dirty="0">
                <a:latin typeface="GreekS" pitchFamily="2" charset="0"/>
              </a:rPr>
              <a:t>      </a:t>
            </a:r>
            <a:r>
              <a:rPr lang="zh-CN" altLang="en-US" sz="2400" b="1" dirty="0">
                <a:latin typeface="GreekS" pitchFamily="2" charset="0"/>
                <a:ea typeface="楷体_GB2312" pitchFamily="49" charset="-122"/>
              </a:rPr>
              <a:t>利用金属的冷变形强化可提高金属的强度和硬度，这是工业生产中强化金属材料的一种重要手段。但在压力加工生产中，冷变形强化给金属继续进行塑性变形带来困难，应加以消除。</a:t>
            </a:r>
            <a:r>
              <a:rPr lang="zh-CN" altLang="en-US" sz="2400" b="1" dirty="0">
                <a:solidFill>
                  <a:srgbClr val="0000FF"/>
                </a:solidFill>
                <a:latin typeface="GreekS" pitchFamily="2" charset="0"/>
                <a:ea typeface="楷体_GB2312" pitchFamily="49" charset="-122"/>
              </a:rPr>
              <a:t>在实际生产中，常采用加热的方法使金属发生再结晶，从而再次获得良好塑性。这种工艺操作称为</a:t>
            </a:r>
            <a:r>
              <a:rPr lang="zh-CN" altLang="en-US" sz="2400" b="1" dirty="0">
                <a:solidFill>
                  <a:srgbClr val="FF0066"/>
                </a:solidFill>
                <a:latin typeface="GreekS" pitchFamily="2" charset="0"/>
                <a:ea typeface="楷体_GB2312" pitchFamily="49" charset="-122"/>
              </a:rPr>
              <a:t>再结晶退火。</a:t>
            </a:r>
            <a:endParaRPr lang="zh-CN" altLang="en-US" sz="2400" b="1" dirty="0">
              <a:solidFill>
                <a:srgbClr val="FF0066"/>
              </a:solidFill>
              <a:latin typeface="GreekS" pitchFamily="2" charset="0"/>
              <a:ea typeface="楷体_GB2312" pitchFamily="49" charset="-122"/>
            </a:endParaRPr>
          </a:p>
        </p:txBody>
      </p:sp>
      <p:pic>
        <p:nvPicPr>
          <p:cNvPr id="29700" name="Picture 7" descr="恢复与再结晶"/>
          <p:cNvPicPr>
            <a:picLocks noChangeAspect="1"/>
          </p:cNvPicPr>
          <p:nvPr/>
        </p:nvPicPr>
        <p:blipFill>
          <a:blip r:embed="rId1"/>
          <a:srcRect b="-294"/>
          <a:stretch>
            <a:fillRect/>
          </a:stretch>
        </p:blipFill>
        <p:spPr>
          <a:xfrm>
            <a:off x="468313" y="4221163"/>
            <a:ext cx="8459787" cy="2159000"/>
          </a:xfrm>
          <a:prstGeom prst="rect">
            <a:avLst/>
          </a:prstGeom>
          <a:solidFill>
            <a:srgbClr val="66CCFF"/>
          </a:solidFill>
          <a:ln w="9525" cap="flat" cmpd="sng">
            <a:solidFill>
              <a:srgbClr val="66CCFF"/>
            </a:solidFill>
            <a:prstDash val="solid"/>
            <a:miter/>
            <a:headEnd type="none" w="med" len="med"/>
            <a:tailEnd type="none" w="med" len="me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a:xfrm>
            <a:off x="2473325" y="128588"/>
            <a:ext cx="6346825" cy="1139825"/>
          </a:xfrm>
        </p:spPr>
        <p:txBody>
          <a:bodyPr vert="horz" wrap="square" lIns="91440" tIns="45720" rIns="91440" bIns="45720" anchor="ctr" anchorCtr="0"/>
          <a:p>
            <a:pPr eaLnBrk="1" hangingPunct="1"/>
            <a:r>
              <a:rPr lang="zh-CN" altLang="en-US" sz="3200" dirty="0">
                <a:ea typeface="楷体_GB2312" pitchFamily="49" charset="-122"/>
              </a:rPr>
              <a:t>塑性变形对金属组织和性能的影响</a:t>
            </a:r>
            <a:endParaRPr lang="zh-CN" altLang="en-US" sz="3200" dirty="0">
              <a:ea typeface="楷体_GB2312" pitchFamily="49" charset="-122"/>
            </a:endParaRPr>
          </a:p>
        </p:txBody>
      </p:sp>
      <p:sp>
        <p:nvSpPr>
          <p:cNvPr id="259075" name="Rectangle 3"/>
          <p:cNvSpPr>
            <a:spLocks noGrp="1"/>
          </p:cNvSpPr>
          <p:nvPr>
            <p:ph idx="1"/>
          </p:nvPr>
        </p:nvSpPr>
        <p:spPr>
          <a:xfrm>
            <a:off x="179388" y="2349500"/>
            <a:ext cx="8785225" cy="3027363"/>
          </a:xfrm>
        </p:spPr>
        <p:txBody>
          <a:bodyPr vert="horz" wrap="square" lIns="91440" tIns="45720" rIns="91440" bIns="45720" anchor="t" anchorCtr="0"/>
          <a:p>
            <a:pPr eaLnBrk="1" hangingPunct="1"/>
            <a:r>
              <a:rPr lang="zh-CN" altLang="en-US" sz="2800" b="1" dirty="0">
                <a:solidFill>
                  <a:srgbClr val="CC3300"/>
                </a:solidFill>
                <a:latin typeface="楷体_GB2312" pitchFamily="49" charset="-122"/>
                <a:ea typeface="楷体_GB2312" pitchFamily="49" charset="-122"/>
              </a:rPr>
              <a:t>金属的冷变形和热变形</a:t>
            </a:r>
            <a:endParaRPr lang="zh-CN" altLang="en-US" sz="2800" b="1" dirty="0">
              <a:solidFill>
                <a:srgbClr val="CC3300"/>
              </a:solidFill>
              <a:latin typeface="楷体_GB2312" pitchFamily="49" charset="-122"/>
              <a:ea typeface="楷体_GB2312" pitchFamily="49" charset="-122"/>
            </a:endParaRPr>
          </a:p>
          <a:p>
            <a:pPr lvl="1" eaLnBrk="1" hangingPunct="1"/>
            <a:r>
              <a:rPr lang="zh-CN" altLang="en-US" sz="2400" b="1" dirty="0">
                <a:solidFill>
                  <a:srgbClr val="0000FF"/>
                </a:solidFill>
                <a:latin typeface="楷体_GB2312" pitchFamily="49" charset="-122"/>
                <a:ea typeface="楷体_GB2312" pitchFamily="49" charset="-122"/>
              </a:rPr>
              <a:t>冷变形</a:t>
            </a:r>
            <a:r>
              <a:rPr lang="zh-CN" altLang="en-US" sz="2400" b="1" dirty="0">
                <a:latin typeface="楷体_GB2312" pitchFamily="49" charset="-122"/>
                <a:ea typeface="楷体_GB2312" pitchFamily="49" charset="-122"/>
              </a:rPr>
              <a:t> 金属在再结晶温度以下进行的塑性变形称为冷变形。</a:t>
            </a:r>
            <a:endParaRPr lang="zh-CN" altLang="en-US" sz="2400" b="1" dirty="0">
              <a:latin typeface="楷体_GB2312" pitchFamily="49" charset="-122"/>
              <a:ea typeface="楷体_GB2312" pitchFamily="49" charset="-122"/>
            </a:endParaRPr>
          </a:p>
          <a:p>
            <a:pPr lvl="2" eaLnBrk="1" hangingPunct="1"/>
            <a:r>
              <a:rPr lang="zh-CN" altLang="en-US" b="1" dirty="0">
                <a:solidFill>
                  <a:srgbClr val="008000"/>
                </a:solidFill>
                <a:latin typeface="楷体_GB2312" pitchFamily="49" charset="-122"/>
                <a:ea typeface="楷体_GB2312" pitchFamily="49" charset="-122"/>
              </a:rPr>
              <a:t>优点：</a:t>
            </a:r>
            <a:r>
              <a:rPr lang="zh-CN" altLang="en-US" b="1" dirty="0">
                <a:latin typeface="楷体_GB2312" pitchFamily="49" charset="-122"/>
                <a:ea typeface="楷体_GB2312" pitchFamily="49" charset="-122"/>
              </a:rPr>
              <a:t>工件没有氧化皮，可获得较高公差等级，较小表面粗糙度，强度和硬度较高。</a:t>
            </a:r>
            <a:endParaRPr lang="zh-CN" altLang="en-US" b="1" dirty="0">
              <a:latin typeface="楷体_GB2312" pitchFamily="49" charset="-122"/>
              <a:ea typeface="楷体_GB2312" pitchFamily="49" charset="-122"/>
            </a:endParaRPr>
          </a:p>
          <a:p>
            <a:pPr lvl="2" eaLnBrk="1" hangingPunct="1"/>
            <a:r>
              <a:rPr lang="zh-CN" altLang="en-US" b="1" dirty="0">
                <a:solidFill>
                  <a:srgbClr val="008000"/>
                </a:solidFill>
                <a:latin typeface="楷体_GB2312" pitchFamily="49" charset="-122"/>
                <a:ea typeface="楷体_GB2312" pitchFamily="49" charset="-122"/>
              </a:rPr>
              <a:t>缺点：</a:t>
            </a:r>
            <a:r>
              <a:rPr lang="zh-CN" altLang="en-US" b="1" dirty="0">
                <a:latin typeface="楷体_GB2312" pitchFamily="49" charset="-122"/>
                <a:ea typeface="楷体_GB2312" pitchFamily="49" charset="-122"/>
              </a:rPr>
              <a:t>金属存在残余应力、塑性差，需要中间退火，才能继续变形。</a:t>
            </a:r>
            <a:endParaRPr lang="zh-CN" altLang="en-US" b="1" dirty="0">
              <a:latin typeface="楷体_GB2312" pitchFamily="49" charset="-122"/>
              <a:ea typeface="楷体_GB2312" pitchFamily="49" charset="-122"/>
            </a:endParaRPr>
          </a:p>
        </p:txBody>
      </p:sp>
      <p:sp>
        <p:nvSpPr>
          <p:cNvPr id="30724" name="Rectangle 4"/>
          <p:cNvSpPr/>
          <p:nvPr/>
        </p:nvSpPr>
        <p:spPr>
          <a:xfrm>
            <a:off x="539750" y="1419225"/>
            <a:ext cx="8353425" cy="822325"/>
          </a:xfrm>
          <a:prstGeom prst="rect">
            <a:avLst/>
          </a:prstGeom>
          <a:noFill/>
          <a:ln w="9525">
            <a:noFill/>
          </a:ln>
        </p:spPr>
        <p:txBody>
          <a:bodyPr>
            <a:spAutoFit/>
          </a:bodyPr>
          <a:p>
            <a:pPr eaLnBrk="1" hangingPunct="1">
              <a:spcBef>
                <a:spcPct val="50000"/>
              </a:spcBef>
            </a:pPr>
            <a:r>
              <a:rPr lang="en-US" altLang="zh-CN" dirty="0">
                <a:latin typeface="GreekS" pitchFamily="2" charset="0"/>
              </a:rPr>
              <a:t>       </a:t>
            </a:r>
            <a:r>
              <a:rPr lang="zh-CN" altLang="en-US" sz="2400" b="1" dirty="0">
                <a:latin typeface="GreekS" pitchFamily="2" charset="0"/>
                <a:ea typeface="楷体_GB2312" pitchFamily="49" charset="-122"/>
              </a:rPr>
              <a:t>金属在不同温度下变形对其组织和性能的影响不同，把金属的塑性变形分为冷变形和热变形两种。</a:t>
            </a:r>
            <a:endParaRPr lang="zh-CN" altLang="en-US" sz="2400" b="1" dirty="0">
              <a:latin typeface="GreekS" pitchFamily="2" charset="0"/>
              <a:ea typeface="楷体_GB2312" pitchFamily="49" charset="-122"/>
            </a:endParaRPr>
          </a:p>
        </p:txBody>
      </p:sp>
      <p:pic>
        <p:nvPicPr>
          <p:cNvPr id="30725" name="Picture 18"/>
          <p:cNvPicPr>
            <a:picLocks noChangeAspect="1"/>
          </p:cNvPicPr>
          <p:nvPr/>
        </p:nvPicPr>
        <p:blipFill>
          <a:blip r:embed="rId1"/>
          <a:stretch>
            <a:fillRect/>
          </a:stretch>
        </p:blipFill>
        <p:spPr>
          <a:xfrm>
            <a:off x="3995738" y="4557713"/>
            <a:ext cx="4129087" cy="230028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9075">
                                            <p:txEl>
                                              <p:charRg st="0" end="11"/>
                                            </p:txEl>
                                          </p:spTgt>
                                        </p:tgtEl>
                                        <p:attrNameLst>
                                          <p:attrName>style.visibility</p:attrName>
                                        </p:attrNameLst>
                                      </p:cBhvr>
                                      <p:to>
                                        <p:strVal val="visible"/>
                                      </p:to>
                                    </p:set>
                                    <p:animEffect transition="in" filter="blinds(horizontal)">
                                      <p:cBhvr>
                                        <p:cTn id="7" dur="500"/>
                                        <p:tgtEl>
                                          <p:spTgt spid="259075">
                                            <p:txEl>
                                              <p:charRg st="0" end="1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59075">
                                            <p:txEl>
                                              <p:charRg st="11" end="39"/>
                                            </p:txEl>
                                          </p:spTgt>
                                        </p:tgtEl>
                                        <p:attrNameLst>
                                          <p:attrName>style.visibility</p:attrName>
                                        </p:attrNameLst>
                                      </p:cBhvr>
                                      <p:to>
                                        <p:strVal val="visible"/>
                                      </p:to>
                                    </p:set>
                                    <p:animEffect transition="in" filter="blinds(horizontal)">
                                      <p:cBhvr>
                                        <p:cTn id="12" dur="500"/>
                                        <p:tgtEl>
                                          <p:spTgt spid="259075">
                                            <p:txEl>
                                              <p:charRg st="11" end="39"/>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259075">
                                            <p:txEl>
                                              <p:charRg st="39" end="77"/>
                                            </p:txEl>
                                          </p:spTgt>
                                        </p:tgtEl>
                                        <p:attrNameLst>
                                          <p:attrName>style.visibility</p:attrName>
                                        </p:attrNameLst>
                                      </p:cBhvr>
                                      <p:to>
                                        <p:strVal val="visible"/>
                                      </p:to>
                                    </p:set>
                                    <p:animEffect transition="in" filter="blinds(horizontal)">
                                      <p:cBhvr>
                                        <p:cTn id="15" dur="500"/>
                                        <p:tgtEl>
                                          <p:spTgt spid="259075">
                                            <p:txEl>
                                              <p:charRg st="39" end="77"/>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59075">
                                            <p:txEl>
                                              <p:charRg st="77" end="108"/>
                                            </p:txEl>
                                          </p:spTgt>
                                        </p:tgtEl>
                                        <p:attrNameLst>
                                          <p:attrName>style.visibility</p:attrName>
                                        </p:attrNameLst>
                                      </p:cBhvr>
                                      <p:to>
                                        <p:strVal val="visible"/>
                                      </p:to>
                                    </p:set>
                                    <p:animEffect transition="in" filter="blinds(horizontal)">
                                      <p:cBhvr>
                                        <p:cTn id="18" dur="500"/>
                                        <p:tgtEl>
                                          <p:spTgt spid="259075">
                                            <p:txEl>
                                              <p:charRg st="77" end="10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title"/>
          </p:nvPr>
        </p:nvSpPr>
        <p:spPr>
          <a:xfrm>
            <a:off x="2473325" y="128588"/>
            <a:ext cx="6346825" cy="1139825"/>
          </a:xfrm>
        </p:spPr>
        <p:txBody>
          <a:bodyPr vert="horz" wrap="square" lIns="91440" tIns="45720" rIns="91440" bIns="45720" anchor="ctr" anchorCtr="0"/>
          <a:p>
            <a:pPr eaLnBrk="1" hangingPunct="1"/>
            <a:r>
              <a:rPr lang="zh-CN" altLang="en-US" sz="3200" dirty="0">
                <a:ea typeface="楷体_GB2312" pitchFamily="49" charset="-122"/>
              </a:rPr>
              <a:t>塑性变形对金属组织和性能的影响</a:t>
            </a:r>
            <a:endParaRPr lang="zh-CN" altLang="en-US" sz="3200" dirty="0">
              <a:ea typeface="楷体_GB2312" pitchFamily="49" charset="-122"/>
            </a:endParaRPr>
          </a:p>
        </p:txBody>
      </p:sp>
      <p:sp>
        <p:nvSpPr>
          <p:cNvPr id="1132547" name="Rectangle 3"/>
          <p:cNvSpPr>
            <a:spLocks noGrp="1"/>
          </p:cNvSpPr>
          <p:nvPr>
            <p:ph idx="1"/>
          </p:nvPr>
        </p:nvSpPr>
        <p:spPr>
          <a:xfrm>
            <a:off x="179388" y="1409700"/>
            <a:ext cx="8569325" cy="5187950"/>
          </a:xfrm>
        </p:spPr>
        <p:txBody>
          <a:bodyPr vert="horz" wrap="square" lIns="91440" tIns="45720" rIns="91440" bIns="45720" anchor="t" anchorCtr="0"/>
          <a:p>
            <a:pPr eaLnBrk="1" hangingPunct="1"/>
            <a:r>
              <a:rPr lang="zh-CN" altLang="en-US" sz="2400" b="1" dirty="0">
                <a:solidFill>
                  <a:srgbClr val="CC3300"/>
                </a:solidFill>
                <a:latin typeface="楷体_GB2312" pitchFamily="49" charset="-122"/>
                <a:ea typeface="楷体_GB2312" pitchFamily="49" charset="-122"/>
              </a:rPr>
              <a:t>金属的冷变形和热变形</a:t>
            </a:r>
            <a:endParaRPr lang="zh-CN" altLang="en-US" sz="2800" b="1" dirty="0">
              <a:latin typeface="楷体_GB2312" pitchFamily="49" charset="-122"/>
              <a:ea typeface="楷体_GB2312" pitchFamily="49" charset="-122"/>
            </a:endParaRPr>
          </a:p>
          <a:p>
            <a:pPr lvl="1" eaLnBrk="1" hangingPunct="1"/>
            <a:r>
              <a:rPr lang="zh-CN" altLang="en-US" sz="2000" b="1" dirty="0">
                <a:solidFill>
                  <a:srgbClr val="0000FF"/>
                </a:solidFill>
                <a:latin typeface="楷体_GB2312" pitchFamily="49" charset="-122"/>
                <a:ea typeface="楷体_GB2312" pitchFamily="49" charset="-122"/>
              </a:rPr>
              <a:t>热变形</a:t>
            </a:r>
            <a:r>
              <a:rPr lang="zh-CN" altLang="en-US" sz="2000" b="1" dirty="0">
                <a:latin typeface="楷体_GB2312" pitchFamily="49" charset="-122"/>
                <a:ea typeface="楷体_GB2312" pitchFamily="49" charset="-122"/>
              </a:rPr>
              <a:t>  在再结晶温度以上进行的塑性变形，变形后只有再结晶组织而无冷变形强化现象。</a:t>
            </a:r>
            <a:endParaRPr lang="zh-CN" altLang="en-US" sz="2000" b="1" dirty="0">
              <a:latin typeface="楷体_GB2312" pitchFamily="49" charset="-122"/>
              <a:ea typeface="楷体_GB2312" pitchFamily="49" charset="-122"/>
            </a:endParaRPr>
          </a:p>
          <a:p>
            <a:pPr lvl="2" eaLnBrk="1" hangingPunct="1"/>
            <a:r>
              <a:rPr lang="zh-CN" altLang="en-US" sz="2000" b="1" dirty="0">
                <a:solidFill>
                  <a:srgbClr val="008000"/>
                </a:solidFill>
                <a:latin typeface="楷体_GB2312" pitchFamily="49" charset="-122"/>
                <a:ea typeface="楷体_GB2312" pitchFamily="49" charset="-122"/>
              </a:rPr>
              <a:t>优点：</a:t>
            </a:r>
            <a:r>
              <a:rPr lang="zh-CN" altLang="en-US" sz="2000" b="1" dirty="0">
                <a:latin typeface="楷体_GB2312" pitchFamily="49" charset="-122"/>
                <a:ea typeface="楷体_GB2312" pitchFamily="49" charset="-122"/>
              </a:rPr>
              <a:t>塑性良好，变形抗力低，容易加工变形。经塑性变形及再结晶，使原来存在的不均匀、晶粒粗大的组织得以改善，或将铸锭组织中的气孔、缩松等压合，得到更致密的再结晶组织，力学性能提高。</a:t>
            </a:r>
            <a:endParaRPr lang="zh-CN" altLang="en-US" sz="2000" b="1" dirty="0">
              <a:latin typeface="楷体_GB2312" pitchFamily="49" charset="-122"/>
              <a:ea typeface="楷体_GB2312" pitchFamily="49" charset="-122"/>
            </a:endParaRPr>
          </a:p>
          <a:p>
            <a:pPr lvl="2" eaLnBrk="1" hangingPunct="1"/>
            <a:r>
              <a:rPr lang="zh-CN" altLang="en-US" sz="2000" b="1" dirty="0">
                <a:solidFill>
                  <a:srgbClr val="008000"/>
                </a:solidFill>
                <a:latin typeface="楷体_GB2312" pitchFamily="49" charset="-122"/>
                <a:ea typeface="楷体_GB2312" pitchFamily="49" charset="-122"/>
              </a:rPr>
              <a:t>缺点：</a:t>
            </a:r>
            <a:r>
              <a:rPr lang="zh-CN" altLang="en-US" sz="2000" b="1" dirty="0">
                <a:latin typeface="楷体_GB2312" pitchFamily="49" charset="-122"/>
                <a:ea typeface="楷体_GB2312" pitchFamily="49" charset="-122"/>
              </a:rPr>
              <a:t>高温下，金属容易产生氧化皮，制件的尺寸精度低，表面粗糙。</a:t>
            </a:r>
            <a:endParaRPr lang="zh-CN" altLang="en-US" sz="2000" b="1" dirty="0">
              <a:latin typeface="楷体_GB2312" pitchFamily="49" charset="-122"/>
              <a:ea typeface="楷体_GB2312" pitchFamily="49" charset="-122"/>
            </a:endParaRPr>
          </a:p>
          <a:p>
            <a:pPr lvl="1" eaLnBrk="1" hangingPunct="1">
              <a:buFont typeface="楷体_GB2312" pitchFamily="49" charset="-122"/>
              <a:buChar char="-"/>
            </a:pPr>
            <a:r>
              <a:rPr lang="zh-CN" altLang="en-US" sz="2000" b="1" dirty="0">
                <a:solidFill>
                  <a:srgbClr val="0000FF"/>
                </a:solidFill>
                <a:latin typeface="楷体_GB2312" pitchFamily="49" charset="-122"/>
                <a:ea typeface="楷体_GB2312" pitchFamily="49" charset="-122"/>
              </a:rPr>
              <a:t>温热变形</a:t>
            </a:r>
            <a:endParaRPr lang="zh-CN" altLang="en-US" sz="2000" b="1" dirty="0">
              <a:solidFill>
                <a:srgbClr val="0000FF"/>
              </a:solidFill>
              <a:latin typeface="楷体_GB2312" pitchFamily="49" charset="-122"/>
              <a:ea typeface="楷体_GB2312" pitchFamily="49" charset="-122"/>
            </a:endParaRPr>
          </a:p>
          <a:p>
            <a:pPr lvl="2" eaLnBrk="1" hangingPunct="1">
              <a:buNone/>
            </a:pPr>
            <a:r>
              <a:rPr lang="zh-CN" altLang="en-US" sz="2000" b="1" dirty="0">
                <a:latin typeface="楷体_GB2312" pitchFamily="49" charset="-122"/>
                <a:ea typeface="楷体_GB2312" pitchFamily="49" charset="-122"/>
              </a:rPr>
              <a:t>介于冷变形和热变形之</a:t>
            </a:r>
            <a:endParaRPr lang="zh-CN" altLang="en-US" sz="2000" b="1" dirty="0">
              <a:latin typeface="楷体_GB2312" pitchFamily="49" charset="-122"/>
              <a:ea typeface="楷体_GB2312" pitchFamily="49" charset="-122"/>
            </a:endParaRPr>
          </a:p>
          <a:p>
            <a:pPr lvl="2" eaLnBrk="1" hangingPunct="1">
              <a:buNone/>
            </a:pPr>
            <a:r>
              <a:rPr lang="zh-CN" altLang="en-US" sz="2000" b="1" dirty="0">
                <a:latin typeface="楷体_GB2312" pitchFamily="49" charset="-122"/>
                <a:ea typeface="楷体_GB2312" pitchFamily="49" charset="-122"/>
              </a:rPr>
              <a:t>间的塑性变形。</a:t>
            </a:r>
            <a:endParaRPr lang="zh-CN" altLang="en-US" sz="2000" b="1" dirty="0">
              <a:latin typeface="楷体_GB2312" pitchFamily="49" charset="-122"/>
              <a:ea typeface="楷体_GB2312" pitchFamily="49" charset="-122"/>
            </a:endParaRPr>
          </a:p>
          <a:p>
            <a:pPr lvl="1" eaLnBrk="1" hangingPunct="1">
              <a:buNone/>
            </a:pPr>
            <a:r>
              <a:rPr lang="zh-CN" altLang="en-US" sz="2000" b="1" dirty="0">
                <a:latin typeface="楷体_GB2312" pitchFamily="49" charset="-122"/>
                <a:ea typeface="楷体_GB2312" pitchFamily="49" charset="-122"/>
              </a:rPr>
              <a:t>   温热变形中既有加工硬化，</a:t>
            </a:r>
            <a:endParaRPr lang="zh-CN" altLang="en-US" sz="2000" b="1" dirty="0">
              <a:latin typeface="楷体_GB2312" pitchFamily="49" charset="-122"/>
              <a:ea typeface="楷体_GB2312" pitchFamily="49" charset="-122"/>
            </a:endParaRPr>
          </a:p>
          <a:p>
            <a:pPr lvl="1" eaLnBrk="1" hangingPunct="1">
              <a:buNone/>
            </a:pPr>
            <a:r>
              <a:rPr lang="zh-CN" altLang="en-US" sz="2000" b="1" dirty="0">
                <a:latin typeface="楷体_GB2312" pitchFamily="49" charset="-122"/>
                <a:ea typeface="楷体_GB2312" pitchFamily="49" charset="-122"/>
              </a:rPr>
              <a:t>   又有回复或再结晶现象。</a:t>
            </a:r>
            <a:endParaRPr lang="zh-CN" altLang="en-US" sz="2000" b="1" dirty="0">
              <a:latin typeface="楷体_GB2312" pitchFamily="49" charset="-122"/>
              <a:ea typeface="楷体_GB2312" pitchFamily="49" charset="-122"/>
            </a:endParaRPr>
          </a:p>
        </p:txBody>
      </p:sp>
      <p:pic>
        <p:nvPicPr>
          <p:cNvPr id="31748" name="Picture 5"/>
          <p:cNvPicPr>
            <a:picLocks noChangeAspect="1"/>
          </p:cNvPicPr>
          <p:nvPr/>
        </p:nvPicPr>
        <p:blipFill>
          <a:blip r:embed="rId1"/>
          <a:stretch>
            <a:fillRect/>
          </a:stretch>
        </p:blipFill>
        <p:spPr>
          <a:xfrm>
            <a:off x="4572000" y="4365625"/>
            <a:ext cx="4321175" cy="21526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32547">
                                            <p:txEl>
                                              <p:charRg st="175" end="180"/>
                                            </p:txEl>
                                          </p:spTgt>
                                        </p:tgtEl>
                                        <p:attrNameLst>
                                          <p:attrName>style.visibility</p:attrName>
                                        </p:attrNameLst>
                                      </p:cBhvr>
                                      <p:to>
                                        <p:strVal val="visible"/>
                                      </p:to>
                                    </p:set>
                                    <p:animEffect transition="in" filter="blinds(horizontal)">
                                      <p:cBhvr>
                                        <p:cTn id="7" dur="500"/>
                                        <p:tgtEl>
                                          <p:spTgt spid="1132547">
                                            <p:txEl>
                                              <p:charRg st="175" end="18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1132547">
                                            <p:txEl>
                                              <p:charRg st="180" end="191"/>
                                            </p:txEl>
                                          </p:spTgt>
                                        </p:tgtEl>
                                        <p:attrNameLst>
                                          <p:attrName>style.visibility</p:attrName>
                                        </p:attrNameLst>
                                      </p:cBhvr>
                                      <p:to>
                                        <p:strVal val="visible"/>
                                      </p:to>
                                    </p:set>
                                    <p:animEffect transition="in" filter="diamond(in)">
                                      <p:cBhvr>
                                        <p:cTn id="12" dur="2000"/>
                                        <p:tgtEl>
                                          <p:spTgt spid="1132547">
                                            <p:txEl>
                                              <p:charRg st="180" end="19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1132547">
                                            <p:txEl>
                                              <p:charRg st="191" end="199"/>
                                            </p:txEl>
                                          </p:spTgt>
                                        </p:tgtEl>
                                        <p:attrNameLst>
                                          <p:attrName>style.visibility</p:attrName>
                                        </p:attrNameLst>
                                      </p:cBhvr>
                                      <p:to>
                                        <p:strVal val="visible"/>
                                      </p:to>
                                    </p:set>
                                    <p:animEffect transition="in" filter="diamond(in)">
                                      <p:cBhvr>
                                        <p:cTn id="17" dur="2000"/>
                                        <p:tgtEl>
                                          <p:spTgt spid="1132547">
                                            <p:txEl>
                                              <p:charRg st="191" end="199"/>
                                            </p:txEl>
                                          </p:spTgt>
                                        </p:tgtEl>
                                      </p:cBhvr>
                                    </p:animEffect>
                                  </p:childTnLst>
                                </p:cTn>
                              </p:par>
                              <p:par>
                                <p:cTn id="18" presetID="8" presetClass="entr" presetSubtype="16" fill="hold" nodeType="withEffect">
                                  <p:stCondLst>
                                    <p:cond delay="0"/>
                                  </p:stCondLst>
                                  <p:childTnLst>
                                    <p:set>
                                      <p:cBhvr>
                                        <p:cTn id="19" dur="1" fill="hold">
                                          <p:stCondLst>
                                            <p:cond delay="0"/>
                                          </p:stCondLst>
                                        </p:cTn>
                                        <p:tgtEl>
                                          <p:spTgt spid="1132547">
                                            <p:txEl>
                                              <p:charRg st="199" end="215"/>
                                            </p:txEl>
                                          </p:spTgt>
                                        </p:tgtEl>
                                        <p:attrNameLst>
                                          <p:attrName>style.visibility</p:attrName>
                                        </p:attrNameLst>
                                      </p:cBhvr>
                                      <p:to>
                                        <p:strVal val="visible"/>
                                      </p:to>
                                    </p:set>
                                    <p:animEffect transition="in" filter="diamond(in)">
                                      <p:cBhvr>
                                        <p:cTn id="20" dur="2000"/>
                                        <p:tgtEl>
                                          <p:spTgt spid="1132547">
                                            <p:txEl>
                                              <p:charRg st="199" end="215"/>
                                            </p:txEl>
                                          </p:spTgt>
                                        </p:tgtEl>
                                      </p:cBhvr>
                                    </p:animEffect>
                                  </p:childTnLst>
                                </p:cTn>
                              </p:par>
                              <p:par>
                                <p:cTn id="21" presetID="8" presetClass="entr" presetSubtype="16" fill="hold" nodeType="withEffect">
                                  <p:stCondLst>
                                    <p:cond delay="0"/>
                                  </p:stCondLst>
                                  <p:childTnLst>
                                    <p:set>
                                      <p:cBhvr>
                                        <p:cTn id="22" dur="1" fill="hold">
                                          <p:stCondLst>
                                            <p:cond delay="0"/>
                                          </p:stCondLst>
                                        </p:cTn>
                                        <p:tgtEl>
                                          <p:spTgt spid="1132547">
                                            <p:txEl>
                                              <p:charRg st="215" end="230"/>
                                            </p:txEl>
                                          </p:spTgt>
                                        </p:tgtEl>
                                        <p:attrNameLst>
                                          <p:attrName>style.visibility</p:attrName>
                                        </p:attrNameLst>
                                      </p:cBhvr>
                                      <p:to>
                                        <p:strVal val="visible"/>
                                      </p:to>
                                    </p:set>
                                    <p:animEffect transition="in" filter="diamond(in)">
                                      <p:cBhvr>
                                        <p:cTn id="23" dur="2000"/>
                                        <p:tgtEl>
                                          <p:spTgt spid="1132547">
                                            <p:txEl>
                                              <p:charRg st="215" end="23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p:nvPr/>
        </p:nvSpPr>
        <p:spPr>
          <a:xfrm>
            <a:off x="250825" y="1395413"/>
            <a:ext cx="3816350" cy="4548187"/>
          </a:xfrm>
          <a:prstGeom prst="rect">
            <a:avLst/>
          </a:prstGeom>
          <a:noFill/>
          <a:ln w="9525">
            <a:noFill/>
          </a:ln>
        </p:spPr>
        <p:txBody>
          <a:bodyPr>
            <a:spAutoFit/>
          </a:bodyPr>
          <a:p>
            <a:pPr eaLnBrk="1" hangingPunct="1">
              <a:lnSpc>
                <a:spcPct val="120000"/>
              </a:lnSpc>
            </a:pPr>
            <a:r>
              <a:rPr lang="en-US" altLang="zh-CN" sz="2800" dirty="0">
                <a:solidFill>
                  <a:schemeClr val="bg1"/>
                </a:solidFill>
                <a:latin typeface="楷体_GB2312" pitchFamily="49" charset="-122"/>
                <a:ea typeface="楷体_GB2312" pitchFamily="49" charset="-122"/>
              </a:rPr>
              <a:t>   </a:t>
            </a:r>
            <a:r>
              <a:rPr lang="zh-CN" altLang="en-US" sz="2400" b="1" dirty="0">
                <a:latin typeface="楷体_GB2312" pitchFamily="49" charset="-122"/>
                <a:ea typeface="楷体_GB2312" pitchFamily="49" charset="-122"/>
              </a:rPr>
              <a:t>热变形加工可使金属中的气孔和疏松焊合，并可改善夹杂物、碳化物的形态、大小和分布，提高钢的强度、塑性及冲击韧度。</a:t>
            </a:r>
            <a:endParaRPr lang="zh-CN" altLang="en-US" sz="2400" b="1" dirty="0">
              <a:latin typeface="楷体_GB2312" pitchFamily="49" charset="-122"/>
              <a:ea typeface="楷体_GB2312" pitchFamily="49" charset="-122"/>
            </a:endParaRPr>
          </a:p>
          <a:p>
            <a:pPr eaLnBrk="1" hangingPunct="1">
              <a:lnSpc>
                <a:spcPct val="120000"/>
              </a:lnSpc>
            </a:pPr>
            <a:r>
              <a:rPr lang="zh-CN" altLang="en-US" sz="2400" b="1" dirty="0">
                <a:latin typeface="楷体_GB2312" pitchFamily="49" charset="-122"/>
                <a:ea typeface="楷体_GB2312" pitchFamily="49" charset="-122"/>
              </a:rPr>
              <a:t>    用温热变形得到的工件，其强度和尺寸精度比热变形高，而变形抗力比冷变形低。如温热挤压、半热锻等。</a:t>
            </a:r>
            <a:endParaRPr lang="zh-CN" altLang="en-US" sz="2400" b="1" dirty="0">
              <a:latin typeface="楷体_GB2312" pitchFamily="49" charset="-122"/>
              <a:ea typeface="楷体_GB2312" pitchFamily="49" charset="-122"/>
            </a:endParaRPr>
          </a:p>
        </p:txBody>
      </p:sp>
      <p:pic>
        <p:nvPicPr>
          <p:cNvPr id="32771" name="Picture 3" descr="温锻冷锻复合成形"/>
          <p:cNvPicPr>
            <a:picLocks noChangeAspect="1"/>
          </p:cNvPicPr>
          <p:nvPr/>
        </p:nvPicPr>
        <p:blipFill>
          <a:blip r:embed="rId1"/>
          <a:stretch>
            <a:fillRect/>
          </a:stretch>
        </p:blipFill>
        <p:spPr>
          <a:xfrm>
            <a:off x="4294188" y="1196975"/>
            <a:ext cx="4454525" cy="5473700"/>
          </a:xfrm>
          <a:prstGeom prst="rect">
            <a:avLst/>
          </a:prstGeom>
          <a:noFill/>
          <a:ln w="9525">
            <a:noFill/>
          </a:ln>
        </p:spPr>
      </p:pic>
      <p:sp>
        <p:nvSpPr>
          <p:cNvPr id="32772" name="Rectangle 5"/>
          <p:cNvSpPr/>
          <p:nvPr/>
        </p:nvSpPr>
        <p:spPr>
          <a:xfrm>
            <a:off x="2473325" y="128588"/>
            <a:ext cx="6346825" cy="1139825"/>
          </a:xfrm>
          <a:prstGeom prst="rect">
            <a:avLst/>
          </a:prstGeom>
          <a:noFill/>
          <a:ln w="9525">
            <a:noFill/>
          </a:ln>
        </p:spPr>
        <p:txBody>
          <a:bodyPr anchor="ctr" anchorCtr="0"/>
          <a:p>
            <a:pPr eaLnBrk="1" hangingPunct="1"/>
            <a:r>
              <a:rPr lang="zh-CN" altLang="en-US" sz="3200" b="1" dirty="0">
                <a:solidFill>
                  <a:schemeClr val="tx2"/>
                </a:solidFill>
                <a:latin typeface="Tahoma" panose="020B0604030504040204" pitchFamily="34" charset="0"/>
                <a:ea typeface="楷体_GB2312" pitchFamily="49" charset="-122"/>
              </a:rPr>
              <a:t>塑性变形对金属组织和性能的影响</a:t>
            </a:r>
            <a:endParaRPr lang="zh-CN" altLang="en-US" sz="3200" b="1" dirty="0">
              <a:solidFill>
                <a:schemeClr val="tx2"/>
              </a:solidFill>
              <a:latin typeface="Tahoma" panose="020B0604030504040204" pitchFamily="34" charset="0"/>
              <a:ea typeface="楷体_GB2312" pitchFamily="49" charset="-122"/>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p:nvPr>
        </p:nvSpPr>
        <p:spPr>
          <a:xfrm>
            <a:off x="250825" y="990600"/>
            <a:ext cx="8229600" cy="1143000"/>
          </a:xfrm>
        </p:spPr>
        <p:txBody>
          <a:bodyPr vert="horz" wrap="square" lIns="91440" tIns="45720" rIns="91440" bIns="45720" anchor="ctr" anchorCtr="0"/>
          <a:p>
            <a:pPr eaLnBrk="1" hangingPunct="1">
              <a:buFont typeface="Wingdings" panose="05000000000000000000" pitchFamily="2" charset="2"/>
              <a:buChar char="Ø"/>
            </a:pPr>
            <a:r>
              <a:rPr lang="zh-CN" altLang="en-US" sz="2800" dirty="0">
                <a:solidFill>
                  <a:srgbClr val="FF0000"/>
                </a:solidFill>
                <a:ea typeface="楷体_GB2312" pitchFamily="49" charset="-122"/>
              </a:rPr>
              <a:t>纤维组织</a:t>
            </a:r>
            <a:endParaRPr lang="zh-CN" altLang="en-US" sz="2800" b="0" dirty="0">
              <a:solidFill>
                <a:schemeClr val="bg1"/>
              </a:solidFill>
              <a:latin typeface="楷体_GB2312" pitchFamily="49" charset="-122"/>
              <a:ea typeface="楷体_GB2312" pitchFamily="49" charset="-122"/>
            </a:endParaRPr>
          </a:p>
        </p:txBody>
      </p:sp>
      <p:sp>
        <p:nvSpPr>
          <p:cNvPr id="33795" name="Rectangle 3"/>
          <p:cNvSpPr/>
          <p:nvPr/>
        </p:nvSpPr>
        <p:spPr>
          <a:xfrm>
            <a:off x="250825" y="1797050"/>
            <a:ext cx="8642350" cy="1919288"/>
          </a:xfrm>
          <a:prstGeom prst="rect">
            <a:avLst/>
          </a:prstGeom>
          <a:noFill/>
          <a:ln w="9525">
            <a:noFill/>
          </a:ln>
        </p:spPr>
        <p:txBody>
          <a:bodyPr anchor="ctr" anchorCtr="0">
            <a:spAutoFit/>
          </a:bodyPr>
          <a:p>
            <a:pPr eaLnBrk="1" hangingPunct="1">
              <a:lnSpc>
                <a:spcPct val="120000"/>
              </a:lnSpc>
            </a:pPr>
            <a:r>
              <a:rPr lang="en-US" altLang="zh-CN" sz="2800" dirty="0">
                <a:solidFill>
                  <a:schemeClr val="bg1"/>
                </a:solidFill>
                <a:latin typeface="楷体_GB2312" pitchFamily="49" charset="-122"/>
                <a:ea typeface="楷体_GB2312" pitchFamily="49" charset="-122"/>
              </a:rPr>
              <a:t>   </a:t>
            </a:r>
            <a:r>
              <a:rPr lang="zh-CN" altLang="en-US" sz="2400" b="1" dirty="0">
                <a:solidFill>
                  <a:schemeClr val="bg1"/>
                </a:solidFill>
                <a:latin typeface="楷体_GB2312" pitchFamily="49" charset="-122"/>
                <a:ea typeface="楷体_GB2312" pitchFamily="49" charset="-122"/>
              </a:rPr>
              <a:t>金属在外力作用下进行塑性变形时，金属内部的晶粒也由原来的等轴晶粒（见图</a:t>
            </a:r>
            <a:r>
              <a:rPr lang="en-US" altLang="zh-CN" sz="2400" b="1" dirty="0">
                <a:solidFill>
                  <a:schemeClr val="bg1"/>
                </a:solidFill>
                <a:latin typeface="楷体_GB2312" pitchFamily="49" charset="-122"/>
                <a:ea typeface="楷体_GB2312" pitchFamily="49" charset="-122"/>
              </a:rPr>
              <a:t>a</a:t>
            </a:r>
            <a:r>
              <a:rPr lang="zh-CN" altLang="en-US" sz="2400" b="1" dirty="0">
                <a:solidFill>
                  <a:schemeClr val="bg1"/>
                </a:solidFill>
                <a:latin typeface="楷体_GB2312" pitchFamily="49" charset="-122"/>
                <a:ea typeface="楷体_GB2312" pitchFamily="49" charset="-122"/>
              </a:rPr>
              <a:t>）变为沿加工方向拉长的晶粒，当变形度增加时，晶粒被显著拉长成纤维状，这种组织称为纤维组织</a:t>
            </a:r>
            <a:r>
              <a:rPr lang="en-US" altLang="zh-CN" sz="2400" b="1" dirty="0">
                <a:solidFill>
                  <a:schemeClr val="bg1"/>
                </a:solidFill>
                <a:latin typeface="楷体_GB2312" pitchFamily="49" charset="-122"/>
                <a:ea typeface="楷体_GB2312" pitchFamily="49" charset="-122"/>
              </a:rPr>
              <a:t>(b) </a:t>
            </a:r>
            <a:r>
              <a:rPr lang="zh-CN" altLang="en-US" sz="2400" b="1" dirty="0">
                <a:solidFill>
                  <a:schemeClr val="bg1"/>
                </a:solidFill>
                <a:latin typeface="楷体_GB2312" pitchFamily="49" charset="-122"/>
                <a:ea typeface="楷体_GB2312" pitchFamily="49" charset="-122"/>
              </a:rPr>
              <a:t>。</a:t>
            </a:r>
            <a:endParaRPr lang="zh-CN" altLang="en-US" sz="2400" b="1" dirty="0">
              <a:solidFill>
                <a:schemeClr val="bg1"/>
              </a:solidFill>
              <a:latin typeface="楷体_GB2312" pitchFamily="49" charset="-122"/>
              <a:ea typeface="楷体_GB2312" pitchFamily="49" charset="-122"/>
            </a:endParaRPr>
          </a:p>
        </p:txBody>
      </p:sp>
      <p:pic>
        <p:nvPicPr>
          <p:cNvPr id="33796" name="Picture 4" descr="3-03"/>
          <p:cNvPicPr>
            <a:picLocks noChangeAspect="1"/>
          </p:cNvPicPr>
          <p:nvPr/>
        </p:nvPicPr>
        <p:blipFill>
          <a:blip r:embed="rId1"/>
          <a:stretch>
            <a:fillRect/>
          </a:stretch>
        </p:blipFill>
        <p:spPr>
          <a:xfrm>
            <a:off x="395605" y="3476625"/>
            <a:ext cx="4145280" cy="2941955"/>
          </a:xfrm>
          <a:prstGeom prst="rect">
            <a:avLst/>
          </a:prstGeom>
          <a:noFill/>
          <a:ln w="9525">
            <a:noFill/>
          </a:ln>
        </p:spPr>
      </p:pic>
      <p:pic>
        <p:nvPicPr>
          <p:cNvPr id="33797" name="Picture 5" descr="3-03b"/>
          <p:cNvPicPr>
            <a:picLocks noChangeAspect="1"/>
          </p:cNvPicPr>
          <p:nvPr/>
        </p:nvPicPr>
        <p:blipFill>
          <a:blip r:embed="rId2"/>
          <a:stretch>
            <a:fillRect/>
          </a:stretch>
        </p:blipFill>
        <p:spPr>
          <a:xfrm>
            <a:off x="4643755" y="3529330"/>
            <a:ext cx="3934460" cy="2889250"/>
          </a:xfrm>
          <a:prstGeom prst="rect">
            <a:avLst/>
          </a:prstGeom>
          <a:noFill/>
          <a:ln w="9525">
            <a:noFill/>
          </a:ln>
        </p:spPr>
      </p:pic>
      <p:sp>
        <p:nvSpPr>
          <p:cNvPr id="33798" name="Text Box 6"/>
          <p:cNvSpPr txBox="1"/>
          <p:nvPr/>
        </p:nvSpPr>
        <p:spPr>
          <a:xfrm>
            <a:off x="2236153" y="6490970"/>
            <a:ext cx="463550" cy="366713"/>
          </a:xfrm>
          <a:prstGeom prst="rect">
            <a:avLst/>
          </a:prstGeom>
          <a:noFill/>
          <a:ln w="9525">
            <a:noFill/>
          </a:ln>
        </p:spPr>
        <p:txBody>
          <a:bodyPr wrap="none">
            <a:spAutoFit/>
          </a:bodyPr>
          <a:p>
            <a:pPr eaLnBrk="1" hangingPunct="1"/>
            <a:r>
              <a:rPr lang="en-US" altLang="zh-CN" dirty="0">
                <a:solidFill>
                  <a:schemeClr val="bg1"/>
                </a:solidFill>
                <a:latin typeface="Arial" panose="020B0604020202020204" pitchFamily="34" charset="0"/>
              </a:rPr>
              <a:t>(a)</a:t>
            </a:r>
            <a:endParaRPr lang="en-US" altLang="zh-CN" dirty="0">
              <a:solidFill>
                <a:schemeClr val="bg1"/>
              </a:solidFill>
              <a:latin typeface="Arial" panose="020B0604020202020204" pitchFamily="34" charset="0"/>
            </a:endParaRPr>
          </a:p>
        </p:txBody>
      </p:sp>
      <p:sp>
        <p:nvSpPr>
          <p:cNvPr id="33799" name="Text Box 7"/>
          <p:cNvSpPr txBox="1"/>
          <p:nvPr/>
        </p:nvSpPr>
        <p:spPr>
          <a:xfrm>
            <a:off x="6443980" y="6453188"/>
            <a:ext cx="463550" cy="366712"/>
          </a:xfrm>
          <a:prstGeom prst="rect">
            <a:avLst/>
          </a:prstGeom>
          <a:noFill/>
          <a:ln w="9525">
            <a:noFill/>
          </a:ln>
        </p:spPr>
        <p:txBody>
          <a:bodyPr wrap="none">
            <a:spAutoFit/>
          </a:bodyPr>
          <a:p>
            <a:pPr eaLnBrk="1" hangingPunct="1"/>
            <a:r>
              <a:rPr lang="en-US" altLang="zh-CN" dirty="0">
                <a:solidFill>
                  <a:schemeClr val="bg1"/>
                </a:solidFill>
                <a:latin typeface="Arial" panose="020B0604020202020204" pitchFamily="34" charset="0"/>
              </a:rPr>
              <a:t>(b)</a:t>
            </a:r>
            <a:endParaRPr lang="en-US" altLang="zh-CN" dirty="0">
              <a:solidFill>
                <a:schemeClr val="bg1"/>
              </a:solidFill>
              <a:latin typeface="Arial" panose="020B0604020202020204" pitchFamily="34" charset="0"/>
            </a:endParaRPr>
          </a:p>
        </p:txBody>
      </p:sp>
      <p:sp>
        <p:nvSpPr>
          <p:cNvPr id="33800" name="Rectangle 8"/>
          <p:cNvSpPr/>
          <p:nvPr/>
        </p:nvSpPr>
        <p:spPr>
          <a:xfrm>
            <a:off x="2473325" y="128588"/>
            <a:ext cx="6346825" cy="1139825"/>
          </a:xfrm>
          <a:prstGeom prst="rect">
            <a:avLst/>
          </a:prstGeom>
          <a:noFill/>
          <a:ln w="9525">
            <a:noFill/>
          </a:ln>
        </p:spPr>
        <p:txBody>
          <a:bodyPr anchor="ctr" anchorCtr="0"/>
          <a:p>
            <a:pPr eaLnBrk="1" hangingPunct="1"/>
            <a:r>
              <a:rPr lang="zh-CN" altLang="en-US" sz="3200" b="1" dirty="0">
                <a:solidFill>
                  <a:schemeClr val="tx2"/>
                </a:solidFill>
                <a:latin typeface="Tahoma" panose="020B0604030504040204" pitchFamily="34" charset="0"/>
                <a:ea typeface="楷体_GB2312" pitchFamily="49" charset="-122"/>
              </a:rPr>
              <a:t>塑性变形对金属组织和性能的影响</a:t>
            </a:r>
            <a:endParaRPr lang="zh-CN" altLang="en-US" sz="3200" b="1" dirty="0">
              <a:solidFill>
                <a:schemeClr val="tx2"/>
              </a:solidFill>
              <a:latin typeface="Tahoma" panose="020B0604030504040204" pitchFamily="34" charset="0"/>
              <a:ea typeface="楷体_GB2312" pitchFamily="49"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p:nvPr>
        </p:nvSpPr>
        <p:spPr>
          <a:xfrm>
            <a:off x="2554288" y="234950"/>
            <a:ext cx="6481762" cy="746125"/>
          </a:xfrm>
        </p:spPr>
        <p:txBody>
          <a:bodyPr vert="horz" wrap="square" lIns="91440" tIns="45720" rIns="91440" bIns="45720" anchor="ctr" anchorCtr="0"/>
          <a:p>
            <a:pPr eaLnBrk="1" hangingPunct="1"/>
            <a:r>
              <a:rPr lang="zh-CN" altLang="en-US" sz="3200" dirty="0">
                <a:ea typeface="楷体_GB2312" pitchFamily="49" charset="-122"/>
              </a:rPr>
              <a:t>塑性变形对金属组织和性能的影响</a:t>
            </a:r>
            <a:endParaRPr lang="zh-CN" altLang="en-US" sz="3200" dirty="0">
              <a:ea typeface="楷体_GB2312" pitchFamily="49" charset="-122"/>
            </a:endParaRPr>
          </a:p>
        </p:txBody>
      </p:sp>
      <p:grpSp>
        <p:nvGrpSpPr>
          <p:cNvPr id="2" name="Group 8"/>
          <p:cNvGrpSpPr/>
          <p:nvPr/>
        </p:nvGrpSpPr>
        <p:grpSpPr>
          <a:xfrm>
            <a:off x="5076825" y="3016250"/>
            <a:ext cx="3276600" cy="3581400"/>
            <a:chOff x="3552" y="1920"/>
            <a:chExt cx="2064" cy="2256"/>
          </a:xfrm>
        </p:grpSpPr>
        <p:pic>
          <p:nvPicPr>
            <p:cNvPr id="35846" name="Picture 3"/>
            <p:cNvPicPr>
              <a:picLocks noChangeAspect="1"/>
            </p:cNvPicPr>
            <p:nvPr/>
          </p:nvPicPr>
          <p:blipFill>
            <a:blip r:embed="rId1"/>
            <a:stretch>
              <a:fillRect/>
            </a:stretch>
          </p:blipFill>
          <p:spPr>
            <a:xfrm>
              <a:off x="3552" y="1920"/>
              <a:ext cx="2064" cy="2256"/>
            </a:xfrm>
            <a:prstGeom prst="rect">
              <a:avLst/>
            </a:prstGeom>
            <a:solidFill>
              <a:srgbClr val="CCFFFF"/>
            </a:solidFill>
            <a:ln w="9525">
              <a:noFill/>
            </a:ln>
          </p:spPr>
        </p:pic>
        <p:sp>
          <p:nvSpPr>
            <p:cNvPr id="35847" name="Text Box 7"/>
            <p:cNvSpPr txBox="1"/>
            <p:nvPr/>
          </p:nvSpPr>
          <p:spPr>
            <a:xfrm>
              <a:off x="3696" y="3470"/>
              <a:ext cx="488" cy="212"/>
            </a:xfrm>
            <a:prstGeom prst="rect">
              <a:avLst/>
            </a:prstGeom>
            <a:solidFill>
              <a:srgbClr val="CCFFFF"/>
            </a:solidFill>
            <a:ln w="9525">
              <a:noFill/>
            </a:ln>
          </p:spPr>
          <p:txBody>
            <a:bodyPr wrap="none">
              <a:spAutoFit/>
            </a:bodyPr>
            <a:p>
              <a:pPr eaLnBrk="1" hangingPunct="1"/>
              <a:r>
                <a:rPr lang="en-US" altLang="zh-CN" sz="1200" b="1" dirty="0">
                  <a:solidFill>
                    <a:srgbClr val="000000"/>
                  </a:solidFill>
                  <a:latin typeface="宋体" panose="02010600030101010101" pitchFamily="2" charset="-122"/>
                </a:rPr>
                <a:t> </a:t>
              </a:r>
              <a:r>
                <a:rPr lang="zh-CN" altLang="en-US" sz="1600" b="1" dirty="0">
                  <a:solidFill>
                    <a:srgbClr val="000000"/>
                  </a:solidFill>
                  <a:latin typeface="宋体" panose="02010600030101010101" pitchFamily="2" charset="-122"/>
                </a:rPr>
                <a:t>图</a:t>
              </a:r>
              <a:r>
                <a:rPr lang="en-US" altLang="zh-CN" sz="1600" b="1" dirty="0">
                  <a:solidFill>
                    <a:srgbClr val="000000"/>
                  </a:solidFill>
                  <a:latin typeface="宋体" panose="02010600030101010101" pitchFamily="2" charset="-122"/>
                </a:rPr>
                <a:t>3-7</a:t>
              </a:r>
              <a:endParaRPr lang="en-US" altLang="zh-CN" sz="1600" b="1" dirty="0">
                <a:solidFill>
                  <a:srgbClr val="000000"/>
                </a:solidFill>
                <a:latin typeface="宋体" panose="02010600030101010101" pitchFamily="2" charset="-122"/>
              </a:endParaRPr>
            </a:p>
          </p:txBody>
        </p:sp>
      </p:grpSp>
      <p:sp>
        <p:nvSpPr>
          <p:cNvPr id="35844" name="Rectangle 9"/>
          <p:cNvSpPr/>
          <p:nvPr/>
        </p:nvSpPr>
        <p:spPr>
          <a:xfrm>
            <a:off x="539750" y="1196975"/>
            <a:ext cx="8135938" cy="1616075"/>
          </a:xfrm>
          <a:prstGeom prst="rect">
            <a:avLst/>
          </a:prstGeom>
          <a:noFill/>
          <a:ln w="9525">
            <a:noFill/>
          </a:ln>
        </p:spPr>
        <p:txBody>
          <a:bodyPr>
            <a:spAutoFit/>
          </a:bodyPr>
          <a:p>
            <a:pPr eaLnBrk="1" hangingPunct="1">
              <a:spcBef>
                <a:spcPct val="50000"/>
              </a:spcBef>
            </a:pPr>
            <a:r>
              <a:rPr lang="en-US" altLang="zh-CN" dirty="0">
                <a:latin typeface="GreekS" pitchFamily="2" charset="0"/>
              </a:rPr>
              <a:t>       </a:t>
            </a:r>
            <a:r>
              <a:rPr lang="zh-CN" altLang="en-US" sz="2000" b="1" dirty="0">
                <a:solidFill>
                  <a:srgbClr val="0000FF"/>
                </a:solidFill>
                <a:latin typeface="GreekS" pitchFamily="2" charset="0"/>
                <a:ea typeface="楷体_GB2312" pitchFamily="49" charset="-122"/>
              </a:rPr>
              <a:t>纤维组织的稳定性很高，不能用热处理方法加以消除。</a:t>
            </a:r>
            <a:r>
              <a:rPr lang="zh-CN" altLang="en-US" sz="2000" b="1" dirty="0">
                <a:latin typeface="GreekS" pitchFamily="2" charset="0"/>
                <a:ea typeface="楷体_GB2312" pitchFamily="49" charset="-122"/>
              </a:rPr>
              <a:t>只有经过锻压使金属变形，才能改变其方向和形状。因此，为了获得具有最好力学性能的零件，在设计和制造零件时，都应使零件在工作中产生的</a:t>
            </a:r>
            <a:r>
              <a:rPr lang="zh-CN" altLang="en-US" sz="2000" b="1" dirty="0">
                <a:solidFill>
                  <a:srgbClr val="FF0066"/>
                </a:solidFill>
                <a:latin typeface="GreekS" pitchFamily="2" charset="0"/>
                <a:ea typeface="楷体_GB2312" pitchFamily="49" charset="-122"/>
              </a:rPr>
              <a:t>最大正应力方向与纤维方向重合，最大切应力方向与纤维方向垂直。</a:t>
            </a:r>
            <a:r>
              <a:rPr lang="zh-CN" altLang="en-US" sz="2000" b="1" dirty="0">
                <a:latin typeface="GreekS" pitchFamily="2" charset="0"/>
                <a:ea typeface="楷体_GB2312" pitchFamily="49" charset="-122"/>
              </a:rPr>
              <a:t>并使纤维分布与零件的轮廓相符合，尽量使纤维组织不被切断。</a:t>
            </a:r>
            <a:endParaRPr lang="zh-CN" altLang="en-US" sz="2000" b="1" dirty="0">
              <a:latin typeface="GreekS" pitchFamily="2" charset="0"/>
              <a:ea typeface="楷体_GB2312" pitchFamily="49" charset="-122"/>
            </a:endParaRPr>
          </a:p>
        </p:txBody>
      </p:sp>
      <p:sp>
        <p:nvSpPr>
          <p:cNvPr id="261130" name="Rectangle 10"/>
          <p:cNvSpPr/>
          <p:nvPr/>
        </p:nvSpPr>
        <p:spPr>
          <a:xfrm>
            <a:off x="609600" y="3327400"/>
            <a:ext cx="4106863" cy="2835275"/>
          </a:xfrm>
          <a:prstGeom prst="rect">
            <a:avLst/>
          </a:prstGeom>
          <a:noFill/>
          <a:ln w="9525">
            <a:noFill/>
          </a:ln>
        </p:spPr>
        <p:txBody>
          <a:bodyPr>
            <a:spAutoFit/>
          </a:bodyPr>
          <a:p>
            <a:pPr eaLnBrk="1" hangingPunct="1">
              <a:spcBef>
                <a:spcPct val="50000"/>
              </a:spcBef>
            </a:pPr>
            <a:r>
              <a:rPr lang="en-US" altLang="zh-CN" sz="2000" b="1" dirty="0">
                <a:latin typeface="宋体" panose="02010600030101010101" pitchFamily="2" charset="-122"/>
              </a:rPr>
              <a:t>   </a:t>
            </a:r>
            <a:r>
              <a:rPr lang="zh-CN" altLang="en-US" sz="2000" b="1" dirty="0">
                <a:latin typeface="楷体_GB2312" pitchFamily="49" charset="-122"/>
                <a:ea typeface="楷体_GB2312" pitchFamily="49" charset="-122"/>
              </a:rPr>
              <a:t>如图：当采用棒料直接经切削加工制造螺钉时，</a:t>
            </a:r>
            <a:r>
              <a:rPr lang="zh-CN" altLang="en-US" sz="2000" b="1" dirty="0">
                <a:solidFill>
                  <a:srgbClr val="FF0066"/>
                </a:solidFill>
                <a:latin typeface="楷体_GB2312" pitchFamily="49" charset="-122"/>
                <a:ea typeface="楷体_GB2312" pitchFamily="49" charset="-122"/>
              </a:rPr>
              <a:t>螺钉头部与杆部的纤维被切断，</a:t>
            </a:r>
            <a:r>
              <a:rPr lang="zh-CN" altLang="en-US" sz="2000" b="1" dirty="0">
                <a:latin typeface="楷体_GB2312" pitchFamily="49" charset="-122"/>
                <a:ea typeface="楷体_GB2312" pitchFamily="49" charset="-122"/>
              </a:rPr>
              <a:t>不能连贯起来，受力时产生的切应力顺着纤维方向，故螺钉的承载能力较弱（图</a:t>
            </a:r>
            <a:r>
              <a:rPr lang="en-US" altLang="zh-CN" sz="2000" b="1" dirty="0">
                <a:latin typeface="楷体_GB2312" pitchFamily="49" charset="-122"/>
                <a:ea typeface="楷体_GB2312" pitchFamily="49" charset="-122"/>
              </a:rPr>
              <a:t>a</a:t>
            </a:r>
            <a:r>
              <a:rPr lang="zh-CN" altLang="en-US" sz="2000" b="1" dirty="0">
                <a:latin typeface="楷体_GB2312" pitchFamily="49" charset="-122"/>
                <a:ea typeface="楷体_GB2312" pitchFamily="49" charset="-122"/>
              </a:rPr>
              <a:t>）。当采用同样棒料经局部镦粗方法制造螺钉时（图</a:t>
            </a:r>
            <a:r>
              <a:rPr lang="en-US" altLang="zh-CN" sz="2000" b="1" dirty="0">
                <a:latin typeface="楷体_GB2312" pitchFamily="49" charset="-122"/>
                <a:ea typeface="楷体_GB2312" pitchFamily="49" charset="-122"/>
              </a:rPr>
              <a:t>b</a:t>
            </a:r>
            <a:r>
              <a:rPr lang="zh-CN" altLang="en-US" sz="2000" b="1" dirty="0">
                <a:latin typeface="楷体_GB2312" pitchFamily="49" charset="-122"/>
                <a:ea typeface="楷体_GB2312" pitchFamily="49" charset="-122"/>
              </a:rPr>
              <a:t>）。则</a:t>
            </a:r>
            <a:r>
              <a:rPr lang="zh-CN" altLang="en-US" sz="2000" b="1" dirty="0">
                <a:solidFill>
                  <a:srgbClr val="FF0066"/>
                </a:solidFill>
                <a:latin typeface="楷体_GB2312" pitchFamily="49" charset="-122"/>
                <a:ea typeface="楷体_GB2312" pitchFamily="49" charset="-122"/>
              </a:rPr>
              <a:t>纤维不被切断。</a:t>
            </a:r>
            <a:r>
              <a:rPr lang="zh-CN" altLang="en-US" sz="2000" b="1" dirty="0">
                <a:latin typeface="楷体_GB2312" pitchFamily="49" charset="-122"/>
                <a:ea typeface="楷体_GB2312" pitchFamily="49" charset="-122"/>
              </a:rPr>
              <a:t>连贯性好，纤维方向也较为有利，故螺钉质量较好。</a:t>
            </a:r>
            <a:endParaRPr lang="zh-CN" altLang="en-US" sz="2000" b="1"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61130">
                                            <p:txEl>
                                              <p:charRg st="0" end="132"/>
                                            </p:txEl>
                                          </p:spTgt>
                                        </p:tgtEl>
                                        <p:attrNameLst>
                                          <p:attrName>style.visibility</p:attrName>
                                        </p:attrNameLst>
                                      </p:cBhvr>
                                      <p:to>
                                        <p:strVal val="visible"/>
                                      </p:to>
                                    </p:set>
                                    <p:animEffect transition="in" filter="blinds(horizontal)">
                                      <p:cBhvr>
                                        <p:cTn id="13" dur="500"/>
                                        <p:tgtEl>
                                          <p:spTgt spid="261130">
                                            <p:txEl>
                                              <p:charRg st="0" end="13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p:cNvSpPr>
          <p:nvPr>
            <p:ph type="title"/>
          </p:nvPr>
        </p:nvSpPr>
        <p:spPr>
          <a:xfrm>
            <a:off x="2555875" y="222250"/>
            <a:ext cx="6480175" cy="903288"/>
          </a:xfrm>
        </p:spPr>
        <p:txBody>
          <a:bodyPr vert="horz" wrap="square" lIns="91440" tIns="45720" rIns="91440" bIns="45720" anchor="ctr" anchorCtr="0"/>
          <a:p>
            <a:pPr eaLnBrk="1" hangingPunct="1"/>
            <a:r>
              <a:rPr lang="zh-CN" altLang="en-US" sz="3200" dirty="0">
                <a:ea typeface="楷体_GB2312" pitchFamily="49" charset="-122"/>
              </a:rPr>
              <a:t>塑性变形对金属组织和性能的影响</a:t>
            </a:r>
            <a:endParaRPr lang="zh-CN" altLang="en-US" sz="3200" dirty="0">
              <a:ea typeface="楷体_GB2312" pitchFamily="49" charset="-122"/>
            </a:endParaRPr>
          </a:p>
        </p:txBody>
      </p:sp>
      <p:pic>
        <p:nvPicPr>
          <p:cNvPr id="34819" name="Picture 15" descr="锻造流线"/>
          <p:cNvPicPr>
            <a:picLocks noChangeAspect="1"/>
          </p:cNvPicPr>
          <p:nvPr/>
        </p:nvPicPr>
        <p:blipFill>
          <a:blip r:embed="rId1"/>
          <a:stretch>
            <a:fillRect/>
          </a:stretch>
        </p:blipFill>
        <p:spPr>
          <a:xfrm>
            <a:off x="827088" y="1268413"/>
            <a:ext cx="7416800" cy="3495675"/>
          </a:xfrm>
          <a:prstGeom prst="rect">
            <a:avLst/>
          </a:prstGeom>
          <a:noFill/>
          <a:ln w="9525">
            <a:noFill/>
          </a:ln>
        </p:spPr>
      </p:pic>
      <p:grpSp>
        <p:nvGrpSpPr>
          <p:cNvPr id="34820" name="Group 17"/>
          <p:cNvGrpSpPr/>
          <p:nvPr/>
        </p:nvGrpSpPr>
        <p:grpSpPr>
          <a:xfrm>
            <a:off x="1079026" y="4865500"/>
            <a:ext cx="6986989" cy="1694582"/>
            <a:chOff x="966" y="3224"/>
            <a:chExt cx="3504" cy="1394"/>
          </a:xfrm>
        </p:grpSpPr>
        <p:sp>
          <p:nvSpPr>
            <p:cNvPr id="34822" name="Text Box 19"/>
            <p:cNvSpPr txBox="1"/>
            <p:nvPr/>
          </p:nvSpPr>
          <p:spPr>
            <a:xfrm>
              <a:off x="966" y="3480"/>
              <a:ext cx="3504" cy="1138"/>
            </a:xfrm>
            <a:prstGeom prst="rect">
              <a:avLst/>
            </a:prstGeom>
            <a:solidFill>
              <a:srgbClr val="FFCC66"/>
            </a:solidFill>
            <a:ln w="9525">
              <a:noFill/>
            </a:ln>
          </p:spPr>
          <p:txBody>
            <a:bodyPr>
              <a:spAutoFit/>
            </a:bodyPr>
            <a:p>
              <a:pPr eaLnBrk="1" hangingPunct="1"/>
              <a:r>
                <a:rPr lang="zh-CN" altLang="en-US" sz="2400" b="1" dirty="0">
                  <a:solidFill>
                    <a:srgbClr val="0000FF"/>
                  </a:solidFill>
                  <a:latin typeface="楷体_GB2312" pitchFamily="49" charset="-122"/>
                  <a:ea typeface="楷体_GB2312" pitchFamily="49" charset="-122"/>
                </a:rPr>
                <a:t>锻造流线：</a:t>
              </a:r>
              <a:r>
                <a:rPr lang="zh-CN" altLang="en-US" sz="2400" b="1" dirty="0">
                  <a:solidFill>
                    <a:srgbClr val="000000"/>
                  </a:solidFill>
                  <a:latin typeface="楷体_GB2312" pitchFamily="49" charset="-122"/>
                  <a:ea typeface="楷体_GB2312" pitchFamily="49" charset="-122"/>
                </a:rPr>
                <a:t>沿着流线方向拉伸时，有较高的抗拉强度。沿着流线方向剪切时，有较高的抗剪强度。</a:t>
              </a:r>
              <a:endParaRPr lang="zh-CN" altLang="en-US" sz="2400" b="1" dirty="0">
                <a:solidFill>
                  <a:srgbClr val="000000"/>
                </a:solidFill>
                <a:latin typeface="楷体_GB2312" pitchFamily="49" charset="-122"/>
                <a:ea typeface="楷体_GB2312" pitchFamily="49" charset="-122"/>
              </a:endParaRPr>
            </a:p>
            <a:p>
              <a:pPr eaLnBrk="1" hangingPunct="1">
                <a:spcBef>
                  <a:spcPct val="50000"/>
                </a:spcBef>
              </a:pPr>
              <a:endParaRPr lang="en-US" altLang="zh-CN" sz="2400" b="1" dirty="0">
                <a:solidFill>
                  <a:srgbClr val="000000"/>
                </a:solidFill>
                <a:latin typeface="楷体_GB2312" pitchFamily="49" charset="-122"/>
                <a:ea typeface="楷体_GB2312" pitchFamily="49" charset="-122"/>
              </a:endParaRPr>
            </a:p>
          </p:txBody>
        </p:sp>
        <p:sp>
          <p:nvSpPr>
            <p:cNvPr id="34823" name="Line 20"/>
            <p:cNvSpPr/>
            <p:nvPr/>
          </p:nvSpPr>
          <p:spPr>
            <a:xfrm flipV="1">
              <a:off x="1768" y="3240"/>
              <a:ext cx="0" cy="240"/>
            </a:xfrm>
            <a:prstGeom prst="line">
              <a:avLst/>
            </a:prstGeom>
            <a:ln w="9525">
              <a:noFill/>
            </a:ln>
          </p:spPr>
        </p:sp>
        <p:sp>
          <p:nvSpPr>
            <p:cNvPr id="34824" name="Line 21"/>
            <p:cNvSpPr/>
            <p:nvPr/>
          </p:nvSpPr>
          <p:spPr>
            <a:xfrm flipV="1">
              <a:off x="3528" y="3224"/>
              <a:ext cx="0" cy="240"/>
            </a:xfrm>
            <a:prstGeom prst="line">
              <a:avLst/>
            </a:prstGeom>
            <a:ln w="9525">
              <a:noFill/>
            </a:ln>
          </p:spPr>
        </p:sp>
        <p:sp>
          <p:nvSpPr>
            <p:cNvPr id="34825" name="Line 22"/>
            <p:cNvSpPr/>
            <p:nvPr/>
          </p:nvSpPr>
          <p:spPr>
            <a:xfrm flipV="1">
              <a:off x="4176" y="3232"/>
              <a:ext cx="0" cy="240"/>
            </a:xfrm>
            <a:prstGeom prst="line">
              <a:avLst/>
            </a:prstGeom>
            <a:ln w="9525">
              <a:noFill/>
            </a:ln>
          </p:spPr>
        </p:sp>
        <p:sp>
          <p:nvSpPr>
            <p:cNvPr id="34826" name="Line 23"/>
            <p:cNvSpPr/>
            <p:nvPr/>
          </p:nvSpPr>
          <p:spPr>
            <a:xfrm flipV="1">
              <a:off x="2296" y="3240"/>
              <a:ext cx="0" cy="240"/>
            </a:xfrm>
            <a:prstGeom prst="line">
              <a:avLst/>
            </a:prstGeom>
            <a:ln w="9525">
              <a:noFill/>
            </a:ln>
          </p:spPr>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标题 1"/>
          <p:cNvSpPr>
            <a:spLocks noGrp="1"/>
          </p:cNvSpPr>
          <p:nvPr>
            <p:ph type="title"/>
          </p:nvPr>
        </p:nvSpPr>
        <p:spPr/>
        <p:txBody>
          <a:bodyPr vert="horz" wrap="square" lIns="91440" tIns="45720" rIns="91440" bIns="45720" anchor="ctr" anchorCtr="0"/>
          <a:p>
            <a:endParaRPr lang="zh-CN" altLang="en-US" dirty="0"/>
          </a:p>
        </p:txBody>
      </p:sp>
      <p:sp>
        <p:nvSpPr>
          <p:cNvPr id="36867" name="内容占位符 2"/>
          <p:cNvSpPr>
            <a:spLocks noGrp="1"/>
          </p:cNvSpPr>
          <p:nvPr>
            <p:ph idx="1"/>
          </p:nvPr>
        </p:nvSpPr>
        <p:spPr/>
        <p:txBody>
          <a:bodyPr vert="horz" wrap="square" lIns="91440" tIns="45720" rIns="91440" bIns="45720" anchor="t" anchorCtr="0"/>
          <a:p>
            <a:endParaRPr lang="zh-CN" altLang="en-US" dirty="0"/>
          </a:p>
        </p:txBody>
      </p:sp>
      <p:pic>
        <p:nvPicPr>
          <p:cNvPr id="36868" name="Picture 2"/>
          <p:cNvPicPr>
            <a:picLocks noChangeAspect="1"/>
          </p:cNvPicPr>
          <p:nvPr/>
        </p:nvPicPr>
        <p:blipFill>
          <a:blip r:embed="rId1"/>
          <a:stretch>
            <a:fillRect/>
          </a:stretch>
        </p:blipFill>
        <p:spPr>
          <a:xfrm>
            <a:off x="179070" y="1772920"/>
            <a:ext cx="8597900" cy="4723130"/>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标题 1"/>
          <p:cNvSpPr>
            <a:spLocks noGrp="1"/>
          </p:cNvSpPr>
          <p:nvPr>
            <p:ph type="title"/>
          </p:nvPr>
        </p:nvSpPr>
        <p:spPr/>
        <p:txBody>
          <a:bodyPr vert="horz" wrap="square" lIns="91440" tIns="45720" rIns="91440" bIns="45720" anchor="ctr" anchorCtr="0"/>
          <a:p>
            <a:r>
              <a:rPr lang="zh-CN" altLang="en-US" dirty="0"/>
              <a:t>上节回顾</a:t>
            </a:r>
            <a:endParaRPr lang="zh-CN" altLang="en-US" dirty="0"/>
          </a:p>
        </p:txBody>
      </p:sp>
      <p:sp>
        <p:nvSpPr>
          <p:cNvPr id="37891" name="内容占位符 2"/>
          <p:cNvSpPr>
            <a:spLocks noGrp="1"/>
          </p:cNvSpPr>
          <p:nvPr>
            <p:ph idx="1"/>
          </p:nvPr>
        </p:nvSpPr>
        <p:spPr/>
        <p:txBody>
          <a:bodyPr vert="horz" wrap="square" lIns="91440" tIns="45720" rIns="91440" bIns="45720" anchor="t" anchorCtr="0"/>
          <a:p>
            <a:r>
              <a:rPr lang="zh-CN" altLang="en-US" sz="2400" dirty="0">
                <a:latin typeface="华文楷体" panose="02010600040101010101" pitchFamily="2" charset="-122"/>
                <a:ea typeface="华文楷体" panose="02010600040101010101" pitchFamily="2" charset="-122"/>
              </a:rPr>
              <a:t>什么是塑性加工？塑性加工有何特点？为什么？</a:t>
            </a:r>
            <a:endParaRPr lang="en-US" altLang="zh-CN" sz="2400" dirty="0">
              <a:latin typeface="华文楷体" panose="02010600040101010101" pitchFamily="2" charset="-122"/>
              <a:ea typeface="华文楷体" panose="02010600040101010101" pitchFamily="2" charset="-122"/>
            </a:endParaRPr>
          </a:p>
          <a:p>
            <a:pPr lvl="1"/>
            <a:r>
              <a:rPr lang="zh-CN" altLang="en-US" sz="2400" dirty="0">
                <a:latin typeface="华文楷体" panose="02010600040101010101" pitchFamily="2" charset="-122"/>
                <a:ea typeface="华文楷体" panose="02010600040101010101" pitchFamily="2" charset="-122"/>
              </a:rPr>
              <a:t>金属材料在一定的外力作用下，利用其塑性而使其改变形状、尺寸和改善性能，获得型材、棒材、板材、线材或锻压件的加工方法；</a:t>
            </a:r>
            <a:endParaRPr lang="en-US" altLang="zh-CN" sz="2400" dirty="0">
              <a:latin typeface="华文楷体" panose="02010600040101010101" pitchFamily="2" charset="-122"/>
              <a:ea typeface="华文楷体" panose="02010600040101010101" pitchFamily="2" charset="-122"/>
            </a:endParaRPr>
          </a:p>
          <a:p>
            <a:pPr lvl="1"/>
            <a:endParaRPr lang="en-US" altLang="zh-CN" sz="2400" dirty="0">
              <a:latin typeface="华文楷体" panose="02010600040101010101" pitchFamily="2" charset="-122"/>
              <a:ea typeface="华文楷体" panose="02010600040101010101" pitchFamily="2" charset="-122"/>
            </a:endParaRPr>
          </a:p>
          <a:p>
            <a:pPr lvl="1"/>
            <a:endParaRPr lang="en-US" altLang="zh-CN" sz="2400" dirty="0">
              <a:latin typeface="华文楷体" panose="02010600040101010101" pitchFamily="2" charset="-122"/>
              <a:ea typeface="华文楷体" panose="02010600040101010101" pitchFamily="2" charset="-122"/>
            </a:endParaRPr>
          </a:p>
          <a:p>
            <a:pPr lvl="1"/>
            <a:endParaRPr lang="zh-CN" altLang="en-US" sz="2400" dirty="0">
              <a:latin typeface="华文楷体" panose="02010600040101010101" pitchFamily="2" charset="-122"/>
              <a:ea typeface="华文楷体" panose="02010600040101010101" pitchFamily="2" charset="-122"/>
            </a:endParaRPr>
          </a:p>
          <a:p>
            <a:pPr lvl="1"/>
            <a:r>
              <a:rPr lang="zh-CN" altLang="en-US" sz="2400" dirty="0">
                <a:latin typeface="华文楷体" panose="02010600040101010101" pitchFamily="2" charset="-122"/>
                <a:ea typeface="华文楷体" panose="02010600040101010101" pitchFamily="2" charset="-122"/>
              </a:rPr>
              <a:t>特点：①组织、性能好②材料利用率高③尺寸精度高④生产效率高</a:t>
            </a:r>
            <a:endParaRPr lang="zh-CN" altLang="en-US" sz="2400" dirty="0">
              <a:latin typeface="华文楷体" panose="02010600040101010101" pitchFamily="2" charset="-122"/>
              <a:ea typeface="华文楷体" panose="02010600040101010101" pitchFamily="2" charset="-122"/>
            </a:endParaRPr>
          </a:p>
          <a:p>
            <a:endParaRPr lang="zh-CN" altLang="en-US" sz="2400" dirty="0">
              <a:latin typeface="华文楷体" panose="02010600040101010101" pitchFamily="2" charset="-122"/>
              <a:ea typeface="华文楷体" panose="02010600040101010101" pitchFamily="2" charset="-122"/>
            </a:endParaRPr>
          </a:p>
        </p:txBody>
      </p:sp>
      <p:sp>
        <p:nvSpPr>
          <p:cNvPr id="6" name="圆角矩形标注 5"/>
          <p:cNvSpPr/>
          <p:nvPr/>
        </p:nvSpPr>
        <p:spPr>
          <a:xfrm>
            <a:off x="5429250" y="5214938"/>
            <a:ext cx="3143250" cy="1357313"/>
          </a:xfrm>
          <a:prstGeom prst="wedgeRoundRectCallout">
            <a:avLst>
              <a:gd name="adj1" fmla="val -63081"/>
              <a:gd name="adj2" fmla="val -86272"/>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依靠塑性变形发生物质转移实现工件形状和尺寸变化，不会产生切屑，因而材料的利用率高得多。</a:t>
            </a:r>
            <a:endParaRPr kumimoji="0" lang="zh-CN" altLang="en-US" sz="1800" b="1"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
        <p:nvSpPr>
          <p:cNvPr id="7" name="圆角矩形标注 6"/>
          <p:cNvSpPr/>
          <p:nvPr/>
        </p:nvSpPr>
        <p:spPr>
          <a:xfrm>
            <a:off x="1285875" y="3000375"/>
            <a:ext cx="5286375" cy="1143000"/>
          </a:xfrm>
          <a:prstGeom prst="wedgeRoundRectCallout">
            <a:avLst>
              <a:gd name="adj1" fmla="val -9185"/>
              <a:gd name="adj2" fmla="val 71389"/>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坯锭经过塑性加工将使其结构致密，粗晶破碎细化和均匀，从而使性能提高。</a:t>
            </a:r>
            <a:endParaRPr kumimoji="0" lang="en-US" altLang="zh-CN" sz="2000" b="1"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金属流动所产生的流线也能使其性能提高。</a:t>
            </a:r>
            <a:endParaRPr kumimoji="0" lang="zh-CN" altLang="en-US" sz="2000" b="1"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
        <p:nvSpPr>
          <p:cNvPr id="8" name="圆角矩形标注 7"/>
          <p:cNvSpPr/>
          <p:nvPr/>
        </p:nvSpPr>
        <p:spPr>
          <a:xfrm>
            <a:off x="1357313" y="5572125"/>
            <a:ext cx="3786188" cy="857250"/>
          </a:xfrm>
          <a:prstGeom prst="wedgeRoundRectCallout">
            <a:avLst>
              <a:gd name="adj1" fmla="val -31230"/>
              <a:gd name="adj2" fmla="val -115276"/>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便于实现生产过程的连续化，自动化，适于大批量生产，如轧制，拉拔加工等，因而劳动生产率高。</a:t>
            </a:r>
            <a:endParaRPr kumimoji="0" lang="zh-CN" altLang="en-US" sz="1800" b="1"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
        <p:nvSpPr>
          <p:cNvPr id="9" name="圆角矩形标注 8"/>
          <p:cNvSpPr/>
          <p:nvPr/>
        </p:nvSpPr>
        <p:spPr>
          <a:xfrm>
            <a:off x="7286625" y="3286125"/>
            <a:ext cx="1285875" cy="857250"/>
          </a:xfrm>
          <a:prstGeom prst="wedgeRoundRectCallout">
            <a:avLst>
              <a:gd name="adj1" fmla="val -64593"/>
              <a:gd name="adj2" fmla="val 72659"/>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压力成形、模锻的应用等</a:t>
            </a:r>
            <a:endParaRPr kumimoji="0" lang="zh-CN" altLang="en-US" sz="1800" b="1"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标题 1"/>
          <p:cNvSpPr>
            <a:spLocks noGrp="1"/>
          </p:cNvSpPr>
          <p:nvPr>
            <p:ph type="title"/>
          </p:nvPr>
        </p:nvSpPr>
        <p:spPr/>
        <p:txBody>
          <a:bodyPr vert="horz" wrap="square" lIns="91440" tIns="45720" rIns="91440" bIns="45720" anchor="ctr" anchorCtr="0"/>
          <a:p>
            <a:r>
              <a:rPr lang="zh-CN" altLang="en-US" dirty="0"/>
              <a:t>上节回顾</a:t>
            </a:r>
            <a:endParaRPr lang="zh-CN" altLang="en-US" dirty="0"/>
          </a:p>
        </p:txBody>
      </p:sp>
      <p:sp>
        <p:nvSpPr>
          <p:cNvPr id="38915" name="内容占位符 2"/>
          <p:cNvSpPr>
            <a:spLocks noGrp="1"/>
          </p:cNvSpPr>
          <p:nvPr>
            <p:ph idx="1"/>
          </p:nvPr>
        </p:nvSpPr>
        <p:spPr/>
        <p:txBody>
          <a:bodyPr vert="horz" wrap="square" lIns="91440" tIns="45720" rIns="91440" bIns="45720" anchor="t" anchorCtr="0"/>
          <a:p>
            <a:endParaRPr lang="zh-CN" altLang="en-US" dirty="0"/>
          </a:p>
        </p:txBody>
      </p:sp>
      <p:pic>
        <p:nvPicPr>
          <p:cNvPr id="38916" name="Picture 7" descr="恢复与再结晶"/>
          <p:cNvPicPr>
            <a:picLocks noChangeAspect="1"/>
          </p:cNvPicPr>
          <p:nvPr/>
        </p:nvPicPr>
        <p:blipFill>
          <a:blip r:embed="rId1"/>
          <a:srcRect b="-294"/>
          <a:stretch>
            <a:fillRect/>
          </a:stretch>
        </p:blipFill>
        <p:spPr>
          <a:xfrm>
            <a:off x="357188" y="3286125"/>
            <a:ext cx="8459787" cy="2159000"/>
          </a:xfrm>
          <a:prstGeom prst="rect">
            <a:avLst/>
          </a:prstGeom>
          <a:solidFill>
            <a:srgbClr val="66CCFF"/>
          </a:solidFill>
          <a:ln w="9525" cap="flat" cmpd="sng">
            <a:solidFill>
              <a:srgbClr val="66CCFF"/>
            </a:solidFill>
            <a:prstDash val="solid"/>
            <a:miter/>
            <a:headEnd type="none" w="med" len="med"/>
            <a:tailEnd type="none" w="med" len="med"/>
          </a:ln>
        </p:spPr>
      </p:pic>
      <p:sp>
        <p:nvSpPr>
          <p:cNvPr id="5" name="圆角矩形标注 4"/>
          <p:cNvSpPr/>
          <p:nvPr/>
        </p:nvSpPr>
        <p:spPr>
          <a:xfrm>
            <a:off x="357188" y="1357313"/>
            <a:ext cx="2143125" cy="1928813"/>
          </a:xfrm>
          <a:prstGeom prst="wedgeRoundRectCallout">
            <a:avLst>
              <a:gd name="adj1" fmla="val 67463"/>
              <a:gd name="adj2" fmla="val 75668"/>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mn-lt"/>
                <a:ea typeface="+mn-ea"/>
                <a:cs typeface="+mn-cs"/>
              </a:rPr>
              <a:t>加工硬化</a:t>
            </a:r>
            <a:r>
              <a:rPr kumimoji="0" lang="en-US" sz="1800" b="1" i="0" u="none" strike="noStrike" kern="1200" cap="none" spc="0" normalizeH="0" baseline="0" noProof="0" dirty="0">
                <a:ln>
                  <a:noFill/>
                </a:ln>
                <a:solidFill>
                  <a:schemeClr val="lt1"/>
                </a:solidFill>
                <a:effectLst/>
                <a:uLnTx/>
                <a:uFillTx/>
                <a:latin typeface="+mn-lt"/>
                <a:ea typeface="+mn-ea"/>
                <a:cs typeface="+mn-cs"/>
              </a:rPr>
              <a:t>----</a:t>
            </a:r>
            <a:r>
              <a:rPr kumimoji="0" lang="zh-CN" altLang="en-US" sz="1800" b="1" i="0" u="none" strike="noStrike" kern="1200" cap="none" spc="0" normalizeH="0" baseline="0" noProof="0" dirty="0">
                <a:ln>
                  <a:noFill/>
                </a:ln>
                <a:solidFill>
                  <a:schemeClr val="lt1"/>
                </a:solidFill>
                <a:effectLst/>
                <a:uLnTx/>
                <a:uFillTx/>
                <a:latin typeface="+mn-lt"/>
                <a:ea typeface="+mn-ea"/>
                <a:cs typeface="+mn-cs"/>
              </a:rPr>
              <a:t>随着金属变形程度的增加，其强度、硬度增加，而塑性、韧性降低的现象。</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sp>
        <p:nvSpPr>
          <p:cNvPr id="6" name="AutoShape 9"/>
          <p:cNvSpPr/>
          <p:nvPr/>
        </p:nvSpPr>
        <p:spPr>
          <a:xfrm>
            <a:off x="71438" y="5429250"/>
            <a:ext cx="2857500" cy="1285875"/>
          </a:xfrm>
          <a:prstGeom prst="wedgeRoundRectCallout">
            <a:avLst>
              <a:gd name="adj1" fmla="val 37792"/>
              <a:gd name="adj2" fmla="val -78338"/>
              <a:gd name="adj3" fmla="val 16667"/>
            </a:avLst>
          </a:prstGeom>
          <a:solidFill>
            <a:srgbClr val="CCECFF"/>
          </a:solidFill>
          <a:ln w="9525" cap="flat" cmpd="sng">
            <a:solidFill>
              <a:schemeClr val="tx1"/>
            </a:solidFill>
            <a:prstDash val="solid"/>
            <a:miter/>
            <a:headEnd type="none" w="med" len="med"/>
            <a:tailEnd type="none" w="med" len="med"/>
          </a:ln>
        </p:spPr>
        <p:txBody>
          <a:bodyPr/>
          <a:p>
            <a:pPr algn="ctr" eaLnBrk="1" hangingPunct="1"/>
            <a:r>
              <a:rPr lang="zh-CN" altLang="en-US" b="1" dirty="0">
                <a:latin typeface="Arial" panose="020B0604020202020204" pitchFamily="34" charset="0"/>
              </a:rPr>
              <a:t>原因：由于滑移面上碎晶块和附近晶格的强烈扭曲，增大了滑移阻力，使继续滑移难于进行导致。</a:t>
            </a:r>
            <a:endParaRPr lang="zh-CN" altLang="en-US" b="1" dirty="0">
              <a:latin typeface="Arial" panose="020B0604020202020204" pitchFamily="34" charset="0"/>
            </a:endParaRPr>
          </a:p>
        </p:txBody>
      </p:sp>
      <p:sp>
        <p:nvSpPr>
          <p:cNvPr id="7" name="圆角矩形标注 6"/>
          <p:cNvSpPr/>
          <p:nvPr/>
        </p:nvSpPr>
        <p:spPr>
          <a:xfrm>
            <a:off x="3357563" y="1500188"/>
            <a:ext cx="4500563" cy="1428750"/>
          </a:xfrm>
          <a:prstGeom prst="wedgeRoundRectCallout">
            <a:avLst>
              <a:gd name="adj1" fmla="val -13496"/>
              <a:gd name="adj2" fmla="val 105376"/>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楷体_GB2312" pitchFamily="49" charset="-122"/>
                <a:ea typeface="楷体_GB2312" pitchFamily="49" charset="-122"/>
                <a:cs typeface="+mn-cs"/>
              </a:rPr>
              <a:t>当金属温度提高到一定程度，原子热运动加剧，使不规则的原子排列变为规则排列，消除晶格扭曲，内应力大为降低，但晶粒的形状、大小和金属的强度、塑性变化不大，这种现象称为回复。</a:t>
            </a: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圆角矩形标注 7"/>
          <p:cNvSpPr/>
          <p:nvPr/>
        </p:nvSpPr>
        <p:spPr>
          <a:xfrm>
            <a:off x="3786188" y="5643563"/>
            <a:ext cx="4857750" cy="1214438"/>
          </a:xfrm>
          <a:prstGeom prst="wedgeRoundRectCallout">
            <a:avLst>
              <a:gd name="adj1" fmla="val 37990"/>
              <a:gd name="adj2" fmla="val -66129"/>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楷体_GB2312" pitchFamily="49" charset="-122"/>
                <a:ea typeface="楷体_GB2312" pitchFamily="49" charset="-122"/>
                <a:cs typeface="+mn-cs"/>
              </a:rPr>
              <a:t>当温度继续升高，金属原子活动具有足够热运动力时，则开始以碎晶或杂质为核心结晶成新的晶粒，从而</a:t>
            </a:r>
            <a:r>
              <a:rPr kumimoji="0" lang="zh-CN" altLang="en-US" sz="1800" b="1" i="0" u="none" strike="noStrike" kern="1200" cap="none" spc="0" normalizeH="0" baseline="0" noProof="0" dirty="0">
                <a:ln>
                  <a:noFill/>
                </a:ln>
                <a:solidFill>
                  <a:srgbClr val="FF0066"/>
                </a:solidFill>
                <a:effectLst/>
                <a:uLnTx/>
                <a:uFillTx/>
                <a:latin typeface="楷体_GB2312" pitchFamily="49" charset="-122"/>
                <a:ea typeface="楷体_GB2312" pitchFamily="49" charset="-122"/>
                <a:cs typeface="+mn-cs"/>
              </a:rPr>
              <a:t>消除了加工硬化现象，这个过程称为再结晶。</a:t>
            </a: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1"/>
          <p:cNvSpPr>
            <a:spLocks noGrp="1"/>
          </p:cNvSpPr>
          <p:nvPr>
            <p:ph type="title"/>
          </p:nvPr>
        </p:nvSpPr>
        <p:spPr/>
        <p:txBody>
          <a:bodyPr vert="horz" wrap="square" lIns="91440" tIns="45720" rIns="91440" bIns="45720" anchor="ctr" anchorCtr="0"/>
          <a:p>
            <a:r>
              <a:rPr lang="zh-CN" altLang="en-US" dirty="0"/>
              <a:t>上节回顾</a:t>
            </a:r>
            <a:endParaRPr lang="zh-CN" altLang="en-US" dirty="0"/>
          </a:p>
        </p:txBody>
      </p:sp>
      <p:sp>
        <p:nvSpPr>
          <p:cNvPr id="39939" name="内容占位符 2"/>
          <p:cNvSpPr>
            <a:spLocks noGrp="1"/>
          </p:cNvSpPr>
          <p:nvPr>
            <p:ph idx="1"/>
          </p:nvPr>
        </p:nvSpPr>
        <p:spPr/>
        <p:txBody>
          <a:bodyPr vert="horz" wrap="square" lIns="91440" tIns="45720" rIns="91440" bIns="45720" anchor="t" anchorCtr="0"/>
          <a:p>
            <a:endParaRPr lang="zh-CN" altLang="en-US" dirty="0"/>
          </a:p>
        </p:txBody>
      </p:sp>
      <p:pic>
        <p:nvPicPr>
          <p:cNvPr id="39940" name="Picture 7" descr="恢复与再结晶"/>
          <p:cNvPicPr>
            <a:picLocks noChangeAspect="1"/>
          </p:cNvPicPr>
          <p:nvPr/>
        </p:nvPicPr>
        <p:blipFill>
          <a:blip r:embed="rId1"/>
          <a:srcRect b="-294"/>
          <a:stretch>
            <a:fillRect/>
          </a:stretch>
        </p:blipFill>
        <p:spPr>
          <a:xfrm>
            <a:off x="357188" y="4357688"/>
            <a:ext cx="8459787" cy="2159000"/>
          </a:xfrm>
          <a:prstGeom prst="rect">
            <a:avLst/>
          </a:prstGeom>
          <a:solidFill>
            <a:srgbClr val="66CCFF"/>
          </a:solidFill>
          <a:ln w="9525" cap="flat" cmpd="sng">
            <a:solidFill>
              <a:srgbClr val="66CCFF"/>
            </a:solidFill>
            <a:prstDash val="solid"/>
            <a:miter/>
            <a:headEnd type="none" w="med" len="med"/>
            <a:tailEnd type="none" w="med" len="med"/>
          </a:ln>
        </p:spPr>
      </p:pic>
      <p:sp>
        <p:nvSpPr>
          <p:cNvPr id="5" name="圆角矩形标注 4"/>
          <p:cNvSpPr/>
          <p:nvPr/>
        </p:nvSpPr>
        <p:spPr>
          <a:xfrm>
            <a:off x="1000125" y="2357438"/>
            <a:ext cx="7500938" cy="1714500"/>
          </a:xfrm>
          <a:prstGeom prst="wedgeRoundRectCallout">
            <a:avLst>
              <a:gd name="adj1" fmla="val 22003"/>
              <a:gd name="adj2" fmla="val 78144"/>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mn-lt"/>
                <a:ea typeface="+mn-ea"/>
                <a:cs typeface="+mn-cs"/>
              </a:rPr>
              <a:t>在热塑性变形中，铸锭内部粗大的树枝状晶逐渐沿主变形方向伸长，同时，晶间杂质也逐渐与主变形方向一致，形成 “流线</a:t>
            </a:r>
            <a:r>
              <a:rPr kumimoji="0" lang="en-US" sz="1800" b="1" i="0" u="none" strike="noStrike" kern="1200" cap="none" spc="0" normalizeH="0" baseline="0" noProof="0" dirty="0">
                <a:ln>
                  <a:noFill/>
                </a:ln>
                <a:solidFill>
                  <a:schemeClr val="lt1"/>
                </a:solidFill>
                <a:effectLst/>
                <a:uLnTx/>
                <a:uFillTx/>
                <a:latin typeface="+mn-lt"/>
                <a:ea typeface="+mn-ea"/>
                <a:cs typeface="+mn-cs"/>
              </a:rPr>
              <a:t> </a:t>
            </a:r>
            <a:r>
              <a:rPr kumimoji="0" lang="zh-CN" altLang="en-US" sz="1800" b="1" i="0" u="none" strike="noStrike" kern="1200" cap="none" spc="0" normalizeH="0" baseline="0" noProof="0" dirty="0">
                <a:ln>
                  <a:noFill/>
                </a:ln>
                <a:solidFill>
                  <a:schemeClr val="lt1"/>
                </a:solidFill>
                <a:effectLst/>
                <a:uLnTx/>
                <a:uFillTx/>
                <a:latin typeface="+mn-lt"/>
                <a:ea typeface="+mn-ea"/>
                <a:cs typeface="+mn-cs"/>
              </a:rPr>
              <a:t>”， “纤维组织”。在热塑性加工中，由于再结晶，被拉长的晶粒变成细小的等轴晶，而纤维组织却被很稳定的保留下来直至室温。与冷变形时由于晶粒被拉长而形成的纤维组织是不同的。</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pic>
        <p:nvPicPr>
          <p:cNvPr id="44038" name="Picture 15" descr="锻造流线"/>
          <p:cNvPicPr>
            <a:picLocks noChangeAspect="1"/>
          </p:cNvPicPr>
          <p:nvPr/>
        </p:nvPicPr>
        <p:blipFill>
          <a:blip r:embed="rId2"/>
          <a:stretch>
            <a:fillRect/>
          </a:stretch>
        </p:blipFill>
        <p:spPr>
          <a:xfrm>
            <a:off x="4357688" y="142875"/>
            <a:ext cx="4529137" cy="2135188"/>
          </a:xfrm>
          <a:prstGeom prst="rect">
            <a:avLst/>
          </a:prstGeom>
          <a:noFill/>
          <a:ln w="9525">
            <a:noFill/>
          </a:ln>
        </p:spPr>
      </p:pic>
      <p:sp>
        <p:nvSpPr>
          <p:cNvPr id="7" name="圆角矩形标注 6"/>
          <p:cNvSpPr/>
          <p:nvPr/>
        </p:nvSpPr>
        <p:spPr>
          <a:xfrm>
            <a:off x="1000125" y="642938"/>
            <a:ext cx="3214688" cy="1428750"/>
          </a:xfrm>
          <a:prstGeom prst="wedgeRoundRectCallout">
            <a:avLst>
              <a:gd name="adj1" fmla="val 62813"/>
              <a:gd name="adj2" fmla="val -26388"/>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GreekS" pitchFamily="2" charset="0"/>
                <a:ea typeface="楷体_GB2312" pitchFamily="49" charset="-122"/>
                <a:cs typeface="+mn-cs"/>
              </a:rPr>
              <a:t>设计时考虑应使零件在工作中产生的</a:t>
            </a:r>
            <a:r>
              <a:rPr kumimoji="0" lang="zh-CN" altLang="en-US" sz="1800" b="1" i="0" u="none" strike="noStrike" kern="1200" cap="none" spc="0" normalizeH="0" baseline="0" noProof="0" dirty="0">
                <a:ln>
                  <a:noFill/>
                </a:ln>
                <a:solidFill>
                  <a:srgbClr val="FF0066"/>
                </a:solidFill>
                <a:effectLst/>
                <a:uLnTx/>
                <a:uFillTx/>
                <a:latin typeface="GreekS" pitchFamily="2" charset="0"/>
                <a:ea typeface="楷体_GB2312" pitchFamily="49" charset="-122"/>
                <a:cs typeface="+mn-cs"/>
              </a:rPr>
              <a:t>最大正应力方向与纤维方向重合，最大切应力方向与纤维方向垂直。</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nodeType="withEffect">
                                  <p:stCondLst>
                                    <p:cond delay="0"/>
                                  </p:stCondLst>
                                  <p:childTnLst>
                                    <p:set>
                                      <p:cBhvr>
                                        <p:cTn id="9" dur="1" fill="hold">
                                          <p:stCondLst>
                                            <p:cond delay="0"/>
                                          </p:stCondLst>
                                        </p:cTn>
                                        <p:tgtEl>
                                          <p:spTgt spid="44038"/>
                                        </p:tgtEl>
                                        <p:attrNameLst>
                                          <p:attrName>style.visibility</p:attrName>
                                        </p:attrNameLst>
                                      </p:cBhvr>
                                      <p:to>
                                        <p:strVal val="visible"/>
                                      </p:to>
                                    </p:set>
                                    <p:animEffect transition="in" filter="blinds(horizontal)">
                                      <p:cBhvr>
                                        <p:cTn id="10" dur="500"/>
                                        <p:tgtEl>
                                          <p:spTgt spid="44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4"/>
          <p:cNvSpPr/>
          <p:nvPr/>
        </p:nvSpPr>
        <p:spPr>
          <a:xfrm>
            <a:off x="3340100" y="350838"/>
            <a:ext cx="3463925" cy="701675"/>
          </a:xfrm>
          <a:prstGeom prst="rect">
            <a:avLst/>
          </a:prstGeom>
          <a:noFill/>
          <a:ln w="9525">
            <a:noFill/>
          </a:ln>
        </p:spPr>
        <p:txBody>
          <a:bodyPr>
            <a:spAutoFit/>
          </a:bodyPr>
          <a:p>
            <a:pPr eaLnBrk="1" hangingPunct="1"/>
            <a:r>
              <a:rPr lang="zh-CN" altLang="en-US" sz="4000" b="1" dirty="0">
                <a:solidFill>
                  <a:schemeClr val="tx2"/>
                </a:solidFill>
                <a:latin typeface="Verdana" panose="020B0604030504040204" pitchFamily="34" charset="0"/>
                <a:ea typeface="楷体_GB2312" pitchFamily="49" charset="-122"/>
              </a:rPr>
              <a:t>金属的可锻性</a:t>
            </a:r>
            <a:endParaRPr lang="zh-CN" altLang="en-US" sz="4000" b="1" dirty="0">
              <a:solidFill>
                <a:schemeClr val="tx2"/>
              </a:solidFill>
              <a:latin typeface="Verdana" panose="020B0604030504040204" pitchFamily="34" charset="0"/>
              <a:ea typeface="楷体_GB2312" pitchFamily="49" charset="-122"/>
            </a:endParaRPr>
          </a:p>
        </p:txBody>
      </p:sp>
      <p:sp>
        <p:nvSpPr>
          <p:cNvPr id="679941" name="Rectangle 5"/>
          <p:cNvSpPr/>
          <p:nvPr/>
        </p:nvSpPr>
        <p:spPr>
          <a:xfrm>
            <a:off x="179388" y="1320800"/>
            <a:ext cx="8451850" cy="4121150"/>
          </a:xfrm>
          <a:prstGeom prst="rect">
            <a:avLst/>
          </a:prstGeom>
          <a:noFill/>
          <a:ln w="9525">
            <a:noFill/>
          </a:ln>
        </p:spPr>
        <p:txBody>
          <a:bodyPr anchor="ctr" anchorCtr="0">
            <a:spAutoFit/>
          </a:bodyPr>
          <a:p>
            <a:pPr indent="342900" eaLnBrk="1" hangingPunct="1"/>
            <a:r>
              <a:rPr lang="zh-CN" altLang="en-US" sz="2400" b="1" dirty="0">
                <a:solidFill>
                  <a:srgbClr val="CC3300"/>
                </a:solidFill>
                <a:latin typeface="宋体" panose="02010600030101010101" pitchFamily="2" charset="-122"/>
                <a:ea typeface="楷体_GB2312" pitchFamily="49" charset="-122"/>
              </a:rPr>
              <a:t>（</a:t>
            </a:r>
            <a:r>
              <a:rPr lang="zh-CN" altLang="en-US" sz="2400" b="1" dirty="0">
                <a:solidFill>
                  <a:srgbClr val="CC3300"/>
                </a:solidFill>
                <a:latin typeface="楷体_GB2312" pitchFamily="49" charset="-122"/>
                <a:ea typeface="楷体_GB2312" pitchFamily="49" charset="-122"/>
              </a:rPr>
              <a:t>一）可锻性</a:t>
            </a:r>
            <a:endParaRPr lang="zh-CN" altLang="en-US" sz="2400" b="1" dirty="0">
              <a:solidFill>
                <a:srgbClr val="CC3300"/>
              </a:solidFill>
              <a:latin typeface="楷体_GB2312" pitchFamily="49" charset="-122"/>
              <a:ea typeface="楷体_GB2312" pitchFamily="49" charset="-122"/>
            </a:endParaRPr>
          </a:p>
          <a:p>
            <a:pPr indent="342900" eaLnBrk="1" hangingPunct="1"/>
            <a:r>
              <a:rPr lang="en-US" altLang="zh-CN" sz="2000" b="1" dirty="0">
                <a:solidFill>
                  <a:srgbClr val="009900"/>
                </a:solidFill>
                <a:latin typeface="楷体_GB2312" pitchFamily="49" charset="-122"/>
                <a:ea typeface="楷体_GB2312" pitchFamily="49" charset="-122"/>
              </a:rPr>
              <a:t>1.</a:t>
            </a:r>
            <a:r>
              <a:rPr lang="zh-CN" altLang="en-US" sz="2000" b="1" dirty="0">
                <a:solidFill>
                  <a:srgbClr val="009900"/>
                </a:solidFill>
                <a:latin typeface="楷体_GB2312" pitchFamily="49" charset="-122"/>
                <a:ea typeface="楷体_GB2312" pitchFamily="49" charset="-122"/>
              </a:rPr>
              <a:t>可锻性：</a:t>
            </a:r>
            <a:r>
              <a:rPr lang="zh-CN" altLang="en-US" sz="2000" b="1" dirty="0">
                <a:latin typeface="楷体_GB2312" pitchFamily="49" charset="-122"/>
                <a:ea typeface="楷体_GB2312" pitchFamily="49" charset="-122"/>
              </a:rPr>
              <a:t>衡量材料通过塑性加工获得优质零件难易程度的工艺性能。</a:t>
            </a:r>
            <a:endParaRPr lang="zh-CN" altLang="en-US" sz="2000" b="1" dirty="0">
              <a:latin typeface="楷体_GB2312" pitchFamily="49" charset="-122"/>
              <a:ea typeface="楷体_GB2312" pitchFamily="49" charset="-122"/>
            </a:endParaRPr>
          </a:p>
          <a:p>
            <a:pPr indent="342900" eaLnBrk="1" hangingPunct="1"/>
            <a:r>
              <a:rPr lang="en-US" altLang="zh-CN" sz="2000" b="1" dirty="0">
                <a:solidFill>
                  <a:srgbClr val="009900"/>
                </a:solidFill>
                <a:latin typeface="楷体_GB2312" pitchFamily="49" charset="-122"/>
                <a:ea typeface="楷体_GB2312" pitchFamily="49" charset="-122"/>
              </a:rPr>
              <a:t>2. </a:t>
            </a:r>
            <a:r>
              <a:rPr lang="zh-CN" altLang="en-US" sz="2000" b="1" dirty="0">
                <a:solidFill>
                  <a:srgbClr val="009900"/>
                </a:solidFill>
                <a:latin typeface="楷体_GB2312" pitchFamily="49" charset="-122"/>
                <a:ea typeface="楷体_GB2312" pitchFamily="49" charset="-122"/>
              </a:rPr>
              <a:t>可锻性指标：</a:t>
            </a:r>
            <a:endParaRPr lang="zh-CN" altLang="en-US" sz="2000" b="1" dirty="0">
              <a:solidFill>
                <a:srgbClr val="009900"/>
              </a:solidFill>
              <a:latin typeface="楷体_GB2312" pitchFamily="49" charset="-122"/>
              <a:ea typeface="楷体_GB2312" pitchFamily="49" charset="-122"/>
            </a:endParaRPr>
          </a:p>
          <a:p>
            <a:pPr indent="342900" eaLnBrk="1" hangingPunct="1"/>
            <a:r>
              <a:rPr lang="zh-CN" altLang="en-US" sz="2000" b="1" dirty="0">
                <a:latin typeface="楷体_GB2312" pitchFamily="49" charset="-122"/>
                <a:ea typeface="楷体_GB2312" pitchFamily="49" charset="-122"/>
              </a:rPr>
              <a:t>塑性：</a:t>
            </a:r>
            <a:r>
              <a:rPr lang="en-US" altLang="zh-CN" sz="2000" b="1" dirty="0">
                <a:latin typeface="楷体_GB2312" pitchFamily="49" charset="-122"/>
                <a:ea typeface="楷体_GB2312" pitchFamily="49" charset="-122"/>
              </a:rPr>
              <a:t>ψ</a:t>
            </a:r>
            <a:r>
              <a:rPr lang="zh-CN" altLang="en-US" sz="2000" b="1" dirty="0">
                <a:latin typeface="楷体_GB2312" pitchFamily="49" charset="-122"/>
                <a:ea typeface="楷体_GB2312" pitchFamily="49" charset="-122"/>
              </a:rPr>
              <a:t>截面收缩率；</a:t>
            </a:r>
            <a:r>
              <a:rPr lang="en-US" altLang="zh-CN" sz="2000" b="1" dirty="0">
                <a:latin typeface="楷体_GB2312" pitchFamily="49" charset="-122"/>
                <a:ea typeface="楷体_GB2312" pitchFamily="49" charset="-122"/>
              </a:rPr>
              <a:t>δ</a:t>
            </a:r>
            <a:r>
              <a:rPr lang="zh-CN" altLang="en-US" sz="2000" b="1" dirty="0">
                <a:latin typeface="楷体_GB2312" pitchFamily="49" charset="-122"/>
                <a:ea typeface="楷体_GB2312" pitchFamily="49" charset="-122"/>
              </a:rPr>
              <a:t>延伸率；</a:t>
            </a:r>
            <a:r>
              <a:rPr lang="en-US" altLang="zh-CN" sz="2000" b="1" dirty="0">
                <a:latin typeface="楷体_GB2312" pitchFamily="49" charset="-122"/>
                <a:ea typeface="楷体_GB2312" pitchFamily="49" charset="-122"/>
              </a:rPr>
              <a:t>a</a:t>
            </a:r>
            <a:r>
              <a:rPr lang="en-US" altLang="zh-CN" sz="2000" b="1" baseline="-25000" dirty="0">
                <a:latin typeface="楷体_GB2312" pitchFamily="49" charset="-122"/>
                <a:ea typeface="楷体_GB2312" pitchFamily="49" charset="-122"/>
              </a:rPr>
              <a:t>K</a:t>
            </a:r>
            <a:r>
              <a:rPr lang="zh-CN" altLang="en-US" sz="2000" b="1" dirty="0">
                <a:latin typeface="楷体_GB2312" pitchFamily="49" charset="-122"/>
                <a:ea typeface="楷体_GB2312" pitchFamily="49" charset="-122"/>
              </a:rPr>
              <a:t>冲击韧性</a:t>
            </a:r>
            <a:endParaRPr lang="zh-CN" altLang="en-US" sz="2000" b="1" dirty="0">
              <a:latin typeface="楷体_GB2312" pitchFamily="49" charset="-122"/>
              <a:ea typeface="楷体_GB2312" pitchFamily="49" charset="-122"/>
            </a:endParaRPr>
          </a:p>
          <a:p>
            <a:pPr indent="342900" eaLnBrk="1" hangingPunct="1"/>
            <a:r>
              <a:rPr lang="zh-CN" altLang="en-US" sz="2000" b="1" dirty="0">
                <a:latin typeface="楷体_GB2312" pitchFamily="49" charset="-122"/>
                <a:ea typeface="楷体_GB2312" pitchFamily="49" charset="-122"/>
              </a:rPr>
              <a:t>变形抗力：在变形过程中金属抵抗工具作用的力</a:t>
            </a:r>
            <a:r>
              <a:rPr lang="en-US" altLang="zh-CN" sz="2000" b="1" dirty="0">
                <a:latin typeface="楷体_GB2312" pitchFamily="49" charset="-122"/>
                <a:ea typeface="楷体_GB2312" pitchFamily="49" charset="-122"/>
              </a:rPr>
              <a:t>P</a:t>
            </a:r>
            <a:endParaRPr lang="en-US" altLang="zh-CN" sz="2000" b="1" dirty="0">
              <a:latin typeface="楷体_GB2312" pitchFamily="49" charset="-122"/>
              <a:ea typeface="楷体_GB2312" pitchFamily="49" charset="-122"/>
            </a:endParaRPr>
          </a:p>
          <a:p>
            <a:pPr indent="342900" eaLnBrk="1" hangingPunct="1"/>
            <a:r>
              <a:rPr lang="zh-CN" altLang="en-US" sz="2000" b="1" dirty="0">
                <a:latin typeface="楷体_GB2312" pitchFamily="49" charset="-122"/>
                <a:ea typeface="楷体_GB2312" pitchFamily="49" charset="-122"/>
              </a:rPr>
              <a:t>塑性↑，变形抗力↓，可锻性↑</a:t>
            </a:r>
            <a:endParaRPr lang="zh-CN" altLang="en-US" sz="2000" b="1" dirty="0">
              <a:latin typeface="楷体_GB2312" pitchFamily="49" charset="-122"/>
              <a:ea typeface="楷体_GB2312" pitchFamily="49" charset="-122"/>
            </a:endParaRPr>
          </a:p>
          <a:p>
            <a:pPr indent="342900" eaLnBrk="1" hangingPunct="1"/>
            <a:r>
              <a:rPr lang="en-US" altLang="zh-CN" sz="2000" b="1" dirty="0">
                <a:solidFill>
                  <a:srgbClr val="009900"/>
                </a:solidFill>
                <a:latin typeface="楷体_GB2312" pitchFamily="49" charset="-122"/>
                <a:ea typeface="楷体_GB2312" pitchFamily="49" charset="-122"/>
              </a:rPr>
              <a:t>3.</a:t>
            </a:r>
            <a:r>
              <a:rPr lang="zh-CN" altLang="en-US" sz="2000" b="1" dirty="0">
                <a:solidFill>
                  <a:srgbClr val="009900"/>
                </a:solidFill>
                <a:latin typeface="楷体_GB2312" pitchFamily="49" charset="-122"/>
                <a:ea typeface="楷体_GB2312" pitchFamily="49" charset="-122"/>
              </a:rPr>
              <a:t>可锻性的影响因素：</a:t>
            </a:r>
            <a:endParaRPr lang="zh-CN" altLang="en-US" sz="2000" b="1" dirty="0">
              <a:solidFill>
                <a:srgbClr val="009900"/>
              </a:solidFill>
              <a:latin typeface="楷体_GB2312" pitchFamily="49" charset="-122"/>
              <a:ea typeface="楷体_GB2312" pitchFamily="49" charset="-122"/>
            </a:endParaRPr>
          </a:p>
          <a:p>
            <a:pPr indent="342900" eaLnBrk="1" hangingPunct="1"/>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1</a:t>
            </a:r>
            <a:r>
              <a:rPr lang="zh-CN" altLang="en-US" sz="2000" b="1" dirty="0">
                <a:latin typeface="楷体_GB2312" pitchFamily="49" charset="-122"/>
                <a:ea typeface="楷体_GB2312" pitchFamily="49" charset="-122"/>
              </a:rPr>
              <a:t>）金属本质（内在因素）：</a:t>
            </a:r>
            <a:endParaRPr lang="zh-CN" altLang="en-US" sz="2000" b="1" dirty="0">
              <a:latin typeface="楷体_GB2312" pitchFamily="49" charset="-122"/>
              <a:ea typeface="楷体_GB2312" pitchFamily="49" charset="-122"/>
            </a:endParaRPr>
          </a:p>
          <a:p>
            <a:pPr indent="342900" eaLnBrk="1" hangingPunct="1"/>
            <a:r>
              <a:rPr lang="zh-CN" altLang="en-US" sz="2000" b="1" dirty="0">
                <a:latin typeface="楷体_GB2312" pitchFamily="49" charset="-122"/>
                <a:ea typeface="楷体_GB2312" pitchFamily="49" charset="-122"/>
              </a:rPr>
              <a:t>①化学成分：</a:t>
            </a:r>
            <a:r>
              <a:rPr lang="en-US" altLang="zh-CN" sz="2000" b="1" dirty="0">
                <a:latin typeface="楷体_GB2312" pitchFamily="49" charset="-122"/>
                <a:ea typeface="楷体_GB2312" pitchFamily="49" charset="-122"/>
              </a:rPr>
              <a:t>C</a:t>
            </a:r>
            <a:r>
              <a:rPr lang="zh-CN" altLang="en-US" sz="2000" b="1" dirty="0">
                <a:latin typeface="楷体_GB2312" pitchFamily="49" charset="-122"/>
                <a:ea typeface="楷体_GB2312" pitchFamily="49" charset="-122"/>
              </a:rPr>
              <a:t>％↑，塑性↓，可锻性↓，纯金属好于合金</a:t>
            </a:r>
            <a:endParaRPr lang="zh-CN" altLang="en-US" sz="2000" b="1" dirty="0">
              <a:latin typeface="楷体_GB2312" pitchFamily="49" charset="-122"/>
              <a:ea typeface="楷体_GB2312" pitchFamily="49" charset="-122"/>
            </a:endParaRPr>
          </a:p>
          <a:p>
            <a:pPr indent="342900" eaLnBrk="1" hangingPunct="1"/>
            <a:endParaRPr lang="zh-CN" altLang="en-US" sz="2000" b="1" dirty="0">
              <a:latin typeface="楷体_GB2312" pitchFamily="49" charset="-122"/>
              <a:ea typeface="楷体_GB2312" pitchFamily="49" charset="-122"/>
            </a:endParaRPr>
          </a:p>
          <a:p>
            <a:pPr lvl="2" eaLnBrk="1" hangingPunct="1">
              <a:lnSpc>
                <a:spcPct val="90000"/>
              </a:lnSpc>
              <a:spcBef>
                <a:spcPct val="20000"/>
              </a:spcBef>
              <a:buClr>
                <a:schemeClr val="accent2"/>
              </a:buClr>
              <a:buSzPct val="60000"/>
              <a:buFont typeface="Wingdings" panose="05000000000000000000" pitchFamily="2" charset="2"/>
            </a:pPr>
            <a:endParaRPr lang="zh-CN" altLang="en-US" b="1" dirty="0">
              <a:latin typeface="楷体_GB2312" pitchFamily="49" charset="-122"/>
              <a:ea typeface="楷体_GB2312" pitchFamily="49" charset="-122"/>
            </a:endParaRPr>
          </a:p>
          <a:p>
            <a:pPr indent="342900" eaLnBrk="1" hangingPunct="1"/>
            <a:endParaRPr lang="zh-CN" altLang="en-US" dirty="0">
              <a:latin typeface="楷体_GB2312" pitchFamily="49" charset="-122"/>
              <a:ea typeface="楷体_GB2312" pitchFamily="49" charset="-122"/>
            </a:endParaRPr>
          </a:p>
          <a:p>
            <a:pPr indent="342900" eaLnBrk="1" hangingPunct="1"/>
            <a:r>
              <a:rPr lang="zh-CN" altLang="en-US" sz="2000" b="1" dirty="0">
                <a:latin typeface="楷体_GB2312" pitchFamily="49" charset="-122"/>
                <a:ea typeface="楷体_GB2312" pitchFamily="49" charset="-122"/>
              </a:rPr>
              <a:t>②组织状态：铸态组织↓，晶粒粗大↓，碳化物↓，纯金属及固溶体↑</a:t>
            </a:r>
            <a:endParaRPr lang="zh-CN" altLang="en-US" sz="2000" b="1" dirty="0">
              <a:latin typeface="楷体_GB2312" pitchFamily="49" charset="-122"/>
              <a:ea typeface="楷体_GB2312" pitchFamily="49" charset="-122"/>
            </a:endParaRPr>
          </a:p>
        </p:txBody>
      </p:sp>
      <p:sp>
        <p:nvSpPr>
          <p:cNvPr id="679944" name="Rectangle 8"/>
          <p:cNvSpPr/>
          <p:nvPr/>
        </p:nvSpPr>
        <p:spPr>
          <a:xfrm>
            <a:off x="857250" y="5572125"/>
            <a:ext cx="7345363" cy="923925"/>
          </a:xfrm>
          <a:prstGeom prst="rect">
            <a:avLst/>
          </a:prstGeom>
          <a:solidFill>
            <a:srgbClr val="CCFFFF"/>
          </a:solidFill>
          <a:ln w="9525">
            <a:noFill/>
          </a:ln>
        </p:spPr>
        <p:txBody>
          <a:bodyPr>
            <a:spAutoFit/>
          </a:bodyPr>
          <a:p>
            <a:pPr eaLnBrk="1" hangingPunct="1">
              <a:lnSpc>
                <a:spcPct val="90000"/>
              </a:lnSpc>
              <a:spcBef>
                <a:spcPct val="20000"/>
              </a:spcBef>
              <a:buClr>
                <a:schemeClr val="accent2"/>
              </a:buClr>
              <a:buSzPct val="60000"/>
              <a:buFont typeface="Wingdings" panose="05000000000000000000" pitchFamily="2" charset="2"/>
            </a:pPr>
            <a:r>
              <a:rPr lang="en-US" altLang="zh-CN" b="1" dirty="0">
                <a:solidFill>
                  <a:srgbClr val="000000"/>
                </a:solidFill>
                <a:latin typeface="Verdana" panose="020B0604030504040204" pitchFamily="34" charset="0"/>
              </a:rPr>
              <a:t>     </a:t>
            </a:r>
            <a:r>
              <a:rPr lang="zh-CN" altLang="en-US" sz="2000" b="1" dirty="0">
                <a:solidFill>
                  <a:srgbClr val="FF0000"/>
                </a:solidFill>
                <a:latin typeface="Verdana" panose="020B0604030504040204" pitchFamily="34" charset="0"/>
                <a:ea typeface="楷体_GB2312" pitchFamily="49" charset="-122"/>
              </a:rPr>
              <a:t>纯金属及固熔体（如奥氏体，面心立方，单相组织，塑性下降）的可锻性好，碳化物的可锻性差。铸态柱状组织和粗晶粒不如晶粒细小、均匀的可锻性好。</a:t>
            </a:r>
            <a:endParaRPr lang="zh-CN" altLang="en-US" sz="2000" b="1" dirty="0">
              <a:solidFill>
                <a:srgbClr val="FF0000"/>
              </a:solidFill>
              <a:latin typeface="Verdana" panose="020B0604030504040204" pitchFamily="34" charset="0"/>
              <a:ea typeface="楷体_GB2312" pitchFamily="49" charset="-122"/>
            </a:endParaRPr>
          </a:p>
        </p:txBody>
      </p:sp>
      <p:sp>
        <p:nvSpPr>
          <p:cNvPr id="679946" name="Rectangle 10"/>
          <p:cNvSpPr/>
          <p:nvPr/>
        </p:nvSpPr>
        <p:spPr>
          <a:xfrm>
            <a:off x="857250" y="4214813"/>
            <a:ext cx="7024688" cy="708025"/>
          </a:xfrm>
          <a:prstGeom prst="rect">
            <a:avLst/>
          </a:prstGeom>
          <a:solidFill>
            <a:srgbClr val="CCFFCC"/>
          </a:solidFill>
          <a:ln w="9525">
            <a:noFill/>
          </a:ln>
        </p:spPr>
        <p:txBody>
          <a:bodyPr>
            <a:spAutoFit/>
          </a:bodyPr>
          <a:p>
            <a:pPr eaLnBrk="1" hangingPunct="1"/>
            <a:r>
              <a:rPr lang="zh-CN" altLang="en-US" sz="2000" b="1" dirty="0">
                <a:solidFill>
                  <a:srgbClr val="0000FF"/>
                </a:solidFill>
                <a:latin typeface="Verdana" panose="020B0604030504040204" pitchFamily="34" charset="0"/>
                <a:ea typeface="楷体_GB2312" pitchFamily="49" charset="-122"/>
              </a:rPr>
              <a:t>纯金属比合金（塑性下降）好，碳钢含碳越低，可锻性越好，钢中有形成碳化物的元素（如铬、钼等），可锻性下降。</a:t>
            </a:r>
            <a:endParaRPr lang="zh-CN" altLang="en-US" sz="2000" b="1" dirty="0">
              <a:solidFill>
                <a:srgbClr val="0000FF"/>
              </a:solidFill>
              <a:latin typeface="Verdana" panose="020B060403050404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79941">
                                            <p:txEl>
                                              <p:charRg st="7" end="40"/>
                                            </p:txEl>
                                          </p:spTgt>
                                        </p:tgtEl>
                                        <p:attrNameLst>
                                          <p:attrName>style.visibility</p:attrName>
                                        </p:attrNameLst>
                                      </p:cBhvr>
                                      <p:to>
                                        <p:strVal val="visible"/>
                                      </p:to>
                                    </p:set>
                                    <p:animEffect transition="in" filter="blinds(horizontal)">
                                      <p:cBhvr>
                                        <p:cTn id="7" dur="500"/>
                                        <p:tgtEl>
                                          <p:spTgt spid="679941">
                                            <p:txEl>
                                              <p:charRg st="7" end="4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79941">
                                            <p:txEl>
                                              <p:charRg st="40" end="50"/>
                                            </p:txEl>
                                          </p:spTgt>
                                        </p:tgtEl>
                                        <p:attrNameLst>
                                          <p:attrName>style.visibility</p:attrName>
                                        </p:attrNameLst>
                                      </p:cBhvr>
                                      <p:to>
                                        <p:strVal val="visible"/>
                                      </p:to>
                                    </p:set>
                                    <p:animEffect transition="in" filter="blinds(horizontal)">
                                      <p:cBhvr>
                                        <p:cTn id="12" dur="500"/>
                                        <p:tgtEl>
                                          <p:spTgt spid="679941">
                                            <p:txEl>
                                              <p:charRg st="40" end="5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679941">
                                            <p:txEl>
                                              <p:charRg st="50" end="72"/>
                                            </p:txEl>
                                          </p:spTgt>
                                        </p:tgtEl>
                                        <p:attrNameLst>
                                          <p:attrName>style.visibility</p:attrName>
                                        </p:attrNameLst>
                                      </p:cBhvr>
                                      <p:to>
                                        <p:strVal val="visible"/>
                                      </p:to>
                                    </p:set>
                                    <p:animEffect transition="in" filter="blinds(horizontal)">
                                      <p:cBhvr>
                                        <p:cTn id="15" dur="500"/>
                                        <p:tgtEl>
                                          <p:spTgt spid="679941">
                                            <p:txEl>
                                              <p:charRg st="50" end="7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79941">
                                            <p:txEl>
                                              <p:charRg st="72" end="95"/>
                                            </p:txEl>
                                          </p:spTgt>
                                        </p:tgtEl>
                                        <p:attrNameLst>
                                          <p:attrName>style.visibility</p:attrName>
                                        </p:attrNameLst>
                                      </p:cBhvr>
                                      <p:to>
                                        <p:strVal val="visible"/>
                                      </p:to>
                                    </p:set>
                                    <p:animEffect transition="in" filter="blinds(horizontal)">
                                      <p:cBhvr>
                                        <p:cTn id="18" dur="500"/>
                                        <p:tgtEl>
                                          <p:spTgt spid="679941">
                                            <p:txEl>
                                              <p:charRg st="72" end="9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679941">
                                            <p:txEl>
                                              <p:charRg st="95" end="110"/>
                                            </p:txEl>
                                          </p:spTgt>
                                        </p:tgtEl>
                                        <p:attrNameLst>
                                          <p:attrName>style.visibility</p:attrName>
                                        </p:attrNameLst>
                                      </p:cBhvr>
                                      <p:to>
                                        <p:strVal val="visible"/>
                                      </p:to>
                                    </p:set>
                                    <p:animEffect transition="in" filter="blinds(horizontal)">
                                      <p:cBhvr>
                                        <p:cTn id="21" dur="500"/>
                                        <p:tgtEl>
                                          <p:spTgt spid="679941">
                                            <p:txEl>
                                              <p:charRg st="95" end="11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679941">
                                            <p:txEl>
                                              <p:charRg st="110" end="122"/>
                                            </p:txEl>
                                          </p:spTgt>
                                        </p:tgtEl>
                                        <p:attrNameLst>
                                          <p:attrName>style.visibility</p:attrName>
                                        </p:attrNameLst>
                                      </p:cBhvr>
                                      <p:to>
                                        <p:strVal val="visible"/>
                                      </p:to>
                                    </p:set>
                                    <p:animEffect transition="in" filter="blinds(horizontal)">
                                      <p:cBhvr>
                                        <p:cTn id="26" dur="500"/>
                                        <p:tgtEl>
                                          <p:spTgt spid="679941">
                                            <p:txEl>
                                              <p:charRg st="110" end="122"/>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679941">
                                            <p:txEl>
                                              <p:charRg st="122" end="137"/>
                                            </p:txEl>
                                          </p:spTgt>
                                        </p:tgtEl>
                                        <p:attrNameLst>
                                          <p:attrName>style.visibility</p:attrName>
                                        </p:attrNameLst>
                                      </p:cBhvr>
                                      <p:to>
                                        <p:strVal val="visible"/>
                                      </p:to>
                                    </p:set>
                                    <p:animEffect transition="in" filter="blinds(horizontal)">
                                      <p:cBhvr>
                                        <p:cTn id="29" dur="500"/>
                                        <p:tgtEl>
                                          <p:spTgt spid="679941">
                                            <p:txEl>
                                              <p:charRg st="122" end="137"/>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679941">
                                            <p:txEl>
                                              <p:charRg st="137" end="164"/>
                                            </p:txEl>
                                          </p:spTgt>
                                        </p:tgtEl>
                                        <p:attrNameLst>
                                          <p:attrName>style.visibility</p:attrName>
                                        </p:attrNameLst>
                                      </p:cBhvr>
                                      <p:to>
                                        <p:strVal val="visible"/>
                                      </p:to>
                                    </p:set>
                                    <p:animEffect transition="in" filter="blinds(horizontal)">
                                      <p:cBhvr>
                                        <p:cTn id="32" dur="500"/>
                                        <p:tgtEl>
                                          <p:spTgt spid="679941">
                                            <p:txEl>
                                              <p:charRg st="137" end="16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79946"/>
                                        </p:tgtEl>
                                        <p:attrNameLst>
                                          <p:attrName>style.visibility</p:attrName>
                                        </p:attrNameLst>
                                      </p:cBhvr>
                                      <p:to>
                                        <p:strVal val="visible"/>
                                      </p:to>
                                    </p:set>
                                    <p:anim calcmode="lin" valueType="num">
                                      <p:cBhvr additive="base">
                                        <p:cTn id="37" dur="500" fill="hold"/>
                                        <p:tgtEl>
                                          <p:spTgt spid="679946"/>
                                        </p:tgtEl>
                                        <p:attrNameLst>
                                          <p:attrName>ppt_x</p:attrName>
                                        </p:attrNameLst>
                                      </p:cBhvr>
                                      <p:tavLst>
                                        <p:tav tm="0">
                                          <p:val>
                                            <p:strVal val="#ppt_x"/>
                                          </p:val>
                                        </p:tav>
                                        <p:tav tm="100000">
                                          <p:val>
                                            <p:strVal val="#ppt_x"/>
                                          </p:val>
                                        </p:tav>
                                      </p:tavLst>
                                    </p:anim>
                                    <p:anim calcmode="lin" valueType="num">
                                      <p:cBhvr additive="base">
                                        <p:cTn id="38" dur="500" fill="hold"/>
                                        <p:tgtEl>
                                          <p:spTgt spid="67994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679941">
                                            <p:txEl>
                                              <p:charRg st="167" end="199"/>
                                            </p:txEl>
                                          </p:spTgt>
                                        </p:tgtEl>
                                        <p:attrNameLst>
                                          <p:attrName>style.visibility</p:attrName>
                                        </p:attrNameLst>
                                      </p:cBhvr>
                                      <p:to>
                                        <p:strVal val="visible"/>
                                      </p:to>
                                    </p:set>
                                    <p:animEffect transition="in" filter="blinds(horizontal)">
                                      <p:cBhvr>
                                        <p:cTn id="43" dur="500"/>
                                        <p:tgtEl>
                                          <p:spTgt spid="679941">
                                            <p:txEl>
                                              <p:charRg st="167" end="19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679944"/>
                                        </p:tgtEl>
                                        <p:attrNameLst>
                                          <p:attrName>style.visibility</p:attrName>
                                        </p:attrNameLst>
                                      </p:cBhvr>
                                      <p:to>
                                        <p:strVal val="visible"/>
                                      </p:to>
                                    </p:set>
                                    <p:anim calcmode="lin" valueType="num">
                                      <p:cBhvr additive="base">
                                        <p:cTn id="48" dur="500" fill="hold"/>
                                        <p:tgtEl>
                                          <p:spTgt spid="679944"/>
                                        </p:tgtEl>
                                        <p:attrNameLst>
                                          <p:attrName>ppt_x</p:attrName>
                                        </p:attrNameLst>
                                      </p:cBhvr>
                                      <p:tavLst>
                                        <p:tav tm="0">
                                          <p:val>
                                            <p:strVal val="#ppt_x"/>
                                          </p:val>
                                        </p:tav>
                                        <p:tav tm="100000">
                                          <p:val>
                                            <p:strVal val="#ppt_x"/>
                                          </p:val>
                                        </p:tav>
                                      </p:tavLst>
                                    </p:anim>
                                    <p:anim calcmode="lin" valueType="num">
                                      <p:cBhvr additive="base">
                                        <p:cTn id="49" dur="500" fill="hold"/>
                                        <p:tgtEl>
                                          <p:spTgt spid="6799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9944" grpId="0" animBg="1"/>
      <p:bldP spid="67994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4"/>
          <p:cNvSpPr/>
          <p:nvPr/>
        </p:nvSpPr>
        <p:spPr>
          <a:xfrm>
            <a:off x="3417888" y="404813"/>
            <a:ext cx="3746500" cy="701675"/>
          </a:xfrm>
          <a:prstGeom prst="rect">
            <a:avLst/>
          </a:prstGeom>
          <a:noFill/>
          <a:ln w="9525">
            <a:noFill/>
          </a:ln>
        </p:spPr>
        <p:txBody>
          <a:bodyPr>
            <a:spAutoFit/>
          </a:bodyPr>
          <a:p>
            <a:pPr eaLnBrk="1" hangingPunct="1"/>
            <a:r>
              <a:rPr lang="zh-CN" altLang="en-US" sz="4000" b="1" dirty="0">
                <a:solidFill>
                  <a:schemeClr val="tx2"/>
                </a:solidFill>
                <a:latin typeface="Verdana" panose="020B0604030504040204" pitchFamily="34" charset="0"/>
                <a:ea typeface="楷体_GB2312" pitchFamily="49" charset="-122"/>
              </a:rPr>
              <a:t>金属的可锻性</a:t>
            </a:r>
            <a:endParaRPr lang="zh-CN" altLang="en-US" sz="4000" b="1" dirty="0">
              <a:solidFill>
                <a:schemeClr val="tx2"/>
              </a:solidFill>
              <a:latin typeface="Verdana" panose="020B0604030504040204" pitchFamily="34" charset="0"/>
              <a:ea typeface="楷体_GB2312" pitchFamily="49" charset="-122"/>
            </a:endParaRPr>
          </a:p>
        </p:txBody>
      </p:sp>
      <p:sp>
        <p:nvSpPr>
          <p:cNvPr id="680966" name="Rectangle 6"/>
          <p:cNvSpPr/>
          <p:nvPr/>
        </p:nvSpPr>
        <p:spPr>
          <a:xfrm>
            <a:off x="171450" y="1344613"/>
            <a:ext cx="8496300" cy="1066800"/>
          </a:xfrm>
          <a:prstGeom prst="rect">
            <a:avLst/>
          </a:prstGeom>
          <a:noFill/>
          <a:ln w="9525">
            <a:noFill/>
          </a:ln>
        </p:spPr>
        <p:txBody>
          <a:bodyPr anchor="ctr" anchorCtr="0">
            <a:spAutoFit/>
          </a:bodyPr>
          <a:p>
            <a:pPr indent="342900" eaLnBrk="1" hangingPunct="1"/>
            <a:r>
              <a:rPr lang="zh-CN" altLang="en-US" sz="2400" b="1" dirty="0">
                <a:solidFill>
                  <a:srgbClr val="CC3300"/>
                </a:solidFill>
                <a:latin typeface="楷体_GB2312" pitchFamily="49" charset="-122"/>
                <a:ea typeface="楷体_GB2312" pitchFamily="49" charset="-122"/>
              </a:rPr>
              <a:t>（</a:t>
            </a:r>
            <a:r>
              <a:rPr lang="en-US" altLang="zh-CN" sz="2400" b="1" dirty="0">
                <a:solidFill>
                  <a:srgbClr val="CC3300"/>
                </a:solidFill>
                <a:latin typeface="楷体_GB2312" pitchFamily="49" charset="-122"/>
                <a:ea typeface="楷体_GB2312" pitchFamily="49" charset="-122"/>
              </a:rPr>
              <a:t>2</a:t>
            </a:r>
            <a:r>
              <a:rPr lang="zh-CN" altLang="en-US" sz="2400" b="1" dirty="0">
                <a:solidFill>
                  <a:srgbClr val="CC3300"/>
                </a:solidFill>
                <a:latin typeface="楷体_GB2312" pitchFamily="49" charset="-122"/>
                <a:ea typeface="楷体_GB2312" pitchFamily="49" charset="-122"/>
              </a:rPr>
              <a:t>）加工条件</a:t>
            </a:r>
            <a:r>
              <a:rPr lang="zh-CN" altLang="en-US" sz="2400" b="1" dirty="0">
                <a:latin typeface="楷体_GB2312" pitchFamily="49" charset="-122"/>
                <a:ea typeface="楷体_GB2312" pitchFamily="49" charset="-122"/>
              </a:rPr>
              <a:t>（外在因素）</a:t>
            </a:r>
            <a:endParaRPr lang="zh-CN" altLang="en-US" sz="2400" b="1" dirty="0">
              <a:latin typeface="楷体_GB2312" pitchFamily="49" charset="-122"/>
              <a:ea typeface="楷体_GB2312" pitchFamily="49" charset="-122"/>
            </a:endParaRPr>
          </a:p>
          <a:p>
            <a:pPr indent="342900" eaLnBrk="1" hangingPunct="1"/>
            <a:r>
              <a:rPr lang="zh-CN" altLang="en-US" sz="2000" dirty="0">
                <a:latin typeface="楷体_GB2312" pitchFamily="49" charset="-122"/>
                <a:ea typeface="楷体_GB2312" pitchFamily="49" charset="-122"/>
              </a:rPr>
              <a:t> </a:t>
            </a:r>
            <a:r>
              <a:rPr lang="zh-CN" altLang="en-US" sz="2000" b="1" dirty="0">
                <a:solidFill>
                  <a:srgbClr val="FF0066"/>
                </a:solidFill>
                <a:latin typeface="楷体_GB2312" pitchFamily="49" charset="-122"/>
                <a:ea typeface="楷体_GB2312" pitchFamily="49" charset="-122"/>
              </a:rPr>
              <a:t>①变形温度：</a:t>
            </a:r>
            <a:r>
              <a:rPr lang="zh-CN" altLang="en-US" sz="2000" b="1" dirty="0">
                <a:latin typeface="楷体_GB2312" pitchFamily="49" charset="-122"/>
                <a:ea typeface="楷体_GB2312" pitchFamily="49" charset="-122"/>
              </a:rPr>
              <a:t>提高金属变形时的温度，是改善金属可锻性的有效措施</a:t>
            </a:r>
            <a:endParaRPr lang="zh-CN" altLang="en-US" sz="2000" b="1" dirty="0">
              <a:latin typeface="楷体_GB2312" pitchFamily="49" charset="-122"/>
              <a:ea typeface="楷体_GB2312" pitchFamily="49" charset="-122"/>
            </a:endParaRPr>
          </a:p>
          <a:p>
            <a:pPr indent="342900" eaLnBrk="1" hangingPunct="1"/>
            <a:r>
              <a:rPr lang="zh-CN" altLang="en-US" sz="2000" b="1" dirty="0">
                <a:latin typeface="楷体_GB2312" pitchFamily="49" charset="-122"/>
                <a:ea typeface="楷体_GB2312" pitchFamily="49" charset="-122"/>
              </a:rPr>
              <a:t> </a:t>
            </a:r>
            <a:r>
              <a:rPr lang="zh-CN" altLang="en-US" sz="2000" b="1" dirty="0">
                <a:solidFill>
                  <a:srgbClr val="0000FF"/>
                </a:solidFill>
                <a:latin typeface="楷体_GB2312" pitchFamily="49" charset="-122"/>
                <a:ea typeface="楷体_GB2312" pitchFamily="49" charset="-122"/>
              </a:rPr>
              <a:t>变形温度</a:t>
            </a:r>
            <a:r>
              <a:rPr lang="en-US" altLang="zh-CN" sz="2000" b="1" dirty="0">
                <a:solidFill>
                  <a:srgbClr val="0000FF"/>
                </a:solidFill>
                <a:latin typeface="楷体_GB2312" pitchFamily="49" charset="-122"/>
                <a:ea typeface="楷体_GB2312" pitchFamily="49" charset="-122"/>
              </a:rPr>
              <a:t>T↑</a:t>
            </a:r>
            <a:r>
              <a:rPr lang="zh-CN" altLang="en-US" sz="2000" b="1" dirty="0">
                <a:solidFill>
                  <a:srgbClr val="0000FF"/>
                </a:solidFill>
                <a:latin typeface="楷体_GB2312" pitchFamily="49" charset="-122"/>
                <a:ea typeface="楷体_GB2312" pitchFamily="49" charset="-122"/>
              </a:rPr>
              <a:t>，材料塑性</a:t>
            </a:r>
            <a:r>
              <a:rPr lang="en-US" altLang="zh-CN" sz="2000" b="1" dirty="0">
                <a:solidFill>
                  <a:srgbClr val="0000FF"/>
                </a:solidFill>
                <a:latin typeface="楷体_GB2312" pitchFamily="49" charset="-122"/>
                <a:ea typeface="楷体_GB2312" pitchFamily="49" charset="-122"/>
              </a:rPr>
              <a:t>δ↑</a:t>
            </a:r>
            <a:r>
              <a:rPr lang="zh-CN" altLang="en-US" sz="2000" b="1" dirty="0">
                <a:solidFill>
                  <a:srgbClr val="0000FF"/>
                </a:solidFill>
                <a:latin typeface="楷体_GB2312" pitchFamily="49" charset="-122"/>
                <a:ea typeface="楷体_GB2312" pitchFamily="49" charset="-122"/>
              </a:rPr>
              <a:t>，变形抗力</a:t>
            </a:r>
            <a:r>
              <a:rPr lang="en-US" altLang="zh-CN" sz="2000" b="1" dirty="0">
                <a:solidFill>
                  <a:srgbClr val="0000FF"/>
                </a:solidFill>
                <a:latin typeface="楷体_GB2312" pitchFamily="49" charset="-122"/>
                <a:ea typeface="楷体_GB2312" pitchFamily="49" charset="-122"/>
              </a:rPr>
              <a:t>P↓</a:t>
            </a:r>
            <a:r>
              <a:rPr lang="zh-CN" altLang="en-US" sz="2000" b="1" dirty="0">
                <a:solidFill>
                  <a:srgbClr val="0000FF"/>
                </a:solidFill>
                <a:latin typeface="楷体_GB2312" pitchFamily="49" charset="-122"/>
                <a:ea typeface="楷体_GB2312" pitchFamily="49" charset="-122"/>
              </a:rPr>
              <a:t>，→可锻性↑</a:t>
            </a:r>
            <a:endParaRPr lang="zh-CN" altLang="en-US" sz="2000" b="1" dirty="0">
              <a:solidFill>
                <a:srgbClr val="0000FF"/>
              </a:solidFill>
              <a:latin typeface="楷体_GB2312" pitchFamily="49" charset="-122"/>
              <a:ea typeface="楷体_GB2312" pitchFamily="49" charset="-122"/>
            </a:endParaRPr>
          </a:p>
        </p:txBody>
      </p:sp>
      <p:grpSp>
        <p:nvGrpSpPr>
          <p:cNvPr id="2" name="Group 7"/>
          <p:cNvGrpSpPr/>
          <p:nvPr/>
        </p:nvGrpSpPr>
        <p:grpSpPr>
          <a:xfrm>
            <a:off x="5219700" y="2492375"/>
            <a:ext cx="3635375" cy="4249738"/>
            <a:chOff x="6300" y="7056"/>
            <a:chExt cx="3420" cy="4056"/>
          </a:xfrm>
        </p:grpSpPr>
        <p:pic>
          <p:nvPicPr>
            <p:cNvPr id="41995" name="Picture 8" descr="碳钢的锻造温度"/>
            <p:cNvPicPr>
              <a:picLocks noChangeAspect="1"/>
            </p:cNvPicPr>
            <p:nvPr/>
          </p:nvPicPr>
          <p:blipFill>
            <a:blip r:embed="rId1"/>
            <a:srcRect l="28021" r="33481"/>
            <a:stretch>
              <a:fillRect/>
            </a:stretch>
          </p:blipFill>
          <p:spPr>
            <a:xfrm>
              <a:off x="6300" y="7056"/>
              <a:ext cx="3277" cy="3432"/>
            </a:xfrm>
            <a:prstGeom prst="rect">
              <a:avLst/>
            </a:prstGeom>
            <a:noFill/>
            <a:ln w="76200">
              <a:noFill/>
            </a:ln>
          </p:spPr>
        </p:pic>
        <p:sp>
          <p:nvSpPr>
            <p:cNvPr id="41996" name="Text Box 9"/>
            <p:cNvSpPr txBox="1"/>
            <p:nvPr/>
          </p:nvSpPr>
          <p:spPr>
            <a:xfrm>
              <a:off x="6660" y="10644"/>
              <a:ext cx="3060" cy="468"/>
            </a:xfrm>
            <a:prstGeom prst="rect">
              <a:avLst/>
            </a:prstGeom>
            <a:noFill/>
            <a:ln w="9525">
              <a:noFill/>
            </a:ln>
          </p:spPr>
          <p:txBody>
            <a:bodyPr lIns="0" tIns="0" rIns="0" bIns="0"/>
            <a:p>
              <a:pPr eaLnBrk="1" hangingPunct="1"/>
              <a:r>
                <a:rPr lang="zh-CN" altLang="en-US" sz="1400" b="1" dirty="0">
                  <a:latin typeface="楷体_GB2312" pitchFamily="49" charset="-122"/>
                  <a:ea typeface="楷体_GB2312" pitchFamily="49" charset="-122"/>
                </a:rPr>
                <a:t>图</a:t>
              </a:r>
              <a:r>
                <a:rPr lang="en-US" altLang="zh-CN" sz="1400" b="1" dirty="0">
                  <a:latin typeface="楷体_GB2312" pitchFamily="49" charset="-122"/>
                  <a:ea typeface="楷体_GB2312" pitchFamily="49" charset="-122"/>
                </a:rPr>
                <a:t>3.8  </a:t>
              </a:r>
              <a:r>
                <a:rPr lang="zh-CN" altLang="en-US" sz="1400" b="1" dirty="0">
                  <a:latin typeface="楷体_GB2312" pitchFamily="49" charset="-122"/>
                  <a:ea typeface="楷体_GB2312" pitchFamily="49" charset="-122"/>
                </a:rPr>
                <a:t>碳钢的锻造温度范围</a:t>
              </a:r>
              <a:r>
                <a:rPr lang="zh-CN" altLang="en-US" sz="1400" dirty="0">
                  <a:latin typeface="楷体_GB2312" pitchFamily="49" charset="-122"/>
                  <a:ea typeface="楷体_GB2312" pitchFamily="49" charset="-122"/>
                </a:rPr>
                <a:t>	</a:t>
              </a:r>
              <a:endParaRPr lang="zh-CN" altLang="en-US" sz="1400" dirty="0">
                <a:latin typeface="楷体_GB2312" pitchFamily="49" charset="-122"/>
                <a:ea typeface="楷体_GB2312" pitchFamily="49" charset="-122"/>
              </a:endParaRPr>
            </a:p>
            <a:p>
              <a:pPr eaLnBrk="1" hangingPunct="1"/>
              <a:endParaRPr lang="en-US" altLang="zh-CN" sz="1600" dirty="0">
                <a:latin typeface="Verdana" panose="020B0604030504040204" pitchFamily="34" charset="0"/>
              </a:endParaRPr>
            </a:p>
          </p:txBody>
        </p:sp>
      </p:grpSp>
      <p:sp>
        <p:nvSpPr>
          <p:cNvPr id="41989" name="Rectangle 13"/>
          <p:cNvSpPr/>
          <p:nvPr/>
        </p:nvSpPr>
        <p:spPr>
          <a:xfrm>
            <a:off x="0" y="2105025"/>
            <a:ext cx="9144000" cy="0"/>
          </a:xfrm>
          <a:prstGeom prst="rect">
            <a:avLst/>
          </a:prstGeom>
          <a:noFill/>
          <a:ln w="9525">
            <a:noFill/>
          </a:ln>
        </p:spPr>
        <p:txBody>
          <a:bodyPr wrap="none" anchor="ctr" anchorCtr="0">
            <a:spAutoFit/>
          </a:bodyPr>
          <a:p>
            <a:pPr eaLnBrk="1" hangingPunct="1"/>
            <a:endParaRPr lang="zh-CN" altLang="en-US" dirty="0">
              <a:latin typeface="Arial" panose="020B0604020202020204" pitchFamily="34" charset="0"/>
            </a:endParaRPr>
          </a:p>
        </p:txBody>
      </p:sp>
      <p:sp>
        <p:nvSpPr>
          <p:cNvPr id="41990" name="Rectangle 14"/>
          <p:cNvSpPr/>
          <p:nvPr/>
        </p:nvSpPr>
        <p:spPr>
          <a:xfrm>
            <a:off x="0" y="2105025"/>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sp>
        <p:nvSpPr>
          <p:cNvPr id="41991" name="Rectangle 32"/>
          <p:cNvSpPr/>
          <p:nvPr/>
        </p:nvSpPr>
        <p:spPr>
          <a:xfrm>
            <a:off x="0" y="2105025"/>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sp>
        <p:nvSpPr>
          <p:cNvPr id="681003" name="Rectangle 43"/>
          <p:cNvSpPr/>
          <p:nvPr/>
        </p:nvSpPr>
        <p:spPr>
          <a:xfrm>
            <a:off x="642938" y="4643438"/>
            <a:ext cx="4248150" cy="1616075"/>
          </a:xfrm>
          <a:prstGeom prst="rect">
            <a:avLst/>
          </a:prstGeom>
          <a:noFill/>
          <a:ln w="9525">
            <a:noFill/>
          </a:ln>
        </p:spPr>
        <p:txBody>
          <a:bodyPr anchor="ctr" anchorCtr="0">
            <a:spAutoFit/>
          </a:bodyPr>
          <a:p>
            <a:pPr indent="304800" eaLnBrk="1" hangingPunct="1">
              <a:buFont typeface="Wingdings" panose="05000000000000000000" pitchFamily="2" charset="2"/>
              <a:buChar char="Ø"/>
            </a:pPr>
            <a:r>
              <a:rPr lang="zh-CN" altLang="en-US" sz="2000" b="1" dirty="0">
                <a:solidFill>
                  <a:srgbClr val="009900"/>
                </a:solidFill>
                <a:latin typeface="楷体_GB2312" pitchFamily="49" charset="-122"/>
                <a:ea typeface="楷体_GB2312" pitchFamily="49" charset="-122"/>
              </a:rPr>
              <a:t>碳素结构钢，</a:t>
            </a:r>
            <a:r>
              <a:rPr lang="zh-CN" altLang="en-US" sz="2000" b="1" dirty="0">
                <a:latin typeface="楷体_GB2312" pitchFamily="49" charset="-122"/>
                <a:ea typeface="楷体_GB2312" pitchFamily="49" charset="-122"/>
              </a:rPr>
              <a:t>加热温度超过</a:t>
            </a:r>
            <a:r>
              <a:rPr lang="en-US" altLang="zh-CN" sz="2000" b="1" dirty="0">
                <a:latin typeface="楷体_GB2312" pitchFamily="49" charset="-122"/>
                <a:ea typeface="楷体_GB2312" pitchFamily="49" charset="-122"/>
              </a:rPr>
              <a:t>A</a:t>
            </a:r>
            <a:r>
              <a:rPr lang="en-US" altLang="zh-CN" sz="2000" b="1" baseline="-30000" dirty="0">
                <a:latin typeface="楷体_GB2312" pitchFamily="49" charset="-122"/>
                <a:ea typeface="楷体_GB2312" pitchFamily="49" charset="-122"/>
              </a:rPr>
              <a:t>3</a:t>
            </a:r>
            <a:r>
              <a:rPr lang="zh-CN" altLang="en-US" sz="2000" b="1" dirty="0">
                <a:latin typeface="楷体_GB2312" pitchFamily="49" charset="-122"/>
                <a:ea typeface="楷体_GB2312" pitchFamily="49" charset="-122"/>
              </a:rPr>
              <a:t>线，组织为单一</a:t>
            </a:r>
            <a:r>
              <a:rPr lang="en-US" altLang="zh-CN" sz="2000" b="1" dirty="0">
                <a:latin typeface="楷体_GB2312" pitchFamily="49" charset="-122"/>
                <a:ea typeface="楷体_GB2312" pitchFamily="49" charset="-122"/>
              </a:rPr>
              <a:t>A</a:t>
            </a:r>
            <a:r>
              <a:rPr lang="zh-CN" altLang="en-US" sz="2000" b="1" dirty="0">
                <a:latin typeface="楷体_GB2312" pitchFamily="49" charset="-122"/>
                <a:ea typeface="楷体_GB2312" pitchFamily="49" charset="-122"/>
              </a:rPr>
              <a:t>，很适宜塑性加工。</a:t>
            </a:r>
            <a:r>
              <a:rPr lang="zh-CN" altLang="en-US" sz="2000" b="1" dirty="0">
                <a:solidFill>
                  <a:srgbClr val="000000"/>
                </a:solidFill>
                <a:latin typeface="楷体_GB2312" pitchFamily="49" charset="-122"/>
                <a:ea typeface="楷体_GB2312" pitchFamily="49" charset="-122"/>
              </a:rPr>
              <a:t>锻造温度范围的确定</a:t>
            </a:r>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3.8</a:t>
            </a:r>
            <a:r>
              <a:rPr lang="zh-CN" altLang="en-US" sz="2000" b="1" dirty="0">
                <a:latin typeface="楷体_GB2312" pitchFamily="49" charset="-122"/>
                <a:ea typeface="楷体_GB2312" pitchFamily="49" charset="-122"/>
              </a:rPr>
              <a:t>）：                      </a:t>
            </a:r>
            <a:r>
              <a:rPr lang="zh-CN" altLang="en-US" sz="2000" b="1" dirty="0">
                <a:solidFill>
                  <a:srgbClr val="FF0066"/>
                </a:solidFill>
                <a:latin typeface="楷体_GB2312" pitchFamily="49" charset="-122"/>
                <a:ea typeface="楷体_GB2312" pitchFamily="49" charset="-122"/>
              </a:rPr>
              <a:t>始锻温度：</a:t>
            </a:r>
            <a:r>
              <a:rPr lang="zh-CN" altLang="en-US" sz="2000" b="1" dirty="0">
                <a:solidFill>
                  <a:srgbClr val="0000FF"/>
                </a:solidFill>
                <a:latin typeface="楷体_GB2312" pitchFamily="49" charset="-122"/>
                <a:ea typeface="楷体_GB2312" pitchFamily="49" charset="-122"/>
              </a:rPr>
              <a:t>固相线以下</a:t>
            </a:r>
            <a:r>
              <a:rPr lang="en-US" altLang="zh-CN" sz="2000" b="1" dirty="0">
                <a:solidFill>
                  <a:srgbClr val="0000FF"/>
                </a:solidFill>
                <a:latin typeface="楷体_GB2312" pitchFamily="49" charset="-122"/>
                <a:ea typeface="楷体_GB2312" pitchFamily="49" charset="-122"/>
              </a:rPr>
              <a:t>200℃</a:t>
            </a:r>
            <a:r>
              <a:rPr lang="zh-CN" altLang="en-US" sz="2000" b="1" dirty="0">
                <a:solidFill>
                  <a:srgbClr val="0000FF"/>
                </a:solidFill>
                <a:latin typeface="楷体_GB2312" pitchFamily="49" charset="-122"/>
                <a:ea typeface="楷体_GB2312" pitchFamily="49" charset="-122"/>
              </a:rPr>
              <a:t>左右</a:t>
            </a:r>
            <a:r>
              <a:rPr lang="zh-CN" altLang="en-US" b="1" dirty="0">
                <a:solidFill>
                  <a:srgbClr val="0000FF"/>
                </a:solidFill>
                <a:latin typeface="Arial" panose="020B0604020202020204" pitchFamily="34" charset="0"/>
                <a:ea typeface="楷体_GB2312" pitchFamily="49" charset="-122"/>
              </a:rPr>
              <a:t>。</a:t>
            </a:r>
            <a:r>
              <a:rPr lang="zh-CN" altLang="en-US" sz="2000" b="1" dirty="0">
                <a:solidFill>
                  <a:srgbClr val="FF0066"/>
                </a:solidFill>
                <a:latin typeface="楷体_GB2312" pitchFamily="49" charset="-122"/>
                <a:ea typeface="楷体_GB2312" pitchFamily="49" charset="-122"/>
              </a:rPr>
              <a:t>终锻温度：</a:t>
            </a:r>
            <a:r>
              <a:rPr lang="en-US" altLang="zh-CN" sz="2000" b="1" dirty="0">
                <a:solidFill>
                  <a:srgbClr val="0000FF"/>
                </a:solidFill>
                <a:latin typeface="楷体_GB2312" pitchFamily="49" charset="-122"/>
                <a:ea typeface="楷体_GB2312" pitchFamily="49" charset="-122"/>
              </a:rPr>
              <a:t>800</a:t>
            </a:r>
            <a:r>
              <a:rPr lang="zh-CN" altLang="en-US" sz="2000" b="1" dirty="0">
                <a:solidFill>
                  <a:srgbClr val="0000FF"/>
                </a:solidFill>
                <a:latin typeface="楷体_GB2312" pitchFamily="49" charset="-122"/>
                <a:ea typeface="楷体_GB2312" pitchFamily="49" charset="-122"/>
              </a:rPr>
              <a:t>～</a:t>
            </a:r>
            <a:r>
              <a:rPr lang="en-US" altLang="zh-CN" sz="2000" b="1" dirty="0">
                <a:solidFill>
                  <a:srgbClr val="0000FF"/>
                </a:solidFill>
                <a:latin typeface="楷体_GB2312" pitchFamily="49" charset="-122"/>
                <a:ea typeface="楷体_GB2312" pitchFamily="49" charset="-122"/>
              </a:rPr>
              <a:t>750℃</a:t>
            </a:r>
            <a:r>
              <a:rPr lang="zh-CN" altLang="en-US" sz="2000" b="1" dirty="0">
                <a:solidFill>
                  <a:srgbClr val="0000FF"/>
                </a:solidFill>
                <a:latin typeface="楷体_GB2312" pitchFamily="49" charset="-122"/>
                <a:ea typeface="楷体_GB2312" pitchFamily="49" charset="-122"/>
              </a:rPr>
              <a:t>之间。  </a:t>
            </a:r>
            <a:endParaRPr lang="zh-CN" altLang="en-US" sz="2000" b="1" dirty="0">
              <a:solidFill>
                <a:srgbClr val="0000FF"/>
              </a:solidFill>
              <a:latin typeface="楷体_GB2312" pitchFamily="49" charset="-122"/>
              <a:ea typeface="楷体_GB2312" pitchFamily="49" charset="-122"/>
            </a:endParaRPr>
          </a:p>
        </p:txBody>
      </p:sp>
      <p:pic>
        <p:nvPicPr>
          <p:cNvPr id="41993" name="Picture 12"/>
          <p:cNvPicPr>
            <a:picLocks noChangeAspect="1"/>
          </p:cNvPicPr>
          <p:nvPr/>
        </p:nvPicPr>
        <p:blipFill>
          <a:blip r:embed="rId2"/>
          <a:stretch>
            <a:fillRect/>
          </a:stretch>
        </p:blipFill>
        <p:spPr>
          <a:xfrm>
            <a:off x="428625" y="2428875"/>
            <a:ext cx="4729163" cy="2228850"/>
          </a:xfrm>
          <a:prstGeom prst="rect">
            <a:avLst/>
          </a:prstGeom>
          <a:noFill/>
          <a:ln w="9525">
            <a:noFill/>
          </a:ln>
        </p:spPr>
      </p:pic>
      <p:sp>
        <p:nvSpPr>
          <p:cNvPr id="14" name="圆角矩形标注 13"/>
          <p:cNvSpPr/>
          <p:nvPr/>
        </p:nvSpPr>
        <p:spPr>
          <a:xfrm>
            <a:off x="3857625" y="2428875"/>
            <a:ext cx="1428750" cy="571500"/>
          </a:xfrm>
          <a:prstGeom prst="wedgeRoundRectCallout">
            <a:avLst>
              <a:gd name="adj1" fmla="val -43125"/>
              <a:gd name="adj2" fmla="val 62500"/>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lt1"/>
                </a:solidFill>
                <a:effectLst/>
                <a:uLnTx/>
                <a:uFillTx/>
                <a:latin typeface="+mn-lt"/>
                <a:ea typeface="+mn-ea"/>
                <a:cs typeface="+mn-cs"/>
              </a:rPr>
              <a:t>晶粒大，变形抗力大</a:t>
            </a: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80966">
                                            <p:txEl>
                                              <p:charRg st="0" end="14"/>
                                            </p:txEl>
                                          </p:spTgt>
                                        </p:tgtEl>
                                        <p:attrNameLst>
                                          <p:attrName>style.visibility</p:attrName>
                                        </p:attrNameLst>
                                      </p:cBhvr>
                                      <p:to>
                                        <p:strVal val="visible"/>
                                      </p:to>
                                    </p:set>
                                    <p:animEffect transition="in" filter="blinds(horizontal)">
                                      <p:cBhvr>
                                        <p:cTn id="7" dur="500"/>
                                        <p:tgtEl>
                                          <p:spTgt spid="680966">
                                            <p:txEl>
                                              <p:charRg st="0" end="1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80966">
                                            <p:txEl>
                                              <p:charRg st="14" end="46"/>
                                            </p:txEl>
                                          </p:spTgt>
                                        </p:tgtEl>
                                        <p:attrNameLst>
                                          <p:attrName>style.visibility</p:attrName>
                                        </p:attrNameLst>
                                      </p:cBhvr>
                                      <p:to>
                                        <p:strVal val="visible"/>
                                      </p:to>
                                    </p:set>
                                    <p:animEffect transition="in" filter="blinds(horizontal)">
                                      <p:cBhvr>
                                        <p:cTn id="10" dur="500"/>
                                        <p:tgtEl>
                                          <p:spTgt spid="680966">
                                            <p:txEl>
                                              <p:charRg st="14" end="4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80966">
                                            <p:txEl>
                                              <p:charRg st="46" end="74"/>
                                            </p:txEl>
                                          </p:spTgt>
                                        </p:tgtEl>
                                        <p:attrNameLst>
                                          <p:attrName>style.visibility</p:attrName>
                                        </p:attrNameLst>
                                      </p:cBhvr>
                                      <p:to>
                                        <p:strVal val="visible"/>
                                      </p:to>
                                    </p:set>
                                    <p:animEffect transition="in" filter="blinds(horizontal)">
                                      <p:cBhvr>
                                        <p:cTn id="13" dur="500"/>
                                        <p:tgtEl>
                                          <p:spTgt spid="680966">
                                            <p:txEl>
                                              <p:charRg st="46" end="7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ppt_x"/>
                                          </p:val>
                                        </p:tav>
                                        <p:tav tm="100000">
                                          <p:val>
                                            <p:strVal val="#ppt_x"/>
                                          </p:val>
                                        </p:tav>
                                      </p:tavLst>
                                    </p:anim>
                                    <p:anim calcmode="lin" valueType="num">
                                      <p:cBhvr additive="base">
                                        <p:cTn id="1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681003"/>
                                        </p:tgtEl>
                                        <p:attrNameLst>
                                          <p:attrName>style.visibility</p:attrName>
                                        </p:attrNameLst>
                                      </p:cBhvr>
                                      <p:to>
                                        <p:strVal val="visible"/>
                                      </p:to>
                                    </p:set>
                                    <p:animEffect transition="in" filter="blinds(horizontal)">
                                      <p:cBhvr>
                                        <p:cTn id="24" dur="500"/>
                                        <p:tgtEl>
                                          <p:spTgt spid="68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100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a:xfrm>
            <a:off x="2590800" y="307975"/>
            <a:ext cx="6019800" cy="817563"/>
          </a:xfrm>
        </p:spPr>
        <p:txBody>
          <a:bodyPr vert="horz" wrap="square" lIns="91440" tIns="45720" rIns="91440" bIns="45720" anchor="ctr" anchorCtr="0"/>
          <a:p>
            <a:pPr algn="ctr" eaLnBrk="1" hangingPunct="1"/>
            <a:r>
              <a:rPr lang="zh-CN" altLang="en-US" sz="4000" dirty="0">
                <a:ea typeface="楷体_GB2312" pitchFamily="49" charset="-122"/>
              </a:rPr>
              <a:t>金属的可锻性</a:t>
            </a:r>
            <a:endParaRPr lang="zh-CN" altLang="en-US" sz="4000" dirty="0">
              <a:ea typeface="楷体_GB2312" pitchFamily="49" charset="-122"/>
            </a:endParaRPr>
          </a:p>
        </p:txBody>
      </p:sp>
      <p:sp>
        <p:nvSpPr>
          <p:cNvPr id="687107" name="Rectangle 3"/>
          <p:cNvSpPr>
            <a:spLocks noGrp="1"/>
          </p:cNvSpPr>
          <p:nvPr>
            <p:ph type="body" sz="half" idx="1"/>
          </p:nvPr>
        </p:nvSpPr>
        <p:spPr>
          <a:xfrm>
            <a:off x="252413" y="1412875"/>
            <a:ext cx="5040312" cy="4895850"/>
          </a:xfrm>
        </p:spPr>
        <p:txBody>
          <a:bodyPr vert="horz" wrap="square" lIns="91440" tIns="45720" rIns="91440" bIns="45720" anchor="t" anchorCtr="0"/>
          <a:p>
            <a:pPr eaLnBrk="1" hangingPunct="1">
              <a:lnSpc>
                <a:spcPct val="80000"/>
              </a:lnSpc>
              <a:buClrTx/>
              <a:buSzTx/>
              <a:buFontTx/>
            </a:pPr>
            <a:r>
              <a:rPr lang="zh-CN" altLang="en-US" sz="2400" b="1" dirty="0">
                <a:latin typeface="楷体_GB2312" pitchFamily="49" charset="-122"/>
                <a:ea typeface="楷体_GB2312" pitchFamily="49" charset="-122"/>
              </a:rPr>
              <a:t>加工条件</a:t>
            </a:r>
            <a:endParaRPr lang="zh-CN" altLang="en-US" sz="2400" b="1" dirty="0">
              <a:latin typeface="楷体_GB2312" pitchFamily="49" charset="-122"/>
              <a:ea typeface="楷体_GB2312" pitchFamily="49" charset="-122"/>
            </a:endParaRPr>
          </a:p>
          <a:p>
            <a:pPr lvl="1" eaLnBrk="1" hangingPunct="1">
              <a:lnSpc>
                <a:spcPct val="80000"/>
              </a:lnSpc>
            </a:pPr>
            <a:r>
              <a:rPr lang="zh-CN" altLang="en-US" sz="2000" b="1" dirty="0">
                <a:solidFill>
                  <a:srgbClr val="FF0000"/>
                </a:solidFill>
                <a:latin typeface="楷体_GB2312" pitchFamily="49" charset="-122"/>
                <a:ea typeface="楷体_GB2312" pitchFamily="49" charset="-122"/>
              </a:rPr>
              <a:t>变形速度的影响</a:t>
            </a:r>
            <a:r>
              <a:rPr lang="zh-CN" altLang="en-US" sz="2000" b="1" dirty="0">
                <a:solidFill>
                  <a:srgbClr val="009900"/>
                </a:solidFill>
                <a:latin typeface="楷体_GB2312" pitchFamily="49" charset="-122"/>
                <a:ea typeface="楷体_GB2312" pitchFamily="49" charset="-122"/>
              </a:rPr>
              <a:t>（单位时间内的变形程度）</a:t>
            </a:r>
            <a:endParaRPr lang="zh-CN" altLang="en-US" sz="2000" b="1" dirty="0">
              <a:solidFill>
                <a:srgbClr val="009900"/>
              </a:solidFill>
              <a:latin typeface="楷体_GB2312" pitchFamily="49" charset="-122"/>
              <a:ea typeface="楷体_GB2312" pitchFamily="49" charset="-122"/>
            </a:endParaRPr>
          </a:p>
          <a:p>
            <a:pPr lvl="1" eaLnBrk="1" hangingPunct="1">
              <a:lnSpc>
                <a:spcPct val="80000"/>
              </a:lnSpc>
              <a:buNone/>
            </a:pPr>
            <a:r>
              <a:rPr lang="zh-CN" altLang="en-US" sz="2000" b="1" dirty="0">
                <a:latin typeface="楷体_GB2312" pitchFamily="49" charset="-122"/>
                <a:ea typeface="楷体_GB2312" pitchFamily="49" charset="-122"/>
              </a:rPr>
              <a:t>   </a:t>
            </a:r>
            <a:r>
              <a:rPr lang="zh-CN" altLang="en-US" sz="2000" b="1" dirty="0">
                <a:solidFill>
                  <a:srgbClr val="CC3300"/>
                </a:solidFill>
                <a:latin typeface="楷体_GB2312" pitchFamily="49" charset="-122"/>
                <a:ea typeface="楷体_GB2312" pitchFamily="49" charset="-122"/>
              </a:rPr>
              <a:t>变形速度≤</a:t>
            </a:r>
            <a:r>
              <a:rPr lang="en-US" altLang="zh-CN" sz="2000" b="1" dirty="0">
                <a:solidFill>
                  <a:srgbClr val="CC3300"/>
                </a:solidFill>
                <a:latin typeface="楷体_GB2312" pitchFamily="49" charset="-122"/>
                <a:ea typeface="楷体_GB2312" pitchFamily="49" charset="-122"/>
              </a:rPr>
              <a:t>a </a:t>
            </a:r>
            <a:r>
              <a:rPr lang="zh-CN" altLang="en-US" sz="2000" b="1" dirty="0">
                <a:solidFill>
                  <a:srgbClr val="CC3300"/>
                </a:solidFill>
                <a:latin typeface="楷体_GB2312" pitchFamily="49" charset="-122"/>
                <a:ea typeface="楷体_GB2312" pitchFamily="49" charset="-122"/>
              </a:rPr>
              <a:t>时：</a:t>
            </a:r>
            <a:r>
              <a:rPr lang="zh-CN" altLang="en-US" sz="2000" b="1" dirty="0">
                <a:latin typeface="楷体_GB2312" pitchFamily="49" charset="-122"/>
                <a:ea typeface="楷体_GB2312" pitchFamily="49" charset="-122"/>
              </a:rPr>
              <a:t>变形抗力↑、塑性↓，可锻性↓</a:t>
            </a:r>
            <a:endParaRPr lang="en-US" altLang="zh-CN" sz="2000" b="1" dirty="0">
              <a:latin typeface="楷体_GB2312" pitchFamily="49" charset="-122"/>
              <a:ea typeface="楷体_GB2312" pitchFamily="49" charset="-122"/>
            </a:endParaRPr>
          </a:p>
          <a:p>
            <a:pPr lvl="1" eaLnBrk="1" hangingPunct="1">
              <a:lnSpc>
                <a:spcPct val="80000"/>
              </a:lnSpc>
              <a:buNone/>
            </a:pPr>
            <a:r>
              <a:rPr lang="zh-CN" altLang="en-US" sz="2000" b="1" dirty="0">
                <a:latin typeface="楷体_GB2312" pitchFamily="49" charset="-122"/>
                <a:ea typeface="楷体_GB2312" pitchFamily="49" charset="-122"/>
              </a:rPr>
              <a:t>回复与再结晶来不及抵抗变形强化</a:t>
            </a:r>
            <a:endParaRPr lang="zh-CN" altLang="en-US" sz="2000" b="1" dirty="0">
              <a:latin typeface="楷体_GB2312" pitchFamily="49" charset="-122"/>
              <a:ea typeface="楷体_GB2312" pitchFamily="49" charset="-122"/>
            </a:endParaRPr>
          </a:p>
          <a:p>
            <a:pPr lvl="1" eaLnBrk="1" hangingPunct="1">
              <a:lnSpc>
                <a:spcPct val="80000"/>
              </a:lnSpc>
              <a:buNone/>
            </a:pPr>
            <a:r>
              <a:rPr lang="zh-CN" altLang="en-US" sz="2000" b="1" dirty="0">
                <a:latin typeface="楷体_GB2312" pitchFamily="49" charset="-122"/>
                <a:ea typeface="楷体_GB2312" pitchFamily="49" charset="-122"/>
              </a:rPr>
              <a:t>   </a:t>
            </a:r>
            <a:r>
              <a:rPr lang="zh-CN" altLang="en-US" sz="2000" b="1" dirty="0">
                <a:solidFill>
                  <a:srgbClr val="CC3300"/>
                </a:solidFill>
                <a:latin typeface="楷体_GB2312" pitchFamily="49" charset="-122"/>
                <a:ea typeface="楷体_GB2312" pitchFamily="49" charset="-122"/>
              </a:rPr>
              <a:t>变形速度≥</a:t>
            </a:r>
            <a:r>
              <a:rPr lang="en-US" altLang="zh-CN" sz="2000" b="1" dirty="0">
                <a:solidFill>
                  <a:srgbClr val="CC3300"/>
                </a:solidFill>
                <a:latin typeface="楷体_GB2312" pitchFamily="49" charset="-122"/>
                <a:ea typeface="楷体_GB2312" pitchFamily="49" charset="-122"/>
              </a:rPr>
              <a:t>a </a:t>
            </a:r>
            <a:r>
              <a:rPr lang="zh-CN" altLang="en-US" sz="2000" b="1" dirty="0">
                <a:solidFill>
                  <a:srgbClr val="CC3300"/>
                </a:solidFill>
                <a:latin typeface="楷体_GB2312" pitchFamily="49" charset="-122"/>
                <a:ea typeface="楷体_GB2312" pitchFamily="49" charset="-122"/>
              </a:rPr>
              <a:t>时：</a:t>
            </a:r>
            <a:r>
              <a:rPr lang="zh-CN" altLang="en-US" sz="2000" b="1" dirty="0">
                <a:latin typeface="楷体_GB2312" pitchFamily="49" charset="-122"/>
                <a:ea typeface="楷体_GB2312" pitchFamily="49" charset="-122"/>
              </a:rPr>
              <a:t>塑性↑、变形抗力↓，可锻性↑</a:t>
            </a:r>
            <a:endParaRPr lang="zh-CN" altLang="en-US" sz="2000" b="1" dirty="0">
              <a:latin typeface="楷体_GB2312" pitchFamily="49" charset="-122"/>
              <a:ea typeface="楷体_GB2312" pitchFamily="49" charset="-122"/>
            </a:endParaRPr>
          </a:p>
          <a:p>
            <a:pPr lvl="1" eaLnBrk="1" hangingPunct="1">
              <a:lnSpc>
                <a:spcPct val="80000"/>
              </a:lnSpc>
            </a:pPr>
            <a:r>
              <a:rPr lang="zh-CN" altLang="en-US" sz="2000" b="1" dirty="0">
                <a:solidFill>
                  <a:srgbClr val="FF0000"/>
                </a:solidFill>
                <a:latin typeface="楷体_GB2312" pitchFamily="49" charset="-122"/>
                <a:ea typeface="楷体_GB2312" pitchFamily="49" charset="-122"/>
              </a:rPr>
              <a:t>原因：</a:t>
            </a:r>
            <a:r>
              <a:rPr lang="zh-CN" altLang="en-US" sz="2000" b="1" dirty="0">
                <a:latin typeface="楷体_GB2312" pitchFamily="49" charset="-122"/>
                <a:ea typeface="楷体_GB2312" pitchFamily="49" charset="-122"/>
              </a:rPr>
              <a:t>塑性变形引起的</a:t>
            </a:r>
            <a:r>
              <a:rPr lang="zh-CN" altLang="en-US" sz="2000" b="1" dirty="0">
                <a:latin typeface="宋体" panose="02010600030101010101" pitchFamily="2" charset="-122"/>
                <a:ea typeface="楷体_GB2312" pitchFamily="49" charset="-122"/>
              </a:rPr>
              <a:t>“</a:t>
            </a:r>
            <a:r>
              <a:rPr lang="zh-CN" altLang="en-US" sz="2000" b="1" dirty="0">
                <a:latin typeface="楷体_GB2312" pitchFamily="49" charset="-122"/>
                <a:ea typeface="楷体_GB2312" pitchFamily="49" charset="-122"/>
              </a:rPr>
              <a:t>热效应</a:t>
            </a:r>
            <a:r>
              <a:rPr lang="zh-CN" altLang="en-US" sz="2000" b="1" dirty="0">
                <a:latin typeface="宋体" panose="02010600030101010101" pitchFamily="2" charset="-122"/>
                <a:ea typeface="楷体_GB2312" pitchFamily="49" charset="-122"/>
              </a:rPr>
              <a:t>”</a:t>
            </a:r>
            <a:r>
              <a:rPr lang="zh-CN" altLang="en-US" sz="2000" b="1" dirty="0">
                <a:latin typeface="楷体_GB2312" pitchFamily="49" charset="-122"/>
                <a:ea typeface="楷体_GB2312" pitchFamily="49" charset="-122"/>
              </a:rPr>
              <a:t>。</a:t>
            </a:r>
            <a:endParaRPr lang="zh-CN" altLang="en-US" sz="2000" b="1" dirty="0">
              <a:latin typeface="楷体_GB2312" pitchFamily="49" charset="-122"/>
              <a:ea typeface="楷体_GB2312" pitchFamily="49" charset="-122"/>
            </a:endParaRPr>
          </a:p>
          <a:p>
            <a:pPr lvl="1" eaLnBrk="1" hangingPunct="1">
              <a:lnSpc>
                <a:spcPct val="80000"/>
              </a:lnSpc>
              <a:buNone/>
            </a:pPr>
            <a:r>
              <a:rPr lang="zh-CN" altLang="en-US" sz="2000" b="1" dirty="0">
                <a:latin typeface="楷体_GB2312" pitchFamily="49" charset="-122"/>
                <a:ea typeface="楷体_GB2312" pitchFamily="49" charset="-122"/>
              </a:rPr>
              <a:t>     当变形速度相对较小时，相应的加工硬化现象也很显著和剧烈，使得变形抗力上升，塑性下降，导致可锻性下降。</a:t>
            </a:r>
            <a:endParaRPr lang="zh-CN" altLang="en-US" sz="2000" b="1" dirty="0">
              <a:latin typeface="楷体_GB2312" pitchFamily="49" charset="-122"/>
              <a:ea typeface="楷体_GB2312" pitchFamily="49" charset="-122"/>
            </a:endParaRPr>
          </a:p>
          <a:p>
            <a:pPr lvl="1" eaLnBrk="1" hangingPunct="1">
              <a:lnSpc>
                <a:spcPct val="80000"/>
              </a:lnSpc>
              <a:buNone/>
            </a:pPr>
            <a:r>
              <a:rPr lang="zh-CN" altLang="en-US" sz="2000" b="1" dirty="0">
                <a:solidFill>
                  <a:srgbClr val="0000FF"/>
                </a:solidFill>
                <a:latin typeface="楷体_GB2312" pitchFamily="49" charset="-122"/>
                <a:ea typeface="楷体_GB2312" pitchFamily="49" charset="-122"/>
              </a:rPr>
              <a:t>      当变形速度较大时，金属内部变形剧烈，晶粒间摩擦加剧，使一部分塑性变形功转化为热能，</a:t>
            </a:r>
            <a:r>
              <a:rPr lang="zh-CN" altLang="en-US" sz="2000" b="1" dirty="0">
                <a:solidFill>
                  <a:srgbClr val="FF0066"/>
                </a:solidFill>
                <a:latin typeface="楷体_GB2312" pitchFamily="49" charset="-122"/>
                <a:ea typeface="楷体_GB2312" pitchFamily="49" charset="-122"/>
              </a:rPr>
              <a:t>使金属温度升高，称为热效应现象，</a:t>
            </a:r>
            <a:r>
              <a:rPr lang="zh-CN" altLang="en-US" sz="2000" b="1" dirty="0">
                <a:solidFill>
                  <a:srgbClr val="0000FF"/>
                </a:solidFill>
                <a:latin typeface="楷体_GB2312" pitchFamily="49" charset="-122"/>
                <a:ea typeface="楷体_GB2312" pitchFamily="49" charset="-122"/>
              </a:rPr>
              <a:t>消除了加工硬化现象，导致可锻性提高。</a:t>
            </a:r>
            <a:endParaRPr lang="zh-CN" altLang="en-US" sz="2000" dirty="0">
              <a:solidFill>
                <a:srgbClr val="0000FF"/>
              </a:solidFill>
              <a:latin typeface="楷体_GB2312" pitchFamily="49" charset="-122"/>
              <a:ea typeface="楷体_GB2312" pitchFamily="49" charset="-122"/>
            </a:endParaRPr>
          </a:p>
        </p:txBody>
      </p:sp>
      <p:grpSp>
        <p:nvGrpSpPr>
          <p:cNvPr id="2" name="Group 4"/>
          <p:cNvGrpSpPr/>
          <p:nvPr/>
        </p:nvGrpSpPr>
        <p:grpSpPr>
          <a:xfrm>
            <a:off x="5500688" y="2286000"/>
            <a:ext cx="3529012" cy="3492500"/>
            <a:chOff x="7020" y="11099"/>
            <a:chExt cx="3600" cy="2665"/>
          </a:xfrm>
        </p:grpSpPr>
        <p:pic>
          <p:nvPicPr>
            <p:cNvPr id="43019" name="Picture 5" descr="变形速度对塑性的影响"/>
            <p:cNvPicPr>
              <a:picLocks noChangeAspect="1"/>
            </p:cNvPicPr>
            <p:nvPr/>
          </p:nvPicPr>
          <p:blipFill>
            <a:blip r:embed="rId1"/>
            <a:srcRect l="24695" t="6767" r="22459"/>
            <a:stretch>
              <a:fillRect/>
            </a:stretch>
          </p:blipFill>
          <p:spPr>
            <a:xfrm>
              <a:off x="7020" y="11099"/>
              <a:ext cx="3060" cy="2197"/>
            </a:xfrm>
            <a:prstGeom prst="rect">
              <a:avLst/>
            </a:prstGeom>
            <a:noFill/>
            <a:ln w="57150">
              <a:noFill/>
            </a:ln>
          </p:spPr>
        </p:pic>
        <p:sp>
          <p:nvSpPr>
            <p:cNvPr id="43020" name="Text Box 6"/>
            <p:cNvSpPr txBox="1"/>
            <p:nvPr/>
          </p:nvSpPr>
          <p:spPr>
            <a:xfrm>
              <a:off x="7200" y="13452"/>
              <a:ext cx="3420" cy="312"/>
            </a:xfrm>
            <a:prstGeom prst="rect">
              <a:avLst/>
            </a:prstGeom>
            <a:noFill/>
            <a:ln w="9525">
              <a:noFill/>
            </a:ln>
          </p:spPr>
          <p:txBody>
            <a:bodyPr lIns="0" tIns="0" rIns="0" bIns="0"/>
            <a:p>
              <a:pPr eaLnBrk="1" hangingPunct="1"/>
              <a:r>
                <a:rPr lang="zh-CN" altLang="en-US" sz="1400" b="1" dirty="0">
                  <a:latin typeface="楷体_GB2312" pitchFamily="49" charset="-122"/>
                  <a:ea typeface="楷体_GB2312" pitchFamily="49" charset="-122"/>
                </a:rPr>
                <a:t>图</a:t>
              </a:r>
              <a:r>
                <a:rPr lang="en-US" altLang="zh-CN" sz="1400" b="1" dirty="0">
                  <a:latin typeface="楷体_GB2312" pitchFamily="49" charset="-122"/>
                  <a:ea typeface="楷体_GB2312" pitchFamily="49" charset="-122"/>
                </a:rPr>
                <a:t>3-9 </a:t>
              </a:r>
              <a:r>
                <a:rPr lang="zh-CN" altLang="en-US" sz="1400" b="1" dirty="0">
                  <a:latin typeface="楷体_GB2312" pitchFamily="49" charset="-122"/>
                  <a:ea typeface="楷体_GB2312" pitchFamily="49" charset="-122"/>
                </a:rPr>
                <a:t>变形速度对塑性及变形抗力的影响</a:t>
              </a:r>
              <a:r>
                <a:rPr lang="zh-CN" altLang="en-US" sz="900" dirty="0">
                  <a:latin typeface="楷体_GB2312" pitchFamily="49" charset="-122"/>
                  <a:ea typeface="楷体_GB2312" pitchFamily="49" charset="-122"/>
                </a:rPr>
                <a:t>	</a:t>
              </a:r>
              <a:endParaRPr lang="zh-CN" altLang="en-US" sz="1000" dirty="0">
                <a:latin typeface="楷体_GB2312" pitchFamily="49" charset="-122"/>
                <a:ea typeface="楷体_GB2312" pitchFamily="49" charset="-122"/>
              </a:endParaRPr>
            </a:p>
            <a:p>
              <a:pPr eaLnBrk="1" hangingPunct="1"/>
              <a:endParaRPr lang="en-US" altLang="zh-CN" dirty="0">
                <a:latin typeface="楷体_GB2312" pitchFamily="49" charset="-122"/>
                <a:ea typeface="楷体_GB2312" pitchFamily="49" charset="-122"/>
              </a:endParaRPr>
            </a:p>
          </p:txBody>
        </p:sp>
      </p:grpSp>
      <p:pic>
        <p:nvPicPr>
          <p:cNvPr id="43013" name="Picture 7"/>
          <p:cNvPicPr>
            <a:picLocks noChangeAspect="1"/>
          </p:cNvPicPr>
          <p:nvPr>
            <p:ph sz="half" idx="2"/>
          </p:nvPr>
        </p:nvPicPr>
        <p:blipFill>
          <a:blip r:embed="rId2"/>
          <a:srcRect/>
          <a:stretch>
            <a:fillRect/>
          </a:stretch>
        </p:blipFill>
        <p:spPr>
          <a:xfrm>
            <a:off x="6546850" y="3519488"/>
            <a:ext cx="127000" cy="276225"/>
          </a:xfrm>
        </p:spPr>
      </p:pic>
      <p:sp>
        <p:nvSpPr>
          <p:cNvPr id="687112" name="Rectangle 8"/>
          <p:cNvSpPr/>
          <p:nvPr/>
        </p:nvSpPr>
        <p:spPr>
          <a:xfrm>
            <a:off x="5429250" y="5786438"/>
            <a:ext cx="3406775" cy="366712"/>
          </a:xfrm>
          <a:prstGeom prst="rect">
            <a:avLst/>
          </a:prstGeom>
          <a:solidFill>
            <a:srgbClr val="CCFFCC"/>
          </a:solidFill>
          <a:ln w="9525">
            <a:noFill/>
          </a:ln>
        </p:spPr>
        <p:txBody>
          <a:bodyPr wrap="none" anchor="ctr" anchorCtr="0">
            <a:spAutoFit/>
          </a:bodyPr>
          <a:p>
            <a:pPr eaLnBrk="1" hangingPunct="1"/>
            <a:r>
              <a:rPr lang="zh-CN" altLang="en-US" b="1" dirty="0">
                <a:solidFill>
                  <a:srgbClr val="009900"/>
                </a:solidFill>
                <a:latin typeface="楷体_GB2312" pitchFamily="49" charset="-122"/>
                <a:ea typeface="楷体_GB2312" pitchFamily="49" charset="-122"/>
              </a:rPr>
              <a:t>不同金属材料，其</a:t>
            </a:r>
            <a:r>
              <a:rPr lang="en-US" altLang="zh-CN" b="1" dirty="0">
                <a:solidFill>
                  <a:srgbClr val="009900"/>
                </a:solidFill>
                <a:latin typeface="楷体_GB2312" pitchFamily="49" charset="-122"/>
                <a:ea typeface="楷体_GB2312" pitchFamily="49" charset="-122"/>
              </a:rPr>
              <a:t>a</a:t>
            </a:r>
            <a:r>
              <a:rPr lang="zh-CN" altLang="en-US" b="1" dirty="0">
                <a:solidFill>
                  <a:srgbClr val="009900"/>
                </a:solidFill>
                <a:latin typeface="楷体_GB2312" pitchFamily="49" charset="-122"/>
                <a:ea typeface="楷体_GB2312" pitchFamily="49" charset="-122"/>
              </a:rPr>
              <a:t>值也不同。</a:t>
            </a:r>
            <a:r>
              <a:rPr lang="zh-CN" altLang="en-US" b="1" dirty="0">
                <a:latin typeface="宋体" panose="02010600030101010101" pitchFamily="2" charset="-122"/>
              </a:rPr>
              <a:t> </a:t>
            </a:r>
            <a:endParaRPr lang="zh-CN" altLang="en-US" b="1" dirty="0">
              <a:latin typeface="宋体" panose="02010600030101010101" pitchFamily="2" charset="-122"/>
            </a:endParaRPr>
          </a:p>
        </p:txBody>
      </p:sp>
      <p:sp>
        <p:nvSpPr>
          <p:cNvPr id="10" name="圆角矩形标注 9"/>
          <p:cNvSpPr/>
          <p:nvPr/>
        </p:nvSpPr>
        <p:spPr>
          <a:xfrm>
            <a:off x="5643563" y="1428750"/>
            <a:ext cx="3000375" cy="642938"/>
          </a:xfrm>
          <a:prstGeom prst="wedgeRoundRectCallout">
            <a:avLst>
              <a:gd name="adj1" fmla="val -5766"/>
              <a:gd name="adj2" fmla="val 99254"/>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lt1"/>
                </a:solidFill>
                <a:effectLst/>
                <a:uLnTx/>
                <a:uFillTx/>
                <a:latin typeface="+mn-lt"/>
                <a:ea typeface="+mn-ea"/>
                <a:cs typeface="+mn-cs"/>
              </a:rPr>
              <a:t>大型水压机，速度很慢；</a:t>
            </a:r>
            <a:endParaRPr kumimoji="0" lang="en-US" altLang="zh-CN" sz="1800" b="0" i="0" u="none" strike="noStrike" kern="1200" cap="none" spc="0" normalizeH="0" baseline="0" noProof="0" dirty="0">
              <a:ln>
                <a:noFill/>
              </a:ln>
              <a:solidFill>
                <a:schemeClr val="lt1"/>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lt1"/>
                </a:solidFill>
                <a:effectLst/>
                <a:uLnTx/>
                <a:uFillTx/>
                <a:latin typeface="+mn-lt"/>
                <a:ea typeface="+mn-ea"/>
                <a:cs typeface="+mn-cs"/>
              </a:rPr>
              <a:t>空气锤，速度很快</a:t>
            </a: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1" name="圆角矩形标注 10"/>
          <p:cNvSpPr/>
          <p:nvPr/>
        </p:nvSpPr>
        <p:spPr>
          <a:xfrm>
            <a:off x="7429500" y="2571750"/>
            <a:ext cx="785813" cy="285750"/>
          </a:xfrm>
          <a:prstGeom prst="wedgeRoundRectCallout">
            <a:avLst>
              <a:gd name="adj1" fmla="val -87513"/>
              <a:gd name="adj2" fmla="val 13441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lt1"/>
                </a:solidFill>
                <a:effectLst/>
                <a:uLnTx/>
                <a:uFillTx/>
                <a:latin typeface="+mn-lt"/>
                <a:ea typeface="+mn-ea"/>
                <a:cs typeface="+mn-cs"/>
              </a:rPr>
              <a:t>硬化</a:t>
            </a: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2" name="圆角矩形标注 11"/>
          <p:cNvSpPr/>
          <p:nvPr/>
        </p:nvSpPr>
        <p:spPr>
          <a:xfrm>
            <a:off x="8215313" y="2857500"/>
            <a:ext cx="785813" cy="857250"/>
          </a:xfrm>
          <a:prstGeom prst="wedgeRoundRectCallout">
            <a:avLst>
              <a:gd name="adj1" fmla="val -99280"/>
              <a:gd name="adj2" fmla="val 2654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lt1"/>
                </a:solidFill>
                <a:effectLst/>
                <a:uLnTx/>
                <a:uFillTx/>
                <a:latin typeface="+mn-lt"/>
                <a:ea typeface="+mn-ea"/>
                <a:cs typeface="+mn-cs"/>
              </a:rPr>
              <a:t>回复再结晶</a:t>
            </a: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3" name="圆角矩形标注 12"/>
          <p:cNvSpPr/>
          <p:nvPr/>
        </p:nvSpPr>
        <p:spPr>
          <a:xfrm>
            <a:off x="4929188" y="3500438"/>
            <a:ext cx="1071563" cy="357188"/>
          </a:xfrm>
          <a:prstGeom prst="wedgeRoundRectCallout">
            <a:avLst>
              <a:gd name="adj1" fmla="val 71038"/>
              <a:gd name="adj2" fmla="val 832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lt1"/>
                </a:solidFill>
                <a:effectLst/>
                <a:uLnTx/>
                <a:uFillTx/>
                <a:latin typeface="+mn-lt"/>
                <a:ea typeface="+mn-ea"/>
                <a:cs typeface="+mn-cs"/>
              </a:rPr>
              <a:t>硬化低</a:t>
            </a: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87107">
                                            <p:txEl>
                                              <p:charRg st="5" end="25"/>
                                            </p:txEl>
                                          </p:spTgt>
                                        </p:tgtEl>
                                        <p:attrNameLst>
                                          <p:attrName>style.visibility</p:attrName>
                                        </p:attrNameLst>
                                      </p:cBhvr>
                                      <p:to>
                                        <p:strVal val="visible"/>
                                      </p:to>
                                    </p:set>
                                    <p:animEffect transition="in" filter="blinds(horizontal)">
                                      <p:cBhvr>
                                        <p:cTn id="7" dur="500"/>
                                        <p:tgtEl>
                                          <p:spTgt spid="687107">
                                            <p:txEl>
                                              <p:charRg st="5" end="25"/>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amond(in)">
                                      <p:cBhvr>
                                        <p:cTn id="12" dur="2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87112"/>
                                        </p:tgtEl>
                                        <p:attrNameLst>
                                          <p:attrName>style.visibility</p:attrName>
                                        </p:attrNameLst>
                                      </p:cBhvr>
                                      <p:to>
                                        <p:strVal val="visible"/>
                                      </p:to>
                                    </p:set>
                                    <p:animEffect transition="in" filter="blinds(horizontal)">
                                      <p:cBhvr>
                                        <p:cTn id="17" dur="500"/>
                                        <p:tgtEl>
                                          <p:spTgt spid="68711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87107">
                                            <p:txEl>
                                              <p:charRg st="25" end="52"/>
                                            </p:txEl>
                                          </p:spTgt>
                                        </p:tgtEl>
                                        <p:attrNameLst>
                                          <p:attrName>style.visibility</p:attrName>
                                        </p:attrNameLst>
                                      </p:cBhvr>
                                      <p:to>
                                        <p:strVal val="visible"/>
                                      </p:to>
                                    </p:set>
                                    <p:animEffect transition="in" filter="blinds(horizontal)">
                                      <p:cBhvr>
                                        <p:cTn id="22" dur="500"/>
                                        <p:tgtEl>
                                          <p:spTgt spid="687107">
                                            <p:txEl>
                                              <p:charRg st="25" end="5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87107">
                                            <p:txEl>
                                              <p:charRg st="52" end="68"/>
                                            </p:txEl>
                                          </p:spTgt>
                                        </p:tgtEl>
                                        <p:attrNameLst>
                                          <p:attrName>style.visibility</p:attrName>
                                        </p:attrNameLst>
                                      </p:cBhvr>
                                      <p:to>
                                        <p:strVal val="visible"/>
                                      </p:to>
                                    </p:set>
                                    <p:animEffect transition="in" filter="blinds(horizontal)">
                                      <p:cBhvr>
                                        <p:cTn id="27" dur="500"/>
                                        <p:tgtEl>
                                          <p:spTgt spid="687107">
                                            <p:txEl>
                                              <p:charRg st="52" end="6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87107">
                                            <p:txEl>
                                              <p:charRg st="68" end="95"/>
                                            </p:txEl>
                                          </p:spTgt>
                                        </p:tgtEl>
                                        <p:attrNameLst>
                                          <p:attrName>style.visibility</p:attrName>
                                        </p:attrNameLst>
                                      </p:cBhvr>
                                      <p:to>
                                        <p:strVal val="visible"/>
                                      </p:to>
                                    </p:set>
                                    <p:animEffect transition="in" filter="blinds(horizontal)">
                                      <p:cBhvr>
                                        <p:cTn id="32" dur="500"/>
                                        <p:tgtEl>
                                          <p:spTgt spid="687107">
                                            <p:txEl>
                                              <p:charRg st="68" end="9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87107">
                                            <p:txEl>
                                              <p:charRg st="95" end="112"/>
                                            </p:txEl>
                                          </p:spTgt>
                                        </p:tgtEl>
                                        <p:attrNameLst>
                                          <p:attrName>style.visibility</p:attrName>
                                        </p:attrNameLst>
                                      </p:cBhvr>
                                      <p:to>
                                        <p:strVal val="visible"/>
                                      </p:to>
                                    </p:set>
                                    <p:animEffect transition="in" filter="blinds(horizontal)">
                                      <p:cBhvr>
                                        <p:cTn id="37" dur="500"/>
                                        <p:tgtEl>
                                          <p:spTgt spid="687107">
                                            <p:txEl>
                                              <p:charRg st="95" end="11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87107">
                                            <p:txEl>
                                              <p:charRg st="112" end="168"/>
                                            </p:txEl>
                                          </p:spTgt>
                                        </p:tgtEl>
                                        <p:attrNameLst>
                                          <p:attrName>style.visibility</p:attrName>
                                        </p:attrNameLst>
                                      </p:cBhvr>
                                      <p:to>
                                        <p:strVal val="visible"/>
                                      </p:to>
                                    </p:set>
                                    <p:animEffect transition="in" filter="blinds(horizontal)">
                                      <p:cBhvr>
                                        <p:cTn id="42" dur="500"/>
                                        <p:tgtEl>
                                          <p:spTgt spid="687107">
                                            <p:txEl>
                                              <p:charRg st="112" end="16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87107">
                                            <p:txEl>
                                              <p:charRg st="168" end="250"/>
                                            </p:txEl>
                                          </p:spTgt>
                                        </p:tgtEl>
                                        <p:attrNameLst>
                                          <p:attrName>style.visibility</p:attrName>
                                        </p:attrNameLst>
                                      </p:cBhvr>
                                      <p:to>
                                        <p:strVal val="visible"/>
                                      </p:to>
                                    </p:set>
                                    <p:animEffect transition="in" filter="blinds(horizontal)">
                                      <p:cBhvr>
                                        <p:cTn id="47" dur="500"/>
                                        <p:tgtEl>
                                          <p:spTgt spid="687107">
                                            <p:txEl>
                                              <p:charRg st="168" end="25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711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title"/>
          </p:nvPr>
        </p:nvSpPr>
        <p:spPr>
          <a:xfrm>
            <a:off x="3481388" y="115888"/>
            <a:ext cx="3322637" cy="936625"/>
          </a:xfrm>
        </p:spPr>
        <p:txBody>
          <a:bodyPr vert="horz" wrap="square" lIns="91440" tIns="45720" rIns="91440" bIns="45720" anchor="ctr" anchorCtr="0"/>
          <a:p>
            <a:pPr eaLnBrk="1" hangingPunct="1"/>
            <a:r>
              <a:rPr lang="zh-CN" altLang="en-US" sz="4000" dirty="0">
                <a:ea typeface="楷体_GB2312" pitchFamily="49" charset="-122"/>
              </a:rPr>
              <a:t>金属的可锻性</a:t>
            </a:r>
            <a:endParaRPr lang="zh-CN" altLang="en-US" sz="4000" dirty="0">
              <a:ea typeface="楷体_GB2312" pitchFamily="49" charset="-122"/>
            </a:endParaRPr>
          </a:p>
        </p:txBody>
      </p:sp>
      <p:sp>
        <p:nvSpPr>
          <p:cNvPr id="263171" name="Rectangle 3"/>
          <p:cNvSpPr>
            <a:spLocks noGrp="1"/>
          </p:cNvSpPr>
          <p:nvPr>
            <p:ph idx="1"/>
          </p:nvPr>
        </p:nvSpPr>
        <p:spPr>
          <a:xfrm>
            <a:off x="34925" y="1195388"/>
            <a:ext cx="8424863" cy="2881312"/>
          </a:xfrm>
        </p:spPr>
        <p:txBody>
          <a:bodyPr vert="horz" wrap="square" lIns="91440" tIns="45720" rIns="91440" bIns="45720" anchor="t" anchorCtr="0"/>
          <a:p>
            <a:pPr eaLnBrk="1" hangingPunct="1"/>
            <a:r>
              <a:rPr lang="zh-CN" altLang="en-US" sz="2400" b="1" dirty="0">
                <a:solidFill>
                  <a:srgbClr val="FF0000"/>
                </a:solidFill>
                <a:latin typeface="楷体_GB2312" pitchFamily="49" charset="-122"/>
                <a:ea typeface="楷体_GB2312" pitchFamily="49" charset="-122"/>
              </a:rPr>
              <a:t>加工条件</a:t>
            </a:r>
            <a:endParaRPr lang="zh-CN" altLang="en-US" sz="2400" b="1" dirty="0">
              <a:solidFill>
                <a:srgbClr val="FF0000"/>
              </a:solidFill>
              <a:latin typeface="楷体_GB2312" pitchFamily="49" charset="-122"/>
              <a:ea typeface="楷体_GB2312" pitchFamily="49" charset="-122"/>
            </a:endParaRPr>
          </a:p>
          <a:p>
            <a:pPr lvl="1" eaLnBrk="1" hangingPunct="1"/>
            <a:r>
              <a:rPr lang="zh-CN" altLang="en-US" sz="2000" b="1" dirty="0">
                <a:latin typeface="楷体_GB2312" pitchFamily="49" charset="-122"/>
                <a:ea typeface="楷体_GB2312" pitchFamily="49" charset="-122"/>
              </a:rPr>
              <a:t>应力状态的影响</a:t>
            </a:r>
            <a:endParaRPr lang="zh-CN" altLang="en-US" sz="2000" b="1" dirty="0">
              <a:latin typeface="楷体_GB2312" pitchFamily="49" charset="-122"/>
              <a:ea typeface="楷体_GB2312" pitchFamily="49" charset="-122"/>
            </a:endParaRPr>
          </a:p>
          <a:p>
            <a:pPr lvl="2" eaLnBrk="1" hangingPunct="1"/>
            <a:r>
              <a:rPr lang="zh-CN" altLang="en-US" sz="2000" b="1" dirty="0">
                <a:latin typeface="楷体_GB2312" pitchFamily="49" charset="-122"/>
                <a:ea typeface="楷体_GB2312" pitchFamily="49" charset="-122"/>
              </a:rPr>
              <a:t>金属在挤压变形时</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，呈三向受压状态，可锻性好。</a:t>
            </a:r>
            <a:endParaRPr lang="zh-CN" altLang="en-US" sz="2000" b="1" dirty="0">
              <a:latin typeface="楷体_GB2312" pitchFamily="49" charset="-122"/>
              <a:ea typeface="楷体_GB2312" pitchFamily="49" charset="-122"/>
            </a:endParaRPr>
          </a:p>
          <a:p>
            <a:pPr lvl="2" eaLnBrk="1" hangingPunct="1"/>
            <a:r>
              <a:rPr lang="zh-CN" altLang="en-US" sz="2000" b="1" dirty="0">
                <a:latin typeface="楷体_GB2312" pitchFamily="49" charset="-122"/>
                <a:ea typeface="楷体_GB2312" pitchFamily="49" charset="-122"/>
              </a:rPr>
              <a:t>在拉拔时则呈二向受压一向受拉状态</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，可锻性下降。</a:t>
            </a:r>
            <a:endParaRPr lang="zh-CN" altLang="en-US" sz="2000" b="1" dirty="0">
              <a:latin typeface="楷体_GB2312" pitchFamily="49" charset="-122"/>
              <a:ea typeface="楷体_GB2312" pitchFamily="49" charset="-122"/>
            </a:endParaRPr>
          </a:p>
          <a:p>
            <a:pPr eaLnBrk="1" hangingPunct="1">
              <a:buFont typeface="Wingdings" panose="05000000000000000000" pitchFamily="2" charset="2"/>
              <a:buChar char="Ø"/>
            </a:pPr>
            <a:r>
              <a:rPr lang="zh-CN" altLang="en-US" sz="2400" b="1" dirty="0">
                <a:solidFill>
                  <a:srgbClr val="FF0000"/>
                </a:solidFill>
                <a:latin typeface="楷体_GB2312" pitchFamily="49" charset="-122"/>
                <a:ea typeface="楷体_GB2312" pitchFamily="49" charset="-122"/>
              </a:rPr>
              <a:t>实验证明</a:t>
            </a:r>
            <a:endParaRPr lang="zh-CN" altLang="en-US" sz="2400" b="1" dirty="0">
              <a:solidFill>
                <a:srgbClr val="FF0000"/>
              </a:solidFill>
              <a:latin typeface="楷体_GB2312" pitchFamily="49" charset="-122"/>
              <a:ea typeface="楷体_GB2312" pitchFamily="49" charset="-122"/>
            </a:endParaRPr>
          </a:p>
          <a:p>
            <a:pPr lvl="2" eaLnBrk="1" hangingPunct="1"/>
            <a:r>
              <a:rPr lang="zh-CN" altLang="en-US" sz="2000" b="1" dirty="0">
                <a:solidFill>
                  <a:srgbClr val="0000FF"/>
                </a:solidFill>
                <a:latin typeface="楷体_GB2312" pitchFamily="49" charset="-122"/>
                <a:ea typeface="楷体_GB2312" pitchFamily="49" charset="-122"/>
              </a:rPr>
              <a:t>受力物体压应力的数目越多，金属的塑性越好。</a:t>
            </a:r>
            <a:endParaRPr lang="zh-CN" altLang="en-US" sz="2000" b="1" dirty="0">
              <a:solidFill>
                <a:srgbClr val="0000FF"/>
              </a:solidFill>
              <a:latin typeface="楷体_GB2312" pitchFamily="49" charset="-122"/>
              <a:ea typeface="楷体_GB2312" pitchFamily="49" charset="-122"/>
            </a:endParaRPr>
          </a:p>
          <a:p>
            <a:pPr lvl="2" eaLnBrk="1" hangingPunct="1"/>
            <a:r>
              <a:rPr lang="zh-CN" altLang="en-US" sz="2000" b="1" dirty="0">
                <a:solidFill>
                  <a:srgbClr val="0000FF"/>
                </a:solidFill>
                <a:latin typeface="楷体_GB2312" pitchFamily="49" charset="-122"/>
                <a:ea typeface="楷体_GB2312" pitchFamily="49" charset="-122"/>
              </a:rPr>
              <a:t>拉应力的数目越多，金属的塑性越差（易产生裂纹）。</a:t>
            </a:r>
            <a:endParaRPr lang="zh-CN" altLang="en-US" sz="2000" b="1" dirty="0">
              <a:solidFill>
                <a:srgbClr val="0000FF"/>
              </a:solidFill>
              <a:latin typeface="楷体_GB2312" pitchFamily="49" charset="-122"/>
              <a:ea typeface="楷体_GB2312" pitchFamily="49" charset="-122"/>
            </a:endParaRPr>
          </a:p>
        </p:txBody>
      </p:sp>
      <p:pic>
        <p:nvPicPr>
          <p:cNvPr id="44036" name="Picture 12" descr="图片9"/>
          <p:cNvPicPr>
            <a:picLocks noChangeAspect="1"/>
          </p:cNvPicPr>
          <p:nvPr/>
        </p:nvPicPr>
        <p:blipFill>
          <a:blip r:embed="rId1"/>
          <a:stretch>
            <a:fillRect/>
          </a:stretch>
        </p:blipFill>
        <p:spPr>
          <a:xfrm>
            <a:off x="323850" y="4035425"/>
            <a:ext cx="7561263" cy="25622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3171">
                                            <p:txEl>
                                              <p:charRg st="13" end="39"/>
                                            </p:txEl>
                                          </p:spTgt>
                                        </p:tgtEl>
                                        <p:attrNameLst>
                                          <p:attrName>style.visibility</p:attrName>
                                        </p:attrNameLst>
                                      </p:cBhvr>
                                      <p:to>
                                        <p:strVal val="visible"/>
                                      </p:to>
                                    </p:set>
                                    <p:animEffect transition="in" filter="blinds(horizontal)">
                                      <p:cBhvr>
                                        <p:cTn id="7" dur="500"/>
                                        <p:tgtEl>
                                          <p:spTgt spid="263171">
                                            <p:txEl>
                                              <p:charRg st="13" end="3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3171">
                                            <p:txEl>
                                              <p:charRg st="39" end="66"/>
                                            </p:txEl>
                                          </p:spTgt>
                                        </p:tgtEl>
                                        <p:attrNameLst>
                                          <p:attrName>style.visibility</p:attrName>
                                        </p:attrNameLst>
                                      </p:cBhvr>
                                      <p:to>
                                        <p:strVal val="visible"/>
                                      </p:to>
                                    </p:set>
                                    <p:animEffect transition="in" filter="blinds(horizontal)">
                                      <p:cBhvr>
                                        <p:cTn id="12" dur="500"/>
                                        <p:tgtEl>
                                          <p:spTgt spid="263171">
                                            <p:txEl>
                                              <p:charRg st="39" end="6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63171">
                                            <p:txEl>
                                              <p:charRg st="66" end="71"/>
                                            </p:txEl>
                                          </p:spTgt>
                                        </p:tgtEl>
                                        <p:attrNameLst>
                                          <p:attrName>style.visibility</p:attrName>
                                        </p:attrNameLst>
                                      </p:cBhvr>
                                      <p:to>
                                        <p:strVal val="visible"/>
                                      </p:to>
                                    </p:set>
                                    <p:animEffect transition="in" filter="blinds(horizontal)">
                                      <p:cBhvr>
                                        <p:cTn id="17" dur="500"/>
                                        <p:tgtEl>
                                          <p:spTgt spid="263171">
                                            <p:txEl>
                                              <p:charRg st="66" end="7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63171">
                                            <p:txEl>
                                              <p:charRg st="71" end="93"/>
                                            </p:txEl>
                                          </p:spTgt>
                                        </p:tgtEl>
                                        <p:attrNameLst>
                                          <p:attrName>style.visibility</p:attrName>
                                        </p:attrNameLst>
                                      </p:cBhvr>
                                      <p:to>
                                        <p:strVal val="visible"/>
                                      </p:to>
                                    </p:set>
                                    <p:animEffect transition="in" filter="blinds(horizontal)">
                                      <p:cBhvr>
                                        <p:cTn id="22" dur="500"/>
                                        <p:tgtEl>
                                          <p:spTgt spid="263171">
                                            <p:txEl>
                                              <p:charRg st="71" end="9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63171">
                                            <p:txEl>
                                              <p:charRg st="93" end="118"/>
                                            </p:txEl>
                                          </p:spTgt>
                                        </p:tgtEl>
                                        <p:attrNameLst>
                                          <p:attrName>style.visibility</p:attrName>
                                        </p:attrNameLst>
                                      </p:cBhvr>
                                      <p:to>
                                        <p:strVal val="visible"/>
                                      </p:to>
                                    </p:set>
                                    <p:animEffect transition="in" filter="blinds(horizontal)">
                                      <p:cBhvr>
                                        <p:cTn id="27" dur="500"/>
                                        <p:tgtEl>
                                          <p:spTgt spid="263171">
                                            <p:txEl>
                                              <p:charRg st="93" end="1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Text Box 4"/>
          <p:cNvSpPr txBox="1"/>
          <p:nvPr/>
        </p:nvSpPr>
        <p:spPr>
          <a:xfrm>
            <a:off x="684213" y="1365250"/>
            <a:ext cx="7772400" cy="641350"/>
          </a:xfrm>
          <a:prstGeom prst="rect">
            <a:avLst/>
          </a:prstGeom>
          <a:noFill/>
          <a:ln w="9525">
            <a:noFill/>
          </a:ln>
        </p:spPr>
        <p:txBody>
          <a:bodyPr wrap="none">
            <a:spAutoFit/>
          </a:bodyPr>
          <a:p>
            <a:pPr eaLnBrk="1" hangingPunct="1"/>
            <a:r>
              <a:rPr lang="zh-CN" altLang="en-US" sz="3600" b="1" dirty="0">
                <a:solidFill>
                  <a:schemeClr val="tx2"/>
                </a:solidFill>
                <a:latin typeface="楷体_GB2312" pitchFamily="49" charset="-122"/>
                <a:ea typeface="楷体_GB2312" pitchFamily="49" charset="-122"/>
              </a:rPr>
              <a:t>作业题：</a:t>
            </a:r>
            <a:r>
              <a:rPr lang="en-US" altLang="zh-CN" sz="3600" b="1" dirty="0">
                <a:solidFill>
                  <a:schemeClr val="tx2"/>
                </a:solidFill>
                <a:latin typeface="楷体_GB2312" pitchFamily="49" charset="-122"/>
                <a:ea typeface="楷体_GB2312" pitchFamily="49" charset="-122"/>
              </a:rPr>
              <a:t>p96, (2), (3), (4), (6)</a:t>
            </a:r>
            <a:r>
              <a:rPr lang="zh-CN" altLang="en-US" sz="3600" b="1" dirty="0">
                <a:solidFill>
                  <a:schemeClr val="tx2"/>
                </a:solidFill>
                <a:latin typeface="楷体_GB2312" pitchFamily="49" charset="-122"/>
                <a:ea typeface="楷体_GB2312" pitchFamily="49" charset="-122"/>
              </a:rPr>
              <a:t>。</a:t>
            </a:r>
            <a:endParaRPr lang="zh-CN" altLang="en-US" sz="3600" dirty="0">
              <a:solidFill>
                <a:schemeClr val="tx2"/>
              </a:solidFill>
              <a:latin typeface="楷体_GB2312" pitchFamily="49" charset="-122"/>
              <a:ea typeface="楷体_GB2312" pitchFamily="49"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标题 1"/>
          <p:cNvSpPr>
            <a:spLocks noGrp="1"/>
          </p:cNvSpPr>
          <p:nvPr>
            <p:ph type="title"/>
          </p:nvPr>
        </p:nvSpPr>
        <p:spPr/>
        <p:txBody>
          <a:bodyPr vert="horz" wrap="square" lIns="91440" tIns="45720" rIns="91440" bIns="45720" anchor="ctr" anchorCtr="0"/>
          <a:p>
            <a:r>
              <a:rPr lang="zh-CN" altLang="en-US" dirty="0"/>
              <a:t>上节回顾</a:t>
            </a:r>
            <a:endParaRPr lang="zh-CN" altLang="en-US" dirty="0"/>
          </a:p>
        </p:txBody>
      </p:sp>
      <p:sp>
        <p:nvSpPr>
          <p:cNvPr id="37891" name="内容占位符 2"/>
          <p:cNvSpPr>
            <a:spLocks noGrp="1"/>
          </p:cNvSpPr>
          <p:nvPr>
            <p:ph idx="1"/>
          </p:nvPr>
        </p:nvSpPr>
        <p:spPr/>
        <p:txBody>
          <a:bodyPr vert="horz" wrap="square" lIns="91440" tIns="45720" rIns="91440" bIns="45720" anchor="t" anchorCtr="0"/>
          <a:p>
            <a:r>
              <a:rPr lang="zh-CN" altLang="en-US" sz="2400" dirty="0">
                <a:latin typeface="华文楷体" panose="02010600040101010101" pitchFamily="2" charset="-122"/>
                <a:ea typeface="华文楷体" panose="02010600040101010101" pitchFamily="2" charset="-122"/>
              </a:rPr>
              <a:t>什么是塑性加工？塑性加工有何特点？为什么？</a:t>
            </a:r>
            <a:endParaRPr lang="en-US" altLang="zh-CN" sz="2400" dirty="0">
              <a:latin typeface="华文楷体" panose="02010600040101010101" pitchFamily="2" charset="-122"/>
              <a:ea typeface="华文楷体" panose="02010600040101010101" pitchFamily="2" charset="-122"/>
            </a:endParaRPr>
          </a:p>
          <a:p>
            <a:pPr lvl="1"/>
            <a:r>
              <a:rPr lang="zh-CN" altLang="en-US" sz="2400" dirty="0">
                <a:latin typeface="华文楷体" panose="02010600040101010101" pitchFamily="2" charset="-122"/>
                <a:ea typeface="华文楷体" panose="02010600040101010101" pitchFamily="2" charset="-122"/>
              </a:rPr>
              <a:t>金属材料在一定的外力作用下，利用其塑性而使其改变形状、尺寸和改善性能，获得型材、棒材、板材、线材或锻压件的加工方法；</a:t>
            </a:r>
            <a:endParaRPr lang="en-US" altLang="zh-CN" sz="2400" dirty="0">
              <a:latin typeface="华文楷体" panose="02010600040101010101" pitchFamily="2" charset="-122"/>
              <a:ea typeface="华文楷体" panose="02010600040101010101" pitchFamily="2" charset="-122"/>
            </a:endParaRPr>
          </a:p>
          <a:p>
            <a:pPr lvl="1"/>
            <a:endParaRPr lang="en-US" altLang="zh-CN" sz="2400" dirty="0">
              <a:latin typeface="华文楷体" panose="02010600040101010101" pitchFamily="2" charset="-122"/>
              <a:ea typeface="华文楷体" panose="02010600040101010101" pitchFamily="2" charset="-122"/>
            </a:endParaRPr>
          </a:p>
          <a:p>
            <a:pPr lvl="1"/>
            <a:endParaRPr lang="en-US" altLang="zh-CN" sz="2400" dirty="0">
              <a:latin typeface="华文楷体" panose="02010600040101010101" pitchFamily="2" charset="-122"/>
              <a:ea typeface="华文楷体" panose="02010600040101010101" pitchFamily="2" charset="-122"/>
            </a:endParaRPr>
          </a:p>
          <a:p>
            <a:pPr lvl="1"/>
            <a:endParaRPr lang="zh-CN" altLang="en-US" sz="2400" dirty="0">
              <a:latin typeface="华文楷体" panose="02010600040101010101" pitchFamily="2" charset="-122"/>
              <a:ea typeface="华文楷体" panose="02010600040101010101" pitchFamily="2" charset="-122"/>
            </a:endParaRPr>
          </a:p>
          <a:p>
            <a:pPr lvl="1"/>
            <a:r>
              <a:rPr lang="zh-CN" altLang="en-US" sz="2400" dirty="0">
                <a:latin typeface="华文楷体" panose="02010600040101010101" pitchFamily="2" charset="-122"/>
                <a:ea typeface="华文楷体" panose="02010600040101010101" pitchFamily="2" charset="-122"/>
              </a:rPr>
              <a:t>特点：①组织、性能好②材料利用率高③尺寸精度高④生产效率高</a:t>
            </a:r>
            <a:endParaRPr lang="zh-CN" altLang="en-US" sz="2400" dirty="0">
              <a:latin typeface="华文楷体" panose="02010600040101010101" pitchFamily="2" charset="-122"/>
              <a:ea typeface="华文楷体" panose="02010600040101010101" pitchFamily="2" charset="-122"/>
            </a:endParaRPr>
          </a:p>
          <a:p>
            <a:endParaRPr lang="zh-CN" altLang="en-US" sz="2400" dirty="0">
              <a:latin typeface="华文楷体" panose="02010600040101010101" pitchFamily="2" charset="-122"/>
              <a:ea typeface="华文楷体" panose="02010600040101010101" pitchFamily="2" charset="-122"/>
            </a:endParaRPr>
          </a:p>
        </p:txBody>
      </p:sp>
      <p:sp>
        <p:nvSpPr>
          <p:cNvPr id="6" name="圆角矩形标注 5"/>
          <p:cNvSpPr/>
          <p:nvPr/>
        </p:nvSpPr>
        <p:spPr>
          <a:xfrm>
            <a:off x="5429250" y="5214938"/>
            <a:ext cx="3143250" cy="1357313"/>
          </a:xfrm>
          <a:prstGeom prst="wedgeRoundRectCallout">
            <a:avLst>
              <a:gd name="adj1" fmla="val -63081"/>
              <a:gd name="adj2" fmla="val -86272"/>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依靠塑性变形发生物质转移实现工件形状和尺寸变化，不会产生切屑，因而材料的利用率高得多。</a:t>
            </a:r>
            <a:endParaRPr kumimoji="0" lang="zh-CN" altLang="en-US" sz="1800" b="1"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
        <p:nvSpPr>
          <p:cNvPr id="7" name="圆角矩形标注 6"/>
          <p:cNvSpPr/>
          <p:nvPr/>
        </p:nvSpPr>
        <p:spPr>
          <a:xfrm>
            <a:off x="1285875" y="3000375"/>
            <a:ext cx="5286375" cy="1143000"/>
          </a:xfrm>
          <a:prstGeom prst="wedgeRoundRectCallout">
            <a:avLst>
              <a:gd name="adj1" fmla="val -9185"/>
              <a:gd name="adj2" fmla="val 71389"/>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坯锭经过塑性加工将使其结构致密，粗晶破碎细化和均匀，从而使性能提高。</a:t>
            </a:r>
            <a:endParaRPr kumimoji="0" lang="en-US" altLang="zh-CN" sz="2000" b="1"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金属流动所产生的流线也能使其性能提高。</a:t>
            </a:r>
            <a:endParaRPr kumimoji="0" lang="zh-CN" altLang="en-US" sz="2000" b="1"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
        <p:nvSpPr>
          <p:cNvPr id="8" name="圆角矩形标注 7"/>
          <p:cNvSpPr/>
          <p:nvPr/>
        </p:nvSpPr>
        <p:spPr>
          <a:xfrm>
            <a:off x="1357313" y="5572125"/>
            <a:ext cx="3786188" cy="857250"/>
          </a:xfrm>
          <a:prstGeom prst="wedgeRoundRectCallout">
            <a:avLst>
              <a:gd name="adj1" fmla="val -31230"/>
              <a:gd name="adj2" fmla="val -115276"/>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便于实现生产过程的连续化，自动化，适于大批量生产，如轧制，拉拔加工等，因而劳动生产率高。</a:t>
            </a:r>
            <a:endParaRPr kumimoji="0" lang="zh-CN" altLang="en-US" sz="1800" b="1"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
        <p:nvSpPr>
          <p:cNvPr id="9" name="圆角矩形标注 8"/>
          <p:cNvSpPr/>
          <p:nvPr/>
        </p:nvSpPr>
        <p:spPr>
          <a:xfrm>
            <a:off x="7286625" y="3286125"/>
            <a:ext cx="1285875" cy="857250"/>
          </a:xfrm>
          <a:prstGeom prst="wedgeRoundRectCallout">
            <a:avLst>
              <a:gd name="adj1" fmla="val -64593"/>
              <a:gd name="adj2" fmla="val 72659"/>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压力成形、模锻的应用等</a:t>
            </a:r>
            <a:endParaRPr kumimoji="0" lang="zh-CN" altLang="en-US" sz="1800" b="1"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P spid="9"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标题 1"/>
          <p:cNvSpPr>
            <a:spLocks noGrp="1"/>
          </p:cNvSpPr>
          <p:nvPr>
            <p:ph type="title"/>
          </p:nvPr>
        </p:nvSpPr>
        <p:spPr/>
        <p:txBody>
          <a:bodyPr vert="horz" wrap="square" lIns="91440" tIns="45720" rIns="91440" bIns="45720" anchor="ctr" anchorCtr="0"/>
          <a:p>
            <a:r>
              <a:rPr lang="zh-CN" altLang="en-US" dirty="0"/>
              <a:t>上节回顾</a:t>
            </a:r>
            <a:endParaRPr lang="zh-CN" altLang="en-US" dirty="0"/>
          </a:p>
        </p:txBody>
      </p:sp>
      <p:sp>
        <p:nvSpPr>
          <p:cNvPr id="38915" name="内容占位符 2"/>
          <p:cNvSpPr>
            <a:spLocks noGrp="1"/>
          </p:cNvSpPr>
          <p:nvPr>
            <p:ph idx="1"/>
          </p:nvPr>
        </p:nvSpPr>
        <p:spPr/>
        <p:txBody>
          <a:bodyPr vert="horz" wrap="square" lIns="91440" tIns="45720" rIns="91440" bIns="45720" anchor="t" anchorCtr="0"/>
          <a:p>
            <a:endParaRPr lang="zh-CN" altLang="en-US" dirty="0"/>
          </a:p>
        </p:txBody>
      </p:sp>
      <p:pic>
        <p:nvPicPr>
          <p:cNvPr id="38916" name="Picture 7" descr="恢复与再结晶"/>
          <p:cNvPicPr>
            <a:picLocks noChangeAspect="1"/>
          </p:cNvPicPr>
          <p:nvPr/>
        </p:nvPicPr>
        <p:blipFill>
          <a:blip r:embed="rId1"/>
          <a:srcRect b="-294"/>
          <a:stretch>
            <a:fillRect/>
          </a:stretch>
        </p:blipFill>
        <p:spPr>
          <a:xfrm>
            <a:off x="357188" y="3286125"/>
            <a:ext cx="8459787" cy="2159000"/>
          </a:xfrm>
          <a:prstGeom prst="rect">
            <a:avLst/>
          </a:prstGeom>
          <a:solidFill>
            <a:srgbClr val="66CCFF"/>
          </a:solidFill>
          <a:ln w="9525" cap="flat" cmpd="sng">
            <a:solidFill>
              <a:srgbClr val="66CCFF"/>
            </a:solidFill>
            <a:prstDash val="solid"/>
            <a:miter/>
            <a:headEnd type="none" w="med" len="med"/>
            <a:tailEnd type="none" w="med" len="med"/>
          </a:ln>
        </p:spPr>
      </p:pic>
      <p:sp>
        <p:nvSpPr>
          <p:cNvPr id="5" name="圆角矩形标注 4"/>
          <p:cNvSpPr/>
          <p:nvPr/>
        </p:nvSpPr>
        <p:spPr>
          <a:xfrm>
            <a:off x="357188" y="1357313"/>
            <a:ext cx="2143125" cy="1928813"/>
          </a:xfrm>
          <a:prstGeom prst="wedgeRoundRectCallout">
            <a:avLst>
              <a:gd name="adj1" fmla="val 67463"/>
              <a:gd name="adj2" fmla="val 75668"/>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mn-lt"/>
                <a:ea typeface="+mn-ea"/>
                <a:cs typeface="+mn-cs"/>
              </a:rPr>
              <a:t>加工硬化</a:t>
            </a:r>
            <a:r>
              <a:rPr kumimoji="0" lang="en-US" sz="1800" b="1" i="0" u="none" strike="noStrike" kern="1200" cap="none" spc="0" normalizeH="0" baseline="0" noProof="0" dirty="0">
                <a:ln>
                  <a:noFill/>
                </a:ln>
                <a:solidFill>
                  <a:schemeClr val="lt1"/>
                </a:solidFill>
                <a:effectLst/>
                <a:uLnTx/>
                <a:uFillTx/>
                <a:latin typeface="+mn-lt"/>
                <a:ea typeface="+mn-ea"/>
                <a:cs typeface="+mn-cs"/>
              </a:rPr>
              <a:t>----</a:t>
            </a:r>
            <a:r>
              <a:rPr kumimoji="0" lang="zh-CN" altLang="en-US" sz="1800" b="1" i="0" u="none" strike="noStrike" kern="1200" cap="none" spc="0" normalizeH="0" baseline="0" noProof="0" dirty="0">
                <a:ln>
                  <a:noFill/>
                </a:ln>
                <a:solidFill>
                  <a:schemeClr val="lt1"/>
                </a:solidFill>
                <a:effectLst/>
                <a:uLnTx/>
                <a:uFillTx/>
                <a:latin typeface="+mn-lt"/>
                <a:ea typeface="+mn-ea"/>
                <a:cs typeface="+mn-cs"/>
              </a:rPr>
              <a:t>随着金属变形程度的增加，其强度、硬度增加，而塑性、韧性降低的现象。</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sp>
        <p:nvSpPr>
          <p:cNvPr id="6" name="AutoShape 9"/>
          <p:cNvSpPr/>
          <p:nvPr/>
        </p:nvSpPr>
        <p:spPr>
          <a:xfrm>
            <a:off x="71438" y="5429250"/>
            <a:ext cx="2857500" cy="1285875"/>
          </a:xfrm>
          <a:prstGeom prst="wedgeRoundRectCallout">
            <a:avLst>
              <a:gd name="adj1" fmla="val 37792"/>
              <a:gd name="adj2" fmla="val -78338"/>
              <a:gd name="adj3" fmla="val 16667"/>
            </a:avLst>
          </a:prstGeom>
          <a:solidFill>
            <a:srgbClr val="CCECFF"/>
          </a:solidFill>
          <a:ln w="9525" cap="flat" cmpd="sng">
            <a:solidFill>
              <a:schemeClr val="tx1"/>
            </a:solidFill>
            <a:prstDash val="solid"/>
            <a:miter/>
            <a:headEnd type="none" w="med" len="med"/>
            <a:tailEnd type="none" w="med" len="med"/>
          </a:ln>
        </p:spPr>
        <p:txBody>
          <a:bodyPr/>
          <a:p>
            <a:pPr algn="ctr" eaLnBrk="1" hangingPunct="1"/>
            <a:r>
              <a:rPr lang="zh-CN" altLang="en-US" b="1" dirty="0">
                <a:latin typeface="Arial" panose="020B0604020202020204" pitchFamily="34" charset="0"/>
              </a:rPr>
              <a:t>原因：由于滑移面上碎晶块和附近晶格的强烈扭曲，增大了滑移阻力，使继续滑移难于进行导致。</a:t>
            </a:r>
            <a:endParaRPr lang="zh-CN" altLang="en-US" b="1" dirty="0">
              <a:latin typeface="Arial" panose="020B0604020202020204" pitchFamily="34" charset="0"/>
            </a:endParaRPr>
          </a:p>
        </p:txBody>
      </p:sp>
      <p:sp>
        <p:nvSpPr>
          <p:cNvPr id="7" name="圆角矩形标注 6"/>
          <p:cNvSpPr/>
          <p:nvPr/>
        </p:nvSpPr>
        <p:spPr>
          <a:xfrm>
            <a:off x="3357563" y="1500188"/>
            <a:ext cx="4500563" cy="1428750"/>
          </a:xfrm>
          <a:prstGeom prst="wedgeRoundRectCallout">
            <a:avLst>
              <a:gd name="adj1" fmla="val -13496"/>
              <a:gd name="adj2" fmla="val 105376"/>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楷体_GB2312" pitchFamily="49" charset="-122"/>
                <a:ea typeface="楷体_GB2312" pitchFamily="49" charset="-122"/>
                <a:cs typeface="+mn-cs"/>
              </a:rPr>
              <a:t>当金属温度提高到一定程度，原子热运动加剧，使不规则的原子排列变为规则排列，消除晶格扭曲，内应力大为降低，但晶粒的形状、大小和金属的强度、塑性变化不大，这种现象称为回复。</a:t>
            </a: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圆角矩形标注 7"/>
          <p:cNvSpPr/>
          <p:nvPr/>
        </p:nvSpPr>
        <p:spPr>
          <a:xfrm>
            <a:off x="3786188" y="5643563"/>
            <a:ext cx="4857750" cy="1214438"/>
          </a:xfrm>
          <a:prstGeom prst="wedgeRoundRectCallout">
            <a:avLst>
              <a:gd name="adj1" fmla="val 37990"/>
              <a:gd name="adj2" fmla="val -66129"/>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楷体_GB2312" pitchFamily="49" charset="-122"/>
                <a:ea typeface="楷体_GB2312" pitchFamily="49" charset="-122"/>
                <a:cs typeface="+mn-cs"/>
              </a:rPr>
              <a:t>当温度继续升高，金属原子活动具有足够热运动力时，则开始以碎晶或杂质为核心结晶成新的晶粒，从而</a:t>
            </a:r>
            <a:r>
              <a:rPr kumimoji="0" lang="zh-CN" altLang="en-US" sz="1800" b="1" i="0" u="none" strike="noStrike" kern="1200" cap="none" spc="0" normalizeH="0" baseline="0" noProof="0" dirty="0">
                <a:ln>
                  <a:noFill/>
                </a:ln>
                <a:solidFill>
                  <a:srgbClr val="FF0066"/>
                </a:solidFill>
                <a:effectLst/>
                <a:uLnTx/>
                <a:uFillTx/>
                <a:latin typeface="楷体_GB2312" pitchFamily="49" charset="-122"/>
                <a:ea typeface="楷体_GB2312" pitchFamily="49" charset="-122"/>
                <a:cs typeface="+mn-cs"/>
              </a:rPr>
              <a:t>消除了加工硬化现象，这个过程称为再结晶。</a:t>
            </a: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8"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1"/>
          <p:cNvSpPr>
            <a:spLocks noGrp="1"/>
          </p:cNvSpPr>
          <p:nvPr>
            <p:ph type="title"/>
          </p:nvPr>
        </p:nvSpPr>
        <p:spPr/>
        <p:txBody>
          <a:bodyPr vert="horz" wrap="square" lIns="91440" tIns="45720" rIns="91440" bIns="45720" anchor="ctr" anchorCtr="0"/>
          <a:p>
            <a:r>
              <a:rPr lang="zh-CN" altLang="en-US" dirty="0"/>
              <a:t>上节回顾</a:t>
            </a:r>
            <a:endParaRPr lang="zh-CN" altLang="en-US" dirty="0"/>
          </a:p>
        </p:txBody>
      </p:sp>
      <p:sp>
        <p:nvSpPr>
          <p:cNvPr id="39939" name="内容占位符 2"/>
          <p:cNvSpPr>
            <a:spLocks noGrp="1"/>
          </p:cNvSpPr>
          <p:nvPr>
            <p:ph idx="1"/>
          </p:nvPr>
        </p:nvSpPr>
        <p:spPr/>
        <p:txBody>
          <a:bodyPr vert="horz" wrap="square" lIns="91440" tIns="45720" rIns="91440" bIns="45720" anchor="t" anchorCtr="0"/>
          <a:p>
            <a:endParaRPr lang="zh-CN" altLang="en-US" dirty="0"/>
          </a:p>
        </p:txBody>
      </p:sp>
      <p:pic>
        <p:nvPicPr>
          <p:cNvPr id="39940" name="Picture 7" descr="恢复与再结晶"/>
          <p:cNvPicPr>
            <a:picLocks noChangeAspect="1"/>
          </p:cNvPicPr>
          <p:nvPr/>
        </p:nvPicPr>
        <p:blipFill>
          <a:blip r:embed="rId1"/>
          <a:srcRect b="-294"/>
          <a:stretch>
            <a:fillRect/>
          </a:stretch>
        </p:blipFill>
        <p:spPr>
          <a:xfrm>
            <a:off x="357188" y="4357688"/>
            <a:ext cx="8459787" cy="2159000"/>
          </a:xfrm>
          <a:prstGeom prst="rect">
            <a:avLst/>
          </a:prstGeom>
          <a:solidFill>
            <a:srgbClr val="66CCFF"/>
          </a:solidFill>
          <a:ln w="9525" cap="flat" cmpd="sng">
            <a:solidFill>
              <a:srgbClr val="66CCFF"/>
            </a:solidFill>
            <a:prstDash val="solid"/>
            <a:miter/>
            <a:headEnd type="none" w="med" len="med"/>
            <a:tailEnd type="none" w="med" len="med"/>
          </a:ln>
        </p:spPr>
      </p:pic>
      <p:sp>
        <p:nvSpPr>
          <p:cNvPr id="5" name="圆角矩形标注 4"/>
          <p:cNvSpPr/>
          <p:nvPr/>
        </p:nvSpPr>
        <p:spPr>
          <a:xfrm>
            <a:off x="1000125" y="2357438"/>
            <a:ext cx="7500938" cy="1714500"/>
          </a:xfrm>
          <a:prstGeom prst="wedgeRoundRectCallout">
            <a:avLst>
              <a:gd name="adj1" fmla="val 22003"/>
              <a:gd name="adj2" fmla="val 78144"/>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mn-lt"/>
                <a:ea typeface="+mn-ea"/>
                <a:cs typeface="+mn-cs"/>
              </a:rPr>
              <a:t>在热塑性变形中，铸锭内部粗大的树枝状晶逐渐沿主变形方向伸长，同时，晶间杂质也逐渐与主变形方向一致，形成 “流线</a:t>
            </a:r>
            <a:r>
              <a:rPr kumimoji="0" lang="en-US" sz="1800" b="1" i="0" u="none" strike="noStrike" kern="1200" cap="none" spc="0" normalizeH="0" baseline="0" noProof="0" dirty="0">
                <a:ln>
                  <a:noFill/>
                </a:ln>
                <a:solidFill>
                  <a:schemeClr val="lt1"/>
                </a:solidFill>
                <a:effectLst/>
                <a:uLnTx/>
                <a:uFillTx/>
                <a:latin typeface="+mn-lt"/>
                <a:ea typeface="+mn-ea"/>
                <a:cs typeface="+mn-cs"/>
              </a:rPr>
              <a:t> </a:t>
            </a:r>
            <a:r>
              <a:rPr kumimoji="0" lang="zh-CN" altLang="en-US" sz="1800" b="1" i="0" u="none" strike="noStrike" kern="1200" cap="none" spc="0" normalizeH="0" baseline="0" noProof="0" dirty="0">
                <a:ln>
                  <a:noFill/>
                </a:ln>
                <a:solidFill>
                  <a:schemeClr val="lt1"/>
                </a:solidFill>
                <a:effectLst/>
                <a:uLnTx/>
                <a:uFillTx/>
                <a:latin typeface="+mn-lt"/>
                <a:ea typeface="+mn-ea"/>
                <a:cs typeface="+mn-cs"/>
              </a:rPr>
              <a:t>”， “纤维组织”。在热塑性加工中，由于再结晶，被拉长的晶粒变成细小的等轴晶，而纤维组织却被很稳定的保留下来直至室温。与冷变形时由于晶粒被拉长而形成的纤维组织是不同的。</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pic>
        <p:nvPicPr>
          <p:cNvPr id="44038" name="Picture 15" descr="锻造流线"/>
          <p:cNvPicPr>
            <a:picLocks noChangeAspect="1"/>
          </p:cNvPicPr>
          <p:nvPr/>
        </p:nvPicPr>
        <p:blipFill>
          <a:blip r:embed="rId2"/>
          <a:stretch>
            <a:fillRect/>
          </a:stretch>
        </p:blipFill>
        <p:spPr>
          <a:xfrm>
            <a:off x="4357688" y="142875"/>
            <a:ext cx="4529137" cy="2135188"/>
          </a:xfrm>
          <a:prstGeom prst="rect">
            <a:avLst/>
          </a:prstGeom>
          <a:noFill/>
          <a:ln w="9525">
            <a:noFill/>
          </a:ln>
        </p:spPr>
      </p:pic>
      <p:sp>
        <p:nvSpPr>
          <p:cNvPr id="7" name="圆角矩形标注 6"/>
          <p:cNvSpPr/>
          <p:nvPr/>
        </p:nvSpPr>
        <p:spPr>
          <a:xfrm>
            <a:off x="1000125" y="642938"/>
            <a:ext cx="3214688" cy="1428750"/>
          </a:xfrm>
          <a:prstGeom prst="wedgeRoundRectCallout">
            <a:avLst>
              <a:gd name="adj1" fmla="val 62813"/>
              <a:gd name="adj2" fmla="val -26388"/>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GreekS" pitchFamily="2" charset="0"/>
                <a:ea typeface="楷体_GB2312" pitchFamily="49" charset="-122"/>
                <a:cs typeface="+mn-cs"/>
              </a:rPr>
              <a:t>设计时考虑应使零件在工作中产生的</a:t>
            </a:r>
            <a:r>
              <a:rPr kumimoji="0" lang="zh-CN" altLang="en-US" sz="1800" b="1" i="0" u="none" strike="noStrike" kern="1200" cap="none" spc="0" normalizeH="0" baseline="0" noProof="0" dirty="0">
                <a:ln>
                  <a:noFill/>
                </a:ln>
                <a:solidFill>
                  <a:srgbClr val="FF0066"/>
                </a:solidFill>
                <a:effectLst/>
                <a:uLnTx/>
                <a:uFillTx/>
                <a:latin typeface="GreekS" pitchFamily="2" charset="0"/>
                <a:ea typeface="楷体_GB2312" pitchFamily="49" charset="-122"/>
                <a:cs typeface="+mn-cs"/>
              </a:rPr>
              <a:t>最大正应力方向与纤维方向重合，最大切应力方向与纤维方向垂直。</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nodeType="withEffect">
                                  <p:stCondLst>
                                    <p:cond delay="0"/>
                                  </p:stCondLst>
                                  <p:childTnLst>
                                    <p:set>
                                      <p:cBhvr>
                                        <p:cTn id="9" dur="1" fill="hold">
                                          <p:stCondLst>
                                            <p:cond delay="0"/>
                                          </p:stCondLst>
                                        </p:cTn>
                                        <p:tgtEl>
                                          <p:spTgt spid="44038"/>
                                        </p:tgtEl>
                                        <p:attrNameLst>
                                          <p:attrName>style.visibility</p:attrName>
                                        </p:attrNameLst>
                                      </p:cBhvr>
                                      <p:to>
                                        <p:strVal val="visible"/>
                                      </p:to>
                                    </p:set>
                                    <p:animEffect transition="in" filter="blinds(horizontal)">
                                      <p:cBhvr>
                                        <p:cTn id="10" dur="500"/>
                                        <p:tgtEl>
                                          <p:spTgt spid="44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9"/>
          <p:cNvSpPr/>
          <p:nvPr/>
        </p:nvSpPr>
        <p:spPr>
          <a:xfrm>
            <a:off x="611188" y="260350"/>
            <a:ext cx="7772400" cy="587375"/>
          </a:xfrm>
          <a:prstGeom prst="rect">
            <a:avLst/>
          </a:prstGeom>
          <a:noFill/>
          <a:ln w="9525">
            <a:noFill/>
          </a:ln>
        </p:spPr>
        <p:txBody>
          <a:bodyPr lIns="91397" tIns="45698" rIns="91397" bIns="45698" anchor="ctr" anchorCtr="0"/>
          <a:p>
            <a:pPr algn="ctr" latinLnBrk="1"/>
            <a:r>
              <a:rPr lang="zh-CN" altLang="en-US" sz="4000" b="1" dirty="0">
                <a:solidFill>
                  <a:schemeClr val="bg1"/>
                </a:solidFill>
                <a:latin typeface="楷体_GB2312" pitchFamily="49" charset="-122"/>
              </a:rPr>
              <a:t>第二章 锻造成形</a:t>
            </a:r>
            <a:endParaRPr lang="zh-CN" altLang="en-US" sz="4000" b="1" dirty="0">
              <a:solidFill>
                <a:schemeClr val="bg1"/>
              </a:solidFill>
              <a:latin typeface="楷体_GB2312" pitchFamily="49" charset="-122"/>
            </a:endParaRPr>
          </a:p>
        </p:txBody>
      </p:sp>
      <p:sp>
        <p:nvSpPr>
          <p:cNvPr id="3075" name="Rectangle 10"/>
          <p:cNvSpPr/>
          <p:nvPr/>
        </p:nvSpPr>
        <p:spPr>
          <a:xfrm>
            <a:off x="395288" y="1340803"/>
            <a:ext cx="8353425" cy="2303462"/>
          </a:xfrm>
          <a:prstGeom prst="rect">
            <a:avLst/>
          </a:prstGeom>
          <a:noFill/>
          <a:ln w="19050" cap="flat" cmpd="sng">
            <a:solidFill>
              <a:srgbClr val="0000FF"/>
            </a:solidFill>
            <a:prstDash val="solid"/>
            <a:miter/>
            <a:headEnd type="none" w="med" len="med"/>
            <a:tailEnd type="none" w="med" len="med"/>
          </a:ln>
        </p:spPr>
        <p:txBody>
          <a:bodyPr/>
          <a:p>
            <a:pPr algn="just" latinLnBrk="1">
              <a:lnSpc>
                <a:spcPct val="125000"/>
              </a:lnSpc>
              <a:spcBef>
                <a:spcPct val="20000"/>
              </a:spcBef>
            </a:pPr>
            <a:r>
              <a:rPr lang="zh-CN" altLang="en-US" sz="2500" dirty="0">
                <a:latin typeface="宋体" panose="02010600030101010101" pitchFamily="2" charset="-122"/>
              </a:rPr>
              <a:t>    </a:t>
            </a:r>
            <a:r>
              <a:rPr lang="zh-CN" altLang="en-US" sz="2500" b="1" dirty="0">
                <a:latin typeface="宋体" panose="02010600030101010101" pitchFamily="2" charset="-122"/>
              </a:rPr>
              <a:t>将金属坯料置于上下抵铁（自由锻）或锻模（模锻）内，用冲击力或压力使金属成形为各种锻件和型材的工艺方法。</a:t>
            </a:r>
            <a:endParaRPr lang="zh-CN" altLang="en-US" sz="2500" b="1" dirty="0">
              <a:latin typeface="宋体" panose="02010600030101010101" pitchFamily="2" charset="-122"/>
            </a:endParaRPr>
          </a:p>
          <a:p>
            <a:pPr algn="just" latinLnBrk="1">
              <a:lnSpc>
                <a:spcPct val="125000"/>
              </a:lnSpc>
              <a:spcBef>
                <a:spcPct val="20000"/>
              </a:spcBef>
            </a:pPr>
            <a:r>
              <a:rPr lang="zh-CN" altLang="en-US" sz="2500" b="1" dirty="0">
                <a:latin typeface="宋体" panose="02010600030101010101" pitchFamily="2" charset="-122"/>
              </a:rPr>
              <a:t>    锻造可以改善金属的力学性能。</a:t>
            </a:r>
            <a:endParaRPr lang="zh-CN" altLang="en-US" sz="2500" b="1" dirty="0">
              <a:latin typeface="宋体" panose="02010600030101010101" pitchFamily="2" charset="-122"/>
            </a:endParaRPr>
          </a:p>
        </p:txBody>
      </p:sp>
      <p:grpSp>
        <p:nvGrpSpPr>
          <p:cNvPr id="3076" name="Group 4"/>
          <p:cNvGrpSpPr/>
          <p:nvPr/>
        </p:nvGrpSpPr>
        <p:grpSpPr>
          <a:xfrm>
            <a:off x="250825" y="3860483"/>
            <a:ext cx="8713788" cy="2578100"/>
            <a:chOff x="0" y="0"/>
            <a:chExt cx="5489" cy="1446"/>
          </a:xfrm>
        </p:grpSpPr>
        <p:pic>
          <p:nvPicPr>
            <p:cNvPr id="3077" name="Picture 11" descr="a3-1"/>
            <p:cNvPicPr>
              <a:picLocks noChangeAspect="1"/>
            </p:cNvPicPr>
            <p:nvPr/>
          </p:nvPicPr>
          <p:blipFill>
            <a:blip r:embed="rId1"/>
            <a:stretch>
              <a:fillRect/>
            </a:stretch>
          </p:blipFill>
          <p:spPr>
            <a:xfrm>
              <a:off x="46" y="0"/>
              <a:ext cx="5352" cy="1270"/>
            </a:xfrm>
            <a:prstGeom prst="rect">
              <a:avLst/>
            </a:prstGeom>
            <a:noFill/>
            <a:ln w="9525">
              <a:noFill/>
            </a:ln>
          </p:spPr>
        </p:pic>
        <p:sp>
          <p:nvSpPr>
            <p:cNvPr id="3078" name="Rectangle 12"/>
            <p:cNvSpPr/>
            <p:nvPr/>
          </p:nvSpPr>
          <p:spPr>
            <a:xfrm>
              <a:off x="0" y="1224"/>
              <a:ext cx="5489" cy="222"/>
            </a:xfrm>
            <a:prstGeom prst="rect">
              <a:avLst/>
            </a:prstGeom>
            <a:noFill/>
            <a:ln w="9525">
              <a:noFill/>
            </a:ln>
          </p:spPr>
          <p:txBody>
            <a:bodyPr>
              <a:spAutoFit/>
            </a:bodyPr>
            <a:p>
              <a:pPr algn="just"/>
              <a:r>
                <a:rPr lang="en-US" altLang="zh-CN" sz="2000" b="1" dirty="0">
                  <a:latin typeface="宋体" panose="02010600030101010101" pitchFamily="2" charset="-122"/>
                </a:rPr>
                <a:t>a) </a:t>
              </a:r>
              <a:r>
                <a:rPr lang="zh-CN" altLang="en-US" sz="2000" b="1" dirty="0">
                  <a:latin typeface="宋体" panose="02010600030101010101" pitchFamily="2" charset="-122"/>
                </a:rPr>
                <a:t>自由锻        </a:t>
              </a:r>
              <a:r>
                <a:rPr lang="en-US" altLang="zh-CN" sz="2000" b="1" dirty="0">
                  <a:latin typeface="宋体" panose="02010600030101010101" pitchFamily="2" charset="-122"/>
                </a:rPr>
                <a:t>b) </a:t>
              </a:r>
              <a:r>
                <a:rPr lang="zh-CN" altLang="en-US" sz="2000" b="1" dirty="0">
                  <a:latin typeface="宋体" panose="02010600030101010101" pitchFamily="2" charset="-122"/>
                </a:rPr>
                <a:t>胎模锻         </a:t>
              </a:r>
              <a:r>
                <a:rPr lang="en-US" altLang="zh-CN" sz="2000" b="1" dirty="0">
                  <a:latin typeface="宋体" panose="02010600030101010101" pitchFamily="2" charset="-122"/>
                </a:rPr>
                <a:t>c) </a:t>
              </a:r>
              <a:r>
                <a:rPr lang="zh-CN" altLang="en-US" sz="2000" b="1" dirty="0">
                  <a:latin typeface="宋体" panose="02010600030101010101" pitchFamily="2" charset="-122"/>
                </a:rPr>
                <a:t>模锻           </a:t>
              </a:r>
              <a:r>
                <a:rPr lang="en-US" altLang="zh-CN" sz="2000" b="1" dirty="0">
                  <a:latin typeface="宋体" panose="02010600030101010101" pitchFamily="2" charset="-122"/>
                </a:rPr>
                <a:t>d) </a:t>
              </a:r>
              <a:r>
                <a:rPr lang="zh-CN" altLang="en-US" sz="2000" b="1" dirty="0">
                  <a:latin typeface="宋体" panose="02010600030101010101" pitchFamily="2" charset="-122"/>
                </a:rPr>
                <a:t>锻件实例</a:t>
              </a:r>
              <a:endParaRPr lang="zh-CN" altLang="en-US" sz="2000" b="1" dirty="0">
                <a:latin typeface="Arial" panose="020B0604020202020204" pitchFamily="34" charset="0"/>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2"/>
          <p:cNvSpPr/>
          <p:nvPr/>
        </p:nvSpPr>
        <p:spPr>
          <a:xfrm>
            <a:off x="2643188" y="219869"/>
            <a:ext cx="4881562" cy="768350"/>
          </a:xfrm>
          <a:prstGeom prst="rect">
            <a:avLst/>
          </a:prstGeom>
          <a:noFill/>
          <a:ln w="9525">
            <a:noFill/>
          </a:ln>
        </p:spPr>
        <p:txBody>
          <a:bodyPr anchor="ctr" anchorCtr="0">
            <a:spAutoFit/>
          </a:bodyPr>
          <a:p>
            <a:pPr eaLnBrk="1" hangingPunct="1"/>
            <a:r>
              <a:rPr lang="zh-CN" altLang="en-US" sz="4400" b="1" dirty="0">
                <a:latin typeface="楷体_GB2312" pitchFamily="49" charset="-122"/>
                <a:ea typeface="楷体_GB2312" pitchFamily="49" charset="-122"/>
              </a:rPr>
              <a:t>自由锻</a:t>
            </a:r>
            <a:endParaRPr lang="zh-CN" altLang="en-US" sz="4400" b="1" dirty="0">
              <a:latin typeface="楷体_GB2312" pitchFamily="49" charset="-122"/>
              <a:ea typeface="楷体_GB2312" pitchFamily="49" charset="-122"/>
            </a:endParaRPr>
          </a:p>
        </p:txBody>
      </p:sp>
      <p:sp>
        <p:nvSpPr>
          <p:cNvPr id="46083" name="Rectangle 3"/>
          <p:cNvSpPr/>
          <p:nvPr/>
        </p:nvSpPr>
        <p:spPr>
          <a:xfrm>
            <a:off x="395605" y="1408748"/>
            <a:ext cx="8149590" cy="1198880"/>
          </a:xfrm>
          <a:prstGeom prst="rect">
            <a:avLst/>
          </a:prstGeom>
          <a:noFill/>
          <a:ln w="9525">
            <a:noFill/>
          </a:ln>
        </p:spPr>
        <p:txBody>
          <a:bodyPr wrap="square" anchor="ctr" anchorCtr="0">
            <a:spAutoFit/>
          </a:bodyPr>
          <a:p>
            <a:pPr indent="304800" eaLnBrk="1" hangingPunct="1"/>
            <a:r>
              <a:rPr lang="zh-CN" altLang="en-US" sz="2400" b="1" dirty="0">
                <a:solidFill>
                  <a:srgbClr val="FF3300"/>
                </a:solidFill>
                <a:latin typeface="华文楷体" panose="02010600040101010101" pitchFamily="2" charset="-122"/>
                <a:ea typeface="华文楷体" panose="02010600040101010101" pitchFamily="2" charset="-122"/>
              </a:rPr>
              <a:t>一．自由锻</a:t>
            </a:r>
            <a:endParaRPr lang="zh-CN" altLang="en-US" sz="2400" b="1" dirty="0">
              <a:solidFill>
                <a:srgbClr val="FF3300"/>
              </a:solidFill>
              <a:latin typeface="华文楷体" panose="02010600040101010101" pitchFamily="2" charset="-122"/>
              <a:ea typeface="华文楷体" panose="02010600040101010101" pitchFamily="2" charset="-122"/>
            </a:endParaRPr>
          </a:p>
          <a:p>
            <a:pPr indent="304800" eaLnBrk="1" hangingPunct="1"/>
            <a:r>
              <a:rPr lang="zh-CN" altLang="en-US" sz="2400" b="1" dirty="0">
                <a:latin typeface="华文楷体" panose="02010600040101010101" pitchFamily="2" charset="-122"/>
                <a:ea typeface="华文楷体" panose="02010600040101010101" pitchFamily="2" charset="-122"/>
              </a:rPr>
              <a:t>  自由锻是利用冲击力或压力使金属在上、下两个抵铁之间产生塑性变形，从而得到所需锻件的锻造方法。</a:t>
            </a:r>
            <a:endParaRPr lang="zh-CN" altLang="en-US" sz="2400" b="1" dirty="0">
              <a:latin typeface="华文楷体" panose="02010600040101010101" pitchFamily="2" charset="-122"/>
              <a:ea typeface="华文楷体" panose="02010600040101010101" pitchFamily="2" charset="-122"/>
            </a:endParaRPr>
          </a:p>
        </p:txBody>
      </p:sp>
      <p:sp>
        <p:nvSpPr>
          <p:cNvPr id="46084" name="Rectangle 4"/>
          <p:cNvSpPr/>
          <p:nvPr/>
        </p:nvSpPr>
        <p:spPr>
          <a:xfrm>
            <a:off x="323850" y="2708910"/>
            <a:ext cx="4222115" cy="3784600"/>
          </a:xfrm>
          <a:prstGeom prst="rect">
            <a:avLst/>
          </a:prstGeom>
          <a:noFill/>
          <a:ln w="9525">
            <a:noFill/>
          </a:ln>
        </p:spPr>
        <p:txBody>
          <a:bodyPr wrap="square" anchor="ctr" anchorCtr="0">
            <a:spAutoFit/>
          </a:bodyPr>
          <a:p>
            <a:pPr indent="304800" eaLnBrk="1" hangingPunct="1"/>
            <a:r>
              <a:rPr lang="zh-CN" altLang="en-US" sz="2400" b="1" dirty="0">
                <a:solidFill>
                  <a:srgbClr val="009900"/>
                </a:solidFill>
                <a:latin typeface="华文楷体" panose="02010600040101010101" pitchFamily="2" charset="-122"/>
                <a:ea typeface="华文楷体" panose="02010600040101010101" pitchFamily="2" charset="-122"/>
              </a:rPr>
              <a:t>特点：</a:t>
            </a:r>
            <a:endParaRPr lang="zh-CN" altLang="en-US" sz="2400" b="1" dirty="0">
              <a:solidFill>
                <a:srgbClr val="009900"/>
              </a:solidFill>
              <a:latin typeface="华文楷体" panose="02010600040101010101" pitchFamily="2" charset="-122"/>
              <a:ea typeface="华文楷体" panose="02010600040101010101" pitchFamily="2" charset="-122"/>
            </a:endParaRPr>
          </a:p>
          <a:p>
            <a:pPr indent="304800" eaLnBrk="1" hangingPunct="1"/>
            <a:r>
              <a:rPr lang="zh-CN" altLang="en-US" sz="2400" b="1" dirty="0">
                <a:solidFill>
                  <a:srgbClr val="009900"/>
                </a:solidFill>
                <a:latin typeface="华文楷体" panose="02010600040101010101" pitchFamily="2" charset="-122"/>
                <a:ea typeface="华文楷体" panose="02010600040101010101" pitchFamily="2" charset="-122"/>
              </a:rPr>
              <a:t>     </a:t>
            </a:r>
            <a:r>
              <a:rPr lang="zh-CN" altLang="en-US" sz="2400" b="1" dirty="0">
                <a:latin typeface="华文楷体" panose="02010600040101010101" pitchFamily="2" charset="-122"/>
                <a:ea typeface="华文楷体" panose="02010600040101010101" pitchFamily="2" charset="-122"/>
              </a:rPr>
              <a:t>（</a:t>
            </a:r>
            <a:r>
              <a:rPr lang="en-US" altLang="zh-CN" sz="2400" b="1" dirty="0">
                <a:latin typeface="华文楷体" panose="02010600040101010101" pitchFamily="2" charset="-122"/>
                <a:ea typeface="华文楷体" panose="02010600040101010101" pitchFamily="2" charset="-122"/>
              </a:rPr>
              <a:t>1</a:t>
            </a:r>
            <a:r>
              <a:rPr lang="zh-CN" altLang="en-US" sz="2400" b="1" dirty="0">
                <a:latin typeface="华文楷体" panose="02010600040101010101" pitchFamily="2" charset="-122"/>
                <a:ea typeface="华文楷体" panose="02010600040101010101" pitchFamily="2" charset="-122"/>
              </a:rPr>
              <a:t>）金属流动自由；</a:t>
            </a:r>
            <a:endParaRPr lang="zh-CN" altLang="en-US" sz="2400" b="1" dirty="0">
              <a:latin typeface="华文楷体" panose="02010600040101010101" pitchFamily="2" charset="-122"/>
              <a:ea typeface="华文楷体" panose="02010600040101010101" pitchFamily="2" charset="-122"/>
            </a:endParaRPr>
          </a:p>
          <a:p>
            <a:pPr indent="304800" eaLnBrk="1" hangingPunct="1"/>
            <a:r>
              <a:rPr lang="zh-CN" altLang="en-US" sz="2400" b="1" dirty="0">
                <a:latin typeface="华文楷体" panose="02010600040101010101" pitchFamily="2" charset="-122"/>
                <a:ea typeface="华文楷体" panose="02010600040101010101" pitchFamily="2" charset="-122"/>
              </a:rPr>
              <a:t>     （</a:t>
            </a:r>
            <a:r>
              <a:rPr lang="en-US" altLang="zh-CN" sz="2400" b="1" dirty="0">
                <a:latin typeface="华文楷体" panose="02010600040101010101" pitchFamily="2" charset="-122"/>
                <a:ea typeface="华文楷体" panose="02010600040101010101" pitchFamily="2" charset="-122"/>
              </a:rPr>
              <a:t>2</a:t>
            </a:r>
            <a:r>
              <a:rPr lang="zh-CN" altLang="en-US" sz="2400" b="1" dirty="0">
                <a:latin typeface="华文楷体" panose="02010600040101010101" pitchFamily="2" charset="-122"/>
                <a:ea typeface="华文楷体" panose="02010600040101010101" pitchFamily="2" charset="-122"/>
              </a:rPr>
              <a:t>）形状、尺寸精度由操作者操作技术保证；</a:t>
            </a:r>
            <a:endParaRPr lang="zh-CN" altLang="en-US" sz="2400" b="1" dirty="0">
              <a:latin typeface="华文楷体" panose="02010600040101010101" pitchFamily="2" charset="-122"/>
              <a:ea typeface="华文楷体" panose="02010600040101010101" pitchFamily="2" charset="-122"/>
            </a:endParaRPr>
          </a:p>
          <a:p>
            <a:pPr indent="304800" eaLnBrk="1" hangingPunct="1"/>
            <a:r>
              <a:rPr lang="zh-CN" altLang="en-US" sz="2400" b="1" dirty="0">
                <a:latin typeface="华文楷体" panose="02010600040101010101" pitchFamily="2" charset="-122"/>
                <a:ea typeface="华文楷体" panose="02010600040101010101" pitchFamily="2" charset="-122"/>
              </a:rPr>
              <a:t>     （</a:t>
            </a:r>
            <a:r>
              <a:rPr lang="en-US" altLang="zh-CN" sz="2400" b="1" dirty="0">
                <a:latin typeface="华文楷体" panose="02010600040101010101" pitchFamily="2" charset="-122"/>
                <a:ea typeface="华文楷体" panose="02010600040101010101" pitchFamily="2" charset="-122"/>
              </a:rPr>
              <a:t>3</a:t>
            </a:r>
            <a:r>
              <a:rPr lang="zh-CN" altLang="en-US" sz="2400" b="1" dirty="0">
                <a:latin typeface="华文楷体" panose="02010600040101010101" pitchFamily="2" charset="-122"/>
                <a:ea typeface="华文楷体" panose="02010600040101010101" pitchFamily="2" charset="-122"/>
              </a:rPr>
              <a:t>）生产率、产品精度较低；</a:t>
            </a:r>
            <a:endParaRPr lang="zh-CN" altLang="en-US" sz="2400" b="1" dirty="0">
              <a:latin typeface="华文楷体" panose="02010600040101010101" pitchFamily="2" charset="-122"/>
              <a:ea typeface="华文楷体" panose="02010600040101010101" pitchFamily="2" charset="-122"/>
            </a:endParaRPr>
          </a:p>
          <a:p>
            <a:pPr indent="304800" eaLnBrk="1" hangingPunct="1"/>
            <a:r>
              <a:rPr lang="zh-CN" altLang="en-US" sz="2400" b="1" dirty="0">
                <a:latin typeface="华文楷体" panose="02010600040101010101" pitchFamily="2" charset="-122"/>
                <a:ea typeface="华文楷体" panose="02010600040101010101" pitchFamily="2" charset="-122"/>
              </a:rPr>
              <a:t>     （</a:t>
            </a:r>
            <a:r>
              <a:rPr lang="en-US" altLang="zh-CN" sz="2400" b="1" dirty="0">
                <a:latin typeface="华文楷体" panose="02010600040101010101" pitchFamily="2" charset="-122"/>
                <a:ea typeface="华文楷体" panose="02010600040101010101" pitchFamily="2" charset="-122"/>
              </a:rPr>
              <a:t>4</a:t>
            </a:r>
            <a:r>
              <a:rPr lang="zh-CN" altLang="en-US" sz="2400" b="1" dirty="0">
                <a:latin typeface="华文楷体" panose="02010600040101010101" pitchFamily="2" charset="-122"/>
                <a:ea typeface="华文楷体" panose="02010600040101010101" pitchFamily="2" charset="-122"/>
              </a:rPr>
              <a:t>）通用性强，小到大型、巨型锻件都可以生产，特别在重型机械制造中特别重要。</a:t>
            </a:r>
            <a:endParaRPr lang="zh-CN" altLang="en-US" sz="2400" b="1" dirty="0">
              <a:latin typeface="华文楷体" panose="02010600040101010101" pitchFamily="2" charset="-122"/>
              <a:ea typeface="华文楷体" panose="02010600040101010101" pitchFamily="2" charset="-122"/>
            </a:endParaRPr>
          </a:p>
          <a:p>
            <a:pPr indent="304800" eaLnBrk="1" hangingPunct="1"/>
            <a:r>
              <a:rPr lang="zh-CN" altLang="en-US" sz="2400" b="1" dirty="0">
                <a:solidFill>
                  <a:srgbClr val="009900"/>
                </a:solidFill>
                <a:latin typeface="华文楷体" panose="02010600040101010101" pitchFamily="2" charset="-122"/>
                <a:ea typeface="华文楷体" panose="02010600040101010101" pitchFamily="2" charset="-122"/>
              </a:rPr>
              <a:t>  </a:t>
            </a:r>
            <a:endParaRPr lang="en-US" altLang="zh-CN" sz="2400" b="1" dirty="0">
              <a:latin typeface="华文楷体" panose="02010600040101010101" pitchFamily="2" charset="-122"/>
              <a:ea typeface="华文楷体" panose="02010600040101010101" pitchFamily="2" charset="-122"/>
            </a:endParaRPr>
          </a:p>
        </p:txBody>
      </p:sp>
      <p:pic>
        <p:nvPicPr>
          <p:cNvPr id="4101" name="Picture 10" descr="自有锻造"/>
          <p:cNvPicPr>
            <a:picLocks noChangeAspect="1"/>
          </p:cNvPicPr>
          <p:nvPr/>
        </p:nvPicPr>
        <p:blipFill>
          <a:blip r:embed="rId1"/>
          <a:stretch>
            <a:fillRect/>
          </a:stretch>
        </p:blipFill>
        <p:spPr>
          <a:xfrm>
            <a:off x="5004435" y="2564765"/>
            <a:ext cx="3830955" cy="4236085"/>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标题 1"/>
          <p:cNvSpPr>
            <a:spLocks noGrp="1"/>
          </p:cNvSpPr>
          <p:nvPr>
            <p:ph type="title"/>
          </p:nvPr>
        </p:nvSpPr>
        <p:spPr/>
        <p:txBody>
          <a:bodyPr vert="horz" wrap="square" lIns="91440" tIns="45720" rIns="91440" bIns="45720" anchor="ctr" anchorCtr="0"/>
          <a:p>
            <a:r>
              <a:rPr lang="zh-CN" altLang="en-US" dirty="0">
                <a:latin typeface="华文楷体" panose="02010600040101010101" pitchFamily="2" charset="-122"/>
                <a:ea typeface="华文楷体" panose="02010600040101010101" pitchFamily="2" charset="-122"/>
              </a:rPr>
              <a:t>自由锻</a:t>
            </a:r>
            <a:endParaRPr lang="zh-CN" altLang="en-US" dirty="0">
              <a:latin typeface="华文楷体" panose="02010600040101010101" pitchFamily="2" charset="-122"/>
              <a:ea typeface="华文楷体" panose="02010600040101010101" pitchFamily="2" charset="-122"/>
            </a:endParaRPr>
          </a:p>
        </p:txBody>
      </p:sp>
      <p:sp>
        <p:nvSpPr>
          <p:cNvPr id="47107" name="内容占位符 2"/>
          <p:cNvSpPr>
            <a:spLocks noGrp="1"/>
          </p:cNvSpPr>
          <p:nvPr>
            <p:ph idx="1"/>
          </p:nvPr>
        </p:nvSpPr>
        <p:spPr>
          <a:xfrm>
            <a:off x="500063" y="1285875"/>
            <a:ext cx="8153400" cy="4572000"/>
          </a:xfrm>
        </p:spPr>
        <p:txBody>
          <a:bodyPr vert="horz" wrap="square" lIns="91440" tIns="45720" rIns="91440" bIns="45720" anchor="t" anchorCtr="0"/>
          <a:p>
            <a:r>
              <a:rPr lang="zh-CN" altLang="en-US" dirty="0">
                <a:latin typeface="华文楷体" panose="02010600040101010101" pitchFamily="2" charset="-122"/>
                <a:ea typeface="华文楷体" panose="02010600040101010101" pitchFamily="2" charset="-122"/>
              </a:rPr>
              <a:t>分类</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手工锻造：通过手工方式（抡锤）产生打击力使金属产生变形（小型锻件），比如打农机具、打宝剑等。</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机器锻造（中大型锻件）</a:t>
            </a:r>
            <a:endParaRPr lang="zh-CN" altLang="en-US" dirty="0">
              <a:latin typeface="华文楷体" panose="02010600040101010101" pitchFamily="2" charset="-122"/>
              <a:ea typeface="华文楷体" panose="02010600040101010101" pitchFamily="2" charset="-122"/>
            </a:endParaRPr>
          </a:p>
        </p:txBody>
      </p:sp>
      <p:pic>
        <p:nvPicPr>
          <p:cNvPr id="47108" name="Picture 6"/>
          <p:cNvPicPr>
            <a:picLocks noChangeAspect="1"/>
          </p:cNvPicPr>
          <p:nvPr/>
        </p:nvPicPr>
        <p:blipFill>
          <a:blip r:embed="rId1"/>
          <a:stretch>
            <a:fillRect/>
          </a:stretch>
        </p:blipFill>
        <p:spPr>
          <a:xfrm>
            <a:off x="4286250" y="3857625"/>
            <a:ext cx="4283075" cy="2786063"/>
          </a:xfrm>
          <a:prstGeom prst="rect">
            <a:avLst/>
          </a:prstGeom>
          <a:noFill/>
          <a:ln w="9525">
            <a:noFill/>
          </a:ln>
        </p:spPr>
      </p:pic>
      <p:pic>
        <p:nvPicPr>
          <p:cNvPr id="47109" name="Picture 3"/>
          <p:cNvPicPr>
            <a:picLocks noChangeAspect="1"/>
          </p:cNvPicPr>
          <p:nvPr/>
        </p:nvPicPr>
        <p:blipFill>
          <a:blip r:embed="rId2"/>
          <a:stretch>
            <a:fillRect/>
          </a:stretch>
        </p:blipFill>
        <p:spPr>
          <a:xfrm>
            <a:off x="357188" y="3929063"/>
            <a:ext cx="3667125" cy="2746375"/>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p:nvPr/>
        </p:nvSpPr>
        <p:spPr>
          <a:xfrm>
            <a:off x="3203575" y="219075"/>
            <a:ext cx="4321175" cy="769938"/>
          </a:xfrm>
          <a:prstGeom prst="rect">
            <a:avLst/>
          </a:prstGeom>
          <a:noFill/>
          <a:ln w="9525">
            <a:noFill/>
          </a:ln>
        </p:spPr>
        <p:txBody>
          <a:bodyPr anchor="ctr" anchorCtr="0">
            <a:spAutoFit/>
          </a:bodyPr>
          <a:p>
            <a:pPr eaLnBrk="1" hangingPunct="1"/>
            <a:r>
              <a:rPr lang="zh-CN" altLang="en-US" sz="4400" b="1" dirty="0">
                <a:solidFill>
                  <a:srgbClr val="009900"/>
                </a:solidFill>
                <a:latin typeface="楷体_GB2312" pitchFamily="49" charset="-122"/>
                <a:ea typeface="楷体_GB2312" pitchFamily="49" charset="-122"/>
              </a:rPr>
              <a:t>自由锻设备</a:t>
            </a:r>
            <a:endParaRPr lang="en-US" altLang="zh-CN" sz="4400" b="1" dirty="0">
              <a:solidFill>
                <a:srgbClr val="009900"/>
              </a:solidFill>
              <a:latin typeface="楷体_GB2312" pitchFamily="49" charset="-122"/>
              <a:ea typeface="楷体_GB2312" pitchFamily="49" charset="-122"/>
            </a:endParaRPr>
          </a:p>
        </p:txBody>
      </p:sp>
      <p:sp>
        <p:nvSpPr>
          <p:cNvPr id="48131" name="Rectangle 4"/>
          <p:cNvSpPr/>
          <p:nvPr/>
        </p:nvSpPr>
        <p:spPr>
          <a:xfrm>
            <a:off x="523875" y="1143635"/>
            <a:ext cx="8112125" cy="2245360"/>
          </a:xfrm>
          <a:prstGeom prst="rect">
            <a:avLst/>
          </a:prstGeom>
          <a:noFill/>
          <a:ln w="9525">
            <a:noFill/>
          </a:ln>
        </p:spPr>
        <p:txBody>
          <a:bodyPr wrap="square" anchor="ctr" anchorCtr="0">
            <a:spAutoFit/>
          </a:bodyPr>
          <a:p>
            <a:pPr indent="304800" eaLnBrk="1" hangingPunct="1"/>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1</a:t>
            </a:r>
            <a:r>
              <a:rPr lang="zh-CN" altLang="en-US" sz="2000" b="1" dirty="0">
                <a:latin typeface="楷体_GB2312" pitchFamily="49" charset="-122"/>
                <a:ea typeface="楷体_GB2312" pitchFamily="49" charset="-122"/>
              </a:rPr>
              <a:t>）锻锤：空气锤</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压缩空气通到锤头上部，快速推动锤头下移，</a:t>
            </a:r>
            <a:endParaRPr lang="en-US" altLang="zh-CN" sz="2000" b="1" dirty="0">
              <a:latin typeface="楷体_GB2312" pitchFamily="49" charset="-122"/>
              <a:ea typeface="楷体_GB2312" pitchFamily="49" charset="-122"/>
            </a:endParaRPr>
          </a:p>
          <a:p>
            <a:pPr indent="304800" eaLnBrk="1" hangingPunct="1"/>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  小型锻件</a:t>
            </a:r>
            <a:r>
              <a:rPr lang="en-US" altLang="zh-CN" sz="2000" b="1" dirty="0">
                <a:latin typeface="楷体_GB2312" pitchFamily="49" charset="-122"/>
                <a:ea typeface="楷体_GB2312" pitchFamily="49" charset="-122"/>
              </a:rPr>
              <a:t>150</a:t>
            </a:r>
            <a:r>
              <a:rPr lang="zh-CN" altLang="en-US" sz="2000" b="1" dirty="0">
                <a:latin typeface="楷体_GB2312" pitchFamily="49" charset="-122"/>
                <a:ea typeface="楷体_GB2312" pitchFamily="49" charset="-122"/>
              </a:rPr>
              <a:t>公斤以下</a:t>
            </a:r>
            <a:endParaRPr lang="zh-CN" altLang="en-US" sz="2000" b="1" dirty="0">
              <a:latin typeface="楷体_GB2312" pitchFamily="49" charset="-122"/>
              <a:ea typeface="楷体_GB2312" pitchFamily="49" charset="-122"/>
            </a:endParaRPr>
          </a:p>
          <a:p>
            <a:pPr indent="304800" eaLnBrk="1" hangingPunct="1"/>
            <a:r>
              <a:rPr lang="zh-CN" altLang="en-US" sz="2000" b="1" dirty="0">
                <a:latin typeface="楷体_GB2312" pitchFamily="49" charset="-122"/>
                <a:ea typeface="楷体_GB2312" pitchFamily="49" charset="-122"/>
              </a:rPr>
              <a:t>           蒸汽－空气锤</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在空气基础上加水蒸气，加大推动力，</a:t>
            </a:r>
            <a:endParaRPr lang="en-US" altLang="zh-CN" sz="2000" b="1" dirty="0">
              <a:latin typeface="楷体_GB2312" pitchFamily="49" charset="-122"/>
              <a:ea typeface="楷体_GB2312" pitchFamily="49" charset="-122"/>
            </a:endParaRPr>
          </a:p>
          <a:p>
            <a:pPr indent="304800" eaLnBrk="1" hangingPunct="1"/>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  小于</a:t>
            </a:r>
            <a:r>
              <a:rPr lang="en-US" altLang="zh-CN" sz="2000" b="1" dirty="0">
                <a:latin typeface="楷体_GB2312" pitchFamily="49" charset="-122"/>
                <a:ea typeface="楷体_GB2312" pitchFamily="49" charset="-122"/>
              </a:rPr>
              <a:t>1500</a:t>
            </a:r>
            <a:r>
              <a:rPr lang="zh-CN" altLang="en-US" sz="2000" b="1" dirty="0">
                <a:latin typeface="楷体_GB2312" pitchFamily="49" charset="-122"/>
                <a:ea typeface="楷体_GB2312" pitchFamily="49" charset="-122"/>
              </a:rPr>
              <a:t>公斤锻件</a:t>
            </a:r>
            <a:endParaRPr lang="zh-CN" altLang="en-US" sz="2000" b="1" dirty="0">
              <a:latin typeface="楷体_GB2312" pitchFamily="49" charset="-122"/>
              <a:ea typeface="楷体_GB2312" pitchFamily="49" charset="-122"/>
            </a:endParaRPr>
          </a:p>
          <a:p>
            <a:pPr indent="304800" eaLnBrk="1" hangingPunct="1"/>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2</a:t>
            </a:r>
            <a:r>
              <a:rPr lang="zh-CN" altLang="en-US" sz="2000" b="1" dirty="0">
                <a:latin typeface="楷体_GB2312" pitchFamily="49" charset="-122"/>
                <a:ea typeface="楷体_GB2312" pitchFamily="49" charset="-122"/>
              </a:rPr>
              <a:t>）压力机：主要是水压机，可锻造质量达</a:t>
            </a:r>
            <a:r>
              <a:rPr lang="en-US" altLang="zh-CN" sz="2000" b="1" dirty="0">
                <a:latin typeface="楷体_GB2312" pitchFamily="49" charset="-122"/>
                <a:ea typeface="楷体_GB2312" pitchFamily="49" charset="-122"/>
              </a:rPr>
              <a:t>500t</a:t>
            </a:r>
            <a:r>
              <a:rPr lang="zh-CN" altLang="en-US" sz="2000" b="1" dirty="0">
                <a:latin typeface="楷体_GB2312" pitchFamily="49" charset="-122"/>
                <a:ea typeface="楷体_GB2312" pitchFamily="49" charset="-122"/>
              </a:rPr>
              <a:t>锻件，常用于大型</a:t>
            </a:r>
            <a:endParaRPr lang="en-US" altLang="zh-CN" sz="2000" b="1" dirty="0">
              <a:latin typeface="楷体_GB2312" pitchFamily="49" charset="-122"/>
              <a:ea typeface="楷体_GB2312" pitchFamily="49" charset="-122"/>
            </a:endParaRPr>
          </a:p>
          <a:p>
            <a:pPr indent="304800" eaLnBrk="1" hangingPunct="1"/>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 和巨型锻件。</a:t>
            </a:r>
            <a:endParaRPr lang="zh-CN" altLang="en-US" sz="2000" b="1" dirty="0">
              <a:latin typeface="楷体_GB2312" pitchFamily="49" charset="-122"/>
              <a:ea typeface="楷体_GB2312" pitchFamily="49" charset="-122"/>
            </a:endParaRPr>
          </a:p>
          <a:p>
            <a:pPr indent="304800" eaLnBrk="1" hangingPunct="1"/>
            <a:endParaRPr lang="en-US" altLang="zh-CN" sz="2000" b="1" dirty="0">
              <a:latin typeface="楷体_GB2312" pitchFamily="49" charset="-122"/>
              <a:ea typeface="楷体_GB2312" pitchFamily="49" charset="-122"/>
            </a:endParaRPr>
          </a:p>
        </p:txBody>
      </p:sp>
      <p:pic>
        <p:nvPicPr>
          <p:cNvPr id="48132" name="Picture 2" descr="https://view46.book118.com/cache/ppt/11607141840411239021013182_1807872/img/image1.jpeg"/>
          <p:cNvPicPr>
            <a:picLocks noChangeAspect="1"/>
          </p:cNvPicPr>
          <p:nvPr/>
        </p:nvPicPr>
        <p:blipFill>
          <a:blip r:embed="rId1"/>
          <a:stretch>
            <a:fillRect/>
          </a:stretch>
        </p:blipFill>
        <p:spPr>
          <a:xfrm>
            <a:off x="395605" y="3213100"/>
            <a:ext cx="4619625" cy="3463925"/>
          </a:xfrm>
          <a:prstGeom prst="rect">
            <a:avLst/>
          </a:prstGeom>
          <a:noFill/>
          <a:ln w="9525">
            <a:noFill/>
          </a:ln>
        </p:spPr>
      </p:pic>
      <p:pic>
        <p:nvPicPr>
          <p:cNvPr id="48133" name="Picture 4" descr="https://timgsa.baidu.com/timg?image&amp;quality=80&amp;size=b9999_10000&amp;sec=1541149170893&amp;di=a55bbf689e1fc99dbfc373beee347aab&amp;imgtype=0&amp;src=http%3A%2F%2Fimg010.hc360.cn%2Fg8%2FM00%2FB7%2FA5%2FwKhQt1QFafKESSq8AAAAAA4Dg3Y107.jpg"/>
          <p:cNvPicPr>
            <a:picLocks noChangeAspect="1"/>
          </p:cNvPicPr>
          <p:nvPr/>
        </p:nvPicPr>
        <p:blipFill>
          <a:blip r:embed="rId2"/>
          <a:stretch>
            <a:fillRect/>
          </a:stretch>
        </p:blipFill>
        <p:spPr>
          <a:xfrm>
            <a:off x="5292090" y="2780665"/>
            <a:ext cx="3214688" cy="3952875"/>
          </a:xfrm>
          <a:prstGeom prst="rect">
            <a:avLst/>
          </a:prstGeom>
          <a:noFill/>
          <a:ln w="9525">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type="title"/>
          </p:nvPr>
        </p:nvSpPr>
        <p:spPr>
          <a:xfrm>
            <a:off x="3276600" y="234950"/>
            <a:ext cx="3854450" cy="962025"/>
          </a:xfrm>
        </p:spPr>
        <p:txBody>
          <a:bodyPr vert="horz" wrap="square" lIns="91440" tIns="45720" rIns="91440" bIns="45720" anchor="ctr" anchorCtr="0"/>
          <a:p>
            <a:pPr algn="ctr" eaLnBrk="1" hangingPunct="1"/>
            <a:r>
              <a:rPr lang="zh-CN" altLang="en-US" sz="4000" dirty="0">
                <a:ea typeface="楷体_GB2312" pitchFamily="49" charset="-122"/>
              </a:rPr>
              <a:t>自由锻</a:t>
            </a:r>
            <a:endParaRPr lang="zh-CN" altLang="en-US" sz="4000" b="0" dirty="0">
              <a:solidFill>
                <a:schemeClr val="tx1"/>
              </a:solidFill>
              <a:ea typeface="楷体_GB2312" pitchFamily="49" charset="-122"/>
            </a:endParaRPr>
          </a:p>
        </p:txBody>
      </p:sp>
      <p:sp>
        <p:nvSpPr>
          <p:cNvPr id="49155" name="Rectangle 3"/>
          <p:cNvSpPr>
            <a:spLocks noGrp="1"/>
          </p:cNvSpPr>
          <p:nvPr>
            <p:ph idx="1"/>
          </p:nvPr>
        </p:nvSpPr>
        <p:spPr>
          <a:xfrm>
            <a:off x="107950" y="1203325"/>
            <a:ext cx="8569325" cy="4530725"/>
          </a:xfrm>
        </p:spPr>
        <p:txBody>
          <a:bodyPr vert="horz" wrap="square" lIns="91440" tIns="45720" rIns="91440" bIns="45720" anchor="t" anchorCtr="0"/>
          <a:p>
            <a:pPr eaLnBrk="1" hangingPunct="1">
              <a:lnSpc>
                <a:spcPct val="80000"/>
              </a:lnSpc>
              <a:buNone/>
            </a:pPr>
            <a:endParaRPr lang="en-US" altLang="zh-CN" sz="2800" dirty="0">
              <a:latin typeface="华文楷体" panose="02010600040101010101" pitchFamily="2" charset="-122"/>
              <a:ea typeface="华文楷体" panose="02010600040101010101" pitchFamily="2" charset="-122"/>
            </a:endParaRPr>
          </a:p>
          <a:p>
            <a:pPr eaLnBrk="1" hangingPunct="1">
              <a:lnSpc>
                <a:spcPct val="80000"/>
              </a:lnSpc>
            </a:pPr>
            <a:r>
              <a:rPr lang="zh-CN" altLang="en-US" sz="2400" b="1" dirty="0">
                <a:latin typeface="华文楷体" panose="02010600040101010101" pitchFamily="2" charset="-122"/>
                <a:ea typeface="华文楷体" panose="02010600040101010101" pitchFamily="2" charset="-122"/>
              </a:rPr>
              <a:t>工序：</a:t>
            </a:r>
            <a:endParaRPr lang="zh-CN" altLang="en-US" sz="2400" b="1" dirty="0">
              <a:latin typeface="华文楷体" panose="02010600040101010101" pitchFamily="2" charset="-122"/>
              <a:ea typeface="华文楷体" panose="02010600040101010101" pitchFamily="2" charset="-122"/>
            </a:endParaRPr>
          </a:p>
          <a:p>
            <a:pPr lvl="1" eaLnBrk="1" hangingPunct="1">
              <a:lnSpc>
                <a:spcPct val="80000"/>
              </a:lnSpc>
            </a:pPr>
            <a:r>
              <a:rPr lang="zh-CN" altLang="en-US" sz="2400" b="1" dirty="0">
                <a:solidFill>
                  <a:srgbClr val="CC3300"/>
                </a:solidFill>
                <a:latin typeface="华文楷体" panose="02010600040101010101" pitchFamily="2" charset="-122"/>
                <a:ea typeface="华文楷体" panose="02010600040101010101" pitchFamily="2" charset="-122"/>
              </a:rPr>
              <a:t>基本工序</a:t>
            </a:r>
            <a:endParaRPr lang="zh-CN" altLang="en-US" sz="2400" b="1" dirty="0">
              <a:solidFill>
                <a:srgbClr val="CC3300"/>
              </a:solidFill>
              <a:latin typeface="华文楷体" panose="02010600040101010101" pitchFamily="2" charset="-122"/>
              <a:ea typeface="华文楷体" panose="02010600040101010101" pitchFamily="2" charset="-122"/>
            </a:endParaRPr>
          </a:p>
          <a:p>
            <a:pPr lvl="2" eaLnBrk="1" hangingPunct="1">
              <a:lnSpc>
                <a:spcPct val="80000"/>
              </a:lnSpc>
            </a:pPr>
            <a:r>
              <a:rPr lang="zh-CN" altLang="en-US" b="1" dirty="0">
                <a:latin typeface="华文楷体" panose="02010600040101010101" pitchFamily="2" charset="-122"/>
                <a:ea typeface="华文楷体" panose="02010600040101010101" pitchFamily="2" charset="-122"/>
              </a:rPr>
              <a:t>使金属材料产生一定程度的塑性变形，以达到所需形状和所需尺寸的工艺过程，如</a:t>
            </a:r>
            <a:r>
              <a:rPr lang="zh-CN" altLang="en-US" b="1" dirty="0">
                <a:solidFill>
                  <a:srgbClr val="FF3300"/>
                </a:solidFill>
                <a:latin typeface="华文楷体" panose="02010600040101010101" pitchFamily="2" charset="-122"/>
                <a:ea typeface="华文楷体" panose="02010600040101010101" pitchFamily="2" charset="-122"/>
              </a:rPr>
              <a:t>镦粗、拔长、冲孔、</a:t>
            </a:r>
            <a:r>
              <a:rPr lang="zh-CN" altLang="en-US" b="1" dirty="0">
                <a:latin typeface="华文楷体" panose="02010600040101010101" pitchFamily="2" charset="-122"/>
                <a:ea typeface="华文楷体" panose="02010600040101010101" pitchFamily="2" charset="-122"/>
              </a:rPr>
              <a:t>切割、弯曲和扭转等。</a:t>
            </a:r>
            <a:endParaRPr lang="zh-CN" altLang="en-US" b="1" dirty="0">
              <a:latin typeface="华文楷体" panose="02010600040101010101" pitchFamily="2" charset="-122"/>
              <a:ea typeface="华文楷体" panose="02010600040101010101" pitchFamily="2" charset="-122"/>
            </a:endParaRPr>
          </a:p>
          <a:p>
            <a:pPr lvl="1" eaLnBrk="1" hangingPunct="1">
              <a:lnSpc>
                <a:spcPct val="80000"/>
              </a:lnSpc>
            </a:pPr>
            <a:r>
              <a:rPr lang="zh-CN" altLang="en-US" sz="2400" b="1" dirty="0">
                <a:solidFill>
                  <a:srgbClr val="CC3300"/>
                </a:solidFill>
                <a:latin typeface="华文楷体" panose="02010600040101010101" pitchFamily="2" charset="-122"/>
                <a:ea typeface="华文楷体" panose="02010600040101010101" pitchFamily="2" charset="-122"/>
              </a:rPr>
              <a:t>辅助工序</a:t>
            </a:r>
            <a:endParaRPr lang="zh-CN" altLang="en-US" sz="2400" b="1" dirty="0">
              <a:solidFill>
                <a:srgbClr val="CC3300"/>
              </a:solidFill>
              <a:latin typeface="华文楷体" panose="02010600040101010101" pitchFamily="2" charset="-122"/>
              <a:ea typeface="华文楷体" panose="02010600040101010101" pitchFamily="2" charset="-122"/>
            </a:endParaRPr>
          </a:p>
          <a:p>
            <a:pPr lvl="2" eaLnBrk="1" hangingPunct="1">
              <a:lnSpc>
                <a:spcPct val="80000"/>
              </a:lnSpc>
            </a:pPr>
            <a:r>
              <a:rPr lang="zh-CN" altLang="en-US" b="1" dirty="0">
                <a:latin typeface="华文楷体" panose="02010600040101010101" pitchFamily="2" charset="-122"/>
                <a:ea typeface="华文楷体" panose="02010600040101010101" pitchFamily="2" charset="-122"/>
              </a:rPr>
              <a:t>为基本工序操作方便而进行的预先变形工序，如压钳口、压肩、钢锭倒棱等。</a:t>
            </a:r>
            <a:endParaRPr lang="zh-CN" altLang="en-US" b="1" dirty="0">
              <a:latin typeface="华文楷体" panose="02010600040101010101" pitchFamily="2" charset="-122"/>
              <a:ea typeface="华文楷体" panose="02010600040101010101" pitchFamily="2" charset="-122"/>
            </a:endParaRPr>
          </a:p>
          <a:p>
            <a:pPr lvl="1" eaLnBrk="1" hangingPunct="1">
              <a:lnSpc>
                <a:spcPct val="80000"/>
              </a:lnSpc>
            </a:pPr>
            <a:r>
              <a:rPr lang="zh-CN" altLang="en-US" sz="2400" b="1" dirty="0">
                <a:solidFill>
                  <a:srgbClr val="CC3300"/>
                </a:solidFill>
                <a:latin typeface="华文楷体" panose="02010600040101010101" pitchFamily="2" charset="-122"/>
                <a:ea typeface="华文楷体" panose="02010600040101010101" pitchFamily="2" charset="-122"/>
              </a:rPr>
              <a:t>修整工序</a:t>
            </a:r>
            <a:endParaRPr lang="zh-CN" altLang="en-US" sz="2400" b="1" dirty="0">
              <a:solidFill>
                <a:srgbClr val="CC3300"/>
              </a:solidFill>
              <a:latin typeface="华文楷体" panose="02010600040101010101" pitchFamily="2" charset="-122"/>
              <a:ea typeface="华文楷体" panose="02010600040101010101" pitchFamily="2" charset="-122"/>
            </a:endParaRPr>
          </a:p>
          <a:p>
            <a:pPr lvl="2" eaLnBrk="1" hangingPunct="1">
              <a:lnSpc>
                <a:spcPct val="80000"/>
              </a:lnSpc>
            </a:pPr>
            <a:r>
              <a:rPr lang="zh-CN" altLang="en-US" b="1" dirty="0">
                <a:latin typeface="华文楷体" panose="02010600040101010101" pitchFamily="2" charset="-122"/>
                <a:ea typeface="华文楷体" panose="02010600040101010101" pitchFamily="2" charset="-122"/>
              </a:rPr>
              <a:t>用以减少锻件表面缺陷而进行的工序，如校正、滚圆、平整等。</a:t>
            </a:r>
            <a:endParaRPr lang="zh-CN" altLang="en-US" b="1" dirty="0">
              <a:latin typeface="华文楷体" panose="02010600040101010101" pitchFamily="2" charset="-122"/>
              <a:ea typeface="华文楷体" panose="02010600040101010101" pitchFamily="2" charset="-122"/>
            </a:endParaRPr>
          </a:p>
          <a:p>
            <a:pPr eaLnBrk="1" hangingPunct="1">
              <a:lnSpc>
                <a:spcPct val="80000"/>
              </a:lnSpc>
            </a:pPr>
            <a:endParaRPr lang="en-US" altLang="zh-CN" sz="2400" dirty="0">
              <a:latin typeface="华文楷体" panose="02010600040101010101" pitchFamily="2" charset="-122"/>
              <a:ea typeface="华文楷体" panose="02010600040101010101" pitchFamily="2" charset="-122"/>
            </a:endParaRPr>
          </a:p>
        </p:txBody>
      </p:sp>
      <p:sp>
        <p:nvSpPr>
          <p:cNvPr id="4" name="爆炸形 1 3"/>
          <p:cNvSpPr/>
          <p:nvPr/>
        </p:nvSpPr>
        <p:spPr>
          <a:xfrm>
            <a:off x="4106545" y="5229225"/>
            <a:ext cx="2194560" cy="1285875"/>
          </a:xfrm>
          <a:prstGeom prst="irregularSeal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tx1"/>
                </a:solidFill>
                <a:effectLst/>
                <a:uLnTx/>
                <a:uFillTx/>
                <a:latin typeface="+mn-lt"/>
                <a:ea typeface="+mn-ea"/>
                <a:cs typeface="+mn-cs"/>
              </a:rPr>
              <a:t>视频演示</a:t>
            </a:r>
            <a:endParaRPr kumimoji="0" lang="zh-CN" altLang="en-US" sz="18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type="title"/>
          </p:nvPr>
        </p:nvSpPr>
        <p:spPr/>
        <p:txBody>
          <a:bodyPr vert="horz" wrap="square" lIns="91440" tIns="45720" rIns="91440" bIns="45720" anchor="ctr" anchorCtr="0"/>
          <a:p>
            <a:pPr algn="ctr" eaLnBrk="1" hangingPunct="1"/>
            <a:r>
              <a:rPr lang="zh-CN" altLang="en-US" sz="4000" dirty="0">
                <a:ea typeface="楷体_GB2312" pitchFamily="49" charset="-122"/>
              </a:rPr>
              <a:t>自由锻基本工序</a:t>
            </a:r>
            <a:endParaRPr lang="zh-CN" altLang="en-US" sz="4000" b="0" dirty="0">
              <a:solidFill>
                <a:schemeClr val="tx1"/>
              </a:solidFill>
              <a:ea typeface="楷体_GB2312" pitchFamily="49" charset="-122"/>
            </a:endParaRPr>
          </a:p>
        </p:txBody>
      </p:sp>
      <p:sp>
        <p:nvSpPr>
          <p:cNvPr id="51203" name="Rectangle 3"/>
          <p:cNvSpPr>
            <a:spLocks noGrp="1"/>
          </p:cNvSpPr>
          <p:nvPr>
            <p:ph type="body" sz="half" idx="1"/>
          </p:nvPr>
        </p:nvSpPr>
        <p:spPr>
          <a:xfrm>
            <a:off x="500063" y="1214438"/>
            <a:ext cx="8291512" cy="2486025"/>
          </a:xfrm>
        </p:spPr>
        <p:txBody>
          <a:bodyPr vert="horz" wrap="square" lIns="91440" tIns="45720" rIns="91440" bIns="45720" anchor="t" anchorCtr="0"/>
          <a:p>
            <a:pPr>
              <a:buClrTx/>
              <a:buSzTx/>
              <a:buFontTx/>
              <a:buNone/>
            </a:pPr>
            <a:r>
              <a:rPr lang="en-US" altLang="zh-CN" sz="2400" dirty="0"/>
              <a:t>1</a:t>
            </a:r>
            <a:r>
              <a:rPr lang="zh-CN" altLang="en-US" sz="2400" dirty="0"/>
              <a:t>）镦粗：沿坯料轴线锻打，使坯料长度减小，横截面积增加的操作。镦粗分为全镦粗和局部镦粗两种。</a:t>
            </a:r>
            <a:endParaRPr lang="zh-CN" altLang="en-US" sz="2400" dirty="0"/>
          </a:p>
        </p:txBody>
      </p:sp>
      <p:pic>
        <p:nvPicPr>
          <p:cNvPr id="51204" name="Picture 11" descr="https://ss2.bdstatic.com/70cFvnSh_Q1YnxGkpoWK1HF6hhy/it/u=2514163965,1782649599&amp;fm=26&amp;gp=0.jpg"/>
          <p:cNvPicPr>
            <a:picLocks noChangeAspect="1"/>
          </p:cNvPicPr>
          <p:nvPr/>
        </p:nvPicPr>
        <p:blipFill>
          <a:blip r:embed="rId1"/>
          <a:stretch>
            <a:fillRect/>
          </a:stretch>
        </p:blipFill>
        <p:spPr>
          <a:xfrm>
            <a:off x="714375" y="2428875"/>
            <a:ext cx="5400675" cy="2286000"/>
          </a:xfrm>
          <a:prstGeom prst="rect">
            <a:avLst/>
          </a:prstGeom>
          <a:noFill/>
          <a:ln w="9525">
            <a:noFill/>
          </a:ln>
        </p:spPr>
      </p:pic>
      <p:sp>
        <p:nvSpPr>
          <p:cNvPr id="51205" name="矩形 8"/>
          <p:cNvSpPr/>
          <p:nvPr/>
        </p:nvSpPr>
        <p:spPr>
          <a:xfrm>
            <a:off x="785813" y="2000250"/>
            <a:ext cx="7786687" cy="400050"/>
          </a:xfrm>
          <a:prstGeom prst="rect">
            <a:avLst/>
          </a:prstGeom>
          <a:noFill/>
          <a:ln w="9525">
            <a:noFill/>
          </a:ln>
        </p:spPr>
        <p:txBody>
          <a:bodyPr>
            <a:spAutoFit/>
          </a:bodyPr>
          <a:p>
            <a:r>
              <a:rPr lang="zh-CN" altLang="en-US" sz="2000" dirty="0">
                <a:solidFill>
                  <a:srgbClr val="FF0000"/>
                </a:solidFill>
                <a:latin typeface="Arial" panose="020B0604020202020204" pitchFamily="34" charset="0"/>
              </a:rPr>
              <a:t>坯料尺寸墩粗部分原长度和原宽度之比应小于</a:t>
            </a:r>
            <a:r>
              <a:rPr lang="en-US" altLang="zh-CN" sz="2000" dirty="0">
                <a:solidFill>
                  <a:srgbClr val="FF0000"/>
                </a:solidFill>
                <a:latin typeface="Arial" panose="020B0604020202020204" pitchFamily="34" charset="0"/>
              </a:rPr>
              <a:t>2.5</a:t>
            </a:r>
            <a:r>
              <a:rPr lang="zh-CN" altLang="en-US" sz="2000" dirty="0">
                <a:solidFill>
                  <a:srgbClr val="FF0000"/>
                </a:solidFill>
                <a:latin typeface="Arial" panose="020B0604020202020204" pitchFamily="34" charset="0"/>
              </a:rPr>
              <a:t>，否则会镦弯</a:t>
            </a:r>
            <a:endParaRPr lang="zh-CN" altLang="en-US" sz="2000" dirty="0">
              <a:solidFill>
                <a:srgbClr val="FF0000"/>
              </a:solidFill>
              <a:latin typeface="Arial" panose="020B0604020202020204" pitchFamily="34" charset="0"/>
            </a:endParaRPr>
          </a:p>
        </p:txBody>
      </p:sp>
      <p:pic>
        <p:nvPicPr>
          <p:cNvPr id="51206" name="Picture 13" descr="å¾3 -1-4å¯æå°ºå¯¸çéæ©"/>
          <p:cNvPicPr>
            <a:picLocks noChangeAspect="1"/>
          </p:cNvPicPr>
          <p:nvPr/>
        </p:nvPicPr>
        <p:blipFill>
          <a:blip r:embed="rId2"/>
          <a:stretch>
            <a:fillRect/>
          </a:stretch>
        </p:blipFill>
        <p:spPr>
          <a:xfrm>
            <a:off x="4286250" y="4786313"/>
            <a:ext cx="4102100" cy="1928812"/>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Grp="1"/>
          </p:cNvSpPr>
          <p:nvPr>
            <p:ph type="title"/>
          </p:nvPr>
        </p:nvSpPr>
        <p:spPr/>
        <p:txBody>
          <a:bodyPr vert="horz" wrap="square" lIns="91440" tIns="45720" rIns="91440" bIns="45720" anchor="ctr" anchorCtr="0"/>
          <a:p>
            <a:pPr algn="ctr" eaLnBrk="1" hangingPunct="1"/>
            <a:r>
              <a:rPr lang="zh-CN" altLang="en-US" sz="4000" dirty="0">
                <a:ea typeface="楷体_GB2312" pitchFamily="49" charset="-122"/>
              </a:rPr>
              <a:t>自由锻基本工序</a:t>
            </a:r>
            <a:endParaRPr lang="zh-CN" altLang="en-US" sz="4000" b="0" dirty="0">
              <a:solidFill>
                <a:schemeClr val="tx1"/>
              </a:solidFill>
              <a:ea typeface="楷体_GB2312" pitchFamily="49" charset="-122"/>
            </a:endParaRPr>
          </a:p>
        </p:txBody>
      </p:sp>
      <p:sp>
        <p:nvSpPr>
          <p:cNvPr id="53251" name="文本占位符 3"/>
          <p:cNvSpPr>
            <a:spLocks noGrp="1"/>
          </p:cNvSpPr>
          <p:nvPr>
            <p:ph type="body" sz="half" idx="1"/>
          </p:nvPr>
        </p:nvSpPr>
        <p:spPr>
          <a:xfrm>
            <a:off x="457200" y="1371600"/>
            <a:ext cx="7972425" cy="4572000"/>
          </a:xfrm>
        </p:spPr>
        <p:txBody>
          <a:bodyPr vert="horz" wrap="square" lIns="91440" tIns="45720" rIns="91440" bIns="45720" anchor="t" anchorCtr="0"/>
          <a:p>
            <a:pPr>
              <a:buClrTx/>
              <a:buSzTx/>
              <a:buFontTx/>
              <a:buNone/>
            </a:pPr>
            <a:r>
              <a:rPr lang="en-US" altLang="zh-CN" sz="2400" dirty="0"/>
              <a:t>2</a:t>
            </a:r>
            <a:r>
              <a:rPr lang="zh-CN" altLang="en-US" sz="2400" dirty="0"/>
              <a:t>）拔长：使坯料长度增加，横截面减小的锻造工序。</a:t>
            </a:r>
            <a:endParaRPr lang="zh-CN" altLang="en-US" sz="2000" dirty="0"/>
          </a:p>
          <a:p>
            <a:pPr>
              <a:buClrTx/>
              <a:buSzTx/>
              <a:buFontTx/>
              <a:buNone/>
            </a:pPr>
            <a:r>
              <a:rPr lang="en-US" altLang="zh-CN" sz="2000" dirty="0"/>
              <a:t>	</a:t>
            </a:r>
            <a:r>
              <a:rPr lang="zh-CN" altLang="en-US" sz="2000" dirty="0"/>
              <a:t>送进锻打时，</a:t>
            </a:r>
            <a:r>
              <a:rPr lang="zh-CN" altLang="en-US" sz="2000" dirty="0">
                <a:solidFill>
                  <a:srgbClr val="FF0000"/>
                </a:solidFill>
              </a:rPr>
              <a:t>工件沿抵铁的宽度方向送进，每次的送进量应为抵铁宽度</a:t>
            </a:r>
            <a:r>
              <a:rPr lang="en-US" altLang="zh-CN" sz="2000" dirty="0">
                <a:solidFill>
                  <a:srgbClr val="FF0000"/>
                </a:solidFill>
              </a:rPr>
              <a:t>B</a:t>
            </a:r>
            <a:r>
              <a:rPr lang="zh-CN" altLang="en-US" sz="2000" dirty="0">
                <a:solidFill>
                  <a:srgbClr val="FF0000"/>
                </a:solidFill>
              </a:rPr>
              <a:t>的</a:t>
            </a:r>
            <a:r>
              <a:rPr lang="en-US" altLang="zh-CN" sz="2000" dirty="0">
                <a:solidFill>
                  <a:srgbClr val="FF0000"/>
                </a:solidFill>
              </a:rPr>
              <a:t>0.3</a:t>
            </a:r>
            <a:r>
              <a:rPr lang="zh-CN" altLang="en-US" sz="2000" dirty="0">
                <a:solidFill>
                  <a:srgbClr val="FF0000"/>
                </a:solidFill>
              </a:rPr>
              <a:t>～</a:t>
            </a:r>
            <a:r>
              <a:rPr lang="en-US" altLang="zh-CN" sz="2000" dirty="0">
                <a:solidFill>
                  <a:srgbClr val="FF0000"/>
                </a:solidFill>
              </a:rPr>
              <a:t>0.7</a:t>
            </a:r>
            <a:r>
              <a:rPr lang="zh-CN" altLang="en-US" sz="2000" dirty="0">
                <a:solidFill>
                  <a:srgbClr val="FF0000"/>
                </a:solidFill>
              </a:rPr>
              <a:t>倍。</a:t>
            </a:r>
            <a:r>
              <a:rPr lang="zh-CN" altLang="en-US" sz="2000" dirty="0"/>
              <a:t>送进量太大，锻件主要向宽度方向流动，反而降低延伸率；送进量太小又容易产生夹层。每次的压下量也不宜过大，否则也会产生夹层。</a:t>
            </a:r>
            <a:endParaRPr lang="zh-CN" altLang="en-US" sz="2000" dirty="0"/>
          </a:p>
          <a:p>
            <a:pPr>
              <a:buClrTx/>
              <a:buSzTx/>
              <a:buFontTx/>
            </a:pPr>
            <a:endParaRPr lang="zh-CN" altLang="en-US" sz="2000" dirty="0"/>
          </a:p>
        </p:txBody>
      </p:sp>
      <p:pic>
        <p:nvPicPr>
          <p:cNvPr id="53252" name="Picture 7" descr="å¾3 -1- 8æé¿æ¶çéè¿æ¹ååéè¿é"/>
          <p:cNvPicPr>
            <a:picLocks noChangeAspect="1"/>
          </p:cNvPicPr>
          <p:nvPr/>
        </p:nvPicPr>
        <p:blipFill>
          <a:blip r:embed="rId1"/>
          <a:stretch>
            <a:fillRect/>
          </a:stretch>
        </p:blipFill>
        <p:spPr>
          <a:xfrm>
            <a:off x="428625" y="3571875"/>
            <a:ext cx="8389938" cy="3000375"/>
          </a:xfrm>
          <a:prstGeom prst="rect">
            <a:avLst/>
          </a:prstGeom>
          <a:noFill/>
          <a:ln w="9525">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文本占位符 2"/>
          <p:cNvSpPr>
            <a:spLocks noGrp="1"/>
          </p:cNvSpPr>
          <p:nvPr>
            <p:ph type="body" sz="half" idx="1"/>
          </p:nvPr>
        </p:nvSpPr>
        <p:spPr>
          <a:xfrm>
            <a:off x="252095" y="1772920"/>
            <a:ext cx="4357688" cy="4572000"/>
          </a:xfrm>
        </p:spPr>
        <p:txBody>
          <a:bodyPr vert="horz" wrap="square" lIns="91440" tIns="45720" rIns="91440" bIns="45720" anchor="t" anchorCtr="0"/>
          <a:p>
            <a:pPr>
              <a:buClrTx/>
              <a:buSzTx/>
              <a:buFontTx/>
              <a:buNone/>
            </a:pPr>
            <a:r>
              <a:rPr lang="en-US" altLang="zh-CN" sz="2400" dirty="0"/>
              <a:t>3</a:t>
            </a:r>
            <a:r>
              <a:rPr lang="zh-CN" altLang="en-US" sz="2400" dirty="0"/>
              <a:t>）冲孔：在锻件上锻出通孔或不通孔的工序称为冲孔。</a:t>
            </a:r>
            <a:endParaRPr lang="en-US" altLang="zh-CN" sz="2400" dirty="0"/>
          </a:p>
          <a:p>
            <a:pPr lvl="1"/>
            <a:r>
              <a:rPr lang="zh-CN" altLang="en-US" sz="2000" dirty="0"/>
              <a:t>冲孔前先镦粗，高度减小、横截面积增加，减小冲孔深度并避免冲孔时工件膨胀。</a:t>
            </a:r>
            <a:endParaRPr lang="en-US" altLang="zh-CN" sz="2000" dirty="0"/>
          </a:p>
          <a:p>
            <a:pPr lvl="1"/>
            <a:r>
              <a:rPr lang="zh-CN" altLang="en-US" sz="2000" dirty="0"/>
              <a:t>冲透：一般冲孔采用双面冲孔法，即冲到工件厚度的</a:t>
            </a:r>
            <a:r>
              <a:rPr lang="en-US" altLang="zh-CN" sz="2000" dirty="0"/>
              <a:t>2/3</a:t>
            </a:r>
            <a:r>
              <a:rPr lang="zh-CN" altLang="en-US" sz="2000" dirty="0"/>
              <a:t>～</a:t>
            </a:r>
            <a:r>
              <a:rPr lang="en-US" altLang="zh-CN" sz="2000" dirty="0"/>
              <a:t>3/4</a:t>
            </a:r>
            <a:r>
              <a:rPr lang="zh-CN" altLang="en-US" sz="2000" dirty="0"/>
              <a:t>处，翻转工件再从反面冲，避免在孔周围冲出许多毛刺。</a:t>
            </a:r>
            <a:endParaRPr lang="en-US" altLang="zh-CN" sz="2000" dirty="0"/>
          </a:p>
          <a:p>
            <a:pPr lvl="1"/>
            <a:r>
              <a:rPr lang="zh-CN" altLang="en-US" sz="2000" dirty="0"/>
              <a:t>单面冲孔：较薄的工件可采用单面冲孔。</a:t>
            </a:r>
            <a:endParaRPr lang="zh-CN" altLang="en-US" sz="2000" dirty="0"/>
          </a:p>
        </p:txBody>
      </p:sp>
      <p:sp>
        <p:nvSpPr>
          <p:cNvPr id="54275" name="内容占位符 3"/>
          <p:cNvSpPr>
            <a:spLocks noGrp="1"/>
          </p:cNvSpPr>
          <p:nvPr>
            <p:ph sz="half" idx="2"/>
          </p:nvPr>
        </p:nvSpPr>
        <p:spPr/>
        <p:txBody>
          <a:bodyPr vert="horz" wrap="square" lIns="91440" tIns="45720" rIns="91440" bIns="45720" anchor="t" anchorCtr="0"/>
          <a:p>
            <a:pPr>
              <a:buClrTx/>
              <a:buSzTx/>
              <a:buFontTx/>
            </a:pPr>
            <a:endParaRPr lang="zh-CN" altLang="en-US" dirty="0"/>
          </a:p>
        </p:txBody>
      </p:sp>
      <p:sp>
        <p:nvSpPr>
          <p:cNvPr id="54276" name="Rectangle 2"/>
          <p:cNvSpPr>
            <a:spLocks noGrp="1"/>
          </p:cNvSpPr>
          <p:nvPr>
            <p:ph type="title"/>
          </p:nvPr>
        </p:nvSpPr>
        <p:spPr/>
        <p:txBody>
          <a:bodyPr vert="horz" wrap="square" lIns="91440" tIns="45720" rIns="91440" bIns="45720" anchor="ctr" anchorCtr="0"/>
          <a:p>
            <a:pPr algn="ctr" eaLnBrk="1" hangingPunct="1"/>
            <a:r>
              <a:rPr lang="zh-CN" altLang="en-US" sz="4000" dirty="0">
                <a:ea typeface="楷体_GB2312" pitchFamily="49" charset="-122"/>
              </a:rPr>
              <a:t>自由锻基本工序</a:t>
            </a:r>
            <a:endParaRPr lang="zh-CN" altLang="en-US" sz="4000" b="0" dirty="0">
              <a:solidFill>
                <a:schemeClr val="tx1"/>
              </a:solidFill>
              <a:ea typeface="楷体_GB2312" pitchFamily="49" charset="-122"/>
            </a:endParaRPr>
          </a:p>
        </p:txBody>
      </p:sp>
      <p:pic>
        <p:nvPicPr>
          <p:cNvPr id="54277" name="Picture 11" descr="å¾3 -1- 13åé¢å²å­"/>
          <p:cNvPicPr>
            <a:picLocks noChangeAspect="1"/>
          </p:cNvPicPr>
          <p:nvPr/>
        </p:nvPicPr>
        <p:blipFill>
          <a:blip r:embed="rId1"/>
          <a:stretch>
            <a:fillRect/>
          </a:stretch>
        </p:blipFill>
        <p:spPr>
          <a:xfrm>
            <a:off x="4857750" y="1143000"/>
            <a:ext cx="3536950" cy="2643188"/>
          </a:xfrm>
          <a:prstGeom prst="rect">
            <a:avLst/>
          </a:prstGeom>
          <a:noFill/>
          <a:ln w="9525">
            <a:noFill/>
          </a:ln>
        </p:spPr>
      </p:pic>
      <p:pic>
        <p:nvPicPr>
          <p:cNvPr id="54278" name="Picture 13" descr="å¾3 - 1- 14åé¢å²å­"/>
          <p:cNvPicPr>
            <a:picLocks noChangeAspect="1"/>
          </p:cNvPicPr>
          <p:nvPr/>
        </p:nvPicPr>
        <p:blipFill>
          <a:blip r:embed="rId2"/>
          <a:stretch>
            <a:fillRect/>
          </a:stretch>
        </p:blipFill>
        <p:spPr>
          <a:xfrm>
            <a:off x="5214938" y="3992563"/>
            <a:ext cx="2928937" cy="2865437"/>
          </a:xfrm>
          <a:prstGeom prst="rect">
            <a:avLst/>
          </a:prstGeom>
          <a:noFill/>
          <a:ln w="9525">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标题 1"/>
          <p:cNvSpPr>
            <a:spLocks noGrp="1"/>
          </p:cNvSpPr>
          <p:nvPr>
            <p:ph type="title"/>
          </p:nvPr>
        </p:nvSpPr>
        <p:spPr/>
        <p:txBody>
          <a:bodyPr vert="horz" wrap="square" lIns="91440" tIns="45720" rIns="91440" bIns="45720" anchor="ctr" anchorCtr="0"/>
          <a:p>
            <a:r>
              <a:rPr lang="zh-CN" altLang="en-US" dirty="0">
                <a:ea typeface="楷体_GB2312" pitchFamily="49" charset="-122"/>
              </a:rPr>
              <a:t>自由锻基本工序</a:t>
            </a:r>
            <a:endParaRPr lang="zh-CN" altLang="en-US" dirty="0"/>
          </a:p>
        </p:txBody>
      </p:sp>
      <p:sp>
        <p:nvSpPr>
          <p:cNvPr id="55299" name="Rectangle 8"/>
          <p:cNvSpPr/>
          <p:nvPr/>
        </p:nvSpPr>
        <p:spPr>
          <a:xfrm>
            <a:off x="401638" y="1428750"/>
            <a:ext cx="8742362" cy="830263"/>
          </a:xfrm>
          <a:prstGeom prst="rect">
            <a:avLst/>
          </a:prstGeom>
          <a:noFill/>
          <a:ln w="9525">
            <a:noFill/>
          </a:ln>
        </p:spPr>
        <p:txBody>
          <a:bodyPr wrap="none" anchor="ctr" anchorCtr="0">
            <a:spAutoFit/>
          </a:bodyPr>
          <a:p>
            <a:pPr indent="266700"/>
            <a:r>
              <a:rPr lang="zh-CN" altLang="zh-CN" sz="2400" dirty="0">
                <a:solidFill>
                  <a:srgbClr val="000000"/>
                </a:solidFill>
                <a:latin typeface="Tahoma" panose="020B0604030504040204" pitchFamily="34" charset="0"/>
                <a:cs typeface="Tahoma" panose="020B0604030504040204" pitchFamily="34" charset="0"/>
              </a:rPr>
              <a:t>4)弯曲</a:t>
            </a:r>
            <a:r>
              <a:rPr lang="zh-CN" altLang="en-US" sz="2400" dirty="0">
                <a:solidFill>
                  <a:srgbClr val="000000"/>
                </a:solidFill>
                <a:latin typeface="Tahoma" panose="020B0604030504040204" pitchFamily="34" charset="0"/>
                <a:cs typeface="Tahoma" panose="020B0604030504040204" pitchFamily="34" charset="0"/>
              </a:rPr>
              <a:t>：</a:t>
            </a:r>
            <a:r>
              <a:rPr lang="zh-CN" altLang="zh-CN" sz="2400" dirty="0">
                <a:solidFill>
                  <a:srgbClr val="000000"/>
                </a:solidFill>
                <a:latin typeface="Tahoma" panose="020B0604030504040204" pitchFamily="34" charset="0"/>
                <a:cs typeface="Tahoma" panose="020B0604030504040204" pitchFamily="34" charset="0"/>
              </a:rPr>
              <a:t>使坯料弯曲成一定角度或形状的操作工序称为弯曲。</a:t>
            </a:r>
            <a:endParaRPr lang="zh-CN" altLang="zh-CN" sz="2400" dirty="0">
              <a:latin typeface="Arial" panose="020B0604020202020204" pitchFamily="34" charset="0"/>
            </a:endParaRPr>
          </a:p>
          <a:p>
            <a:pPr indent="266700"/>
            <a:r>
              <a:rPr lang="zh-CN" altLang="zh-CN" sz="2400" dirty="0">
                <a:solidFill>
                  <a:srgbClr val="000000"/>
                </a:solidFill>
                <a:latin typeface="Arial" panose="020B0604020202020204" pitchFamily="34" charset="0"/>
                <a:cs typeface="Tahoma" panose="020B0604030504040204" pitchFamily="34" charset="0"/>
              </a:rPr>
              <a:t> </a:t>
            </a:r>
            <a:r>
              <a:rPr lang="zh-CN" altLang="zh-CN" sz="2400" dirty="0">
                <a:solidFill>
                  <a:srgbClr val="000000"/>
                </a:solidFill>
                <a:latin typeface="Tahoma" panose="020B0604030504040204" pitchFamily="34" charset="0"/>
                <a:cs typeface="Tahoma" panose="020B0604030504040204" pitchFamily="34" charset="0"/>
              </a:rPr>
              <a:t>  </a:t>
            </a:r>
            <a:endParaRPr lang="zh-CN" altLang="zh-CN" sz="2400" dirty="0">
              <a:solidFill>
                <a:srgbClr val="000000"/>
              </a:solidFill>
              <a:latin typeface="Tahoma" panose="020B0604030504040204" pitchFamily="34" charset="0"/>
              <a:ea typeface="Tahoma" panose="020B0604030504040204" pitchFamily="34" charset="0"/>
            </a:endParaRPr>
          </a:p>
        </p:txBody>
      </p:sp>
      <p:pic>
        <p:nvPicPr>
          <p:cNvPr id="55300" name="Picture 9" descr="图3 -1-15弯曲"/>
          <p:cNvPicPr>
            <a:picLocks noChangeAspect="1"/>
          </p:cNvPicPr>
          <p:nvPr/>
        </p:nvPicPr>
        <p:blipFill>
          <a:blip r:embed="rId1"/>
          <a:stretch>
            <a:fillRect/>
          </a:stretch>
        </p:blipFill>
        <p:spPr>
          <a:xfrm>
            <a:off x="1187450" y="2420620"/>
            <a:ext cx="6372225" cy="3724275"/>
          </a:xfrm>
          <a:prstGeom prst="rect">
            <a:avLst/>
          </a:prstGeom>
          <a:noFill/>
          <a:ln w="9525">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矩形 5"/>
          <p:cNvSpPr/>
          <p:nvPr/>
        </p:nvSpPr>
        <p:spPr>
          <a:xfrm>
            <a:off x="714375" y="1571625"/>
            <a:ext cx="7572375" cy="1570038"/>
          </a:xfrm>
          <a:prstGeom prst="rect">
            <a:avLst/>
          </a:prstGeom>
          <a:noFill/>
          <a:ln w="9525">
            <a:noFill/>
          </a:ln>
        </p:spPr>
        <p:txBody>
          <a:bodyPr>
            <a:spAutoFit/>
          </a:bodyPr>
          <a:p>
            <a:r>
              <a:rPr lang="en-US" altLang="zh-CN" sz="2400" dirty="0">
                <a:latin typeface="Arial" panose="020B0604020202020204" pitchFamily="34" charset="0"/>
              </a:rPr>
              <a:t>5)</a:t>
            </a:r>
            <a:r>
              <a:rPr lang="zh-CN" altLang="en-US" sz="2400" dirty="0">
                <a:latin typeface="Arial" panose="020B0604020202020204" pitchFamily="34" charset="0"/>
              </a:rPr>
              <a:t>扭转：将坯料的一部分相对另一部分旋转一定角度的工序称为扭转。</a:t>
            </a:r>
            <a:endParaRPr lang="zh-CN" altLang="en-US" sz="2400" dirty="0">
              <a:latin typeface="Arial" panose="020B0604020202020204" pitchFamily="34" charset="0"/>
            </a:endParaRPr>
          </a:p>
          <a:p>
            <a:r>
              <a:rPr lang="zh-CN" altLang="en-US" sz="2400" dirty="0">
                <a:latin typeface="Arial" panose="020B0604020202020204" pitchFamily="34" charset="0"/>
              </a:rPr>
              <a:t>    扭转时，受扭曲变形的部分必须光滑，面与面的相交处应过渡得均匀，以防断裂。</a:t>
            </a:r>
            <a:endParaRPr lang="zh-CN" altLang="en-US" sz="2400" dirty="0">
              <a:latin typeface="Arial" panose="020B0604020202020204" pitchFamily="34" charset="0"/>
            </a:endParaRPr>
          </a:p>
        </p:txBody>
      </p:sp>
      <p:pic>
        <p:nvPicPr>
          <p:cNvPr id="56323" name="Picture 2" descr="å¾3 -1-16æ­è½¬"/>
          <p:cNvPicPr>
            <a:picLocks noChangeAspect="1"/>
          </p:cNvPicPr>
          <p:nvPr/>
        </p:nvPicPr>
        <p:blipFill>
          <a:blip r:embed="rId1"/>
          <a:stretch>
            <a:fillRect/>
          </a:stretch>
        </p:blipFill>
        <p:spPr>
          <a:xfrm>
            <a:off x="2571750" y="3214688"/>
            <a:ext cx="4071938" cy="3265487"/>
          </a:xfrm>
          <a:prstGeom prst="rect">
            <a:avLst/>
          </a:prstGeom>
          <a:noFill/>
          <a:ln w="9525">
            <a:noFill/>
          </a:ln>
        </p:spPr>
      </p:pic>
      <p:sp>
        <p:nvSpPr>
          <p:cNvPr id="56324" name="标题 1"/>
          <p:cNvSpPr>
            <a:spLocks noGrp="1"/>
          </p:cNvSpPr>
          <p:nvPr>
            <p:ph type="title"/>
          </p:nvPr>
        </p:nvSpPr>
        <p:spPr/>
        <p:txBody>
          <a:bodyPr vert="horz" wrap="square" lIns="91440" tIns="45720" rIns="91440" bIns="45720" anchor="ctr" anchorCtr="0"/>
          <a:p>
            <a:r>
              <a:rPr lang="zh-CN" altLang="en-US" dirty="0">
                <a:ea typeface="楷体_GB2312" pitchFamily="49" charset="-122"/>
              </a:rPr>
              <a:t>自由锻基本工序</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7346" name="Picture 2" descr="å¾3 -1-17éç§»çè¿ç¨"/>
          <p:cNvPicPr>
            <a:picLocks noChangeAspect="1"/>
          </p:cNvPicPr>
          <p:nvPr/>
        </p:nvPicPr>
        <p:blipFill>
          <a:blip r:embed="rId1"/>
          <a:stretch>
            <a:fillRect/>
          </a:stretch>
        </p:blipFill>
        <p:spPr>
          <a:xfrm>
            <a:off x="1000125" y="3286125"/>
            <a:ext cx="7077075" cy="1928813"/>
          </a:xfrm>
          <a:prstGeom prst="rect">
            <a:avLst/>
          </a:prstGeom>
          <a:noFill/>
          <a:ln w="9525">
            <a:noFill/>
          </a:ln>
        </p:spPr>
      </p:pic>
      <p:sp>
        <p:nvSpPr>
          <p:cNvPr id="57347" name="标题 1"/>
          <p:cNvSpPr>
            <a:spLocks noGrp="1"/>
          </p:cNvSpPr>
          <p:nvPr>
            <p:ph type="title"/>
          </p:nvPr>
        </p:nvSpPr>
        <p:spPr/>
        <p:txBody>
          <a:bodyPr vert="horz" wrap="square" lIns="91440" tIns="45720" rIns="91440" bIns="45720" anchor="ctr" anchorCtr="0"/>
          <a:p>
            <a:r>
              <a:rPr lang="zh-CN" altLang="en-US" dirty="0">
                <a:ea typeface="楷体_GB2312" pitchFamily="49" charset="-122"/>
              </a:rPr>
              <a:t>自由锻基本工序</a:t>
            </a:r>
            <a:endParaRPr lang="zh-CN" altLang="en-US" dirty="0"/>
          </a:p>
        </p:txBody>
      </p:sp>
      <p:sp>
        <p:nvSpPr>
          <p:cNvPr id="57348" name="矩形 6"/>
          <p:cNvSpPr/>
          <p:nvPr/>
        </p:nvSpPr>
        <p:spPr>
          <a:xfrm>
            <a:off x="928688" y="1428750"/>
            <a:ext cx="7429500" cy="1200150"/>
          </a:xfrm>
          <a:prstGeom prst="rect">
            <a:avLst/>
          </a:prstGeom>
          <a:noFill/>
          <a:ln w="9525">
            <a:noFill/>
          </a:ln>
        </p:spPr>
        <p:txBody>
          <a:bodyPr>
            <a:spAutoFit/>
          </a:bodyPr>
          <a:p>
            <a:r>
              <a:rPr lang="en-US" altLang="zh-CN" sz="2400" dirty="0">
                <a:latin typeface="Arial" panose="020B0604020202020204" pitchFamily="34" charset="0"/>
              </a:rPr>
              <a:t>6)</a:t>
            </a:r>
            <a:r>
              <a:rPr lang="zh-CN" altLang="en-US" sz="2400" dirty="0">
                <a:latin typeface="Arial" panose="020B0604020202020204" pitchFamily="34" charset="0"/>
              </a:rPr>
              <a:t>错移：将坯料的一部分相对于另一部分平移错开的工序称为错移。先在错移部位压肩，然后加垫板及支撑，锻打错开，最后修整。</a:t>
            </a:r>
            <a:endParaRPr lang="zh-CN" altLang="en-US" sz="2400" dirty="0">
              <a:latin typeface="Arial" panose="020B0604020202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矩形 4"/>
          <p:cNvSpPr/>
          <p:nvPr/>
        </p:nvSpPr>
        <p:spPr>
          <a:xfrm>
            <a:off x="1357313" y="1500188"/>
            <a:ext cx="6572250" cy="461962"/>
          </a:xfrm>
          <a:prstGeom prst="rect">
            <a:avLst/>
          </a:prstGeom>
          <a:noFill/>
          <a:ln w="9525">
            <a:noFill/>
          </a:ln>
        </p:spPr>
        <p:txBody>
          <a:bodyPr>
            <a:spAutoFit/>
          </a:bodyPr>
          <a:p>
            <a:r>
              <a:rPr lang="en-US" altLang="zh-CN" sz="2400" dirty="0">
                <a:latin typeface="Arial" panose="020B0604020202020204" pitchFamily="34" charset="0"/>
              </a:rPr>
              <a:t>7)</a:t>
            </a:r>
            <a:r>
              <a:rPr lang="zh-CN" altLang="en-US" sz="2400" dirty="0">
                <a:latin typeface="Arial" panose="020B0604020202020204" pitchFamily="34" charset="0"/>
              </a:rPr>
              <a:t>切割：切割坯料或切除锻件余量的工序。</a:t>
            </a:r>
            <a:endParaRPr lang="zh-CN" altLang="en-US" sz="2400" dirty="0">
              <a:latin typeface="Arial" panose="020B0604020202020204" pitchFamily="34" charset="0"/>
            </a:endParaRPr>
          </a:p>
        </p:txBody>
      </p:sp>
      <p:sp>
        <p:nvSpPr>
          <p:cNvPr id="58371" name="标题 1"/>
          <p:cNvSpPr>
            <a:spLocks noGrp="1"/>
          </p:cNvSpPr>
          <p:nvPr>
            <p:ph type="title"/>
          </p:nvPr>
        </p:nvSpPr>
        <p:spPr/>
        <p:txBody>
          <a:bodyPr vert="horz" wrap="square" lIns="91440" tIns="45720" rIns="91440" bIns="45720" anchor="ctr" anchorCtr="0"/>
          <a:p>
            <a:r>
              <a:rPr lang="zh-CN" altLang="en-US" dirty="0">
                <a:ea typeface="楷体_GB2312" pitchFamily="49" charset="-122"/>
              </a:rPr>
              <a:t>自由锻基本工序</a:t>
            </a:r>
            <a:endParaRPr lang="zh-CN" altLang="en-US" dirty="0"/>
          </a:p>
        </p:txBody>
      </p:sp>
      <p:pic>
        <p:nvPicPr>
          <p:cNvPr id="58372" name="Picture 2" descr="å¾3 -1-18åå²"/>
          <p:cNvPicPr>
            <a:picLocks noChangeAspect="1"/>
          </p:cNvPicPr>
          <p:nvPr/>
        </p:nvPicPr>
        <p:blipFill>
          <a:blip r:embed="rId1"/>
          <a:stretch>
            <a:fillRect/>
          </a:stretch>
        </p:blipFill>
        <p:spPr>
          <a:xfrm>
            <a:off x="357188" y="3500438"/>
            <a:ext cx="8026400" cy="2786062"/>
          </a:xfrm>
          <a:prstGeom prst="rect">
            <a:avLst/>
          </a:prstGeom>
          <a:noFill/>
          <a:ln w="9525">
            <a:noFill/>
          </a:ln>
        </p:spPr>
      </p:pic>
      <p:sp>
        <p:nvSpPr>
          <p:cNvPr id="58373" name="矩形 7"/>
          <p:cNvSpPr/>
          <p:nvPr/>
        </p:nvSpPr>
        <p:spPr>
          <a:xfrm>
            <a:off x="972185" y="1988820"/>
            <a:ext cx="7343140" cy="1568450"/>
          </a:xfrm>
          <a:prstGeom prst="rect">
            <a:avLst/>
          </a:prstGeom>
          <a:noFill/>
          <a:ln w="9525">
            <a:noFill/>
          </a:ln>
        </p:spPr>
        <p:txBody>
          <a:bodyPr wrap="square">
            <a:spAutoFit/>
          </a:bodyPr>
          <a:p>
            <a:r>
              <a:rPr lang="zh-CN" altLang="en-US" sz="2400" dirty="0">
                <a:latin typeface="华文楷体" panose="02010600040101010101" pitchFamily="2" charset="-122"/>
                <a:ea typeface="华文楷体" panose="02010600040101010101" pitchFamily="2" charset="-122"/>
              </a:rPr>
              <a:t>方形截面锻件的切割，先将剁刀垂直切入锻件，至快断开时，将锻件翻转再用剁刀或克棍截断。</a:t>
            </a:r>
            <a:endParaRPr lang="zh-CN" altLang="en-US" sz="2400" dirty="0">
              <a:latin typeface="华文楷体" panose="02010600040101010101" pitchFamily="2" charset="-122"/>
              <a:ea typeface="华文楷体" panose="02010600040101010101" pitchFamily="2" charset="-122"/>
            </a:endParaRPr>
          </a:p>
          <a:p>
            <a:r>
              <a:rPr lang="zh-CN" altLang="en-US" sz="2400" dirty="0">
                <a:latin typeface="华文楷体" panose="02010600040101010101" pitchFamily="2" charset="-122"/>
                <a:ea typeface="华文楷体" panose="02010600040101010101" pitchFamily="2" charset="-122"/>
              </a:rPr>
              <a:t>切圆形截面锻件时，要将锻件放在带有圆凹槽的剁垫中，边切割边旋转锻件。</a:t>
            </a:r>
            <a:endParaRPr lang="en-US" altLang="zh-CN" sz="2400" dirty="0">
              <a:latin typeface="华文楷体" panose="02010600040101010101" pitchFamily="2" charset="-122"/>
              <a:ea typeface="华文楷体" panose="0201060004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9394" name="Picture 11"/>
          <p:cNvPicPr>
            <a:picLocks noChangeAspect="1"/>
          </p:cNvPicPr>
          <p:nvPr/>
        </p:nvPicPr>
        <p:blipFill>
          <a:blip r:embed="rId1">
            <a:clrChange>
              <a:clrFrom>
                <a:srgbClr val="FFFFFF"/>
              </a:clrFrom>
              <a:clrTo>
                <a:srgbClr val="FFFFFF">
                  <a:alpha val="0"/>
                </a:srgbClr>
              </a:clrTo>
            </a:clrChange>
          </a:blip>
          <a:srcRect l="3999" t="24667" r="10001" b="17999"/>
          <a:stretch>
            <a:fillRect/>
          </a:stretch>
        </p:blipFill>
        <p:spPr>
          <a:xfrm>
            <a:off x="395288" y="1557338"/>
            <a:ext cx="8305800" cy="3886200"/>
          </a:xfrm>
          <a:prstGeom prst="rect">
            <a:avLst/>
          </a:prstGeom>
          <a:noFill/>
          <a:ln w="9525">
            <a:noFill/>
          </a:ln>
        </p:spPr>
      </p:pic>
      <p:grpSp>
        <p:nvGrpSpPr>
          <p:cNvPr id="59395" name="Group 12"/>
          <p:cNvGrpSpPr/>
          <p:nvPr/>
        </p:nvGrpSpPr>
        <p:grpSpPr>
          <a:xfrm>
            <a:off x="1004888" y="3081338"/>
            <a:ext cx="7239000" cy="2590800"/>
            <a:chOff x="672" y="2256"/>
            <a:chExt cx="4560" cy="1632"/>
          </a:xfrm>
        </p:grpSpPr>
        <p:sp>
          <p:nvSpPr>
            <p:cNvPr id="59397" name="Text Box 13"/>
            <p:cNvSpPr txBox="1"/>
            <p:nvPr/>
          </p:nvSpPr>
          <p:spPr>
            <a:xfrm>
              <a:off x="672" y="3600"/>
              <a:ext cx="912" cy="288"/>
            </a:xfrm>
            <a:prstGeom prst="rect">
              <a:avLst/>
            </a:prstGeom>
            <a:noFill/>
            <a:ln w="9525">
              <a:noFill/>
            </a:ln>
          </p:spPr>
          <p:txBody>
            <a:bodyPr>
              <a:spAutoFit/>
            </a:bodyPr>
            <a:p>
              <a:pPr>
                <a:spcBef>
                  <a:spcPct val="50000"/>
                </a:spcBef>
              </a:pPr>
              <a:r>
                <a:rPr lang="zh-CN" altLang="en-US" sz="2400" dirty="0">
                  <a:solidFill>
                    <a:srgbClr val="FF0066"/>
                  </a:solidFill>
                  <a:latin typeface="Times New Roman" panose="02020603050405020304" pitchFamily="18" charset="0"/>
                </a:rPr>
                <a:t>预压钳把</a:t>
              </a:r>
              <a:endParaRPr lang="zh-CN" altLang="en-US" sz="2400" dirty="0">
                <a:solidFill>
                  <a:srgbClr val="FF0066"/>
                </a:solidFill>
                <a:latin typeface="Times New Roman" panose="02020603050405020304" pitchFamily="18" charset="0"/>
              </a:endParaRPr>
            </a:p>
          </p:txBody>
        </p:sp>
        <p:sp>
          <p:nvSpPr>
            <p:cNvPr id="59398" name="Text Box 14"/>
            <p:cNvSpPr txBox="1"/>
            <p:nvPr/>
          </p:nvSpPr>
          <p:spPr>
            <a:xfrm>
              <a:off x="2448" y="3600"/>
              <a:ext cx="1248" cy="288"/>
            </a:xfrm>
            <a:prstGeom prst="rect">
              <a:avLst/>
            </a:prstGeom>
            <a:noFill/>
            <a:ln w="9525">
              <a:noFill/>
            </a:ln>
          </p:spPr>
          <p:txBody>
            <a:bodyPr>
              <a:spAutoFit/>
            </a:bodyPr>
            <a:p>
              <a:pPr>
                <a:spcBef>
                  <a:spcPct val="50000"/>
                </a:spcBef>
              </a:pPr>
              <a:r>
                <a:rPr lang="zh-CN" altLang="en-US" sz="2400" dirty="0">
                  <a:solidFill>
                    <a:srgbClr val="FF0066"/>
                  </a:solidFill>
                  <a:latin typeface="Times New Roman" panose="02020603050405020304" pitchFamily="18" charset="0"/>
                </a:rPr>
                <a:t>钢锭倒棱</a:t>
              </a:r>
              <a:endParaRPr lang="zh-CN" altLang="en-US" sz="2400" dirty="0">
                <a:solidFill>
                  <a:srgbClr val="FF0066"/>
                </a:solidFill>
                <a:latin typeface="Times New Roman" panose="02020603050405020304" pitchFamily="18" charset="0"/>
              </a:endParaRPr>
            </a:p>
          </p:txBody>
        </p:sp>
        <p:sp>
          <p:nvSpPr>
            <p:cNvPr id="59399" name="Text Box 15"/>
            <p:cNvSpPr txBox="1"/>
            <p:nvPr/>
          </p:nvSpPr>
          <p:spPr>
            <a:xfrm>
              <a:off x="4272" y="2832"/>
              <a:ext cx="960" cy="288"/>
            </a:xfrm>
            <a:prstGeom prst="rect">
              <a:avLst/>
            </a:prstGeom>
            <a:noFill/>
            <a:ln w="9525">
              <a:noFill/>
            </a:ln>
          </p:spPr>
          <p:txBody>
            <a:bodyPr>
              <a:spAutoFit/>
            </a:bodyPr>
            <a:p>
              <a:pPr>
                <a:spcBef>
                  <a:spcPct val="50000"/>
                </a:spcBef>
              </a:pPr>
              <a:r>
                <a:rPr lang="zh-CN" altLang="en-US" sz="2400" dirty="0">
                  <a:solidFill>
                    <a:srgbClr val="FF0066"/>
                  </a:solidFill>
                  <a:latin typeface="Times New Roman" panose="02020603050405020304" pitchFamily="18" charset="0"/>
                </a:rPr>
                <a:t>分段压痕</a:t>
              </a:r>
              <a:endParaRPr lang="zh-CN" altLang="en-US" sz="2400" dirty="0">
                <a:solidFill>
                  <a:srgbClr val="FF0066"/>
                </a:solidFill>
                <a:latin typeface="Times New Roman" panose="02020603050405020304" pitchFamily="18" charset="0"/>
              </a:endParaRPr>
            </a:p>
          </p:txBody>
        </p:sp>
        <p:sp>
          <p:nvSpPr>
            <p:cNvPr id="59400" name="AutoShape 16"/>
            <p:cNvSpPr/>
            <p:nvPr/>
          </p:nvSpPr>
          <p:spPr>
            <a:xfrm>
              <a:off x="912" y="2256"/>
              <a:ext cx="336" cy="432"/>
            </a:xfrm>
            <a:prstGeom prst="downArrow">
              <a:avLst>
                <a:gd name="adj1" fmla="val 27972"/>
                <a:gd name="adj2" fmla="val 37500"/>
              </a:avLst>
            </a:prstGeom>
            <a:solidFill>
              <a:srgbClr val="FF0066"/>
            </a:solidFill>
            <a:ln w="9525" cap="flat" cmpd="sng">
              <a:solidFill>
                <a:schemeClr val="tx1"/>
              </a:solidFill>
              <a:prstDash val="solid"/>
              <a:miter/>
              <a:headEnd type="none" w="med" len="med"/>
              <a:tailEnd type="none" w="med" len="med"/>
            </a:ln>
          </p:spPr>
          <p:txBody>
            <a:bodyPr vert="eaVert" wrap="none" anchor="ctr" anchorCtr="0"/>
            <a:p>
              <a:endParaRPr lang="zh-CN" altLang="zh-CN" dirty="0">
                <a:latin typeface="Times New Roman" panose="02020603050405020304" pitchFamily="18" charset="0"/>
                <a:ea typeface="华文新魏" panose="02010800040101010101" pitchFamily="2" charset="-122"/>
              </a:endParaRPr>
            </a:p>
          </p:txBody>
        </p:sp>
        <p:sp>
          <p:nvSpPr>
            <p:cNvPr id="59401" name="AutoShape 17"/>
            <p:cNvSpPr/>
            <p:nvPr/>
          </p:nvSpPr>
          <p:spPr>
            <a:xfrm>
              <a:off x="2592" y="2256"/>
              <a:ext cx="336" cy="432"/>
            </a:xfrm>
            <a:prstGeom prst="downArrow">
              <a:avLst>
                <a:gd name="adj1" fmla="val 27972"/>
                <a:gd name="adj2" fmla="val 37500"/>
              </a:avLst>
            </a:prstGeom>
            <a:solidFill>
              <a:srgbClr val="FF0066"/>
            </a:solidFill>
            <a:ln w="9525" cap="flat" cmpd="sng">
              <a:solidFill>
                <a:schemeClr val="tx1"/>
              </a:solidFill>
              <a:prstDash val="solid"/>
              <a:miter/>
              <a:headEnd type="none" w="med" len="med"/>
              <a:tailEnd type="none" w="med" len="med"/>
            </a:ln>
          </p:spPr>
          <p:txBody>
            <a:bodyPr vert="eaVert" wrap="none" anchor="ctr" anchorCtr="0"/>
            <a:p>
              <a:endParaRPr lang="zh-CN" altLang="zh-CN" dirty="0">
                <a:latin typeface="Times New Roman" panose="02020603050405020304" pitchFamily="18" charset="0"/>
                <a:ea typeface="华文新魏" panose="02010800040101010101" pitchFamily="2" charset="-122"/>
              </a:endParaRPr>
            </a:p>
          </p:txBody>
        </p:sp>
      </p:grpSp>
      <p:sp>
        <p:nvSpPr>
          <p:cNvPr id="10" name="标题 1"/>
          <p:cNvSpPr txBox="1"/>
          <p:nvPr/>
        </p:nvSpPr>
        <p:spPr>
          <a:xfrm>
            <a:off x="2571750" y="357188"/>
            <a:ext cx="6019800" cy="1190625"/>
          </a:xfrm>
          <a:prstGeom prst="rect">
            <a:avLst/>
          </a:prstGeom>
        </p:spPr>
        <p:txBody>
          <a:bodyPr/>
          <a:lstStyle/>
          <a:p>
            <a:pPr marR="0" defTabSz="914400">
              <a:buClrTx/>
              <a:buSzTx/>
              <a:buFontTx/>
              <a:buNone/>
              <a:defRPr/>
            </a:pPr>
            <a:r>
              <a:rPr kumimoji="0" lang="zh-CN" altLang="en-US" sz="3600" b="1" kern="1200" cap="none" spc="0" normalizeH="0" baseline="0" noProof="0" dirty="0">
                <a:solidFill>
                  <a:schemeClr val="tx2"/>
                </a:solidFill>
                <a:latin typeface="+mj-lt"/>
                <a:ea typeface="楷体_GB2312" pitchFamily="49" charset="-122"/>
                <a:cs typeface="+mj-cs"/>
              </a:rPr>
              <a:t>自由锻辅助工序</a:t>
            </a:r>
            <a:endParaRPr kumimoji="0" lang="zh-CN" altLang="en-US" sz="3600" b="1" kern="1200" cap="none" spc="0" normalizeH="0" baseline="0" noProof="0" dirty="0">
              <a:solidFill>
                <a:schemeClr val="tx2"/>
              </a:solidFill>
              <a:latin typeface="+mj-lt"/>
              <a:ea typeface="+mj-ea"/>
              <a:cs typeface="+mj-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0418" name="Picture 21"/>
          <p:cNvPicPr>
            <a:picLocks noChangeAspect="1"/>
          </p:cNvPicPr>
          <p:nvPr/>
        </p:nvPicPr>
        <p:blipFill>
          <a:blip r:embed="rId1">
            <a:clrChange>
              <a:clrFrom>
                <a:srgbClr val="FFFFFF"/>
              </a:clrFrom>
              <a:clrTo>
                <a:srgbClr val="FFFFFF">
                  <a:alpha val="0"/>
                </a:srgbClr>
              </a:clrTo>
            </a:clrChange>
          </a:blip>
          <a:srcRect l="6000" t="22000" r="13000" b="12666"/>
          <a:stretch>
            <a:fillRect/>
          </a:stretch>
        </p:blipFill>
        <p:spPr>
          <a:xfrm>
            <a:off x="611188" y="1484313"/>
            <a:ext cx="7391400" cy="3906837"/>
          </a:xfrm>
          <a:prstGeom prst="rect">
            <a:avLst/>
          </a:prstGeom>
          <a:noFill/>
          <a:ln w="9525">
            <a:noFill/>
          </a:ln>
        </p:spPr>
      </p:pic>
      <p:sp>
        <p:nvSpPr>
          <p:cNvPr id="60419" name="Text Box 23"/>
          <p:cNvSpPr txBox="1"/>
          <p:nvPr/>
        </p:nvSpPr>
        <p:spPr>
          <a:xfrm>
            <a:off x="3811588" y="5186363"/>
            <a:ext cx="1676400" cy="458787"/>
          </a:xfrm>
          <a:prstGeom prst="rect">
            <a:avLst/>
          </a:prstGeom>
          <a:noFill/>
          <a:ln w="9525">
            <a:noFill/>
          </a:ln>
        </p:spPr>
        <p:txBody>
          <a:bodyPr>
            <a:spAutoFit/>
          </a:bodyPr>
          <a:p>
            <a:pPr>
              <a:spcBef>
                <a:spcPct val="50000"/>
              </a:spcBef>
            </a:pPr>
            <a:r>
              <a:rPr lang="zh-CN" altLang="en-US" sz="2400" dirty="0">
                <a:solidFill>
                  <a:srgbClr val="FF0066"/>
                </a:solidFill>
                <a:latin typeface="Times New Roman" panose="02020603050405020304" pitchFamily="18" charset="0"/>
              </a:rPr>
              <a:t>弯曲校正</a:t>
            </a:r>
            <a:endParaRPr lang="zh-CN" altLang="en-US" sz="2400" dirty="0">
              <a:solidFill>
                <a:srgbClr val="FF0066"/>
              </a:solidFill>
              <a:latin typeface="Times New Roman" panose="02020603050405020304" pitchFamily="18" charset="0"/>
            </a:endParaRPr>
          </a:p>
        </p:txBody>
      </p:sp>
      <p:sp>
        <p:nvSpPr>
          <p:cNvPr id="60420" name="Text Box 24"/>
          <p:cNvSpPr txBox="1"/>
          <p:nvPr/>
        </p:nvSpPr>
        <p:spPr>
          <a:xfrm>
            <a:off x="1220788" y="3060700"/>
            <a:ext cx="1600200" cy="457200"/>
          </a:xfrm>
          <a:prstGeom prst="rect">
            <a:avLst/>
          </a:prstGeom>
          <a:noFill/>
          <a:ln w="9525">
            <a:noFill/>
          </a:ln>
        </p:spPr>
        <p:txBody>
          <a:bodyPr>
            <a:spAutoFit/>
          </a:bodyPr>
          <a:p>
            <a:pPr>
              <a:spcBef>
                <a:spcPct val="50000"/>
              </a:spcBef>
            </a:pPr>
            <a:r>
              <a:rPr lang="zh-CN" altLang="en-US" sz="2400" dirty="0">
                <a:solidFill>
                  <a:srgbClr val="FF0066"/>
                </a:solidFill>
                <a:latin typeface="Times New Roman" panose="02020603050405020304" pitchFamily="18" charset="0"/>
              </a:rPr>
              <a:t>鼓形滚圆</a:t>
            </a:r>
            <a:endParaRPr lang="zh-CN" altLang="en-US" sz="2400" dirty="0">
              <a:solidFill>
                <a:srgbClr val="FF0066"/>
              </a:solidFill>
              <a:latin typeface="Times New Roman" panose="02020603050405020304" pitchFamily="18" charset="0"/>
            </a:endParaRPr>
          </a:p>
        </p:txBody>
      </p:sp>
      <p:sp>
        <p:nvSpPr>
          <p:cNvPr id="60421" name="Text Box 25"/>
          <p:cNvSpPr txBox="1"/>
          <p:nvPr/>
        </p:nvSpPr>
        <p:spPr>
          <a:xfrm>
            <a:off x="5411788" y="3060700"/>
            <a:ext cx="1905000" cy="457200"/>
          </a:xfrm>
          <a:prstGeom prst="rect">
            <a:avLst/>
          </a:prstGeom>
          <a:noFill/>
          <a:ln w="9525">
            <a:noFill/>
          </a:ln>
        </p:spPr>
        <p:txBody>
          <a:bodyPr>
            <a:spAutoFit/>
          </a:bodyPr>
          <a:p>
            <a:pPr>
              <a:spcBef>
                <a:spcPct val="50000"/>
              </a:spcBef>
            </a:pPr>
            <a:r>
              <a:rPr lang="zh-CN" altLang="en-US" sz="2400" dirty="0">
                <a:solidFill>
                  <a:srgbClr val="FF0066"/>
                </a:solidFill>
                <a:latin typeface="Times New Roman" panose="02020603050405020304" pitchFamily="18" charset="0"/>
              </a:rPr>
              <a:t>端面平整</a:t>
            </a:r>
            <a:endParaRPr lang="zh-CN" altLang="en-US" sz="2400" dirty="0">
              <a:solidFill>
                <a:srgbClr val="FF0066"/>
              </a:solidFill>
              <a:latin typeface="Times New Roman" panose="02020603050405020304" pitchFamily="18" charset="0"/>
            </a:endParaRPr>
          </a:p>
        </p:txBody>
      </p:sp>
      <p:sp>
        <p:nvSpPr>
          <p:cNvPr id="7" name="标题 1"/>
          <p:cNvSpPr txBox="1"/>
          <p:nvPr/>
        </p:nvSpPr>
        <p:spPr>
          <a:xfrm>
            <a:off x="2555875" y="293688"/>
            <a:ext cx="6019800" cy="1190625"/>
          </a:xfrm>
          <a:prstGeom prst="rect">
            <a:avLst/>
          </a:prstGeom>
        </p:spPr>
        <p:txBody>
          <a:bodyPr/>
          <a:lstStyle/>
          <a:p>
            <a:pPr marR="0" defTabSz="914400">
              <a:buClrTx/>
              <a:buSzTx/>
              <a:buFontTx/>
              <a:buNone/>
              <a:defRPr/>
            </a:pPr>
            <a:r>
              <a:rPr kumimoji="0" lang="zh-CN" altLang="en-US" sz="3600" b="1" kern="1200" cap="none" spc="0" normalizeH="0" baseline="0" noProof="0" dirty="0">
                <a:solidFill>
                  <a:schemeClr val="tx2"/>
                </a:solidFill>
                <a:latin typeface="+mj-lt"/>
                <a:ea typeface="楷体_GB2312" pitchFamily="49" charset="-122"/>
                <a:cs typeface="+mj-cs"/>
              </a:rPr>
              <a:t>自由锻修整工序</a:t>
            </a:r>
            <a:endParaRPr kumimoji="0" lang="zh-CN" altLang="en-US" sz="3600" b="1" kern="1200" cap="none" spc="0" normalizeH="0" baseline="0" noProof="0" dirty="0">
              <a:solidFill>
                <a:schemeClr val="tx2"/>
              </a:solidFill>
              <a:latin typeface="+mj-lt"/>
              <a:ea typeface="+mj-ea"/>
              <a:cs typeface="+mj-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标题 1"/>
          <p:cNvSpPr>
            <a:spLocks noGrp="1"/>
          </p:cNvSpPr>
          <p:nvPr>
            <p:ph type="title"/>
          </p:nvPr>
        </p:nvSpPr>
        <p:spPr/>
        <p:txBody>
          <a:bodyPr vert="horz" wrap="square" lIns="91440" tIns="45720" rIns="91440" bIns="45720" anchor="ctr" anchorCtr="0"/>
          <a:p>
            <a:r>
              <a:rPr lang="zh-CN" altLang="en-US" dirty="0"/>
              <a:t>典型零件自由锻工艺</a:t>
            </a:r>
            <a:endParaRPr lang="zh-CN" altLang="en-US" dirty="0"/>
          </a:p>
        </p:txBody>
      </p:sp>
      <p:sp>
        <p:nvSpPr>
          <p:cNvPr id="61443" name="内容占位符 2"/>
          <p:cNvSpPr>
            <a:spLocks noGrp="1"/>
          </p:cNvSpPr>
          <p:nvPr>
            <p:ph idx="1"/>
          </p:nvPr>
        </p:nvSpPr>
        <p:spPr/>
        <p:txBody>
          <a:bodyPr vert="horz" wrap="square" lIns="91440" tIns="45720" rIns="91440" bIns="45720" anchor="t" anchorCtr="0"/>
          <a:p>
            <a:endParaRPr lang="zh-CN" altLang="en-US" dirty="0"/>
          </a:p>
        </p:txBody>
      </p:sp>
      <p:pic>
        <p:nvPicPr>
          <p:cNvPr id="61444" name="图片 3"/>
          <p:cNvPicPr>
            <a:picLocks noChangeAspect="1"/>
          </p:cNvPicPr>
          <p:nvPr/>
        </p:nvPicPr>
        <p:blipFill>
          <a:blip r:embed="rId1"/>
          <a:stretch>
            <a:fillRect/>
          </a:stretch>
        </p:blipFill>
        <p:spPr>
          <a:xfrm>
            <a:off x="539750" y="1196658"/>
            <a:ext cx="8280400" cy="5511800"/>
          </a:xfrm>
          <a:prstGeom prst="rect">
            <a:avLst/>
          </a:prstGeom>
          <a:noFill/>
          <a:ln w="9525">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标题 1"/>
          <p:cNvSpPr>
            <a:spLocks noGrp="1"/>
          </p:cNvSpPr>
          <p:nvPr>
            <p:ph type="title"/>
          </p:nvPr>
        </p:nvSpPr>
        <p:spPr/>
        <p:txBody>
          <a:bodyPr vert="horz" wrap="square" lIns="91440" tIns="45720" rIns="91440" bIns="45720" anchor="ctr" anchorCtr="0"/>
          <a:p>
            <a:endParaRPr lang="zh-CN" altLang="en-US" dirty="0"/>
          </a:p>
        </p:txBody>
      </p:sp>
      <p:sp>
        <p:nvSpPr>
          <p:cNvPr id="62467" name="内容占位符 2"/>
          <p:cNvSpPr>
            <a:spLocks noGrp="1"/>
          </p:cNvSpPr>
          <p:nvPr>
            <p:ph idx="1"/>
          </p:nvPr>
        </p:nvSpPr>
        <p:spPr/>
        <p:txBody>
          <a:bodyPr vert="horz" wrap="square" lIns="91440" tIns="45720" rIns="91440" bIns="45720" anchor="t" anchorCtr="0"/>
          <a:p>
            <a:endParaRPr lang="zh-CN" altLang="en-US" dirty="0"/>
          </a:p>
        </p:txBody>
      </p:sp>
      <p:pic>
        <p:nvPicPr>
          <p:cNvPr id="62468" name="图片 3"/>
          <p:cNvPicPr>
            <a:picLocks noChangeAspect="1"/>
          </p:cNvPicPr>
          <p:nvPr/>
        </p:nvPicPr>
        <p:blipFill>
          <a:blip r:embed="rId1"/>
          <a:stretch>
            <a:fillRect/>
          </a:stretch>
        </p:blipFill>
        <p:spPr>
          <a:xfrm>
            <a:off x="323850" y="1209675"/>
            <a:ext cx="8424863" cy="5632450"/>
          </a:xfrm>
          <a:prstGeom prst="rect">
            <a:avLst/>
          </a:prstGeom>
          <a:noFill/>
          <a:ln w="9525">
            <a:noFill/>
          </a:ln>
        </p:spPr>
      </p:pic>
      <p:sp>
        <p:nvSpPr>
          <p:cNvPr id="5" name="标题 1"/>
          <p:cNvSpPr txBox="1"/>
          <p:nvPr/>
        </p:nvSpPr>
        <p:spPr bwMode="auto">
          <a:xfrm>
            <a:off x="2571750" y="71438"/>
            <a:ext cx="6019800" cy="1190625"/>
          </a:xfrm>
          <a:prstGeom prst="rect">
            <a:avLst/>
          </a:prstGeom>
          <a:noFill/>
          <a:ln w="9525">
            <a:noFill/>
            <a:miter lim="800000"/>
          </a:ln>
        </p:spPr>
        <p:txBody>
          <a:bodyPr anchor="ctr"/>
          <a:lstStyle/>
          <a:p>
            <a:pPr marR="0" defTabSz="914400">
              <a:buClrTx/>
              <a:buSzTx/>
              <a:buFontTx/>
              <a:buNone/>
              <a:defRPr/>
            </a:pPr>
            <a:r>
              <a:rPr kumimoji="0" lang="zh-CN" altLang="en-US" sz="3600" b="1" kern="1200" cap="none" spc="0" normalizeH="0" baseline="0" noProof="0">
                <a:solidFill>
                  <a:schemeClr val="tx2"/>
                </a:solidFill>
                <a:latin typeface="+mj-lt"/>
                <a:ea typeface="+mj-ea"/>
                <a:cs typeface="+mj-cs"/>
              </a:rPr>
              <a:t>典型零件自由锻工艺</a:t>
            </a:r>
            <a:endParaRPr kumimoji="0" lang="zh-CN" altLang="en-US" sz="3600" b="1" kern="1200" cap="none" spc="0" normalizeH="0" baseline="0" noProof="0" dirty="0">
              <a:solidFill>
                <a:schemeClr val="tx2"/>
              </a:solidFill>
              <a:latin typeface="+mj-lt"/>
              <a:ea typeface="+mj-ea"/>
              <a:cs typeface="+mj-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内容占位符 2"/>
          <p:cNvSpPr>
            <a:spLocks noGrp="1"/>
          </p:cNvSpPr>
          <p:nvPr>
            <p:ph idx="1"/>
          </p:nvPr>
        </p:nvSpPr>
        <p:spPr/>
        <p:txBody>
          <a:bodyPr vert="horz" wrap="square" lIns="91440" tIns="45720" rIns="91440" bIns="45720" anchor="t" anchorCtr="0"/>
          <a:p>
            <a:endParaRPr lang="zh-CN" altLang="en-US" dirty="0"/>
          </a:p>
        </p:txBody>
      </p:sp>
      <p:pic>
        <p:nvPicPr>
          <p:cNvPr id="63491" name="图片 3"/>
          <p:cNvPicPr>
            <a:picLocks noChangeAspect="1"/>
          </p:cNvPicPr>
          <p:nvPr/>
        </p:nvPicPr>
        <p:blipFill>
          <a:blip r:embed="rId1"/>
          <a:stretch>
            <a:fillRect/>
          </a:stretch>
        </p:blipFill>
        <p:spPr>
          <a:xfrm>
            <a:off x="457200" y="1147763"/>
            <a:ext cx="8347075" cy="5710237"/>
          </a:xfrm>
          <a:prstGeom prst="rect">
            <a:avLst/>
          </a:prstGeom>
          <a:noFill/>
          <a:ln w="9525">
            <a:noFill/>
          </a:ln>
        </p:spPr>
      </p:pic>
      <p:sp>
        <p:nvSpPr>
          <p:cNvPr id="63492" name="标题 1"/>
          <p:cNvSpPr>
            <a:spLocks noGrp="1"/>
          </p:cNvSpPr>
          <p:nvPr>
            <p:ph type="title"/>
          </p:nvPr>
        </p:nvSpPr>
        <p:spPr/>
        <p:txBody>
          <a:bodyPr vert="horz" wrap="square" lIns="91440" tIns="45720" rIns="91440" bIns="45720" anchor="ctr" anchorCtr="0"/>
          <a:p>
            <a:r>
              <a:rPr lang="zh-CN" altLang="en-US" dirty="0"/>
              <a:t>典型零件自由锻工艺</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内容占位符 2"/>
          <p:cNvSpPr>
            <a:spLocks noGrp="1"/>
          </p:cNvSpPr>
          <p:nvPr>
            <p:ph idx="1"/>
          </p:nvPr>
        </p:nvSpPr>
        <p:spPr/>
        <p:txBody>
          <a:bodyPr vert="horz" wrap="square" lIns="91440" tIns="45720" rIns="91440" bIns="45720" anchor="t" anchorCtr="0"/>
          <a:p>
            <a:endParaRPr lang="zh-CN" altLang="en-US" dirty="0"/>
          </a:p>
        </p:txBody>
      </p:sp>
      <p:pic>
        <p:nvPicPr>
          <p:cNvPr id="64515" name="图片 3"/>
          <p:cNvPicPr>
            <a:picLocks noChangeAspect="1"/>
          </p:cNvPicPr>
          <p:nvPr/>
        </p:nvPicPr>
        <p:blipFill>
          <a:blip r:embed="rId1"/>
          <a:stretch>
            <a:fillRect/>
          </a:stretch>
        </p:blipFill>
        <p:spPr>
          <a:xfrm>
            <a:off x="200025" y="1144588"/>
            <a:ext cx="8415338" cy="5748337"/>
          </a:xfrm>
          <a:prstGeom prst="rect">
            <a:avLst/>
          </a:prstGeom>
          <a:noFill/>
          <a:ln w="9525">
            <a:noFill/>
          </a:ln>
        </p:spPr>
      </p:pic>
      <p:sp>
        <p:nvSpPr>
          <p:cNvPr id="64516" name="标题 1"/>
          <p:cNvSpPr>
            <a:spLocks noGrp="1"/>
          </p:cNvSpPr>
          <p:nvPr>
            <p:ph type="title"/>
          </p:nvPr>
        </p:nvSpPr>
        <p:spPr/>
        <p:txBody>
          <a:bodyPr vert="horz" wrap="square" lIns="91440" tIns="45720" rIns="91440" bIns="45720" anchor="ctr" anchorCtr="0"/>
          <a:p>
            <a:r>
              <a:rPr lang="zh-CN" altLang="en-US" dirty="0"/>
              <a:t>典型零件自由锻工艺</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内容占位符 2"/>
          <p:cNvSpPr>
            <a:spLocks noGrp="1"/>
          </p:cNvSpPr>
          <p:nvPr>
            <p:ph idx="1"/>
          </p:nvPr>
        </p:nvSpPr>
        <p:spPr/>
        <p:txBody>
          <a:bodyPr vert="horz" wrap="square" lIns="91440" tIns="45720" rIns="91440" bIns="45720" anchor="t" anchorCtr="0"/>
          <a:p>
            <a:endParaRPr lang="zh-CN" altLang="en-US" dirty="0"/>
          </a:p>
        </p:txBody>
      </p:sp>
      <p:pic>
        <p:nvPicPr>
          <p:cNvPr id="65539" name="图片 3"/>
          <p:cNvPicPr>
            <a:picLocks noChangeAspect="1"/>
          </p:cNvPicPr>
          <p:nvPr/>
        </p:nvPicPr>
        <p:blipFill>
          <a:blip r:embed="rId1"/>
          <a:stretch>
            <a:fillRect/>
          </a:stretch>
        </p:blipFill>
        <p:spPr>
          <a:xfrm>
            <a:off x="250825" y="1125538"/>
            <a:ext cx="8358188" cy="5732462"/>
          </a:xfrm>
          <a:prstGeom prst="rect">
            <a:avLst/>
          </a:prstGeom>
          <a:noFill/>
          <a:ln w="9525">
            <a:noFill/>
          </a:ln>
        </p:spPr>
      </p:pic>
      <p:sp>
        <p:nvSpPr>
          <p:cNvPr id="65540" name="标题 1"/>
          <p:cNvSpPr>
            <a:spLocks noGrp="1"/>
          </p:cNvSpPr>
          <p:nvPr>
            <p:ph type="title"/>
          </p:nvPr>
        </p:nvSpPr>
        <p:spPr/>
        <p:txBody>
          <a:bodyPr vert="horz" wrap="square" lIns="91440" tIns="45720" rIns="91440" bIns="45720" anchor="ctr" anchorCtr="0"/>
          <a:p>
            <a:r>
              <a:rPr lang="zh-CN" altLang="en-US" dirty="0"/>
              <a:t>典型零件自由锻工艺</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内容占位符 2"/>
          <p:cNvSpPr>
            <a:spLocks noGrp="1"/>
          </p:cNvSpPr>
          <p:nvPr>
            <p:ph idx="1"/>
          </p:nvPr>
        </p:nvSpPr>
        <p:spPr/>
        <p:txBody>
          <a:bodyPr vert="horz" wrap="square" lIns="91440" tIns="45720" rIns="91440" bIns="45720" anchor="t" anchorCtr="0"/>
          <a:p>
            <a:endParaRPr lang="zh-CN" altLang="en-US" dirty="0"/>
          </a:p>
        </p:txBody>
      </p:sp>
      <p:pic>
        <p:nvPicPr>
          <p:cNvPr id="66563" name="图片 4"/>
          <p:cNvPicPr>
            <a:picLocks noChangeAspect="1"/>
          </p:cNvPicPr>
          <p:nvPr/>
        </p:nvPicPr>
        <p:blipFill>
          <a:blip r:embed="rId1"/>
          <a:stretch>
            <a:fillRect/>
          </a:stretch>
        </p:blipFill>
        <p:spPr>
          <a:xfrm>
            <a:off x="325438" y="1236663"/>
            <a:ext cx="8258175" cy="5576887"/>
          </a:xfrm>
          <a:prstGeom prst="rect">
            <a:avLst/>
          </a:prstGeom>
          <a:noFill/>
          <a:ln w="9525">
            <a:noFill/>
          </a:ln>
        </p:spPr>
      </p:pic>
      <p:sp>
        <p:nvSpPr>
          <p:cNvPr id="66564" name="标题 1"/>
          <p:cNvSpPr>
            <a:spLocks noGrp="1"/>
          </p:cNvSpPr>
          <p:nvPr>
            <p:ph type="title"/>
          </p:nvPr>
        </p:nvSpPr>
        <p:spPr/>
        <p:txBody>
          <a:bodyPr vert="horz" wrap="square" lIns="91440" tIns="45720" rIns="91440" bIns="45720" anchor="ctr" anchorCtr="0"/>
          <a:p>
            <a:r>
              <a:rPr lang="zh-CN" altLang="en-US" dirty="0"/>
              <a:t>典型零件自由锻工艺</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title"/>
          </p:nvPr>
        </p:nvSpPr>
        <p:spPr>
          <a:xfrm>
            <a:off x="3708400" y="128588"/>
            <a:ext cx="3208338" cy="889000"/>
          </a:xfrm>
        </p:spPr>
        <p:txBody>
          <a:bodyPr vert="horz" wrap="square" lIns="91440" tIns="45720" rIns="91440" bIns="45720" anchor="ctr" anchorCtr="0"/>
          <a:p>
            <a:pPr algn="ctr" eaLnBrk="1" hangingPunct="1"/>
            <a:r>
              <a:rPr lang="zh-CN" altLang="en-US" sz="4000" dirty="0">
                <a:ea typeface="楷体_GB2312" pitchFamily="49" charset="-122"/>
              </a:rPr>
              <a:t>模锻</a:t>
            </a:r>
            <a:endParaRPr lang="zh-CN" altLang="en-US" sz="4000" dirty="0">
              <a:ea typeface="楷体_GB2312" pitchFamily="49" charset="-122"/>
            </a:endParaRPr>
          </a:p>
        </p:txBody>
      </p:sp>
      <p:sp>
        <p:nvSpPr>
          <p:cNvPr id="67587" name="Rectangle 3"/>
          <p:cNvSpPr>
            <a:spLocks noGrp="1"/>
          </p:cNvSpPr>
          <p:nvPr>
            <p:ph idx="1"/>
          </p:nvPr>
        </p:nvSpPr>
        <p:spPr>
          <a:xfrm>
            <a:off x="179388" y="1214438"/>
            <a:ext cx="8569325" cy="5121275"/>
          </a:xfrm>
        </p:spPr>
        <p:txBody>
          <a:bodyPr vert="horz" wrap="square" lIns="91440" tIns="45720" rIns="91440" bIns="45720" anchor="t" anchorCtr="0"/>
          <a:p>
            <a:pPr eaLnBrk="1" hangingPunct="1">
              <a:lnSpc>
                <a:spcPct val="80000"/>
              </a:lnSpc>
              <a:buClr>
                <a:srgbClr val="0066FF"/>
              </a:buClr>
              <a:buFont typeface="Wingdings" panose="05000000000000000000" pitchFamily="2" charset="2"/>
              <a:buChar char="Ø"/>
            </a:pPr>
            <a:r>
              <a:rPr lang="en-US" altLang="zh-CN" sz="2400" dirty="0">
                <a:latin typeface="华文楷体" panose="02010600040101010101" pitchFamily="2" charset="-122"/>
                <a:ea typeface="华文楷体" panose="02010600040101010101" pitchFamily="2" charset="-122"/>
              </a:rPr>
              <a:t> </a:t>
            </a:r>
            <a:r>
              <a:rPr lang="zh-CN" altLang="en-US" sz="2400" b="1" dirty="0">
                <a:solidFill>
                  <a:srgbClr val="CC3300"/>
                </a:solidFill>
                <a:latin typeface="华文楷体" panose="02010600040101010101" pitchFamily="2" charset="-122"/>
                <a:ea typeface="华文楷体" panose="02010600040101010101" pitchFamily="2" charset="-122"/>
              </a:rPr>
              <a:t>模锻</a:t>
            </a:r>
            <a:r>
              <a:rPr lang="zh-CN" altLang="en-US" sz="2400" dirty="0">
                <a:solidFill>
                  <a:srgbClr val="CC3300"/>
                </a:solidFill>
                <a:latin typeface="华文楷体" panose="02010600040101010101" pitchFamily="2" charset="-122"/>
                <a:ea typeface="华文楷体" panose="02010600040101010101" pitchFamily="2" charset="-122"/>
              </a:rPr>
              <a:t>：</a:t>
            </a:r>
            <a:r>
              <a:rPr lang="zh-CN" altLang="en-US" sz="2400" b="1" dirty="0">
                <a:solidFill>
                  <a:srgbClr val="0000FF"/>
                </a:solidFill>
                <a:latin typeface="华文楷体" panose="02010600040101010101" pitchFamily="2" charset="-122"/>
                <a:ea typeface="华文楷体" panose="02010600040101010101" pitchFamily="2" charset="-122"/>
              </a:rPr>
              <a:t>在高强度金属锻模上预先制出与锻件形状一致的模膛，使坯料在模膛内受压变形，由于模膛对金属坯料流动的限制，因而锻造终了时能得到和模膛形状相符的锻件。</a:t>
            </a:r>
            <a:endParaRPr lang="zh-CN" altLang="en-US" sz="2400" b="1" dirty="0">
              <a:solidFill>
                <a:srgbClr val="0000FF"/>
              </a:solidFill>
              <a:latin typeface="华文楷体" panose="02010600040101010101" pitchFamily="2" charset="-122"/>
              <a:ea typeface="华文楷体" panose="02010600040101010101" pitchFamily="2" charset="-122"/>
            </a:endParaRPr>
          </a:p>
          <a:p>
            <a:pPr eaLnBrk="1" hangingPunct="1">
              <a:lnSpc>
                <a:spcPct val="80000"/>
              </a:lnSpc>
              <a:buNone/>
            </a:pPr>
            <a:r>
              <a:rPr lang="zh-CN" altLang="en-US" sz="2400" b="1" dirty="0">
                <a:latin typeface="华文楷体" panose="02010600040101010101" pitchFamily="2" charset="-122"/>
                <a:ea typeface="华文楷体" panose="02010600040101010101" pitchFamily="2" charset="-122"/>
              </a:rPr>
              <a:t>     </a:t>
            </a:r>
            <a:r>
              <a:rPr lang="en-US" altLang="zh-CN" sz="2400" b="1" dirty="0">
                <a:latin typeface="华文楷体" panose="02010600040101010101" pitchFamily="2" charset="-122"/>
                <a:ea typeface="华文楷体" panose="02010600040101010101" pitchFamily="2" charset="-122"/>
              </a:rPr>
              <a:t>	</a:t>
            </a:r>
            <a:r>
              <a:rPr lang="zh-CN" altLang="en-US" sz="2000" b="1" dirty="0">
                <a:latin typeface="华文楷体" panose="02010600040101010101" pitchFamily="2" charset="-122"/>
                <a:ea typeface="华文楷体" panose="02010600040101010101" pitchFamily="2" charset="-122"/>
              </a:rPr>
              <a:t>重型锻压装备是国家综合实力的一种象征，大型模锻液压机是生产航空大型模锻件，发展航空武器装备并覆盖其他军事装备对大型锻件需求的基础设备。</a:t>
            </a:r>
            <a:endParaRPr lang="zh-CN" altLang="en-US" sz="2000" b="1" dirty="0">
              <a:latin typeface="华文楷体" panose="02010600040101010101" pitchFamily="2" charset="-122"/>
              <a:ea typeface="华文楷体" panose="02010600040101010101" pitchFamily="2" charset="-122"/>
            </a:endParaRPr>
          </a:p>
          <a:p>
            <a:pPr eaLnBrk="1" hangingPunct="1">
              <a:lnSpc>
                <a:spcPct val="80000"/>
              </a:lnSpc>
              <a:buNone/>
            </a:pPr>
            <a:r>
              <a:rPr lang="zh-CN" altLang="en-US" sz="2400" b="1" dirty="0">
                <a:latin typeface="华文楷体" panose="02010600040101010101" pitchFamily="2" charset="-122"/>
                <a:ea typeface="华文楷体" panose="02010600040101010101" pitchFamily="2" charset="-122"/>
              </a:rPr>
              <a:t>     </a:t>
            </a:r>
            <a:r>
              <a:rPr lang="en-US" altLang="zh-CN" sz="2400" b="1" dirty="0">
                <a:latin typeface="华文楷体" panose="02010600040101010101" pitchFamily="2" charset="-122"/>
                <a:ea typeface="华文楷体" panose="02010600040101010101" pitchFamily="2" charset="-122"/>
              </a:rPr>
              <a:t>	</a:t>
            </a:r>
            <a:r>
              <a:rPr lang="zh-CN" altLang="en-US" sz="2000" b="1" dirty="0">
                <a:latin typeface="华文楷体" panose="02010600040101010101" pitchFamily="2" charset="-122"/>
                <a:ea typeface="华文楷体" panose="02010600040101010101" pitchFamily="2" charset="-122"/>
              </a:rPr>
              <a:t>目前，美国有</a:t>
            </a:r>
            <a:r>
              <a:rPr lang="en-US" altLang="zh-CN" sz="2000" b="1" dirty="0">
                <a:solidFill>
                  <a:srgbClr val="008000"/>
                </a:solidFill>
                <a:latin typeface="华文楷体" panose="02010600040101010101" pitchFamily="2" charset="-122"/>
                <a:ea typeface="华文楷体" panose="02010600040101010101" pitchFamily="2" charset="-122"/>
              </a:rPr>
              <a:t>2</a:t>
            </a:r>
            <a:r>
              <a:rPr lang="zh-CN" altLang="en-US" sz="2000" b="1" dirty="0">
                <a:solidFill>
                  <a:srgbClr val="008000"/>
                </a:solidFill>
                <a:latin typeface="华文楷体" panose="02010600040101010101" pitchFamily="2" charset="-122"/>
                <a:ea typeface="华文楷体" panose="02010600040101010101" pitchFamily="2" charset="-122"/>
              </a:rPr>
              <a:t>台</a:t>
            </a:r>
            <a:r>
              <a:rPr lang="en-US" altLang="zh-CN" sz="2000" b="1" dirty="0">
                <a:solidFill>
                  <a:srgbClr val="008000"/>
                </a:solidFill>
                <a:latin typeface="华文楷体" panose="02010600040101010101" pitchFamily="2" charset="-122"/>
                <a:ea typeface="华文楷体" panose="02010600040101010101" pitchFamily="2" charset="-122"/>
              </a:rPr>
              <a:t>3</a:t>
            </a:r>
            <a:r>
              <a:rPr lang="zh-CN" altLang="en-US" sz="2000" b="1" dirty="0">
                <a:solidFill>
                  <a:srgbClr val="008000"/>
                </a:solidFill>
                <a:latin typeface="华文楷体" panose="02010600040101010101" pitchFamily="2" charset="-122"/>
                <a:ea typeface="华文楷体" panose="02010600040101010101" pitchFamily="2" charset="-122"/>
              </a:rPr>
              <a:t>万吨，</a:t>
            </a:r>
            <a:r>
              <a:rPr lang="en-US" altLang="zh-CN" sz="2000" b="1" dirty="0">
                <a:solidFill>
                  <a:srgbClr val="FF0000"/>
                </a:solidFill>
                <a:latin typeface="华文楷体" panose="02010600040101010101" pitchFamily="2" charset="-122"/>
                <a:ea typeface="华文楷体" panose="02010600040101010101" pitchFamily="2" charset="-122"/>
              </a:rPr>
              <a:t>2</a:t>
            </a:r>
            <a:r>
              <a:rPr lang="zh-CN" altLang="en-US" sz="2000" b="1" dirty="0">
                <a:solidFill>
                  <a:srgbClr val="FF0000"/>
                </a:solidFill>
                <a:latin typeface="华文楷体" panose="02010600040101010101" pitchFamily="2" charset="-122"/>
                <a:ea typeface="华文楷体" panose="02010600040101010101" pitchFamily="2" charset="-122"/>
              </a:rPr>
              <a:t>台</a:t>
            </a:r>
            <a:r>
              <a:rPr lang="en-US" altLang="zh-CN" sz="2000" b="1" dirty="0">
                <a:solidFill>
                  <a:srgbClr val="FF0000"/>
                </a:solidFill>
                <a:latin typeface="华文楷体" panose="02010600040101010101" pitchFamily="2" charset="-122"/>
                <a:ea typeface="华文楷体" panose="02010600040101010101" pitchFamily="2" charset="-122"/>
              </a:rPr>
              <a:t>4.5</a:t>
            </a:r>
            <a:r>
              <a:rPr lang="zh-CN" altLang="en-US" sz="2000" b="1" dirty="0">
                <a:solidFill>
                  <a:srgbClr val="FF0000"/>
                </a:solidFill>
                <a:latin typeface="华文楷体" panose="02010600040101010101" pitchFamily="2" charset="-122"/>
                <a:ea typeface="华文楷体" panose="02010600040101010101" pitchFamily="2" charset="-122"/>
              </a:rPr>
              <a:t>万吨，</a:t>
            </a:r>
            <a:r>
              <a:rPr lang="en-US" altLang="zh-CN" sz="2000" b="1" dirty="0">
                <a:latin typeface="华文楷体" panose="02010600040101010101" pitchFamily="2" charset="-122"/>
                <a:ea typeface="华文楷体" panose="02010600040101010101" pitchFamily="2" charset="-122"/>
              </a:rPr>
              <a:t>99</a:t>
            </a:r>
            <a:r>
              <a:rPr lang="zh-CN" altLang="en-US" sz="2000" b="1" dirty="0">
                <a:latin typeface="华文楷体" panose="02010600040101010101" pitchFamily="2" charset="-122"/>
                <a:ea typeface="华文楷体" panose="02010600040101010101" pitchFamily="2" charset="-122"/>
              </a:rPr>
              <a:t>年新增</a:t>
            </a:r>
            <a:r>
              <a:rPr lang="en-US" altLang="zh-CN" sz="2000" b="1" dirty="0">
                <a:solidFill>
                  <a:srgbClr val="FF0000"/>
                </a:solidFill>
                <a:latin typeface="华文楷体" panose="02010600040101010101" pitchFamily="2" charset="-122"/>
                <a:ea typeface="华文楷体" panose="02010600040101010101" pitchFamily="2" charset="-122"/>
              </a:rPr>
              <a:t>1</a:t>
            </a:r>
            <a:r>
              <a:rPr lang="zh-CN" altLang="en-US" sz="2000" b="1" dirty="0">
                <a:solidFill>
                  <a:srgbClr val="FF0000"/>
                </a:solidFill>
                <a:latin typeface="华文楷体" panose="02010600040101010101" pitchFamily="2" charset="-122"/>
                <a:ea typeface="华文楷体" panose="02010600040101010101" pitchFamily="2" charset="-122"/>
              </a:rPr>
              <a:t>台</a:t>
            </a:r>
            <a:r>
              <a:rPr lang="en-US" altLang="zh-CN" sz="2000" b="1" dirty="0">
                <a:solidFill>
                  <a:srgbClr val="FF0000"/>
                </a:solidFill>
                <a:latin typeface="华文楷体" panose="02010600040101010101" pitchFamily="2" charset="-122"/>
                <a:ea typeface="华文楷体" panose="02010600040101010101" pitchFamily="2" charset="-122"/>
              </a:rPr>
              <a:t>4.5</a:t>
            </a:r>
            <a:r>
              <a:rPr lang="zh-CN" altLang="en-US" sz="2000" b="1" dirty="0">
                <a:solidFill>
                  <a:srgbClr val="FF0000"/>
                </a:solidFill>
                <a:latin typeface="华文楷体" panose="02010600040101010101" pitchFamily="2" charset="-122"/>
                <a:ea typeface="华文楷体" panose="02010600040101010101" pitchFamily="2" charset="-122"/>
              </a:rPr>
              <a:t>万吨</a:t>
            </a:r>
            <a:r>
              <a:rPr lang="zh-CN" altLang="en-US" sz="2000" b="1" dirty="0">
                <a:latin typeface="华文楷体" panose="02010600040101010101" pitchFamily="2" charset="-122"/>
                <a:ea typeface="华文楷体" panose="02010600040101010101" pitchFamily="2" charset="-122"/>
              </a:rPr>
              <a:t>水压机，俄罗斯有</a:t>
            </a:r>
            <a:r>
              <a:rPr lang="en-US" altLang="zh-CN" sz="2000" b="1" dirty="0">
                <a:solidFill>
                  <a:srgbClr val="008000"/>
                </a:solidFill>
                <a:latin typeface="华文楷体" panose="02010600040101010101" pitchFamily="2" charset="-122"/>
                <a:ea typeface="华文楷体" panose="02010600040101010101" pitchFamily="2" charset="-122"/>
              </a:rPr>
              <a:t>2</a:t>
            </a:r>
            <a:r>
              <a:rPr lang="zh-CN" altLang="en-US" sz="2000" b="1" dirty="0">
                <a:solidFill>
                  <a:srgbClr val="008000"/>
                </a:solidFill>
                <a:latin typeface="华文楷体" panose="02010600040101010101" pitchFamily="2" charset="-122"/>
                <a:ea typeface="华文楷体" panose="02010600040101010101" pitchFamily="2" charset="-122"/>
              </a:rPr>
              <a:t>台３万吨水压机，</a:t>
            </a:r>
            <a:r>
              <a:rPr lang="zh-CN" altLang="en-US" sz="2000" b="1" dirty="0">
                <a:solidFill>
                  <a:srgbClr val="FF0000"/>
                </a:solidFill>
                <a:latin typeface="华文楷体" panose="02010600040101010101" pitchFamily="2" charset="-122"/>
                <a:ea typeface="华文楷体" panose="02010600040101010101" pitchFamily="2" charset="-122"/>
              </a:rPr>
              <a:t>２台７</a:t>
            </a:r>
            <a:r>
              <a:rPr lang="en-US" altLang="zh-CN" sz="2000" b="1" dirty="0">
                <a:solidFill>
                  <a:srgbClr val="FF0000"/>
                </a:solidFill>
                <a:latin typeface="华文楷体" panose="02010600040101010101" pitchFamily="2" charset="-122"/>
                <a:ea typeface="华文楷体" panose="02010600040101010101" pitchFamily="2" charset="-122"/>
              </a:rPr>
              <a:t>.5</a:t>
            </a:r>
            <a:r>
              <a:rPr lang="zh-CN" altLang="en-US" sz="2000" b="1" dirty="0">
                <a:solidFill>
                  <a:srgbClr val="FF0000"/>
                </a:solidFill>
                <a:latin typeface="华文楷体" panose="02010600040101010101" pitchFamily="2" charset="-122"/>
                <a:ea typeface="华文楷体" panose="02010600040101010101" pitchFamily="2" charset="-122"/>
              </a:rPr>
              <a:t>万吨</a:t>
            </a:r>
            <a:r>
              <a:rPr lang="zh-CN" altLang="en-US" sz="2000" b="1" dirty="0">
                <a:latin typeface="华文楷体" panose="02010600040101010101" pitchFamily="2" charset="-122"/>
                <a:ea typeface="华文楷体" panose="02010600040101010101" pitchFamily="2" charset="-122"/>
              </a:rPr>
              <a:t>水压机和法国有</a:t>
            </a:r>
            <a:r>
              <a:rPr lang="en-US" altLang="zh-CN" sz="2000" b="1" dirty="0">
                <a:solidFill>
                  <a:srgbClr val="FF0000"/>
                </a:solidFill>
                <a:latin typeface="华文楷体" panose="02010600040101010101" pitchFamily="2" charset="-122"/>
                <a:ea typeface="华文楷体" panose="02010600040101010101" pitchFamily="2" charset="-122"/>
              </a:rPr>
              <a:t>1</a:t>
            </a:r>
            <a:r>
              <a:rPr lang="zh-CN" altLang="en-US" sz="2000" b="1" dirty="0">
                <a:solidFill>
                  <a:srgbClr val="FF0000"/>
                </a:solidFill>
                <a:latin typeface="华文楷体" panose="02010600040101010101" pitchFamily="2" charset="-122"/>
                <a:ea typeface="华文楷体" panose="02010600040101010101" pitchFamily="2" charset="-122"/>
              </a:rPr>
              <a:t>台</a:t>
            </a:r>
            <a:r>
              <a:rPr lang="en-US" altLang="zh-CN" sz="2000" b="1" dirty="0">
                <a:solidFill>
                  <a:srgbClr val="FF0000"/>
                </a:solidFill>
                <a:latin typeface="华文楷体" panose="02010600040101010101" pitchFamily="2" charset="-122"/>
                <a:ea typeface="华文楷体" panose="02010600040101010101" pitchFamily="2" charset="-122"/>
              </a:rPr>
              <a:t>6.5</a:t>
            </a:r>
            <a:r>
              <a:rPr lang="zh-CN" altLang="en-US" sz="2000" b="1" dirty="0">
                <a:solidFill>
                  <a:srgbClr val="FF0000"/>
                </a:solidFill>
                <a:latin typeface="华文楷体" panose="02010600040101010101" pitchFamily="2" charset="-122"/>
                <a:ea typeface="华文楷体" panose="02010600040101010101" pitchFamily="2" charset="-122"/>
              </a:rPr>
              <a:t>万吨</a:t>
            </a:r>
            <a:r>
              <a:rPr lang="zh-CN" altLang="en-US" sz="2000" b="1" dirty="0">
                <a:latin typeface="华文楷体" panose="02010600040101010101" pitchFamily="2" charset="-122"/>
                <a:ea typeface="华文楷体" panose="02010600040101010101" pitchFamily="2" charset="-122"/>
              </a:rPr>
              <a:t>水压机</a:t>
            </a:r>
            <a:r>
              <a:rPr lang="en-US" altLang="zh-CN" sz="2000" b="1" dirty="0">
                <a:latin typeface="华文楷体" panose="02010600040101010101" pitchFamily="2" charset="-122"/>
                <a:ea typeface="华文楷体" panose="02010600040101010101" pitchFamily="2" charset="-122"/>
              </a:rPr>
              <a:t>,</a:t>
            </a:r>
            <a:r>
              <a:rPr lang="zh-CN" altLang="en-US" sz="2000" b="1" dirty="0">
                <a:latin typeface="华文楷体" panose="02010600040101010101" pitchFamily="2" charset="-122"/>
                <a:ea typeface="华文楷体" panose="02010600040101010101" pitchFamily="2" charset="-122"/>
              </a:rPr>
              <a:t>这</a:t>
            </a:r>
            <a:r>
              <a:rPr lang="zh-CN" altLang="en-US" sz="2000" b="1" dirty="0">
                <a:solidFill>
                  <a:srgbClr val="FF0000"/>
                </a:solidFill>
                <a:latin typeface="华文楷体" panose="02010600040101010101" pitchFamily="2" charset="-122"/>
                <a:ea typeface="华文楷体" panose="02010600040101010101" pitchFamily="2" charset="-122"/>
              </a:rPr>
              <a:t>五台</a:t>
            </a:r>
            <a:r>
              <a:rPr lang="zh-CN" altLang="en-US" sz="2000" b="1" dirty="0">
                <a:latin typeface="华文楷体" panose="02010600040101010101" pitchFamily="2" charset="-122"/>
                <a:ea typeface="华文楷体" panose="02010600040101010101" pitchFamily="2" charset="-122"/>
              </a:rPr>
              <a:t>大型世界顶级模锻水压机使美、俄、法三国在航宇产品方面居于世界前列，我国现今拥有</a:t>
            </a:r>
            <a:r>
              <a:rPr lang="en-US" altLang="zh-CN" sz="2000" b="1" dirty="0">
                <a:solidFill>
                  <a:srgbClr val="FF0000"/>
                </a:solidFill>
                <a:latin typeface="华文楷体" panose="02010600040101010101" pitchFamily="2" charset="-122"/>
                <a:ea typeface="华文楷体" panose="02010600040101010101" pitchFamily="2" charset="-122"/>
              </a:rPr>
              <a:t>1</a:t>
            </a:r>
            <a:r>
              <a:rPr lang="zh-CN" altLang="en-US" sz="2000" b="1" dirty="0">
                <a:solidFill>
                  <a:srgbClr val="FF0000"/>
                </a:solidFill>
                <a:latin typeface="华文楷体" panose="02010600040101010101" pitchFamily="2" charset="-122"/>
                <a:ea typeface="华文楷体" panose="02010600040101010101" pitchFamily="2" charset="-122"/>
              </a:rPr>
              <a:t>台</a:t>
            </a:r>
            <a:r>
              <a:rPr lang="en-US" altLang="zh-CN" sz="2000" b="1" dirty="0">
                <a:solidFill>
                  <a:srgbClr val="FF0000"/>
                </a:solidFill>
                <a:latin typeface="华文楷体" panose="02010600040101010101" pitchFamily="2" charset="-122"/>
                <a:ea typeface="华文楷体" panose="02010600040101010101" pitchFamily="2" charset="-122"/>
              </a:rPr>
              <a:t>3</a:t>
            </a:r>
            <a:r>
              <a:rPr lang="zh-CN" altLang="en-US" sz="2000" b="1" dirty="0">
                <a:solidFill>
                  <a:srgbClr val="FF0000"/>
                </a:solidFill>
                <a:latin typeface="华文楷体" panose="02010600040101010101" pitchFamily="2" charset="-122"/>
                <a:ea typeface="华文楷体" panose="02010600040101010101" pitchFamily="2" charset="-122"/>
              </a:rPr>
              <a:t>万吨</a:t>
            </a:r>
            <a:r>
              <a:rPr lang="zh-CN" altLang="en-US" sz="2000" b="1" dirty="0">
                <a:latin typeface="华文楷体" panose="02010600040101010101" pitchFamily="2" charset="-122"/>
                <a:ea typeface="华文楷体" panose="02010600040101010101" pitchFamily="2" charset="-122"/>
              </a:rPr>
              <a:t>的大型锻压设备。</a:t>
            </a:r>
            <a:endParaRPr lang="zh-CN" altLang="en-US" sz="2000" b="1" dirty="0">
              <a:solidFill>
                <a:srgbClr val="0000FF"/>
              </a:solidFill>
              <a:latin typeface="华文楷体" panose="02010600040101010101" pitchFamily="2" charset="-122"/>
              <a:ea typeface="华文楷体" panose="02010600040101010101" pitchFamily="2" charset="-122"/>
            </a:endParaRPr>
          </a:p>
        </p:txBody>
      </p:sp>
      <p:pic>
        <p:nvPicPr>
          <p:cNvPr id="67588" name="Picture 5" descr="https://timgsa.baidu.com/timg?image&amp;quality=80&amp;size=b9999_10000&amp;sec=1541150628478&amp;di=bb27521cf8c89ee7d41d7a5d8569ff75&amp;imgtype=0&amp;src=http%3A%2F%2Fwww.xmyuanhuang.com%2Fphoto%2Fpics%2F20141009%2F1412871235.jpg"/>
          <p:cNvPicPr>
            <a:picLocks noChangeAspect="1"/>
          </p:cNvPicPr>
          <p:nvPr/>
        </p:nvPicPr>
        <p:blipFill>
          <a:blip r:embed="rId1"/>
          <a:stretch>
            <a:fillRect/>
          </a:stretch>
        </p:blipFill>
        <p:spPr>
          <a:xfrm>
            <a:off x="357188" y="4095750"/>
            <a:ext cx="4181475" cy="2762250"/>
          </a:xfrm>
          <a:prstGeom prst="rect">
            <a:avLst/>
          </a:prstGeom>
          <a:noFill/>
          <a:ln w="9525">
            <a:noFill/>
          </a:ln>
        </p:spPr>
      </p:pic>
      <p:pic>
        <p:nvPicPr>
          <p:cNvPr id="67589" name="Picture 7" descr="https://timgsa.baidu.com/timg?image&amp;quality=80&amp;size=b9999_10000&amp;sec=1541150628476&amp;di=50891af4d34406525d8558bcf468a17f&amp;imgtype=0&amp;src=http%3A%2F%2Fpic.ckcest.cn%2Fcrawlerdata%2FKeJiQianYan%2F13a01a8e-a0c4-11e7-a705-00163e053191.png"/>
          <p:cNvPicPr>
            <a:picLocks noChangeAspect="1"/>
          </p:cNvPicPr>
          <p:nvPr/>
        </p:nvPicPr>
        <p:blipFill>
          <a:blip r:embed="rId2"/>
          <a:stretch>
            <a:fillRect/>
          </a:stretch>
        </p:blipFill>
        <p:spPr>
          <a:xfrm>
            <a:off x="4929188" y="4086225"/>
            <a:ext cx="3786187" cy="2771775"/>
          </a:xfrm>
          <a:prstGeom prst="rect">
            <a:avLst/>
          </a:prstGeom>
          <a:noFill/>
          <a:ln w="9525">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2"/>
          <p:cNvSpPr>
            <a:spLocks noGrp="1"/>
          </p:cNvSpPr>
          <p:nvPr>
            <p:ph type="title"/>
          </p:nvPr>
        </p:nvSpPr>
        <p:spPr>
          <a:xfrm>
            <a:off x="3708400" y="128588"/>
            <a:ext cx="3208338" cy="889000"/>
          </a:xfrm>
        </p:spPr>
        <p:txBody>
          <a:bodyPr vert="horz" wrap="square" lIns="91440" tIns="45720" rIns="91440" bIns="45720" anchor="ctr" anchorCtr="0"/>
          <a:p>
            <a:pPr algn="ctr" eaLnBrk="1" hangingPunct="1"/>
            <a:r>
              <a:rPr lang="zh-CN" altLang="en-US" sz="4000" dirty="0">
                <a:ea typeface="楷体_GB2312" pitchFamily="49" charset="-122"/>
              </a:rPr>
              <a:t>模锻</a:t>
            </a:r>
            <a:endParaRPr lang="zh-CN" altLang="en-US" sz="4000" dirty="0">
              <a:ea typeface="楷体_GB2312" pitchFamily="49" charset="-122"/>
            </a:endParaRPr>
          </a:p>
        </p:txBody>
      </p:sp>
      <p:sp>
        <p:nvSpPr>
          <p:cNvPr id="691203" name="Rectangle 3"/>
          <p:cNvSpPr>
            <a:spLocks noGrp="1"/>
          </p:cNvSpPr>
          <p:nvPr>
            <p:ph idx="1"/>
          </p:nvPr>
        </p:nvSpPr>
        <p:spPr>
          <a:xfrm>
            <a:off x="179388" y="1214438"/>
            <a:ext cx="8569325" cy="5121275"/>
          </a:xfrm>
        </p:spPr>
        <p:txBody>
          <a:bodyPr vert="horz" wrap="square" lIns="91440" tIns="45720" rIns="91440" bIns="45720" anchor="t" anchorCtr="0"/>
          <a:p>
            <a:pPr eaLnBrk="1" hangingPunct="1">
              <a:lnSpc>
                <a:spcPct val="80000"/>
              </a:lnSpc>
            </a:pPr>
            <a:r>
              <a:rPr lang="zh-CN" altLang="en-US" sz="2400" b="1" dirty="0">
                <a:solidFill>
                  <a:srgbClr val="FF0066"/>
                </a:solidFill>
                <a:latin typeface="华文楷体" panose="02010600040101010101" pitchFamily="2" charset="-122"/>
                <a:ea typeface="华文楷体" panose="02010600040101010101" pitchFamily="2" charset="-122"/>
              </a:rPr>
              <a:t>优点：</a:t>
            </a:r>
            <a:endParaRPr lang="zh-CN" altLang="en-US" sz="2400" b="1" dirty="0">
              <a:solidFill>
                <a:srgbClr val="FF0066"/>
              </a:solidFill>
              <a:latin typeface="华文楷体" panose="02010600040101010101" pitchFamily="2" charset="-122"/>
              <a:ea typeface="华文楷体" panose="02010600040101010101" pitchFamily="2" charset="-122"/>
            </a:endParaRPr>
          </a:p>
          <a:p>
            <a:pPr lvl="1" eaLnBrk="1" hangingPunct="1">
              <a:lnSpc>
                <a:spcPct val="80000"/>
              </a:lnSpc>
            </a:pPr>
            <a:r>
              <a:rPr lang="zh-CN" altLang="en-US" sz="2395" b="1" dirty="0">
                <a:latin typeface="华文楷体" panose="02010600040101010101" pitchFamily="2" charset="-122"/>
                <a:ea typeface="华文楷体" panose="02010600040101010101" pitchFamily="2" charset="-122"/>
              </a:rPr>
              <a:t>锻件的尺寸和精度比较高（模膛成形不依赖人），机械加工余量较小（自由锻很多细节锻不出），节省加工工时，材料利用率高；</a:t>
            </a:r>
            <a:endParaRPr lang="zh-CN" altLang="en-US" sz="2395" b="1" dirty="0">
              <a:latin typeface="华文楷体" panose="02010600040101010101" pitchFamily="2" charset="-122"/>
              <a:ea typeface="华文楷体" panose="02010600040101010101" pitchFamily="2" charset="-122"/>
            </a:endParaRPr>
          </a:p>
          <a:p>
            <a:pPr lvl="1" eaLnBrk="1" hangingPunct="1">
              <a:lnSpc>
                <a:spcPct val="80000"/>
              </a:lnSpc>
            </a:pPr>
            <a:r>
              <a:rPr lang="zh-CN" altLang="en-US" sz="2395" b="1" dirty="0">
                <a:latin typeface="华文楷体" panose="02010600040101010101" pitchFamily="2" charset="-122"/>
                <a:ea typeface="华文楷体" panose="02010600040101010101" pitchFamily="2" charset="-122"/>
              </a:rPr>
              <a:t>可锻造形状复杂的锻件；锻件内部流线分布合理（切削少）；操作简便，劳动强度低，生产率高（锻打次数少）。</a:t>
            </a:r>
            <a:endParaRPr lang="zh-CN" altLang="en-US" sz="2395" b="1" dirty="0">
              <a:latin typeface="华文楷体" panose="02010600040101010101" pitchFamily="2" charset="-122"/>
              <a:ea typeface="华文楷体" panose="02010600040101010101" pitchFamily="2" charset="-122"/>
            </a:endParaRPr>
          </a:p>
          <a:p>
            <a:pPr lvl="1" eaLnBrk="1" hangingPunct="1">
              <a:lnSpc>
                <a:spcPct val="80000"/>
              </a:lnSpc>
            </a:pPr>
            <a:r>
              <a:rPr lang="zh-CN" altLang="en-US" sz="2395" b="1" dirty="0">
                <a:solidFill>
                  <a:srgbClr val="FF0000"/>
                </a:solidFill>
                <a:latin typeface="华文楷体" panose="02010600040101010101" pitchFamily="2" charset="-122"/>
                <a:ea typeface="华文楷体" panose="02010600040101010101" pitchFamily="2" charset="-122"/>
              </a:rPr>
              <a:t>重型模锻的应用 ：</a:t>
            </a:r>
            <a:r>
              <a:rPr lang="zh-CN" altLang="en-US" sz="2395" b="1" dirty="0">
                <a:solidFill>
                  <a:srgbClr val="0000FF"/>
                </a:solidFill>
                <a:latin typeface="华文楷体" panose="02010600040101010101" pitchFamily="2" charset="-122"/>
                <a:ea typeface="华文楷体" panose="02010600040101010101" pitchFamily="2" charset="-122"/>
              </a:rPr>
              <a:t>航空发动机高温合金零件</a:t>
            </a:r>
            <a:r>
              <a:rPr lang="zh-CN" altLang="en-US" sz="2395" b="1" dirty="0">
                <a:solidFill>
                  <a:srgbClr val="990000"/>
                </a:solidFill>
                <a:latin typeface="华文楷体" panose="02010600040101010101" pitchFamily="2" charset="-122"/>
                <a:ea typeface="华文楷体" panose="02010600040101010101" pitchFamily="2" charset="-122"/>
              </a:rPr>
              <a:t>、</a:t>
            </a:r>
            <a:r>
              <a:rPr lang="zh-CN" altLang="en-US" sz="2395" b="1" dirty="0">
                <a:solidFill>
                  <a:srgbClr val="008000"/>
                </a:solidFill>
                <a:latin typeface="华文楷体" panose="02010600040101010101" pitchFamily="2" charset="-122"/>
                <a:ea typeface="华文楷体" panose="02010600040101010101" pitchFamily="2" charset="-122"/>
              </a:rPr>
              <a:t>飞机大型整体锻件</a:t>
            </a:r>
            <a:r>
              <a:rPr lang="zh-CN" altLang="en-US" sz="2395" b="1" dirty="0">
                <a:solidFill>
                  <a:srgbClr val="990000"/>
                </a:solidFill>
                <a:latin typeface="华文楷体" panose="02010600040101010101" pitchFamily="2" charset="-122"/>
                <a:ea typeface="华文楷体" panose="02010600040101010101" pitchFamily="2" charset="-122"/>
              </a:rPr>
              <a:t>以及航天、舰船、兵器、石油化工、核能、重型燃机生产大型锻件 。</a:t>
            </a:r>
            <a:endParaRPr lang="zh-CN" altLang="en-US" sz="2395" b="1" dirty="0">
              <a:latin typeface="华文楷体" panose="02010600040101010101" pitchFamily="2" charset="-122"/>
              <a:ea typeface="华文楷体" panose="02010600040101010101" pitchFamily="2" charset="-122"/>
            </a:endParaRPr>
          </a:p>
        </p:txBody>
      </p:sp>
      <p:pic>
        <p:nvPicPr>
          <p:cNvPr id="68612" name="Picture 4" descr="Image1"/>
          <p:cNvPicPr>
            <a:picLocks noChangeAspect="1"/>
          </p:cNvPicPr>
          <p:nvPr/>
        </p:nvPicPr>
        <p:blipFill>
          <a:blip r:embed="rId1"/>
          <a:srcRect l="1869" t="16002" r="1097" b="6516"/>
          <a:stretch>
            <a:fillRect/>
          </a:stretch>
        </p:blipFill>
        <p:spPr>
          <a:xfrm>
            <a:off x="214313" y="4100513"/>
            <a:ext cx="2786062" cy="2757487"/>
          </a:xfrm>
          <a:prstGeom prst="rect">
            <a:avLst/>
          </a:prstGeom>
          <a:noFill/>
          <a:ln w="9525">
            <a:noFill/>
          </a:ln>
        </p:spPr>
      </p:pic>
      <p:grpSp>
        <p:nvGrpSpPr>
          <p:cNvPr id="68613" name="Group 10"/>
          <p:cNvGrpSpPr/>
          <p:nvPr/>
        </p:nvGrpSpPr>
        <p:grpSpPr>
          <a:xfrm>
            <a:off x="3071813" y="4214813"/>
            <a:ext cx="3000375" cy="2143125"/>
            <a:chOff x="3198" y="799"/>
            <a:chExt cx="2358" cy="1563"/>
          </a:xfrm>
        </p:grpSpPr>
        <p:pic>
          <p:nvPicPr>
            <p:cNvPr id="68617" name="Picture 11" descr="solos0801007"/>
            <p:cNvPicPr>
              <a:picLocks noChangeAspect="1"/>
            </p:cNvPicPr>
            <p:nvPr/>
          </p:nvPicPr>
          <p:blipFill>
            <a:blip r:embed="rId2"/>
            <a:srcRect l="7010" t="13074" r="13823" b="15941"/>
            <a:stretch>
              <a:fillRect/>
            </a:stretch>
          </p:blipFill>
          <p:spPr>
            <a:xfrm>
              <a:off x="3198" y="799"/>
              <a:ext cx="2329" cy="1077"/>
            </a:xfrm>
            <a:prstGeom prst="rect">
              <a:avLst/>
            </a:prstGeom>
            <a:noFill/>
            <a:ln w="9525">
              <a:noFill/>
            </a:ln>
          </p:spPr>
        </p:pic>
        <p:sp>
          <p:nvSpPr>
            <p:cNvPr id="68618" name="Rectangle 12"/>
            <p:cNvSpPr/>
            <p:nvPr/>
          </p:nvSpPr>
          <p:spPr>
            <a:xfrm>
              <a:off x="3300" y="1958"/>
              <a:ext cx="2256" cy="404"/>
            </a:xfrm>
            <a:prstGeom prst="rect">
              <a:avLst/>
            </a:prstGeom>
            <a:noFill/>
            <a:ln w="9525">
              <a:noFill/>
            </a:ln>
          </p:spPr>
          <p:txBody>
            <a:bodyPr>
              <a:spAutoFit/>
            </a:bodyPr>
            <a:p>
              <a:pPr eaLnBrk="1" hangingPunct="1"/>
              <a:r>
                <a:rPr lang="en-US" altLang="zh-CN" b="1" dirty="0">
                  <a:solidFill>
                    <a:srgbClr val="FF0000"/>
                  </a:solidFill>
                  <a:latin typeface="楷体_GB2312" pitchFamily="49" charset="-122"/>
                  <a:ea typeface="楷体_GB2312" pitchFamily="49" charset="-122"/>
                </a:rPr>
                <a:t>4.5</a:t>
              </a:r>
              <a:r>
                <a:rPr lang="zh-CN" altLang="en-US" b="1" dirty="0">
                  <a:solidFill>
                    <a:srgbClr val="FF0000"/>
                  </a:solidFill>
                  <a:latin typeface="楷体_GB2312" pitchFamily="49" charset="-122"/>
                  <a:ea typeface="楷体_GB2312" pitchFamily="49" charset="-122"/>
                </a:rPr>
                <a:t>万吨</a:t>
              </a:r>
              <a:r>
                <a:rPr lang="zh-CN" altLang="en-US" b="1" dirty="0">
                  <a:solidFill>
                    <a:srgbClr val="0000FF"/>
                  </a:solidFill>
                  <a:latin typeface="楷体_GB2312" pitchFamily="49" charset="-122"/>
                  <a:ea typeface="楷体_GB2312" pitchFamily="49" charset="-122"/>
                </a:rPr>
                <a:t>压力机制造超大构件</a:t>
              </a:r>
              <a:endParaRPr lang="zh-CN" altLang="en-US" b="1" dirty="0">
                <a:solidFill>
                  <a:srgbClr val="0000FF"/>
                </a:solidFill>
                <a:latin typeface="楷体_GB2312" pitchFamily="49" charset="-122"/>
                <a:ea typeface="楷体_GB2312" pitchFamily="49" charset="-122"/>
              </a:endParaRPr>
            </a:p>
            <a:p>
              <a:pPr eaLnBrk="1" hangingPunct="1"/>
              <a:r>
                <a:rPr lang="en-US" altLang="zh-CN" b="1" dirty="0">
                  <a:solidFill>
                    <a:srgbClr val="0000FF"/>
                  </a:solidFill>
                  <a:latin typeface="Arial" panose="020B0604020202020204" pitchFamily="34" charset="0"/>
                  <a:ea typeface="楷体_GB2312" pitchFamily="49" charset="-122"/>
                </a:rPr>
                <a:t>——</a:t>
              </a:r>
              <a:r>
                <a:rPr lang="zh-CN" altLang="en-US" b="1" dirty="0">
                  <a:solidFill>
                    <a:srgbClr val="FF0000"/>
                  </a:solidFill>
                  <a:latin typeface="楷体_GB2312" pitchFamily="49" charset="-122"/>
                  <a:ea typeface="楷体_GB2312" pitchFamily="49" charset="-122"/>
                </a:rPr>
                <a:t>波音</a:t>
              </a:r>
              <a:r>
                <a:rPr lang="en-US" altLang="zh-CN" b="1" dirty="0">
                  <a:solidFill>
                    <a:srgbClr val="FF0000"/>
                  </a:solidFill>
                  <a:latin typeface="楷体_GB2312" pitchFamily="49" charset="-122"/>
                  <a:ea typeface="楷体_GB2312" pitchFamily="49" charset="-122"/>
                </a:rPr>
                <a:t>747 </a:t>
              </a:r>
              <a:r>
                <a:rPr lang="en-US" altLang="zh-CN" b="1" dirty="0">
                  <a:solidFill>
                    <a:srgbClr val="33CC33"/>
                  </a:solidFill>
                  <a:latin typeface="Arial" panose="020B0604020202020204" pitchFamily="34" charset="0"/>
                </a:rPr>
                <a:t>——</a:t>
              </a:r>
              <a:r>
                <a:rPr lang="zh-CN" altLang="en-US" b="1" dirty="0">
                  <a:latin typeface="楷体_GB2312" pitchFamily="49" charset="-122"/>
                  <a:ea typeface="楷体_GB2312" pitchFamily="49" charset="-122"/>
                </a:rPr>
                <a:t>能载客</a:t>
              </a:r>
              <a:r>
                <a:rPr lang="en-US" altLang="zh-CN" b="1" dirty="0">
                  <a:latin typeface="楷体_GB2312" pitchFamily="49" charset="-122"/>
                  <a:ea typeface="楷体_GB2312" pitchFamily="49" charset="-122"/>
                </a:rPr>
                <a:t>524</a:t>
              </a:r>
              <a:r>
                <a:rPr lang="zh-CN" altLang="en-US" b="1" dirty="0">
                  <a:latin typeface="楷体_GB2312" pitchFamily="49" charset="-122"/>
                  <a:ea typeface="楷体_GB2312" pitchFamily="49" charset="-122"/>
                </a:rPr>
                <a:t>名</a:t>
              </a:r>
              <a:r>
                <a:rPr lang="zh-CN" altLang="en-US" dirty="0">
                  <a:latin typeface="Arial" panose="020B0604020202020204" pitchFamily="34" charset="0"/>
                </a:rPr>
                <a:t> </a:t>
              </a:r>
              <a:endParaRPr lang="zh-CN" altLang="en-US" dirty="0">
                <a:latin typeface="Arial" panose="020B0604020202020204" pitchFamily="34" charset="0"/>
              </a:endParaRPr>
            </a:p>
          </p:txBody>
        </p:sp>
      </p:grpSp>
      <p:grpSp>
        <p:nvGrpSpPr>
          <p:cNvPr id="3" name="Group 14"/>
          <p:cNvGrpSpPr/>
          <p:nvPr/>
        </p:nvGrpSpPr>
        <p:grpSpPr>
          <a:xfrm>
            <a:off x="6143625" y="4286250"/>
            <a:ext cx="2794000" cy="2000250"/>
            <a:chOff x="3107" y="2453"/>
            <a:chExt cx="2449" cy="1962"/>
          </a:xfrm>
        </p:grpSpPr>
        <p:sp>
          <p:nvSpPr>
            <p:cNvPr id="68615" name="Rectangle 15"/>
            <p:cNvSpPr/>
            <p:nvPr/>
          </p:nvSpPr>
          <p:spPr>
            <a:xfrm>
              <a:off x="3276" y="3838"/>
              <a:ext cx="2235" cy="577"/>
            </a:xfrm>
            <a:prstGeom prst="rect">
              <a:avLst/>
            </a:prstGeom>
            <a:noFill/>
            <a:ln w="9525">
              <a:noFill/>
            </a:ln>
          </p:spPr>
          <p:txBody>
            <a:bodyPr>
              <a:spAutoFit/>
            </a:bodyPr>
            <a:p>
              <a:pPr eaLnBrk="1" hangingPunct="1"/>
              <a:r>
                <a:rPr lang="en-US" altLang="zh-CN" b="1" dirty="0">
                  <a:solidFill>
                    <a:srgbClr val="FF0000"/>
                  </a:solidFill>
                  <a:latin typeface="楷体_GB2312" pitchFamily="49" charset="-122"/>
                  <a:ea typeface="楷体_GB2312" pitchFamily="49" charset="-122"/>
                </a:rPr>
                <a:t>7.5</a:t>
              </a:r>
              <a:r>
                <a:rPr lang="zh-CN" altLang="en-US" b="1" dirty="0">
                  <a:solidFill>
                    <a:srgbClr val="FF0000"/>
                  </a:solidFill>
                  <a:latin typeface="楷体_GB2312" pitchFamily="49" charset="-122"/>
                  <a:ea typeface="楷体_GB2312" pitchFamily="49" charset="-122"/>
                </a:rPr>
                <a:t>万吨</a:t>
              </a:r>
              <a:r>
                <a:rPr lang="en-US" altLang="zh-CN" b="1" dirty="0">
                  <a:solidFill>
                    <a:srgbClr val="0000FF"/>
                  </a:solidFill>
                  <a:latin typeface="Arial" panose="020B0604020202020204" pitchFamily="34" charset="0"/>
                  <a:ea typeface="楷体_GB2312" pitchFamily="49" charset="-122"/>
                </a:rPr>
                <a:t>——</a:t>
              </a:r>
              <a:r>
                <a:rPr lang="zh-CN" altLang="en-US" b="1" dirty="0">
                  <a:solidFill>
                    <a:srgbClr val="0000FF"/>
                  </a:solidFill>
                  <a:latin typeface="楷体_GB2312" pitchFamily="49" charset="-122"/>
                  <a:ea typeface="楷体_GB2312" pitchFamily="49" charset="-122"/>
                </a:rPr>
                <a:t>空中客车</a:t>
              </a:r>
              <a:r>
                <a:rPr lang="en-US" altLang="zh-CN" b="1" dirty="0">
                  <a:solidFill>
                    <a:srgbClr val="FF0000"/>
                  </a:solidFill>
                  <a:latin typeface="楷体_GB2312" pitchFamily="49" charset="-122"/>
                  <a:ea typeface="楷体_GB2312" pitchFamily="49" charset="-122"/>
                </a:rPr>
                <a:t>A380</a:t>
              </a:r>
              <a:endParaRPr lang="en-US" altLang="zh-CN" b="1" dirty="0">
                <a:solidFill>
                  <a:srgbClr val="FF0000"/>
                </a:solidFill>
                <a:latin typeface="楷体_GB2312" pitchFamily="49" charset="-122"/>
                <a:ea typeface="楷体_GB2312" pitchFamily="49" charset="-122"/>
              </a:endParaRPr>
            </a:p>
            <a:p>
              <a:pPr eaLnBrk="1" hangingPunct="1"/>
              <a:r>
                <a:rPr lang="en-US" altLang="zh-CN" b="1" dirty="0">
                  <a:solidFill>
                    <a:srgbClr val="33CC33"/>
                  </a:solidFill>
                  <a:latin typeface="Arial" panose="020B0604020202020204" pitchFamily="34" charset="0"/>
                </a:rPr>
                <a:t>——</a:t>
              </a:r>
              <a:r>
                <a:rPr lang="zh-CN" altLang="en-US" b="1" dirty="0">
                  <a:latin typeface="楷体_GB2312" pitchFamily="49" charset="-122"/>
                  <a:ea typeface="楷体_GB2312" pitchFamily="49" charset="-122"/>
                </a:rPr>
                <a:t>能搭载</a:t>
              </a:r>
              <a:r>
                <a:rPr lang="en-US" altLang="zh-CN" b="1" dirty="0">
                  <a:latin typeface="楷体_GB2312" pitchFamily="49" charset="-122"/>
                  <a:ea typeface="楷体_GB2312" pitchFamily="49" charset="-122"/>
                </a:rPr>
                <a:t>840</a:t>
              </a:r>
              <a:r>
                <a:rPr lang="zh-CN" altLang="en-US" b="1" dirty="0">
                  <a:latin typeface="楷体_GB2312" pitchFamily="49" charset="-122"/>
                  <a:ea typeface="楷体_GB2312" pitchFamily="49" charset="-122"/>
                </a:rPr>
                <a:t>名乘客</a:t>
              </a:r>
              <a:r>
                <a:rPr lang="zh-CN" altLang="en-US" dirty="0">
                  <a:latin typeface="Arial" panose="020B0604020202020204" pitchFamily="34" charset="0"/>
                </a:rPr>
                <a:t> </a:t>
              </a:r>
              <a:endParaRPr lang="zh-CN" altLang="en-US" b="1" dirty="0">
                <a:solidFill>
                  <a:srgbClr val="FF0000"/>
                </a:solidFill>
                <a:latin typeface="楷体_GB2312" pitchFamily="49" charset="-122"/>
                <a:ea typeface="楷体_GB2312" pitchFamily="49" charset="-122"/>
              </a:endParaRPr>
            </a:p>
            <a:p>
              <a:pPr eaLnBrk="1" hangingPunct="1"/>
              <a:endParaRPr lang="en-US" altLang="zh-CN" b="1" dirty="0">
                <a:solidFill>
                  <a:srgbClr val="0000FF"/>
                </a:solidFill>
                <a:latin typeface="Arial" panose="020B0604020202020204" pitchFamily="34" charset="0"/>
              </a:endParaRPr>
            </a:p>
          </p:txBody>
        </p:sp>
        <p:pic>
          <p:nvPicPr>
            <p:cNvPr id="68616" name="Picture 16"/>
            <p:cNvPicPr>
              <a:picLocks noChangeAspect="1"/>
            </p:cNvPicPr>
            <p:nvPr/>
          </p:nvPicPr>
          <p:blipFill>
            <a:blip r:embed="rId3"/>
            <a:stretch>
              <a:fillRect/>
            </a:stretch>
          </p:blipFill>
          <p:spPr>
            <a:xfrm>
              <a:off x="3107" y="2453"/>
              <a:ext cx="2449" cy="1385"/>
            </a:xfrm>
            <a:prstGeom prst="rect">
              <a:avLst/>
            </a:prstGeom>
            <a:noFill/>
            <a:ln w="9525">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91203">
                                            <p:txEl>
                                              <p:charRg st="0" end="4"/>
                                            </p:txEl>
                                          </p:spTgt>
                                        </p:tgtEl>
                                        <p:attrNameLst>
                                          <p:attrName>style.visibility</p:attrName>
                                        </p:attrNameLst>
                                      </p:cBhvr>
                                      <p:to>
                                        <p:strVal val="visible"/>
                                      </p:to>
                                    </p:set>
                                    <p:animEffect transition="in" filter="randombar(horizontal)">
                                      <p:cBhvr>
                                        <p:cTn id="7" dur="500"/>
                                        <p:tgtEl>
                                          <p:spTgt spid="691203">
                                            <p:txEl>
                                              <p:charRg st="0" end="4"/>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691203">
                                            <p:txEl>
                                              <p:charRg st="4" end="62"/>
                                            </p:txEl>
                                          </p:spTgt>
                                        </p:tgtEl>
                                        <p:attrNameLst>
                                          <p:attrName>style.visibility</p:attrName>
                                        </p:attrNameLst>
                                      </p:cBhvr>
                                      <p:to>
                                        <p:strVal val="visible"/>
                                      </p:to>
                                    </p:set>
                                    <p:animEffect transition="in" filter="randombar(horizontal)">
                                      <p:cBhvr>
                                        <p:cTn id="10" dur="500"/>
                                        <p:tgtEl>
                                          <p:spTgt spid="691203">
                                            <p:txEl>
                                              <p:charRg st="4" end="6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691203">
                                            <p:txEl>
                                              <p:charRg st="62" end="114"/>
                                            </p:txEl>
                                          </p:spTgt>
                                        </p:tgtEl>
                                        <p:attrNameLst>
                                          <p:attrName>style.visibility</p:attrName>
                                        </p:attrNameLst>
                                      </p:cBhvr>
                                      <p:to>
                                        <p:strVal val="visible"/>
                                      </p:to>
                                    </p:set>
                                    <p:animEffect transition="in" filter="randombar(horizontal)">
                                      <p:cBhvr>
                                        <p:cTn id="13" dur="500"/>
                                        <p:tgtEl>
                                          <p:spTgt spid="691203">
                                            <p:txEl>
                                              <p:charRg st="62" end="114"/>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691203">
                                            <p:txEl>
                                              <p:charRg st="114" end="175"/>
                                            </p:txEl>
                                          </p:spTgt>
                                        </p:tgtEl>
                                        <p:attrNameLst>
                                          <p:attrName>style.visibility</p:attrName>
                                        </p:attrNameLst>
                                      </p:cBhvr>
                                      <p:to>
                                        <p:strVal val="visible"/>
                                      </p:to>
                                    </p:set>
                                    <p:animEffect transition="in" filter="randombar(horizontal)">
                                      <p:cBhvr>
                                        <p:cTn id="16" dur="500"/>
                                        <p:tgtEl>
                                          <p:spTgt spid="691203">
                                            <p:txEl>
                                              <p:charRg st="114" end="17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3" presetClass="entr" presetSubtype="16"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plus(in)">
                                      <p:cBhvr>
                                        <p:cTn id="21"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2"/>
          <p:cNvSpPr>
            <a:spLocks noGrp="1"/>
          </p:cNvSpPr>
          <p:nvPr>
            <p:ph type="title"/>
          </p:nvPr>
        </p:nvSpPr>
        <p:spPr>
          <a:xfrm>
            <a:off x="3708400" y="128588"/>
            <a:ext cx="3208338" cy="889000"/>
          </a:xfrm>
        </p:spPr>
        <p:txBody>
          <a:bodyPr vert="horz" wrap="square" lIns="91440" tIns="45720" rIns="91440" bIns="45720" anchor="ctr" anchorCtr="0"/>
          <a:p>
            <a:pPr algn="ctr" eaLnBrk="1" hangingPunct="1"/>
            <a:r>
              <a:rPr lang="zh-CN" altLang="en-US" sz="4000" dirty="0">
                <a:ea typeface="楷体_GB2312" pitchFamily="49" charset="-122"/>
              </a:rPr>
              <a:t>模锻</a:t>
            </a:r>
            <a:endParaRPr lang="zh-CN" altLang="en-US" sz="4000" dirty="0">
              <a:ea typeface="楷体_GB2312" pitchFamily="49" charset="-122"/>
            </a:endParaRPr>
          </a:p>
        </p:txBody>
      </p:sp>
      <p:sp>
        <p:nvSpPr>
          <p:cNvPr id="691203" name="Rectangle 3"/>
          <p:cNvSpPr>
            <a:spLocks noGrp="1"/>
          </p:cNvSpPr>
          <p:nvPr>
            <p:ph idx="1"/>
          </p:nvPr>
        </p:nvSpPr>
        <p:spPr>
          <a:xfrm>
            <a:off x="179388" y="1268413"/>
            <a:ext cx="8569325" cy="5121275"/>
          </a:xfrm>
        </p:spPr>
        <p:txBody>
          <a:bodyPr vert="horz" wrap="square" lIns="91440" tIns="45720" rIns="91440" bIns="45720" anchor="t" anchorCtr="0"/>
          <a:p>
            <a:pPr eaLnBrk="1" hangingPunct="1">
              <a:lnSpc>
                <a:spcPct val="80000"/>
              </a:lnSpc>
            </a:pPr>
            <a:r>
              <a:rPr lang="zh-CN" altLang="en-US" sz="2400" b="1" dirty="0">
                <a:solidFill>
                  <a:srgbClr val="FF0066"/>
                </a:solidFill>
                <a:latin typeface="华文楷体" panose="02010600040101010101" pitchFamily="2" charset="-122"/>
                <a:ea typeface="华文楷体" panose="02010600040101010101" pitchFamily="2" charset="-122"/>
              </a:rPr>
              <a:t>方法：</a:t>
            </a:r>
            <a:r>
              <a:rPr lang="zh-CN" altLang="en-US" sz="2400" b="1" dirty="0">
                <a:latin typeface="华文楷体" panose="02010600040101010101" pitchFamily="2" charset="-122"/>
                <a:ea typeface="华文楷体" panose="02010600040101010101" pitchFamily="2" charset="-122"/>
              </a:rPr>
              <a:t>按使用设备的不同，可分为锤上模锻、胎膜锻、压力机上模锻。</a:t>
            </a:r>
            <a:endParaRPr lang="zh-CN" altLang="en-US" sz="2400" b="1" dirty="0">
              <a:latin typeface="华文楷体" panose="02010600040101010101" pitchFamily="2" charset="-122"/>
              <a:ea typeface="华文楷体" panose="02010600040101010101" pitchFamily="2" charset="-122"/>
            </a:endParaRPr>
          </a:p>
          <a:p>
            <a:pPr eaLnBrk="1" hangingPunct="1">
              <a:lnSpc>
                <a:spcPct val="80000"/>
              </a:lnSpc>
            </a:pPr>
            <a:endParaRPr lang="en-US" altLang="zh-CN" sz="2400" b="1" dirty="0">
              <a:latin typeface="华文楷体" panose="02010600040101010101" pitchFamily="2" charset="-122"/>
              <a:ea typeface="华文楷体" panose="02010600040101010101" pitchFamily="2" charset="-122"/>
            </a:endParaRPr>
          </a:p>
        </p:txBody>
      </p:sp>
      <p:pic>
        <p:nvPicPr>
          <p:cNvPr id="70660" name="Picture 1"/>
          <p:cNvPicPr>
            <a:picLocks noChangeAspect="1"/>
          </p:cNvPicPr>
          <p:nvPr/>
        </p:nvPicPr>
        <p:blipFill>
          <a:blip r:embed="rId1"/>
          <a:stretch>
            <a:fillRect/>
          </a:stretch>
        </p:blipFill>
        <p:spPr>
          <a:xfrm>
            <a:off x="251778" y="2708910"/>
            <a:ext cx="4010025" cy="3571875"/>
          </a:xfrm>
          <a:prstGeom prst="rect">
            <a:avLst/>
          </a:prstGeom>
          <a:noFill/>
          <a:ln w="9525">
            <a:noFill/>
          </a:ln>
        </p:spPr>
      </p:pic>
      <p:pic>
        <p:nvPicPr>
          <p:cNvPr id="100" name="图片 99"/>
          <p:cNvPicPr/>
          <p:nvPr/>
        </p:nvPicPr>
        <p:blipFill>
          <a:blip r:embed="rId2"/>
          <a:stretch>
            <a:fillRect/>
          </a:stretch>
        </p:blipFill>
        <p:spPr>
          <a:xfrm>
            <a:off x="4644390" y="1772603"/>
            <a:ext cx="3829050" cy="50006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691203">
                                            <p:txEl>
                                              <p:charRg st="0" end="32"/>
                                            </p:txEl>
                                          </p:spTgt>
                                        </p:tgtEl>
                                        <p:attrNameLst>
                                          <p:attrName>style.visibility</p:attrName>
                                        </p:attrNameLst>
                                      </p:cBhvr>
                                      <p:to>
                                        <p:strVal val="visible"/>
                                      </p:to>
                                    </p:set>
                                    <p:animEffect transition="in" filter="randombar(horizontal)">
                                      <p:cBhvr>
                                        <p:cTn id="7" dur="500"/>
                                        <p:tgtEl>
                                          <p:spTgt spid="691203">
                                            <p:txEl>
                                              <p:charRg st="0" end="3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标题 1"/>
          <p:cNvSpPr>
            <a:spLocks noGrp="1"/>
          </p:cNvSpPr>
          <p:nvPr>
            <p:ph type="title"/>
          </p:nvPr>
        </p:nvSpPr>
        <p:spPr/>
        <p:txBody>
          <a:bodyPr vert="horz" wrap="square" lIns="91440" tIns="45720" rIns="91440" bIns="45720" anchor="ctr" anchorCtr="0"/>
          <a:p>
            <a:r>
              <a:rPr lang="zh-CN" altLang="en-US" dirty="0"/>
              <a:t>模锻</a:t>
            </a:r>
            <a:endParaRPr lang="zh-CN" altLang="en-US" dirty="0"/>
          </a:p>
        </p:txBody>
      </p:sp>
      <p:sp>
        <p:nvSpPr>
          <p:cNvPr id="4" name="内容占位符 3"/>
          <p:cNvSpPr>
            <a:spLocks noGrp="1"/>
          </p:cNvSpPr>
          <p:nvPr>
            <p:ph idx="1"/>
          </p:nvPr>
        </p:nvSpPr>
        <p:spPr>
          <a:xfrm>
            <a:off x="1647825" y="4724718"/>
            <a:ext cx="5110163" cy="2085975"/>
          </a:xfrm>
          <a:prstGeom prst="irregularSeal1">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ctr" anchorCtr="0" compatLnSpc="1"/>
          <a:lstStyle/>
          <a:p>
            <a:pPr marL="342900" marR="0" lvl="0" indent="-342900" algn="ctr"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chemeClr val="lt1"/>
                </a:solidFill>
                <a:effectLst/>
                <a:uLnTx/>
                <a:uFillTx/>
                <a:latin typeface="+mn-lt"/>
                <a:ea typeface="+mn-ea"/>
                <a:cs typeface="+mn-cs"/>
              </a:rPr>
              <a:t>视频演示</a:t>
            </a:r>
            <a:endParaRPr kumimoji="0" lang="zh-CN" altLang="en-US" sz="3200" b="1" i="0" u="none" strike="noStrike" kern="1200" cap="none" spc="0" normalizeH="0" baseline="0" noProof="0" dirty="0">
              <a:ln>
                <a:noFill/>
              </a:ln>
              <a:solidFill>
                <a:schemeClr val="lt1"/>
              </a:solidFill>
              <a:effectLst/>
              <a:uLnTx/>
              <a:uFillTx/>
              <a:latin typeface="+mn-lt"/>
              <a:ea typeface="+mn-ea"/>
              <a:cs typeface="+mn-cs"/>
            </a:endParaRPr>
          </a:p>
        </p:txBody>
      </p:sp>
      <p:sp>
        <p:nvSpPr>
          <p:cNvPr id="69637" name="矩形 2"/>
          <p:cNvSpPr/>
          <p:nvPr/>
        </p:nvSpPr>
        <p:spPr>
          <a:xfrm>
            <a:off x="804863" y="2996248"/>
            <a:ext cx="6206490" cy="460375"/>
          </a:xfrm>
          <a:prstGeom prst="rect">
            <a:avLst/>
          </a:prstGeom>
          <a:noFill/>
          <a:ln w="9525">
            <a:noFill/>
          </a:ln>
        </p:spPr>
        <p:txBody>
          <a:bodyPr wrap="none">
            <a:spAutoFit/>
          </a:bodyPr>
          <a:p>
            <a:r>
              <a:rPr lang="en-US" altLang="zh-CN" sz="2400" dirty="0">
                <a:latin typeface="Arial" panose="020B0604020202020204" pitchFamily="34" charset="0"/>
                <a:hlinkClick r:id="rId1"/>
              </a:rPr>
              <a:t>https://v.qq.com/x/page/s03438ljv3t.html</a:t>
            </a:r>
            <a:r>
              <a:rPr lang="zh-CN" altLang="en-US" sz="2400" dirty="0">
                <a:latin typeface="Arial" panose="020B0604020202020204" pitchFamily="34" charset="0"/>
                <a:hlinkClick r:id="rId1"/>
              </a:rPr>
              <a:t>模锻</a:t>
            </a:r>
            <a:endParaRPr lang="zh-CN" altLang="en-US" sz="2400" dirty="0">
              <a:latin typeface="Arial" panose="020B0604020202020204" pitchFamily="34" charset="0"/>
              <a:hlinkClick r:id="rId1"/>
            </a:endParaRPr>
          </a:p>
        </p:txBody>
      </p:sp>
      <p:sp>
        <p:nvSpPr>
          <p:cNvPr id="69638" name="矩形 4"/>
          <p:cNvSpPr/>
          <p:nvPr/>
        </p:nvSpPr>
        <p:spPr>
          <a:xfrm>
            <a:off x="899478" y="3716655"/>
            <a:ext cx="5424487" cy="369888"/>
          </a:xfrm>
          <a:prstGeom prst="rect">
            <a:avLst/>
          </a:prstGeom>
          <a:noFill/>
          <a:ln w="9525">
            <a:noFill/>
          </a:ln>
        </p:spPr>
        <p:txBody>
          <a:bodyPr wrap="none">
            <a:spAutoFit/>
          </a:bodyPr>
          <a:p>
            <a:r>
              <a:rPr lang="en-US" altLang="zh-CN" dirty="0">
                <a:latin typeface="Arial" panose="020B0604020202020204" pitchFamily="34" charset="0"/>
                <a:hlinkClick r:id="rId2"/>
              </a:rPr>
              <a:t>https://v.qq.com/x/page/s0712g2nzdu.html</a:t>
            </a:r>
            <a:r>
              <a:rPr lang="zh-CN" altLang="en-US" dirty="0">
                <a:latin typeface="Arial" panose="020B0604020202020204" pitchFamily="34" charset="0"/>
              </a:rPr>
              <a:t>日本模锻</a:t>
            </a:r>
            <a:endParaRPr lang="zh-CN" altLang="en-US" dirty="0">
              <a:latin typeface="Arial" panose="020B0604020202020204" pitchFamily="34" charset="0"/>
            </a:endParaRPr>
          </a:p>
        </p:txBody>
      </p:sp>
      <p:sp>
        <p:nvSpPr>
          <p:cNvPr id="2" name="文本框 1"/>
          <p:cNvSpPr txBox="1"/>
          <p:nvPr/>
        </p:nvSpPr>
        <p:spPr>
          <a:xfrm>
            <a:off x="899795" y="1412875"/>
            <a:ext cx="6071870" cy="368300"/>
          </a:xfrm>
          <a:prstGeom prst="rect">
            <a:avLst/>
          </a:prstGeom>
          <a:noFill/>
        </p:spPr>
        <p:txBody>
          <a:bodyPr wrap="square" rtlCol="0" anchor="t">
            <a:spAutoFit/>
          </a:bodyPr>
          <a:p>
            <a:r>
              <a:rPr lang="zh-CN" altLang="en-US"/>
              <a:t>https://v.qq.com/x/page/e0807zjzbx5.html锤上模锻</a:t>
            </a:r>
            <a:endParaRPr lang="zh-CN" altLang="en-US"/>
          </a:p>
        </p:txBody>
      </p:sp>
      <p:sp>
        <p:nvSpPr>
          <p:cNvPr id="3" name="文本框 2"/>
          <p:cNvSpPr txBox="1"/>
          <p:nvPr/>
        </p:nvSpPr>
        <p:spPr>
          <a:xfrm>
            <a:off x="899795" y="1850390"/>
            <a:ext cx="6017895" cy="368300"/>
          </a:xfrm>
          <a:prstGeom prst="rect">
            <a:avLst/>
          </a:prstGeom>
          <a:noFill/>
        </p:spPr>
        <p:txBody>
          <a:bodyPr wrap="square" rtlCol="0" anchor="t">
            <a:spAutoFit/>
          </a:bodyPr>
          <a:p>
            <a:r>
              <a:rPr lang="zh-CN" altLang="en-US"/>
              <a:t>https://v.qq.com/x/page/t03617uit7a.html压力机上模锻</a:t>
            </a:r>
            <a:endParaRPr lang="zh-CN" altLang="en-US"/>
          </a:p>
        </p:txBody>
      </p:sp>
      <p:sp>
        <p:nvSpPr>
          <p:cNvPr id="5" name="文本框 4"/>
          <p:cNvSpPr txBox="1"/>
          <p:nvPr/>
        </p:nvSpPr>
        <p:spPr>
          <a:xfrm>
            <a:off x="899795" y="2423795"/>
            <a:ext cx="6083935" cy="368300"/>
          </a:xfrm>
          <a:prstGeom prst="rect">
            <a:avLst/>
          </a:prstGeom>
          <a:noFill/>
        </p:spPr>
        <p:txBody>
          <a:bodyPr wrap="square" rtlCol="0" anchor="t">
            <a:spAutoFit/>
          </a:bodyPr>
          <a:p>
            <a:r>
              <a:rPr lang="zh-CN" altLang="en-US"/>
              <a:t>https://v.qq.com/x/page/o0343lfcts5.html胎模锻</a:t>
            </a:r>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p:cNvSpPr>
          <p:nvPr>
            <p:ph type="title"/>
          </p:nvPr>
        </p:nvSpPr>
        <p:spPr>
          <a:xfrm>
            <a:off x="3779838" y="163513"/>
            <a:ext cx="2760662" cy="889000"/>
          </a:xfrm>
        </p:spPr>
        <p:txBody>
          <a:bodyPr vert="horz" wrap="square" lIns="91440" tIns="45720" rIns="91440" bIns="45720" anchor="ctr" anchorCtr="0"/>
          <a:p>
            <a:pPr algn="ctr" eaLnBrk="1" hangingPunct="1"/>
            <a:r>
              <a:rPr lang="zh-CN" altLang="en-US" sz="4000" dirty="0">
                <a:ea typeface="楷体_GB2312" pitchFamily="49" charset="-122"/>
              </a:rPr>
              <a:t>锤上模锻</a:t>
            </a:r>
            <a:endParaRPr lang="zh-CN" altLang="en-US" sz="4000" dirty="0">
              <a:ea typeface="楷体_GB2312" pitchFamily="49" charset="-122"/>
            </a:endParaRPr>
          </a:p>
        </p:txBody>
      </p:sp>
      <p:sp>
        <p:nvSpPr>
          <p:cNvPr id="71683" name="Rectangle 5"/>
          <p:cNvSpPr/>
          <p:nvPr/>
        </p:nvSpPr>
        <p:spPr>
          <a:xfrm>
            <a:off x="428625" y="1115378"/>
            <a:ext cx="8280400" cy="1938020"/>
          </a:xfrm>
          <a:prstGeom prst="rect">
            <a:avLst/>
          </a:prstGeom>
          <a:noFill/>
          <a:ln w="9525">
            <a:noFill/>
          </a:ln>
        </p:spPr>
        <p:txBody>
          <a:bodyPr anchor="ctr" anchorCtr="0">
            <a:spAutoFit/>
          </a:bodyPr>
          <a:p>
            <a:pPr indent="228600" eaLnBrk="1" hangingPunct="1"/>
            <a:r>
              <a:rPr lang="zh-CN" altLang="en-US" sz="2000" b="1" dirty="0">
                <a:solidFill>
                  <a:srgbClr val="CC3300"/>
                </a:solidFill>
                <a:latin typeface="楷体_GB2312" pitchFamily="49" charset="-122"/>
                <a:ea typeface="楷体_GB2312" pitchFamily="49" charset="-122"/>
              </a:rPr>
              <a:t>与自由锻蒸汽－空气锤相比：</a:t>
            </a:r>
            <a:endParaRPr lang="zh-CN" altLang="en-US" sz="2000" b="1" dirty="0">
              <a:solidFill>
                <a:srgbClr val="CC3300"/>
              </a:solidFill>
              <a:latin typeface="楷体_GB2312" pitchFamily="49" charset="-122"/>
              <a:ea typeface="楷体_GB2312" pitchFamily="49" charset="-122"/>
            </a:endParaRPr>
          </a:p>
          <a:p>
            <a:pPr indent="228600" eaLnBrk="1" hangingPunct="1"/>
            <a:r>
              <a:rPr lang="zh-CN" altLang="en-US" sz="2000" b="1" dirty="0">
                <a:latin typeface="楷体_GB2312" pitchFamily="49" charset="-122"/>
                <a:ea typeface="楷体_GB2312" pitchFamily="49" charset="-122"/>
              </a:rPr>
              <a:t>①模锻锤锤头与导轨间间隙比自由锻锤小，且机架与砧座相连。</a:t>
            </a:r>
            <a:endParaRPr lang="zh-CN" altLang="en-US" sz="2000" b="1" dirty="0">
              <a:latin typeface="楷体_GB2312" pitchFamily="49" charset="-122"/>
              <a:ea typeface="楷体_GB2312" pitchFamily="49" charset="-122"/>
            </a:endParaRPr>
          </a:p>
          <a:p>
            <a:pPr indent="228600" eaLnBrk="1" hangingPunct="1"/>
            <a:r>
              <a:rPr lang="zh-CN" altLang="en-US" sz="2000" b="1" dirty="0">
                <a:latin typeface="楷体_GB2312" pitchFamily="49" charset="-122"/>
                <a:ea typeface="楷体_GB2312" pitchFamily="49" charset="-122"/>
              </a:rPr>
              <a:t>②模锻锤一般均由一名工人操纵</a:t>
            </a:r>
            <a:endParaRPr lang="zh-CN" altLang="en-US" sz="2000" b="1" dirty="0">
              <a:latin typeface="楷体_GB2312" pitchFamily="49" charset="-122"/>
              <a:ea typeface="楷体_GB2312" pitchFamily="49" charset="-122"/>
            </a:endParaRPr>
          </a:p>
          <a:p>
            <a:pPr indent="228600" eaLnBrk="1" hangingPunct="1"/>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1</a:t>
            </a:r>
            <a:r>
              <a:rPr lang="zh-CN" altLang="en-US" sz="2000" b="1" dirty="0">
                <a:latin typeface="楷体_GB2312" pitchFamily="49" charset="-122"/>
                <a:ea typeface="楷体_GB2312" pitchFamily="49" charset="-122"/>
              </a:rPr>
              <a:t>）锻模结构</a:t>
            </a: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包括上、下模，模膛，分模面。</a:t>
            </a:r>
            <a:endParaRPr lang="zh-CN" altLang="en-US" sz="2000" b="1" dirty="0">
              <a:latin typeface="楷体_GB2312" pitchFamily="49" charset="-122"/>
              <a:ea typeface="楷体_GB2312" pitchFamily="49" charset="-122"/>
            </a:endParaRPr>
          </a:p>
          <a:p>
            <a:pPr indent="228600" eaLnBrk="1" hangingPunct="1"/>
            <a:r>
              <a:rPr lang="en-US" altLang="zh-CN" sz="2000" b="1" dirty="0">
                <a:latin typeface="楷体_GB2312" pitchFamily="49" charset="-122"/>
                <a:ea typeface="楷体_GB2312" pitchFamily="49" charset="-122"/>
                <a:sym typeface="+mn-ea"/>
              </a:rPr>
              <a:t> (2) </a:t>
            </a:r>
            <a:r>
              <a:rPr lang="zh-CN" altLang="en-US" sz="2000" b="1" dirty="0">
                <a:latin typeface="楷体_GB2312" pitchFamily="49" charset="-122"/>
                <a:ea typeface="楷体_GB2312" pitchFamily="49" charset="-122"/>
                <a:sym typeface="+mn-ea"/>
              </a:rPr>
              <a:t>模膛分为：模锻模膛、制坯模膛</a:t>
            </a:r>
            <a:endParaRPr lang="zh-CN" altLang="en-US" sz="2000" b="1" dirty="0">
              <a:latin typeface="楷体_GB2312" pitchFamily="49" charset="-122"/>
              <a:ea typeface="楷体_GB2312" pitchFamily="49" charset="-122"/>
            </a:endParaRPr>
          </a:p>
          <a:p>
            <a:pPr indent="228600" eaLnBrk="1" hangingPunct="1"/>
            <a:endParaRPr lang="zh-CN" altLang="en-US" sz="2000" b="1" dirty="0">
              <a:latin typeface="楷体_GB2312" pitchFamily="49" charset="-122"/>
              <a:ea typeface="楷体_GB2312" pitchFamily="49" charset="-122"/>
            </a:endParaRPr>
          </a:p>
        </p:txBody>
      </p:sp>
      <p:pic>
        <p:nvPicPr>
          <p:cNvPr id="692232" name="Picture 8" descr="图片12"/>
          <p:cNvPicPr>
            <a:picLocks noChangeAspect="1"/>
          </p:cNvPicPr>
          <p:nvPr/>
        </p:nvPicPr>
        <p:blipFill>
          <a:blip r:embed="rId1"/>
          <a:stretch>
            <a:fillRect/>
          </a:stretch>
        </p:blipFill>
        <p:spPr>
          <a:xfrm>
            <a:off x="4643438" y="3071813"/>
            <a:ext cx="3875087" cy="3286125"/>
          </a:xfrm>
          <a:prstGeom prst="rect">
            <a:avLst/>
          </a:prstGeom>
          <a:noFill/>
          <a:ln w="9525">
            <a:noFill/>
          </a:ln>
        </p:spPr>
      </p:pic>
      <p:pic>
        <p:nvPicPr>
          <p:cNvPr id="71685" name="Picture 9" descr="图片13"/>
          <p:cNvPicPr>
            <a:picLocks noChangeAspect="1"/>
          </p:cNvPicPr>
          <p:nvPr/>
        </p:nvPicPr>
        <p:blipFill>
          <a:blip r:embed="rId2"/>
          <a:stretch>
            <a:fillRect/>
          </a:stretch>
        </p:blipFill>
        <p:spPr>
          <a:xfrm>
            <a:off x="1285875" y="2857500"/>
            <a:ext cx="3143250" cy="3714750"/>
          </a:xfrm>
          <a:prstGeom prst="rect">
            <a:avLst/>
          </a:prstGeom>
          <a:noFill/>
          <a:ln w="9525">
            <a:noFill/>
          </a:ln>
        </p:spPr>
      </p:pic>
      <p:sp>
        <p:nvSpPr>
          <p:cNvPr id="8" name="圆角矩形标注 7"/>
          <p:cNvSpPr/>
          <p:nvPr/>
        </p:nvSpPr>
        <p:spPr>
          <a:xfrm>
            <a:off x="785813" y="3214688"/>
            <a:ext cx="642938" cy="785813"/>
          </a:xfrm>
          <a:prstGeom prst="wedgeRoundRectCallout">
            <a:avLst>
              <a:gd name="adj1" fmla="val 178672"/>
              <a:gd name="adj2" fmla="val 7219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mn-lt"/>
                <a:ea typeface="+mn-ea"/>
                <a:cs typeface="+mn-cs"/>
              </a:rPr>
              <a:t>锤头</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sp>
        <p:nvSpPr>
          <p:cNvPr id="9" name="圆角矩形标注 8"/>
          <p:cNvSpPr/>
          <p:nvPr/>
        </p:nvSpPr>
        <p:spPr>
          <a:xfrm>
            <a:off x="571500" y="4071938"/>
            <a:ext cx="642938" cy="785813"/>
          </a:xfrm>
          <a:prstGeom prst="wedgeRoundRectCallout">
            <a:avLst>
              <a:gd name="adj1" fmla="val 200400"/>
              <a:gd name="adj2" fmla="val 2048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mn-lt"/>
                <a:ea typeface="+mn-ea"/>
                <a:cs typeface="+mn-cs"/>
              </a:rPr>
              <a:t>楔铁</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sp>
        <p:nvSpPr>
          <p:cNvPr id="10" name="圆角矩形标注 9"/>
          <p:cNvSpPr/>
          <p:nvPr/>
        </p:nvSpPr>
        <p:spPr>
          <a:xfrm>
            <a:off x="357188" y="4929188"/>
            <a:ext cx="642938" cy="785813"/>
          </a:xfrm>
          <a:prstGeom prst="wedgeRoundRectCallout">
            <a:avLst>
              <a:gd name="adj1" fmla="val 206326"/>
              <a:gd name="adj2" fmla="val -4578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mn-lt"/>
                <a:ea typeface="+mn-ea"/>
                <a:cs typeface="+mn-cs"/>
              </a:rPr>
              <a:t>上模</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sp>
        <p:nvSpPr>
          <p:cNvPr id="11" name="圆角矩形标注 10"/>
          <p:cNvSpPr/>
          <p:nvPr/>
        </p:nvSpPr>
        <p:spPr>
          <a:xfrm>
            <a:off x="428625" y="5786438"/>
            <a:ext cx="642938" cy="785813"/>
          </a:xfrm>
          <a:prstGeom prst="wedgeRoundRectCallout">
            <a:avLst>
              <a:gd name="adj1" fmla="val 232005"/>
              <a:gd name="adj2" fmla="val -5547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mn-lt"/>
                <a:ea typeface="+mn-ea"/>
                <a:cs typeface="+mn-cs"/>
              </a:rPr>
              <a:t>下模</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sp>
        <p:nvSpPr>
          <p:cNvPr id="12" name="圆角矩形标注 11"/>
          <p:cNvSpPr/>
          <p:nvPr/>
        </p:nvSpPr>
        <p:spPr>
          <a:xfrm>
            <a:off x="4357688" y="5786438"/>
            <a:ext cx="642938" cy="785813"/>
          </a:xfrm>
          <a:prstGeom prst="wedgeRoundRectCallout">
            <a:avLst>
              <a:gd name="adj1" fmla="val -192684"/>
              <a:gd name="adj2" fmla="val 2048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mn-lt"/>
                <a:ea typeface="+mn-ea"/>
                <a:cs typeface="+mn-cs"/>
              </a:rPr>
              <a:t>模垫</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sp>
        <p:nvSpPr>
          <p:cNvPr id="13" name="圆角矩形标注 12"/>
          <p:cNvSpPr/>
          <p:nvPr/>
        </p:nvSpPr>
        <p:spPr>
          <a:xfrm>
            <a:off x="8358188" y="3143250"/>
            <a:ext cx="642938" cy="785813"/>
          </a:xfrm>
          <a:prstGeom prst="wedgeRoundRectCallout">
            <a:avLst>
              <a:gd name="adj1" fmla="val -172931"/>
              <a:gd name="adj2" fmla="val 10290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mn-lt"/>
                <a:ea typeface="+mn-ea"/>
                <a:cs typeface="+mn-cs"/>
              </a:rPr>
              <a:t>模膛</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sp>
        <p:nvSpPr>
          <p:cNvPr id="14" name="圆角矩形标注 13"/>
          <p:cNvSpPr/>
          <p:nvPr/>
        </p:nvSpPr>
        <p:spPr>
          <a:xfrm>
            <a:off x="8358188" y="4429125"/>
            <a:ext cx="642938" cy="785813"/>
          </a:xfrm>
          <a:prstGeom prst="wedgeRoundRectCallout">
            <a:avLst>
              <a:gd name="adj1" fmla="val -178856"/>
              <a:gd name="adj2" fmla="val 6573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mn-lt"/>
                <a:ea typeface="+mn-ea"/>
                <a:cs typeface="+mn-cs"/>
              </a:rPr>
              <a:t>分模面</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sp>
        <p:nvSpPr>
          <p:cNvPr id="15" name="圆角矩形标注 14"/>
          <p:cNvSpPr/>
          <p:nvPr/>
        </p:nvSpPr>
        <p:spPr>
          <a:xfrm>
            <a:off x="5072063" y="3286125"/>
            <a:ext cx="642938" cy="785813"/>
          </a:xfrm>
          <a:prstGeom prst="wedgeRoundRectCallout">
            <a:avLst>
              <a:gd name="adj1" fmla="val 210277"/>
              <a:gd name="adj2" fmla="val 7704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mn-lt"/>
                <a:ea typeface="+mn-ea"/>
                <a:cs typeface="+mn-cs"/>
              </a:rPr>
              <a:t>飞边槽</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sp>
        <p:nvSpPr>
          <p:cNvPr id="16" name="圆角矩形标注 15"/>
          <p:cNvSpPr/>
          <p:nvPr/>
        </p:nvSpPr>
        <p:spPr>
          <a:xfrm>
            <a:off x="4214813" y="3214688"/>
            <a:ext cx="642938" cy="1214438"/>
          </a:xfrm>
          <a:prstGeom prst="wedgeRoundRectCallout">
            <a:avLst>
              <a:gd name="adj1" fmla="val 123365"/>
              <a:gd name="adj2" fmla="val 6687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mn-lt"/>
                <a:ea typeface="+mn-ea"/>
                <a:cs typeface="+mn-cs"/>
              </a:rPr>
              <a:t>冲孔连皮</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sp>
        <p:nvSpPr>
          <p:cNvPr id="17" name="圆角矩形标注 16"/>
          <p:cNvSpPr/>
          <p:nvPr/>
        </p:nvSpPr>
        <p:spPr>
          <a:xfrm>
            <a:off x="5143500" y="5072063"/>
            <a:ext cx="642938" cy="785813"/>
          </a:xfrm>
          <a:prstGeom prst="wedgeRoundRectCallout">
            <a:avLst>
              <a:gd name="adj1" fmla="val -99845"/>
              <a:gd name="adj2" fmla="val -9749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mn-lt"/>
                <a:ea typeface="+mn-ea"/>
                <a:cs typeface="+mn-cs"/>
              </a:rPr>
              <a:t>飞边</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692232"/>
                                        </p:tgtEl>
                                        <p:attrNameLst>
                                          <p:attrName>style.visibility</p:attrName>
                                        </p:attrNameLst>
                                      </p:cBhvr>
                                      <p:to>
                                        <p:strVal val="visible"/>
                                      </p:to>
                                    </p:set>
                                    <p:animEffect transition="in" filter="diamond(in)">
                                      <p:cBhvr>
                                        <p:cTn id="7" dur="2000"/>
                                        <p:tgtEl>
                                          <p:spTgt spid="6922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2"/>
          <p:cNvSpPr>
            <a:spLocks noGrp="1"/>
          </p:cNvSpPr>
          <p:nvPr>
            <p:ph type="title"/>
          </p:nvPr>
        </p:nvSpPr>
        <p:spPr>
          <a:xfrm>
            <a:off x="323850" y="117475"/>
            <a:ext cx="5040313" cy="1008063"/>
          </a:xfrm>
        </p:spPr>
        <p:txBody>
          <a:bodyPr vert="horz" wrap="square" lIns="91440" tIns="45720" rIns="91440" bIns="45720" anchor="ctr" anchorCtr="0"/>
          <a:p>
            <a:pPr eaLnBrk="1" hangingPunct="1"/>
            <a:r>
              <a:rPr lang="zh-CN" altLang="en-US" dirty="0"/>
              <a:t>锤上模锻</a:t>
            </a:r>
            <a:endParaRPr lang="zh-CN" altLang="en-US" dirty="0"/>
          </a:p>
        </p:txBody>
      </p:sp>
      <p:sp>
        <p:nvSpPr>
          <p:cNvPr id="97283" name="Rectangle 3"/>
          <p:cNvSpPr>
            <a:spLocks noGrp="1" noChangeArrowheads="1"/>
          </p:cNvSpPr>
          <p:nvPr>
            <p:ph idx="1"/>
          </p:nvPr>
        </p:nvSpPr>
        <p:spPr>
          <a:xfrm>
            <a:off x="-36512" y="1358900"/>
            <a:ext cx="8378825" cy="3222625"/>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zh-CN" altLang="en-US" sz="1800" b="1" i="0" u="none" strike="noStrike" kern="1200" cap="none" spc="0" normalizeH="0" baseline="0" noProof="0" dirty="0" smtClean="0">
                <a:ln>
                  <a:noFill/>
                </a:ln>
                <a:solidFill>
                  <a:srgbClr val="990000"/>
                </a:solidFill>
                <a:effectLst/>
                <a:uLnTx/>
                <a:uFillTx/>
                <a:latin typeface="楷体_GB2312" pitchFamily="49" charset="-122"/>
                <a:ea typeface="楷体_GB2312" pitchFamily="49" charset="-122"/>
                <a:cs typeface="+mn-cs"/>
              </a:rPr>
              <a:t>模锻模膛</a:t>
            </a:r>
            <a:r>
              <a:rPr kumimoji="0" lang="zh-CN" altLang="en-US" sz="1800" b="1" i="0" u="none" strike="noStrike" kern="1200" cap="none" spc="0" normalizeH="0" baseline="0" noProof="0" dirty="0" smtClean="0">
                <a:ln>
                  <a:noFill/>
                </a:ln>
                <a:solidFill>
                  <a:srgbClr val="FF0066"/>
                </a:solidFill>
                <a:effectLst/>
                <a:uLnTx/>
                <a:uFillTx/>
                <a:latin typeface="楷体_GB2312" pitchFamily="49" charset="-122"/>
                <a:ea typeface="楷体_GB2312" pitchFamily="49" charset="-122"/>
                <a:cs typeface="+mn-cs"/>
              </a:rPr>
              <a:t>  </a:t>
            </a:r>
            <a:r>
              <a:rPr kumimoji="0" lang="zh-CN" altLang="en-US" sz="1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由于金属在此种模膛中发生</a:t>
            </a:r>
            <a:r>
              <a:rPr kumimoji="0" lang="zh-CN" altLang="en-US" sz="1800" b="1" i="0" u="none" strike="noStrike" kern="1200" cap="none" spc="0" normalizeH="0" baseline="0" noProof="0" dirty="0" smtClean="0">
                <a:ln>
                  <a:noFill/>
                </a:ln>
                <a:solidFill>
                  <a:srgbClr val="FF0000"/>
                </a:solidFill>
                <a:effectLst/>
                <a:uLnTx/>
                <a:uFillTx/>
                <a:latin typeface="楷体_GB2312" pitchFamily="49" charset="-122"/>
                <a:ea typeface="楷体_GB2312" pitchFamily="49" charset="-122"/>
                <a:cs typeface="+mn-cs"/>
              </a:rPr>
              <a:t>整体变形</a:t>
            </a:r>
            <a:r>
              <a:rPr kumimoji="0" lang="zh-CN" altLang="en-US" sz="1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，故作用在锻模上的抗力较大。模锻模膛又分为终</a:t>
            </a:r>
            <a:r>
              <a:rPr kumimoji="0" lang="zh-CN" altLang="en-US" sz="1800" b="1" i="0" u="none" strike="noStrike" kern="1200" cap="none" spc="0" normalizeH="0" baseline="0" noProof="0" dirty="0" smtClean="0">
                <a:ln>
                  <a:noFill/>
                </a:ln>
                <a:solidFill>
                  <a:srgbClr val="FF0066"/>
                </a:solidFill>
                <a:effectLst/>
                <a:uLnTx/>
                <a:uFillTx/>
                <a:latin typeface="楷体_GB2312" pitchFamily="49" charset="-122"/>
                <a:ea typeface="楷体_GB2312" pitchFamily="49" charset="-122"/>
                <a:cs typeface="+mn-cs"/>
              </a:rPr>
              <a:t>终锻模膛和预锻模膛</a:t>
            </a:r>
            <a:r>
              <a:rPr kumimoji="0" lang="zh-CN" altLang="en-US" sz="1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两种。</a:t>
            </a:r>
            <a:r>
              <a:rPr kumimoji="0" lang="zh-CN" altLang="en-US" sz="2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  </a:t>
            </a:r>
            <a:endParaRPr kumimoji="0" lang="zh-CN" altLang="en-US" sz="2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1800" b="1" i="0" u="none" strike="noStrike" kern="1200" cap="none" spc="0" normalizeH="0" baseline="0" noProof="0" dirty="0" smtClean="0">
                <a:ln>
                  <a:noFill/>
                </a:ln>
                <a:solidFill>
                  <a:srgbClr val="009900"/>
                </a:solidFill>
                <a:effectLst/>
                <a:uLnTx/>
                <a:uFillTx/>
                <a:latin typeface="楷体_GB2312" pitchFamily="49" charset="-122"/>
                <a:ea typeface="楷体_GB2312" pitchFamily="49" charset="-122"/>
                <a:cs typeface="+mn-cs"/>
              </a:rPr>
              <a:t>终锻模膛</a:t>
            </a:r>
            <a:endParaRPr kumimoji="0" lang="zh-CN" altLang="en-US" sz="1800" b="1" i="0" u="none" strike="noStrike" kern="1200" cap="none" spc="0" normalizeH="0" baseline="0" noProof="0" dirty="0" smtClean="0">
              <a:ln>
                <a:noFill/>
              </a:ln>
              <a:solidFill>
                <a:srgbClr val="009900"/>
              </a:solidFill>
              <a:effectLst/>
              <a:uLnTx/>
              <a:uFillTx/>
              <a:latin typeface="楷体_GB2312" pitchFamily="49" charset="-122"/>
              <a:ea typeface="楷体_GB2312" pitchFamily="49" charset="-122"/>
              <a:cs typeface="+mn-cs"/>
            </a:endParaRPr>
          </a:p>
          <a:p>
            <a:pPr marL="1143000" marR="0" lvl="2" indent="-228600" algn="l" defTabSz="914400" rtl="0" eaLnBrk="1" fontAlgn="base" latinLnBrk="0" hangingPunct="1">
              <a:lnSpc>
                <a:spcPct val="90000"/>
              </a:lnSpc>
              <a:spcBef>
                <a:spcPct val="20000"/>
              </a:spcBef>
              <a:spcAft>
                <a:spcPct val="0"/>
              </a:spcAft>
              <a:buClrTx/>
              <a:buSzTx/>
              <a:buFontTx/>
              <a:buChar char="•"/>
              <a:defRPr/>
            </a:pPr>
            <a:r>
              <a:rPr kumimoji="0" lang="zh-CN" altLang="en-US" sz="1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作用：使坯料最后变形到锻件所要求</a:t>
            </a:r>
            <a:endParaRPr kumimoji="0" lang="en-US" altLang="zh-CN" sz="1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914400" marR="0" lvl="2" indent="0" algn="l" defTabSz="914400" rtl="0" eaLnBrk="1" fontAlgn="base" latinLnBrk="0" hangingPunct="1">
              <a:lnSpc>
                <a:spcPct val="90000"/>
              </a:lnSpc>
              <a:spcBef>
                <a:spcPct val="20000"/>
              </a:spcBef>
              <a:spcAft>
                <a:spcPct val="0"/>
              </a:spcAft>
              <a:buClrTx/>
              <a:buSzTx/>
              <a:buFontTx/>
              <a:buNone/>
              <a:defRPr/>
            </a:pPr>
            <a:r>
              <a:rPr kumimoji="0" lang="zh-CN" altLang="en-US" sz="1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的形状和尺寸，其形状应和锻件的形状</a:t>
            </a:r>
            <a:endParaRPr kumimoji="0" lang="en-US" altLang="zh-CN" sz="1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914400" marR="0" lvl="2" indent="0" algn="l" defTabSz="914400" rtl="0" eaLnBrk="1" fontAlgn="base" latinLnBrk="0" hangingPunct="1">
              <a:lnSpc>
                <a:spcPct val="90000"/>
              </a:lnSpc>
              <a:spcBef>
                <a:spcPct val="20000"/>
              </a:spcBef>
              <a:spcAft>
                <a:spcPct val="0"/>
              </a:spcAft>
              <a:buClrTx/>
              <a:buSzTx/>
              <a:buFontTx/>
              <a:buNone/>
              <a:defRPr/>
            </a:pPr>
            <a:r>
              <a:rPr kumimoji="0" lang="zh-CN" altLang="en-US" sz="1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相同。但是由于</a:t>
            </a:r>
            <a:r>
              <a:rPr kumimoji="0" lang="zh-CN" altLang="en-US" sz="1800" b="1" i="0" u="none" strike="noStrike" kern="1200" cap="none" spc="0" normalizeH="0" baseline="0" noProof="0" dirty="0" smtClean="0">
                <a:ln>
                  <a:noFill/>
                </a:ln>
                <a:solidFill>
                  <a:srgbClr val="0000FF"/>
                </a:solidFill>
                <a:effectLst/>
                <a:uLnTx/>
                <a:uFillTx/>
                <a:latin typeface="楷体_GB2312" pitchFamily="49" charset="-122"/>
                <a:ea typeface="楷体_GB2312" pitchFamily="49" charset="-122"/>
                <a:cs typeface="+mn-cs"/>
              </a:rPr>
              <a:t>锻件冷却时要</a:t>
            </a:r>
            <a:r>
              <a:rPr kumimoji="0" lang="zh-CN" altLang="en-US" sz="1800" b="1" i="0" u="none" strike="noStrike" kern="1200" cap="none" spc="0" normalizeH="0" baseline="0" noProof="0" dirty="0" smtClean="0">
                <a:ln>
                  <a:noFill/>
                </a:ln>
                <a:solidFill>
                  <a:srgbClr val="990000"/>
                </a:solidFill>
                <a:effectLst/>
                <a:uLnTx/>
                <a:uFillTx/>
                <a:latin typeface="楷体_GB2312" pitchFamily="49" charset="-122"/>
                <a:ea typeface="楷体_GB2312" pitchFamily="49" charset="-122"/>
                <a:cs typeface="+mn-cs"/>
              </a:rPr>
              <a:t>收缩</a:t>
            </a:r>
            <a:r>
              <a:rPr kumimoji="0" lang="zh-CN" altLang="en-US" sz="1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a:t>
            </a:r>
            <a:r>
              <a:rPr kumimoji="0" lang="zh-CN" altLang="en-US" sz="1800" b="1" i="0" u="none" strike="noStrike" kern="1200" cap="none" spc="0" normalizeH="0" baseline="0" noProof="0" dirty="0" smtClean="0">
                <a:ln>
                  <a:noFill/>
                </a:ln>
                <a:solidFill>
                  <a:srgbClr val="FF0000"/>
                </a:solidFill>
                <a:effectLst/>
                <a:uLnTx/>
                <a:uFillTx/>
                <a:latin typeface="楷体_GB2312" pitchFamily="49" charset="-122"/>
                <a:ea typeface="楷体_GB2312" pitchFamily="49" charset="-122"/>
                <a:cs typeface="+mn-cs"/>
              </a:rPr>
              <a:t>终</a:t>
            </a:r>
            <a:endParaRPr kumimoji="0" lang="en-US" altLang="zh-CN" sz="1800" b="1" i="0" u="none" strike="noStrike" kern="1200" cap="none" spc="0" normalizeH="0" baseline="0" noProof="0" dirty="0" smtClean="0">
              <a:ln>
                <a:noFill/>
              </a:ln>
              <a:solidFill>
                <a:srgbClr val="FF0000"/>
              </a:solidFill>
              <a:effectLst/>
              <a:uLnTx/>
              <a:uFillTx/>
              <a:latin typeface="楷体_GB2312" pitchFamily="49" charset="-122"/>
              <a:ea typeface="楷体_GB2312" pitchFamily="49" charset="-122"/>
              <a:cs typeface="+mn-cs"/>
            </a:endParaRPr>
          </a:p>
          <a:p>
            <a:pPr marL="914400" marR="0" lvl="2" indent="0" algn="l" defTabSz="914400" rtl="0" eaLnBrk="1" fontAlgn="base" latinLnBrk="0" hangingPunct="1">
              <a:lnSpc>
                <a:spcPct val="90000"/>
              </a:lnSpc>
              <a:spcBef>
                <a:spcPct val="20000"/>
              </a:spcBef>
              <a:spcAft>
                <a:spcPct val="0"/>
              </a:spcAft>
              <a:buClrTx/>
              <a:buSzTx/>
              <a:buFontTx/>
              <a:buNone/>
              <a:defRPr/>
            </a:pPr>
            <a:r>
              <a:rPr kumimoji="0" lang="zh-CN" altLang="en-US" sz="1800" b="1" i="0" u="none" strike="noStrike" kern="1200" cap="none" spc="0" normalizeH="0" baseline="0" noProof="0" dirty="0" smtClean="0">
                <a:ln>
                  <a:noFill/>
                </a:ln>
                <a:solidFill>
                  <a:srgbClr val="FF0000"/>
                </a:solidFill>
                <a:effectLst/>
                <a:uLnTx/>
                <a:uFillTx/>
                <a:latin typeface="楷体_GB2312" pitchFamily="49" charset="-122"/>
                <a:ea typeface="楷体_GB2312" pitchFamily="49" charset="-122"/>
                <a:cs typeface="+mn-cs"/>
              </a:rPr>
              <a:t>锻模膛的尺寸应比锻件尺寸放大一个收</a:t>
            </a:r>
            <a:endParaRPr kumimoji="0" lang="en-US" altLang="zh-CN" sz="1800" b="1" i="0" u="none" strike="noStrike" kern="1200" cap="none" spc="0" normalizeH="0" baseline="0" noProof="0" dirty="0" smtClean="0">
              <a:ln>
                <a:noFill/>
              </a:ln>
              <a:solidFill>
                <a:srgbClr val="FF0000"/>
              </a:solidFill>
              <a:effectLst/>
              <a:uLnTx/>
              <a:uFillTx/>
              <a:latin typeface="楷体_GB2312" pitchFamily="49" charset="-122"/>
              <a:ea typeface="楷体_GB2312" pitchFamily="49" charset="-122"/>
              <a:cs typeface="+mn-cs"/>
            </a:endParaRPr>
          </a:p>
          <a:p>
            <a:pPr marL="914400" marR="0" lvl="2" indent="0" algn="l" defTabSz="914400" rtl="0" eaLnBrk="1" fontAlgn="base" latinLnBrk="0" hangingPunct="1">
              <a:lnSpc>
                <a:spcPct val="90000"/>
              </a:lnSpc>
              <a:spcBef>
                <a:spcPct val="20000"/>
              </a:spcBef>
              <a:spcAft>
                <a:spcPct val="0"/>
              </a:spcAft>
              <a:buClrTx/>
              <a:buSzTx/>
              <a:buFontTx/>
              <a:buNone/>
              <a:defRPr/>
            </a:pPr>
            <a:r>
              <a:rPr kumimoji="0" lang="zh-CN" altLang="en-US" sz="1800" b="1" i="0" u="none" strike="noStrike" kern="1200" cap="none" spc="0" normalizeH="0" baseline="0" noProof="0" dirty="0" smtClean="0">
                <a:ln>
                  <a:noFill/>
                </a:ln>
                <a:solidFill>
                  <a:srgbClr val="FF0000"/>
                </a:solidFill>
                <a:effectLst/>
                <a:uLnTx/>
                <a:uFillTx/>
                <a:latin typeface="楷体_GB2312" pitchFamily="49" charset="-122"/>
                <a:ea typeface="楷体_GB2312" pitchFamily="49" charset="-122"/>
                <a:cs typeface="+mn-cs"/>
              </a:rPr>
              <a:t>缩量。</a:t>
            </a:r>
            <a:endParaRPr kumimoji="0" lang="en-US" altLang="zh-CN" sz="1800" b="1" i="0" u="none" strike="noStrike" kern="1200" cap="none" spc="0" normalizeH="0" baseline="0" noProof="0" dirty="0" smtClean="0">
              <a:ln>
                <a:noFill/>
              </a:ln>
              <a:solidFill>
                <a:srgbClr val="FF0000"/>
              </a:solidFill>
              <a:effectLst/>
              <a:uLnTx/>
              <a:uFillTx/>
              <a:latin typeface="楷体_GB2312" pitchFamily="49" charset="-122"/>
              <a:ea typeface="楷体_GB2312" pitchFamily="49" charset="-122"/>
              <a:cs typeface="+mn-cs"/>
            </a:endParaRPr>
          </a:p>
          <a:p>
            <a:pPr marL="1143000" marR="0" lvl="2" indent="-228600" algn="l" defTabSz="914400" rtl="0" eaLnBrk="1" fontAlgn="base" latinLnBrk="0" hangingPunct="1">
              <a:lnSpc>
                <a:spcPct val="90000"/>
              </a:lnSpc>
              <a:spcBef>
                <a:spcPct val="20000"/>
              </a:spcBef>
              <a:spcAft>
                <a:spcPct val="0"/>
              </a:spcAft>
              <a:buClrTx/>
              <a:buSzTx/>
              <a:buFontTx/>
              <a:buChar char="•"/>
              <a:defRPr/>
            </a:pPr>
            <a:r>
              <a:rPr kumimoji="0" lang="zh-CN" altLang="en-US" sz="1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沿模膛四周有</a:t>
            </a:r>
            <a:r>
              <a:rPr kumimoji="0" lang="zh-CN" altLang="en-US" sz="1800" b="1" i="0" u="none" strike="noStrike" kern="1200" cap="none" spc="0" normalizeH="0" baseline="0" noProof="0" dirty="0" smtClean="0">
                <a:ln>
                  <a:noFill/>
                </a:ln>
                <a:solidFill>
                  <a:srgbClr val="990000"/>
                </a:solidFill>
                <a:effectLst/>
                <a:uLnTx/>
                <a:uFillTx/>
                <a:latin typeface="楷体_GB2312" pitchFamily="49" charset="-122"/>
                <a:ea typeface="楷体_GB2312" pitchFamily="49" charset="-122"/>
                <a:cs typeface="+mn-cs"/>
              </a:rPr>
              <a:t>飞边槽</a:t>
            </a:r>
            <a:r>
              <a:rPr kumimoji="0" lang="zh-CN" altLang="en-US" sz="1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，用以增加金属</a:t>
            </a:r>
            <a:endParaRPr kumimoji="0" lang="en-US" altLang="zh-CN" sz="1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914400" marR="0" lvl="2" indent="0" algn="l" defTabSz="914400" rtl="0" eaLnBrk="1" fontAlgn="base" latinLnBrk="0" hangingPunct="1">
              <a:lnSpc>
                <a:spcPct val="90000"/>
              </a:lnSpc>
              <a:spcBef>
                <a:spcPct val="20000"/>
              </a:spcBef>
              <a:spcAft>
                <a:spcPct val="0"/>
              </a:spcAft>
              <a:buClrTx/>
              <a:buSzTx/>
              <a:buFontTx/>
              <a:buNone/>
              <a:defRPr/>
            </a:pPr>
            <a:r>
              <a:rPr kumimoji="0" lang="zh-CN" altLang="en-US" sz="1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从模膛中流出的阻力，促使金属更好地</a:t>
            </a:r>
            <a:endParaRPr kumimoji="0" lang="en-US" altLang="zh-CN" sz="1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914400" marR="0" lvl="2" indent="0" algn="l" defTabSz="914400" rtl="0" eaLnBrk="1" fontAlgn="base" latinLnBrk="0" hangingPunct="1">
              <a:lnSpc>
                <a:spcPct val="90000"/>
              </a:lnSpc>
              <a:spcBef>
                <a:spcPct val="20000"/>
              </a:spcBef>
              <a:spcAft>
                <a:spcPct val="0"/>
              </a:spcAft>
              <a:buClrTx/>
              <a:buSzTx/>
              <a:buFontTx/>
              <a:buNone/>
              <a:defRPr/>
            </a:pPr>
            <a:r>
              <a:rPr kumimoji="0" lang="zh-CN" altLang="en-US" sz="1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充满模膛，同时容纳多余的金属；</a:t>
            </a:r>
            <a:endParaRPr kumimoji="0" lang="en-US" altLang="zh-CN" sz="1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1143000" marR="0" lvl="2" indent="-228600" algn="l" defTabSz="914400" rtl="0" eaLnBrk="1" fontAlgn="base" latinLnBrk="0" hangingPunct="1">
              <a:lnSpc>
                <a:spcPct val="90000"/>
              </a:lnSpc>
              <a:spcBef>
                <a:spcPct val="20000"/>
              </a:spcBef>
              <a:spcAft>
                <a:spcPct val="0"/>
              </a:spcAft>
              <a:buClrTx/>
              <a:buSzTx/>
              <a:buFontTx/>
              <a:buChar char="•"/>
              <a:defRPr/>
            </a:pPr>
            <a:r>
              <a:rPr kumimoji="0" lang="zh-CN" altLang="en-US" sz="1800" b="1" i="0" u="none" strike="noStrike" kern="1200" cap="none" spc="0" normalizeH="0" baseline="0" noProof="0" dirty="0" smtClean="0">
                <a:ln>
                  <a:noFill/>
                </a:ln>
                <a:solidFill>
                  <a:srgbClr val="0000FF"/>
                </a:solidFill>
                <a:effectLst/>
                <a:uLnTx/>
                <a:uFillTx/>
                <a:latin typeface="楷体_GB2312" pitchFamily="49" charset="-122"/>
                <a:ea typeface="楷体_GB2312" pitchFamily="49" charset="-122"/>
                <a:cs typeface="+mn-cs"/>
              </a:rPr>
              <a:t>对于具有</a:t>
            </a:r>
            <a:r>
              <a:rPr kumimoji="0" lang="zh-CN" altLang="en-US" sz="1800" b="1" i="0" u="none" strike="noStrike" kern="1200" cap="none" spc="0" normalizeH="0" baseline="0" noProof="0" dirty="0" smtClean="0">
                <a:ln>
                  <a:noFill/>
                </a:ln>
                <a:solidFill>
                  <a:srgbClr val="FF0000"/>
                </a:solidFill>
                <a:effectLst/>
                <a:uLnTx/>
                <a:uFillTx/>
                <a:latin typeface="楷体_GB2312" pitchFamily="49" charset="-122"/>
                <a:ea typeface="楷体_GB2312" pitchFamily="49" charset="-122"/>
                <a:cs typeface="+mn-cs"/>
              </a:rPr>
              <a:t>通孔</a:t>
            </a:r>
            <a:r>
              <a:rPr kumimoji="0" lang="zh-CN" altLang="en-US" sz="1800" b="1" i="0" u="none" strike="noStrike" kern="1200" cap="none" spc="0" normalizeH="0" baseline="0" noProof="0" dirty="0" smtClean="0">
                <a:ln>
                  <a:noFill/>
                </a:ln>
                <a:solidFill>
                  <a:srgbClr val="0000FF"/>
                </a:solidFill>
                <a:effectLst/>
                <a:uLnTx/>
                <a:uFillTx/>
                <a:latin typeface="楷体_GB2312" pitchFamily="49" charset="-122"/>
                <a:ea typeface="楷体_GB2312" pitchFamily="49" charset="-122"/>
                <a:cs typeface="+mn-cs"/>
              </a:rPr>
              <a:t>的锻件，由于</a:t>
            </a:r>
            <a:r>
              <a:rPr kumimoji="0" lang="zh-CN" altLang="en-US" sz="1800" b="1" i="0" u="none" strike="noStrike" kern="1200" cap="none" spc="0" normalizeH="0" baseline="0" noProof="0" dirty="0" smtClean="0">
                <a:ln>
                  <a:noFill/>
                </a:ln>
                <a:solidFill>
                  <a:srgbClr val="FF0000"/>
                </a:solidFill>
                <a:effectLst/>
                <a:uLnTx/>
                <a:uFillTx/>
                <a:latin typeface="楷体_GB2312" pitchFamily="49" charset="-122"/>
                <a:ea typeface="楷体_GB2312" pitchFamily="49" charset="-122"/>
                <a:cs typeface="+mn-cs"/>
              </a:rPr>
              <a:t>不可能靠</a:t>
            </a:r>
            <a:endParaRPr kumimoji="0" lang="en-US" altLang="zh-CN" sz="1800" b="1" i="0" u="none" strike="noStrike" kern="1200" cap="none" spc="0" normalizeH="0" baseline="0" noProof="0" dirty="0" smtClean="0">
              <a:ln>
                <a:noFill/>
              </a:ln>
              <a:solidFill>
                <a:srgbClr val="FF0000"/>
              </a:solidFill>
              <a:effectLst/>
              <a:uLnTx/>
              <a:uFillTx/>
              <a:latin typeface="楷体_GB2312" pitchFamily="49" charset="-122"/>
              <a:ea typeface="楷体_GB2312" pitchFamily="49" charset="-122"/>
              <a:cs typeface="+mn-cs"/>
            </a:endParaRPr>
          </a:p>
          <a:p>
            <a:pPr marL="914400" marR="0" lvl="2" indent="0" algn="l" defTabSz="914400" rtl="0" eaLnBrk="1" fontAlgn="base" latinLnBrk="0" hangingPunct="1">
              <a:lnSpc>
                <a:spcPct val="90000"/>
              </a:lnSpc>
              <a:spcBef>
                <a:spcPct val="20000"/>
              </a:spcBef>
              <a:spcAft>
                <a:spcPct val="0"/>
              </a:spcAft>
              <a:buClrTx/>
              <a:buSzTx/>
              <a:buFontTx/>
              <a:buNone/>
              <a:defRPr/>
            </a:pPr>
            <a:r>
              <a:rPr kumimoji="0" lang="zh-CN" altLang="en-US" sz="1800" b="1" i="0" u="none" strike="noStrike" kern="1200" cap="none" spc="0" normalizeH="0" baseline="0" noProof="0" dirty="0" smtClean="0">
                <a:ln>
                  <a:noFill/>
                </a:ln>
                <a:solidFill>
                  <a:srgbClr val="FF0000"/>
                </a:solidFill>
                <a:effectLst/>
                <a:uLnTx/>
                <a:uFillTx/>
                <a:latin typeface="楷体_GB2312" pitchFamily="49" charset="-122"/>
                <a:ea typeface="楷体_GB2312" pitchFamily="49" charset="-122"/>
                <a:cs typeface="+mn-cs"/>
              </a:rPr>
              <a:t>上、下模的突起部分把金属完全挤压到</a:t>
            </a:r>
            <a:endParaRPr kumimoji="0" lang="en-US" altLang="zh-CN" sz="1800" b="1" i="0" u="none" strike="noStrike" kern="1200" cap="none" spc="0" normalizeH="0" baseline="0" noProof="0" dirty="0" smtClean="0">
              <a:ln>
                <a:noFill/>
              </a:ln>
              <a:solidFill>
                <a:srgbClr val="FF0000"/>
              </a:solidFill>
              <a:effectLst/>
              <a:uLnTx/>
              <a:uFillTx/>
              <a:latin typeface="楷体_GB2312" pitchFamily="49" charset="-122"/>
              <a:ea typeface="楷体_GB2312" pitchFamily="49" charset="-122"/>
              <a:cs typeface="+mn-cs"/>
            </a:endParaRPr>
          </a:p>
          <a:p>
            <a:pPr marL="914400" marR="0" lvl="2" indent="0" algn="l" defTabSz="914400" rtl="0" eaLnBrk="1" fontAlgn="base" latinLnBrk="0" hangingPunct="1">
              <a:lnSpc>
                <a:spcPct val="90000"/>
              </a:lnSpc>
              <a:spcBef>
                <a:spcPct val="20000"/>
              </a:spcBef>
              <a:spcAft>
                <a:spcPct val="0"/>
              </a:spcAft>
              <a:buClrTx/>
              <a:buSzTx/>
              <a:buFontTx/>
              <a:buNone/>
              <a:defRPr/>
            </a:pPr>
            <a:r>
              <a:rPr kumimoji="0" lang="zh-CN" altLang="en-US" sz="1800" b="1" i="0" u="none" strike="noStrike" kern="1200" cap="none" spc="0" normalizeH="0" baseline="0" noProof="0" dirty="0" smtClean="0">
                <a:ln>
                  <a:noFill/>
                </a:ln>
                <a:solidFill>
                  <a:srgbClr val="FF0000"/>
                </a:solidFill>
                <a:effectLst/>
                <a:uLnTx/>
                <a:uFillTx/>
                <a:latin typeface="楷体_GB2312" pitchFamily="49" charset="-122"/>
                <a:ea typeface="楷体_GB2312" pitchFamily="49" charset="-122"/>
                <a:cs typeface="+mn-cs"/>
              </a:rPr>
              <a:t>旁边去，</a:t>
            </a:r>
            <a:r>
              <a:rPr kumimoji="0" lang="zh-CN" altLang="en-US" sz="1800" b="1" i="0" u="none" strike="noStrike" kern="1200" cap="none" spc="0" normalizeH="0" baseline="0" noProof="0" dirty="0" smtClean="0">
                <a:ln>
                  <a:noFill/>
                </a:ln>
                <a:solidFill>
                  <a:srgbClr val="0000FF"/>
                </a:solidFill>
                <a:effectLst/>
                <a:uLnTx/>
                <a:uFillTx/>
                <a:latin typeface="楷体_GB2312" pitchFamily="49" charset="-122"/>
                <a:ea typeface="楷体_GB2312" pitchFamily="49" charset="-122"/>
                <a:cs typeface="+mn-cs"/>
              </a:rPr>
              <a:t>故终锻后在孔内留有一薄层金</a:t>
            </a:r>
            <a:endParaRPr kumimoji="0" lang="en-US" altLang="zh-CN" sz="1800" b="1" i="0" u="none" strike="noStrike" kern="1200" cap="none" spc="0" normalizeH="0" baseline="0" noProof="0" dirty="0" smtClean="0">
              <a:ln>
                <a:noFill/>
              </a:ln>
              <a:solidFill>
                <a:srgbClr val="0000FF"/>
              </a:solidFill>
              <a:effectLst/>
              <a:uLnTx/>
              <a:uFillTx/>
              <a:latin typeface="楷体_GB2312" pitchFamily="49" charset="-122"/>
              <a:ea typeface="楷体_GB2312" pitchFamily="49" charset="-122"/>
              <a:cs typeface="+mn-cs"/>
            </a:endParaRPr>
          </a:p>
          <a:p>
            <a:pPr marL="914400" marR="0" lvl="2" indent="0" algn="l" defTabSz="914400" rtl="0" eaLnBrk="1" fontAlgn="base" latinLnBrk="0" hangingPunct="1">
              <a:lnSpc>
                <a:spcPct val="90000"/>
              </a:lnSpc>
              <a:spcBef>
                <a:spcPct val="20000"/>
              </a:spcBef>
              <a:spcAft>
                <a:spcPct val="0"/>
              </a:spcAft>
              <a:buClrTx/>
              <a:buSzTx/>
              <a:buFontTx/>
              <a:buNone/>
              <a:defRPr/>
            </a:pPr>
            <a:r>
              <a:rPr kumimoji="0" lang="zh-CN" altLang="en-US" sz="1800" b="1" i="0" u="none" strike="noStrike" kern="1200" cap="none" spc="0" normalizeH="0" baseline="0" noProof="0" dirty="0" smtClean="0">
                <a:ln>
                  <a:noFill/>
                </a:ln>
                <a:solidFill>
                  <a:srgbClr val="0000FF"/>
                </a:solidFill>
                <a:effectLst/>
                <a:uLnTx/>
                <a:uFillTx/>
                <a:latin typeface="楷体_GB2312" pitchFamily="49" charset="-122"/>
                <a:ea typeface="楷体_GB2312" pitchFamily="49" charset="-122"/>
                <a:cs typeface="+mn-cs"/>
              </a:rPr>
              <a:t>属，称为</a:t>
            </a:r>
            <a:r>
              <a:rPr kumimoji="0" lang="zh-CN" altLang="en-US" sz="1800" b="1" i="0" u="none" strike="noStrike" kern="1200" cap="none" spc="0" normalizeH="0" baseline="0" noProof="0" dirty="0" smtClean="0">
                <a:ln>
                  <a:noFill/>
                </a:ln>
                <a:solidFill>
                  <a:srgbClr val="FF0066"/>
                </a:solidFill>
                <a:effectLst/>
                <a:uLnTx/>
                <a:uFillTx/>
                <a:latin typeface="楷体_GB2312" pitchFamily="49" charset="-122"/>
                <a:ea typeface="楷体_GB2312" pitchFamily="49" charset="-122"/>
                <a:cs typeface="+mn-cs"/>
              </a:rPr>
              <a:t>冲孔连皮</a:t>
            </a:r>
            <a:r>
              <a:rPr kumimoji="0" lang="zh-CN" altLang="en-US" sz="1800" b="1" i="0" u="none" strike="noStrike" kern="1200" cap="none" spc="0" normalizeH="0" baseline="0" noProof="0" dirty="0" smtClean="0">
                <a:ln>
                  <a:noFill/>
                </a:ln>
                <a:solidFill>
                  <a:srgbClr val="0000FF"/>
                </a:solidFill>
                <a:effectLst/>
                <a:uLnTx/>
                <a:uFillTx/>
                <a:latin typeface="楷体_GB2312" pitchFamily="49" charset="-122"/>
                <a:ea typeface="楷体_GB2312" pitchFamily="49" charset="-122"/>
                <a:cs typeface="+mn-cs"/>
              </a:rPr>
              <a:t>。</a:t>
            </a:r>
            <a:r>
              <a:rPr kumimoji="0" lang="zh-CN" altLang="en-US" sz="1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把冲孔连皮和飞边冲掉后，才能得到具有通孔的模锻件。</a:t>
            </a:r>
            <a:endParaRPr kumimoji="0" lang="zh-CN" altLang="en-US" sz="1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p:txBody>
      </p:sp>
      <p:pic>
        <p:nvPicPr>
          <p:cNvPr id="693253" name="Picture 5"/>
          <p:cNvPicPr>
            <a:picLocks noChangeAspect="1"/>
          </p:cNvPicPr>
          <p:nvPr/>
        </p:nvPicPr>
        <p:blipFill>
          <a:blip r:embed="rId1"/>
          <a:stretch>
            <a:fillRect/>
          </a:stretch>
        </p:blipFill>
        <p:spPr>
          <a:xfrm>
            <a:off x="5003800" y="2606675"/>
            <a:ext cx="4105275" cy="2524125"/>
          </a:xfrm>
          <a:prstGeom prst="rect">
            <a:avLst/>
          </a:prstGeom>
          <a:solidFill>
            <a:srgbClr val="FFCC66"/>
          </a:solidFill>
          <a:ln w="9525">
            <a:noFill/>
          </a:ln>
        </p:spPr>
      </p:pic>
      <p:sp>
        <p:nvSpPr>
          <p:cNvPr id="72709" name="Rectangle 7"/>
          <p:cNvSpPr/>
          <p:nvPr/>
        </p:nvSpPr>
        <p:spPr>
          <a:xfrm>
            <a:off x="3779838" y="350838"/>
            <a:ext cx="2663825" cy="706755"/>
          </a:xfrm>
          <a:prstGeom prst="rect">
            <a:avLst/>
          </a:prstGeom>
          <a:noFill/>
          <a:ln w="9525">
            <a:noFill/>
          </a:ln>
        </p:spPr>
        <p:txBody>
          <a:bodyPr>
            <a:spAutoFit/>
          </a:bodyPr>
          <a:p>
            <a:pPr algn="ctr" eaLnBrk="1" hangingPunct="1"/>
            <a:r>
              <a:rPr lang="zh-CN" altLang="en-US" sz="4000" b="1" dirty="0">
                <a:solidFill>
                  <a:schemeClr val="tx2"/>
                </a:solidFill>
                <a:latin typeface="Arial" panose="020B0604020202020204" pitchFamily="34" charset="0"/>
                <a:ea typeface="楷体_GB2312" pitchFamily="49" charset="-122"/>
              </a:rPr>
              <a:t>锤上模锻</a:t>
            </a:r>
            <a:endParaRPr lang="zh-CN" altLang="en-US" sz="4000" b="1" dirty="0">
              <a:solidFill>
                <a:schemeClr val="tx2"/>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693253"/>
                                        </p:tgtEl>
                                        <p:attrNameLst>
                                          <p:attrName>style.visibility</p:attrName>
                                        </p:attrNameLst>
                                      </p:cBhvr>
                                      <p:to>
                                        <p:strVal val="visible"/>
                                      </p:to>
                                    </p:set>
                                    <p:animEffect transition="in" filter="diamond(in)">
                                      <p:cBhvr>
                                        <p:cTn id="7" dur="2000"/>
                                        <p:tgtEl>
                                          <p:spTgt spid="693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标题 1"/>
          <p:cNvSpPr>
            <a:spLocks noGrp="1"/>
          </p:cNvSpPr>
          <p:nvPr>
            <p:ph type="title"/>
          </p:nvPr>
        </p:nvSpPr>
        <p:spPr/>
        <p:txBody>
          <a:bodyPr vert="horz" wrap="square" lIns="91440" tIns="45720" rIns="91440" bIns="45720" anchor="ctr" anchorCtr="0"/>
          <a:p>
            <a:r>
              <a:rPr lang="zh-CN" altLang="en-US" dirty="0"/>
              <a:t>锤上模锻</a:t>
            </a:r>
            <a:endParaRPr lang="zh-CN" altLang="en-US" dirty="0"/>
          </a:p>
        </p:txBody>
      </p:sp>
      <p:pic>
        <p:nvPicPr>
          <p:cNvPr id="73731" name="图片 3"/>
          <p:cNvPicPr>
            <a:picLocks noChangeAspect="1"/>
          </p:cNvPicPr>
          <p:nvPr/>
        </p:nvPicPr>
        <p:blipFill>
          <a:blip r:embed="rId1"/>
          <a:stretch>
            <a:fillRect/>
          </a:stretch>
        </p:blipFill>
        <p:spPr>
          <a:xfrm>
            <a:off x="2176463" y="4004628"/>
            <a:ext cx="4791075" cy="2374900"/>
          </a:xfrm>
          <a:prstGeom prst="rect">
            <a:avLst/>
          </a:prstGeom>
          <a:noFill/>
          <a:ln w="9525">
            <a:noFill/>
          </a:ln>
        </p:spPr>
      </p:pic>
      <p:sp>
        <p:nvSpPr>
          <p:cNvPr id="5" name="Rectangle 6"/>
          <p:cNvSpPr/>
          <p:nvPr/>
        </p:nvSpPr>
        <p:spPr>
          <a:xfrm>
            <a:off x="338138" y="1773238"/>
            <a:ext cx="8086725" cy="1754187"/>
          </a:xfrm>
          <a:prstGeom prst="rect">
            <a:avLst/>
          </a:prstGeom>
          <a:noFill/>
          <a:ln w="9525">
            <a:noFill/>
          </a:ln>
        </p:spPr>
        <p:txBody>
          <a:bodyPr>
            <a:spAutoFit/>
          </a:bodyPr>
          <a:p>
            <a:pPr lvl="1" eaLnBrk="1" hangingPunct="1">
              <a:spcBef>
                <a:spcPct val="50000"/>
              </a:spcBef>
              <a:buClr>
                <a:srgbClr val="009900"/>
              </a:buClr>
              <a:buFont typeface="宋体" panose="02010600030101010101" pitchFamily="2" charset="-122"/>
              <a:buChar char="–"/>
            </a:pPr>
            <a:r>
              <a:rPr lang="zh-CN" altLang="en-US" sz="2400" b="1" dirty="0">
                <a:solidFill>
                  <a:srgbClr val="009900"/>
                </a:solidFill>
                <a:latin typeface="楷体_GB2312" pitchFamily="49" charset="-122"/>
                <a:ea typeface="楷体_GB2312" pitchFamily="49" charset="-122"/>
              </a:rPr>
              <a:t>预锻模膛</a:t>
            </a:r>
            <a:endParaRPr lang="zh-CN" altLang="en-US" sz="2400" b="1" dirty="0">
              <a:solidFill>
                <a:srgbClr val="009900"/>
              </a:solidFill>
              <a:latin typeface="楷体_GB2312" pitchFamily="49" charset="-122"/>
              <a:ea typeface="楷体_GB2312" pitchFamily="49" charset="-122"/>
            </a:endParaRPr>
          </a:p>
          <a:p>
            <a:pPr lvl="2" eaLnBrk="1" hangingPunct="1">
              <a:spcBef>
                <a:spcPct val="50000"/>
              </a:spcBef>
              <a:buClr>
                <a:schemeClr val="accent2"/>
              </a:buClr>
              <a:buSzPct val="60000"/>
              <a:buFont typeface="Wingdings" panose="05000000000000000000" pitchFamily="2" charset="2"/>
            </a:pPr>
            <a:r>
              <a:rPr lang="zh-CN" altLang="en-US" sz="2400" b="1" dirty="0">
                <a:latin typeface="楷体_GB2312" pitchFamily="49" charset="-122"/>
                <a:ea typeface="楷体_GB2312" pitchFamily="49" charset="-122"/>
              </a:rPr>
              <a:t>   作用：使坯料变形到接近于锻件的形状和尺寸，终锻时，金属容易充满终锻模膛，同时减少终锻模膛的磨损，延长锻模的使用寿命。</a:t>
            </a:r>
            <a:endParaRPr lang="zh-CN" altLang="en-US" sz="2400" b="1"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5">
                                            <p:txEl>
                                              <p:charRg st="0" end="5"/>
                                            </p:txEl>
                                          </p:spTgt>
                                        </p:tgtEl>
                                        <p:attrNameLst>
                                          <p:attrName>style.visibility</p:attrName>
                                        </p:attrNameLst>
                                      </p:cBhvr>
                                      <p:to>
                                        <p:strVal val="visible"/>
                                      </p:to>
                                    </p:set>
                                    <p:animEffect transition="in" filter="diamond(in)">
                                      <p:cBhvr>
                                        <p:cTn id="7" dur="2000"/>
                                        <p:tgtEl>
                                          <p:spTgt spid="5">
                                            <p:txEl>
                                              <p:charRg st="0" end="5"/>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5">
                                            <p:txEl>
                                              <p:charRg st="5" end="67"/>
                                            </p:txEl>
                                          </p:spTgt>
                                        </p:tgtEl>
                                        <p:attrNameLst>
                                          <p:attrName>style.visibility</p:attrName>
                                        </p:attrNameLst>
                                      </p:cBhvr>
                                      <p:to>
                                        <p:strVal val="visible"/>
                                      </p:to>
                                    </p:set>
                                    <p:animEffect transition="in" filter="diamond(in)">
                                      <p:cBhvr>
                                        <p:cTn id="10" dur="2000"/>
                                        <p:tgtEl>
                                          <p:spTgt spid="5">
                                            <p:txEl>
                                              <p:charRg st="5" end="6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Grp="1"/>
          </p:cNvSpPr>
          <p:nvPr>
            <p:ph type="title"/>
          </p:nvPr>
        </p:nvSpPr>
        <p:spPr/>
        <p:txBody>
          <a:bodyPr vert="horz" wrap="square" lIns="91440" tIns="45720" rIns="91440" bIns="45720" anchor="ctr" anchorCtr="0"/>
          <a:p>
            <a:pPr algn="ctr" eaLnBrk="1" hangingPunct="1"/>
            <a:r>
              <a:rPr lang="zh-CN" altLang="en-US" sz="4000" dirty="0">
                <a:ea typeface="楷体_GB2312" pitchFamily="49" charset="-122"/>
              </a:rPr>
              <a:t>锤上模锻</a:t>
            </a:r>
            <a:endParaRPr lang="zh-CN" altLang="en-US" sz="4000" dirty="0">
              <a:ea typeface="楷体_GB2312" pitchFamily="49" charset="-122"/>
            </a:endParaRPr>
          </a:p>
        </p:txBody>
      </p:sp>
      <p:sp>
        <p:nvSpPr>
          <p:cNvPr id="704515" name="Rectangle 3"/>
          <p:cNvSpPr>
            <a:spLocks noGrp="1"/>
          </p:cNvSpPr>
          <p:nvPr>
            <p:ph type="body" sz="half" idx="1"/>
          </p:nvPr>
        </p:nvSpPr>
        <p:spPr>
          <a:xfrm>
            <a:off x="682625" y="1484313"/>
            <a:ext cx="7993063" cy="1873250"/>
          </a:xfrm>
        </p:spPr>
        <p:txBody>
          <a:bodyPr vert="horz" wrap="square" lIns="91440" tIns="45720" rIns="91440" bIns="45720" anchor="t" anchorCtr="0"/>
          <a:p>
            <a:pPr eaLnBrk="1" hangingPunct="1">
              <a:lnSpc>
                <a:spcPct val="80000"/>
              </a:lnSpc>
              <a:buClrTx/>
              <a:buSzTx/>
              <a:buFontTx/>
            </a:pPr>
            <a:r>
              <a:rPr lang="zh-CN" altLang="en-US" sz="2000" b="1" dirty="0">
                <a:solidFill>
                  <a:srgbClr val="FF0000"/>
                </a:solidFill>
                <a:latin typeface="楷体_GB2312" pitchFamily="49" charset="-122"/>
                <a:ea typeface="楷体_GB2312" pitchFamily="49" charset="-122"/>
              </a:rPr>
              <a:t>制坯模膛：</a:t>
            </a:r>
            <a:r>
              <a:rPr lang="zh-CN" altLang="en-US" sz="2000" b="1" dirty="0">
                <a:latin typeface="楷体_GB2312" pitchFamily="49" charset="-122"/>
                <a:ea typeface="楷体_GB2312" pitchFamily="49" charset="-122"/>
              </a:rPr>
              <a:t>形状复杂的模锻件，使金属能合理分布，接近锻件形状，更容易地充满模膛。</a:t>
            </a:r>
            <a:endParaRPr lang="zh-CN" altLang="en-US" sz="2000" b="1" dirty="0">
              <a:latin typeface="楷体_GB2312" pitchFamily="49" charset="-122"/>
              <a:ea typeface="楷体_GB2312" pitchFamily="49" charset="-122"/>
            </a:endParaRPr>
          </a:p>
          <a:p>
            <a:pPr eaLnBrk="1" hangingPunct="1">
              <a:lnSpc>
                <a:spcPct val="80000"/>
              </a:lnSpc>
              <a:buClrTx/>
              <a:buSzTx/>
              <a:buFontTx/>
              <a:buNone/>
            </a:pPr>
            <a:r>
              <a:rPr lang="zh-CN" altLang="en-US" sz="2000" b="1" dirty="0">
                <a:latin typeface="楷体_GB2312" pitchFamily="49" charset="-122"/>
                <a:ea typeface="楷体_GB2312" pitchFamily="49" charset="-122"/>
              </a:rPr>
              <a:t>   </a:t>
            </a:r>
            <a:r>
              <a:rPr lang="en-US" altLang="zh-CN" sz="2000" b="1" dirty="0">
                <a:solidFill>
                  <a:srgbClr val="CC3300"/>
                </a:solidFill>
                <a:latin typeface="楷体_GB2312" pitchFamily="49" charset="-122"/>
                <a:ea typeface="楷体_GB2312" pitchFamily="49" charset="-122"/>
              </a:rPr>
              <a:t>Ⅰ</a:t>
            </a:r>
            <a:r>
              <a:rPr lang="zh-CN" altLang="en-US" sz="2000" b="1" dirty="0">
                <a:solidFill>
                  <a:srgbClr val="CC3300"/>
                </a:solidFill>
                <a:latin typeface="楷体_GB2312" pitchFamily="49" charset="-122"/>
                <a:ea typeface="楷体_GB2312" pitchFamily="49" charset="-122"/>
              </a:rPr>
              <a:t>拔长模膛：</a:t>
            </a:r>
            <a:r>
              <a:rPr lang="zh-CN" altLang="en-US" sz="2000" b="1" dirty="0">
                <a:latin typeface="楷体_GB2312" pitchFamily="49" charset="-122"/>
                <a:ea typeface="楷体_GB2312" pitchFamily="49" charset="-122"/>
              </a:rPr>
              <a:t>减少坯料某部分的横截面积，以增加该部分的长度，模锻件沿轴向横截面积相差较大时使用。拔长模膛分为开式和闭式两种。</a:t>
            </a:r>
            <a:endParaRPr lang="zh-CN" altLang="en-US" sz="2000" b="1" dirty="0">
              <a:latin typeface="楷体_GB2312" pitchFamily="49" charset="-122"/>
              <a:ea typeface="楷体_GB2312" pitchFamily="49" charset="-122"/>
            </a:endParaRPr>
          </a:p>
          <a:p>
            <a:pPr eaLnBrk="1" hangingPunct="1">
              <a:lnSpc>
                <a:spcPct val="80000"/>
              </a:lnSpc>
              <a:buClrTx/>
              <a:buSzTx/>
              <a:buFontTx/>
              <a:buNone/>
            </a:pPr>
            <a:r>
              <a:rPr lang="zh-CN" altLang="en-US" sz="2000" b="1" dirty="0">
                <a:latin typeface="楷体_GB2312" pitchFamily="49" charset="-122"/>
                <a:ea typeface="楷体_GB2312" pitchFamily="49" charset="-122"/>
              </a:rPr>
              <a:t>  </a:t>
            </a:r>
            <a:r>
              <a:rPr lang="zh-CN" altLang="en-US" sz="2000" b="1" dirty="0">
                <a:solidFill>
                  <a:srgbClr val="CC3300"/>
                </a:solidFill>
                <a:latin typeface="楷体_GB2312" pitchFamily="49" charset="-122"/>
                <a:ea typeface="楷体_GB2312" pitchFamily="49" charset="-122"/>
              </a:rPr>
              <a:t> </a:t>
            </a:r>
            <a:r>
              <a:rPr lang="en-US" altLang="zh-CN" sz="2000" b="1" dirty="0">
                <a:solidFill>
                  <a:srgbClr val="CC3300"/>
                </a:solidFill>
                <a:latin typeface="楷体_GB2312" pitchFamily="49" charset="-122"/>
                <a:ea typeface="楷体_GB2312" pitchFamily="49" charset="-122"/>
              </a:rPr>
              <a:t>Ⅱ </a:t>
            </a:r>
            <a:r>
              <a:rPr lang="zh-CN" altLang="en-US" sz="2000" b="1" dirty="0">
                <a:solidFill>
                  <a:srgbClr val="CC3300"/>
                </a:solidFill>
                <a:latin typeface="楷体_GB2312" pitchFamily="49" charset="-122"/>
                <a:ea typeface="楷体_GB2312" pitchFamily="49" charset="-122"/>
              </a:rPr>
              <a:t>滚压模膛：</a:t>
            </a:r>
            <a:r>
              <a:rPr lang="zh-CN" altLang="en-US" sz="2000" b="1" dirty="0">
                <a:latin typeface="楷体_GB2312" pitchFamily="49" charset="-122"/>
                <a:ea typeface="楷体_GB2312" pitchFamily="49" charset="-122"/>
              </a:rPr>
              <a:t>减少坯料某一部分的横截面积，以增加另一部分的横截面积。分开式、</a:t>
            </a:r>
            <a:r>
              <a:rPr lang="zh-CN" altLang="en-US" sz="2000" b="1" dirty="0">
                <a:solidFill>
                  <a:srgbClr val="33CC33"/>
                </a:solidFill>
                <a:latin typeface="楷体_GB2312" pitchFamily="49" charset="-122"/>
                <a:ea typeface="楷体_GB2312" pitchFamily="49" charset="-122"/>
              </a:rPr>
              <a:t>闭式</a:t>
            </a:r>
            <a:r>
              <a:rPr lang="zh-CN" altLang="en-US" sz="2000" b="1" dirty="0">
                <a:latin typeface="楷体_GB2312" pitchFamily="49" charset="-122"/>
                <a:ea typeface="楷体_GB2312" pitchFamily="49" charset="-122"/>
              </a:rPr>
              <a:t>。</a:t>
            </a:r>
            <a:endParaRPr lang="zh-CN" altLang="en-US" sz="2000" b="1" dirty="0">
              <a:latin typeface="楷体_GB2312" pitchFamily="49" charset="-122"/>
              <a:ea typeface="楷体_GB2312" pitchFamily="49" charset="-122"/>
            </a:endParaRPr>
          </a:p>
          <a:p>
            <a:pPr eaLnBrk="1" hangingPunct="1">
              <a:lnSpc>
                <a:spcPct val="80000"/>
              </a:lnSpc>
              <a:buClrTx/>
              <a:buSzTx/>
              <a:buFontTx/>
              <a:buNone/>
            </a:pPr>
            <a:r>
              <a:rPr lang="zh-CN" altLang="en-US" sz="2000" b="1" dirty="0">
                <a:latin typeface="楷体_GB2312" pitchFamily="49" charset="-122"/>
                <a:ea typeface="楷体_GB2312" pitchFamily="49" charset="-122"/>
              </a:rPr>
              <a:t>   </a:t>
            </a:r>
            <a:endParaRPr lang="zh-CN" altLang="en-US" sz="2000" b="1" dirty="0">
              <a:latin typeface="宋体" panose="02010600030101010101" pitchFamily="2" charset="-122"/>
            </a:endParaRPr>
          </a:p>
          <a:p>
            <a:pPr lvl="2" eaLnBrk="1" hangingPunct="1">
              <a:lnSpc>
                <a:spcPct val="80000"/>
              </a:lnSpc>
            </a:pPr>
            <a:endParaRPr lang="en-US" altLang="zh-CN" sz="2000" dirty="0">
              <a:latin typeface="宋体" panose="02010600030101010101" pitchFamily="2" charset="-122"/>
            </a:endParaRPr>
          </a:p>
        </p:txBody>
      </p:sp>
      <p:grpSp>
        <p:nvGrpSpPr>
          <p:cNvPr id="74756" name="Group 9"/>
          <p:cNvGrpSpPr/>
          <p:nvPr/>
        </p:nvGrpSpPr>
        <p:grpSpPr>
          <a:xfrm>
            <a:off x="5678488" y="1633538"/>
            <a:ext cx="0" cy="2060575"/>
            <a:chOff x="2653" y="1008"/>
            <a:chExt cx="3450" cy="1379"/>
          </a:xfrm>
        </p:grpSpPr>
        <p:pic>
          <p:nvPicPr>
            <p:cNvPr id="74758" name="Picture 5"/>
            <p:cNvPicPr>
              <a:picLocks noChangeAspect="1"/>
            </p:cNvPicPr>
            <p:nvPr/>
          </p:nvPicPr>
          <p:blipFill>
            <a:blip r:embed="rId1"/>
            <a:stretch>
              <a:fillRect/>
            </a:stretch>
          </p:blipFill>
          <p:spPr>
            <a:xfrm>
              <a:off x="2653" y="1008"/>
              <a:ext cx="1807" cy="1379"/>
            </a:xfrm>
            <a:prstGeom prst="rect">
              <a:avLst/>
            </a:prstGeom>
            <a:solidFill>
              <a:srgbClr val="CCFFFF"/>
            </a:solidFill>
            <a:ln w="9525">
              <a:noFill/>
            </a:ln>
          </p:spPr>
        </p:pic>
        <p:pic>
          <p:nvPicPr>
            <p:cNvPr id="74759" name="Picture 7"/>
            <p:cNvPicPr>
              <a:picLocks noChangeAspect="1"/>
            </p:cNvPicPr>
            <p:nvPr/>
          </p:nvPicPr>
          <p:blipFill>
            <a:blip r:embed="rId2"/>
            <a:stretch>
              <a:fillRect/>
            </a:stretch>
          </p:blipFill>
          <p:spPr>
            <a:xfrm>
              <a:off x="4332" y="1008"/>
              <a:ext cx="1771" cy="1379"/>
            </a:xfrm>
            <a:prstGeom prst="rect">
              <a:avLst/>
            </a:prstGeom>
            <a:solidFill>
              <a:srgbClr val="CCFFFF"/>
            </a:solidFill>
            <a:ln w="9525">
              <a:noFill/>
            </a:ln>
          </p:spPr>
        </p:pic>
      </p:grpSp>
      <p:pic>
        <p:nvPicPr>
          <p:cNvPr id="74757" name="Picture 12"/>
          <p:cNvPicPr>
            <a:picLocks noChangeAspect="1"/>
          </p:cNvPicPr>
          <p:nvPr/>
        </p:nvPicPr>
        <p:blipFill>
          <a:blip r:embed="rId3"/>
          <a:stretch>
            <a:fillRect/>
          </a:stretch>
        </p:blipFill>
        <p:spPr>
          <a:xfrm>
            <a:off x="1011238" y="3632200"/>
            <a:ext cx="7448550" cy="26765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04515">
                                            <p:txEl>
                                              <p:charRg st="40" end="105"/>
                                            </p:txEl>
                                          </p:spTgt>
                                        </p:tgtEl>
                                        <p:attrNameLst>
                                          <p:attrName>style.visibility</p:attrName>
                                        </p:attrNameLst>
                                      </p:cBhvr>
                                      <p:to>
                                        <p:strVal val="visible"/>
                                      </p:to>
                                    </p:set>
                                    <p:animEffect transition="in" filter="blinds(horizontal)">
                                      <p:cBhvr>
                                        <p:cTn id="7" dur="500"/>
                                        <p:tgtEl>
                                          <p:spTgt spid="704515">
                                            <p:txEl>
                                              <p:charRg st="40" end="10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04515">
                                            <p:txEl>
                                              <p:charRg st="105" end="150"/>
                                            </p:txEl>
                                          </p:spTgt>
                                        </p:tgtEl>
                                        <p:attrNameLst>
                                          <p:attrName>style.visibility</p:attrName>
                                        </p:attrNameLst>
                                      </p:cBhvr>
                                      <p:to>
                                        <p:strVal val="visible"/>
                                      </p:to>
                                    </p:set>
                                    <p:animEffect transition="in" filter="blinds(horizontal)">
                                      <p:cBhvr>
                                        <p:cTn id="12" dur="500"/>
                                        <p:tgtEl>
                                          <p:spTgt spid="704515">
                                            <p:txEl>
                                              <p:charRg st="105" end="15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04515">
                                            <p:txEl>
                                              <p:charRg st="150" end="154"/>
                                            </p:txEl>
                                          </p:spTgt>
                                        </p:tgtEl>
                                        <p:attrNameLst>
                                          <p:attrName>style.visibility</p:attrName>
                                        </p:attrNameLst>
                                      </p:cBhvr>
                                      <p:to>
                                        <p:strVal val="visible"/>
                                      </p:to>
                                    </p:set>
                                    <p:animEffect transition="in" filter="blinds(horizontal)">
                                      <p:cBhvr>
                                        <p:cTn id="17" dur="500"/>
                                        <p:tgtEl>
                                          <p:spTgt spid="704515">
                                            <p:txEl>
                                              <p:charRg st="150" end="15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Grp="1"/>
          </p:cNvSpPr>
          <p:nvPr>
            <p:ph type="title"/>
          </p:nvPr>
        </p:nvSpPr>
        <p:spPr/>
        <p:txBody>
          <a:bodyPr vert="horz" wrap="square" lIns="91440" tIns="45720" rIns="91440" bIns="45720" anchor="ctr" anchorCtr="0"/>
          <a:p>
            <a:pPr algn="ctr" eaLnBrk="1" hangingPunct="1"/>
            <a:r>
              <a:rPr lang="zh-CN" altLang="en-US" sz="4000" dirty="0">
                <a:ea typeface="楷体_GB2312" pitchFamily="49" charset="-122"/>
              </a:rPr>
              <a:t>锤上模锻</a:t>
            </a:r>
            <a:endParaRPr lang="zh-CN" altLang="en-US" sz="4000" dirty="0">
              <a:ea typeface="楷体_GB2312" pitchFamily="49" charset="-122"/>
            </a:endParaRPr>
          </a:p>
        </p:txBody>
      </p:sp>
      <p:sp>
        <p:nvSpPr>
          <p:cNvPr id="1113091" name="Rectangle 3"/>
          <p:cNvSpPr>
            <a:spLocks noGrp="1"/>
          </p:cNvSpPr>
          <p:nvPr>
            <p:ph type="body" sz="half" idx="1"/>
          </p:nvPr>
        </p:nvSpPr>
        <p:spPr>
          <a:xfrm>
            <a:off x="250825" y="1412875"/>
            <a:ext cx="8353425" cy="1584325"/>
          </a:xfrm>
        </p:spPr>
        <p:txBody>
          <a:bodyPr vert="horz" wrap="square" lIns="91440" tIns="45720" rIns="91440" bIns="45720" anchor="t" anchorCtr="0"/>
          <a:p>
            <a:pPr eaLnBrk="1" hangingPunct="1">
              <a:lnSpc>
                <a:spcPct val="90000"/>
              </a:lnSpc>
              <a:buClrTx/>
              <a:buSzTx/>
              <a:buFontTx/>
            </a:pPr>
            <a:r>
              <a:rPr lang="zh-CN" altLang="en-US" sz="2400" b="1" dirty="0">
                <a:solidFill>
                  <a:srgbClr val="FF0000"/>
                </a:solidFill>
                <a:latin typeface="楷体_GB2312" pitchFamily="49" charset="-122"/>
                <a:ea typeface="楷体_GB2312" pitchFamily="49" charset="-122"/>
              </a:rPr>
              <a:t>制坯模膛：</a:t>
            </a:r>
            <a:endParaRPr lang="zh-CN" altLang="en-US" sz="2400" b="1" dirty="0">
              <a:solidFill>
                <a:srgbClr val="FF0000"/>
              </a:solidFill>
              <a:latin typeface="楷体_GB2312" pitchFamily="49" charset="-122"/>
              <a:ea typeface="楷体_GB2312" pitchFamily="49" charset="-122"/>
            </a:endParaRPr>
          </a:p>
          <a:p>
            <a:pPr eaLnBrk="1" hangingPunct="1">
              <a:lnSpc>
                <a:spcPct val="90000"/>
              </a:lnSpc>
              <a:buClrTx/>
              <a:buSzTx/>
              <a:buFontTx/>
              <a:buNone/>
            </a:pPr>
            <a:r>
              <a:rPr lang="en-US" altLang="zh-CN" sz="2400" b="1" dirty="0">
                <a:solidFill>
                  <a:srgbClr val="CC3300"/>
                </a:solidFill>
                <a:latin typeface="楷体_GB2312" pitchFamily="49" charset="-122"/>
                <a:ea typeface="楷体_GB2312" pitchFamily="49" charset="-122"/>
              </a:rPr>
              <a:t>Ⅲ</a:t>
            </a:r>
            <a:r>
              <a:rPr lang="en-US" altLang="zh-CN" sz="2400" b="1" dirty="0">
                <a:latin typeface="楷体_GB2312" pitchFamily="49" charset="-122"/>
                <a:ea typeface="楷体_GB2312" pitchFamily="49" charset="-122"/>
              </a:rPr>
              <a:t> </a:t>
            </a:r>
            <a:r>
              <a:rPr lang="zh-CN" altLang="en-US" sz="2400" b="1" dirty="0">
                <a:solidFill>
                  <a:srgbClr val="CC3300"/>
                </a:solidFill>
                <a:latin typeface="楷体_GB2312" pitchFamily="49" charset="-122"/>
                <a:ea typeface="楷体_GB2312" pitchFamily="49" charset="-122"/>
              </a:rPr>
              <a:t>弯曲模膛：</a:t>
            </a:r>
            <a:r>
              <a:rPr lang="zh-CN" altLang="en-US" sz="2400" b="1" dirty="0">
                <a:latin typeface="楷体_GB2312" pitchFamily="49" charset="-122"/>
                <a:ea typeface="楷体_GB2312" pitchFamily="49" charset="-122"/>
              </a:rPr>
              <a:t>对于弯曲的杆类模锻件进行弯曲。</a:t>
            </a:r>
            <a:endParaRPr lang="zh-CN" altLang="en-US" sz="2400" b="1" dirty="0">
              <a:latin typeface="楷体_GB2312" pitchFamily="49" charset="-122"/>
              <a:ea typeface="楷体_GB2312" pitchFamily="49" charset="-122"/>
            </a:endParaRPr>
          </a:p>
          <a:p>
            <a:pPr eaLnBrk="1" hangingPunct="1">
              <a:lnSpc>
                <a:spcPct val="90000"/>
              </a:lnSpc>
              <a:buClrTx/>
              <a:buSzTx/>
              <a:buFontTx/>
              <a:buNone/>
            </a:pPr>
            <a:r>
              <a:rPr lang="en-US" altLang="zh-CN" sz="2400" b="1" dirty="0">
                <a:solidFill>
                  <a:srgbClr val="CC3300"/>
                </a:solidFill>
                <a:latin typeface="楷体_GB2312" pitchFamily="49" charset="-122"/>
                <a:ea typeface="楷体_GB2312" pitchFamily="49" charset="-122"/>
              </a:rPr>
              <a:t>Ⅳ </a:t>
            </a:r>
            <a:r>
              <a:rPr lang="zh-CN" altLang="en-US" sz="2400" b="1" dirty="0">
                <a:solidFill>
                  <a:srgbClr val="CC3300"/>
                </a:solidFill>
                <a:latin typeface="楷体_GB2312" pitchFamily="49" charset="-122"/>
                <a:ea typeface="楷体_GB2312" pitchFamily="49" charset="-122"/>
              </a:rPr>
              <a:t>切断模膛：</a:t>
            </a:r>
            <a:r>
              <a:rPr lang="zh-CN" altLang="en-US" sz="2400" b="1" dirty="0">
                <a:latin typeface="楷体_GB2312" pitchFamily="49" charset="-122"/>
                <a:ea typeface="楷体_GB2312" pitchFamily="49" charset="-122"/>
              </a:rPr>
              <a:t>在上模与下模的角上组成一对刃口，用来切断金属。</a:t>
            </a:r>
            <a:endParaRPr lang="zh-CN" altLang="en-US" sz="2400" b="1" dirty="0">
              <a:latin typeface="楷体_GB2312" pitchFamily="49" charset="-122"/>
              <a:ea typeface="楷体_GB2312" pitchFamily="49" charset="-122"/>
            </a:endParaRPr>
          </a:p>
          <a:p>
            <a:pPr lvl="2" eaLnBrk="1" hangingPunct="1">
              <a:lnSpc>
                <a:spcPct val="90000"/>
              </a:lnSpc>
            </a:pPr>
            <a:endParaRPr lang="zh-CN" altLang="en-US" b="1" dirty="0">
              <a:latin typeface="宋体" panose="02010600030101010101" pitchFamily="2" charset="-122"/>
            </a:endParaRPr>
          </a:p>
          <a:p>
            <a:pPr lvl="2" eaLnBrk="1" hangingPunct="1">
              <a:lnSpc>
                <a:spcPct val="90000"/>
              </a:lnSpc>
            </a:pPr>
            <a:endParaRPr lang="en-US" altLang="zh-CN" sz="2000" dirty="0">
              <a:latin typeface="宋体" panose="02010600030101010101" pitchFamily="2" charset="-122"/>
            </a:endParaRPr>
          </a:p>
        </p:txBody>
      </p:sp>
      <p:grpSp>
        <p:nvGrpSpPr>
          <p:cNvPr id="75780" name="Group 4"/>
          <p:cNvGrpSpPr/>
          <p:nvPr/>
        </p:nvGrpSpPr>
        <p:grpSpPr>
          <a:xfrm>
            <a:off x="5678488" y="1633538"/>
            <a:ext cx="0" cy="2060575"/>
            <a:chOff x="2653" y="1008"/>
            <a:chExt cx="3450" cy="1379"/>
          </a:xfrm>
        </p:grpSpPr>
        <p:pic>
          <p:nvPicPr>
            <p:cNvPr id="75782" name="Picture 5"/>
            <p:cNvPicPr>
              <a:picLocks noChangeAspect="1"/>
            </p:cNvPicPr>
            <p:nvPr/>
          </p:nvPicPr>
          <p:blipFill>
            <a:blip r:embed="rId1"/>
            <a:stretch>
              <a:fillRect/>
            </a:stretch>
          </p:blipFill>
          <p:spPr>
            <a:xfrm>
              <a:off x="2653" y="1008"/>
              <a:ext cx="1807" cy="1379"/>
            </a:xfrm>
            <a:prstGeom prst="rect">
              <a:avLst/>
            </a:prstGeom>
            <a:solidFill>
              <a:srgbClr val="CCFFFF"/>
            </a:solidFill>
            <a:ln w="9525">
              <a:noFill/>
            </a:ln>
          </p:spPr>
        </p:pic>
        <p:pic>
          <p:nvPicPr>
            <p:cNvPr id="75783" name="Picture 6"/>
            <p:cNvPicPr>
              <a:picLocks noChangeAspect="1"/>
            </p:cNvPicPr>
            <p:nvPr/>
          </p:nvPicPr>
          <p:blipFill>
            <a:blip r:embed="rId2"/>
            <a:stretch>
              <a:fillRect/>
            </a:stretch>
          </p:blipFill>
          <p:spPr>
            <a:xfrm>
              <a:off x="4332" y="1008"/>
              <a:ext cx="1771" cy="1379"/>
            </a:xfrm>
            <a:prstGeom prst="rect">
              <a:avLst/>
            </a:prstGeom>
            <a:solidFill>
              <a:srgbClr val="CCFFFF"/>
            </a:solidFill>
            <a:ln w="9525">
              <a:noFill/>
            </a:ln>
          </p:spPr>
        </p:pic>
      </p:grpSp>
      <p:pic>
        <p:nvPicPr>
          <p:cNvPr id="75781" name="Picture 7" descr="316"/>
          <p:cNvPicPr>
            <a:picLocks noChangeAspect="1"/>
          </p:cNvPicPr>
          <p:nvPr/>
        </p:nvPicPr>
        <p:blipFill>
          <a:blip r:embed="rId3"/>
          <a:srcRect l="19275" t="3601" r="5692" b="9409"/>
          <a:stretch>
            <a:fillRect/>
          </a:stretch>
        </p:blipFill>
        <p:spPr>
          <a:xfrm>
            <a:off x="2268538" y="3251200"/>
            <a:ext cx="4032250" cy="26987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13091">
                                            <p:txEl>
                                              <p:charRg st="29" end="60"/>
                                            </p:txEl>
                                          </p:spTgt>
                                        </p:tgtEl>
                                        <p:attrNameLst>
                                          <p:attrName>style.visibility</p:attrName>
                                        </p:attrNameLst>
                                      </p:cBhvr>
                                      <p:to>
                                        <p:strVal val="visible"/>
                                      </p:to>
                                    </p:set>
                                    <p:animEffect transition="in" filter="blinds(horizontal)">
                                      <p:cBhvr>
                                        <p:cTn id="7" dur="500"/>
                                        <p:tgtEl>
                                          <p:spTgt spid="1113091">
                                            <p:txEl>
                                              <p:charRg st="29" end="6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2"/>
          <p:cNvSpPr>
            <a:spLocks noGrp="1"/>
          </p:cNvSpPr>
          <p:nvPr>
            <p:ph type="title"/>
          </p:nvPr>
        </p:nvSpPr>
        <p:spPr>
          <a:xfrm>
            <a:off x="323850" y="117475"/>
            <a:ext cx="5040313" cy="1008063"/>
          </a:xfrm>
        </p:spPr>
        <p:txBody>
          <a:bodyPr vert="horz" wrap="square" lIns="91440" tIns="45720" rIns="91440" bIns="45720" anchor="ctr" anchorCtr="0"/>
          <a:p>
            <a:pPr eaLnBrk="1" hangingPunct="1"/>
            <a:r>
              <a:rPr lang="zh-CN" altLang="en-US" dirty="0"/>
              <a:t>锤上模锻</a:t>
            </a:r>
            <a:endParaRPr lang="zh-CN" altLang="en-US" dirty="0"/>
          </a:p>
        </p:txBody>
      </p:sp>
      <p:sp>
        <p:nvSpPr>
          <p:cNvPr id="76803" name="Rectangle 3"/>
          <p:cNvSpPr>
            <a:spLocks noGrp="1"/>
          </p:cNvSpPr>
          <p:nvPr>
            <p:ph idx="1"/>
          </p:nvPr>
        </p:nvSpPr>
        <p:spPr>
          <a:xfrm>
            <a:off x="395288" y="1773238"/>
            <a:ext cx="4032250" cy="3168650"/>
          </a:xfrm>
        </p:spPr>
        <p:txBody>
          <a:bodyPr vert="horz" wrap="square" lIns="91440" tIns="45720" rIns="91440" bIns="45720" anchor="t" anchorCtr="0"/>
          <a:p>
            <a:pPr eaLnBrk="1" hangingPunct="1"/>
            <a:r>
              <a:rPr lang="zh-CN" altLang="en-US" sz="2400" b="1" dirty="0">
                <a:solidFill>
                  <a:srgbClr val="CC3300"/>
                </a:solidFill>
                <a:latin typeface="楷体_GB2312" pitchFamily="49" charset="-122"/>
                <a:ea typeface="楷体_GB2312" pitchFamily="49" charset="-122"/>
              </a:rPr>
              <a:t>模锻模膛</a:t>
            </a:r>
            <a:r>
              <a:rPr lang="zh-CN" altLang="en-US" sz="2000" b="1" dirty="0">
                <a:latin typeface="楷体_GB2312" pitchFamily="49" charset="-122"/>
                <a:ea typeface="楷体_GB2312" pitchFamily="49" charset="-122"/>
              </a:rPr>
              <a:t>    </a:t>
            </a:r>
            <a:endParaRPr lang="zh-CN" altLang="en-US" sz="2000" b="1" dirty="0">
              <a:latin typeface="楷体_GB2312" pitchFamily="49" charset="-122"/>
              <a:ea typeface="楷体_GB2312" pitchFamily="49" charset="-122"/>
            </a:endParaRPr>
          </a:p>
          <a:p>
            <a:pPr eaLnBrk="1" hangingPunct="1">
              <a:buFont typeface="Wingdings" panose="05000000000000000000" pitchFamily="2" charset="2"/>
              <a:buNone/>
            </a:pPr>
            <a:r>
              <a:rPr lang="zh-CN" altLang="en-US" sz="2000" b="1" dirty="0">
                <a:latin typeface="楷体_GB2312" pitchFamily="49" charset="-122"/>
                <a:ea typeface="楷体_GB2312" pitchFamily="49" charset="-122"/>
              </a:rPr>
              <a:t>      根据模锻件的复杂程度不同，所需变形的模膛数量不等，可将锻模设计成单膛级模或多膛级模。</a:t>
            </a:r>
            <a:r>
              <a:rPr lang="zh-CN" altLang="en-US" sz="2000" b="1" dirty="0">
                <a:solidFill>
                  <a:srgbClr val="0000FF"/>
                </a:solidFill>
                <a:latin typeface="楷体_GB2312" pitchFamily="49" charset="-122"/>
                <a:ea typeface="楷体_GB2312" pitchFamily="49" charset="-122"/>
              </a:rPr>
              <a:t>单膛锻模是在一副锻模上只具有终锻模膛一个模膛。</a:t>
            </a:r>
            <a:r>
              <a:rPr lang="zh-CN" altLang="en-US" sz="2000" b="1" dirty="0">
                <a:solidFill>
                  <a:srgbClr val="FF0000"/>
                </a:solidFill>
                <a:latin typeface="楷体_GB2312" pitchFamily="49" charset="-122"/>
                <a:ea typeface="楷体_GB2312" pitchFamily="49" charset="-122"/>
              </a:rPr>
              <a:t>多膛锻模是在一副锻模上具有两个以上模膛的锻模</a:t>
            </a:r>
            <a:r>
              <a:rPr lang="zh-CN" altLang="en-US" sz="2000" b="1" dirty="0">
                <a:latin typeface="楷体_GB2312" pitchFamily="49" charset="-122"/>
                <a:ea typeface="楷体_GB2312" pitchFamily="49" charset="-122"/>
              </a:rPr>
              <a:t>。</a:t>
            </a:r>
            <a:endParaRPr lang="zh-CN" altLang="en-US" sz="2000" b="1" dirty="0">
              <a:latin typeface="楷体_GB2312" pitchFamily="49" charset="-122"/>
              <a:ea typeface="楷体_GB2312" pitchFamily="49" charset="-122"/>
            </a:endParaRPr>
          </a:p>
        </p:txBody>
      </p:sp>
      <p:sp>
        <p:nvSpPr>
          <p:cNvPr id="76804" name="Rectangle 6"/>
          <p:cNvSpPr/>
          <p:nvPr/>
        </p:nvSpPr>
        <p:spPr>
          <a:xfrm>
            <a:off x="1835150" y="260350"/>
            <a:ext cx="3529013" cy="706755"/>
          </a:xfrm>
          <a:prstGeom prst="rect">
            <a:avLst/>
          </a:prstGeom>
          <a:noFill/>
          <a:ln w="9525">
            <a:noFill/>
          </a:ln>
        </p:spPr>
        <p:txBody>
          <a:bodyPr>
            <a:spAutoFit/>
          </a:bodyPr>
          <a:p>
            <a:pPr algn="ctr" eaLnBrk="1" hangingPunct="1"/>
            <a:r>
              <a:rPr lang="zh-CN" altLang="en-US" sz="4000" b="1" dirty="0">
                <a:solidFill>
                  <a:schemeClr val="tx2"/>
                </a:solidFill>
                <a:latin typeface="Arial" panose="020B0604020202020204" pitchFamily="34" charset="0"/>
                <a:ea typeface="楷体_GB2312" pitchFamily="49" charset="-122"/>
              </a:rPr>
              <a:t>锤上模锻</a:t>
            </a:r>
            <a:endParaRPr lang="zh-CN" altLang="en-US" sz="4000" b="1" dirty="0">
              <a:solidFill>
                <a:schemeClr val="tx2"/>
              </a:solidFill>
              <a:latin typeface="Arial" panose="020B0604020202020204" pitchFamily="34" charset="0"/>
              <a:ea typeface="楷体_GB2312" pitchFamily="49" charset="-122"/>
            </a:endParaRPr>
          </a:p>
        </p:txBody>
      </p:sp>
      <p:pic>
        <p:nvPicPr>
          <p:cNvPr id="76805" name="Picture 8" descr="3-12"/>
          <p:cNvPicPr>
            <a:picLocks noChangeAspect="1"/>
          </p:cNvPicPr>
          <p:nvPr/>
        </p:nvPicPr>
        <p:blipFill>
          <a:blip r:embed="rId1"/>
          <a:stretch>
            <a:fillRect/>
          </a:stretch>
        </p:blipFill>
        <p:spPr>
          <a:xfrm>
            <a:off x="4811713" y="188913"/>
            <a:ext cx="4297362" cy="6119812"/>
          </a:xfrm>
          <a:prstGeom prst="rect">
            <a:avLst/>
          </a:prstGeom>
          <a:noFill/>
          <a:ln w="9525">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1034"/>
          <p:cNvSpPr/>
          <p:nvPr/>
        </p:nvSpPr>
        <p:spPr>
          <a:xfrm>
            <a:off x="3328988" y="320675"/>
            <a:ext cx="3322637" cy="701675"/>
          </a:xfrm>
          <a:prstGeom prst="rect">
            <a:avLst/>
          </a:prstGeom>
          <a:noFill/>
          <a:ln w="9525">
            <a:noFill/>
          </a:ln>
        </p:spPr>
        <p:txBody>
          <a:bodyPr wrap="none" anchor="ctr" anchorCtr="0">
            <a:spAutoFit/>
          </a:bodyPr>
          <a:p>
            <a:pPr algn="ctr" eaLnBrk="1" hangingPunct="1"/>
            <a:r>
              <a:rPr lang="zh-CN" altLang="en-US" sz="4000" b="1" dirty="0">
                <a:latin typeface="Verdana" panose="020B0604030504040204" pitchFamily="34" charset="0"/>
                <a:ea typeface="楷体_GB2312" pitchFamily="49" charset="-122"/>
              </a:rPr>
              <a:t>压力机上模锻</a:t>
            </a:r>
            <a:r>
              <a:rPr lang="zh-CN" altLang="en-US" dirty="0">
                <a:latin typeface="Verdana" panose="020B0604030504040204" pitchFamily="34" charset="0"/>
              </a:rPr>
              <a:t> </a:t>
            </a:r>
            <a:endParaRPr lang="zh-CN" altLang="en-US" dirty="0">
              <a:latin typeface="Verdana" panose="020B0604030504040204" pitchFamily="34" charset="0"/>
            </a:endParaRPr>
          </a:p>
        </p:txBody>
      </p:sp>
      <p:sp>
        <p:nvSpPr>
          <p:cNvPr id="77827" name="Rectangle 1035"/>
          <p:cNvSpPr/>
          <p:nvPr/>
        </p:nvSpPr>
        <p:spPr>
          <a:xfrm>
            <a:off x="107950" y="1309688"/>
            <a:ext cx="8689975" cy="701675"/>
          </a:xfrm>
          <a:prstGeom prst="rect">
            <a:avLst/>
          </a:prstGeom>
          <a:noFill/>
          <a:ln w="9525">
            <a:noFill/>
          </a:ln>
        </p:spPr>
        <p:txBody>
          <a:bodyPr anchor="ctr" anchorCtr="0">
            <a:spAutoFit/>
          </a:bodyPr>
          <a:p>
            <a:pPr eaLnBrk="1" hangingPunct="1">
              <a:buClr>
                <a:srgbClr val="FF0000"/>
              </a:buClr>
              <a:buFont typeface="Wingdings" panose="05000000000000000000" pitchFamily="2" charset="2"/>
              <a:buChar char="u"/>
            </a:pPr>
            <a:r>
              <a:rPr lang="zh-CN" altLang="en-US" sz="2000" b="1" dirty="0">
                <a:solidFill>
                  <a:srgbClr val="0000FF"/>
                </a:solidFill>
                <a:latin typeface="Verdana" panose="020B0604030504040204" pitchFamily="34" charset="0"/>
                <a:ea typeface="楷体_GB2312" pitchFamily="49" charset="-122"/>
              </a:rPr>
              <a:t>用于模锻生产的压力机有曲柄压力机、摩擦压力机、平锻压力机、模锻水压机等。</a:t>
            </a:r>
            <a:endParaRPr lang="zh-CN" altLang="en-US" sz="2000" b="1" dirty="0">
              <a:solidFill>
                <a:srgbClr val="0000FF"/>
              </a:solidFill>
              <a:latin typeface="Verdana" panose="020B0604030504040204" pitchFamily="34" charset="0"/>
              <a:ea typeface="楷体_GB2312" pitchFamily="49" charset="-122"/>
            </a:endParaRPr>
          </a:p>
        </p:txBody>
      </p:sp>
      <p:grpSp>
        <p:nvGrpSpPr>
          <p:cNvPr id="77828" name="Group 1038"/>
          <p:cNvGrpSpPr/>
          <p:nvPr/>
        </p:nvGrpSpPr>
        <p:grpSpPr>
          <a:xfrm>
            <a:off x="1541463" y="2087563"/>
            <a:ext cx="6054725" cy="4725987"/>
            <a:chOff x="971" y="1285"/>
            <a:chExt cx="3814" cy="2977"/>
          </a:xfrm>
        </p:grpSpPr>
        <p:pic>
          <p:nvPicPr>
            <p:cNvPr id="77829" name="Picture 1036" descr="Hydraulic%20press">
              <a:hlinkClick r:id="rId1"/>
            </p:cNvPr>
            <p:cNvPicPr>
              <a:picLocks noChangeAspect="1"/>
            </p:cNvPicPr>
            <p:nvPr/>
          </p:nvPicPr>
          <p:blipFill>
            <a:blip r:embed="rId2"/>
            <a:stretch>
              <a:fillRect/>
            </a:stretch>
          </p:blipFill>
          <p:spPr>
            <a:xfrm>
              <a:off x="971" y="1285"/>
              <a:ext cx="3814" cy="2748"/>
            </a:xfrm>
            <a:prstGeom prst="rect">
              <a:avLst/>
            </a:prstGeom>
            <a:noFill/>
            <a:ln w="9525">
              <a:noFill/>
            </a:ln>
          </p:spPr>
        </p:pic>
        <p:sp>
          <p:nvSpPr>
            <p:cNvPr id="77830" name="Rectangle 1037"/>
            <p:cNvSpPr/>
            <p:nvPr/>
          </p:nvSpPr>
          <p:spPr>
            <a:xfrm>
              <a:off x="2605" y="4031"/>
              <a:ext cx="841" cy="231"/>
            </a:xfrm>
            <a:prstGeom prst="rect">
              <a:avLst/>
            </a:prstGeom>
            <a:noFill/>
            <a:ln w="9525">
              <a:noFill/>
            </a:ln>
          </p:spPr>
          <p:txBody>
            <a:bodyPr wrap="none">
              <a:spAutoFit/>
            </a:bodyPr>
            <a:p>
              <a:pPr eaLnBrk="1" hangingPunct="1"/>
              <a:r>
                <a:rPr lang="zh-CN" altLang="en-US" b="1" dirty="0">
                  <a:latin typeface="Arial" panose="020B0604020202020204" pitchFamily="34" charset="0"/>
                  <a:ea typeface="楷体_GB2312" pitchFamily="49" charset="-122"/>
                </a:rPr>
                <a:t>模锻水压机</a:t>
              </a:r>
              <a:endParaRPr lang="zh-CN" altLang="en-US" sz="1400" b="1" dirty="0">
                <a:latin typeface="Arial" panose="020B0604020202020204" pitchFamily="34" charset="0"/>
                <a:ea typeface="楷体_GB2312" pitchFamily="49" charset="-122"/>
              </a:endParaRPr>
            </a:p>
          </p:txBody>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5867400" y="1628775"/>
            <a:ext cx="3535363" cy="4248150"/>
            <a:chOff x="8100" y="10020"/>
            <a:chExt cx="2700" cy="3432"/>
          </a:xfrm>
        </p:grpSpPr>
        <p:pic>
          <p:nvPicPr>
            <p:cNvPr id="78853" name="Picture 3" descr="未命名9"/>
            <p:cNvPicPr>
              <a:picLocks noChangeAspect="1"/>
            </p:cNvPicPr>
            <p:nvPr/>
          </p:nvPicPr>
          <p:blipFill>
            <a:blip r:embed="rId1"/>
            <a:srcRect r="28128"/>
            <a:stretch>
              <a:fillRect/>
            </a:stretch>
          </p:blipFill>
          <p:spPr>
            <a:xfrm>
              <a:off x="8280" y="10020"/>
              <a:ext cx="2160" cy="2700"/>
            </a:xfrm>
            <a:prstGeom prst="rect">
              <a:avLst/>
            </a:prstGeom>
            <a:noFill/>
            <a:ln w="9525">
              <a:noFill/>
            </a:ln>
          </p:spPr>
        </p:pic>
        <p:sp>
          <p:nvSpPr>
            <p:cNvPr id="78854" name="Text Box 4"/>
            <p:cNvSpPr txBox="1"/>
            <p:nvPr/>
          </p:nvSpPr>
          <p:spPr>
            <a:xfrm>
              <a:off x="8100" y="12984"/>
              <a:ext cx="2700" cy="468"/>
            </a:xfrm>
            <a:prstGeom prst="rect">
              <a:avLst/>
            </a:prstGeom>
            <a:noFill/>
            <a:ln w="9525">
              <a:noFill/>
            </a:ln>
          </p:spPr>
          <p:txBody>
            <a:bodyPr lIns="0" tIns="0" rIns="0" bIns="0"/>
            <a:p>
              <a:pPr eaLnBrk="1" hangingPunct="1"/>
              <a:r>
                <a:rPr lang="zh-CN" altLang="en-US" sz="1600" b="1" dirty="0">
                  <a:latin typeface="楷体_GB2312" pitchFamily="49" charset="-122"/>
                  <a:ea typeface="楷体_GB2312" pitchFamily="49" charset="-122"/>
                </a:rPr>
                <a:t>图</a:t>
              </a:r>
              <a:r>
                <a:rPr lang="en-US" altLang="zh-CN" sz="1600" b="1" dirty="0">
                  <a:latin typeface="楷体_GB2312" pitchFamily="49" charset="-122"/>
                  <a:ea typeface="楷体_GB2312" pitchFamily="49" charset="-122"/>
                </a:rPr>
                <a:t>3.19 </a:t>
              </a:r>
              <a:r>
                <a:rPr lang="zh-CN" altLang="en-US" sz="1600" b="1" dirty="0">
                  <a:latin typeface="楷体_GB2312" pitchFamily="49" charset="-122"/>
                  <a:ea typeface="楷体_GB2312" pitchFamily="49" charset="-122"/>
                </a:rPr>
                <a:t>曲柄压力机传动简图</a:t>
              </a:r>
              <a:r>
                <a:rPr lang="zh-CN" altLang="en-US" sz="1000" b="1" dirty="0">
                  <a:latin typeface="楷体_GB2312" pitchFamily="49" charset="-122"/>
                  <a:ea typeface="楷体_GB2312" pitchFamily="49" charset="-122"/>
                </a:rPr>
                <a:t>	</a:t>
              </a:r>
              <a:endParaRPr lang="zh-CN" altLang="en-US" sz="1000" b="1" dirty="0">
                <a:latin typeface="楷体_GB2312" pitchFamily="49" charset="-122"/>
                <a:ea typeface="楷体_GB2312" pitchFamily="49" charset="-122"/>
              </a:endParaRPr>
            </a:p>
            <a:p>
              <a:pPr eaLnBrk="1" hangingPunct="1"/>
              <a:endParaRPr lang="en-US" altLang="zh-CN" dirty="0">
                <a:latin typeface="楷体_GB2312" pitchFamily="49" charset="-122"/>
                <a:ea typeface="楷体_GB2312" pitchFamily="49" charset="-122"/>
              </a:endParaRPr>
            </a:p>
          </p:txBody>
        </p:sp>
      </p:grpSp>
      <p:sp>
        <p:nvSpPr>
          <p:cNvPr id="1104901" name="Rectangle 5"/>
          <p:cNvSpPr/>
          <p:nvPr/>
        </p:nvSpPr>
        <p:spPr>
          <a:xfrm>
            <a:off x="34925" y="1484313"/>
            <a:ext cx="5940425" cy="3749675"/>
          </a:xfrm>
          <a:prstGeom prst="rect">
            <a:avLst/>
          </a:prstGeom>
          <a:noFill/>
          <a:ln w="9525">
            <a:noFill/>
          </a:ln>
        </p:spPr>
        <p:txBody>
          <a:bodyPr anchor="ctr" anchorCtr="0">
            <a:spAutoFit/>
          </a:bodyPr>
          <a:p>
            <a:pPr indent="304800" eaLnBrk="1" hangingPunct="1">
              <a:buFont typeface="Wingdings" panose="05000000000000000000" pitchFamily="2" charset="2"/>
              <a:buChar char="Ø"/>
            </a:pPr>
            <a:r>
              <a:rPr lang="zh-CN" altLang="en-US" sz="2000" b="1" dirty="0">
                <a:solidFill>
                  <a:srgbClr val="009900"/>
                </a:solidFill>
                <a:latin typeface="楷体_GB2312" pitchFamily="49" charset="-122"/>
                <a:ea typeface="楷体_GB2312" pitchFamily="49" charset="-122"/>
              </a:rPr>
              <a:t>曲柄压力机上模锻</a:t>
            </a:r>
            <a:endParaRPr lang="zh-CN" altLang="en-US" sz="2000" b="1" dirty="0">
              <a:solidFill>
                <a:srgbClr val="009900"/>
              </a:solidFill>
              <a:latin typeface="楷体_GB2312" pitchFamily="49" charset="-122"/>
              <a:ea typeface="楷体_GB2312" pitchFamily="49" charset="-122"/>
            </a:endParaRPr>
          </a:p>
          <a:p>
            <a:pPr indent="304800" eaLnBrk="1" hangingPunct="1"/>
            <a:r>
              <a:rPr lang="en-US" altLang="zh-CN" sz="2000" b="1" dirty="0">
                <a:solidFill>
                  <a:srgbClr val="CC3300"/>
                </a:solidFill>
                <a:latin typeface="楷体_GB2312" pitchFamily="49" charset="-122"/>
                <a:ea typeface="楷体_GB2312" pitchFamily="49" charset="-122"/>
              </a:rPr>
              <a:t>Ⅰ</a:t>
            </a:r>
            <a:r>
              <a:rPr lang="zh-CN" altLang="en-US" sz="2000" b="1" dirty="0">
                <a:solidFill>
                  <a:srgbClr val="CC3300"/>
                </a:solidFill>
                <a:latin typeface="楷体_GB2312" pitchFamily="49" charset="-122"/>
                <a:ea typeface="楷体_GB2312" pitchFamily="49" charset="-122"/>
              </a:rPr>
              <a:t>原理：</a:t>
            </a:r>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3.19</a:t>
            </a:r>
            <a:endParaRPr lang="en-US" altLang="zh-CN" sz="2000" b="1" dirty="0">
              <a:latin typeface="楷体_GB2312" pitchFamily="49" charset="-122"/>
              <a:ea typeface="楷体_GB2312" pitchFamily="49" charset="-122"/>
            </a:endParaRPr>
          </a:p>
          <a:p>
            <a:pPr indent="304800" eaLnBrk="1" hangingPunct="1"/>
            <a:r>
              <a:rPr lang="en-US" altLang="zh-CN" sz="2000" b="1" dirty="0">
                <a:solidFill>
                  <a:srgbClr val="CC3300"/>
                </a:solidFill>
                <a:latin typeface="楷体_GB2312" pitchFamily="49" charset="-122"/>
                <a:ea typeface="楷体_GB2312" pitchFamily="49" charset="-122"/>
              </a:rPr>
              <a:t>Ⅱ</a:t>
            </a:r>
            <a:r>
              <a:rPr lang="zh-CN" altLang="en-US" sz="2000" b="1" dirty="0">
                <a:solidFill>
                  <a:srgbClr val="CC3300"/>
                </a:solidFill>
                <a:latin typeface="楷体_GB2312" pitchFamily="49" charset="-122"/>
                <a:ea typeface="楷体_GB2312" pitchFamily="49" charset="-122"/>
              </a:rPr>
              <a:t>吨位：</a:t>
            </a:r>
            <a:r>
              <a:rPr lang="en-US" altLang="zh-CN" sz="2000" b="1" dirty="0">
                <a:latin typeface="楷体_GB2312" pitchFamily="49" charset="-122"/>
                <a:ea typeface="楷体_GB2312" pitchFamily="49" charset="-122"/>
              </a:rPr>
              <a:t>2000</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125000KN</a:t>
            </a:r>
            <a:r>
              <a:rPr lang="zh-CN" altLang="en-US" sz="2000" b="1" dirty="0">
                <a:latin typeface="楷体_GB2312" pitchFamily="49" charset="-122"/>
                <a:ea typeface="楷体_GB2312" pitchFamily="49" charset="-122"/>
              </a:rPr>
              <a:t>（种类、吨位规格很多）</a:t>
            </a:r>
            <a:endParaRPr lang="zh-CN" altLang="en-US" sz="2000" b="1" dirty="0">
              <a:latin typeface="楷体_GB2312" pitchFamily="49" charset="-122"/>
              <a:ea typeface="楷体_GB2312" pitchFamily="49" charset="-122"/>
            </a:endParaRPr>
          </a:p>
          <a:p>
            <a:pPr indent="304800" eaLnBrk="1" hangingPunct="1"/>
            <a:r>
              <a:rPr lang="en-US" altLang="zh-CN" sz="2000" b="1" dirty="0">
                <a:solidFill>
                  <a:srgbClr val="CC3300"/>
                </a:solidFill>
                <a:latin typeface="楷体_GB2312" pitchFamily="49" charset="-122"/>
                <a:ea typeface="楷体_GB2312" pitchFamily="49" charset="-122"/>
              </a:rPr>
              <a:t>Ⅲ</a:t>
            </a:r>
            <a:r>
              <a:rPr lang="zh-CN" altLang="en-US" sz="2000" b="1" dirty="0">
                <a:solidFill>
                  <a:srgbClr val="CC3300"/>
                </a:solidFill>
                <a:latin typeface="楷体_GB2312" pitchFamily="49" charset="-122"/>
                <a:ea typeface="楷体_GB2312" pitchFamily="49" charset="-122"/>
              </a:rPr>
              <a:t>模锻特点：</a:t>
            </a:r>
            <a:endParaRPr lang="zh-CN" altLang="en-US" sz="2000" b="1" dirty="0">
              <a:solidFill>
                <a:srgbClr val="CC3300"/>
              </a:solidFill>
              <a:latin typeface="楷体_GB2312" pitchFamily="49" charset="-122"/>
              <a:ea typeface="楷体_GB2312" pitchFamily="49" charset="-122"/>
            </a:endParaRPr>
          </a:p>
          <a:p>
            <a:pPr indent="304800" eaLnBrk="1" hangingPunct="1"/>
            <a:r>
              <a:rPr lang="en-US" altLang="zh-CN" sz="2000" b="1" dirty="0">
                <a:solidFill>
                  <a:srgbClr val="FF0000"/>
                </a:solidFill>
                <a:latin typeface="楷体_GB2312" pitchFamily="49" charset="-122"/>
                <a:ea typeface="楷体_GB2312" pitchFamily="49" charset="-122"/>
              </a:rPr>
              <a:t>ⅰ</a:t>
            </a: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行程固定，有良好的导向和顶料装置，锻件精度高。</a:t>
            </a:r>
            <a:endParaRPr lang="zh-CN" altLang="en-US" sz="2000" b="1" dirty="0">
              <a:latin typeface="楷体_GB2312" pitchFamily="49" charset="-122"/>
              <a:ea typeface="楷体_GB2312" pitchFamily="49" charset="-122"/>
            </a:endParaRPr>
          </a:p>
          <a:p>
            <a:pPr indent="304800" eaLnBrk="1" hangingPunct="1"/>
            <a:r>
              <a:rPr lang="en-US" altLang="zh-CN" sz="2000" b="1" dirty="0">
                <a:solidFill>
                  <a:srgbClr val="FF0000"/>
                </a:solidFill>
                <a:latin typeface="楷体_GB2312" pitchFamily="49" charset="-122"/>
                <a:ea typeface="楷体_GB2312" pitchFamily="49" charset="-122"/>
              </a:rPr>
              <a:t>ⅱ</a:t>
            </a: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可采用组合模具，制造简单，更换容易，节省贵重模具材料，降低成本。</a:t>
            </a:r>
            <a:endParaRPr lang="zh-CN" altLang="en-US" sz="2000" b="1" dirty="0">
              <a:latin typeface="楷体_GB2312" pitchFamily="49" charset="-122"/>
              <a:ea typeface="楷体_GB2312" pitchFamily="49" charset="-122"/>
            </a:endParaRPr>
          </a:p>
          <a:p>
            <a:pPr indent="304800" eaLnBrk="1" hangingPunct="1"/>
            <a:r>
              <a:rPr lang="en-US" altLang="zh-CN" sz="2000" b="1" dirty="0">
                <a:solidFill>
                  <a:srgbClr val="FF0000"/>
                </a:solidFill>
                <a:latin typeface="楷体_GB2312" pitchFamily="49" charset="-122"/>
                <a:ea typeface="楷体_GB2312" pitchFamily="49" charset="-122"/>
              </a:rPr>
              <a:t>ⅲ </a:t>
            </a:r>
            <a:r>
              <a:rPr lang="zh-CN" altLang="en-US" sz="2000" b="1" dirty="0">
                <a:latin typeface="楷体_GB2312" pitchFamily="49" charset="-122"/>
                <a:ea typeface="楷体_GB2312" pitchFamily="49" charset="-122"/>
              </a:rPr>
              <a:t>设备有顶料装置，可用于杆类件的端部镦粗。</a:t>
            </a:r>
            <a:endParaRPr lang="zh-CN" altLang="en-US" sz="2000" b="1" dirty="0">
              <a:latin typeface="楷体_GB2312" pitchFamily="49" charset="-122"/>
              <a:ea typeface="楷体_GB2312" pitchFamily="49" charset="-122"/>
            </a:endParaRPr>
          </a:p>
          <a:p>
            <a:pPr indent="304800" eaLnBrk="1" hangingPunct="1"/>
            <a:r>
              <a:rPr lang="en-US" altLang="zh-CN" sz="2000" b="1" dirty="0">
                <a:solidFill>
                  <a:srgbClr val="FF0000"/>
                </a:solidFill>
                <a:latin typeface="楷体_GB2312" pitchFamily="49" charset="-122"/>
                <a:ea typeface="楷体_GB2312" pitchFamily="49" charset="-122"/>
              </a:rPr>
              <a:t>ⅳ </a:t>
            </a:r>
            <a:r>
              <a:rPr lang="zh-CN" altLang="en-US" sz="2000" b="1" dirty="0">
                <a:latin typeface="楷体_GB2312" pitchFamily="49" charset="-122"/>
                <a:ea typeface="楷体_GB2312" pitchFamily="49" charset="-122"/>
              </a:rPr>
              <a:t>滑块行程一定，只能一次成形，复杂件应采用多台设备成形，不宜进行拔长和滚压工步。</a:t>
            </a:r>
            <a:endParaRPr lang="zh-CN" altLang="en-US" sz="2000" b="1" dirty="0">
              <a:latin typeface="楷体_GB2312" pitchFamily="49" charset="-122"/>
              <a:ea typeface="楷体_GB2312" pitchFamily="49" charset="-122"/>
            </a:endParaRPr>
          </a:p>
          <a:p>
            <a:pPr indent="304800" eaLnBrk="1" hangingPunct="1"/>
            <a:r>
              <a:rPr lang="en-US" altLang="zh-CN" sz="2000" b="1" dirty="0">
                <a:solidFill>
                  <a:srgbClr val="FF0000"/>
                </a:solidFill>
                <a:latin typeface="楷体_GB2312" pitchFamily="49" charset="-122"/>
                <a:ea typeface="楷体_GB2312" pitchFamily="49" charset="-122"/>
              </a:rPr>
              <a:t>Ⅴ</a:t>
            </a: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适于大批量生产，但设备复杂，造价高</a:t>
            </a:r>
            <a:endParaRPr lang="zh-CN" altLang="en-US" sz="2000" b="1" dirty="0">
              <a:latin typeface="楷体_GB2312" pitchFamily="49" charset="-122"/>
              <a:ea typeface="楷体_GB2312" pitchFamily="49" charset="-122"/>
            </a:endParaRPr>
          </a:p>
        </p:txBody>
      </p:sp>
      <p:sp>
        <p:nvSpPr>
          <p:cNvPr id="78852" name="Rectangle 6"/>
          <p:cNvSpPr/>
          <p:nvPr/>
        </p:nvSpPr>
        <p:spPr>
          <a:xfrm>
            <a:off x="3328988" y="320675"/>
            <a:ext cx="3322637" cy="701675"/>
          </a:xfrm>
          <a:prstGeom prst="rect">
            <a:avLst/>
          </a:prstGeom>
          <a:noFill/>
          <a:ln w="9525">
            <a:noFill/>
          </a:ln>
        </p:spPr>
        <p:txBody>
          <a:bodyPr wrap="none" anchor="ctr" anchorCtr="0">
            <a:spAutoFit/>
          </a:bodyPr>
          <a:p>
            <a:pPr algn="ctr" eaLnBrk="1" hangingPunct="1"/>
            <a:r>
              <a:rPr lang="zh-CN" altLang="en-US" sz="4000" b="1" dirty="0">
                <a:latin typeface="Verdana" panose="020B0604030504040204" pitchFamily="34" charset="0"/>
                <a:ea typeface="楷体_GB2312" pitchFamily="49" charset="-122"/>
              </a:rPr>
              <a:t>压力机上模锻</a:t>
            </a:r>
            <a:r>
              <a:rPr lang="zh-CN" altLang="en-US" dirty="0">
                <a:latin typeface="Verdana" panose="020B0604030504040204" pitchFamily="34" charset="0"/>
              </a:rPr>
              <a:t> </a:t>
            </a:r>
            <a:endParaRPr lang="zh-CN" altLang="en-US" dirty="0">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104901">
                                            <p:txEl>
                                              <p:charRg st="0" end="9"/>
                                            </p:txEl>
                                          </p:spTgt>
                                        </p:tgtEl>
                                        <p:attrNameLst>
                                          <p:attrName>style.visibility</p:attrName>
                                        </p:attrNameLst>
                                      </p:cBhvr>
                                      <p:to>
                                        <p:strVal val="visible"/>
                                      </p:to>
                                    </p:set>
                                    <p:animEffect transition="in" filter="blinds(horizontal)">
                                      <p:cBhvr>
                                        <p:cTn id="11" dur="500"/>
                                        <p:tgtEl>
                                          <p:spTgt spid="1104901">
                                            <p:txEl>
                                              <p:charRg st="0" end="9"/>
                                            </p:txEl>
                                          </p:spTgt>
                                        </p:tgtEl>
                                      </p:cBhvr>
                                    </p:animEffect>
                                  </p:childTnLst>
                                </p:cTn>
                              </p:par>
                              <p:par>
                                <p:cTn id="12" presetID="3" presetClass="entr" presetSubtype="10" fill="hold" nodeType="withEffect">
                                  <p:stCondLst>
                                    <p:cond delay="0"/>
                                  </p:stCondLst>
                                  <p:childTnLst>
                                    <p:set>
                                      <p:cBhvr>
                                        <p:cTn id="13" dur="1" fill="hold">
                                          <p:stCondLst>
                                            <p:cond delay="0"/>
                                          </p:stCondLst>
                                        </p:cTn>
                                        <p:tgtEl>
                                          <p:spTgt spid="1104901">
                                            <p:txEl>
                                              <p:charRg st="9" end="19"/>
                                            </p:txEl>
                                          </p:spTgt>
                                        </p:tgtEl>
                                        <p:attrNameLst>
                                          <p:attrName>style.visibility</p:attrName>
                                        </p:attrNameLst>
                                      </p:cBhvr>
                                      <p:to>
                                        <p:strVal val="visible"/>
                                      </p:to>
                                    </p:set>
                                    <p:animEffect transition="in" filter="blinds(horizontal)">
                                      <p:cBhvr>
                                        <p:cTn id="14" dur="500"/>
                                        <p:tgtEl>
                                          <p:spTgt spid="1104901">
                                            <p:txEl>
                                              <p:charRg st="9" end="19"/>
                                            </p:txEl>
                                          </p:spTgt>
                                        </p:tgtEl>
                                      </p:cBhvr>
                                    </p:animEffect>
                                  </p:childTnLst>
                                </p:cTn>
                              </p:par>
                              <p:par>
                                <p:cTn id="15" presetID="3" presetClass="entr" presetSubtype="10" fill="hold" nodeType="withEffect">
                                  <p:stCondLst>
                                    <p:cond delay="0"/>
                                  </p:stCondLst>
                                  <p:childTnLst>
                                    <p:set>
                                      <p:cBhvr>
                                        <p:cTn id="16" dur="1" fill="hold">
                                          <p:stCondLst>
                                            <p:cond delay="0"/>
                                          </p:stCondLst>
                                        </p:cTn>
                                        <p:tgtEl>
                                          <p:spTgt spid="1104901">
                                            <p:txEl>
                                              <p:charRg st="19" end="48"/>
                                            </p:txEl>
                                          </p:spTgt>
                                        </p:tgtEl>
                                        <p:attrNameLst>
                                          <p:attrName>style.visibility</p:attrName>
                                        </p:attrNameLst>
                                      </p:cBhvr>
                                      <p:to>
                                        <p:strVal val="visible"/>
                                      </p:to>
                                    </p:set>
                                    <p:animEffect transition="in" filter="blinds(horizontal)">
                                      <p:cBhvr>
                                        <p:cTn id="17" dur="500"/>
                                        <p:tgtEl>
                                          <p:spTgt spid="1104901">
                                            <p:txEl>
                                              <p:charRg st="19" end="4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104901">
                                            <p:txEl>
                                              <p:charRg st="48" end="55"/>
                                            </p:txEl>
                                          </p:spTgt>
                                        </p:tgtEl>
                                        <p:attrNameLst>
                                          <p:attrName>style.visibility</p:attrName>
                                        </p:attrNameLst>
                                      </p:cBhvr>
                                      <p:to>
                                        <p:strVal val="visible"/>
                                      </p:to>
                                    </p:set>
                                    <p:animEffect transition="in" filter="blinds(horizontal)">
                                      <p:cBhvr>
                                        <p:cTn id="22" dur="500"/>
                                        <p:tgtEl>
                                          <p:spTgt spid="1104901">
                                            <p:txEl>
                                              <p:charRg st="48" end="55"/>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1104901">
                                            <p:txEl>
                                              <p:charRg st="55" end="81"/>
                                            </p:txEl>
                                          </p:spTgt>
                                        </p:tgtEl>
                                        <p:attrNameLst>
                                          <p:attrName>style.visibility</p:attrName>
                                        </p:attrNameLst>
                                      </p:cBhvr>
                                      <p:to>
                                        <p:strVal val="visible"/>
                                      </p:to>
                                    </p:set>
                                    <p:animEffect transition="in" filter="blinds(horizontal)">
                                      <p:cBhvr>
                                        <p:cTn id="25" dur="500"/>
                                        <p:tgtEl>
                                          <p:spTgt spid="1104901">
                                            <p:txEl>
                                              <p:charRg st="55" end="81"/>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1104901">
                                            <p:txEl>
                                              <p:charRg st="81" end="116"/>
                                            </p:txEl>
                                          </p:spTgt>
                                        </p:tgtEl>
                                        <p:attrNameLst>
                                          <p:attrName>style.visibility</p:attrName>
                                        </p:attrNameLst>
                                      </p:cBhvr>
                                      <p:to>
                                        <p:strVal val="visible"/>
                                      </p:to>
                                    </p:set>
                                    <p:animEffect transition="in" filter="blinds(horizontal)">
                                      <p:cBhvr>
                                        <p:cTn id="28" dur="500"/>
                                        <p:tgtEl>
                                          <p:spTgt spid="1104901">
                                            <p:txEl>
                                              <p:charRg st="81" end="116"/>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1104901">
                                            <p:txEl>
                                              <p:charRg st="116" end="139"/>
                                            </p:txEl>
                                          </p:spTgt>
                                        </p:tgtEl>
                                        <p:attrNameLst>
                                          <p:attrName>style.visibility</p:attrName>
                                        </p:attrNameLst>
                                      </p:cBhvr>
                                      <p:to>
                                        <p:strVal val="visible"/>
                                      </p:to>
                                    </p:set>
                                    <p:animEffect transition="in" filter="blinds(horizontal)">
                                      <p:cBhvr>
                                        <p:cTn id="31" dur="500"/>
                                        <p:tgtEl>
                                          <p:spTgt spid="1104901">
                                            <p:txEl>
                                              <p:charRg st="116" end="139"/>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1104901">
                                            <p:txEl>
                                              <p:charRg st="139" end="181"/>
                                            </p:txEl>
                                          </p:spTgt>
                                        </p:tgtEl>
                                        <p:attrNameLst>
                                          <p:attrName>style.visibility</p:attrName>
                                        </p:attrNameLst>
                                      </p:cBhvr>
                                      <p:to>
                                        <p:strVal val="visible"/>
                                      </p:to>
                                    </p:set>
                                    <p:animEffect transition="in" filter="blinds(horizontal)">
                                      <p:cBhvr>
                                        <p:cTn id="34" dur="500"/>
                                        <p:tgtEl>
                                          <p:spTgt spid="1104901">
                                            <p:txEl>
                                              <p:charRg st="139" end="181"/>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1104901">
                                            <p:txEl>
                                              <p:charRg st="181" end="201"/>
                                            </p:txEl>
                                          </p:spTgt>
                                        </p:tgtEl>
                                        <p:attrNameLst>
                                          <p:attrName>style.visibility</p:attrName>
                                        </p:attrNameLst>
                                      </p:cBhvr>
                                      <p:to>
                                        <p:strVal val="visible"/>
                                      </p:to>
                                    </p:set>
                                    <p:animEffect transition="in" filter="blinds(horizontal)">
                                      <p:cBhvr>
                                        <p:cTn id="37" dur="500"/>
                                        <p:tgtEl>
                                          <p:spTgt spid="1104901">
                                            <p:txEl>
                                              <p:charRg st="181" end="20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Grp="1"/>
          </p:cNvSpPr>
          <p:nvPr>
            <p:ph type="title"/>
          </p:nvPr>
        </p:nvSpPr>
        <p:spPr>
          <a:xfrm>
            <a:off x="3276600" y="161925"/>
            <a:ext cx="4422775" cy="1035050"/>
          </a:xfrm>
        </p:spPr>
        <p:txBody>
          <a:bodyPr vert="horz" wrap="square" lIns="91440" tIns="45720" rIns="91440" bIns="45720" anchor="ctr" anchorCtr="0"/>
          <a:p>
            <a:pPr algn="ctr" eaLnBrk="1" hangingPunct="1"/>
            <a:r>
              <a:rPr lang="zh-CN" altLang="en-US" sz="4000" dirty="0">
                <a:solidFill>
                  <a:schemeClr val="tx1"/>
                </a:solidFill>
                <a:ea typeface="楷体_GB2312" pitchFamily="49" charset="-122"/>
              </a:rPr>
              <a:t>压力机上模锻</a:t>
            </a:r>
            <a:endParaRPr lang="zh-CN" altLang="en-US" sz="4000" dirty="0">
              <a:solidFill>
                <a:schemeClr val="tx1"/>
              </a:solidFill>
              <a:ea typeface="楷体_GB2312" pitchFamily="49" charset="-122"/>
            </a:endParaRPr>
          </a:p>
        </p:txBody>
      </p:sp>
      <p:sp>
        <p:nvSpPr>
          <p:cNvPr id="709639" name="Rectangle 7"/>
          <p:cNvSpPr/>
          <p:nvPr/>
        </p:nvSpPr>
        <p:spPr>
          <a:xfrm>
            <a:off x="539750" y="1700213"/>
            <a:ext cx="4606925" cy="4359275"/>
          </a:xfrm>
          <a:prstGeom prst="rect">
            <a:avLst/>
          </a:prstGeom>
          <a:noFill/>
          <a:ln w="9525">
            <a:noFill/>
          </a:ln>
        </p:spPr>
        <p:txBody>
          <a:bodyPr anchor="ctr" anchorCtr="0">
            <a:spAutoFit/>
          </a:bodyPr>
          <a:p>
            <a:pPr indent="266700" eaLnBrk="1" hangingPunct="1">
              <a:buFont typeface="Wingdings" panose="05000000000000000000" pitchFamily="2" charset="2"/>
              <a:buChar char="Ø"/>
            </a:pPr>
            <a:r>
              <a:rPr lang="zh-CN" altLang="en-US" sz="2000" b="1" dirty="0">
                <a:solidFill>
                  <a:srgbClr val="009900"/>
                </a:solidFill>
                <a:latin typeface="楷体_GB2312" pitchFamily="49" charset="-122"/>
                <a:ea typeface="楷体_GB2312" pitchFamily="49" charset="-122"/>
              </a:rPr>
              <a:t>摩擦压力机上模锻（螺旋压力机）</a:t>
            </a:r>
            <a:endParaRPr lang="zh-CN" altLang="en-US" sz="2000" b="1" dirty="0">
              <a:solidFill>
                <a:srgbClr val="009900"/>
              </a:solidFill>
              <a:latin typeface="楷体_GB2312" pitchFamily="49" charset="-122"/>
              <a:ea typeface="楷体_GB2312" pitchFamily="49" charset="-122"/>
            </a:endParaRPr>
          </a:p>
          <a:p>
            <a:pPr indent="266700">
              <a:buNone/>
            </a:pPr>
            <a:r>
              <a:rPr lang="en-US" altLang="zh-CN" sz="2000" b="1" dirty="0">
                <a:solidFill>
                  <a:srgbClr val="CC3300"/>
                </a:solidFill>
                <a:latin typeface="楷体_GB2312" pitchFamily="49" charset="-122"/>
                <a:ea typeface="楷体_GB2312" pitchFamily="49" charset="-122"/>
              </a:rPr>
              <a:t>Ⅰ</a:t>
            </a:r>
            <a:r>
              <a:rPr lang="zh-CN" altLang="en-US" sz="2000" b="1" dirty="0">
                <a:solidFill>
                  <a:srgbClr val="CC3300"/>
                </a:solidFill>
                <a:latin typeface="楷体_GB2312" pitchFamily="49" charset="-122"/>
                <a:ea typeface="楷体_GB2312" pitchFamily="49" charset="-122"/>
              </a:rPr>
              <a:t>原理：</a:t>
            </a:r>
            <a:r>
              <a:rPr lang="zh-CN" altLang="en-US" sz="2000" b="1" dirty="0">
                <a:latin typeface="楷体_GB2312" pitchFamily="49" charset="-122"/>
                <a:ea typeface="楷体_GB2312" pitchFamily="49" charset="-122"/>
              </a:rPr>
              <a:t>锻模分别安装在滑块</a:t>
            </a:r>
            <a:r>
              <a:rPr lang="en-US" altLang="zh-CN" sz="2000" b="1" dirty="0">
                <a:latin typeface="楷体_GB2312" pitchFamily="49" charset="-122"/>
                <a:ea typeface="楷体_GB2312" pitchFamily="49" charset="-122"/>
              </a:rPr>
              <a:t>7</a:t>
            </a:r>
            <a:r>
              <a:rPr lang="zh-CN" altLang="en-US" sz="2000" b="1" dirty="0">
                <a:latin typeface="楷体_GB2312" pitchFamily="49" charset="-122"/>
                <a:ea typeface="楷体_GB2312" pitchFamily="49" charset="-122"/>
              </a:rPr>
              <a:t>和机座</a:t>
            </a:r>
            <a:r>
              <a:rPr lang="en-US" altLang="zh-CN" sz="2000" b="1" dirty="0">
                <a:latin typeface="楷体_GB2312" pitchFamily="49" charset="-122"/>
                <a:ea typeface="楷体_GB2312" pitchFamily="49" charset="-122"/>
              </a:rPr>
              <a:t>9</a:t>
            </a:r>
            <a:r>
              <a:rPr lang="zh-CN" altLang="en-US" sz="2000" b="1" dirty="0">
                <a:latin typeface="楷体_GB2312" pitchFamily="49" charset="-122"/>
                <a:ea typeface="楷体_GB2312" pitchFamily="49" charset="-122"/>
              </a:rPr>
              <a:t>上。滑块与螺杆</a:t>
            </a:r>
            <a:r>
              <a:rPr lang="en-US" altLang="zh-CN" sz="2000" b="1" dirty="0">
                <a:latin typeface="楷体_GB2312" pitchFamily="49" charset="-122"/>
                <a:ea typeface="楷体_GB2312" pitchFamily="49" charset="-122"/>
              </a:rPr>
              <a:t>1</a:t>
            </a:r>
            <a:r>
              <a:rPr lang="zh-CN" altLang="en-US" sz="2000" b="1" dirty="0">
                <a:latin typeface="楷体_GB2312" pitchFamily="49" charset="-122"/>
                <a:ea typeface="楷体_GB2312" pitchFamily="49" charset="-122"/>
              </a:rPr>
              <a:t>相连，沿导轨</a:t>
            </a:r>
            <a:r>
              <a:rPr lang="en-US" altLang="zh-CN" sz="2000" b="1" dirty="0">
                <a:latin typeface="楷体_GB2312" pitchFamily="49" charset="-122"/>
                <a:ea typeface="楷体_GB2312" pitchFamily="49" charset="-122"/>
              </a:rPr>
              <a:t>8</a:t>
            </a:r>
            <a:r>
              <a:rPr lang="zh-CN" altLang="en-US" sz="2000" b="1" dirty="0">
                <a:latin typeface="楷体_GB2312" pitchFamily="49" charset="-122"/>
                <a:ea typeface="楷体_GB2312" pitchFamily="49" charset="-122"/>
              </a:rPr>
              <a:t>上下滑动。螺杆穿过固定在机架上的螺母</a:t>
            </a:r>
            <a:r>
              <a:rPr lang="en-US" altLang="zh-CN" sz="2000" b="1" dirty="0">
                <a:latin typeface="楷体_GB2312" pitchFamily="49" charset="-122"/>
                <a:ea typeface="楷体_GB2312" pitchFamily="49" charset="-122"/>
              </a:rPr>
              <a:t>2</a:t>
            </a:r>
            <a:r>
              <a:rPr lang="zh-CN" altLang="en-US" sz="2000" b="1" dirty="0">
                <a:latin typeface="楷体_GB2312" pitchFamily="49" charset="-122"/>
                <a:ea typeface="楷体_GB2312" pitchFamily="49" charset="-122"/>
              </a:rPr>
              <a:t>，其上端装有飞轮</a:t>
            </a:r>
            <a:r>
              <a:rPr lang="en-US" altLang="zh-CN" sz="2000" b="1" dirty="0">
                <a:latin typeface="楷体_GB2312" pitchFamily="49" charset="-122"/>
                <a:ea typeface="楷体_GB2312" pitchFamily="49" charset="-122"/>
              </a:rPr>
              <a:t>3</a:t>
            </a:r>
            <a:r>
              <a:rPr lang="zh-CN" altLang="en-US" sz="2000" b="1" dirty="0">
                <a:latin typeface="楷体_GB2312" pitchFamily="49" charset="-122"/>
                <a:ea typeface="楷体_GB2312" pitchFamily="49" charset="-122"/>
              </a:rPr>
              <a:t>。两个摩擦盘</a:t>
            </a:r>
            <a:r>
              <a:rPr lang="en-US" altLang="zh-CN" sz="2000" b="1" dirty="0">
                <a:latin typeface="楷体_GB2312" pitchFamily="49" charset="-122"/>
                <a:ea typeface="楷体_GB2312" pitchFamily="49" charset="-122"/>
              </a:rPr>
              <a:t>4</a:t>
            </a:r>
            <a:r>
              <a:rPr lang="zh-CN" altLang="en-US" sz="2000" b="1" dirty="0">
                <a:latin typeface="楷体_GB2312" pitchFamily="49" charset="-122"/>
                <a:ea typeface="楷体_GB2312" pitchFamily="49" charset="-122"/>
              </a:rPr>
              <a:t>同装在一根轴上，由电动机</a:t>
            </a:r>
            <a:r>
              <a:rPr lang="en-US" altLang="zh-CN" sz="2000" b="1" dirty="0">
                <a:latin typeface="楷体_GB2312" pitchFamily="49" charset="-122"/>
                <a:ea typeface="楷体_GB2312" pitchFamily="49" charset="-122"/>
              </a:rPr>
              <a:t>5</a:t>
            </a:r>
            <a:r>
              <a:rPr lang="zh-CN" altLang="en-US" sz="2000" b="1" dirty="0">
                <a:latin typeface="楷体_GB2312" pitchFamily="49" charset="-122"/>
                <a:ea typeface="楷体_GB2312" pitchFamily="49" charset="-122"/>
              </a:rPr>
              <a:t>经皮带</a:t>
            </a:r>
            <a:r>
              <a:rPr lang="en-US" altLang="zh-CN" sz="2000" b="1" dirty="0">
                <a:latin typeface="楷体_GB2312" pitchFamily="49" charset="-122"/>
                <a:ea typeface="楷体_GB2312" pitchFamily="49" charset="-122"/>
              </a:rPr>
              <a:t>6</a:t>
            </a:r>
            <a:r>
              <a:rPr lang="zh-CN" altLang="en-US" sz="2000" b="1" dirty="0">
                <a:latin typeface="楷体_GB2312" pitchFamily="49" charset="-122"/>
                <a:ea typeface="楷体_GB2312" pitchFamily="49" charset="-122"/>
              </a:rPr>
              <a:t>使摩擦盘轴旋转。</a:t>
            </a:r>
            <a:r>
              <a:rPr lang="zh-CN" altLang="en-US" sz="2000" b="1" dirty="0">
                <a:solidFill>
                  <a:srgbClr val="FF0066"/>
                </a:solidFill>
                <a:latin typeface="楷体_GB2312" pitchFamily="49" charset="-122"/>
                <a:ea typeface="楷体_GB2312" pitchFamily="49" charset="-122"/>
              </a:rPr>
              <a:t>改变操纵杆位置可使摩擦盘轴沿轴向串动，这样就会把某一个摩擦盘靠紧飞轮边缘，借摩擦力带动飞轮转动。</a:t>
            </a:r>
            <a:r>
              <a:rPr lang="zh-CN" altLang="en-US" sz="2000" b="1" dirty="0">
                <a:latin typeface="楷体_GB2312" pitchFamily="49" charset="-122"/>
                <a:ea typeface="楷体_GB2312" pitchFamily="49" charset="-122"/>
              </a:rPr>
              <a:t>飞轮分别与两个摩擦盘接触，产生不同方向的转动，螺杆也就随飞轮做不同方向的转动。在螺母的约束下，</a:t>
            </a:r>
            <a:r>
              <a:rPr lang="zh-CN" altLang="en-US" sz="2000" b="1" dirty="0">
                <a:solidFill>
                  <a:srgbClr val="0000FF"/>
                </a:solidFill>
                <a:latin typeface="楷体_GB2312" pitchFamily="49" charset="-122"/>
                <a:ea typeface="楷体_GB2312" pitchFamily="49" charset="-122"/>
              </a:rPr>
              <a:t>螺杆的转动变为滑块的上下滑动实现模锻生产。</a:t>
            </a:r>
            <a:endParaRPr lang="zh-CN" altLang="en-US" sz="2000" b="1" dirty="0">
              <a:solidFill>
                <a:srgbClr val="0000FF"/>
              </a:solidFill>
              <a:latin typeface="楷体_GB2312" pitchFamily="49" charset="-122"/>
              <a:ea typeface="楷体_GB2312" pitchFamily="49" charset="-122"/>
            </a:endParaRPr>
          </a:p>
        </p:txBody>
      </p:sp>
      <p:sp>
        <p:nvSpPr>
          <p:cNvPr id="79876" name="Rectangle 8"/>
          <p:cNvSpPr/>
          <p:nvPr/>
        </p:nvSpPr>
        <p:spPr>
          <a:xfrm>
            <a:off x="0" y="29321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grpSp>
        <p:nvGrpSpPr>
          <p:cNvPr id="79877" name="Group 20"/>
          <p:cNvGrpSpPr/>
          <p:nvPr/>
        </p:nvGrpSpPr>
        <p:grpSpPr>
          <a:xfrm>
            <a:off x="5580063" y="1917700"/>
            <a:ext cx="3529012" cy="4319588"/>
            <a:chOff x="8280" y="6120"/>
            <a:chExt cx="2700" cy="3123"/>
          </a:xfrm>
        </p:grpSpPr>
        <p:pic>
          <p:nvPicPr>
            <p:cNvPr id="79878" name="Picture 21" descr="未命名10"/>
            <p:cNvPicPr>
              <a:picLocks noChangeAspect="1"/>
            </p:cNvPicPr>
            <p:nvPr/>
          </p:nvPicPr>
          <p:blipFill>
            <a:blip r:embed="rId1"/>
            <a:srcRect r="21115"/>
            <a:stretch>
              <a:fillRect/>
            </a:stretch>
          </p:blipFill>
          <p:spPr>
            <a:xfrm>
              <a:off x="8280" y="6120"/>
              <a:ext cx="2160" cy="2505"/>
            </a:xfrm>
            <a:prstGeom prst="rect">
              <a:avLst/>
            </a:prstGeom>
            <a:noFill/>
            <a:ln w="9525">
              <a:noFill/>
            </a:ln>
          </p:spPr>
        </p:pic>
        <p:sp>
          <p:nvSpPr>
            <p:cNvPr id="79879" name="Text Box 22"/>
            <p:cNvSpPr txBox="1"/>
            <p:nvPr/>
          </p:nvSpPr>
          <p:spPr>
            <a:xfrm>
              <a:off x="8280" y="8775"/>
              <a:ext cx="2700" cy="468"/>
            </a:xfrm>
            <a:prstGeom prst="rect">
              <a:avLst/>
            </a:prstGeom>
            <a:noFill/>
            <a:ln w="9525">
              <a:noFill/>
            </a:ln>
          </p:spPr>
          <p:txBody>
            <a:bodyPr lIns="0" tIns="0" rIns="0" bIns="0"/>
            <a:p>
              <a:pPr eaLnBrk="1" hangingPunct="1"/>
              <a:r>
                <a:rPr lang="zh-CN" altLang="en-US" sz="1600" b="1" dirty="0">
                  <a:latin typeface="楷体_GB2312" pitchFamily="49" charset="-122"/>
                  <a:ea typeface="楷体_GB2312" pitchFamily="49" charset="-122"/>
                </a:rPr>
                <a:t>图</a:t>
              </a:r>
              <a:r>
                <a:rPr lang="en-US" altLang="zh-CN" sz="1600" b="1" dirty="0">
                  <a:latin typeface="楷体_GB2312" pitchFamily="49" charset="-122"/>
                  <a:ea typeface="楷体_GB2312" pitchFamily="49" charset="-122"/>
                </a:rPr>
                <a:t>3.21  </a:t>
              </a:r>
              <a:r>
                <a:rPr lang="zh-CN" altLang="en-US" sz="1600" b="1" dirty="0">
                  <a:latin typeface="楷体_GB2312" pitchFamily="49" charset="-122"/>
                  <a:ea typeface="楷体_GB2312" pitchFamily="49" charset="-122"/>
                </a:rPr>
                <a:t>摩擦压力机传动简图</a:t>
              </a:r>
              <a:r>
                <a:rPr lang="zh-CN" altLang="en-US" sz="1000" dirty="0">
                  <a:latin typeface="Times New Roman" panose="02020603050405020304" pitchFamily="18" charset="0"/>
                </a:rPr>
                <a:t>	</a:t>
              </a:r>
              <a:endParaRPr lang="zh-CN" altLang="en-US" sz="1000" dirty="0">
                <a:latin typeface="Times New Roman" panose="02020603050405020304" pitchFamily="18" charset="0"/>
              </a:endParaRPr>
            </a:p>
            <a:p>
              <a:pPr eaLnBrk="1" hangingPunct="1"/>
              <a:endParaRPr lang="en-US" altLang="zh-CN" dirty="0">
                <a:latin typeface="Verdana" panose="020B060403050404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09639">
                                            <p:txEl>
                                              <p:charRg st="78" end="128"/>
                                            </p:txEl>
                                          </p:spTgt>
                                        </p:tgtEl>
                                        <p:attrNameLst>
                                          <p:attrName>style.visibility</p:attrName>
                                        </p:attrNameLst>
                                      </p:cBhvr>
                                      <p:to>
                                        <p:strVal val="visible"/>
                                      </p:to>
                                    </p:set>
                                    <p:animEffect transition="in" filter="blinds(horizontal)">
                                      <p:cBhvr>
                                        <p:cTn id="7" dur="500"/>
                                        <p:tgtEl>
                                          <p:spTgt spid="709639">
                                            <p:txEl>
                                              <p:charRg st="78" end="128"/>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09639">
                                            <p:txEl>
                                              <p:charRg st="128" end="177"/>
                                            </p:txEl>
                                          </p:spTgt>
                                        </p:tgtEl>
                                        <p:attrNameLst>
                                          <p:attrName>style.visibility</p:attrName>
                                        </p:attrNameLst>
                                      </p:cBhvr>
                                      <p:to>
                                        <p:strVal val="visible"/>
                                      </p:to>
                                    </p:set>
                                    <p:animEffect transition="in" filter="blinds(horizontal)">
                                      <p:cBhvr>
                                        <p:cTn id="10" dur="500"/>
                                        <p:tgtEl>
                                          <p:spTgt spid="709639">
                                            <p:txEl>
                                              <p:charRg st="128" end="177"/>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09639">
                                            <p:txEl>
                                              <p:charRg st="177" end="226"/>
                                            </p:txEl>
                                          </p:spTgt>
                                        </p:tgtEl>
                                        <p:attrNameLst>
                                          <p:attrName>style.visibility</p:attrName>
                                        </p:attrNameLst>
                                      </p:cBhvr>
                                      <p:to>
                                        <p:strVal val="visible"/>
                                      </p:to>
                                    </p:set>
                                    <p:animEffect transition="in" filter="blinds(horizontal)">
                                      <p:cBhvr>
                                        <p:cTn id="13" dur="500"/>
                                        <p:tgtEl>
                                          <p:spTgt spid="709639">
                                            <p:txEl>
                                              <p:charRg st="177" end="226"/>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709639">
                                            <p:txEl>
                                              <p:pRg st="226" end="226"/>
                                            </p:txEl>
                                          </p:spTgt>
                                        </p:tgtEl>
                                        <p:attrNameLst>
                                          <p:attrName>style.visibility</p:attrName>
                                        </p:attrNameLst>
                                      </p:cBhvr>
                                      <p:to>
                                        <p:strVal val="visible"/>
                                      </p:to>
                                    </p:set>
                                    <p:animEffect transition="in" filter="blinds(horizontal)">
                                      <p:cBhvr>
                                        <p:cTn id="16" dur="500"/>
                                        <p:tgtEl>
                                          <p:spTgt spid="709639">
                                            <p:txEl>
                                              <p:pRg st="226" end="22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2"/>
          <p:cNvSpPr>
            <a:spLocks noGrp="1"/>
          </p:cNvSpPr>
          <p:nvPr>
            <p:ph type="title"/>
          </p:nvPr>
        </p:nvSpPr>
        <p:spPr>
          <a:xfrm>
            <a:off x="3282950" y="90488"/>
            <a:ext cx="4422775" cy="1035050"/>
          </a:xfrm>
        </p:spPr>
        <p:txBody>
          <a:bodyPr vert="horz" wrap="square" lIns="91440" tIns="45720" rIns="91440" bIns="45720" anchor="ctr" anchorCtr="0"/>
          <a:p>
            <a:pPr algn="ctr" eaLnBrk="1" hangingPunct="1"/>
            <a:r>
              <a:rPr lang="zh-CN" altLang="en-US" dirty="0">
                <a:solidFill>
                  <a:schemeClr val="tx1"/>
                </a:solidFill>
                <a:ea typeface="楷体_GB2312" pitchFamily="49" charset="-122"/>
              </a:rPr>
              <a:t>压力机上模锻</a:t>
            </a:r>
            <a:endParaRPr lang="zh-CN" altLang="en-US" dirty="0">
              <a:solidFill>
                <a:schemeClr val="tx1"/>
              </a:solidFill>
              <a:ea typeface="楷体_GB2312" pitchFamily="49" charset="-122"/>
            </a:endParaRPr>
          </a:p>
        </p:txBody>
      </p:sp>
      <p:sp>
        <p:nvSpPr>
          <p:cNvPr id="927747" name="Rectangle 3"/>
          <p:cNvSpPr/>
          <p:nvPr/>
        </p:nvSpPr>
        <p:spPr>
          <a:xfrm>
            <a:off x="395288" y="2052638"/>
            <a:ext cx="4897437" cy="4271962"/>
          </a:xfrm>
          <a:prstGeom prst="rect">
            <a:avLst/>
          </a:prstGeom>
          <a:noFill/>
          <a:ln w="9525">
            <a:noFill/>
          </a:ln>
        </p:spPr>
        <p:txBody>
          <a:bodyPr anchor="ctr" anchorCtr="0">
            <a:spAutoFit/>
          </a:bodyPr>
          <a:p>
            <a:pPr indent="266700" eaLnBrk="1" hangingPunct="1">
              <a:buFont typeface="Wingdings" panose="05000000000000000000" pitchFamily="2" charset="2"/>
              <a:buChar char="Ø"/>
            </a:pPr>
            <a:r>
              <a:rPr lang="zh-CN" altLang="en-US" sz="2000" b="1" dirty="0">
                <a:solidFill>
                  <a:srgbClr val="009900"/>
                </a:solidFill>
                <a:latin typeface="楷体_GB2312" pitchFamily="49" charset="-122"/>
                <a:ea typeface="楷体_GB2312" pitchFamily="49" charset="-122"/>
              </a:rPr>
              <a:t>摩擦压力机上模锻</a:t>
            </a:r>
            <a:r>
              <a:rPr lang="zh-CN" altLang="en-US" sz="2000" b="1" dirty="0">
                <a:latin typeface="楷体_GB2312" pitchFamily="49" charset="-122"/>
                <a:ea typeface="楷体_GB2312" pitchFamily="49" charset="-122"/>
              </a:rPr>
              <a:t>（螺旋压力机）</a:t>
            </a:r>
            <a:endParaRPr lang="zh-CN" altLang="en-US" b="1" dirty="0">
              <a:latin typeface="楷体_GB2312" pitchFamily="49" charset="-122"/>
              <a:ea typeface="楷体_GB2312" pitchFamily="49" charset="-122"/>
            </a:endParaRPr>
          </a:p>
          <a:p>
            <a:pPr indent="266700">
              <a:buNone/>
            </a:pPr>
            <a:r>
              <a:rPr lang="en-US" altLang="zh-CN" b="1" dirty="0">
                <a:solidFill>
                  <a:srgbClr val="CC3300"/>
                </a:solidFill>
                <a:latin typeface="楷体_GB2312" pitchFamily="49" charset="-122"/>
                <a:ea typeface="楷体_GB2312" pitchFamily="49" charset="-122"/>
              </a:rPr>
              <a:t>Ⅱ</a:t>
            </a:r>
            <a:r>
              <a:rPr lang="zh-CN" altLang="en-US" b="1" dirty="0">
                <a:solidFill>
                  <a:srgbClr val="CC3300"/>
                </a:solidFill>
                <a:latin typeface="楷体_GB2312" pitchFamily="49" charset="-122"/>
                <a:ea typeface="楷体_GB2312" pitchFamily="49" charset="-122"/>
              </a:rPr>
              <a:t>吨位：</a:t>
            </a:r>
            <a:r>
              <a:rPr lang="zh-CN" altLang="en-US" b="1" dirty="0">
                <a:latin typeface="楷体_GB2312" pitchFamily="49" charset="-122"/>
                <a:ea typeface="楷体_GB2312" pitchFamily="49" charset="-122"/>
              </a:rPr>
              <a:t>机械：</a:t>
            </a:r>
            <a:r>
              <a:rPr lang="en-US" altLang="zh-CN" b="1" dirty="0">
                <a:latin typeface="楷体_GB2312" pitchFamily="49" charset="-122"/>
                <a:ea typeface="楷体_GB2312" pitchFamily="49" charset="-122"/>
              </a:rPr>
              <a:t>80000KN  </a:t>
            </a:r>
            <a:r>
              <a:rPr lang="zh-CN" altLang="en-US" b="1" dirty="0">
                <a:latin typeface="楷体_GB2312" pitchFamily="49" charset="-122"/>
                <a:ea typeface="楷体_GB2312" pitchFamily="49" charset="-122"/>
              </a:rPr>
              <a:t>常用</a:t>
            </a:r>
            <a:r>
              <a:rPr lang="en-US" altLang="zh-CN" b="1" dirty="0">
                <a:latin typeface="楷体_GB2312" pitchFamily="49" charset="-122"/>
                <a:ea typeface="楷体_GB2312" pitchFamily="49" charset="-122"/>
              </a:rPr>
              <a:t>10000KN</a:t>
            </a:r>
            <a:r>
              <a:rPr lang="zh-CN" altLang="en-US" b="1" dirty="0">
                <a:latin typeface="楷体_GB2312" pitchFamily="49" charset="-122"/>
                <a:ea typeface="楷体_GB2312" pitchFamily="49" charset="-122"/>
              </a:rPr>
              <a:t>以下</a:t>
            </a:r>
            <a:endParaRPr lang="zh-CN" altLang="en-US" b="1" dirty="0">
              <a:latin typeface="楷体_GB2312" pitchFamily="49" charset="-122"/>
              <a:ea typeface="楷体_GB2312" pitchFamily="49" charset="-122"/>
            </a:endParaRPr>
          </a:p>
          <a:p>
            <a:pPr indent="266700">
              <a:buNone/>
            </a:pPr>
            <a:r>
              <a:rPr lang="zh-CN" altLang="en-US" b="1" dirty="0">
                <a:latin typeface="楷体_GB2312" pitchFamily="49" charset="-122"/>
                <a:ea typeface="楷体_GB2312" pitchFamily="49" charset="-122"/>
              </a:rPr>
              <a:t>        液压：</a:t>
            </a:r>
            <a:r>
              <a:rPr lang="en-US" altLang="zh-CN" b="1" dirty="0">
                <a:latin typeface="楷体_GB2312" pitchFamily="49" charset="-122"/>
                <a:ea typeface="楷体_GB2312" pitchFamily="49" charset="-122"/>
              </a:rPr>
              <a:t>120000KN</a:t>
            </a:r>
            <a:r>
              <a:rPr lang="zh-CN" altLang="en-US" b="1" dirty="0">
                <a:latin typeface="楷体_GB2312" pitchFamily="49" charset="-122"/>
                <a:ea typeface="楷体_GB2312" pitchFamily="49" charset="-122"/>
              </a:rPr>
              <a:t>（国内）</a:t>
            </a:r>
            <a:endParaRPr lang="zh-CN" altLang="en-US" b="1" dirty="0">
              <a:latin typeface="楷体_GB2312" pitchFamily="49" charset="-122"/>
              <a:ea typeface="楷体_GB2312" pitchFamily="49" charset="-122"/>
            </a:endParaRPr>
          </a:p>
          <a:p>
            <a:pPr indent="266700">
              <a:buNone/>
            </a:pPr>
            <a:r>
              <a:rPr lang="en-US" altLang="zh-CN" b="1" dirty="0">
                <a:solidFill>
                  <a:srgbClr val="CC3300"/>
                </a:solidFill>
                <a:latin typeface="楷体_GB2312" pitchFamily="49" charset="-122"/>
                <a:ea typeface="楷体_GB2312" pitchFamily="49" charset="-122"/>
              </a:rPr>
              <a:t>Ⅲ</a:t>
            </a:r>
            <a:r>
              <a:rPr lang="zh-CN" altLang="en-US" b="1" dirty="0">
                <a:solidFill>
                  <a:srgbClr val="CC3300"/>
                </a:solidFill>
                <a:latin typeface="楷体_GB2312" pitchFamily="49" charset="-122"/>
                <a:ea typeface="楷体_GB2312" pitchFamily="49" charset="-122"/>
              </a:rPr>
              <a:t>模锻特点 </a:t>
            </a:r>
            <a:r>
              <a:rPr lang="en-US" altLang="zh-CN" b="1" dirty="0">
                <a:solidFill>
                  <a:srgbClr val="CC3300"/>
                </a:solidFill>
                <a:latin typeface="楷体_GB2312" pitchFamily="49" charset="-122"/>
                <a:ea typeface="楷体_GB2312" pitchFamily="49" charset="-122"/>
              </a:rPr>
              <a:t>:</a:t>
            </a:r>
            <a:r>
              <a:rPr lang="en-US" altLang="zh-CN" b="1" dirty="0">
                <a:solidFill>
                  <a:schemeClr val="hlink"/>
                </a:solidFill>
                <a:latin typeface="楷体_GB2312" pitchFamily="49" charset="-122"/>
                <a:ea typeface="楷体_GB2312" pitchFamily="49" charset="-122"/>
              </a:rPr>
              <a:t>                         </a:t>
            </a:r>
            <a:endParaRPr lang="en-US" altLang="zh-CN" b="1" dirty="0">
              <a:solidFill>
                <a:schemeClr val="hlink"/>
              </a:solidFill>
              <a:latin typeface="楷体_GB2312" pitchFamily="49" charset="-122"/>
              <a:ea typeface="楷体_GB2312" pitchFamily="49" charset="-122"/>
            </a:endParaRPr>
          </a:p>
          <a:p>
            <a:pPr indent="266700">
              <a:buNone/>
            </a:pPr>
            <a:r>
              <a:rPr lang="en-US" altLang="zh-CN" b="1" dirty="0">
                <a:solidFill>
                  <a:srgbClr val="FF0000"/>
                </a:solidFill>
                <a:latin typeface="楷体_GB2312" pitchFamily="49" charset="-122"/>
                <a:ea typeface="楷体_GB2312" pitchFamily="49" charset="-122"/>
              </a:rPr>
              <a:t>ⅰ</a:t>
            </a:r>
            <a:r>
              <a:rPr lang="en-US" altLang="zh-CN"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滑块行程不固定，具有锤的功能。</a:t>
            </a:r>
            <a:endParaRPr lang="zh-CN" altLang="en-US" b="1" dirty="0">
              <a:latin typeface="楷体_GB2312" pitchFamily="49" charset="-122"/>
              <a:ea typeface="楷体_GB2312" pitchFamily="49" charset="-122"/>
            </a:endParaRPr>
          </a:p>
          <a:p>
            <a:pPr indent="266700" eaLnBrk="1" hangingPunct="1">
              <a:buNone/>
            </a:pPr>
            <a:r>
              <a:rPr lang="en-US" altLang="zh-CN" b="1" dirty="0">
                <a:solidFill>
                  <a:srgbClr val="FF0000"/>
                </a:solidFill>
                <a:latin typeface="楷体_GB2312" pitchFamily="49" charset="-122"/>
                <a:ea typeface="楷体_GB2312" pitchFamily="49" charset="-122"/>
              </a:rPr>
              <a:t>ⅱ</a:t>
            </a:r>
            <a:r>
              <a:rPr lang="en-US" altLang="zh-CN"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滑块运动速度慢，再结晶过程可以充分进行，特别适合于锻造低塑性合金钢和有色金属等。</a:t>
            </a:r>
            <a:endParaRPr lang="zh-CN" altLang="en-US" b="1" dirty="0">
              <a:latin typeface="楷体_GB2312" pitchFamily="49" charset="-122"/>
              <a:ea typeface="楷体_GB2312" pitchFamily="49" charset="-122"/>
            </a:endParaRPr>
          </a:p>
          <a:p>
            <a:pPr indent="266700" eaLnBrk="1" hangingPunct="1">
              <a:buNone/>
            </a:pPr>
            <a:r>
              <a:rPr lang="en-US" altLang="zh-CN" b="1" dirty="0">
                <a:solidFill>
                  <a:srgbClr val="FF0000"/>
                </a:solidFill>
                <a:latin typeface="楷体_GB2312" pitchFamily="49" charset="-122"/>
                <a:ea typeface="楷体_GB2312" pitchFamily="49" charset="-122"/>
              </a:rPr>
              <a:t>ⅲ </a:t>
            </a:r>
            <a:r>
              <a:rPr lang="zh-CN" altLang="en-US" b="1" dirty="0">
                <a:latin typeface="楷体_GB2312" pitchFamily="49" charset="-122"/>
                <a:ea typeface="楷体_GB2312" pitchFamily="49" charset="-122"/>
              </a:rPr>
              <a:t>滑块打击速度慢，设备有顶料装置，可以使用整体式锻模，组合模具，锻件形状可以非常复杂，简化加工，省料，降低成本。</a:t>
            </a:r>
            <a:endParaRPr lang="zh-CN" altLang="en-US" b="1" dirty="0">
              <a:latin typeface="楷体_GB2312" pitchFamily="49" charset="-122"/>
              <a:ea typeface="楷体_GB2312" pitchFamily="49" charset="-122"/>
            </a:endParaRPr>
          </a:p>
          <a:p>
            <a:pPr indent="266700" eaLnBrk="1" hangingPunct="1">
              <a:buNone/>
            </a:pPr>
            <a:r>
              <a:rPr lang="en-US" altLang="zh-CN" b="1" dirty="0">
                <a:solidFill>
                  <a:srgbClr val="FF0000"/>
                </a:solidFill>
                <a:latin typeface="楷体_GB2312" pitchFamily="49" charset="-122"/>
                <a:ea typeface="楷体_GB2312" pitchFamily="49" charset="-122"/>
              </a:rPr>
              <a:t>ⅳ</a:t>
            </a:r>
            <a:r>
              <a:rPr lang="en-US" altLang="zh-CN"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承受偏心载荷能力差，适于单膛模锻。对于形状复杂的锻件，需要在自由锻设备或其它设备上制坯。</a:t>
            </a:r>
            <a:endParaRPr lang="zh-CN" altLang="en-US" b="1" dirty="0">
              <a:latin typeface="楷体_GB2312" pitchFamily="49" charset="-122"/>
              <a:ea typeface="楷体_GB2312" pitchFamily="49" charset="-122"/>
            </a:endParaRPr>
          </a:p>
          <a:p>
            <a:pPr indent="266700">
              <a:buNone/>
            </a:pPr>
            <a:endParaRPr lang="en-US" altLang="zh-CN" sz="2000" b="1" dirty="0">
              <a:latin typeface="楷体_GB2312" pitchFamily="49" charset="-122"/>
              <a:ea typeface="楷体_GB2312" pitchFamily="49" charset="-122"/>
            </a:endParaRPr>
          </a:p>
        </p:txBody>
      </p:sp>
      <p:sp>
        <p:nvSpPr>
          <p:cNvPr id="80900" name="Rectangle 4"/>
          <p:cNvSpPr/>
          <p:nvPr/>
        </p:nvSpPr>
        <p:spPr>
          <a:xfrm>
            <a:off x="0" y="29321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grpSp>
        <p:nvGrpSpPr>
          <p:cNvPr id="80901" name="Group 5"/>
          <p:cNvGrpSpPr/>
          <p:nvPr/>
        </p:nvGrpSpPr>
        <p:grpSpPr>
          <a:xfrm>
            <a:off x="5724525" y="1773238"/>
            <a:ext cx="3529013" cy="4319587"/>
            <a:chOff x="8280" y="6120"/>
            <a:chExt cx="2700" cy="3123"/>
          </a:xfrm>
        </p:grpSpPr>
        <p:pic>
          <p:nvPicPr>
            <p:cNvPr id="80902" name="Picture 6" descr="未命名10"/>
            <p:cNvPicPr>
              <a:picLocks noChangeAspect="1"/>
            </p:cNvPicPr>
            <p:nvPr/>
          </p:nvPicPr>
          <p:blipFill>
            <a:blip r:embed="rId1"/>
            <a:srcRect r="21115"/>
            <a:stretch>
              <a:fillRect/>
            </a:stretch>
          </p:blipFill>
          <p:spPr>
            <a:xfrm>
              <a:off x="8280" y="6120"/>
              <a:ext cx="2160" cy="2505"/>
            </a:xfrm>
            <a:prstGeom prst="rect">
              <a:avLst/>
            </a:prstGeom>
            <a:noFill/>
            <a:ln w="9525">
              <a:noFill/>
            </a:ln>
          </p:spPr>
        </p:pic>
        <p:sp>
          <p:nvSpPr>
            <p:cNvPr id="80903" name="Text Box 7"/>
            <p:cNvSpPr txBox="1"/>
            <p:nvPr/>
          </p:nvSpPr>
          <p:spPr>
            <a:xfrm>
              <a:off x="8280" y="8775"/>
              <a:ext cx="2700" cy="468"/>
            </a:xfrm>
            <a:prstGeom prst="rect">
              <a:avLst/>
            </a:prstGeom>
            <a:noFill/>
            <a:ln w="9525">
              <a:noFill/>
            </a:ln>
          </p:spPr>
          <p:txBody>
            <a:bodyPr lIns="0" tIns="0" rIns="0" bIns="0"/>
            <a:p>
              <a:pPr eaLnBrk="1" hangingPunct="1"/>
              <a:r>
                <a:rPr lang="zh-CN" altLang="en-US" sz="1600" b="1" dirty="0">
                  <a:latin typeface="楷体_GB2312" pitchFamily="49" charset="-122"/>
                  <a:ea typeface="楷体_GB2312" pitchFamily="49" charset="-122"/>
                </a:rPr>
                <a:t>图</a:t>
              </a:r>
              <a:r>
                <a:rPr lang="en-US" altLang="zh-CN" sz="1600" b="1" dirty="0">
                  <a:latin typeface="楷体_GB2312" pitchFamily="49" charset="-122"/>
                  <a:ea typeface="楷体_GB2312" pitchFamily="49" charset="-122"/>
                </a:rPr>
                <a:t>3.21  </a:t>
              </a:r>
              <a:r>
                <a:rPr lang="zh-CN" altLang="en-US" sz="1600" b="1" dirty="0">
                  <a:latin typeface="楷体_GB2312" pitchFamily="49" charset="-122"/>
                  <a:ea typeface="楷体_GB2312" pitchFamily="49" charset="-122"/>
                </a:rPr>
                <a:t>摩擦压力机传动简图</a:t>
              </a:r>
              <a:r>
                <a:rPr lang="zh-CN" altLang="en-US" sz="1000" dirty="0">
                  <a:latin typeface="Times New Roman" panose="02020603050405020304" pitchFamily="18" charset="0"/>
                </a:rPr>
                <a:t>	</a:t>
              </a:r>
              <a:endParaRPr lang="zh-CN" altLang="en-US" sz="1000" dirty="0">
                <a:latin typeface="Times New Roman" panose="02020603050405020304" pitchFamily="18" charset="0"/>
              </a:endParaRPr>
            </a:p>
            <a:p>
              <a:pPr eaLnBrk="1" hangingPunct="1"/>
              <a:endParaRPr lang="en-US" altLang="zh-CN" dirty="0">
                <a:latin typeface="Verdana" panose="020B060403050404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7747"/>
                                        </p:tgtEl>
                                        <p:attrNameLst>
                                          <p:attrName>style.visibility</p:attrName>
                                        </p:attrNameLst>
                                      </p:cBhvr>
                                      <p:to>
                                        <p:strVal val="visible"/>
                                      </p:to>
                                    </p:set>
                                    <p:animEffect transition="in" filter="blinds(horizontal)">
                                      <p:cBhvr>
                                        <p:cTn id="7" dur="500"/>
                                        <p:tgtEl>
                                          <p:spTgt spid="927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774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1922" name="组合 16"/>
          <p:cNvGrpSpPr/>
          <p:nvPr/>
        </p:nvGrpSpPr>
        <p:grpSpPr>
          <a:xfrm>
            <a:off x="142875" y="1071563"/>
            <a:ext cx="8715375" cy="5743575"/>
            <a:chOff x="142844" y="1071546"/>
            <a:chExt cx="8715436" cy="5743539"/>
          </a:xfrm>
        </p:grpSpPr>
        <p:grpSp>
          <p:nvGrpSpPr>
            <p:cNvPr id="81927" name="组合 11"/>
            <p:cNvGrpSpPr/>
            <p:nvPr/>
          </p:nvGrpSpPr>
          <p:grpSpPr>
            <a:xfrm>
              <a:off x="142844" y="1071546"/>
              <a:ext cx="8715436" cy="5743539"/>
              <a:chOff x="0" y="500042"/>
              <a:chExt cx="8715436" cy="5743539"/>
            </a:xfrm>
          </p:grpSpPr>
          <p:grpSp>
            <p:nvGrpSpPr>
              <p:cNvPr id="81929" name="组合 8"/>
              <p:cNvGrpSpPr/>
              <p:nvPr/>
            </p:nvGrpSpPr>
            <p:grpSpPr>
              <a:xfrm>
                <a:off x="0" y="500042"/>
                <a:ext cx="8715436" cy="5743539"/>
                <a:chOff x="0" y="500042"/>
                <a:chExt cx="8715436" cy="5743539"/>
              </a:xfrm>
            </p:grpSpPr>
            <p:pic>
              <p:nvPicPr>
                <p:cNvPr id="81931" name="Picture 3"/>
                <p:cNvPicPr>
                  <a:picLocks noChangeAspect="1"/>
                </p:cNvPicPr>
                <p:nvPr/>
              </p:nvPicPr>
              <p:blipFill>
                <a:blip r:embed="rId1"/>
                <a:stretch>
                  <a:fillRect/>
                </a:stretch>
              </p:blipFill>
              <p:spPr>
                <a:xfrm>
                  <a:off x="0" y="500042"/>
                  <a:ext cx="8715436" cy="5743539"/>
                </a:xfrm>
                <a:prstGeom prst="rect">
                  <a:avLst/>
                </a:prstGeom>
                <a:noFill/>
                <a:ln w="9525">
                  <a:noFill/>
                </a:ln>
              </p:spPr>
            </p:pic>
            <p:sp>
              <p:nvSpPr>
                <p:cNvPr id="8" name="圆角矩形 7"/>
                <p:cNvSpPr/>
                <p:nvPr/>
              </p:nvSpPr>
              <p:spPr>
                <a:xfrm>
                  <a:off x="5500727" y="3857583"/>
                  <a:ext cx="142876" cy="214312"/>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81930" name="TextBox 10"/>
              <p:cNvSpPr txBox="1"/>
              <p:nvPr/>
            </p:nvSpPr>
            <p:spPr>
              <a:xfrm>
                <a:off x="1643074" y="2838834"/>
                <a:ext cx="857256" cy="276999"/>
              </a:xfrm>
              <a:prstGeom prst="rect">
                <a:avLst/>
              </a:prstGeom>
              <a:solidFill>
                <a:srgbClr val="FFFFFF"/>
              </a:solidFill>
              <a:ln w="9525">
                <a:noFill/>
              </a:ln>
            </p:spPr>
            <p:txBody>
              <a:bodyPr>
                <a:spAutoFit/>
              </a:bodyPr>
              <a:p>
                <a:r>
                  <a:rPr lang="zh-CN" altLang="en-US" sz="1200" dirty="0">
                    <a:latin typeface="Arial" panose="020B0604020202020204" pitchFamily="34" charset="0"/>
                  </a:rPr>
                  <a:t>体积成形</a:t>
                </a:r>
                <a:endParaRPr lang="zh-CN" altLang="en-US" sz="1200" dirty="0">
                  <a:latin typeface="Arial" panose="020B0604020202020204" pitchFamily="34" charset="0"/>
                </a:endParaRPr>
              </a:p>
            </p:txBody>
          </p:sp>
        </p:grpSp>
        <p:sp>
          <p:nvSpPr>
            <p:cNvPr id="81928" name="TextBox 9"/>
            <p:cNvSpPr txBox="1"/>
            <p:nvPr/>
          </p:nvSpPr>
          <p:spPr>
            <a:xfrm>
              <a:off x="4286248" y="6528827"/>
              <a:ext cx="3857652" cy="261610"/>
            </a:xfrm>
            <a:prstGeom prst="rect">
              <a:avLst/>
            </a:prstGeom>
            <a:noFill/>
            <a:ln w="9525">
              <a:noFill/>
            </a:ln>
          </p:spPr>
          <p:txBody>
            <a:bodyPr>
              <a:spAutoFit/>
            </a:bodyPr>
            <a:p>
              <a:r>
                <a:rPr lang="zh-CN" altLang="en-US" sz="1100" dirty="0">
                  <a:latin typeface="Arial" panose="020B0604020202020204" pitchFamily="34" charset="0"/>
                </a:rPr>
                <a:t>拔长模膛、滚压模膛、弯曲模膛、切断模膛</a:t>
              </a:r>
              <a:endParaRPr lang="zh-CN" altLang="en-US" sz="1100" dirty="0">
                <a:latin typeface="Arial" panose="020B0604020202020204" pitchFamily="34" charset="0"/>
              </a:endParaRPr>
            </a:p>
          </p:txBody>
        </p:sp>
      </p:grpSp>
      <p:sp>
        <p:nvSpPr>
          <p:cNvPr id="81923" name="标题 1"/>
          <p:cNvSpPr>
            <a:spLocks noGrp="1"/>
          </p:cNvSpPr>
          <p:nvPr>
            <p:ph type="title"/>
          </p:nvPr>
        </p:nvSpPr>
        <p:spPr/>
        <p:txBody>
          <a:bodyPr vert="horz" wrap="square" lIns="91440" tIns="45720" rIns="91440" bIns="45720" anchor="ctr" anchorCtr="0"/>
          <a:p>
            <a:r>
              <a:rPr lang="zh-CN" altLang="en-US" dirty="0"/>
              <a:t>上节回顾</a:t>
            </a:r>
            <a:endParaRPr lang="zh-CN" altLang="en-US" dirty="0"/>
          </a:p>
        </p:txBody>
      </p:sp>
      <p:pic>
        <p:nvPicPr>
          <p:cNvPr id="81924" name="Picture 6"/>
          <p:cNvPicPr>
            <a:picLocks noChangeAspect="1"/>
          </p:cNvPicPr>
          <p:nvPr/>
        </p:nvPicPr>
        <p:blipFill>
          <a:blip r:embed="rId2"/>
          <a:stretch>
            <a:fillRect/>
          </a:stretch>
        </p:blipFill>
        <p:spPr>
          <a:xfrm>
            <a:off x="6572250" y="571500"/>
            <a:ext cx="2393950" cy="1557338"/>
          </a:xfrm>
          <a:prstGeom prst="rect">
            <a:avLst/>
          </a:prstGeom>
          <a:noFill/>
          <a:ln w="9525">
            <a:noFill/>
          </a:ln>
        </p:spPr>
      </p:pic>
      <p:pic>
        <p:nvPicPr>
          <p:cNvPr id="81925" name="Picture 3"/>
          <p:cNvPicPr>
            <a:picLocks noChangeAspect="1"/>
          </p:cNvPicPr>
          <p:nvPr/>
        </p:nvPicPr>
        <p:blipFill>
          <a:blip r:embed="rId3"/>
          <a:stretch>
            <a:fillRect/>
          </a:stretch>
        </p:blipFill>
        <p:spPr>
          <a:xfrm>
            <a:off x="285750" y="1214438"/>
            <a:ext cx="2384425" cy="1785937"/>
          </a:xfrm>
          <a:prstGeom prst="rect">
            <a:avLst/>
          </a:prstGeom>
          <a:noFill/>
          <a:ln w="9525">
            <a:noFill/>
          </a:ln>
        </p:spPr>
      </p:pic>
      <p:pic>
        <p:nvPicPr>
          <p:cNvPr id="81926" name="Picture 5"/>
          <p:cNvPicPr>
            <a:picLocks noChangeAspect="1"/>
          </p:cNvPicPr>
          <p:nvPr/>
        </p:nvPicPr>
        <p:blipFill>
          <a:blip r:embed="rId4"/>
          <a:stretch>
            <a:fillRect/>
          </a:stretch>
        </p:blipFill>
        <p:spPr>
          <a:xfrm>
            <a:off x="6643688" y="2500313"/>
            <a:ext cx="2281237" cy="1676400"/>
          </a:xfrm>
          <a:prstGeom prst="rect">
            <a:avLst/>
          </a:prstGeom>
          <a:noFill/>
          <a:ln w="9525">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2"/>
          <p:cNvSpPr/>
          <p:nvPr/>
        </p:nvSpPr>
        <p:spPr>
          <a:xfrm>
            <a:off x="3492500" y="239713"/>
            <a:ext cx="1211263" cy="708025"/>
          </a:xfrm>
          <a:prstGeom prst="rect">
            <a:avLst/>
          </a:prstGeom>
          <a:noFill/>
          <a:ln w="9525">
            <a:noFill/>
          </a:ln>
        </p:spPr>
        <p:txBody>
          <a:bodyPr wrap="none">
            <a:spAutoFit/>
          </a:bodyPr>
          <a:p>
            <a:pPr eaLnBrk="1" hangingPunct="1"/>
            <a:r>
              <a:rPr lang="zh-CN" altLang="en-US" sz="4000" dirty="0">
                <a:solidFill>
                  <a:schemeClr val="tx2"/>
                </a:solidFill>
                <a:latin typeface="Verdana" panose="020B0604030504040204" pitchFamily="34" charset="0"/>
                <a:ea typeface="楷体_GB2312" pitchFamily="49" charset="-122"/>
              </a:rPr>
              <a:t>模锻</a:t>
            </a:r>
            <a:endParaRPr lang="zh-CN" altLang="en-US" sz="4000" dirty="0">
              <a:solidFill>
                <a:schemeClr val="tx2"/>
              </a:solidFill>
              <a:latin typeface="Verdana" panose="020B0604030504040204" pitchFamily="34" charset="0"/>
              <a:ea typeface="楷体_GB2312" pitchFamily="49" charset="-122"/>
            </a:endParaRPr>
          </a:p>
        </p:txBody>
      </p:sp>
      <p:sp>
        <p:nvSpPr>
          <p:cNvPr id="82947" name="Rectangle 3"/>
          <p:cNvSpPr/>
          <p:nvPr/>
        </p:nvSpPr>
        <p:spPr>
          <a:xfrm>
            <a:off x="214313" y="1643063"/>
            <a:ext cx="8675687" cy="1920875"/>
          </a:xfrm>
          <a:prstGeom prst="rect">
            <a:avLst/>
          </a:prstGeom>
          <a:noFill/>
          <a:ln w="9525">
            <a:noFill/>
          </a:ln>
        </p:spPr>
        <p:txBody>
          <a:bodyPr anchor="ctr" anchorCtr="0">
            <a:spAutoFit/>
          </a:bodyPr>
          <a:p>
            <a:pPr eaLnBrk="1" hangingPunct="1"/>
            <a:r>
              <a:rPr lang="en-US" altLang="zh-CN" sz="2000" b="1" dirty="0">
                <a:solidFill>
                  <a:srgbClr val="CC3300"/>
                </a:solidFill>
                <a:latin typeface="楷体_GB2312" pitchFamily="49" charset="-122"/>
                <a:ea typeface="楷体_GB2312" pitchFamily="49" charset="-122"/>
              </a:rPr>
              <a:t>4.</a:t>
            </a:r>
            <a:r>
              <a:rPr lang="zh-CN" altLang="en-US" sz="2000" b="1" dirty="0">
                <a:solidFill>
                  <a:srgbClr val="CC3300"/>
                </a:solidFill>
                <a:latin typeface="楷体_GB2312" pitchFamily="49" charset="-122"/>
                <a:ea typeface="楷体_GB2312" pitchFamily="49" charset="-122"/>
              </a:rPr>
              <a:t>胎模锻</a:t>
            </a:r>
            <a:endParaRPr lang="zh-CN" altLang="en-US" sz="2000" b="1" dirty="0">
              <a:solidFill>
                <a:srgbClr val="CC3300"/>
              </a:solidFill>
              <a:latin typeface="楷体_GB2312" pitchFamily="49" charset="-122"/>
              <a:ea typeface="楷体_GB2312" pitchFamily="49" charset="-122"/>
            </a:endParaRPr>
          </a:p>
          <a:p>
            <a:pPr eaLnBrk="1" hangingPunct="1"/>
            <a:r>
              <a:rPr lang="zh-CN" altLang="en-US" sz="2000" b="1" dirty="0">
                <a:latin typeface="楷体_GB2312" pitchFamily="49" charset="-122"/>
                <a:ea typeface="楷体_GB2312" pitchFamily="49" charset="-122"/>
              </a:rPr>
              <a:t>    胎模锻是在自由锻设备上使用胎模生产模锻件的工艺方法。胎模锻一般采用自由锻方法制坯，然后在胎模中成形。</a:t>
            </a:r>
            <a:endParaRPr lang="zh-CN" altLang="en-US" sz="2000" b="1" dirty="0">
              <a:latin typeface="楷体_GB2312" pitchFamily="49" charset="-122"/>
              <a:ea typeface="楷体_GB2312" pitchFamily="49" charset="-122"/>
            </a:endParaRPr>
          </a:p>
          <a:p>
            <a:pPr eaLnBrk="1" hangingPunct="1"/>
            <a:r>
              <a:rPr lang="zh-CN" altLang="en-US" sz="2000" b="1" dirty="0">
                <a:latin typeface="楷体_GB2312" pitchFamily="49" charset="-122"/>
                <a:ea typeface="楷体_GB2312" pitchFamily="49" charset="-122"/>
              </a:rPr>
              <a:t>    胎模的种类较多，主要有</a:t>
            </a:r>
            <a:r>
              <a:rPr lang="zh-CN" altLang="en-US" sz="2000" b="1" dirty="0">
                <a:solidFill>
                  <a:srgbClr val="FF0066"/>
                </a:solidFill>
                <a:latin typeface="楷体_GB2312" pitchFamily="49" charset="-122"/>
                <a:ea typeface="楷体_GB2312" pitchFamily="49" charset="-122"/>
              </a:rPr>
              <a:t>扣模、筒模及合模三种。</a:t>
            </a:r>
            <a:endParaRPr lang="zh-CN" altLang="en-US" sz="2000" b="1" dirty="0">
              <a:solidFill>
                <a:srgbClr val="FF0066"/>
              </a:solidFill>
              <a:latin typeface="楷体_GB2312" pitchFamily="49" charset="-122"/>
              <a:ea typeface="楷体_GB2312" pitchFamily="49" charset="-122"/>
            </a:endParaRPr>
          </a:p>
          <a:p>
            <a:pPr eaLnBrk="1" hangingPunct="1"/>
            <a:r>
              <a:rPr lang="zh-CN" altLang="en-US" sz="2000" b="1" dirty="0">
                <a:solidFill>
                  <a:srgbClr val="009900"/>
                </a:solidFill>
                <a:latin typeface="楷体_GB2312" pitchFamily="49" charset="-122"/>
                <a:ea typeface="楷体_GB2312" pitchFamily="49" charset="-122"/>
              </a:rPr>
              <a:t>（</a:t>
            </a:r>
            <a:r>
              <a:rPr lang="en-US" altLang="zh-CN" sz="2000" b="1" dirty="0">
                <a:solidFill>
                  <a:srgbClr val="009900"/>
                </a:solidFill>
                <a:latin typeface="楷体_GB2312" pitchFamily="49" charset="-122"/>
                <a:ea typeface="楷体_GB2312" pitchFamily="49" charset="-122"/>
              </a:rPr>
              <a:t>1</a:t>
            </a:r>
            <a:r>
              <a:rPr lang="zh-CN" altLang="en-US" sz="2000" b="1" dirty="0">
                <a:solidFill>
                  <a:srgbClr val="009900"/>
                </a:solidFill>
                <a:latin typeface="楷体_GB2312" pitchFamily="49" charset="-122"/>
                <a:ea typeface="楷体_GB2312" pitchFamily="49" charset="-122"/>
              </a:rPr>
              <a:t>）扣模</a:t>
            </a:r>
            <a:r>
              <a:rPr lang="zh-CN" altLang="en-US" sz="2000" b="1" dirty="0">
                <a:solidFill>
                  <a:srgbClr val="FF9900"/>
                </a:solidFill>
                <a:latin typeface="楷体_GB2312" pitchFamily="49" charset="-122"/>
                <a:ea typeface="楷体_GB2312" pitchFamily="49" charset="-122"/>
              </a:rPr>
              <a:t> </a:t>
            </a:r>
            <a:r>
              <a:rPr lang="zh-CN" altLang="en-US" sz="2000" b="1" dirty="0">
                <a:solidFill>
                  <a:srgbClr val="0000FF"/>
                </a:solidFill>
                <a:latin typeface="楷体_GB2312" pitchFamily="49" charset="-122"/>
                <a:ea typeface="楷体_GB2312" pitchFamily="49" charset="-122"/>
              </a:rPr>
              <a:t>扣模用来对坯料进行全部或局部扣形，以生产长杆非回转体锻件。也可以为合模锻造进行制坯。用扣模锻造时，坯料不转动。</a:t>
            </a:r>
            <a:endParaRPr lang="zh-CN" altLang="en-US" sz="2000" b="1" dirty="0">
              <a:solidFill>
                <a:srgbClr val="0000FF"/>
              </a:solidFill>
              <a:latin typeface="楷体_GB2312" pitchFamily="49" charset="-122"/>
              <a:ea typeface="楷体_GB2312" pitchFamily="49" charset="-122"/>
            </a:endParaRPr>
          </a:p>
        </p:txBody>
      </p:sp>
      <p:pic>
        <p:nvPicPr>
          <p:cNvPr id="82948" name="Picture 10" descr="322"/>
          <p:cNvPicPr>
            <a:picLocks noChangeAspect="1"/>
          </p:cNvPicPr>
          <p:nvPr/>
        </p:nvPicPr>
        <p:blipFill>
          <a:blip r:embed="rId1"/>
          <a:srcRect l="9358" t="7875" r="10802" b="5443"/>
          <a:stretch>
            <a:fillRect/>
          </a:stretch>
        </p:blipFill>
        <p:spPr>
          <a:xfrm>
            <a:off x="214313" y="3714750"/>
            <a:ext cx="8643937" cy="2570163"/>
          </a:xfrm>
          <a:prstGeom prst="rect">
            <a:avLst/>
          </a:prstGeom>
          <a:noFill/>
          <a:ln w="9525">
            <a:noFill/>
          </a:ln>
        </p:spPr>
      </p:pic>
      <p:sp>
        <p:nvSpPr>
          <p:cNvPr id="82949" name="矩形 1"/>
          <p:cNvSpPr/>
          <p:nvPr/>
        </p:nvSpPr>
        <p:spPr>
          <a:xfrm>
            <a:off x="1571625" y="1214438"/>
            <a:ext cx="6858000" cy="369887"/>
          </a:xfrm>
          <a:prstGeom prst="rect">
            <a:avLst/>
          </a:prstGeom>
          <a:noFill/>
          <a:ln w="9525">
            <a:noFill/>
          </a:ln>
        </p:spPr>
        <p:txBody>
          <a:bodyPr>
            <a:spAutoFit/>
          </a:bodyPr>
          <a:p>
            <a:r>
              <a:rPr lang="en-US" altLang="zh-CN" dirty="0">
                <a:solidFill>
                  <a:srgbClr val="FF0000"/>
                </a:solidFill>
                <a:latin typeface="Arial" panose="020B0604020202020204" pitchFamily="34" charset="0"/>
                <a:hlinkClick r:id="rId2"/>
              </a:rPr>
              <a:t>http://www.tudou.com/programs/view/fZoYzLgJJLk/——</a:t>
            </a:r>
            <a:r>
              <a:rPr lang="zh-CN" altLang="en-US" dirty="0">
                <a:solidFill>
                  <a:srgbClr val="FF0000"/>
                </a:solidFill>
                <a:latin typeface="Arial" panose="020B0604020202020204" pitchFamily="34" charset="0"/>
              </a:rPr>
              <a:t>胎膜锻</a:t>
            </a:r>
            <a:endParaRPr lang="en-US" altLang="zh-CN" dirty="0">
              <a:solidFill>
                <a:srgbClr val="FF0000"/>
              </a:solidFill>
              <a:latin typeface="Arial" panose="020B0604020202020204"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42" name="Rectangle 2"/>
          <p:cNvSpPr>
            <a:spLocks noChangeArrowheads="1"/>
          </p:cNvSpPr>
          <p:nvPr/>
        </p:nvSpPr>
        <p:spPr bwMode="auto">
          <a:xfrm>
            <a:off x="4356100" y="404813"/>
            <a:ext cx="1708150" cy="701675"/>
          </a:xfrm>
          <a:prstGeom prst="rect">
            <a:avLst/>
          </a:prstGeom>
          <a:noFill/>
          <a:ln>
            <a:noFill/>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0" i="0" u="none" strike="noStrike" kern="1200" cap="none" spc="0" normalizeH="0" baseline="0" noProof="0">
                <a:ln>
                  <a:noFill/>
                </a:ln>
                <a:solidFill>
                  <a:schemeClr val="tx2"/>
                </a:solidFill>
                <a:effectLst>
                  <a:outerShdw blurRad="38100" dist="38100" dir="2700000" algn="tl">
                    <a:srgbClr val="000000"/>
                  </a:outerShdw>
                </a:effectLst>
                <a:uLnTx/>
                <a:uFillTx/>
                <a:latin typeface="Verdana" panose="020B0604030504040204" pitchFamily="34" charset="0"/>
                <a:ea typeface="楷体_GB2312" pitchFamily="49" charset="-122"/>
                <a:cs typeface="+mn-cs"/>
              </a:rPr>
              <a:t>自由锻</a:t>
            </a:r>
            <a:endParaRPr kumimoji="0" lang="zh-CN" altLang="en-US" sz="4000" b="0" i="0" u="none" strike="noStrike" kern="1200" cap="none" spc="0" normalizeH="0" baseline="0" noProof="0">
              <a:ln>
                <a:noFill/>
              </a:ln>
              <a:solidFill>
                <a:schemeClr val="tx2"/>
              </a:solidFill>
              <a:effectLst>
                <a:outerShdw blurRad="38100" dist="38100" dir="2700000" algn="tl">
                  <a:srgbClr val="000000"/>
                </a:outerShdw>
              </a:effectLst>
              <a:uLnTx/>
              <a:uFillTx/>
              <a:latin typeface="Verdana" panose="020B0604030504040204" pitchFamily="34" charset="0"/>
              <a:ea typeface="楷体_GB2312" pitchFamily="49" charset="-122"/>
              <a:cs typeface="+mn-cs"/>
            </a:endParaRPr>
          </a:p>
        </p:txBody>
      </p:sp>
      <p:sp>
        <p:nvSpPr>
          <p:cNvPr id="83971" name="Rectangle 3"/>
          <p:cNvSpPr/>
          <p:nvPr/>
        </p:nvSpPr>
        <p:spPr>
          <a:xfrm>
            <a:off x="304800" y="1325563"/>
            <a:ext cx="8447088" cy="2225675"/>
          </a:xfrm>
          <a:prstGeom prst="rect">
            <a:avLst/>
          </a:prstGeom>
          <a:noFill/>
          <a:ln w="9525">
            <a:noFill/>
          </a:ln>
        </p:spPr>
        <p:txBody>
          <a:bodyPr anchor="ctr" anchorCtr="0">
            <a:spAutoFit/>
          </a:bodyPr>
          <a:p>
            <a:pPr eaLnBrk="1" hangingPunct="1"/>
            <a:r>
              <a:rPr lang="en-US" altLang="zh-CN" sz="2000" b="1" dirty="0">
                <a:solidFill>
                  <a:srgbClr val="CC3300"/>
                </a:solidFill>
                <a:latin typeface="楷体_GB2312" pitchFamily="49" charset="-122"/>
                <a:ea typeface="楷体_GB2312" pitchFamily="49" charset="-122"/>
              </a:rPr>
              <a:t>4.</a:t>
            </a:r>
            <a:r>
              <a:rPr lang="zh-CN" altLang="en-US" sz="2000" b="1" dirty="0">
                <a:solidFill>
                  <a:srgbClr val="CC3300"/>
                </a:solidFill>
                <a:latin typeface="楷体_GB2312" pitchFamily="49" charset="-122"/>
                <a:ea typeface="楷体_GB2312" pitchFamily="49" charset="-122"/>
              </a:rPr>
              <a:t>胎模锻</a:t>
            </a:r>
            <a:endParaRPr lang="zh-CN" altLang="en-US" sz="2000" b="1" dirty="0">
              <a:solidFill>
                <a:srgbClr val="CC3300"/>
              </a:solidFill>
              <a:latin typeface="楷体_GB2312" pitchFamily="49" charset="-122"/>
              <a:ea typeface="楷体_GB2312" pitchFamily="49" charset="-122"/>
            </a:endParaRPr>
          </a:p>
          <a:p>
            <a:pPr eaLnBrk="1" hangingPunct="1"/>
            <a:r>
              <a:rPr lang="zh-CN" altLang="en-US" sz="2000" b="1" dirty="0">
                <a:latin typeface="楷体_GB2312" pitchFamily="49" charset="-122"/>
                <a:ea typeface="楷体_GB2312" pitchFamily="49" charset="-122"/>
              </a:rPr>
              <a:t>  </a:t>
            </a:r>
            <a:r>
              <a:rPr lang="zh-CN" altLang="en-US" sz="2000" b="1" dirty="0">
                <a:solidFill>
                  <a:srgbClr val="009900"/>
                </a:solidFill>
                <a:latin typeface="楷体_GB2312" pitchFamily="49" charset="-122"/>
                <a:ea typeface="楷体_GB2312" pitchFamily="49" charset="-122"/>
              </a:rPr>
              <a:t>（</a:t>
            </a:r>
            <a:r>
              <a:rPr lang="en-US" altLang="zh-CN" sz="2000" b="1" dirty="0">
                <a:solidFill>
                  <a:srgbClr val="009900"/>
                </a:solidFill>
                <a:latin typeface="楷体_GB2312" pitchFamily="49" charset="-122"/>
                <a:ea typeface="楷体_GB2312" pitchFamily="49" charset="-122"/>
              </a:rPr>
              <a:t>2</a:t>
            </a:r>
            <a:r>
              <a:rPr lang="zh-CN" altLang="en-US" sz="2000" b="1" dirty="0">
                <a:solidFill>
                  <a:srgbClr val="009900"/>
                </a:solidFill>
                <a:latin typeface="楷体_GB2312" pitchFamily="49" charset="-122"/>
                <a:ea typeface="楷体_GB2312" pitchFamily="49" charset="-122"/>
              </a:rPr>
              <a:t>）筒模</a:t>
            </a:r>
            <a:r>
              <a:rPr lang="zh-CN" altLang="en-US" sz="2000" b="1" dirty="0">
                <a:latin typeface="楷体_GB2312" pitchFamily="49" charset="-122"/>
                <a:ea typeface="楷体_GB2312" pitchFamily="49" charset="-122"/>
              </a:rPr>
              <a:t> 筒模主要用于锻造齿轮、法兰盘等盘类锻件。组合筒模（图</a:t>
            </a:r>
            <a:r>
              <a:rPr lang="en-US" altLang="zh-CN" sz="2000" b="1" dirty="0">
                <a:latin typeface="楷体_GB2312" pitchFamily="49" charset="-122"/>
                <a:ea typeface="楷体_GB2312" pitchFamily="49" charset="-122"/>
              </a:rPr>
              <a:t>23C</a:t>
            </a:r>
            <a:r>
              <a:rPr lang="zh-CN" altLang="en-US" sz="2000" b="1" dirty="0">
                <a:latin typeface="楷体_GB2312" pitchFamily="49" charset="-122"/>
                <a:ea typeface="楷体_GB2312" pitchFamily="49" charset="-122"/>
              </a:rPr>
              <a:t>）由于有两个半模（增加一个分模面）的结构、可锻出形状更复杂的胎模锻件，扩大了胎模锻的应用范围。</a:t>
            </a:r>
            <a:endParaRPr lang="zh-CN" altLang="en-US" sz="2000" b="1" dirty="0">
              <a:latin typeface="楷体_GB2312" pitchFamily="49" charset="-122"/>
              <a:ea typeface="楷体_GB2312" pitchFamily="49" charset="-122"/>
            </a:endParaRPr>
          </a:p>
          <a:p>
            <a:pPr eaLnBrk="1" hangingPunct="1"/>
            <a:r>
              <a:rPr lang="zh-CN" altLang="en-US" sz="2000" b="1" dirty="0">
                <a:latin typeface="楷体_GB2312" pitchFamily="49" charset="-122"/>
                <a:ea typeface="楷体_GB2312" pitchFamily="49" charset="-122"/>
              </a:rPr>
              <a:t>  </a:t>
            </a:r>
            <a:r>
              <a:rPr lang="zh-CN" altLang="en-US" sz="2000" b="1" dirty="0">
                <a:solidFill>
                  <a:srgbClr val="009900"/>
                </a:solidFill>
                <a:latin typeface="楷体_GB2312" pitchFamily="49" charset="-122"/>
                <a:ea typeface="楷体_GB2312" pitchFamily="49" charset="-122"/>
              </a:rPr>
              <a:t>（</a:t>
            </a:r>
            <a:r>
              <a:rPr lang="en-US" altLang="zh-CN" sz="2000" b="1" dirty="0">
                <a:solidFill>
                  <a:srgbClr val="009900"/>
                </a:solidFill>
                <a:latin typeface="楷体_GB2312" pitchFamily="49" charset="-122"/>
                <a:ea typeface="楷体_GB2312" pitchFamily="49" charset="-122"/>
              </a:rPr>
              <a:t>3</a:t>
            </a:r>
            <a:r>
              <a:rPr lang="zh-CN" altLang="en-US" sz="2000" b="1" dirty="0">
                <a:solidFill>
                  <a:srgbClr val="009900"/>
                </a:solidFill>
                <a:latin typeface="楷体_GB2312" pitchFamily="49" charset="-122"/>
                <a:ea typeface="楷体_GB2312" pitchFamily="49" charset="-122"/>
              </a:rPr>
              <a:t>）合模</a:t>
            </a:r>
            <a:r>
              <a:rPr lang="zh-CN" altLang="en-US" sz="2000" b="1" dirty="0">
                <a:latin typeface="楷体_GB2312" pitchFamily="49" charset="-122"/>
                <a:ea typeface="楷体_GB2312" pitchFamily="49" charset="-122"/>
              </a:rPr>
              <a:t> 合模由上模和下模组成，并有导向结构，可生产形状复杂、精度较高的非回转体锻件。</a:t>
            </a:r>
            <a:endParaRPr lang="zh-CN" altLang="en-US" sz="2000" b="1" dirty="0">
              <a:latin typeface="楷体_GB2312" pitchFamily="49" charset="-122"/>
              <a:ea typeface="楷体_GB2312" pitchFamily="49" charset="-122"/>
            </a:endParaRPr>
          </a:p>
          <a:p>
            <a:pPr eaLnBrk="1" hangingPunct="1"/>
            <a:r>
              <a:rPr lang="zh-CN" altLang="en-US" sz="2000" b="1" dirty="0">
                <a:latin typeface="宋体" panose="02010600030101010101" pitchFamily="2" charset="-122"/>
              </a:rPr>
              <a:t>    </a:t>
            </a:r>
            <a:endParaRPr lang="zh-CN" altLang="en-US" sz="2000" b="1" dirty="0">
              <a:latin typeface="宋体" panose="02010600030101010101" pitchFamily="2" charset="-122"/>
            </a:endParaRPr>
          </a:p>
        </p:txBody>
      </p:sp>
      <p:pic>
        <p:nvPicPr>
          <p:cNvPr id="83972" name="Picture 6" descr="323"/>
          <p:cNvPicPr>
            <a:picLocks noChangeAspect="1"/>
          </p:cNvPicPr>
          <p:nvPr/>
        </p:nvPicPr>
        <p:blipFill>
          <a:blip r:embed="rId1"/>
          <a:srcRect l="8702" t="5678" r="8702" b="3424"/>
          <a:stretch>
            <a:fillRect/>
          </a:stretch>
        </p:blipFill>
        <p:spPr>
          <a:xfrm>
            <a:off x="1071563" y="3252788"/>
            <a:ext cx="6992937" cy="3533775"/>
          </a:xfrm>
          <a:prstGeom prst="rect">
            <a:avLst/>
          </a:prstGeom>
          <a:noFill/>
          <a:ln w="9525">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9794" name="Rectangle 2"/>
          <p:cNvSpPr>
            <a:spLocks noChangeArrowheads="1"/>
          </p:cNvSpPr>
          <p:nvPr/>
        </p:nvSpPr>
        <p:spPr bwMode="auto">
          <a:xfrm>
            <a:off x="3708400" y="414338"/>
            <a:ext cx="4176713" cy="701675"/>
          </a:xfrm>
          <a:prstGeom prst="rect">
            <a:avLst/>
          </a:prstGeom>
          <a:noFill/>
          <a:ln>
            <a:noFill/>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a:ln>
                  <a:noFill/>
                </a:ln>
                <a:solidFill>
                  <a:schemeClr val="tx2"/>
                </a:solidFill>
                <a:effectLst>
                  <a:outerShdw blurRad="38100" dist="38100" dir="2700000" algn="tl">
                    <a:srgbClr val="000000"/>
                  </a:outerShdw>
                </a:effectLst>
                <a:uLnTx/>
                <a:uFillTx/>
                <a:latin typeface="Verdana" panose="020B0604030504040204" pitchFamily="34" charset="0"/>
                <a:ea typeface="楷体_GB2312" pitchFamily="49" charset="-122"/>
                <a:cs typeface="+mn-cs"/>
              </a:rPr>
              <a:t>工艺规程的制订</a:t>
            </a:r>
            <a:endParaRPr kumimoji="0" lang="zh-CN" altLang="en-US" sz="4000" b="1" i="0" u="none" strike="noStrike" kern="1200" cap="none" spc="0" normalizeH="0" baseline="0" noProof="0">
              <a:ln>
                <a:noFill/>
              </a:ln>
              <a:solidFill>
                <a:schemeClr val="tx2"/>
              </a:solidFill>
              <a:effectLst>
                <a:outerShdw blurRad="38100" dist="38100" dir="2700000" algn="tl">
                  <a:srgbClr val="000000"/>
                </a:outerShdw>
              </a:effectLst>
              <a:uLnTx/>
              <a:uFillTx/>
              <a:latin typeface="Verdana" panose="020B0604030504040204" pitchFamily="34" charset="0"/>
              <a:ea typeface="楷体_GB2312" pitchFamily="49" charset="-122"/>
              <a:cs typeface="+mn-cs"/>
            </a:endParaRPr>
          </a:p>
        </p:txBody>
      </p:sp>
      <p:sp>
        <p:nvSpPr>
          <p:cNvPr id="84995" name="Rectangle 3"/>
          <p:cNvSpPr/>
          <p:nvPr/>
        </p:nvSpPr>
        <p:spPr>
          <a:xfrm>
            <a:off x="611188" y="2184400"/>
            <a:ext cx="4176712" cy="4216400"/>
          </a:xfrm>
          <a:prstGeom prst="rect">
            <a:avLst/>
          </a:prstGeom>
          <a:noFill/>
          <a:ln w="9525">
            <a:noFill/>
          </a:ln>
        </p:spPr>
        <p:txBody>
          <a:bodyPr anchor="ctr" anchorCtr="0">
            <a:spAutoFit/>
          </a:bodyPr>
          <a:p>
            <a:pPr eaLnBrk="1" hangingPunct="1"/>
            <a:r>
              <a:rPr lang="en-US" altLang="zh-CN" sz="2800" b="1" dirty="0">
                <a:solidFill>
                  <a:srgbClr val="FF0066"/>
                </a:solidFill>
                <a:latin typeface="楷体_GB2312" pitchFamily="49" charset="-122"/>
                <a:ea typeface="楷体_GB2312" pitchFamily="49" charset="-122"/>
              </a:rPr>
              <a:t>2.</a:t>
            </a:r>
            <a:r>
              <a:rPr lang="zh-CN" altLang="en-US" sz="2800" b="1" dirty="0">
                <a:solidFill>
                  <a:srgbClr val="FF0066"/>
                </a:solidFill>
                <a:latin typeface="楷体_GB2312" pitchFamily="49" charset="-122"/>
                <a:ea typeface="楷体_GB2312" pitchFamily="49" charset="-122"/>
              </a:rPr>
              <a:t>自由锻工艺规程的制订</a:t>
            </a:r>
            <a:endParaRPr lang="zh-CN" altLang="en-US" sz="2800" b="1" dirty="0">
              <a:solidFill>
                <a:srgbClr val="FF0066"/>
              </a:solidFill>
              <a:latin typeface="楷体_GB2312" pitchFamily="49" charset="-122"/>
              <a:ea typeface="楷体_GB2312" pitchFamily="49" charset="-122"/>
            </a:endParaRPr>
          </a:p>
          <a:p>
            <a:pPr eaLnBrk="1" hangingPunct="1"/>
            <a:r>
              <a:rPr lang="zh-CN" altLang="en-US" sz="2000" b="1" dirty="0">
                <a:solidFill>
                  <a:srgbClr val="CC3300"/>
                </a:solidFill>
                <a:latin typeface="楷体_GB2312" pitchFamily="49" charset="-122"/>
                <a:ea typeface="楷体_GB2312" pitchFamily="49" charset="-122"/>
              </a:rPr>
              <a:t>（</a:t>
            </a:r>
            <a:r>
              <a:rPr lang="en-US" altLang="zh-CN" sz="2000" b="1" dirty="0">
                <a:solidFill>
                  <a:srgbClr val="CC3300"/>
                </a:solidFill>
                <a:latin typeface="楷体_GB2312" pitchFamily="49" charset="-122"/>
                <a:ea typeface="楷体_GB2312" pitchFamily="49" charset="-122"/>
              </a:rPr>
              <a:t>1</a:t>
            </a:r>
            <a:r>
              <a:rPr lang="zh-CN" altLang="en-US" sz="2000" b="1" dirty="0">
                <a:solidFill>
                  <a:srgbClr val="CC3300"/>
                </a:solidFill>
                <a:latin typeface="楷体_GB2312" pitchFamily="49" charset="-122"/>
                <a:ea typeface="楷体_GB2312" pitchFamily="49" charset="-122"/>
              </a:rPr>
              <a:t>）绘制锻件图：</a:t>
            </a:r>
            <a:r>
              <a:rPr lang="zh-CN" altLang="en-US" sz="2000" b="1" dirty="0">
                <a:latin typeface="楷体_GB2312" pitchFamily="49" charset="-122"/>
                <a:ea typeface="楷体_GB2312" pitchFamily="49" charset="-122"/>
              </a:rPr>
              <a:t>工艺规程中的核心内容。以零件图为基础，结合自由锻工艺特点绘制而成。</a:t>
            </a:r>
            <a:endParaRPr lang="zh-CN" altLang="en-US" sz="2000" b="1" dirty="0">
              <a:latin typeface="楷体_GB2312" pitchFamily="49" charset="-122"/>
              <a:ea typeface="楷体_GB2312" pitchFamily="49" charset="-122"/>
            </a:endParaRPr>
          </a:p>
          <a:p>
            <a:pPr eaLnBrk="1" hangingPunct="1"/>
            <a:r>
              <a:rPr lang="zh-CN" altLang="en-US" sz="2000" b="1" dirty="0">
                <a:solidFill>
                  <a:srgbClr val="009900"/>
                </a:solidFill>
                <a:latin typeface="楷体_GB2312" pitchFamily="49" charset="-122"/>
                <a:ea typeface="楷体_GB2312" pitchFamily="49" charset="-122"/>
              </a:rPr>
              <a:t>①敷料：</a:t>
            </a:r>
            <a:r>
              <a:rPr lang="zh-CN" altLang="en-US" sz="2000" b="1" dirty="0">
                <a:latin typeface="楷体_GB2312" pitchFamily="49" charset="-122"/>
                <a:ea typeface="楷体_GB2312" pitchFamily="49" charset="-122"/>
              </a:rPr>
              <a:t>简化锻件形状，便于进行锻造而增加的一部分材料，也称为余块。</a:t>
            </a:r>
            <a:endParaRPr lang="zh-CN" altLang="en-US" sz="2000" b="1" dirty="0">
              <a:latin typeface="楷体_GB2312" pitchFamily="49" charset="-122"/>
              <a:ea typeface="楷体_GB2312" pitchFamily="49" charset="-122"/>
            </a:endParaRPr>
          </a:p>
          <a:p>
            <a:pPr eaLnBrk="1" hangingPunct="1"/>
            <a:r>
              <a:rPr lang="zh-CN" altLang="en-US" sz="2000" b="1" dirty="0">
                <a:solidFill>
                  <a:srgbClr val="009900"/>
                </a:solidFill>
                <a:latin typeface="楷体_GB2312" pitchFamily="49" charset="-122"/>
                <a:ea typeface="楷体_GB2312" pitchFamily="49" charset="-122"/>
              </a:rPr>
              <a:t>②余量：</a:t>
            </a:r>
            <a:r>
              <a:rPr lang="zh-CN" altLang="en-US" sz="2000" b="1" dirty="0">
                <a:latin typeface="楷体_GB2312" pitchFamily="49" charset="-122"/>
                <a:ea typeface="楷体_GB2312" pitchFamily="49" charset="-122"/>
              </a:rPr>
              <a:t>零件的加工表面上增加供切削加工用的材料，具体数值结合生产的实际条件查表确定。</a:t>
            </a:r>
            <a:endParaRPr lang="zh-CN" altLang="en-US" sz="2000" b="1" dirty="0">
              <a:latin typeface="楷体_GB2312" pitchFamily="49" charset="-122"/>
              <a:ea typeface="楷体_GB2312" pitchFamily="49" charset="-122"/>
            </a:endParaRPr>
          </a:p>
          <a:p>
            <a:pPr eaLnBrk="1" hangingPunct="1"/>
            <a:r>
              <a:rPr lang="zh-CN" altLang="en-US" sz="2000" b="1" dirty="0">
                <a:solidFill>
                  <a:srgbClr val="009900"/>
                </a:solidFill>
                <a:latin typeface="楷体_GB2312" pitchFamily="49" charset="-122"/>
                <a:ea typeface="楷体_GB2312" pitchFamily="49" charset="-122"/>
              </a:rPr>
              <a:t>③公差：</a:t>
            </a:r>
            <a:r>
              <a:rPr lang="zh-CN" altLang="en-US" sz="2000" b="1" dirty="0">
                <a:latin typeface="楷体_GB2312" pitchFamily="49" charset="-122"/>
                <a:ea typeface="楷体_GB2312" pitchFamily="49" charset="-122"/>
              </a:rPr>
              <a:t>锻件名义尺寸的允许变动量。根据锻件形状、尺寸并考虑到生产实际情况加以选取。</a:t>
            </a:r>
            <a:endParaRPr lang="zh-CN" altLang="en-US" sz="2000" b="1" dirty="0">
              <a:latin typeface="楷体_GB2312" pitchFamily="49" charset="-122"/>
              <a:ea typeface="楷体_GB2312" pitchFamily="49" charset="-122"/>
            </a:endParaRPr>
          </a:p>
        </p:txBody>
      </p:sp>
      <p:sp>
        <p:nvSpPr>
          <p:cNvPr id="84996" name="Rectangle 9"/>
          <p:cNvSpPr/>
          <p:nvPr/>
        </p:nvSpPr>
        <p:spPr>
          <a:xfrm>
            <a:off x="468313" y="1311275"/>
            <a:ext cx="8280400" cy="701675"/>
          </a:xfrm>
          <a:prstGeom prst="rect">
            <a:avLst/>
          </a:prstGeom>
          <a:noFill/>
          <a:ln w="9525">
            <a:noFill/>
          </a:ln>
        </p:spPr>
        <p:txBody>
          <a:bodyPr anchor="ctr" anchorCtr="0">
            <a:spAutoFit/>
          </a:bodyPr>
          <a:p>
            <a:pPr eaLnBrk="1" hangingPunct="1"/>
            <a:r>
              <a:rPr lang="en-US" altLang="zh-CN" dirty="0">
                <a:latin typeface="Arial" panose="020B0604020202020204" pitchFamily="34" charset="0"/>
              </a:rPr>
              <a:t>       </a:t>
            </a:r>
            <a:r>
              <a:rPr lang="zh-CN" altLang="en-US" sz="2000" b="1" dirty="0">
                <a:solidFill>
                  <a:srgbClr val="0000FF"/>
                </a:solidFill>
                <a:latin typeface="楷体_GB2312" pitchFamily="49" charset="-122"/>
                <a:ea typeface="楷体_GB2312" pitchFamily="49" charset="-122"/>
              </a:rPr>
              <a:t>制订工艺规程，编写工艺卡片是进行锻造生产必不可少的技术准备工作，是组织生产过程，规定操作规范，控制和检查产品质量的依据。</a:t>
            </a:r>
            <a:r>
              <a:rPr lang="zh-CN" altLang="en-US" sz="2000" dirty="0">
                <a:solidFill>
                  <a:srgbClr val="0000FF"/>
                </a:solidFill>
                <a:latin typeface="楷体_GB2312" pitchFamily="49" charset="-122"/>
                <a:ea typeface="楷体_GB2312" pitchFamily="49" charset="-122"/>
              </a:rPr>
              <a:t> </a:t>
            </a:r>
            <a:endParaRPr lang="zh-CN" altLang="en-US" sz="2000" dirty="0">
              <a:solidFill>
                <a:srgbClr val="0000FF"/>
              </a:solidFill>
              <a:latin typeface="楷体_GB2312" pitchFamily="49" charset="-122"/>
              <a:ea typeface="楷体_GB2312" pitchFamily="49" charset="-122"/>
            </a:endParaRPr>
          </a:p>
        </p:txBody>
      </p:sp>
      <p:pic>
        <p:nvPicPr>
          <p:cNvPr id="84997" name="Picture 10" descr="图片10"/>
          <p:cNvPicPr>
            <a:picLocks noChangeAspect="1"/>
          </p:cNvPicPr>
          <p:nvPr/>
        </p:nvPicPr>
        <p:blipFill>
          <a:blip r:embed="rId1"/>
          <a:stretch>
            <a:fillRect/>
          </a:stretch>
        </p:blipFill>
        <p:spPr>
          <a:xfrm>
            <a:off x="4859338" y="2708275"/>
            <a:ext cx="4105275" cy="3238500"/>
          </a:xfrm>
          <a:prstGeom prst="rect">
            <a:avLst/>
          </a:prstGeom>
          <a:noFill/>
          <a:ln w="9525">
            <a:noFill/>
          </a:ln>
        </p:spPr>
      </p:pic>
      <p:sp>
        <p:nvSpPr>
          <p:cNvPr id="6" name="矩形 5"/>
          <p:cNvSpPr/>
          <p:nvPr/>
        </p:nvSpPr>
        <p:spPr>
          <a:xfrm>
            <a:off x="6429375" y="3767138"/>
            <a:ext cx="285750" cy="14287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矩形 7"/>
          <p:cNvSpPr/>
          <p:nvPr/>
        </p:nvSpPr>
        <p:spPr>
          <a:xfrm>
            <a:off x="6438900" y="4338638"/>
            <a:ext cx="285750" cy="14287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0" name="直接连接符 9"/>
          <p:cNvCxnSpPr/>
          <p:nvPr/>
        </p:nvCxnSpPr>
        <p:spPr>
          <a:xfrm rot="5400000" flipH="1" flipV="1">
            <a:off x="6850856" y="3126581"/>
            <a:ext cx="338138" cy="1000125"/>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6018" name="Picture 2"/>
          <p:cNvPicPr>
            <a:picLocks noChangeAspect="1"/>
          </p:cNvPicPr>
          <p:nvPr/>
        </p:nvPicPr>
        <p:blipFill>
          <a:blip r:embed="rId1"/>
          <a:stretch>
            <a:fillRect/>
          </a:stretch>
        </p:blipFill>
        <p:spPr>
          <a:xfrm>
            <a:off x="1928813" y="2928938"/>
            <a:ext cx="5686425" cy="3733800"/>
          </a:xfrm>
          <a:prstGeom prst="rect">
            <a:avLst/>
          </a:prstGeom>
          <a:noFill/>
          <a:ln w="9525">
            <a:noFill/>
          </a:ln>
        </p:spPr>
      </p:pic>
      <p:pic>
        <p:nvPicPr>
          <p:cNvPr id="86019" name="Picture 3"/>
          <p:cNvPicPr>
            <a:picLocks noChangeAspect="1"/>
          </p:cNvPicPr>
          <p:nvPr/>
        </p:nvPicPr>
        <p:blipFill>
          <a:blip r:embed="rId2"/>
          <a:stretch>
            <a:fillRect/>
          </a:stretch>
        </p:blipFill>
        <p:spPr>
          <a:xfrm>
            <a:off x="2428875" y="285750"/>
            <a:ext cx="4633913" cy="2546350"/>
          </a:xfrm>
          <a:prstGeom prst="rect">
            <a:avLst/>
          </a:prstGeom>
          <a:noFill/>
          <a:ln w="9525">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0418" name="Rectangle 2"/>
          <p:cNvSpPr>
            <a:spLocks noChangeArrowheads="1"/>
          </p:cNvSpPr>
          <p:nvPr/>
        </p:nvSpPr>
        <p:spPr bwMode="auto">
          <a:xfrm>
            <a:off x="3492500" y="404813"/>
            <a:ext cx="3887788" cy="701675"/>
          </a:xfrm>
          <a:prstGeom prst="rect">
            <a:avLst/>
          </a:prstGeom>
          <a:noFill/>
          <a:ln>
            <a:noFill/>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a:ln>
                  <a:noFill/>
                </a:ln>
                <a:solidFill>
                  <a:schemeClr val="tx2"/>
                </a:solidFill>
                <a:effectLst>
                  <a:outerShdw blurRad="38100" dist="38100" dir="2700000" algn="tl">
                    <a:srgbClr val="000000"/>
                  </a:outerShdw>
                </a:effectLst>
                <a:uLnTx/>
                <a:uFillTx/>
                <a:latin typeface="Arial" panose="020B0604020202020204" pitchFamily="34" charset="0"/>
                <a:ea typeface="楷体_GB2312" pitchFamily="49" charset="-122"/>
                <a:cs typeface="+mn-cs"/>
              </a:rPr>
              <a:t>工艺规程的制定</a:t>
            </a:r>
            <a:endParaRPr kumimoji="0" lang="zh-CN" altLang="en-US" sz="4000" b="1" i="0" u="none" strike="noStrike" kern="1200" cap="none" spc="0" normalizeH="0" baseline="0" noProof="0">
              <a:ln>
                <a:noFill/>
              </a:ln>
              <a:solidFill>
                <a:schemeClr val="tx2"/>
              </a:solidFill>
              <a:effectLst>
                <a:outerShdw blurRad="38100" dist="38100" dir="2700000" algn="tl">
                  <a:srgbClr val="000000"/>
                </a:outerShdw>
              </a:effectLst>
              <a:uLnTx/>
              <a:uFillTx/>
              <a:latin typeface="Verdana" panose="020B0604030504040204" pitchFamily="34" charset="0"/>
              <a:ea typeface="楷体_GB2312" pitchFamily="49" charset="-122"/>
              <a:cs typeface="+mn-cs"/>
            </a:endParaRPr>
          </a:p>
        </p:txBody>
      </p:sp>
      <p:sp>
        <p:nvSpPr>
          <p:cNvPr id="87043" name="Rectangle 3"/>
          <p:cNvSpPr/>
          <p:nvPr/>
        </p:nvSpPr>
        <p:spPr>
          <a:xfrm>
            <a:off x="611188" y="1309688"/>
            <a:ext cx="7561262" cy="4954587"/>
          </a:xfrm>
          <a:prstGeom prst="rect">
            <a:avLst/>
          </a:prstGeom>
          <a:noFill/>
          <a:ln w="9525">
            <a:noFill/>
          </a:ln>
        </p:spPr>
        <p:txBody>
          <a:bodyPr anchor="ctr" anchorCtr="0">
            <a:spAutoFit/>
          </a:bodyPr>
          <a:p>
            <a:pPr eaLnBrk="1" hangingPunct="1"/>
            <a:r>
              <a:rPr lang="en-US" altLang="zh-CN" sz="2800" b="1" dirty="0">
                <a:solidFill>
                  <a:srgbClr val="CC3300"/>
                </a:solidFill>
                <a:latin typeface="楷体_GB2312" pitchFamily="49" charset="-122"/>
                <a:ea typeface="楷体_GB2312" pitchFamily="49" charset="-122"/>
              </a:rPr>
              <a:t>2.</a:t>
            </a:r>
            <a:r>
              <a:rPr lang="zh-CN" altLang="en-US" sz="2800" b="1" dirty="0">
                <a:solidFill>
                  <a:srgbClr val="CC3300"/>
                </a:solidFill>
                <a:latin typeface="楷体_GB2312" pitchFamily="49" charset="-122"/>
                <a:ea typeface="楷体_GB2312" pitchFamily="49" charset="-122"/>
              </a:rPr>
              <a:t>自由锻工艺规程的制定</a:t>
            </a:r>
            <a:endParaRPr lang="zh-CN" altLang="en-US" sz="2800" b="1" dirty="0">
              <a:solidFill>
                <a:srgbClr val="CC3300"/>
              </a:solidFill>
              <a:latin typeface="楷体_GB2312" pitchFamily="49" charset="-122"/>
              <a:ea typeface="楷体_GB2312" pitchFamily="49" charset="-122"/>
            </a:endParaRPr>
          </a:p>
          <a:p>
            <a:pPr eaLnBrk="1" hangingPunct="1"/>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）坯料质量及尺寸计算</a:t>
            </a:r>
            <a:endParaRPr lang="zh-CN" altLang="en-US" sz="2400" b="1" dirty="0">
              <a:latin typeface="楷体_GB2312" pitchFamily="49" charset="-122"/>
              <a:ea typeface="楷体_GB2312" pitchFamily="49" charset="-122"/>
            </a:endParaRPr>
          </a:p>
          <a:p>
            <a:pPr eaLnBrk="1" hangingPunct="1"/>
            <a:endParaRPr lang="zh-CN" altLang="en-US" sz="2400" b="1" dirty="0">
              <a:latin typeface="楷体_GB2312" pitchFamily="49" charset="-122"/>
              <a:ea typeface="楷体_GB2312" pitchFamily="49" charset="-122"/>
            </a:endParaRPr>
          </a:p>
          <a:p>
            <a:pPr eaLnBrk="1" hangingPunct="1"/>
            <a:r>
              <a:rPr lang="zh-CN" altLang="en-US" sz="2400" b="1" dirty="0">
                <a:latin typeface="楷体_GB2312" pitchFamily="49" charset="-122"/>
                <a:ea typeface="楷体_GB2312" pitchFamily="49" charset="-122"/>
              </a:rPr>
              <a:t>    质量计算： </a:t>
            </a:r>
            <a:endParaRPr lang="zh-CN" altLang="en-US" sz="2400" b="1" dirty="0">
              <a:latin typeface="楷体_GB2312" pitchFamily="49" charset="-122"/>
              <a:ea typeface="楷体_GB2312" pitchFamily="49" charset="-122"/>
            </a:endParaRPr>
          </a:p>
          <a:p>
            <a:pPr eaLnBrk="1" hangingPunct="1"/>
            <a:endParaRPr lang="zh-CN" altLang="en-US" sz="2400" b="1" dirty="0">
              <a:latin typeface="楷体_GB2312" pitchFamily="49" charset="-122"/>
              <a:ea typeface="楷体_GB2312" pitchFamily="49" charset="-122"/>
            </a:endParaRPr>
          </a:p>
          <a:p>
            <a:pPr eaLnBrk="1" hangingPunct="1"/>
            <a:r>
              <a:rPr lang="zh-CN" altLang="en-US" sz="2400" b="1" dirty="0">
                <a:latin typeface="楷体_GB2312" pitchFamily="49" charset="-122"/>
                <a:ea typeface="楷体_GB2312" pitchFamily="49" charset="-122"/>
              </a:rPr>
              <a:t>式中：</a:t>
            </a:r>
            <a:r>
              <a:rPr lang="en-US" altLang="zh-CN" sz="2400" b="1" i="1" dirty="0">
                <a:latin typeface="楷体_GB2312" pitchFamily="49" charset="-122"/>
                <a:ea typeface="楷体_GB2312" pitchFamily="49" charset="-122"/>
              </a:rPr>
              <a:t>G</a:t>
            </a:r>
            <a:r>
              <a:rPr lang="zh-CN" altLang="en-US" sz="2000" b="1" dirty="0">
                <a:latin typeface="楷体_GB2312" pitchFamily="49" charset="-122"/>
                <a:ea typeface="楷体_GB2312" pitchFamily="49" charset="-122"/>
              </a:rPr>
              <a:t>坯料</a:t>
            </a:r>
            <a:r>
              <a:rPr lang="en-US" altLang="zh-CN" sz="2400" b="1" dirty="0">
                <a:latin typeface="宋体" panose="02010600030101010101" pitchFamily="2" charset="-122"/>
                <a:ea typeface="楷体_GB2312" pitchFamily="49" charset="-122"/>
              </a:rPr>
              <a:t>—</a:t>
            </a:r>
            <a:r>
              <a:rPr lang="zh-CN" altLang="en-US" sz="2400" b="1" dirty="0">
                <a:latin typeface="楷体_GB2312" pitchFamily="49" charset="-122"/>
                <a:ea typeface="楷体_GB2312" pitchFamily="49" charset="-122"/>
              </a:rPr>
              <a:t>坯料质量；</a:t>
            </a:r>
            <a:endParaRPr lang="zh-CN" altLang="en-US" sz="2400" b="1" i="1" dirty="0">
              <a:latin typeface="楷体_GB2312" pitchFamily="49" charset="-122"/>
              <a:ea typeface="楷体_GB2312" pitchFamily="49" charset="-122"/>
            </a:endParaRPr>
          </a:p>
          <a:p>
            <a:pPr eaLnBrk="1" hangingPunct="1"/>
            <a:r>
              <a:rPr lang="en-US" altLang="zh-CN" sz="2400" b="1" i="1" dirty="0">
                <a:latin typeface="楷体_GB2312" pitchFamily="49" charset="-122"/>
                <a:ea typeface="楷体_GB2312" pitchFamily="49" charset="-122"/>
              </a:rPr>
              <a:t>      G</a:t>
            </a:r>
            <a:r>
              <a:rPr lang="zh-CN" altLang="en-US" sz="2000" b="1" dirty="0">
                <a:latin typeface="楷体_GB2312" pitchFamily="49" charset="-122"/>
                <a:ea typeface="楷体_GB2312" pitchFamily="49" charset="-122"/>
              </a:rPr>
              <a:t>锻件</a:t>
            </a:r>
            <a:r>
              <a:rPr lang="en-US" altLang="zh-CN" sz="2400" b="1" dirty="0">
                <a:latin typeface="宋体" panose="02010600030101010101" pitchFamily="2" charset="-122"/>
                <a:ea typeface="楷体_GB2312" pitchFamily="49" charset="-122"/>
              </a:rPr>
              <a:t>—</a:t>
            </a:r>
            <a:r>
              <a:rPr lang="zh-CN" altLang="en-US" sz="2400" b="1" dirty="0">
                <a:latin typeface="楷体_GB2312" pitchFamily="49" charset="-122"/>
                <a:ea typeface="楷体_GB2312" pitchFamily="49" charset="-122"/>
              </a:rPr>
              <a:t>锻件质量；</a:t>
            </a:r>
            <a:endParaRPr lang="zh-CN" altLang="en-US" sz="2400" b="1" i="1" dirty="0">
              <a:latin typeface="楷体_GB2312" pitchFamily="49" charset="-122"/>
              <a:ea typeface="楷体_GB2312" pitchFamily="49" charset="-122"/>
            </a:endParaRPr>
          </a:p>
          <a:p>
            <a:pPr eaLnBrk="1" hangingPunct="1"/>
            <a:r>
              <a:rPr lang="en-US" altLang="zh-CN" sz="2400" b="1" i="1" dirty="0">
                <a:latin typeface="楷体_GB2312" pitchFamily="49" charset="-122"/>
                <a:ea typeface="楷体_GB2312" pitchFamily="49" charset="-122"/>
              </a:rPr>
              <a:t>      G</a:t>
            </a:r>
            <a:r>
              <a:rPr lang="zh-CN" altLang="en-US" sz="2000" b="1" dirty="0">
                <a:latin typeface="楷体_GB2312" pitchFamily="49" charset="-122"/>
                <a:ea typeface="楷体_GB2312" pitchFamily="49" charset="-122"/>
              </a:rPr>
              <a:t>烧损</a:t>
            </a:r>
            <a:r>
              <a:rPr lang="en-US" altLang="zh-CN" sz="2400" b="1" dirty="0">
                <a:latin typeface="宋体" panose="02010600030101010101" pitchFamily="2" charset="-122"/>
                <a:ea typeface="楷体_GB2312" pitchFamily="49" charset="-122"/>
              </a:rPr>
              <a:t>—</a:t>
            </a:r>
            <a:r>
              <a:rPr lang="zh-CN" altLang="en-US" sz="2400" b="1" dirty="0">
                <a:latin typeface="楷体_GB2312" pitchFamily="49" charset="-122"/>
                <a:ea typeface="楷体_GB2312" pitchFamily="49" charset="-122"/>
              </a:rPr>
              <a:t>加热时坯料表面氧化而烧损的质量。</a:t>
            </a:r>
            <a:endParaRPr lang="zh-CN" altLang="en-US" sz="2400" b="1" dirty="0">
              <a:latin typeface="楷体_GB2312" pitchFamily="49" charset="-122"/>
              <a:ea typeface="楷体_GB2312" pitchFamily="49" charset="-122"/>
            </a:endParaRPr>
          </a:p>
          <a:p>
            <a:pPr eaLnBrk="1" hangingPunct="1"/>
            <a:r>
              <a:rPr lang="zh-CN" altLang="en-US" sz="2400" b="1" dirty="0">
                <a:latin typeface="楷体_GB2312" pitchFamily="49" charset="-122"/>
                <a:ea typeface="楷体_GB2312" pitchFamily="49" charset="-122"/>
              </a:rPr>
              <a:t>第一次加热时取被加热金属的</a:t>
            </a:r>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3%</a:t>
            </a:r>
            <a:r>
              <a:rPr lang="zh-CN" altLang="en-US" sz="2400" b="1" dirty="0">
                <a:latin typeface="楷体_GB2312" pitchFamily="49" charset="-122"/>
                <a:ea typeface="楷体_GB2312" pitchFamily="49" charset="-122"/>
              </a:rPr>
              <a:t>，以后各次加热取</a:t>
            </a:r>
            <a:r>
              <a:rPr lang="en-US" altLang="zh-CN" sz="2400" b="1" dirty="0">
                <a:latin typeface="楷体_GB2312" pitchFamily="49" charset="-122"/>
                <a:ea typeface="楷体_GB2312" pitchFamily="49" charset="-122"/>
              </a:rPr>
              <a:t>1.5%</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a:t>
            </a:r>
            <a:endParaRPr lang="zh-CN" altLang="en-US" sz="2400" b="1" i="1" dirty="0">
              <a:latin typeface="楷体_GB2312" pitchFamily="49" charset="-122"/>
              <a:ea typeface="楷体_GB2312" pitchFamily="49" charset="-122"/>
            </a:endParaRPr>
          </a:p>
          <a:p>
            <a:pPr eaLnBrk="1" hangingPunct="1"/>
            <a:r>
              <a:rPr lang="en-US" altLang="zh-CN" sz="2400" b="1" i="1" dirty="0">
                <a:latin typeface="楷体_GB2312" pitchFamily="49" charset="-122"/>
                <a:ea typeface="楷体_GB2312" pitchFamily="49" charset="-122"/>
              </a:rPr>
              <a:t>      G</a:t>
            </a:r>
            <a:r>
              <a:rPr lang="zh-CN" altLang="en-US" sz="2000" b="1" dirty="0">
                <a:latin typeface="楷体_GB2312" pitchFamily="49" charset="-122"/>
                <a:ea typeface="楷体_GB2312" pitchFamily="49" charset="-122"/>
              </a:rPr>
              <a:t>料头</a:t>
            </a:r>
            <a:r>
              <a:rPr lang="en-US" altLang="zh-CN" sz="2400" b="1" dirty="0">
                <a:latin typeface="宋体" panose="02010600030101010101" pitchFamily="2" charset="-122"/>
                <a:ea typeface="楷体_GB2312" pitchFamily="49" charset="-122"/>
              </a:rPr>
              <a:t>—</a:t>
            </a:r>
            <a:r>
              <a:rPr lang="zh-CN" altLang="en-US" sz="2400" b="1" dirty="0">
                <a:latin typeface="楷体_GB2312" pitchFamily="49" charset="-122"/>
                <a:ea typeface="楷体_GB2312" pitchFamily="49" charset="-122"/>
              </a:rPr>
              <a:t>在锻造过程中冲掉或切掉的金属的质量。如冲孔时坯料中部的料芯，修切端部产生的料头等。</a:t>
            </a:r>
            <a:r>
              <a:rPr lang="zh-CN" altLang="en-US" sz="2400" b="1" dirty="0">
                <a:latin typeface="Verdana" panose="020B0604030504040204" pitchFamily="34" charset="0"/>
              </a:rPr>
              <a:t>      </a:t>
            </a:r>
            <a:endParaRPr lang="zh-CN" altLang="en-US" sz="2400" b="1" dirty="0">
              <a:latin typeface="Verdana" panose="020B0604030504040204" pitchFamily="34" charset="0"/>
            </a:endParaRPr>
          </a:p>
          <a:p>
            <a:pPr eaLnBrk="1" hangingPunct="1"/>
            <a:endParaRPr lang="en-US" altLang="zh-CN" sz="2400" b="1" dirty="0">
              <a:latin typeface="Verdana" panose="020B0604030504040204" pitchFamily="34" charset="0"/>
            </a:endParaRPr>
          </a:p>
        </p:txBody>
      </p:sp>
      <p:pic>
        <p:nvPicPr>
          <p:cNvPr id="87044" name="Picture 10"/>
          <p:cNvPicPr>
            <a:picLocks noChangeAspect="1"/>
          </p:cNvPicPr>
          <p:nvPr/>
        </p:nvPicPr>
        <p:blipFill>
          <a:blip r:embed="rId1"/>
          <a:stretch>
            <a:fillRect/>
          </a:stretch>
        </p:blipFill>
        <p:spPr>
          <a:xfrm>
            <a:off x="2700338" y="2492375"/>
            <a:ext cx="3600450" cy="503238"/>
          </a:xfrm>
          <a:prstGeom prst="rect">
            <a:avLst/>
          </a:prstGeom>
          <a:solidFill>
            <a:srgbClr val="CCFFFF"/>
          </a:solidFill>
          <a:ln w="9525">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4274" name="Rectangle 2"/>
          <p:cNvSpPr>
            <a:spLocks noChangeArrowheads="1"/>
          </p:cNvSpPr>
          <p:nvPr/>
        </p:nvSpPr>
        <p:spPr bwMode="auto">
          <a:xfrm>
            <a:off x="3419475" y="363538"/>
            <a:ext cx="4392613" cy="701675"/>
          </a:xfrm>
          <a:prstGeom prst="rect">
            <a:avLst/>
          </a:prstGeom>
          <a:noFill/>
          <a:ln>
            <a:noFill/>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a:ln>
                  <a:noFill/>
                </a:ln>
                <a:solidFill>
                  <a:schemeClr val="tx2"/>
                </a:solidFill>
                <a:effectLst>
                  <a:outerShdw blurRad="38100" dist="38100" dir="2700000" algn="tl">
                    <a:srgbClr val="000000"/>
                  </a:outerShdw>
                </a:effectLst>
                <a:uLnTx/>
                <a:uFillTx/>
                <a:latin typeface="Verdana" panose="020B0604030504040204" pitchFamily="34" charset="0"/>
                <a:ea typeface="楷体_GB2312" pitchFamily="49" charset="-122"/>
                <a:cs typeface="+mn-cs"/>
              </a:rPr>
              <a:t>工艺规程的制订</a:t>
            </a:r>
            <a:endParaRPr kumimoji="0" lang="zh-CN" altLang="en-US" sz="4000" b="1" i="0" u="none" strike="noStrike" kern="1200" cap="none" spc="0" normalizeH="0" baseline="0" noProof="0">
              <a:ln>
                <a:noFill/>
              </a:ln>
              <a:solidFill>
                <a:schemeClr val="tx2"/>
              </a:solidFill>
              <a:effectLst>
                <a:outerShdw blurRad="38100" dist="38100" dir="2700000" algn="tl">
                  <a:srgbClr val="000000"/>
                </a:outerShdw>
              </a:effectLst>
              <a:uLnTx/>
              <a:uFillTx/>
              <a:latin typeface="Verdana" panose="020B0604030504040204" pitchFamily="34" charset="0"/>
              <a:ea typeface="楷体_GB2312" pitchFamily="49" charset="-122"/>
              <a:cs typeface="+mn-cs"/>
            </a:endParaRPr>
          </a:p>
        </p:txBody>
      </p:sp>
      <p:sp>
        <p:nvSpPr>
          <p:cNvPr id="88067" name="Rectangle 3"/>
          <p:cNvSpPr/>
          <p:nvPr/>
        </p:nvSpPr>
        <p:spPr>
          <a:xfrm>
            <a:off x="263525" y="1160463"/>
            <a:ext cx="8672513" cy="5448300"/>
          </a:xfrm>
          <a:prstGeom prst="rect">
            <a:avLst/>
          </a:prstGeom>
          <a:noFill/>
          <a:ln w="9525">
            <a:noFill/>
          </a:ln>
        </p:spPr>
        <p:txBody>
          <a:bodyPr anchor="ctr" anchorCtr="0">
            <a:spAutoFit/>
          </a:bodyPr>
          <a:p>
            <a:pPr eaLnBrk="1" hangingPunct="1"/>
            <a:r>
              <a:rPr lang="en-US" altLang="zh-CN" sz="2800" b="1" dirty="0">
                <a:solidFill>
                  <a:srgbClr val="FF0066"/>
                </a:solidFill>
                <a:latin typeface="楷体_GB2312" pitchFamily="49" charset="-122"/>
                <a:ea typeface="楷体_GB2312" pitchFamily="49" charset="-122"/>
              </a:rPr>
              <a:t>2.</a:t>
            </a:r>
            <a:r>
              <a:rPr lang="zh-CN" altLang="en-US" sz="2800" b="1" dirty="0">
                <a:solidFill>
                  <a:srgbClr val="FF0066"/>
                </a:solidFill>
                <a:latin typeface="楷体_GB2312" pitchFamily="49" charset="-122"/>
                <a:ea typeface="楷体_GB2312" pitchFamily="49" charset="-122"/>
              </a:rPr>
              <a:t>模锻工艺规程的制订</a:t>
            </a:r>
            <a:endParaRPr lang="zh-CN" altLang="en-US" sz="2800" b="1" dirty="0">
              <a:solidFill>
                <a:srgbClr val="FF0066"/>
              </a:solidFill>
              <a:latin typeface="楷体_GB2312" pitchFamily="49" charset="-122"/>
              <a:ea typeface="楷体_GB2312" pitchFamily="49" charset="-122"/>
            </a:endParaRPr>
          </a:p>
          <a:p>
            <a:pPr eaLnBrk="1" hangingPunct="1"/>
            <a:r>
              <a:rPr lang="zh-CN" altLang="en-US" sz="2000" b="1" dirty="0">
                <a:solidFill>
                  <a:srgbClr val="CC3300"/>
                </a:solidFill>
                <a:latin typeface="楷体_GB2312" pitchFamily="49" charset="-122"/>
                <a:ea typeface="楷体_GB2312" pitchFamily="49" charset="-122"/>
              </a:rPr>
              <a:t>（</a:t>
            </a:r>
            <a:r>
              <a:rPr lang="en-US" altLang="zh-CN" sz="2000" b="1" dirty="0">
                <a:solidFill>
                  <a:srgbClr val="CC3300"/>
                </a:solidFill>
                <a:latin typeface="楷体_GB2312" pitchFamily="49" charset="-122"/>
                <a:ea typeface="楷体_GB2312" pitchFamily="49" charset="-122"/>
              </a:rPr>
              <a:t>1</a:t>
            </a:r>
            <a:r>
              <a:rPr lang="zh-CN" altLang="en-US" sz="2000" b="1" dirty="0">
                <a:solidFill>
                  <a:srgbClr val="CC3300"/>
                </a:solidFill>
                <a:latin typeface="楷体_GB2312" pitchFamily="49" charset="-122"/>
                <a:ea typeface="楷体_GB2312" pitchFamily="49" charset="-122"/>
              </a:rPr>
              <a:t>）分模面</a:t>
            </a:r>
            <a:r>
              <a:rPr lang="zh-CN" altLang="en-US" sz="2000" b="1" dirty="0">
                <a:latin typeface="楷体_GB2312" pitchFamily="49" charset="-122"/>
                <a:ea typeface="楷体_GB2312" pitchFamily="49" charset="-122"/>
              </a:rPr>
              <a:t>：上下锻模在模锻件上的分界面，</a:t>
            </a:r>
            <a:r>
              <a:rPr lang="zh-CN" altLang="en-US" sz="2000" b="1" dirty="0">
                <a:solidFill>
                  <a:srgbClr val="CC3300"/>
                </a:solidFill>
                <a:latin typeface="楷体_GB2312" pitchFamily="49" charset="-122"/>
                <a:ea typeface="楷体_GB2312" pitchFamily="49" charset="-122"/>
              </a:rPr>
              <a:t>确定原则：</a:t>
            </a:r>
            <a:endParaRPr lang="zh-CN" altLang="en-US" sz="2000" b="1" dirty="0">
              <a:latin typeface="楷体_GB2312" pitchFamily="49" charset="-122"/>
              <a:ea typeface="楷体_GB2312" pitchFamily="49" charset="-122"/>
            </a:endParaRPr>
          </a:p>
          <a:p>
            <a:pPr eaLnBrk="1" hangingPunct="1"/>
            <a:r>
              <a:rPr lang="en-US" altLang="zh-CN" sz="2000" b="1" dirty="0">
                <a:solidFill>
                  <a:srgbClr val="FF3300"/>
                </a:solidFill>
                <a:latin typeface="楷体_GB2312" pitchFamily="49" charset="-122"/>
                <a:ea typeface="楷体_GB2312" pitchFamily="49" charset="-122"/>
              </a:rPr>
              <a:t>ⅰ</a:t>
            </a:r>
            <a:r>
              <a:rPr lang="zh-CN" altLang="en-US" sz="2000" b="1" dirty="0">
                <a:latin typeface="楷体_GB2312" pitchFamily="49" charset="-122"/>
                <a:ea typeface="楷体_GB2312" pitchFamily="49" charset="-122"/>
              </a:rPr>
              <a:t>确保模锻件能</a:t>
            </a:r>
            <a:r>
              <a:rPr lang="zh-CN" altLang="en-US" sz="2000" b="1" dirty="0">
                <a:solidFill>
                  <a:srgbClr val="FF0000"/>
                </a:solidFill>
                <a:latin typeface="楷体_GB2312" pitchFamily="49" charset="-122"/>
                <a:ea typeface="楷体_GB2312" pitchFamily="49" charset="-122"/>
              </a:rPr>
              <a:t>从模膛中取出</a:t>
            </a:r>
            <a:r>
              <a:rPr lang="zh-CN" altLang="en-US" sz="2000" b="1" dirty="0">
                <a:latin typeface="楷体_GB2312" pitchFamily="49" charset="-122"/>
                <a:ea typeface="楷体_GB2312" pitchFamily="49" charset="-122"/>
              </a:rPr>
              <a:t>。</a:t>
            </a:r>
            <a:endParaRPr lang="en-US" altLang="zh-CN" sz="2000" b="1" dirty="0">
              <a:latin typeface="楷体_GB2312" pitchFamily="49" charset="-122"/>
              <a:ea typeface="楷体_GB2312" pitchFamily="49" charset="-122"/>
            </a:endParaRPr>
          </a:p>
          <a:p>
            <a:pPr eaLnBrk="1" hangingPunct="1"/>
            <a:r>
              <a:rPr lang="zh-CN" altLang="en-US" sz="2000" b="1" dirty="0">
                <a:solidFill>
                  <a:srgbClr val="0000FF"/>
                </a:solidFill>
                <a:latin typeface="楷体_GB2312" pitchFamily="49" charset="-122"/>
                <a:ea typeface="楷体_GB2312" pitchFamily="49" charset="-122"/>
              </a:rPr>
              <a:t>把</a:t>
            </a:r>
            <a:r>
              <a:rPr lang="ja-JP" altLang="en-US" sz="2000" b="1" dirty="0">
                <a:solidFill>
                  <a:srgbClr val="0000FF"/>
                </a:solidFill>
                <a:latin typeface="楷体_GB2312" pitchFamily="49" charset="-122"/>
                <a:ea typeface="楷体_GB2312" pitchFamily="49" charset="-122"/>
              </a:rPr>
              <a:t>分模面选</a:t>
            </a:r>
            <a:r>
              <a:rPr lang="zh-CN" altLang="en-US" sz="2000" b="1" dirty="0">
                <a:solidFill>
                  <a:srgbClr val="0000FF"/>
                </a:solidFill>
                <a:latin typeface="楷体_GB2312" pitchFamily="49" charset="-122"/>
                <a:ea typeface="楷体_GB2312" pitchFamily="49" charset="-122"/>
              </a:rPr>
              <a:t>定在</a:t>
            </a:r>
            <a:r>
              <a:rPr lang="en-US" altLang="zh-CN" sz="2000" b="1" dirty="0">
                <a:solidFill>
                  <a:srgbClr val="0000FF"/>
                </a:solidFill>
                <a:latin typeface="楷体_GB2312" pitchFamily="49" charset="-122"/>
                <a:ea typeface="楷体_GB2312" pitchFamily="49" charset="-122"/>
              </a:rPr>
              <a:t>a-a</a:t>
            </a:r>
            <a:r>
              <a:rPr lang="zh-CN" altLang="en-US" sz="2000" b="1" dirty="0">
                <a:solidFill>
                  <a:srgbClr val="0000FF"/>
                </a:solidFill>
                <a:latin typeface="楷体_GB2312" pitchFamily="49" charset="-122"/>
                <a:ea typeface="楷体_GB2312" pitchFamily="49" charset="-122"/>
              </a:rPr>
              <a:t>面时，已成</a:t>
            </a:r>
            <a:endParaRPr lang="en-US" altLang="zh-CN" sz="2000" b="1" dirty="0">
              <a:solidFill>
                <a:srgbClr val="0000FF"/>
              </a:solidFill>
              <a:latin typeface="楷体_GB2312" pitchFamily="49" charset="-122"/>
              <a:ea typeface="楷体_GB2312" pitchFamily="49" charset="-122"/>
            </a:endParaRPr>
          </a:p>
          <a:p>
            <a:pPr eaLnBrk="1" hangingPunct="1"/>
            <a:r>
              <a:rPr lang="zh-CN" altLang="en-US" sz="2000" b="1" dirty="0">
                <a:solidFill>
                  <a:srgbClr val="0000FF"/>
                </a:solidFill>
                <a:latin typeface="楷体_GB2312" pitchFamily="49" charset="-122"/>
                <a:ea typeface="楷体_GB2312" pitchFamily="49" charset="-122"/>
              </a:rPr>
              <a:t>形的模锻件无法取出</a:t>
            </a:r>
            <a:r>
              <a:rPr lang="zh-CN" altLang="en-US" sz="2000" b="1" dirty="0">
                <a:latin typeface="楷体_GB2312" pitchFamily="49" charset="-122"/>
                <a:ea typeface="楷体_GB2312" pitchFamily="49" charset="-122"/>
              </a:rPr>
              <a:t>。应选在</a:t>
            </a:r>
            <a:endParaRPr lang="en-US" altLang="zh-CN" sz="2000" b="1" dirty="0">
              <a:latin typeface="楷体_GB2312" pitchFamily="49" charset="-122"/>
              <a:ea typeface="楷体_GB2312" pitchFamily="49" charset="-122"/>
            </a:endParaRPr>
          </a:p>
          <a:p>
            <a:pPr eaLnBrk="1" hangingPunct="1"/>
            <a:r>
              <a:rPr lang="zh-CN" altLang="en-US" sz="2000" b="1" dirty="0">
                <a:latin typeface="楷体_GB2312" pitchFamily="49" charset="-122"/>
                <a:ea typeface="楷体_GB2312" pitchFamily="49" charset="-122"/>
              </a:rPr>
              <a:t>模锻件最大尺寸的截面上。</a:t>
            </a:r>
            <a:endParaRPr lang="zh-CN" altLang="en-US" sz="2000" b="1" dirty="0">
              <a:latin typeface="楷体_GB2312" pitchFamily="49" charset="-122"/>
              <a:ea typeface="楷体_GB2312" pitchFamily="49" charset="-122"/>
            </a:endParaRPr>
          </a:p>
          <a:p>
            <a:pPr eaLnBrk="1" hangingPunct="1"/>
            <a:r>
              <a:rPr lang="en-US" altLang="zh-CN" sz="2000" b="1" dirty="0">
                <a:solidFill>
                  <a:srgbClr val="FF3300"/>
                </a:solidFill>
                <a:latin typeface="楷体_GB2312" pitchFamily="49" charset="-122"/>
                <a:ea typeface="楷体_GB2312" pitchFamily="49" charset="-122"/>
              </a:rPr>
              <a:t>ⅱ</a:t>
            </a:r>
            <a:r>
              <a:rPr lang="zh-CN" altLang="en-US" sz="2000" b="1" dirty="0">
                <a:latin typeface="楷体_GB2312" pitchFamily="49" charset="-122"/>
                <a:ea typeface="楷体_GB2312" pitchFamily="49" charset="-122"/>
              </a:rPr>
              <a:t>上下模膛在分模面处轮廓一</a:t>
            </a:r>
            <a:endParaRPr lang="en-US" altLang="zh-CN" sz="2000" b="1" dirty="0">
              <a:latin typeface="楷体_GB2312" pitchFamily="49" charset="-122"/>
              <a:ea typeface="楷体_GB2312" pitchFamily="49" charset="-122"/>
            </a:endParaRPr>
          </a:p>
          <a:p>
            <a:pPr eaLnBrk="1" hangingPunct="1"/>
            <a:r>
              <a:rPr lang="zh-CN" altLang="en-US" sz="2000" b="1" dirty="0">
                <a:latin typeface="楷体_GB2312" pitchFamily="49" charset="-122"/>
                <a:ea typeface="楷体_GB2312" pitchFamily="49" charset="-122"/>
              </a:rPr>
              <a:t>致，以</a:t>
            </a:r>
            <a:r>
              <a:rPr lang="zh-CN" altLang="en-US" sz="2000" b="1" dirty="0">
                <a:solidFill>
                  <a:srgbClr val="FF0000"/>
                </a:solidFill>
                <a:latin typeface="楷体_GB2312" pitchFamily="49" charset="-122"/>
                <a:ea typeface="楷体_GB2312" pitchFamily="49" charset="-122"/>
              </a:rPr>
              <a:t>防止发生错模</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c-c</a:t>
            </a:r>
            <a:r>
              <a:rPr lang="zh-CN" altLang="en-US" sz="2000" b="1" dirty="0">
                <a:latin typeface="楷体_GB2312" pitchFamily="49" charset="-122"/>
                <a:ea typeface="楷体_GB2312" pitchFamily="49" charset="-122"/>
              </a:rPr>
              <a:t>面）</a:t>
            </a:r>
            <a:endParaRPr lang="zh-CN" altLang="en-US" sz="2000" b="1" dirty="0">
              <a:latin typeface="楷体_GB2312" pitchFamily="49" charset="-122"/>
              <a:ea typeface="楷体_GB2312" pitchFamily="49" charset="-122"/>
            </a:endParaRPr>
          </a:p>
          <a:p>
            <a:pPr eaLnBrk="1" hangingPunct="1"/>
            <a:r>
              <a:rPr lang="en-US" altLang="zh-CN" sz="2000" b="1" dirty="0">
                <a:solidFill>
                  <a:srgbClr val="FF3300"/>
                </a:solidFill>
                <a:latin typeface="楷体_GB2312" pitchFamily="49" charset="-122"/>
                <a:ea typeface="楷体_GB2312" pitchFamily="49" charset="-122"/>
              </a:rPr>
              <a:t>ⅲ</a:t>
            </a:r>
            <a:r>
              <a:rPr lang="zh-CN" altLang="en-US" sz="2000" b="1" dirty="0">
                <a:latin typeface="楷体_GB2312" pitchFamily="49" charset="-122"/>
                <a:ea typeface="楷体_GB2312" pitchFamily="49" charset="-122"/>
              </a:rPr>
              <a:t>选在能使模</a:t>
            </a:r>
            <a:r>
              <a:rPr lang="zh-CN" altLang="en-US" sz="2000" b="1" dirty="0">
                <a:solidFill>
                  <a:srgbClr val="FF0000"/>
                </a:solidFill>
                <a:latin typeface="楷体_GB2312" pitchFamily="49" charset="-122"/>
                <a:ea typeface="楷体_GB2312" pitchFamily="49" charset="-122"/>
              </a:rPr>
              <a:t>膛深度最浅</a:t>
            </a:r>
            <a:r>
              <a:rPr lang="zh-CN" altLang="en-US" sz="2000" b="1" dirty="0">
                <a:latin typeface="楷体_GB2312" pitchFamily="49" charset="-122"/>
                <a:ea typeface="楷体_GB2312" pitchFamily="49" charset="-122"/>
              </a:rPr>
              <a:t>的位置</a:t>
            </a:r>
            <a:endParaRPr lang="en-US" altLang="zh-CN" sz="2000" b="1" dirty="0">
              <a:latin typeface="楷体_GB2312" pitchFamily="49" charset="-122"/>
              <a:ea typeface="楷体_GB2312" pitchFamily="49" charset="-122"/>
            </a:endParaRPr>
          </a:p>
          <a:p>
            <a:pPr eaLnBrk="1" hangingPunct="1"/>
            <a:r>
              <a:rPr lang="zh-CN" altLang="en-US" sz="2000" b="1" dirty="0">
                <a:latin typeface="楷体_GB2312" pitchFamily="49" charset="-122"/>
                <a:ea typeface="楷体_GB2312" pitchFamily="49" charset="-122"/>
              </a:rPr>
              <a:t>处，便于充满模膛。（</a:t>
            </a:r>
            <a:r>
              <a:rPr lang="en-US" altLang="zh-CN" sz="2000" b="1" dirty="0">
                <a:latin typeface="楷体_GB2312" pitchFamily="49" charset="-122"/>
                <a:ea typeface="楷体_GB2312" pitchFamily="49" charset="-122"/>
              </a:rPr>
              <a:t>d-d</a:t>
            </a:r>
            <a:r>
              <a:rPr lang="zh-CN" altLang="en-US" sz="2000" b="1" dirty="0">
                <a:latin typeface="楷体_GB2312" pitchFamily="49" charset="-122"/>
                <a:ea typeface="楷体_GB2312" pitchFamily="49" charset="-122"/>
              </a:rPr>
              <a:t>面，</a:t>
            </a:r>
            <a:endParaRPr lang="en-US" altLang="zh-CN" sz="2000" b="1" dirty="0">
              <a:latin typeface="楷体_GB2312" pitchFamily="49" charset="-122"/>
              <a:ea typeface="楷体_GB2312" pitchFamily="49" charset="-122"/>
            </a:endParaRPr>
          </a:p>
          <a:p>
            <a:pPr eaLnBrk="1" hangingPunct="1"/>
            <a:r>
              <a:rPr lang="en-US" altLang="zh-CN" sz="2000" b="1" dirty="0">
                <a:latin typeface="楷体_GB2312" pitchFamily="49" charset="-122"/>
                <a:ea typeface="楷体_GB2312" pitchFamily="49" charset="-122"/>
              </a:rPr>
              <a:t>b-b</a:t>
            </a:r>
            <a:r>
              <a:rPr lang="zh-CN" altLang="en-US" sz="2000" b="1" dirty="0">
                <a:latin typeface="楷体_GB2312" pitchFamily="49" charset="-122"/>
                <a:ea typeface="楷体_GB2312" pitchFamily="49" charset="-122"/>
              </a:rPr>
              <a:t>最差）</a:t>
            </a:r>
            <a:endParaRPr lang="zh-CN" altLang="en-US" sz="2000" b="1" dirty="0">
              <a:latin typeface="楷体_GB2312" pitchFamily="49" charset="-122"/>
              <a:ea typeface="楷体_GB2312" pitchFamily="49" charset="-122"/>
            </a:endParaRPr>
          </a:p>
          <a:p>
            <a:pPr eaLnBrk="1" hangingPunct="1"/>
            <a:r>
              <a:rPr lang="en-US" altLang="zh-CN" sz="2000" b="1" dirty="0">
                <a:solidFill>
                  <a:srgbClr val="FF3300"/>
                </a:solidFill>
                <a:latin typeface="楷体_GB2312" pitchFamily="49" charset="-122"/>
                <a:ea typeface="楷体_GB2312" pitchFamily="49" charset="-122"/>
              </a:rPr>
              <a:t>ⅳ</a:t>
            </a:r>
            <a:r>
              <a:rPr lang="zh-CN" altLang="en-US" sz="2000" b="1" dirty="0">
                <a:latin typeface="楷体_GB2312" pitchFamily="49" charset="-122"/>
                <a:ea typeface="楷体_GB2312" pitchFamily="49" charset="-122"/>
              </a:rPr>
              <a:t>应使零件上所加的</a:t>
            </a:r>
            <a:r>
              <a:rPr lang="zh-CN" altLang="en-US" sz="2000" b="1" dirty="0">
                <a:solidFill>
                  <a:srgbClr val="FF0000"/>
                </a:solidFill>
                <a:latin typeface="楷体_GB2312" pitchFamily="49" charset="-122"/>
                <a:ea typeface="楷体_GB2312" pitchFamily="49" charset="-122"/>
              </a:rPr>
              <a:t>敷料最少</a:t>
            </a:r>
            <a:r>
              <a:rPr lang="zh-CN" altLang="en-US" sz="2000" b="1" dirty="0">
                <a:latin typeface="楷体_GB2312" pitchFamily="49" charset="-122"/>
                <a:ea typeface="楷体_GB2312" pitchFamily="49" charset="-122"/>
              </a:rPr>
              <a:t>。</a:t>
            </a:r>
            <a:endParaRPr lang="en-US" altLang="zh-CN" sz="2000" b="1" dirty="0">
              <a:latin typeface="楷体_GB2312" pitchFamily="49" charset="-122"/>
              <a:ea typeface="楷体_GB2312" pitchFamily="49" charset="-122"/>
            </a:endParaRPr>
          </a:p>
          <a:p>
            <a:pPr eaLnBrk="1" hangingPunct="1"/>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d-d</a:t>
            </a:r>
            <a:r>
              <a:rPr lang="zh-CN" altLang="en-US" sz="2000" b="1" dirty="0">
                <a:latin typeface="楷体_GB2312" pitchFamily="49" charset="-122"/>
                <a:ea typeface="楷体_GB2312" pitchFamily="49" charset="-122"/>
              </a:rPr>
              <a:t>面，</a:t>
            </a:r>
            <a:r>
              <a:rPr lang="en-US" altLang="zh-CN" sz="2000" b="1" dirty="0">
                <a:latin typeface="楷体_GB2312" pitchFamily="49" charset="-122"/>
                <a:ea typeface="楷体_GB2312" pitchFamily="49" charset="-122"/>
              </a:rPr>
              <a:t>b-b</a:t>
            </a:r>
            <a:r>
              <a:rPr lang="zh-CN" altLang="en-US" sz="2000" b="1" dirty="0">
                <a:latin typeface="楷体_GB2312" pitchFamily="49" charset="-122"/>
                <a:ea typeface="楷体_GB2312" pitchFamily="49" charset="-122"/>
              </a:rPr>
              <a:t>最差）</a:t>
            </a:r>
            <a:endParaRPr lang="zh-CN" altLang="en-US" sz="2000" b="1" dirty="0">
              <a:latin typeface="楷体_GB2312" pitchFamily="49" charset="-122"/>
              <a:ea typeface="楷体_GB2312" pitchFamily="49" charset="-122"/>
            </a:endParaRPr>
          </a:p>
          <a:p>
            <a:pPr eaLnBrk="1" hangingPunct="1"/>
            <a:r>
              <a:rPr lang="en-US" altLang="zh-CN" sz="2000" b="1" dirty="0">
                <a:solidFill>
                  <a:srgbClr val="FF3300"/>
                </a:solidFill>
                <a:latin typeface="楷体_GB2312" pitchFamily="49" charset="-122"/>
                <a:ea typeface="楷体_GB2312" pitchFamily="49" charset="-122"/>
              </a:rPr>
              <a:t>ⅴ</a:t>
            </a:r>
            <a:r>
              <a:rPr lang="zh-CN" altLang="en-US" sz="2000" b="1" dirty="0">
                <a:latin typeface="楷体_GB2312" pitchFamily="49" charset="-122"/>
                <a:ea typeface="楷体_GB2312" pitchFamily="49" charset="-122"/>
              </a:rPr>
              <a:t>分模面应为</a:t>
            </a:r>
            <a:r>
              <a:rPr lang="zh-CN" altLang="en-US" sz="2000" b="1" dirty="0">
                <a:solidFill>
                  <a:srgbClr val="FF0000"/>
                </a:solidFill>
                <a:latin typeface="楷体_GB2312" pitchFamily="49" charset="-122"/>
                <a:ea typeface="楷体_GB2312" pitchFamily="49" charset="-122"/>
              </a:rPr>
              <a:t>一个平面</a:t>
            </a:r>
            <a:r>
              <a:rPr lang="zh-CN" altLang="en-US" sz="2000" b="1" dirty="0">
                <a:latin typeface="楷体_GB2312" pitchFamily="49" charset="-122"/>
                <a:ea typeface="楷体_GB2312" pitchFamily="49" charset="-122"/>
              </a:rPr>
              <a:t>，使模</a:t>
            </a:r>
            <a:endParaRPr lang="en-US" altLang="zh-CN" sz="2000" b="1" dirty="0">
              <a:latin typeface="楷体_GB2312" pitchFamily="49" charset="-122"/>
              <a:ea typeface="楷体_GB2312" pitchFamily="49" charset="-122"/>
            </a:endParaRPr>
          </a:p>
          <a:p>
            <a:pPr eaLnBrk="1" hangingPunct="1"/>
            <a:r>
              <a:rPr lang="zh-CN" altLang="en-US" sz="2000" b="1" dirty="0">
                <a:latin typeface="楷体_GB2312" pitchFamily="49" charset="-122"/>
                <a:ea typeface="楷体_GB2312" pitchFamily="49" charset="-122"/>
              </a:rPr>
              <a:t>膛</a:t>
            </a:r>
            <a:r>
              <a:rPr lang="zh-CN" altLang="en-US" sz="2000" b="1" dirty="0">
                <a:solidFill>
                  <a:srgbClr val="FF0000"/>
                </a:solidFill>
                <a:latin typeface="楷体_GB2312" pitchFamily="49" charset="-122"/>
                <a:ea typeface="楷体_GB2312" pitchFamily="49" charset="-122"/>
              </a:rPr>
              <a:t>深度基本一致</a:t>
            </a:r>
            <a:r>
              <a:rPr lang="zh-CN" altLang="en-US" sz="2000" b="1" dirty="0">
                <a:latin typeface="楷体_GB2312" pitchFamily="49" charset="-122"/>
                <a:ea typeface="楷体_GB2312" pitchFamily="49" charset="-122"/>
              </a:rPr>
              <a:t>，差别不宜过大，</a:t>
            </a:r>
            <a:endParaRPr lang="en-US" altLang="zh-CN" sz="2000" b="1" dirty="0">
              <a:latin typeface="楷体_GB2312" pitchFamily="49" charset="-122"/>
              <a:ea typeface="楷体_GB2312" pitchFamily="49" charset="-122"/>
            </a:endParaRPr>
          </a:p>
          <a:p>
            <a:pPr eaLnBrk="1" hangingPunct="1"/>
            <a:r>
              <a:rPr lang="zh-CN" altLang="en-US" sz="2000" b="1" dirty="0">
                <a:latin typeface="楷体_GB2312" pitchFamily="49" charset="-122"/>
                <a:ea typeface="楷体_GB2312" pitchFamily="49" charset="-122"/>
              </a:rPr>
              <a:t>便于制造锻模</a:t>
            </a:r>
            <a:endParaRPr lang="zh-CN" altLang="en-US" sz="2000" b="1" dirty="0">
              <a:latin typeface="楷体_GB2312" pitchFamily="49" charset="-122"/>
              <a:ea typeface="楷体_GB2312" pitchFamily="49" charset="-122"/>
            </a:endParaRPr>
          </a:p>
          <a:p>
            <a:pPr eaLnBrk="1" hangingPunct="1"/>
            <a:r>
              <a:rPr lang="zh-CN" altLang="en-US" sz="2000" b="1" dirty="0">
                <a:solidFill>
                  <a:srgbClr val="009900"/>
                </a:solidFill>
                <a:latin typeface="楷体_GB2312" pitchFamily="49" charset="-122"/>
                <a:ea typeface="楷体_GB2312" pitchFamily="49" charset="-122"/>
              </a:rPr>
              <a:t>综合分析，</a:t>
            </a:r>
            <a:r>
              <a:rPr lang="en-US" altLang="zh-CN" sz="2000" b="1" dirty="0">
                <a:solidFill>
                  <a:srgbClr val="009900"/>
                </a:solidFill>
                <a:latin typeface="楷体_GB2312" pitchFamily="49" charset="-122"/>
                <a:ea typeface="楷体_GB2312" pitchFamily="49" charset="-122"/>
              </a:rPr>
              <a:t>d</a:t>
            </a:r>
            <a:r>
              <a:rPr lang="en-US" altLang="zh-CN" sz="2000" b="1" dirty="0">
                <a:solidFill>
                  <a:srgbClr val="009900"/>
                </a:solidFill>
                <a:latin typeface="宋体" panose="02010600030101010101" pitchFamily="2" charset="-122"/>
                <a:ea typeface="楷体_GB2312" pitchFamily="49" charset="-122"/>
              </a:rPr>
              <a:t>—</a:t>
            </a:r>
            <a:r>
              <a:rPr lang="en-US" altLang="zh-CN" sz="2000" b="1" dirty="0">
                <a:solidFill>
                  <a:srgbClr val="009900"/>
                </a:solidFill>
                <a:latin typeface="楷体_GB2312" pitchFamily="49" charset="-122"/>
                <a:ea typeface="楷体_GB2312" pitchFamily="49" charset="-122"/>
              </a:rPr>
              <a:t>d</a:t>
            </a:r>
            <a:r>
              <a:rPr lang="zh-CN" altLang="en-US" sz="2000" b="1" dirty="0">
                <a:solidFill>
                  <a:srgbClr val="009900"/>
                </a:solidFill>
                <a:latin typeface="楷体_GB2312" pitchFamily="49" charset="-122"/>
                <a:ea typeface="楷体_GB2312" pitchFamily="49" charset="-122"/>
              </a:rPr>
              <a:t>面是最合理的分模面。</a:t>
            </a:r>
            <a:endParaRPr lang="zh-CN" altLang="en-US" sz="2000" b="1" dirty="0">
              <a:solidFill>
                <a:srgbClr val="009900"/>
              </a:solidFill>
              <a:latin typeface="楷体_GB2312" pitchFamily="49" charset="-122"/>
              <a:ea typeface="楷体_GB2312" pitchFamily="49" charset="-122"/>
            </a:endParaRPr>
          </a:p>
        </p:txBody>
      </p:sp>
      <p:grpSp>
        <p:nvGrpSpPr>
          <p:cNvPr id="88068" name="Group 19"/>
          <p:cNvGrpSpPr/>
          <p:nvPr/>
        </p:nvGrpSpPr>
        <p:grpSpPr>
          <a:xfrm>
            <a:off x="4016375" y="2087563"/>
            <a:ext cx="5019675" cy="4991100"/>
            <a:chOff x="3016" y="1189"/>
            <a:chExt cx="2621" cy="2551"/>
          </a:xfrm>
        </p:grpSpPr>
        <p:sp>
          <p:nvSpPr>
            <p:cNvPr id="88069" name="Text Box 11"/>
            <p:cNvSpPr txBox="1"/>
            <p:nvPr/>
          </p:nvSpPr>
          <p:spPr>
            <a:xfrm>
              <a:off x="3713" y="3356"/>
              <a:ext cx="1871" cy="384"/>
            </a:xfrm>
            <a:prstGeom prst="rect">
              <a:avLst/>
            </a:prstGeom>
            <a:noFill/>
            <a:ln w="9525">
              <a:noFill/>
            </a:ln>
          </p:spPr>
          <p:txBody>
            <a:bodyPr lIns="0" tIns="0" rIns="0" bIns="0"/>
            <a:p>
              <a:pPr eaLnBrk="1" hangingPunct="1"/>
              <a:r>
                <a:rPr lang="zh-CN" altLang="en-US" b="1" dirty="0">
                  <a:latin typeface="楷体_GB2312" pitchFamily="49" charset="-122"/>
                  <a:ea typeface="楷体_GB2312" pitchFamily="49" charset="-122"/>
                </a:rPr>
                <a:t>图</a:t>
              </a:r>
              <a:r>
                <a:rPr lang="en-US" altLang="zh-CN" b="1" dirty="0">
                  <a:latin typeface="楷体_GB2312" pitchFamily="49" charset="-122"/>
                  <a:ea typeface="楷体_GB2312" pitchFamily="49" charset="-122"/>
                </a:rPr>
                <a:t>3.26 </a:t>
              </a:r>
              <a:r>
                <a:rPr lang="zh-CN" altLang="en-US" b="1" dirty="0">
                  <a:latin typeface="楷体_GB2312" pitchFamily="49" charset="-122"/>
                  <a:ea typeface="楷体_GB2312" pitchFamily="49" charset="-122"/>
                </a:rPr>
                <a:t>分模面的选择</a:t>
              </a:r>
              <a:r>
                <a:rPr lang="zh-CN" altLang="en-US" sz="1600" b="1" dirty="0">
                  <a:latin typeface="Times New Roman" panose="02020603050405020304" pitchFamily="18" charset="0"/>
                </a:rPr>
                <a:t>	</a:t>
              </a:r>
              <a:endParaRPr lang="zh-CN" altLang="en-US" sz="1600" b="1" dirty="0">
                <a:latin typeface="Times New Roman" panose="02020603050405020304" pitchFamily="18" charset="0"/>
              </a:endParaRPr>
            </a:p>
            <a:p>
              <a:pPr eaLnBrk="1" hangingPunct="1"/>
              <a:endParaRPr lang="en-US" altLang="zh-CN" sz="1600" dirty="0">
                <a:latin typeface="Verdana" panose="020B0604030504040204" pitchFamily="34" charset="0"/>
              </a:endParaRPr>
            </a:p>
          </p:txBody>
        </p:sp>
        <p:pic>
          <p:nvPicPr>
            <p:cNvPr id="88070" name="Picture 18" descr="图片11"/>
            <p:cNvPicPr>
              <a:picLocks noChangeAspect="1"/>
            </p:cNvPicPr>
            <p:nvPr/>
          </p:nvPicPr>
          <p:blipFill>
            <a:blip r:embed="rId1"/>
            <a:stretch>
              <a:fillRect/>
            </a:stretch>
          </p:blipFill>
          <p:spPr>
            <a:xfrm>
              <a:off x="3016" y="1189"/>
              <a:ext cx="2621" cy="2014"/>
            </a:xfrm>
            <a:prstGeom prst="rect">
              <a:avLst/>
            </a:prstGeom>
            <a:noFill/>
            <a:ln w="9525">
              <a:noFill/>
            </a:ln>
          </p:spPr>
        </p:pic>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7346" name="Rectangle 2"/>
          <p:cNvSpPr>
            <a:spLocks noChangeArrowheads="1"/>
          </p:cNvSpPr>
          <p:nvPr/>
        </p:nvSpPr>
        <p:spPr bwMode="auto">
          <a:xfrm>
            <a:off x="3571875" y="341313"/>
            <a:ext cx="3751263" cy="701675"/>
          </a:xfrm>
          <a:prstGeom prst="rect">
            <a:avLst/>
          </a:prstGeom>
          <a:noFill/>
          <a:ln>
            <a:noFill/>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a:ln>
                  <a:noFill/>
                </a:ln>
                <a:solidFill>
                  <a:schemeClr val="tx2"/>
                </a:solidFill>
                <a:effectLst>
                  <a:outerShdw blurRad="38100" dist="38100" dir="2700000" algn="tl">
                    <a:srgbClr val="000000"/>
                  </a:outerShdw>
                </a:effectLst>
                <a:uLnTx/>
                <a:uFillTx/>
                <a:latin typeface="Verdana" panose="020B0604030504040204" pitchFamily="34" charset="0"/>
                <a:ea typeface="楷体_GB2312" pitchFamily="49" charset="-122"/>
                <a:cs typeface="+mn-cs"/>
              </a:rPr>
              <a:t>工艺规程的制定</a:t>
            </a:r>
            <a:endParaRPr kumimoji="0" lang="zh-CN" altLang="en-US" sz="4000" b="1" i="0" u="none" strike="noStrike" kern="1200" cap="none" spc="0" normalizeH="0" baseline="0" noProof="0">
              <a:ln>
                <a:noFill/>
              </a:ln>
              <a:solidFill>
                <a:schemeClr val="tx2"/>
              </a:solidFill>
              <a:effectLst>
                <a:outerShdw blurRad="38100" dist="38100" dir="2700000" algn="tl">
                  <a:srgbClr val="000000"/>
                </a:outerShdw>
              </a:effectLst>
              <a:uLnTx/>
              <a:uFillTx/>
              <a:latin typeface="Verdana" panose="020B0604030504040204" pitchFamily="34" charset="0"/>
              <a:ea typeface="楷体_GB2312" pitchFamily="49" charset="-122"/>
              <a:cs typeface="+mn-cs"/>
            </a:endParaRPr>
          </a:p>
        </p:txBody>
      </p:sp>
      <p:sp>
        <p:nvSpPr>
          <p:cNvPr id="697347" name="Rectangle 3"/>
          <p:cNvSpPr/>
          <p:nvPr/>
        </p:nvSpPr>
        <p:spPr>
          <a:xfrm>
            <a:off x="388938" y="1628775"/>
            <a:ext cx="5038725" cy="4494213"/>
          </a:xfrm>
          <a:prstGeom prst="rect">
            <a:avLst/>
          </a:prstGeom>
          <a:noFill/>
          <a:ln w="9525">
            <a:noFill/>
          </a:ln>
        </p:spPr>
        <p:txBody>
          <a:bodyPr anchor="ctr" anchorCtr="0">
            <a:spAutoFit/>
          </a:bodyPr>
          <a:p>
            <a:pPr eaLnBrk="1" hangingPunct="1"/>
            <a:r>
              <a:rPr lang="en-US" altLang="zh-CN" sz="2800" b="1" dirty="0">
                <a:solidFill>
                  <a:srgbClr val="FF0066"/>
                </a:solidFill>
                <a:latin typeface="楷体_GB2312" pitchFamily="49" charset="-122"/>
                <a:ea typeface="楷体_GB2312" pitchFamily="49" charset="-122"/>
              </a:rPr>
              <a:t>2.</a:t>
            </a:r>
            <a:r>
              <a:rPr lang="zh-CN" altLang="en-US" sz="2800" b="1" dirty="0">
                <a:solidFill>
                  <a:srgbClr val="FF0066"/>
                </a:solidFill>
                <a:latin typeface="楷体_GB2312" pitchFamily="49" charset="-122"/>
                <a:ea typeface="楷体_GB2312" pitchFamily="49" charset="-122"/>
              </a:rPr>
              <a:t>模锻工艺规程的制定</a:t>
            </a:r>
            <a:endParaRPr lang="zh-CN" altLang="en-US" sz="2800" b="1" dirty="0">
              <a:solidFill>
                <a:srgbClr val="FF0066"/>
              </a:solidFill>
              <a:latin typeface="楷体_GB2312" pitchFamily="49" charset="-122"/>
              <a:ea typeface="楷体_GB2312" pitchFamily="49" charset="-122"/>
            </a:endParaRPr>
          </a:p>
          <a:p>
            <a:pPr eaLnBrk="1" hangingPunct="1"/>
            <a:r>
              <a:rPr lang="zh-CN" altLang="en-US" sz="2000" b="1" dirty="0">
                <a:solidFill>
                  <a:srgbClr val="CC3300"/>
                </a:solidFill>
                <a:latin typeface="楷体_GB2312" pitchFamily="49" charset="-122"/>
                <a:ea typeface="楷体_GB2312" pitchFamily="49" charset="-122"/>
              </a:rPr>
              <a:t>（</a:t>
            </a:r>
            <a:r>
              <a:rPr lang="en-US" altLang="zh-CN" sz="2000" b="1" dirty="0">
                <a:solidFill>
                  <a:srgbClr val="CC3300"/>
                </a:solidFill>
                <a:latin typeface="楷体_GB2312" pitchFamily="49" charset="-122"/>
                <a:ea typeface="楷体_GB2312" pitchFamily="49" charset="-122"/>
              </a:rPr>
              <a:t>2</a:t>
            </a:r>
            <a:r>
              <a:rPr lang="zh-CN" altLang="en-US" sz="2000" b="1" dirty="0">
                <a:solidFill>
                  <a:srgbClr val="CC3300"/>
                </a:solidFill>
                <a:latin typeface="楷体_GB2312" pitchFamily="49" charset="-122"/>
                <a:ea typeface="楷体_GB2312" pitchFamily="49" charset="-122"/>
              </a:rPr>
              <a:t>）模锻斜度</a:t>
            </a:r>
            <a:endParaRPr lang="zh-CN" altLang="en-US" sz="2000" b="1" dirty="0">
              <a:solidFill>
                <a:srgbClr val="CC3300"/>
              </a:solidFill>
              <a:latin typeface="楷体_GB2312" pitchFamily="49" charset="-122"/>
              <a:ea typeface="楷体_GB2312" pitchFamily="49" charset="-122"/>
            </a:endParaRPr>
          </a:p>
          <a:p>
            <a:pPr eaLnBrk="1" hangingPunct="1"/>
            <a:r>
              <a:rPr lang="zh-CN" altLang="en-US" sz="2000" b="1" dirty="0">
                <a:latin typeface="楷体_GB2312" pitchFamily="49" charset="-122"/>
                <a:ea typeface="楷体_GB2312" pitchFamily="49" charset="-122"/>
              </a:rPr>
              <a:t>    </a:t>
            </a:r>
            <a:r>
              <a:rPr lang="zh-CN" altLang="en-US" sz="2000" b="1" dirty="0">
                <a:solidFill>
                  <a:srgbClr val="0000FF"/>
                </a:solidFill>
                <a:latin typeface="楷体_GB2312" pitchFamily="49" charset="-122"/>
                <a:ea typeface="楷体_GB2312" pitchFamily="49" charset="-122"/>
              </a:rPr>
              <a:t>模锻件上平行于锤击方向的表面必须具有斜度，以便于从模膛中取出锻件。</a:t>
            </a:r>
            <a:endParaRPr lang="zh-CN" altLang="en-US" sz="2000" b="1" dirty="0">
              <a:solidFill>
                <a:srgbClr val="0000FF"/>
              </a:solidFill>
              <a:latin typeface="楷体_GB2312" pitchFamily="49" charset="-122"/>
              <a:ea typeface="楷体_GB2312" pitchFamily="49" charset="-122"/>
            </a:endParaRPr>
          </a:p>
          <a:p>
            <a:pPr eaLnBrk="1" hangingPunct="1"/>
            <a:r>
              <a:rPr lang="zh-CN" altLang="en-US" sz="2000"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对于锤上模锻，模锻斜度一般为</a:t>
            </a:r>
            <a:r>
              <a:rPr lang="en-US" altLang="zh-CN" sz="2000" b="1" dirty="0">
                <a:latin typeface="楷体_GB2312" pitchFamily="49" charset="-122"/>
                <a:ea typeface="楷体_GB2312" pitchFamily="49" charset="-122"/>
              </a:rPr>
              <a:t>5°</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15°</a:t>
            </a:r>
            <a:r>
              <a:rPr lang="zh-CN" altLang="en-US" sz="2000" b="1" dirty="0">
                <a:latin typeface="楷体_GB2312" pitchFamily="49" charset="-122"/>
                <a:ea typeface="楷体_GB2312" pitchFamily="49" charset="-122"/>
              </a:rPr>
              <a:t>。模锻斜度与模膛深度和宽度有关。模膛深度与宽度的比值</a:t>
            </a:r>
            <a:r>
              <a:rPr lang="en-US" altLang="zh-CN" sz="2000" b="1" dirty="0">
                <a:latin typeface="楷体_GB2312" pitchFamily="49" charset="-122"/>
                <a:ea typeface="楷体_GB2312" pitchFamily="49" charset="-122"/>
              </a:rPr>
              <a:t>(h/b)</a:t>
            </a:r>
            <a:r>
              <a:rPr lang="zh-CN" altLang="en-US" sz="2000" b="1" dirty="0">
                <a:latin typeface="楷体_GB2312" pitchFamily="49" charset="-122"/>
                <a:ea typeface="楷体_GB2312" pitchFamily="49" charset="-122"/>
              </a:rPr>
              <a:t>越大，取的斜度值也越大。</a:t>
            </a:r>
            <a:endParaRPr lang="zh-CN" altLang="en-US" sz="2000" b="1" dirty="0">
              <a:latin typeface="楷体_GB2312" pitchFamily="49" charset="-122"/>
              <a:ea typeface="楷体_GB2312" pitchFamily="49" charset="-122"/>
            </a:endParaRPr>
          </a:p>
          <a:p>
            <a:pPr eaLnBrk="1" hangingPunct="1"/>
            <a:r>
              <a:rPr lang="en-US" altLang="zh-CN" sz="2000" b="1" dirty="0">
                <a:latin typeface="楷体_GB2312" pitchFamily="49" charset="-122"/>
                <a:ea typeface="楷体_GB2312" pitchFamily="49" charset="-122"/>
              </a:rPr>
              <a:t>       α</a:t>
            </a:r>
            <a:r>
              <a:rPr lang="en-US" altLang="zh-CN" sz="2000" b="1" baseline="-25000" dirty="0">
                <a:latin typeface="楷体_GB2312" pitchFamily="49" charset="-122"/>
                <a:ea typeface="楷体_GB2312" pitchFamily="49" charset="-122"/>
              </a:rPr>
              <a:t>2</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α</a:t>
            </a:r>
            <a:r>
              <a:rPr lang="en-US" altLang="zh-CN" sz="2000" b="1" baseline="-25000" dirty="0">
                <a:latin typeface="楷体_GB2312" pitchFamily="49" charset="-122"/>
                <a:ea typeface="楷体_GB2312" pitchFamily="49" charset="-122"/>
              </a:rPr>
              <a:t>1</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2°</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5°</a:t>
            </a:r>
            <a:r>
              <a:rPr lang="zh-CN" altLang="en-US" sz="2000" b="1" dirty="0">
                <a:latin typeface="楷体_GB2312" pitchFamily="49" charset="-122"/>
                <a:ea typeface="楷体_GB2312" pitchFamily="49" charset="-122"/>
              </a:rPr>
              <a:t>）</a:t>
            </a:r>
            <a:endParaRPr lang="zh-CN" altLang="en-US" sz="2000" b="1" dirty="0">
              <a:latin typeface="楷体_GB2312" pitchFamily="49" charset="-122"/>
              <a:ea typeface="楷体_GB2312" pitchFamily="49" charset="-122"/>
            </a:endParaRPr>
          </a:p>
          <a:p>
            <a:pPr eaLnBrk="1" hangingPunct="1"/>
            <a:r>
              <a:rPr lang="en-US" altLang="zh-CN" sz="2000" b="1" dirty="0">
                <a:latin typeface="楷体_GB2312" pitchFamily="49" charset="-122"/>
                <a:ea typeface="楷体_GB2312" pitchFamily="49" charset="-122"/>
              </a:rPr>
              <a:t>α</a:t>
            </a:r>
            <a:r>
              <a:rPr lang="en-US" altLang="zh-CN" sz="2000" b="1" baseline="-25000" dirty="0">
                <a:latin typeface="楷体_GB2312" pitchFamily="49" charset="-122"/>
                <a:ea typeface="楷体_GB2312" pitchFamily="49" charset="-122"/>
              </a:rPr>
              <a:t>1</a:t>
            </a:r>
            <a:r>
              <a:rPr lang="zh-CN" altLang="en-US" sz="2000" b="1" dirty="0">
                <a:latin typeface="楷体_GB2312" pitchFamily="49" charset="-122"/>
                <a:ea typeface="楷体_GB2312" pitchFamily="49" charset="-122"/>
              </a:rPr>
              <a:t>外壁斜度（即当锻件冷却时锻件与模壁离开的表面）</a:t>
            </a:r>
            <a:endParaRPr lang="zh-CN" altLang="en-US" sz="2000" b="1" dirty="0">
              <a:latin typeface="楷体_GB2312" pitchFamily="49" charset="-122"/>
              <a:ea typeface="楷体_GB2312" pitchFamily="49" charset="-122"/>
            </a:endParaRPr>
          </a:p>
          <a:p>
            <a:pPr eaLnBrk="1" hangingPunct="1"/>
            <a:r>
              <a:rPr lang="en-US" altLang="zh-CN" sz="2000" b="1" dirty="0">
                <a:latin typeface="楷体_GB2312" pitchFamily="49" charset="-122"/>
                <a:ea typeface="楷体_GB2312" pitchFamily="49" charset="-122"/>
              </a:rPr>
              <a:t>α</a:t>
            </a:r>
            <a:r>
              <a:rPr lang="en-US" altLang="zh-CN" sz="2000" b="1" baseline="-25000" dirty="0">
                <a:latin typeface="楷体_GB2312" pitchFamily="49" charset="-122"/>
                <a:ea typeface="楷体_GB2312" pitchFamily="49" charset="-122"/>
              </a:rPr>
              <a:t>2</a:t>
            </a:r>
            <a:r>
              <a:rPr lang="zh-CN" altLang="en-US" sz="2000" b="1" dirty="0">
                <a:latin typeface="楷体_GB2312" pitchFamily="49" charset="-122"/>
                <a:ea typeface="楷体_GB2312" pitchFamily="49" charset="-122"/>
              </a:rPr>
              <a:t>内壁斜度（即当锻件冷却时锻件与模壁夹紧的表面）</a:t>
            </a:r>
            <a:endParaRPr lang="zh-CN" altLang="en-US" sz="2000" b="1" dirty="0">
              <a:latin typeface="楷体_GB2312" pitchFamily="49" charset="-122"/>
              <a:ea typeface="楷体_GB2312" pitchFamily="49" charset="-122"/>
            </a:endParaRPr>
          </a:p>
          <a:p>
            <a:pPr eaLnBrk="1" hangingPunct="1"/>
            <a:endParaRPr lang="en-US" altLang="zh-CN" b="1" dirty="0">
              <a:latin typeface="宋体" panose="02010600030101010101" pitchFamily="2" charset="-122"/>
            </a:endParaRPr>
          </a:p>
        </p:txBody>
      </p:sp>
      <p:pic>
        <p:nvPicPr>
          <p:cNvPr id="89092" name="Picture 11" descr="327"/>
          <p:cNvPicPr>
            <a:picLocks noChangeAspect="1"/>
          </p:cNvPicPr>
          <p:nvPr/>
        </p:nvPicPr>
        <p:blipFill>
          <a:blip r:embed="rId1"/>
          <a:srcRect l="6857" t="8086" r="2357" b="2913"/>
          <a:stretch>
            <a:fillRect/>
          </a:stretch>
        </p:blipFill>
        <p:spPr>
          <a:xfrm>
            <a:off x="5580063" y="1968500"/>
            <a:ext cx="3024187" cy="29622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97347"/>
                                        </p:tgtEl>
                                        <p:attrNameLst>
                                          <p:attrName>style.visibility</p:attrName>
                                        </p:attrNameLst>
                                      </p:cBhvr>
                                      <p:to>
                                        <p:strVal val="visible"/>
                                      </p:to>
                                    </p:set>
                                    <p:animEffect transition="in" filter="blinds(horizontal)">
                                      <p:cBhvr>
                                        <p:cTn id="7" dur="500"/>
                                        <p:tgtEl>
                                          <p:spTgt spid="6973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7347"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矩形 1"/>
          <p:cNvSpPr/>
          <p:nvPr/>
        </p:nvSpPr>
        <p:spPr>
          <a:xfrm>
            <a:off x="1357313" y="3786188"/>
            <a:ext cx="6429375" cy="2586037"/>
          </a:xfrm>
          <a:prstGeom prst="rect">
            <a:avLst/>
          </a:prstGeom>
          <a:noFill/>
          <a:ln w="9525">
            <a:noFill/>
          </a:ln>
        </p:spPr>
        <p:txBody>
          <a:bodyPr>
            <a:spAutoFit/>
          </a:bodyPr>
          <a:p>
            <a:r>
              <a:rPr lang="zh-CN" altLang="en-US" dirty="0">
                <a:latin typeface="Arial" panose="020B0604020202020204" pitchFamily="34" charset="0"/>
              </a:rPr>
              <a:t>当模壁具有斜度时，模壁压力</a:t>
            </a:r>
            <a:r>
              <a:rPr lang="en-US" altLang="zh-CN" dirty="0">
                <a:latin typeface="Arial" panose="020B0604020202020204" pitchFamily="34" charset="0"/>
              </a:rPr>
              <a:t>N</a:t>
            </a:r>
            <a:r>
              <a:rPr lang="zh-CN" altLang="en-US" dirty="0">
                <a:latin typeface="Arial" panose="020B0604020202020204" pitchFamily="34" charset="0"/>
              </a:rPr>
              <a:t>所产生的垂直分力．</a:t>
            </a:r>
            <a:r>
              <a:rPr lang="en-US" altLang="zh-CN" dirty="0">
                <a:latin typeface="Arial" panose="020B0604020202020204" pitchFamily="34" charset="0"/>
              </a:rPr>
              <a:t>Nsina</a:t>
            </a:r>
            <a:r>
              <a:rPr lang="zh-CN" altLang="en-US" dirty="0">
                <a:latin typeface="Arial" panose="020B0604020202020204" pitchFamily="34" charset="0"/>
              </a:rPr>
              <a:t>有利于锻件出模，如忽略锻件自重，则出模力</a:t>
            </a:r>
            <a:r>
              <a:rPr lang="en-US" altLang="zh-CN" dirty="0">
                <a:latin typeface="Arial" panose="020B0604020202020204" pitchFamily="34" charset="0"/>
              </a:rPr>
              <a:t>P</a:t>
            </a:r>
            <a:r>
              <a:rPr lang="zh-CN" altLang="en-US" dirty="0">
                <a:latin typeface="Arial" panose="020B0604020202020204" pitchFamily="34" charset="0"/>
              </a:rPr>
              <a:t>出必须满足下式：</a:t>
            </a:r>
            <a:r>
              <a:rPr lang="en-US" altLang="zh-CN" dirty="0">
                <a:latin typeface="Arial" panose="020B0604020202020204" pitchFamily="34" charset="0"/>
              </a:rPr>
              <a:t>P</a:t>
            </a:r>
            <a:r>
              <a:rPr lang="zh-CN" altLang="en-US" dirty="0">
                <a:latin typeface="Arial" panose="020B0604020202020204" pitchFamily="34" charset="0"/>
              </a:rPr>
              <a:t>出</a:t>
            </a:r>
            <a:r>
              <a:rPr lang="en-US" altLang="zh-CN" dirty="0">
                <a:latin typeface="Arial" panose="020B0604020202020204" pitchFamily="34" charset="0"/>
              </a:rPr>
              <a:t>=Fcosa-Nsina</a:t>
            </a:r>
            <a:r>
              <a:rPr lang="zh-CN" altLang="en-US" dirty="0">
                <a:latin typeface="Arial" panose="020B0604020202020204" pitchFamily="34" charset="0"/>
              </a:rPr>
              <a:t>当</a:t>
            </a:r>
            <a:r>
              <a:rPr lang="en-US" altLang="zh-CN" dirty="0">
                <a:latin typeface="Arial" panose="020B0604020202020204" pitchFamily="34" charset="0"/>
              </a:rPr>
              <a:t>Nsina</a:t>
            </a:r>
            <a:r>
              <a:rPr lang="zh-CN" altLang="en-US" dirty="0">
                <a:latin typeface="Arial" panose="020B0604020202020204" pitchFamily="34" charset="0"/>
              </a:rPr>
              <a:t>＝</a:t>
            </a:r>
            <a:r>
              <a:rPr lang="en-US" altLang="zh-CN" dirty="0">
                <a:latin typeface="Arial" panose="020B0604020202020204" pitchFamily="34" charset="0"/>
              </a:rPr>
              <a:t>Fcosa</a:t>
            </a:r>
            <a:r>
              <a:rPr lang="zh-CN" altLang="en-US" dirty="0">
                <a:latin typeface="Arial" panose="020B0604020202020204" pitchFamily="34" charset="0"/>
              </a:rPr>
              <a:t>时，则</a:t>
            </a:r>
            <a:r>
              <a:rPr lang="en-US" altLang="zh-CN" dirty="0">
                <a:latin typeface="Arial" panose="020B0604020202020204" pitchFamily="34" charset="0"/>
              </a:rPr>
              <a:t>F</a:t>
            </a:r>
            <a:r>
              <a:rPr lang="zh-CN" altLang="en-US" dirty="0">
                <a:latin typeface="Arial" panose="020B0604020202020204" pitchFamily="34" charset="0"/>
              </a:rPr>
              <a:t>／</a:t>
            </a:r>
            <a:r>
              <a:rPr lang="en-US" altLang="zh-CN" dirty="0">
                <a:latin typeface="Arial" panose="020B0604020202020204" pitchFamily="34" charset="0"/>
              </a:rPr>
              <a:t>N=tana=μ</a:t>
            </a:r>
            <a:r>
              <a:rPr lang="zh-CN" altLang="en-US" dirty="0">
                <a:latin typeface="Arial" panose="020B0604020202020204" pitchFamily="34" charset="0"/>
              </a:rPr>
              <a:t>具有自然脱模条件，即</a:t>
            </a:r>
            <a:r>
              <a:rPr lang="en-US" altLang="zh-CN" dirty="0">
                <a:latin typeface="Arial" panose="020B0604020202020204" pitchFamily="34" charset="0"/>
              </a:rPr>
              <a:t>a</a:t>
            </a:r>
            <a:r>
              <a:rPr lang="zh-CN" altLang="en-US" dirty="0">
                <a:latin typeface="Arial" panose="020B0604020202020204" pitchFamily="34" charset="0"/>
              </a:rPr>
              <a:t>愈大，则</a:t>
            </a:r>
            <a:r>
              <a:rPr lang="en-US" altLang="zh-CN" dirty="0">
                <a:latin typeface="Arial" panose="020B0604020202020204" pitchFamily="34" charset="0"/>
              </a:rPr>
              <a:t>P</a:t>
            </a:r>
            <a:r>
              <a:rPr lang="zh-CN" altLang="en-US" dirty="0">
                <a:latin typeface="Arial" panose="020B0604020202020204" pitchFamily="34" charset="0"/>
              </a:rPr>
              <a:t>出愈小，</a:t>
            </a:r>
            <a:r>
              <a:rPr lang="en-US" altLang="zh-CN" dirty="0">
                <a:latin typeface="Arial" panose="020B0604020202020204" pitchFamily="34" charset="0"/>
              </a:rPr>
              <a:t>a</a:t>
            </a:r>
            <a:r>
              <a:rPr lang="zh-CN" altLang="en-US" dirty="0">
                <a:latin typeface="Arial" panose="020B0604020202020204" pitchFamily="34" charset="0"/>
              </a:rPr>
              <a:t>达到一定值时，锻件不需外力就可自行脱模。锻件外壁的斜度叫外模锻斜度，用</a:t>
            </a:r>
            <a:r>
              <a:rPr lang="en-US" altLang="zh-CN" dirty="0">
                <a:latin typeface="Arial" panose="020B0604020202020204" pitchFamily="34" charset="0"/>
              </a:rPr>
              <a:t>a</a:t>
            </a:r>
            <a:r>
              <a:rPr lang="zh-CN" altLang="en-US" dirty="0">
                <a:latin typeface="Arial" panose="020B0604020202020204" pitchFamily="34" charset="0"/>
              </a:rPr>
              <a:t>表示；锻件内壁的斜度叫内模锻斜度，用</a:t>
            </a:r>
            <a:r>
              <a:rPr lang="en-US" altLang="zh-CN" dirty="0">
                <a:latin typeface="Arial" panose="020B0604020202020204" pitchFamily="34" charset="0"/>
              </a:rPr>
              <a:t>β</a:t>
            </a:r>
            <a:r>
              <a:rPr lang="zh-CN" altLang="en-US" dirty="0">
                <a:latin typeface="Arial" panose="020B0604020202020204" pitchFamily="34" charset="0"/>
              </a:rPr>
              <a:t>表示。为便于脱模在同一锻件上内模锻斜度</a:t>
            </a:r>
            <a:r>
              <a:rPr lang="en-US" altLang="zh-CN" dirty="0">
                <a:latin typeface="Arial" panose="020B0604020202020204" pitchFamily="34" charset="0"/>
              </a:rPr>
              <a:t>β</a:t>
            </a:r>
            <a:r>
              <a:rPr lang="zh-CN" altLang="en-US" dirty="0">
                <a:latin typeface="Arial" panose="020B0604020202020204" pitchFamily="34" charset="0"/>
              </a:rPr>
              <a:t>应比外模锻斜度</a:t>
            </a:r>
            <a:r>
              <a:rPr lang="en-US" altLang="zh-CN" dirty="0">
                <a:latin typeface="Arial" panose="020B0604020202020204" pitchFamily="34" charset="0"/>
              </a:rPr>
              <a:t>a</a:t>
            </a:r>
            <a:r>
              <a:rPr lang="zh-CN" altLang="en-US" dirty="0">
                <a:latin typeface="Arial" panose="020B0604020202020204" pitchFamily="34" charset="0"/>
              </a:rPr>
              <a:t>更大些。锻件留出模锻斜度后会增加金属消耗和机械加工的工时，因此要尽量选用较小的模锻斜度</a:t>
            </a:r>
            <a:r>
              <a:rPr lang="en-US" altLang="zh-CN" dirty="0">
                <a:latin typeface="Arial" panose="020B0604020202020204" pitchFamily="34" charset="0"/>
              </a:rPr>
              <a:t>.</a:t>
            </a:r>
            <a:endParaRPr lang="zh-CN" altLang="en-US" dirty="0">
              <a:latin typeface="Arial" panose="020B0604020202020204" pitchFamily="34" charset="0"/>
            </a:endParaRPr>
          </a:p>
        </p:txBody>
      </p:sp>
      <p:pic>
        <p:nvPicPr>
          <p:cNvPr id="90115" name="Picture 2"/>
          <p:cNvPicPr>
            <a:picLocks noChangeAspect="1"/>
          </p:cNvPicPr>
          <p:nvPr/>
        </p:nvPicPr>
        <p:blipFill>
          <a:blip r:embed="rId1"/>
          <a:stretch>
            <a:fillRect/>
          </a:stretch>
        </p:blipFill>
        <p:spPr>
          <a:xfrm>
            <a:off x="1428750" y="1143000"/>
            <a:ext cx="6172200" cy="2476500"/>
          </a:xfrm>
          <a:prstGeom prst="rect">
            <a:avLst/>
          </a:prstGeom>
          <a:noFill/>
          <a:ln w="9525">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9394" name="Rectangle 2"/>
          <p:cNvSpPr>
            <a:spLocks noChangeArrowheads="1"/>
          </p:cNvSpPr>
          <p:nvPr/>
        </p:nvSpPr>
        <p:spPr bwMode="auto">
          <a:xfrm>
            <a:off x="3419475" y="350838"/>
            <a:ext cx="3959225" cy="701675"/>
          </a:xfrm>
          <a:prstGeom prst="rect">
            <a:avLst/>
          </a:prstGeom>
          <a:noFill/>
          <a:ln>
            <a:noFill/>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a:ln>
                  <a:noFill/>
                </a:ln>
                <a:solidFill>
                  <a:schemeClr val="tx2"/>
                </a:solidFill>
                <a:effectLst>
                  <a:outerShdw blurRad="38100" dist="38100" dir="2700000" algn="tl">
                    <a:srgbClr val="000000"/>
                  </a:outerShdw>
                </a:effectLst>
                <a:uLnTx/>
                <a:uFillTx/>
                <a:latin typeface="Arial" panose="020B0604020202020204" pitchFamily="34" charset="0"/>
                <a:ea typeface="楷体_GB2312" pitchFamily="49" charset="-122"/>
                <a:cs typeface="+mn-cs"/>
              </a:rPr>
              <a:t>工艺规程的制定</a:t>
            </a:r>
            <a:endParaRPr kumimoji="0" lang="zh-CN" altLang="en-US" sz="4000" b="1" i="0" u="none" strike="noStrike" kern="1200" cap="none" spc="0" normalizeH="0" baseline="0" noProof="0">
              <a:ln>
                <a:noFill/>
              </a:ln>
              <a:solidFill>
                <a:schemeClr val="tx2"/>
              </a:solidFill>
              <a:effectLst/>
              <a:uLnTx/>
              <a:uFillTx/>
              <a:latin typeface="Verdana" panose="020B0604030504040204" pitchFamily="34" charset="0"/>
              <a:ea typeface="楷体_GB2312" pitchFamily="49" charset="-122"/>
              <a:cs typeface="+mn-cs"/>
            </a:endParaRPr>
          </a:p>
        </p:txBody>
      </p:sp>
      <p:sp>
        <p:nvSpPr>
          <p:cNvPr id="699395" name="Rectangle 3"/>
          <p:cNvSpPr/>
          <p:nvPr/>
        </p:nvSpPr>
        <p:spPr>
          <a:xfrm>
            <a:off x="285750" y="1857375"/>
            <a:ext cx="4249738" cy="4216400"/>
          </a:xfrm>
          <a:prstGeom prst="rect">
            <a:avLst/>
          </a:prstGeom>
          <a:noFill/>
          <a:ln w="9525">
            <a:noFill/>
          </a:ln>
        </p:spPr>
        <p:txBody>
          <a:bodyPr anchor="ctr" anchorCtr="0">
            <a:spAutoFit/>
          </a:bodyPr>
          <a:p>
            <a:pPr eaLnBrk="1" hangingPunct="1"/>
            <a:r>
              <a:rPr lang="en-US" altLang="zh-CN" sz="2800" b="1" dirty="0">
                <a:solidFill>
                  <a:srgbClr val="CC3300"/>
                </a:solidFill>
                <a:latin typeface="楷体_GB2312" pitchFamily="49" charset="-122"/>
                <a:ea typeface="楷体_GB2312" pitchFamily="49" charset="-122"/>
              </a:rPr>
              <a:t>2.</a:t>
            </a:r>
            <a:r>
              <a:rPr lang="zh-CN" altLang="en-US" sz="2800" b="1" dirty="0">
                <a:solidFill>
                  <a:srgbClr val="CC3300"/>
                </a:solidFill>
                <a:latin typeface="楷体_GB2312" pitchFamily="49" charset="-122"/>
                <a:ea typeface="楷体_GB2312" pitchFamily="49" charset="-122"/>
              </a:rPr>
              <a:t>模锻工艺规程的制定</a:t>
            </a:r>
            <a:endParaRPr lang="zh-CN" altLang="en-US" sz="2800" b="1" dirty="0">
              <a:solidFill>
                <a:srgbClr val="CC3300"/>
              </a:solidFill>
              <a:latin typeface="楷体_GB2312" pitchFamily="49" charset="-122"/>
              <a:ea typeface="楷体_GB2312" pitchFamily="49" charset="-122"/>
            </a:endParaRPr>
          </a:p>
          <a:p>
            <a:pPr eaLnBrk="1" hangingPunct="1"/>
            <a:r>
              <a:rPr lang="zh-CN" altLang="en-US" sz="2000" b="1" dirty="0">
                <a:solidFill>
                  <a:srgbClr val="009900"/>
                </a:solidFill>
                <a:latin typeface="楷体_GB2312" pitchFamily="49" charset="-122"/>
                <a:ea typeface="楷体_GB2312" pitchFamily="49" charset="-122"/>
              </a:rPr>
              <a:t>（</a:t>
            </a:r>
            <a:r>
              <a:rPr lang="en-US" altLang="zh-CN" sz="2000" b="1" dirty="0">
                <a:solidFill>
                  <a:srgbClr val="009900"/>
                </a:solidFill>
                <a:latin typeface="楷体_GB2312" pitchFamily="49" charset="-122"/>
                <a:ea typeface="楷体_GB2312" pitchFamily="49" charset="-122"/>
              </a:rPr>
              <a:t>3</a:t>
            </a:r>
            <a:r>
              <a:rPr lang="zh-CN" altLang="en-US" sz="2000" b="1" dirty="0">
                <a:solidFill>
                  <a:srgbClr val="009900"/>
                </a:solidFill>
                <a:latin typeface="楷体_GB2312" pitchFamily="49" charset="-122"/>
                <a:ea typeface="楷体_GB2312" pitchFamily="49" charset="-122"/>
              </a:rPr>
              <a:t>）模锻圆角半径</a:t>
            </a:r>
            <a:r>
              <a:rPr lang="zh-CN" altLang="en-US" sz="2000" b="1" dirty="0">
                <a:solidFill>
                  <a:srgbClr val="FF9900"/>
                </a:solidFill>
                <a:latin typeface="楷体_GB2312" pitchFamily="49" charset="-122"/>
                <a:ea typeface="楷体_GB2312" pitchFamily="49" charset="-122"/>
              </a:rPr>
              <a:t> </a:t>
            </a:r>
            <a:r>
              <a:rPr lang="zh-CN" altLang="en-US" sz="2000" b="1" dirty="0">
                <a:latin typeface="楷体_GB2312" pitchFamily="49" charset="-122"/>
                <a:ea typeface="楷体_GB2312" pitchFamily="49" charset="-122"/>
              </a:rPr>
              <a:t>在模锻件上所有两平面的交角处均需做成圆角。</a:t>
            </a:r>
            <a:endParaRPr lang="zh-CN" altLang="en-US" sz="2000" b="1" dirty="0">
              <a:latin typeface="楷体_GB2312" pitchFamily="49" charset="-122"/>
              <a:ea typeface="楷体_GB2312" pitchFamily="49" charset="-122"/>
            </a:endParaRPr>
          </a:p>
          <a:p>
            <a:pPr eaLnBrk="1" hangingPunct="1"/>
            <a:r>
              <a:rPr lang="zh-CN" altLang="en-US" sz="2000" b="1" dirty="0">
                <a:solidFill>
                  <a:srgbClr val="FF0000"/>
                </a:solidFill>
                <a:latin typeface="楷体_GB2312" pitchFamily="49" charset="-122"/>
                <a:ea typeface="楷体_GB2312" pitchFamily="49" charset="-122"/>
              </a:rPr>
              <a:t>目的：</a:t>
            </a:r>
            <a:endParaRPr lang="en-US" altLang="zh-CN" sz="2000" b="1" dirty="0">
              <a:solidFill>
                <a:srgbClr val="FF0000"/>
              </a:solidFill>
              <a:latin typeface="楷体_GB2312" pitchFamily="49" charset="-122"/>
              <a:ea typeface="楷体_GB2312" pitchFamily="49" charset="-122"/>
            </a:endParaRPr>
          </a:p>
          <a:p>
            <a:pPr eaLnBrk="1" hangingPunct="1"/>
            <a:r>
              <a:rPr lang="en-US" altLang="zh-CN" sz="2000" b="1" dirty="0">
                <a:solidFill>
                  <a:srgbClr val="FF0000"/>
                </a:solidFill>
                <a:latin typeface="楷体_GB2312" pitchFamily="49" charset="-122"/>
                <a:ea typeface="楷体_GB2312" pitchFamily="49" charset="-122"/>
              </a:rPr>
              <a:t>   </a:t>
            </a:r>
            <a:r>
              <a:rPr lang="zh-CN" altLang="en-US" sz="2000" b="1" dirty="0">
                <a:solidFill>
                  <a:srgbClr val="FF0000"/>
                </a:solidFill>
                <a:latin typeface="楷体_GB2312" pitchFamily="49" charset="-122"/>
                <a:ea typeface="楷体_GB2312" pitchFamily="49" charset="-122"/>
              </a:rPr>
              <a:t>对于锻件：</a:t>
            </a:r>
            <a:r>
              <a:rPr lang="zh-CN" altLang="en-US" sz="2000" b="1" dirty="0">
                <a:latin typeface="楷体_GB2312" pitchFamily="49" charset="-122"/>
                <a:ea typeface="楷体_GB2312" pitchFamily="49" charset="-122"/>
              </a:rPr>
              <a:t>增大</a:t>
            </a:r>
            <a:r>
              <a:rPr lang="zh-CN" altLang="en-US" sz="2000" b="1" dirty="0">
                <a:solidFill>
                  <a:srgbClr val="FF0000"/>
                </a:solidFill>
                <a:latin typeface="楷体_GB2312" pitchFamily="49" charset="-122"/>
                <a:ea typeface="楷体_GB2312" pitchFamily="49" charset="-122"/>
              </a:rPr>
              <a:t>锻件</a:t>
            </a:r>
            <a:r>
              <a:rPr lang="zh-CN" altLang="en-US" sz="2000" b="1" dirty="0">
                <a:latin typeface="楷体_GB2312" pitchFamily="49" charset="-122"/>
                <a:ea typeface="楷体_GB2312" pitchFamily="49" charset="-122"/>
              </a:rPr>
              <a:t>强度</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便于金属流动，充满模膛。</a:t>
            </a:r>
            <a:endParaRPr lang="zh-CN" altLang="en-US" sz="2000" b="1" dirty="0">
              <a:latin typeface="楷体_GB2312" pitchFamily="49" charset="-122"/>
              <a:ea typeface="楷体_GB2312" pitchFamily="49" charset="-122"/>
            </a:endParaRPr>
          </a:p>
          <a:p>
            <a:pPr eaLnBrk="1" hangingPunct="1"/>
            <a:r>
              <a:rPr lang="zh-CN" altLang="en-US" sz="2000" b="1" dirty="0">
                <a:latin typeface="楷体_GB2312" pitchFamily="49" charset="-122"/>
                <a:ea typeface="楷体_GB2312" pitchFamily="49" charset="-122"/>
              </a:rPr>
              <a:t>   </a:t>
            </a:r>
            <a:r>
              <a:rPr lang="zh-CN" altLang="en-US" sz="2000" b="1" dirty="0">
                <a:solidFill>
                  <a:srgbClr val="FF0000"/>
                </a:solidFill>
                <a:latin typeface="楷体_GB2312" pitchFamily="49" charset="-122"/>
                <a:ea typeface="楷体_GB2312" pitchFamily="49" charset="-122"/>
              </a:rPr>
              <a:t>对于锻模：</a:t>
            </a:r>
            <a:r>
              <a:rPr lang="zh-CN" altLang="en-US" sz="2000" b="1" dirty="0">
                <a:latin typeface="楷体_GB2312" pitchFamily="49" charset="-122"/>
                <a:ea typeface="楷体_GB2312" pitchFamily="49" charset="-122"/>
              </a:rPr>
              <a:t>避免</a:t>
            </a:r>
            <a:r>
              <a:rPr lang="zh-CN" altLang="en-US" sz="2000" b="1" dirty="0">
                <a:solidFill>
                  <a:srgbClr val="FF0000"/>
                </a:solidFill>
                <a:latin typeface="楷体_GB2312" pitchFamily="49" charset="-122"/>
                <a:ea typeface="楷体_GB2312" pitchFamily="49" charset="-122"/>
              </a:rPr>
              <a:t>锻模</a:t>
            </a:r>
            <a:r>
              <a:rPr lang="zh-CN" altLang="en-US" sz="2000" b="1" dirty="0">
                <a:latin typeface="楷体_GB2312" pitchFamily="49" charset="-122"/>
                <a:ea typeface="楷体_GB2312" pitchFamily="49" charset="-122"/>
              </a:rPr>
              <a:t>上的内尖角处产生裂纹（应力集中）</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减缓锻模外尖角处的磨损，从而提高锻模的使用寿命。</a:t>
            </a:r>
            <a:endParaRPr lang="zh-CN" altLang="en-US" sz="2000" b="1" dirty="0">
              <a:latin typeface="楷体_GB2312" pitchFamily="49" charset="-122"/>
              <a:ea typeface="楷体_GB2312" pitchFamily="49" charset="-122"/>
            </a:endParaRPr>
          </a:p>
          <a:p>
            <a:pPr eaLnBrk="1" hangingPunct="1"/>
            <a:r>
              <a:rPr lang="zh-CN" altLang="en-US" sz="2000" b="1" dirty="0">
                <a:solidFill>
                  <a:srgbClr val="FF0066"/>
                </a:solidFill>
                <a:latin typeface="楷体_GB2312" pitchFamily="49" charset="-122"/>
                <a:ea typeface="楷体_GB2312" pitchFamily="49" charset="-122"/>
              </a:rPr>
              <a:t>   </a:t>
            </a:r>
            <a:r>
              <a:rPr lang="en-US" altLang="zh-CN" sz="2000" b="1" dirty="0">
                <a:solidFill>
                  <a:srgbClr val="0000FF"/>
                </a:solidFill>
                <a:latin typeface="楷体_GB2312" pitchFamily="49" charset="-122"/>
                <a:ea typeface="楷体_GB2312" pitchFamily="49" charset="-122"/>
              </a:rPr>
              <a:t>R</a:t>
            </a:r>
            <a:r>
              <a:rPr lang="zh-CN" altLang="en-US" sz="2000" b="1" dirty="0">
                <a:solidFill>
                  <a:srgbClr val="0000FF"/>
                </a:solidFill>
                <a:latin typeface="楷体_GB2312" pitchFamily="49" charset="-122"/>
                <a:ea typeface="楷体_GB2312" pitchFamily="49" charset="-122"/>
              </a:rPr>
              <a:t>＝（</a:t>
            </a:r>
            <a:r>
              <a:rPr lang="en-US" altLang="zh-CN" sz="2000" b="1" dirty="0">
                <a:solidFill>
                  <a:srgbClr val="0000FF"/>
                </a:solidFill>
                <a:latin typeface="楷体_GB2312" pitchFamily="49" charset="-122"/>
                <a:ea typeface="楷体_GB2312" pitchFamily="49" charset="-122"/>
              </a:rPr>
              <a:t>2</a:t>
            </a:r>
            <a:r>
              <a:rPr lang="zh-CN" altLang="en-US" sz="2000" b="1" dirty="0">
                <a:solidFill>
                  <a:srgbClr val="0000FF"/>
                </a:solidFill>
                <a:latin typeface="楷体_GB2312" pitchFamily="49" charset="-122"/>
                <a:ea typeface="楷体_GB2312" pitchFamily="49" charset="-122"/>
              </a:rPr>
              <a:t>～</a:t>
            </a:r>
            <a:r>
              <a:rPr lang="en-US" altLang="zh-CN" sz="2000" b="1" dirty="0">
                <a:solidFill>
                  <a:srgbClr val="0000FF"/>
                </a:solidFill>
                <a:latin typeface="楷体_GB2312" pitchFamily="49" charset="-122"/>
                <a:ea typeface="楷体_GB2312" pitchFamily="49" charset="-122"/>
              </a:rPr>
              <a:t>3</a:t>
            </a:r>
            <a:r>
              <a:rPr lang="zh-CN" altLang="en-US" sz="2000" b="1" dirty="0">
                <a:solidFill>
                  <a:srgbClr val="0000FF"/>
                </a:solidFill>
                <a:latin typeface="楷体_GB2312" pitchFamily="49" charset="-122"/>
                <a:ea typeface="楷体_GB2312" pitchFamily="49" charset="-122"/>
              </a:rPr>
              <a:t>）</a:t>
            </a:r>
            <a:r>
              <a:rPr lang="en-US" altLang="zh-CN" sz="2000" b="1" dirty="0">
                <a:solidFill>
                  <a:srgbClr val="0000FF"/>
                </a:solidFill>
                <a:latin typeface="楷体_GB2312" pitchFamily="49" charset="-122"/>
                <a:ea typeface="楷体_GB2312" pitchFamily="49" charset="-122"/>
              </a:rPr>
              <a:t>r</a:t>
            </a:r>
            <a:r>
              <a:rPr lang="en-US" altLang="zh-CN" sz="2000" b="1" dirty="0">
                <a:solidFill>
                  <a:srgbClr val="FF0066"/>
                </a:solidFill>
                <a:latin typeface="楷体_GB2312" pitchFamily="49" charset="-122"/>
                <a:ea typeface="楷体_GB2312" pitchFamily="49" charset="-122"/>
              </a:rPr>
              <a:t>  </a:t>
            </a:r>
            <a:r>
              <a:rPr lang="en-US" altLang="zh-CN" sz="2000" b="1" dirty="0">
                <a:latin typeface="楷体_GB2312" pitchFamily="49" charset="-122"/>
                <a:ea typeface="楷体_GB2312" pitchFamily="49" charset="-122"/>
              </a:rPr>
              <a:t>R</a:t>
            </a:r>
            <a:r>
              <a:rPr lang="zh-CN" altLang="en-US" sz="2000" b="1" dirty="0">
                <a:latin typeface="楷体_GB2312" pitchFamily="49" charset="-122"/>
                <a:ea typeface="楷体_GB2312" pitchFamily="49" charset="-122"/>
              </a:rPr>
              <a:t>为内圆角半径，</a:t>
            </a:r>
            <a:r>
              <a:rPr lang="en-US" altLang="zh-CN" sz="2000" b="1" dirty="0">
                <a:latin typeface="楷体_GB2312" pitchFamily="49" charset="-122"/>
                <a:ea typeface="楷体_GB2312" pitchFamily="49" charset="-122"/>
              </a:rPr>
              <a:t>r</a:t>
            </a:r>
            <a:r>
              <a:rPr lang="zh-CN" altLang="en-US" sz="2000" b="1" dirty="0">
                <a:latin typeface="楷体_GB2312" pitchFamily="49" charset="-122"/>
                <a:ea typeface="楷体_GB2312" pitchFamily="49" charset="-122"/>
              </a:rPr>
              <a:t>为外圆角半径</a:t>
            </a:r>
            <a:r>
              <a:rPr lang="en-US" altLang="zh-CN" sz="2000" b="1" dirty="0">
                <a:latin typeface="楷体_GB2312" pitchFamily="49" charset="-122"/>
                <a:ea typeface="楷体_GB2312" pitchFamily="49" charset="-122"/>
              </a:rPr>
              <a:t>r</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1.5</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12mm</a:t>
            </a:r>
            <a:r>
              <a:rPr lang="zh-CN" altLang="en-US" sz="2000" b="1" dirty="0">
                <a:latin typeface="楷体_GB2312" pitchFamily="49" charset="-122"/>
                <a:ea typeface="楷体_GB2312" pitchFamily="49" charset="-122"/>
              </a:rPr>
              <a:t>。模膛深度越深，圆角半径取值就越大。</a:t>
            </a:r>
            <a:endParaRPr lang="zh-CN" altLang="en-US" sz="2000" b="1" dirty="0">
              <a:latin typeface="楷体_GB2312" pitchFamily="49" charset="-122"/>
              <a:ea typeface="楷体_GB2312" pitchFamily="49" charset="-122"/>
            </a:endParaRPr>
          </a:p>
        </p:txBody>
      </p:sp>
      <p:pic>
        <p:nvPicPr>
          <p:cNvPr id="91140" name="Picture 10"/>
          <p:cNvPicPr>
            <a:picLocks noChangeAspect="1"/>
          </p:cNvPicPr>
          <p:nvPr/>
        </p:nvPicPr>
        <p:blipFill>
          <a:blip r:embed="rId1"/>
          <a:stretch>
            <a:fillRect/>
          </a:stretch>
        </p:blipFill>
        <p:spPr>
          <a:xfrm>
            <a:off x="4787900" y="1916113"/>
            <a:ext cx="4032250" cy="41084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99395"/>
                                        </p:tgtEl>
                                        <p:attrNameLst>
                                          <p:attrName>style.visibility</p:attrName>
                                        </p:attrNameLst>
                                      </p:cBhvr>
                                      <p:to>
                                        <p:strVal val="visible"/>
                                      </p:to>
                                    </p:set>
                                    <p:animEffect transition="in" filter="blinds(horizontal)">
                                      <p:cBhvr>
                                        <p:cTn id="7" dur="500"/>
                                        <p:tgtEl>
                                          <p:spTgt spid="6993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9395"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5346" name="Rectangle 2"/>
          <p:cNvSpPr>
            <a:spLocks noChangeArrowheads="1"/>
          </p:cNvSpPr>
          <p:nvPr/>
        </p:nvSpPr>
        <p:spPr bwMode="auto">
          <a:xfrm>
            <a:off x="3419475" y="404813"/>
            <a:ext cx="4103688" cy="701675"/>
          </a:xfrm>
          <a:prstGeom prst="rect">
            <a:avLst/>
          </a:prstGeom>
          <a:noFill/>
          <a:ln>
            <a:noFill/>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a:ln>
                  <a:noFill/>
                </a:ln>
                <a:solidFill>
                  <a:schemeClr val="tx2"/>
                </a:solidFill>
                <a:effectLst>
                  <a:outerShdw blurRad="38100" dist="38100" dir="2700000" algn="tl">
                    <a:srgbClr val="000000"/>
                  </a:outerShdw>
                </a:effectLst>
                <a:uLnTx/>
                <a:uFillTx/>
                <a:latin typeface="Arial" panose="020B0604020202020204" pitchFamily="34" charset="0"/>
                <a:ea typeface="楷体_GB2312" pitchFamily="49" charset="-122"/>
                <a:cs typeface="+mn-cs"/>
              </a:rPr>
              <a:t>工艺规程的制定</a:t>
            </a:r>
            <a:endParaRPr kumimoji="0" lang="zh-CN" altLang="en-US" sz="4000" b="1" i="0" u="none" strike="noStrike" kern="1200" cap="none" spc="0" normalizeH="0" baseline="0" noProof="0">
              <a:ln>
                <a:noFill/>
              </a:ln>
              <a:solidFill>
                <a:schemeClr val="tx2"/>
              </a:solidFill>
              <a:effectLst>
                <a:outerShdw blurRad="38100" dist="38100" dir="2700000" algn="tl">
                  <a:srgbClr val="000000"/>
                </a:outerShdw>
              </a:effectLst>
              <a:uLnTx/>
              <a:uFillTx/>
              <a:latin typeface="Verdana" panose="020B0604030504040204" pitchFamily="34" charset="0"/>
              <a:ea typeface="楷体_GB2312" pitchFamily="49" charset="-122"/>
              <a:cs typeface="+mn-cs"/>
            </a:endParaRPr>
          </a:p>
        </p:txBody>
      </p:sp>
      <p:sp>
        <p:nvSpPr>
          <p:cNvPr id="92163" name="Rectangle 3"/>
          <p:cNvSpPr/>
          <p:nvPr/>
        </p:nvSpPr>
        <p:spPr>
          <a:xfrm>
            <a:off x="534988" y="1573213"/>
            <a:ext cx="8208962" cy="2062162"/>
          </a:xfrm>
          <a:prstGeom prst="rect">
            <a:avLst/>
          </a:prstGeom>
          <a:noFill/>
          <a:ln w="9525">
            <a:noFill/>
          </a:ln>
        </p:spPr>
        <p:txBody>
          <a:bodyPr anchor="ctr" anchorCtr="0">
            <a:spAutoFit/>
          </a:bodyPr>
          <a:p>
            <a:pPr eaLnBrk="1" hangingPunct="1"/>
            <a:r>
              <a:rPr lang="en-US" altLang="zh-CN" sz="2800" b="1" dirty="0">
                <a:solidFill>
                  <a:srgbClr val="CC3300"/>
                </a:solidFill>
                <a:latin typeface="楷体_GB2312" pitchFamily="49" charset="-122"/>
                <a:ea typeface="楷体_GB2312" pitchFamily="49" charset="-122"/>
              </a:rPr>
              <a:t>2.</a:t>
            </a:r>
            <a:r>
              <a:rPr lang="zh-CN" altLang="en-US" sz="2800" b="1" dirty="0">
                <a:solidFill>
                  <a:srgbClr val="CC3300"/>
                </a:solidFill>
                <a:latin typeface="楷体_GB2312" pitchFamily="49" charset="-122"/>
                <a:ea typeface="楷体_GB2312" pitchFamily="49" charset="-122"/>
              </a:rPr>
              <a:t>模锻工艺规程的制定</a:t>
            </a:r>
            <a:endParaRPr lang="zh-CN" altLang="en-US" sz="2800" b="1" dirty="0">
              <a:solidFill>
                <a:srgbClr val="CC3300"/>
              </a:solidFill>
              <a:latin typeface="楷体_GB2312" pitchFamily="49" charset="-122"/>
              <a:ea typeface="楷体_GB2312" pitchFamily="49" charset="-122"/>
            </a:endParaRPr>
          </a:p>
          <a:p>
            <a:pPr eaLnBrk="1" hangingPunct="1"/>
            <a:r>
              <a:rPr lang="zh-CN" altLang="en-US" sz="2000" b="1" dirty="0">
                <a:solidFill>
                  <a:srgbClr val="009900"/>
                </a:solidFill>
                <a:latin typeface="楷体_GB2312" pitchFamily="49" charset="-122"/>
                <a:ea typeface="楷体_GB2312" pitchFamily="49" charset="-122"/>
              </a:rPr>
              <a:t>（</a:t>
            </a:r>
            <a:r>
              <a:rPr lang="en-US" altLang="zh-CN" sz="2000" b="1" dirty="0">
                <a:solidFill>
                  <a:srgbClr val="009900"/>
                </a:solidFill>
                <a:latin typeface="楷体_GB2312" pitchFamily="49" charset="-122"/>
                <a:ea typeface="楷体_GB2312" pitchFamily="49" charset="-122"/>
              </a:rPr>
              <a:t>4</a:t>
            </a:r>
            <a:r>
              <a:rPr lang="zh-CN" altLang="en-US" sz="2000" b="1" dirty="0">
                <a:solidFill>
                  <a:srgbClr val="009900"/>
                </a:solidFill>
                <a:latin typeface="楷体_GB2312" pitchFamily="49" charset="-122"/>
                <a:ea typeface="楷体_GB2312" pitchFamily="49" charset="-122"/>
              </a:rPr>
              <a:t>）冲孔连皮</a:t>
            </a:r>
            <a:endParaRPr lang="zh-CN" altLang="en-US" sz="2000" b="1" dirty="0">
              <a:solidFill>
                <a:srgbClr val="009900"/>
              </a:solidFill>
              <a:latin typeface="楷体_GB2312" pitchFamily="49" charset="-122"/>
              <a:ea typeface="楷体_GB2312" pitchFamily="49" charset="-122"/>
            </a:endParaRPr>
          </a:p>
          <a:p>
            <a:pPr eaLnBrk="1" hangingPunct="1"/>
            <a:r>
              <a:rPr lang="zh-CN" altLang="en-US" sz="2000"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许多模锻件都具有孔形，当模锻件的孔径大于</a:t>
            </a:r>
            <a:r>
              <a:rPr lang="en-US" altLang="zh-CN" sz="2000" b="1" dirty="0">
                <a:latin typeface="楷体_GB2312" pitchFamily="49" charset="-122"/>
                <a:ea typeface="楷体_GB2312" pitchFamily="49" charset="-122"/>
              </a:rPr>
              <a:t>25mm</a:t>
            </a:r>
            <a:r>
              <a:rPr lang="zh-CN" altLang="en-US" sz="2000" b="1" dirty="0">
                <a:latin typeface="楷体_GB2312" pitchFamily="49" charset="-122"/>
                <a:ea typeface="楷体_GB2312" pitchFamily="49" charset="-122"/>
              </a:rPr>
              <a:t>时，应将该孔形锻出。但由于模锻无法锻出通孔，需在孔中留出冲孔连皮，其厚度依孔径而定。当孔径为</a:t>
            </a:r>
            <a:r>
              <a:rPr lang="en-US" altLang="zh-CN" sz="2000" b="1" dirty="0">
                <a:latin typeface="楷体_GB2312" pitchFamily="49" charset="-122"/>
                <a:ea typeface="楷体_GB2312" pitchFamily="49" charset="-122"/>
              </a:rPr>
              <a:t>25</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80mm</a:t>
            </a:r>
            <a:r>
              <a:rPr lang="zh-CN" altLang="en-US" sz="2000" b="1" dirty="0">
                <a:latin typeface="楷体_GB2312" pitchFamily="49" charset="-122"/>
                <a:ea typeface="楷体_GB2312" pitchFamily="49" charset="-122"/>
              </a:rPr>
              <a:t>时，冲孔连皮的厚度取</a:t>
            </a:r>
            <a:r>
              <a:rPr lang="en-US" altLang="zh-CN" sz="2000" b="1" dirty="0">
                <a:latin typeface="楷体_GB2312" pitchFamily="49" charset="-122"/>
                <a:ea typeface="楷体_GB2312" pitchFamily="49" charset="-122"/>
              </a:rPr>
              <a:t>4</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8mm</a:t>
            </a:r>
            <a:r>
              <a:rPr lang="zh-CN" altLang="en-US" sz="2000" b="1" dirty="0">
                <a:latin typeface="楷体_GB2312" pitchFamily="49" charset="-122"/>
                <a:ea typeface="楷体_GB2312" pitchFamily="49" charset="-122"/>
              </a:rPr>
              <a:t>。</a:t>
            </a:r>
            <a:endParaRPr lang="zh-CN" altLang="en-US" sz="2000" b="1" dirty="0">
              <a:latin typeface="楷体_GB2312" pitchFamily="49" charset="-122"/>
              <a:ea typeface="楷体_GB2312" pitchFamily="49" charset="-122"/>
            </a:endParaRPr>
          </a:p>
          <a:p>
            <a:pPr eaLnBrk="1" hangingPunct="1"/>
            <a:r>
              <a:rPr lang="zh-CN" altLang="en-US" sz="2000" b="1" dirty="0">
                <a:latin typeface="楷体_GB2312" pitchFamily="49" charset="-122"/>
                <a:ea typeface="楷体_GB2312" pitchFamily="49" charset="-122"/>
              </a:rPr>
              <a:t>   </a:t>
            </a:r>
            <a:endParaRPr lang="zh-CN" altLang="en-US" sz="2000" b="1" dirty="0">
              <a:solidFill>
                <a:srgbClr val="0000FF"/>
              </a:solidFill>
              <a:latin typeface="楷体_GB2312" pitchFamily="49" charset="-122"/>
              <a:ea typeface="楷体_GB2312" pitchFamily="49" charset="-122"/>
            </a:endParaRPr>
          </a:p>
        </p:txBody>
      </p:sp>
      <p:pic>
        <p:nvPicPr>
          <p:cNvPr id="92164" name="Picture 6"/>
          <p:cNvPicPr>
            <a:picLocks noChangeAspect="1"/>
          </p:cNvPicPr>
          <p:nvPr/>
        </p:nvPicPr>
        <p:blipFill>
          <a:blip r:embed="rId1"/>
          <a:stretch>
            <a:fillRect/>
          </a:stretch>
        </p:blipFill>
        <p:spPr>
          <a:xfrm>
            <a:off x="1979613" y="3500438"/>
            <a:ext cx="5202237" cy="3222625"/>
          </a:xfrm>
          <a:prstGeom prst="rect">
            <a:avLst/>
          </a:prstGeom>
          <a:noFill/>
          <a:ln w="9525">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9746" name="Rectangle 2"/>
          <p:cNvSpPr>
            <a:spLocks noChangeArrowheads="1"/>
          </p:cNvSpPr>
          <p:nvPr/>
        </p:nvSpPr>
        <p:spPr bwMode="auto">
          <a:xfrm>
            <a:off x="4067175" y="404813"/>
            <a:ext cx="2732088" cy="701675"/>
          </a:xfrm>
          <a:prstGeom prst="rect">
            <a:avLst/>
          </a:prstGeom>
          <a:noFill/>
          <a:ln>
            <a:noFill/>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dirty="0">
                <a:ln>
                  <a:noFill/>
                </a:ln>
                <a:solidFill>
                  <a:schemeClr val="tx2"/>
                </a:solidFill>
                <a:effectLst>
                  <a:outerShdw blurRad="38100" dist="38100" dir="2700000" algn="tl">
                    <a:srgbClr val="000000"/>
                  </a:outerShdw>
                </a:effectLst>
                <a:uLnTx/>
                <a:uFillTx/>
                <a:latin typeface="Verdana" panose="020B0604030504040204" pitchFamily="34" charset="0"/>
                <a:ea typeface="楷体_GB2312" pitchFamily="49" charset="-122"/>
                <a:cs typeface="+mn-cs"/>
              </a:rPr>
              <a:t>绘制锻件图</a:t>
            </a:r>
            <a:endParaRPr kumimoji="0" lang="zh-CN" altLang="en-US" sz="4000" b="1" i="0" u="none" strike="noStrike" kern="1200" cap="none" spc="0" normalizeH="0" baseline="0" noProof="0" dirty="0">
              <a:ln>
                <a:noFill/>
              </a:ln>
              <a:solidFill>
                <a:schemeClr val="tx2"/>
              </a:solidFill>
              <a:effectLst>
                <a:outerShdw blurRad="38100" dist="38100" dir="2700000" algn="tl">
                  <a:srgbClr val="000000"/>
                </a:outerShdw>
              </a:effectLst>
              <a:uLnTx/>
              <a:uFillTx/>
              <a:latin typeface="Verdana" panose="020B0604030504040204" pitchFamily="34" charset="0"/>
              <a:ea typeface="楷体_GB2312" pitchFamily="49" charset="-122"/>
              <a:cs typeface="+mn-cs"/>
            </a:endParaRPr>
          </a:p>
        </p:txBody>
      </p:sp>
      <p:sp>
        <p:nvSpPr>
          <p:cNvPr id="93187" name="Rectangle 3"/>
          <p:cNvSpPr/>
          <p:nvPr/>
        </p:nvSpPr>
        <p:spPr>
          <a:xfrm>
            <a:off x="468313" y="1289050"/>
            <a:ext cx="7993062" cy="2986088"/>
          </a:xfrm>
          <a:prstGeom prst="rect">
            <a:avLst/>
          </a:prstGeom>
          <a:noFill/>
          <a:ln w="9525">
            <a:noFill/>
          </a:ln>
        </p:spPr>
        <p:txBody>
          <a:bodyPr anchor="ctr" anchorCtr="0">
            <a:spAutoFit/>
          </a:bodyPr>
          <a:p>
            <a:pPr eaLnBrk="1" hangingPunct="1"/>
            <a:r>
              <a:rPr lang="en-US" altLang="zh-CN" sz="2800" b="1" dirty="0">
                <a:solidFill>
                  <a:srgbClr val="CC3300"/>
                </a:solidFill>
                <a:latin typeface="楷体_GB2312" pitchFamily="49" charset="-122"/>
                <a:ea typeface="楷体_GB2312" pitchFamily="49" charset="-122"/>
              </a:rPr>
              <a:t>(1) </a:t>
            </a:r>
            <a:r>
              <a:rPr lang="zh-CN" altLang="en-US" sz="2800" b="1" dirty="0">
                <a:solidFill>
                  <a:srgbClr val="CC3300"/>
                </a:solidFill>
                <a:latin typeface="楷体_GB2312" pitchFamily="49" charset="-122"/>
                <a:ea typeface="楷体_GB2312" pitchFamily="49" charset="-122"/>
              </a:rPr>
              <a:t>自由锻</a:t>
            </a:r>
            <a:endParaRPr lang="zh-CN" altLang="en-US" sz="2800" b="1" dirty="0">
              <a:solidFill>
                <a:srgbClr val="CC3300"/>
              </a:solidFill>
              <a:latin typeface="楷体_GB2312" pitchFamily="49" charset="-122"/>
              <a:ea typeface="楷体_GB2312" pitchFamily="49" charset="-122"/>
            </a:endParaRPr>
          </a:p>
          <a:p>
            <a:pPr eaLnBrk="1" hangingPunct="1"/>
            <a:r>
              <a:rPr lang="zh-CN" altLang="en-US" sz="20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齿轮的零件图如图</a:t>
            </a:r>
            <a:r>
              <a:rPr lang="en-US" altLang="zh-CN" sz="2400" b="1" dirty="0">
                <a:latin typeface="楷体_GB2312" pitchFamily="49" charset="-122"/>
                <a:ea typeface="楷体_GB2312" pitchFamily="49" charset="-122"/>
              </a:rPr>
              <a:t>17</a:t>
            </a:r>
            <a:r>
              <a:rPr lang="zh-CN" altLang="en-US" sz="2400" b="1" dirty="0">
                <a:latin typeface="楷体_GB2312" pitchFamily="49" charset="-122"/>
                <a:ea typeface="楷体_GB2312" pitchFamily="49" charset="-122"/>
              </a:rPr>
              <a:t>所示。齿轮上的轮齿、小的凹槽、凸肩以及轮辐上的</a:t>
            </a:r>
            <a:r>
              <a:rPr lang="en-US" altLang="zh-CN" sz="2400" b="1" dirty="0">
                <a:latin typeface="楷体_GB2312" pitchFamily="49" charset="-122"/>
                <a:ea typeface="楷体_GB2312" pitchFamily="49" charset="-122"/>
              </a:rPr>
              <a:t>8</a:t>
            </a:r>
            <a:r>
              <a:rPr lang="zh-CN" altLang="en-US" sz="2400" b="1" dirty="0">
                <a:latin typeface="楷体_GB2312" pitchFamily="49" charset="-122"/>
                <a:ea typeface="楷体_GB2312" pitchFamily="49" charset="-122"/>
              </a:rPr>
              <a:t>个直径为</a:t>
            </a:r>
            <a:r>
              <a:rPr lang="en-US" altLang="zh-CN" sz="2400" b="1" dirty="0">
                <a:latin typeface="楷体_GB2312" pitchFamily="49" charset="-122"/>
                <a:ea typeface="楷体_GB2312" pitchFamily="49" charset="-122"/>
              </a:rPr>
              <a:t>30mm</a:t>
            </a:r>
            <a:r>
              <a:rPr lang="zh-CN" altLang="en-US" sz="2400" b="1" dirty="0">
                <a:latin typeface="楷体_GB2312" pitchFamily="49" charset="-122"/>
                <a:ea typeface="楷体_GB2312" pitchFamily="49" charset="-122"/>
              </a:rPr>
              <a:t>的孔等，都是自由锻难以锻出的，应加余块。根据表</a:t>
            </a:r>
            <a:r>
              <a:rPr lang="en-US" altLang="zh-CN" sz="2400" b="1" dirty="0">
                <a:latin typeface="楷体_GB2312" pitchFamily="49" charset="-122"/>
                <a:ea typeface="楷体_GB2312" pitchFamily="49" charset="-122"/>
              </a:rPr>
              <a:t>(JB 4229.4-86)</a:t>
            </a:r>
            <a:r>
              <a:rPr lang="zh-CN" altLang="en-US" sz="2400" b="1" dirty="0">
                <a:latin typeface="楷体_GB2312" pitchFamily="49" charset="-122"/>
                <a:ea typeface="楷体_GB2312" pitchFamily="49" charset="-122"/>
              </a:rPr>
              <a:t>查得锻件的加工余量和公差。于是便可绘出如图</a:t>
            </a:r>
            <a:r>
              <a:rPr lang="en-US" altLang="zh-CN" sz="2400" b="1" dirty="0">
                <a:latin typeface="楷体_GB2312" pitchFamily="49" charset="-122"/>
                <a:ea typeface="楷体_GB2312" pitchFamily="49" charset="-122"/>
              </a:rPr>
              <a:t>18</a:t>
            </a:r>
            <a:r>
              <a:rPr lang="zh-CN" altLang="en-US" sz="2400" b="1" dirty="0">
                <a:latin typeface="楷体_GB2312" pitchFamily="49" charset="-122"/>
                <a:ea typeface="楷体_GB2312" pitchFamily="49" charset="-122"/>
              </a:rPr>
              <a:t>所示的自由锻件图。</a:t>
            </a:r>
            <a:endParaRPr lang="zh-CN" altLang="en-US" sz="2400" b="1" dirty="0">
              <a:latin typeface="楷体_GB2312" pitchFamily="49" charset="-122"/>
              <a:ea typeface="楷体_GB2312" pitchFamily="49" charset="-122"/>
            </a:endParaRPr>
          </a:p>
          <a:p>
            <a:pPr eaLnBrk="1" hangingPunct="1"/>
            <a:endParaRPr lang="zh-CN" altLang="en-US" sz="2400" dirty="0">
              <a:solidFill>
                <a:srgbClr val="FF0000"/>
              </a:solidFill>
              <a:latin typeface="Verdana" panose="020B0604030504040204" pitchFamily="34" charset="0"/>
            </a:endParaRPr>
          </a:p>
          <a:p>
            <a:pPr eaLnBrk="1" hangingPunct="1"/>
            <a:r>
              <a:rPr lang="zh-CN" altLang="en-US" sz="2000" dirty="0">
                <a:latin typeface="Verdana" panose="020B0604030504040204" pitchFamily="34" charset="0"/>
              </a:rPr>
              <a:t>      </a:t>
            </a:r>
            <a:endParaRPr lang="zh-CN" altLang="en-US" sz="2000" dirty="0">
              <a:latin typeface="Verdana" panose="020B0604030504040204" pitchFamily="34" charset="0"/>
            </a:endParaRPr>
          </a:p>
          <a:p>
            <a:pPr eaLnBrk="1" hangingPunct="1"/>
            <a:endParaRPr lang="en-US" altLang="zh-CN" sz="2000" dirty="0">
              <a:latin typeface="Verdana" panose="020B0604030504040204" pitchFamily="34" charset="0"/>
            </a:endParaRPr>
          </a:p>
        </p:txBody>
      </p:sp>
      <p:pic>
        <p:nvPicPr>
          <p:cNvPr id="799750" name="Picture 6"/>
          <p:cNvPicPr>
            <a:picLocks noChangeAspect="1"/>
          </p:cNvPicPr>
          <p:nvPr/>
        </p:nvPicPr>
        <p:blipFill>
          <a:blip r:embed="rId1"/>
          <a:stretch>
            <a:fillRect/>
          </a:stretch>
        </p:blipFill>
        <p:spPr>
          <a:xfrm>
            <a:off x="4787900" y="3641725"/>
            <a:ext cx="3744913" cy="2308225"/>
          </a:xfrm>
          <a:prstGeom prst="rect">
            <a:avLst/>
          </a:prstGeom>
          <a:noFill/>
          <a:ln w="9525">
            <a:noFill/>
          </a:ln>
        </p:spPr>
      </p:pic>
      <p:pic>
        <p:nvPicPr>
          <p:cNvPr id="93189" name="Picture 7"/>
          <p:cNvPicPr>
            <a:picLocks noChangeAspect="1"/>
          </p:cNvPicPr>
          <p:nvPr/>
        </p:nvPicPr>
        <p:blipFill>
          <a:blip r:embed="rId2"/>
          <a:stretch>
            <a:fillRect/>
          </a:stretch>
        </p:blipFill>
        <p:spPr>
          <a:xfrm>
            <a:off x="468313" y="3619500"/>
            <a:ext cx="3816350" cy="23304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99750"/>
                                        </p:tgtEl>
                                        <p:attrNameLst>
                                          <p:attrName>style.visibility</p:attrName>
                                        </p:attrNameLst>
                                      </p:cBhvr>
                                      <p:to>
                                        <p:strVal val="visible"/>
                                      </p:to>
                                    </p:set>
                                    <p:animEffect transition="in" filter="checkerboard(across)">
                                      <p:cBhvr>
                                        <p:cTn id="7" dur="500"/>
                                        <p:tgtEl>
                                          <p:spTgt spid="7997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3"/>
          <p:cNvSpPr/>
          <p:nvPr/>
        </p:nvSpPr>
        <p:spPr>
          <a:xfrm>
            <a:off x="571500" y="1357313"/>
            <a:ext cx="8208963" cy="1754187"/>
          </a:xfrm>
          <a:prstGeom prst="rect">
            <a:avLst/>
          </a:prstGeom>
          <a:noFill/>
          <a:ln w="9525">
            <a:noFill/>
          </a:ln>
        </p:spPr>
        <p:txBody>
          <a:bodyPr anchor="ctr" anchorCtr="0">
            <a:spAutoFit/>
          </a:bodyPr>
          <a:p>
            <a:pPr eaLnBrk="1" hangingPunct="1"/>
            <a:r>
              <a:rPr lang="en-US" altLang="zh-CN" sz="2800" b="1" dirty="0">
                <a:solidFill>
                  <a:srgbClr val="CC3300"/>
                </a:solidFill>
                <a:latin typeface="楷体_GB2312" pitchFamily="49" charset="-122"/>
                <a:ea typeface="楷体_GB2312" pitchFamily="49" charset="-122"/>
              </a:rPr>
              <a:t>(2) </a:t>
            </a:r>
            <a:r>
              <a:rPr lang="zh-CN" altLang="en-US" sz="2800" b="1" dirty="0">
                <a:solidFill>
                  <a:srgbClr val="CC3300"/>
                </a:solidFill>
                <a:latin typeface="楷体_GB2312" pitchFamily="49" charset="-122"/>
                <a:ea typeface="楷体_GB2312" pitchFamily="49" charset="-122"/>
              </a:rPr>
              <a:t>模锻</a:t>
            </a:r>
            <a:endParaRPr lang="zh-CN" altLang="en-US" sz="2800" b="1" dirty="0">
              <a:solidFill>
                <a:srgbClr val="CC3300"/>
              </a:solidFill>
              <a:latin typeface="楷体_GB2312" pitchFamily="49" charset="-122"/>
              <a:ea typeface="楷体_GB2312" pitchFamily="49" charset="-122"/>
            </a:endParaRPr>
          </a:p>
          <a:p>
            <a:pPr eaLnBrk="1" hangingPunct="1"/>
            <a:r>
              <a:rPr lang="zh-CN" altLang="en-US" sz="2000" b="1" dirty="0">
                <a:solidFill>
                  <a:srgbClr val="0000FF"/>
                </a:solidFill>
                <a:latin typeface="楷体_GB2312" pitchFamily="49" charset="-122"/>
                <a:ea typeface="楷体_GB2312" pitchFamily="49" charset="-122"/>
              </a:rPr>
              <a:t>图</a:t>
            </a:r>
            <a:r>
              <a:rPr lang="en-US" altLang="zh-CN" sz="2000" b="1" dirty="0">
                <a:solidFill>
                  <a:srgbClr val="0000FF"/>
                </a:solidFill>
                <a:latin typeface="楷体_GB2312" pitchFamily="49" charset="-122"/>
                <a:ea typeface="楷体_GB2312" pitchFamily="49" charset="-122"/>
              </a:rPr>
              <a:t>3-29</a:t>
            </a:r>
            <a:r>
              <a:rPr lang="zh-CN" altLang="en-US" sz="2000" b="1" dirty="0">
                <a:solidFill>
                  <a:srgbClr val="0000FF"/>
                </a:solidFill>
                <a:latin typeface="楷体_GB2312" pitchFamily="49" charset="-122"/>
                <a:ea typeface="楷体_GB2312" pitchFamily="49" charset="-122"/>
              </a:rPr>
              <a:t>为齿轮坯的模锻锻件图。分模面选在锻件高度方向的中部。零件的轮辐部分不加工，故不留加工余量。图中内孔中部的两条水平直线为冲孔连皮切除后的痕迹线。</a:t>
            </a:r>
            <a:endParaRPr lang="zh-CN" altLang="en-US" sz="2000" b="1" dirty="0">
              <a:solidFill>
                <a:srgbClr val="0000FF"/>
              </a:solidFill>
              <a:latin typeface="楷体_GB2312" pitchFamily="49" charset="-122"/>
              <a:ea typeface="楷体_GB2312" pitchFamily="49" charset="-122"/>
            </a:endParaRPr>
          </a:p>
          <a:p>
            <a:pPr eaLnBrk="1" hangingPunct="1"/>
            <a:endParaRPr lang="zh-CN" altLang="en-US" sz="2000" b="1" dirty="0">
              <a:solidFill>
                <a:srgbClr val="0000FF"/>
              </a:solidFill>
              <a:latin typeface="楷体_GB2312" pitchFamily="49" charset="-122"/>
              <a:ea typeface="楷体_GB2312" pitchFamily="49" charset="-122"/>
            </a:endParaRPr>
          </a:p>
        </p:txBody>
      </p:sp>
      <p:pic>
        <p:nvPicPr>
          <p:cNvPr id="94211" name="Picture 6"/>
          <p:cNvPicPr>
            <a:picLocks noChangeAspect="1"/>
          </p:cNvPicPr>
          <p:nvPr/>
        </p:nvPicPr>
        <p:blipFill>
          <a:blip r:embed="rId1"/>
          <a:stretch>
            <a:fillRect/>
          </a:stretch>
        </p:blipFill>
        <p:spPr>
          <a:xfrm>
            <a:off x="3132138" y="3141663"/>
            <a:ext cx="5884862" cy="3644900"/>
          </a:xfrm>
          <a:prstGeom prst="rect">
            <a:avLst/>
          </a:prstGeom>
          <a:noFill/>
          <a:ln w="9525">
            <a:noFill/>
          </a:ln>
        </p:spPr>
      </p:pic>
      <p:sp>
        <p:nvSpPr>
          <p:cNvPr id="5" name="Rectangle 2"/>
          <p:cNvSpPr>
            <a:spLocks noChangeArrowheads="1"/>
          </p:cNvSpPr>
          <p:nvPr/>
        </p:nvSpPr>
        <p:spPr bwMode="auto">
          <a:xfrm>
            <a:off x="4067175" y="404813"/>
            <a:ext cx="2732088" cy="701675"/>
          </a:xfrm>
          <a:prstGeom prst="rect">
            <a:avLst/>
          </a:prstGeom>
          <a:noFill/>
          <a:ln>
            <a:noFill/>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dirty="0">
                <a:ln>
                  <a:noFill/>
                </a:ln>
                <a:solidFill>
                  <a:schemeClr val="tx2"/>
                </a:solidFill>
                <a:effectLst>
                  <a:outerShdw blurRad="38100" dist="38100" dir="2700000" algn="tl">
                    <a:srgbClr val="000000"/>
                  </a:outerShdw>
                </a:effectLst>
                <a:uLnTx/>
                <a:uFillTx/>
                <a:latin typeface="Verdana" panose="020B0604030504040204" pitchFamily="34" charset="0"/>
                <a:ea typeface="楷体_GB2312" pitchFamily="49" charset="-122"/>
                <a:cs typeface="+mn-cs"/>
              </a:rPr>
              <a:t>绘制锻件图</a:t>
            </a:r>
            <a:endParaRPr kumimoji="0" lang="zh-CN" altLang="en-US" sz="4000" b="1" i="0" u="none" strike="noStrike" kern="1200" cap="none" spc="0" normalizeH="0" baseline="0" noProof="0" dirty="0">
              <a:ln>
                <a:noFill/>
              </a:ln>
              <a:solidFill>
                <a:schemeClr val="tx2"/>
              </a:solidFill>
              <a:effectLst>
                <a:outerShdw blurRad="38100" dist="38100" dir="2700000" algn="tl">
                  <a:srgbClr val="000000"/>
                </a:outerShdw>
              </a:effectLst>
              <a:uLnTx/>
              <a:uFillTx/>
              <a:latin typeface="Verdana" panose="020B0604030504040204" pitchFamily="34" charset="0"/>
              <a:ea typeface="楷体_GB2312" pitchFamily="49" charset="-122"/>
              <a:cs typeface="+mn-cs"/>
            </a:endParaRPr>
          </a:p>
        </p:txBody>
      </p:sp>
      <p:pic>
        <p:nvPicPr>
          <p:cNvPr id="94213" name="Picture 2" descr="https://timgsa.baidu.com/timg?image&amp;quality=80&amp;size=b9999_10000&amp;sec=1570947196056&amp;di=460a6fdc7096999ef575997fe83343de&amp;imgtype=0&amp;src=http%3A%2F%2Fimg007.hc360.cn%2Fg8%2FM03%2FBB%2F9E%2FwKhQt1N2bG2EFZr-AAAAABtcluE649.jpg"/>
          <p:cNvPicPr>
            <a:picLocks noChangeAspect="1"/>
          </p:cNvPicPr>
          <p:nvPr/>
        </p:nvPicPr>
        <p:blipFill>
          <a:blip r:embed="rId2"/>
          <a:stretch>
            <a:fillRect/>
          </a:stretch>
        </p:blipFill>
        <p:spPr>
          <a:xfrm>
            <a:off x="512763" y="3357563"/>
            <a:ext cx="2333625" cy="1865312"/>
          </a:xfrm>
          <a:prstGeom prst="rect">
            <a:avLst/>
          </a:prstGeom>
          <a:noFill/>
          <a:ln w="9525">
            <a:noFill/>
          </a:ln>
        </p:spPr>
      </p:pic>
      <p:pic>
        <p:nvPicPr>
          <p:cNvPr id="94214" name="Picture 4" descr="https://timgsa.baidu.com/timg?image&amp;quality=80&amp;size=b9999_10000&amp;sec=1570947748983&amp;di=498f575159601fd85eb351f72219961d&amp;imgtype=0&amp;src=http%3A%2F%2Fimg010.hc360.cn%2Fhb%2FMTQ3Mzc4Nzg5OTEyMDE1OTQ4OTkxNTE%3D.jpg..180x180.jpg"/>
          <p:cNvPicPr>
            <a:picLocks noChangeAspect="1"/>
          </p:cNvPicPr>
          <p:nvPr/>
        </p:nvPicPr>
        <p:blipFill>
          <a:blip r:embed="rId3"/>
          <a:stretch>
            <a:fillRect/>
          </a:stretch>
        </p:blipFill>
        <p:spPr>
          <a:xfrm>
            <a:off x="534988" y="5445125"/>
            <a:ext cx="2284412" cy="1155700"/>
          </a:xfrm>
          <a:prstGeom prst="rect">
            <a:avLst/>
          </a:prstGeom>
          <a:noFill/>
          <a:ln w="9525">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2"/>
          <p:cNvSpPr>
            <a:spLocks noGrp="1"/>
          </p:cNvSpPr>
          <p:nvPr>
            <p:ph type="title"/>
          </p:nvPr>
        </p:nvSpPr>
        <p:spPr>
          <a:xfrm>
            <a:off x="3049588" y="76200"/>
            <a:ext cx="4330700" cy="1139825"/>
          </a:xfrm>
        </p:spPr>
        <p:txBody>
          <a:bodyPr vert="horz" wrap="square" lIns="91440" tIns="45720" rIns="91440" bIns="45720" anchor="ctr" anchorCtr="0"/>
          <a:p>
            <a:pPr eaLnBrk="1" hangingPunct="1"/>
            <a:r>
              <a:rPr lang="zh-CN" altLang="en-US" sz="4000" dirty="0">
                <a:ea typeface="楷体_GB2312" pitchFamily="49" charset="-122"/>
              </a:rPr>
              <a:t>锻件结构的工艺性</a:t>
            </a:r>
            <a:endParaRPr lang="zh-CN" altLang="en-US" sz="4000" dirty="0">
              <a:ea typeface="楷体_GB2312" pitchFamily="49" charset="-122"/>
            </a:endParaRPr>
          </a:p>
        </p:txBody>
      </p:sp>
      <p:sp>
        <p:nvSpPr>
          <p:cNvPr id="95235" name="Rectangle 6"/>
          <p:cNvSpPr/>
          <p:nvPr/>
        </p:nvSpPr>
        <p:spPr>
          <a:xfrm>
            <a:off x="304800" y="2492375"/>
            <a:ext cx="8443913" cy="1371600"/>
          </a:xfrm>
          <a:prstGeom prst="rect">
            <a:avLst/>
          </a:prstGeom>
          <a:noFill/>
          <a:ln w="9525">
            <a:noFill/>
          </a:ln>
        </p:spPr>
        <p:txBody>
          <a:bodyPr>
            <a:spAutoFit/>
          </a:bodyPr>
          <a:p>
            <a:pPr eaLnBrk="1" hangingPunct="1">
              <a:buFont typeface="Wingdings" panose="05000000000000000000" pitchFamily="2" charset="2"/>
              <a:buChar char="Ø"/>
            </a:pPr>
            <a:r>
              <a:rPr lang="zh-CN" altLang="en-US" sz="2400" b="1" dirty="0">
                <a:solidFill>
                  <a:srgbClr val="009900"/>
                </a:solidFill>
                <a:latin typeface="楷体_GB2312" pitchFamily="49" charset="-122"/>
                <a:ea typeface="楷体_GB2312" pitchFamily="49" charset="-122"/>
              </a:rPr>
              <a:t>自由锻件的结构工艺性：</a:t>
            </a:r>
            <a:endParaRPr lang="zh-CN" altLang="en-US" sz="2400" b="1" dirty="0">
              <a:solidFill>
                <a:srgbClr val="009900"/>
              </a:solidFill>
              <a:latin typeface="楷体_GB2312" pitchFamily="49" charset="-122"/>
              <a:ea typeface="楷体_GB2312" pitchFamily="49" charset="-122"/>
            </a:endParaRPr>
          </a:p>
          <a:p>
            <a:pPr eaLnBrk="1" hangingPunct="1"/>
            <a:r>
              <a:rPr lang="en-US" altLang="zh-CN" sz="2000" b="1" dirty="0">
                <a:solidFill>
                  <a:srgbClr val="CC3300"/>
                </a:solidFill>
                <a:latin typeface="楷体_GB2312" pitchFamily="49" charset="-122"/>
                <a:ea typeface="楷体_GB2312" pitchFamily="49" charset="-122"/>
              </a:rPr>
              <a:t>(1)</a:t>
            </a:r>
            <a:r>
              <a:rPr lang="zh-CN" altLang="en-US" sz="2000" b="1" dirty="0">
                <a:solidFill>
                  <a:srgbClr val="CC3300"/>
                </a:solidFill>
                <a:latin typeface="楷体_GB2312" pitchFamily="49" charset="-122"/>
                <a:ea typeface="楷体_GB2312" pitchFamily="49" charset="-122"/>
              </a:rPr>
              <a:t>避免锥体和斜面结构</a:t>
            </a:r>
            <a:r>
              <a:rPr lang="zh-CN" altLang="en-US" sz="2000" b="1" dirty="0">
                <a:latin typeface="楷体_GB2312" pitchFamily="49" charset="-122"/>
                <a:ea typeface="楷体_GB2312" pitchFamily="49" charset="-122"/>
              </a:rPr>
              <a:t> 如图</a:t>
            </a:r>
            <a:r>
              <a:rPr lang="en-US" altLang="zh-CN" sz="2000" b="1" dirty="0">
                <a:latin typeface="楷体_GB2312" pitchFamily="49" charset="-122"/>
                <a:ea typeface="楷体_GB2312" pitchFamily="49" charset="-122"/>
              </a:rPr>
              <a:t>a</a:t>
            </a:r>
            <a:r>
              <a:rPr lang="zh-CN" altLang="en-US" sz="2000" b="1" dirty="0">
                <a:latin typeface="楷体_GB2312" pitchFamily="49" charset="-122"/>
                <a:ea typeface="楷体_GB2312" pitchFamily="49" charset="-122"/>
              </a:rPr>
              <a:t>，将使锻造工艺复杂，操作不方便，降低设备的使用效率。应改进设计，如图</a:t>
            </a:r>
            <a:r>
              <a:rPr lang="en-US" altLang="zh-CN" sz="2000" b="1" dirty="0">
                <a:latin typeface="楷体_GB2312" pitchFamily="49" charset="-122"/>
                <a:ea typeface="楷体_GB2312" pitchFamily="49" charset="-122"/>
              </a:rPr>
              <a:t>b</a:t>
            </a:r>
            <a:r>
              <a:rPr lang="zh-CN" altLang="en-US" sz="2000" b="1" dirty="0">
                <a:latin typeface="楷体_GB2312" pitchFamily="49" charset="-122"/>
                <a:ea typeface="楷体_GB2312" pitchFamily="49" charset="-122"/>
              </a:rPr>
              <a:t>所示。</a:t>
            </a:r>
            <a:endParaRPr lang="zh-CN" altLang="en-US" sz="2000" b="1" dirty="0">
              <a:latin typeface="楷体_GB2312" pitchFamily="49" charset="-122"/>
              <a:ea typeface="楷体_GB2312" pitchFamily="49" charset="-122"/>
            </a:endParaRPr>
          </a:p>
          <a:p>
            <a:pPr eaLnBrk="1" hangingPunct="1">
              <a:buFont typeface="Wingdings" panose="05000000000000000000" pitchFamily="2" charset="2"/>
            </a:pPr>
            <a:endParaRPr lang="en-US" altLang="zh-CN" sz="2000" b="1" dirty="0">
              <a:solidFill>
                <a:srgbClr val="FFFF66"/>
              </a:solidFill>
              <a:latin typeface="楷体_GB2312" pitchFamily="49" charset="-122"/>
              <a:ea typeface="楷体_GB2312" pitchFamily="49" charset="-122"/>
            </a:endParaRPr>
          </a:p>
        </p:txBody>
      </p:sp>
      <p:sp>
        <p:nvSpPr>
          <p:cNvPr id="95236" name="Rectangle 17"/>
          <p:cNvSpPr/>
          <p:nvPr/>
        </p:nvSpPr>
        <p:spPr>
          <a:xfrm>
            <a:off x="449263" y="1412875"/>
            <a:ext cx="8443912" cy="1006475"/>
          </a:xfrm>
          <a:prstGeom prst="rect">
            <a:avLst/>
          </a:prstGeom>
          <a:noFill/>
          <a:ln w="9525">
            <a:noFill/>
          </a:ln>
        </p:spPr>
        <p:txBody>
          <a:bodyPr>
            <a:spAutoFit/>
          </a:bodyPr>
          <a:p>
            <a:pPr eaLnBrk="1" hangingPunct="1">
              <a:spcBef>
                <a:spcPct val="50000"/>
              </a:spcBef>
            </a:pPr>
            <a:r>
              <a:rPr lang="en-US" altLang="zh-CN" dirty="0">
                <a:latin typeface="GreekS" pitchFamily="2" charset="0"/>
              </a:rPr>
              <a:t>        </a:t>
            </a:r>
            <a:r>
              <a:rPr lang="zh-CN" altLang="en-US" sz="2000" b="1" dirty="0">
                <a:latin typeface="GreekS" pitchFamily="2" charset="0"/>
                <a:ea typeface="楷体_GB2312" pitchFamily="49" charset="-122"/>
              </a:rPr>
              <a:t>设计锻造成形的零件时，除应满足使用性能要求外，还必须考虑锻造工艺的特点，</a:t>
            </a:r>
            <a:r>
              <a:rPr lang="zh-CN" altLang="en-US" sz="2000" b="1" dirty="0">
                <a:solidFill>
                  <a:srgbClr val="FF0000"/>
                </a:solidFill>
                <a:latin typeface="GreekS" pitchFamily="2" charset="0"/>
                <a:ea typeface="楷体_GB2312" pitchFamily="49" charset="-122"/>
              </a:rPr>
              <a:t>即锻造成形的零件结构要具有良好的工艺性</a:t>
            </a:r>
            <a:r>
              <a:rPr lang="zh-CN" altLang="en-US" sz="2000" b="1" dirty="0">
                <a:latin typeface="GreekS" pitchFamily="2" charset="0"/>
                <a:ea typeface="楷体_GB2312" pitchFamily="49" charset="-122"/>
              </a:rPr>
              <a:t>。这样可</a:t>
            </a:r>
            <a:r>
              <a:rPr lang="zh-CN" altLang="en-US" sz="2000" b="1" dirty="0">
                <a:solidFill>
                  <a:srgbClr val="0000FF"/>
                </a:solidFill>
                <a:latin typeface="GreekS" pitchFamily="2" charset="0"/>
                <a:ea typeface="楷体_GB2312" pitchFamily="49" charset="-122"/>
              </a:rPr>
              <a:t>使锻造成形方便，节约金属，保证质量和提高生产率。</a:t>
            </a:r>
            <a:endParaRPr lang="zh-CN" altLang="en-US" sz="2000" b="1" dirty="0">
              <a:solidFill>
                <a:srgbClr val="0000FF"/>
              </a:solidFill>
              <a:latin typeface="GreekS" pitchFamily="2" charset="0"/>
              <a:ea typeface="楷体_GB2312" pitchFamily="49" charset="-122"/>
            </a:endParaRPr>
          </a:p>
        </p:txBody>
      </p:sp>
      <p:pic>
        <p:nvPicPr>
          <p:cNvPr id="95237" name="Picture 1028" descr="333"/>
          <p:cNvPicPr>
            <a:picLocks noChangeAspect="1"/>
          </p:cNvPicPr>
          <p:nvPr/>
        </p:nvPicPr>
        <p:blipFill>
          <a:blip r:embed="rId1"/>
          <a:srcRect l="10712" t="4285" b="1418"/>
          <a:stretch>
            <a:fillRect/>
          </a:stretch>
        </p:blipFill>
        <p:spPr>
          <a:xfrm>
            <a:off x="827088" y="3716338"/>
            <a:ext cx="7416800" cy="3095625"/>
          </a:xfrm>
          <a:prstGeom prst="rect">
            <a:avLst/>
          </a:prstGeom>
          <a:noFill/>
          <a:ln w="9525">
            <a:noFill/>
          </a:ln>
        </p:spPr>
      </p:pic>
      <p:sp>
        <p:nvSpPr>
          <p:cNvPr id="95238" name="AutoShape 1029"/>
          <p:cNvSpPr/>
          <p:nvPr/>
        </p:nvSpPr>
        <p:spPr>
          <a:xfrm>
            <a:off x="2555875" y="3644900"/>
            <a:ext cx="288925" cy="360363"/>
          </a:xfrm>
          <a:prstGeom prst="irregularSeal1">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95239" name="AutoShape 1030"/>
          <p:cNvSpPr/>
          <p:nvPr/>
        </p:nvSpPr>
        <p:spPr>
          <a:xfrm>
            <a:off x="1476375" y="5013325"/>
            <a:ext cx="288925" cy="360363"/>
          </a:xfrm>
          <a:prstGeom prst="irregularSeal1">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2"/>
          <p:cNvSpPr>
            <a:spLocks noGrp="1"/>
          </p:cNvSpPr>
          <p:nvPr>
            <p:ph type="title"/>
          </p:nvPr>
        </p:nvSpPr>
        <p:spPr>
          <a:xfrm>
            <a:off x="3194050" y="346075"/>
            <a:ext cx="4546600" cy="779463"/>
          </a:xfrm>
        </p:spPr>
        <p:txBody>
          <a:bodyPr vert="horz" wrap="square" lIns="91440" tIns="45720" rIns="91440" bIns="45720" anchor="ctr" anchorCtr="0"/>
          <a:p>
            <a:pPr eaLnBrk="1" hangingPunct="1"/>
            <a:r>
              <a:rPr lang="zh-CN" altLang="en-US" sz="4000" dirty="0">
                <a:ea typeface="楷体_GB2312" pitchFamily="49" charset="-122"/>
              </a:rPr>
              <a:t>锻件结构的工艺性</a:t>
            </a:r>
            <a:endParaRPr lang="zh-CN" altLang="en-US" sz="4000" dirty="0">
              <a:ea typeface="楷体_GB2312" pitchFamily="49" charset="-122"/>
            </a:endParaRPr>
          </a:p>
        </p:txBody>
      </p:sp>
      <p:sp>
        <p:nvSpPr>
          <p:cNvPr id="96259" name="Rectangle 3"/>
          <p:cNvSpPr/>
          <p:nvPr/>
        </p:nvSpPr>
        <p:spPr>
          <a:xfrm>
            <a:off x="228600" y="1357313"/>
            <a:ext cx="8534400" cy="1676400"/>
          </a:xfrm>
          <a:prstGeom prst="rect">
            <a:avLst/>
          </a:prstGeom>
          <a:noFill/>
          <a:ln w="9525">
            <a:noFill/>
          </a:ln>
        </p:spPr>
        <p:txBody>
          <a:bodyPr>
            <a:spAutoFit/>
          </a:bodyPr>
          <a:p>
            <a:pPr eaLnBrk="1" hangingPunct="1">
              <a:buFont typeface="Wingdings" panose="05000000000000000000" pitchFamily="2" charset="2"/>
              <a:buChar char="Ø"/>
            </a:pPr>
            <a:r>
              <a:rPr lang="zh-CN" altLang="en-US" sz="2400" b="1" dirty="0">
                <a:solidFill>
                  <a:srgbClr val="CC3300"/>
                </a:solidFill>
                <a:latin typeface="楷体_GB2312" pitchFamily="49" charset="-122"/>
                <a:ea typeface="楷体_GB2312" pitchFamily="49" charset="-122"/>
              </a:rPr>
              <a:t>自由锻件的结构工艺性：</a:t>
            </a:r>
            <a:endParaRPr lang="zh-CN" altLang="en-US" sz="2400" b="1" dirty="0">
              <a:solidFill>
                <a:srgbClr val="CC3300"/>
              </a:solidFill>
              <a:latin typeface="楷体_GB2312" pitchFamily="49" charset="-122"/>
              <a:ea typeface="楷体_GB2312" pitchFamily="49" charset="-122"/>
            </a:endParaRPr>
          </a:p>
          <a:p>
            <a:pPr eaLnBrk="1" hangingPunct="1"/>
            <a:r>
              <a:rPr lang="zh-CN" altLang="en-US" sz="2000" b="1" dirty="0">
                <a:solidFill>
                  <a:srgbClr val="009900"/>
                </a:solidFill>
                <a:latin typeface="楷体_GB2312" pitchFamily="49" charset="-122"/>
                <a:ea typeface="楷体_GB2312" pitchFamily="49" charset="-122"/>
              </a:rPr>
              <a:t>（</a:t>
            </a:r>
            <a:r>
              <a:rPr lang="en-US" altLang="zh-CN" sz="2000" b="1" dirty="0">
                <a:solidFill>
                  <a:srgbClr val="009900"/>
                </a:solidFill>
                <a:latin typeface="楷体_GB2312" pitchFamily="49" charset="-122"/>
                <a:ea typeface="楷体_GB2312" pitchFamily="49" charset="-122"/>
              </a:rPr>
              <a:t>2</a:t>
            </a:r>
            <a:r>
              <a:rPr lang="zh-CN" altLang="en-US" sz="2000" b="1" dirty="0">
                <a:solidFill>
                  <a:srgbClr val="009900"/>
                </a:solidFill>
                <a:latin typeface="楷体_GB2312" pitchFamily="49" charset="-122"/>
                <a:ea typeface="楷体_GB2312" pitchFamily="49" charset="-122"/>
              </a:rPr>
              <a:t>）避免相贯线复杂空间曲线</a:t>
            </a:r>
            <a:r>
              <a:rPr lang="zh-CN" altLang="en-US" sz="2000" b="1" dirty="0">
                <a:latin typeface="楷体_GB2312" pitchFamily="49" charset="-122"/>
                <a:ea typeface="楷体_GB2312" pitchFamily="49" charset="-122"/>
              </a:rPr>
              <a:t>  锻件由数个简单几何体构成时，几何体间的交接处不应形成空间曲线。图</a:t>
            </a:r>
            <a:r>
              <a:rPr lang="en-US" altLang="zh-CN" sz="2000" b="1" dirty="0">
                <a:latin typeface="楷体_GB2312" pitchFamily="49" charset="-122"/>
                <a:ea typeface="楷体_GB2312" pitchFamily="49" charset="-122"/>
              </a:rPr>
              <a:t>a</a:t>
            </a:r>
            <a:r>
              <a:rPr lang="zh-CN" altLang="en-US" sz="2000" b="1" dirty="0">
                <a:latin typeface="楷体_GB2312" pitchFamily="49" charset="-122"/>
                <a:ea typeface="楷体_GB2312" pitchFamily="49" charset="-122"/>
              </a:rPr>
              <a:t>所示结构，采用自由锻方法极难成形，应改成平面与圆柱、平面与平面相接的结构（图</a:t>
            </a:r>
            <a:r>
              <a:rPr lang="en-US" altLang="zh-CN" sz="2000" b="1" dirty="0">
                <a:latin typeface="楷体_GB2312" pitchFamily="49" charset="-122"/>
                <a:ea typeface="楷体_GB2312" pitchFamily="49" charset="-122"/>
              </a:rPr>
              <a:t>b</a:t>
            </a:r>
            <a:r>
              <a:rPr lang="zh-CN" altLang="en-US" sz="2000" b="1" dirty="0">
                <a:latin typeface="楷体_GB2312" pitchFamily="49" charset="-122"/>
                <a:ea typeface="楷体_GB2312" pitchFamily="49" charset="-122"/>
              </a:rPr>
              <a:t>）。</a:t>
            </a:r>
            <a:endParaRPr lang="zh-CN" altLang="en-US" sz="2000" b="1" dirty="0">
              <a:latin typeface="楷体_GB2312" pitchFamily="49" charset="-122"/>
              <a:ea typeface="楷体_GB2312" pitchFamily="49" charset="-122"/>
            </a:endParaRPr>
          </a:p>
          <a:p>
            <a:pPr eaLnBrk="1" hangingPunct="1">
              <a:buFont typeface="Wingdings" panose="05000000000000000000" pitchFamily="2" charset="2"/>
            </a:pPr>
            <a:endParaRPr lang="en-US" altLang="zh-CN" sz="2000" b="1" dirty="0">
              <a:solidFill>
                <a:srgbClr val="FFFF66"/>
              </a:solidFill>
              <a:latin typeface="楷体_GB2312" pitchFamily="49" charset="-122"/>
              <a:ea typeface="楷体_GB2312" pitchFamily="49" charset="-122"/>
            </a:endParaRPr>
          </a:p>
        </p:txBody>
      </p:sp>
      <p:pic>
        <p:nvPicPr>
          <p:cNvPr id="96260" name="Picture 2052" descr="334"/>
          <p:cNvPicPr>
            <a:picLocks noChangeAspect="1"/>
          </p:cNvPicPr>
          <p:nvPr/>
        </p:nvPicPr>
        <p:blipFill>
          <a:blip r:embed="rId1"/>
          <a:srcRect l="3958" t="3146" r="320" b="1364"/>
          <a:stretch>
            <a:fillRect/>
          </a:stretch>
        </p:blipFill>
        <p:spPr>
          <a:xfrm>
            <a:off x="1476375" y="2882900"/>
            <a:ext cx="6335713" cy="3975100"/>
          </a:xfrm>
          <a:prstGeom prst="rect">
            <a:avLst/>
          </a:prstGeom>
          <a:noFill/>
          <a:ln w="9525">
            <a:noFill/>
          </a:ln>
        </p:spPr>
      </p:pic>
      <p:sp>
        <p:nvSpPr>
          <p:cNvPr id="96261" name="AutoShape 2053"/>
          <p:cNvSpPr/>
          <p:nvPr/>
        </p:nvSpPr>
        <p:spPr>
          <a:xfrm>
            <a:off x="2339975" y="2852738"/>
            <a:ext cx="215900" cy="217487"/>
          </a:xfrm>
          <a:prstGeom prst="irregularSeal1">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96262" name="AutoShape 2054"/>
          <p:cNvSpPr/>
          <p:nvPr/>
        </p:nvSpPr>
        <p:spPr>
          <a:xfrm>
            <a:off x="1835150" y="4724400"/>
            <a:ext cx="215900" cy="217488"/>
          </a:xfrm>
          <a:prstGeom prst="irregularSeal1">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2"/>
          <p:cNvSpPr>
            <a:spLocks noGrp="1"/>
          </p:cNvSpPr>
          <p:nvPr>
            <p:ph type="title"/>
          </p:nvPr>
        </p:nvSpPr>
        <p:spPr>
          <a:xfrm>
            <a:off x="3049588" y="273050"/>
            <a:ext cx="4402137" cy="923925"/>
          </a:xfrm>
        </p:spPr>
        <p:txBody>
          <a:bodyPr vert="horz" wrap="square" lIns="91440" tIns="45720" rIns="91440" bIns="45720" anchor="ctr" anchorCtr="0"/>
          <a:p>
            <a:pPr eaLnBrk="1" hangingPunct="1"/>
            <a:r>
              <a:rPr lang="zh-CN" altLang="en-US" sz="4000" dirty="0">
                <a:ea typeface="楷体_GB2312" pitchFamily="49" charset="-122"/>
              </a:rPr>
              <a:t>锻件结构的工艺性</a:t>
            </a:r>
            <a:endParaRPr lang="zh-CN" altLang="en-US" sz="4000" dirty="0">
              <a:ea typeface="楷体_GB2312" pitchFamily="49" charset="-122"/>
            </a:endParaRPr>
          </a:p>
        </p:txBody>
      </p:sp>
      <p:sp>
        <p:nvSpPr>
          <p:cNvPr id="97283" name="Rectangle 3"/>
          <p:cNvSpPr/>
          <p:nvPr/>
        </p:nvSpPr>
        <p:spPr>
          <a:xfrm>
            <a:off x="134938" y="2374900"/>
            <a:ext cx="4248150" cy="3046413"/>
          </a:xfrm>
          <a:prstGeom prst="rect">
            <a:avLst/>
          </a:prstGeom>
          <a:noFill/>
          <a:ln w="9525">
            <a:noFill/>
          </a:ln>
        </p:spPr>
        <p:txBody>
          <a:bodyPr>
            <a:spAutoFit/>
          </a:bodyPr>
          <a:p>
            <a:pPr eaLnBrk="1" hangingPunct="1">
              <a:buFont typeface="Wingdings" panose="05000000000000000000" pitchFamily="2" charset="2"/>
              <a:buChar char="Ø"/>
            </a:pPr>
            <a:r>
              <a:rPr lang="zh-CN" altLang="en-US" sz="2800" b="1" dirty="0">
                <a:solidFill>
                  <a:srgbClr val="CC3300"/>
                </a:solidFill>
                <a:latin typeface="楷体_GB2312" pitchFamily="49" charset="-122"/>
                <a:ea typeface="楷体_GB2312" pitchFamily="49" charset="-122"/>
              </a:rPr>
              <a:t>自由锻件的结构工艺性：</a:t>
            </a:r>
            <a:endParaRPr lang="zh-CN" altLang="en-US" sz="2800" b="1" dirty="0">
              <a:solidFill>
                <a:srgbClr val="CC3300"/>
              </a:solidFill>
              <a:latin typeface="楷体_GB2312" pitchFamily="49" charset="-122"/>
              <a:ea typeface="楷体_GB2312" pitchFamily="49" charset="-122"/>
            </a:endParaRPr>
          </a:p>
          <a:p>
            <a:pPr eaLnBrk="1" hangingPunct="1"/>
            <a:r>
              <a:rPr lang="zh-CN" altLang="en-US" sz="2400" b="1" dirty="0">
                <a:solidFill>
                  <a:srgbClr val="009900"/>
                </a:solidFill>
                <a:latin typeface="楷体_GB2312" pitchFamily="49" charset="-122"/>
                <a:ea typeface="楷体_GB2312" pitchFamily="49" charset="-122"/>
              </a:rPr>
              <a:t>（</a:t>
            </a:r>
            <a:r>
              <a:rPr lang="en-US" altLang="zh-CN" sz="2400" b="1" dirty="0">
                <a:solidFill>
                  <a:srgbClr val="009900"/>
                </a:solidFill>
                <a:latin typeface="楷体_GB2312" pitchFamily="49" charset="-122"/>
                <a:ea typeface="楷体_GB2312" pitchFamily="49" charset="-122"/>
              </a:rPr>
              <a:t>3</a:t>
            </a:r>
            <a:r>
              <a:rPr lang="zh-CN" altLang="en-US" sz="2400" b="1" dirty="0">
                <a:solidFill>
                  <a:srgbClr val="009900"/>
                </a:solidFill>
                <a:latin typeface="楷体_GB2312" pitchFamily="49" charset="-122"/>
                <a:ea typeface="楷体_GB2312" pitchFamily="49" charset="-122"/>
              </a:rPr>
              <a:t>）避免加强筋、凸台、工字形截面或空间曲线形表面</a:t>
            </a:r>
            <a:r>
              <a:rPr lang="zh-CN" altLang="en-US" sz="2400" b="1" dirty="0">
                <a:latin typeface="楷体_GB2312" pitchFamily="49" charset="-122"/>
                <a:ea typeface="楷体_GB2312" pitchFamily="49" charset="-122"/>
              </a:rPr>
              <a:t>  自由锻锻件上不应设计出加强筋、凸台、工字形截面或空间曲线形表面（图</a:t>
            </a:r>
            <a:r>
              <a:rPr lang="en-US" altLang="zh-CN" sz="2400" b="1" dirty="0">
                <a:latin typeface="楷体_GB2312" pitchFamily="49" charset="-122"/>
                <a:ea typeface="楷体_GB2312" pitchFamily="49" charset="-122"/>
              </a:rPr>
              <a:t>a</a:t>
            </a:r>
            <a:r>
              <a:rPr lang="zh-CN" altLang="en-US" sz="2400" b="1" dirty="0">
                <a:latin typeface="楷体_GB2312" pitchFamily="49" charset="-122"/>
                <a:ea typeface="楷体_GB2312" pitchFamily="49" charset="-122"/>
              </a:rPr>
              <a:t>），应将锻件结构改成如图</a:t>
            </a:r>
            <a:r>
              <a:rPr lang="en-US" altLang="zh-CN" sz="2400" b="1" dirty="0">
                <a:latin typeface="楷体_GB2312" pitchFamily="49" charset="-122"/>
                <a:ea typeface="楷体_GB2312" pitchFamily="49" charset="-122"/>
              </a:rPr>
              <a:t>b</a:t>
            </a:r>
            <a:r>
              <a:rPr lang="zh-CN" altLang="en-US" sz="2400" b="1" dirty="0">
                <a:latin typeface="楷体_GB2312" pitchFamily="49" charset="-122"/>
                <a:ea typeface="楷体_GB2312" pitchFamily="49" charset="-122"/>
              </a:rPr>
              <a:t>所示结构。</a:t>
            </a:r>
            <a:endParaRPr lang="zh-CN" altLang="en-US" sz="2400" b="1" dirty="0">
              <a:latin typeface="楷体_GB2312" pitchFamily="49" charset="-122"/>
              <a:ea typeface="楷体_GB2312" pitchFamily="49" charset="-122"/>
            </a:endParaRPr>
          </a:p>
          <a:p>
            <a:pPr eaLnBrk="1" hangingPunct="1">
              <a:buFont typeface="Wingdings" panose="05000000000000000000" pitchFamily="2" charset="2"/>
            </a:pPr>
            <a:endParaRPr lang="en-US" altLang="zh-CN" sz="2000" b="1" dirty="0">
              <a:solidFill>
                <a:srgbClr val="FFFF66"/>
              </a:solidFill>
              <a:latin typeface="楷体_GB2312" pitchFamily="49" charset="-122"/>
              <a:ea typeface="楷体_GB2312" pitchFamily="49" charset="-122"/>
            </a:endParaRPr>
          </a:p>
        </p:txBody>
      </p:sp>
      <p:pic>
        <p:nvPicPr>
          <p:cNvPr id="97284" name="Picture 9" descr="335"/>
          <p:cNvPicPr>
            <a:picLocks noChangeAspect="1"/>
          </p:cNvPicPr>
          <p:nvPr/>
        </p:nvPicPr>
        <p:blipFill>
          <a:blip r:embed="rId1"/>
          <a:srcRect l="4742" t="949" r="1389" b="1456"/>
          <a:stretch>
            <a:fillRect/>
          </a:stretch>
        </p:blipFill>
        <p:spPr>
          <a:xfrm>
            <a:off x="4572000" y="1341438"/>
            <a:ext cx="4068763" cy="5256212"/>
          </a:xfrm>
          <a:prstGeom prst="rect">
            <a:avLst/>
          </a:prstGeom>
          <a:noFill/>
          <a:ln w="9525">
            <a:noFill/>
          </a:ln>
        </p:spPr>
      </p:pic>
      <p:sp>
        <p:nvSpPr>
          <p:cNvPr id="97285" name="AutoShape 10"/>
          <p:cNvSpPr/>
          <p:nvPr/>
        </p:nvSpPr>
        <p:spPr>
          <a:xfrm>
            <a:off x="5219700" y="1341438"/>
            <a:ext cx="215900" cy="217487"/>
          </a:xfrm>
          <a:prstGeom prst="irregularSeal1">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97286" name="AutoShape 11"/>
          <p:cNvSpPr/>
          <p:nvPr/>
        </p:nvSpPr>
        <p:spPr>
          <a:xfrm>
            <a:off x="5292725" y="3284538"/>
            <a:ext cx="215900" cy="217487"/>
          </a:xfrm>
          <a:prstGeom prst="irregularSeal1">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97287" name="AutoShape 12"/>
          <p:cNvSpPr/>
          <p:nvPr/>
        </p:nvSpPr>
        <p:spPr>
          <a:xfrm>
            <a:off x="4643438" y="3789363"/>
            <a:ext cx="215900" cy="217487"/>
          </a:xfrm>
          <a:prstGeom prst="irregularSeal1">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97288" name="AutoShape 13"/>
          <p:cNvSpPr/>
          <p:nvPr/>
        </p:nvSpPr>
        <p:spPr>
          <a:xfrm>
            <a:off x="4500563" y="4797425"/>
            <a:ext cx="215900" cy="217488"/>
          </a:xfrm>
          <a:prstGeom prst="irregularSeal1">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2"/>
          <p:cNvSpPr>
            <a:spLocks noGrp="1"/>
          </p:cNvSpPr>
          <p:nvPr>
            <p:ph type="title"/>
          </p:nvPr>
        </p:nvSpPr>
        <p:spPr>
          <a:xfrm>
            <a:off x="2978150" y="273050"/>
            <a:ext cx="4402138" cy="923925"/>
          </a:xfrm>
        </p:spPr>
        <p:txBody>
          <a:bodyPr vert="horz" wrap="square" lIns="91440" tIns="45720" rIns="91440" bIns="45720" anchor="ctr" anchorCtr="0"/>
          <a:p>
            <a:pPr eaLnBrk="1" hangingPunct="1"/>
            <a:r>
              <a:rPr lang="zh-CN" altLang="en-US" sz="4000" dirty="0">
                <a:ea typeface="楷体_GB2312" pitchFamily="49" charset="-122"/>
              </a:rPr>
              <a:t>锻件结构的工艺性</a:t>
            </a:r>
            <a:endParaRPr lang="zh-CN" altLang="en-US" sz="4000" dirty="0">
              <a:ea typeface="楷体_GB2312" pitchFamily="49" charset="-122"/>
            </a:endParaRPr>
          </a:p>
        </p:txBody>
      </p:sp>
      <p:sp>
        <p:nvSpPr>
          <p:cNvPr id="98307" name="Rectangle 3"/>
          <p:cNvSpPr/>
          <p:nvPr/>
        </p:nvSpPr>
        <p:spPr>
          <a:xfrm>
            <a:off x="596900" y="1416050"/>
            <a:ext cx="8078788" cy="1979613"/>
          </a:xfrm>
          <a:prstGeom prst="rect">
            <a:avLst/>
          </a:prstGeom>
          <a:noFill/>
          <a:ln w="9525">
            <a:noFill/>
          </a:ln>
        </p:spPr>
        <p:txBody>
          <a:bodyPr>
            <a:spAutoFit/>
          </a:bodyPr>
          <a:p>
            <a:pPr eaLnBrk="1" hangingPunct="1">
              <a:buFont typeface="Wingdings" panose="05000000000000000000" pitchFamily="2" charset="2"/>
              <a:buChar char="Ø"/>
            </a:pPr>
            <a:r>
              <a:rPr lang="zh-CN" altLang="en-US" sz="2800" b="1" dirty="0">
                <a:solidFill>
                  <a:srgbClr val="CC3300"/>
                </a:solidFill>
                <a:latin typeface="楷体_GB2312" pitchFamily="49" charset="-122"/>
                <a:ea typeface="楷体_GB2312" pitchFamily="49" charset="-122"/>
              </a:rPr>
              <a:t>自由锻件的结构工艺性：</a:t>
            </a:r>
            <a:endParaRPr lang="zh-CN" altLang="en-US" sz="2800" b="1" dirty="0">
              <a:solidFill>
                <a:srgbClr val="CC3300"/>
              </a:solidFill>
              <a:latin typeface="楷体_GB2312" pitchFamily="49" charset="-122"/>
              <a:ea typeface="楷体_GB2312" pitchFamily="49" charset="-122"/>
            </a:endParaRPr>
          </a:p>
          <a:p>
            <a:pPr eaLnBrk="1" hangingPunct="1"/>
            <a:r>
              <a:rPr lang="zh-CN" altLang="en-US" sz="2400" b="1" dirty="0">
                <a:solidFill>
                  <a:srgbClr val="009900"/>
                </a:solidFill>
                <a:latin typeface="楷体_GB2312" pitchFamily="49" charset="-122"/>
                <a:ea typeface="楷体_GB2312" pitchFamily="49" charset="-122"/>
              </a:rPr>
              <a:t>（</a:t>
            </a:r>
            <a:r>
              <a:rPr lang="en-US" altLang="zh-CN" sz="2400" b="1" dirty="0">
                <a:solidFill>
                  <a:srgbClr val="009900"/>
                </a:solidFill>
                <a:latin typeface="楷体_GB2312" pitchFamily="49" charset="-122"/>
                <a:ea typeface="楷体_GB2312" pitchFamily="49" charset="-122"/>
              </a:rPr>
              <a:t>4</a:t>
            </a:r>
            <a:r>
              <a:rPr lang="zh-CN" altLang="en-US" sz="2400" b="1" dirty="0">
                <a:solidFill>
                  <a:srgbClr val="009900"/>
                </a:solidFill>
                <a:latin typeface="楷体_GB2312" pitchFamily="49" charset="-122"/>
                <a:ea typeface="楷体_GB2312" pitchFamily="49" charset="-122"/>
              </a:rPr>
              <a:t>）锻件横截面有急剧变化或形状较复杂时，应</a:t>
            </a:r>
            <a:r>
              <a:rPr lang="zh-CN" altLang="en-US" sz="2400" b="1" dirty="0">
                <a:latin typeface="楷体_GB2312" pitchFamily="49" charset="-122"/>
                <a:ea typeface="楷体_GB2312" pitchFamily="49" charset="-122"/>
              </a:rPr>
              <a:t>设计成由几个简单件构成的组合体，</a:t>
            </a:r>
            <a:r>
              <a:rPr lang="zh-CN" altLang="en-US" sz="2400" b="1" dirty="0">
                <a:solidFill>
                  <a:srgbClr val="FF0066"/>
                </a:solidFill>
                <a:latin typeface="楷体_GB2312" pitchFamily="49" charset="-122"/>
                <a:ea typeface="楷体_GB2312" pitchFamily="49" charset="-122"/>
              </a:rPr>
              <a:t>锻－焊结合或锻－机械</a:t>
            </a:r>
            <a:r>
              <a:rPr lang="zh-CN" altLang="en-US" sz="2400" b="1" dirty="0">
                <a:latin typeface="楷体_GB2312" pitchFamily="49" charset="-122"/>
                <a:ea typeface="楷体_GB2312" pitchFamily="49" charset="-122"/>
              </a:rPr>
              <a:t>连接结合工艺（图</a:t>
            </a:r>
            <a:r>
              <a:rPr lang="en-US" altLang="zh-CN" sz="2400" b="1" dirty="0">
                <a:latin typeface="楷体_GB2312" pitchFamily="49" charset="-122"/>
                <a:ea typeface="楷体_GB2312" pitchFamily="49" charset="-122"/>
              </a:rPr>
              <a:t>3.36</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a:p>
            <a:pPr eaLnBrk="1" hangingPunct="1">
              <a:buFont typeface="Wingdings" panose="05000000000000000000" pitchFamily="2" charset="2"/>
            </a:pPr>
            <a:endParaRPr lang="en-US" altLang="zh-CN" sz="2400" b="1" dirty="0">
              <a:solidFill>
                <a:srgbClr val="FFFF66"/>
              </a:solidFill>
              <a:latin typeface="楷体_GB2312" pitchFamily="49" charset="-122"/>
              <a:ea typeface="楷体_GB2312" pitchFamily="49" charset="-122"/>
            </a:endParaRPr>
          </a:p>
        </p:txBody>
      </p:sp>
      <p:pic>
        <p:nvPicPr>
          <p:cNvPr id="98308" name="Picture 9" descr="336"/>
          <p:cNvPicPr>
            <a:picLocks noChangeAspect="1"/>
          </p:cNvPicPr>
          <p:nvPr/>
        </p:nvPicPr>
        <p:blipFill>
          <a:blip r:embed="rId1"/>
          <a:srcRect l="11751" t="7858" r="1283" b="2603"/>
          <a:stretch>
            <a:fillRect/>
          </a:stretch>
        </p:blipFill>
        <p:spPr>
          <a:xfrm>
            <a:off x="1116013" y="3024188"/>
            <a:ext cx="7127875" cy="3833812"/>
          </a:xfrm>
          <a:prstGeom prst="rect">
            <a:avLst/>
          </a:prstGeom>
          <a:noFill/>
          <a:ln w="9525">
            <a:noFill/>
          </a:ln>
        </p:spPr>
      </p:pic>
      <p:sp>
        <p:nvSpPr>
          <p:cNvPr id="98309" name="AutoShape 10"/>
          <p:cNvSpPr/>
          <p:nvPr/>
        </p:nvSpPr>
        <p:spPr>
          <a:xfrm>
            <a:off x="1835150" y="3213100"/>
            <a:ext cx="215900" cy="217488"/>
          </a:xfrm>
          <a:prstGeom prst="irregularSeal1">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98310" name="AutoShape 11"/>
          <p:cNvSpPr/>
          <p:nvPr/>
        </p:nvSpPr>
        <p:spPr>
          <a:xfrm>
            <a:off x="2411413" y="4581525"/>
            <a:ext cx="215900" cy="217488"/>
          </a:xfrm>
          <a:prstGeom prst="irregularSeal1">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2"/>
          <p:cNvSpPr>
            <a:spLocks noGrp="1"/>
          </p:cNvSpPr>
          <p:nvPr>
            <p:ph type="title"/>
          </p:nvPr>
        </p:nvSpPr>
        <p:spPr>
          <a:xfrm>
            <a:off x="3194050" y="220663"/>
            <a:ext cx="4473575" cy="904875"/>
          </a:xfrm>
        </p:spPr>
        <p:txBody>
          <a:bodyPr vert="horz" wrap="square" lIns="91440" tIns="45720" rIns="91440" bIns="45720" anchor="ctr" anchorCtr="0"/>
          <a:p>
            <a:pPr eaLnBrk="1" hangingPunct="1"/>
            <a:r>
              <a:rPr lang="zh-CN" altLang="en-US" sz="4000" dirty="0">
                <a:ea typeface="楷体_GB2312" pitchFamily="49" charset="-122"/>
              </a:rPr>
              <a:t>锻件结构的工艺性</a:t>
            </a:r>
            <a:endParaRPr lang="zh-CN" altLang="en-US" sz="4000" dirty="0">
              <a:ea typeface="楷体_GB2312" pitchFamily="49" charset="-122"/>
            </a:endParaRPr>
          </a:p>
        </p:txBody>
      </p:sp>
      <p:sp>
        <p:nvSpPr>
          <p:cNvPr id="99331" name="Rectangle 6"/>
          <p:cNvSpPr/>
          <p:nvPr/>
        </p:nvSpPr>
        <p:spPr>
          <a:xfrm>
            <a:off x="250825" y="1268413"/>
            <a:ext cx="8569325" cy="1249362"/>
          </a:xfrm>
          <a:prstGeom prst="rect">
            <a:avLst/>
          </a:prstGeom>
          <a:noFill/>
          <a:ln w="9525">
            <a:noFill/>
          </a:ln>
        </p:spPr>
        <p:txBody>
          <a:bodyPr anchor="ctr" anchorCtr="0">
            <a:spAutoFit/>
          </a:bodyPr>
          <a:p>
            <a:pPr indent="114300" eaLnBrk="1" hangingPunct="1">
              <a:buFont typeface="Wingdings" panose="05000000000000000000" pitchFamily="2" charset="2"/>
              <a:buChar char="Ø"/>
            </a:pPr>
            <a:r>
              <a:rPr lang="zh-CN" altLang="en-US" sz="2800" b="1" dirty="0">
                <a:solidFill>
                  <a:srgbClr val="CC3300"/>
                </a:solidFill>
                <a:latin typeface="楷体_GB2312" pitchFamily="49" charset="-122"/>
                <a:ea typeface="楷体_GB2312" pitchFamily="49" charset="-122"/>
              </a:rPr>
              <a:t>模锻件的结构工艺性</a:t>
            </a:r>
            <a:endParaRPr lang="zh-CN" altLang="en-US" sz="2800" b="1" dirty="0">
              <a:solidFill>
                <a:srgbClr val="CC3300"/>
              </a:solidFill>
              <a:latin typeface="楷体_GB2312" pitchFamily="49" charset="-122"/>
              <a:ea typeface="楷体_GB2312" pitchFamily="49" charset="-122"/>
            </a:endParaRPr>
          </a:p>
          <a:p>
            <a:pPr indent="114300" eaLnBrk="1" hangingPunct="1"/>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）合理的</a:t>
            </a:r>
            <a:r>
              <a:rPr lang="zh-CN" altLang="en-US" sz="2400" b="1" dirty="0">
                <a:solidFill>
                  <a:srgbClr val="FF0066"/>
                </a:solidFill>
                <a:latin typeface="楷体_GB2312" pitchFamily="49" charset="-122"/>
                <a:ea typeface="楷体_GB2312" pitchFamily="49" charset="-122"/>
              </a:rPr>
              <a:t>分模面，</a:t>
            </a:r>
            <a:r>
              <a:rPr lang="zh-CN" altLang="en-US" sz="2400" b="1" dirty="0">
                <a:latin typeface="楷体_GB2312" pitchFamily="49" charset="-122"/>
                <a:ea typeface="楷体_GB2312" pitchFamily="49" charset="-122"/>
              </a:rPr>
              <a:t>以保证模锻成形后，容易从锻模中取出锻件，应使余块最少，锻模容易制造。</a:t>
            </a:r>
            <a:endParaRPr lang="zh-CN" altLang="en-US" sz="2400" b="1" dirty="0">
              <a:latin typeface="楷体_GB2312" pitchFamily="49" charset="-122"/>
              <a:ea typeface="楷体_GB2312" pitchFamily="49" charset="-122"/>
            </a:endParaRPr>
          </a:p>
        </p:txBody>
      </p:sp>
      <p:grpSp>
        <p:nvGrpSpPr>
          <p:cNvPr id="99332" name="Group 13"/>
          <p:cNvGrpSpPr/>
          <p:nvPr/>
        </p:nvGrpSpPr>
        <p:grpSpPr>
          <a:xfrm>
            <a:off x="2124075" y="2636838"/>
            <a:ext cx="4968875" cy="4251325"/>
            <a:chOff x="3016" y="1189"/>
            <a:chExt cx="2621" cy="2507"/>
          </a:xfrm>
        </p:grpSpPr>
        <p:sp>
          <p:nvSpPr>
            <p:cNvPr id="99333" name="Text Box 14"/>
            <p:cNvSpPr txBox="1"/>
            <p:nvPr/>
          </p:nvSpPr>
          <p:spPr>
            <a:xfrm>
              <a:off x="3700" y="3312"/>
              <a:ext cx="1871" cy="384"/>
            </a:xfrm>
            <a:prstGeom prst="rect">
              <a:avLst/>
            </a:prstGeom>
            <a:noFill/>
            <a:ln w="9525">
              <a:noFill/>
            </a:ln>
          </p:spPr>
          <p:txBody>
            <a:bodyPr lIns="0" tIns="0" rIns="0" bIns="0"/>
            <a:p>
              <a:pPr eaLnBrk="1" hangingPunct="1"/>
              <a:r>
                <a:rPr lang="zh-CN" altLang="en-US" b="1" dirty="0">
                  <a:latin typeface="楷体_GB2312" pitchFamily="49" charset="-122"/>
                  <a:ea typeface="楷体_GB2312" pitchFamily="49" charset="-122"/>
                </a:rPr>
                <a:t>图</a:t>
              </a:r>
              <a:r>
                <a:rPr lang="en-US" altLang="zh-CN" b="1" dirty="0">
                  <a:latin typeface="楷体_GB2312" pitchFamily="49" charset="-122"/>
                  <a:ea typeface="楷体_GB2312" pitchFamily="49" charset="-122"/>
                </a:rPr>
                <a:t>3.26 </a:t>
              </a:r>
              <a:r>
                <a:rPr lang="zh-CN" altLang="en-US" b="1" dirty="0">
                  <a:latin typeface="楷体_GB2312" pitchFamily="49" charset="-122"/>
                  <a:ea typeface="楷体_GB2312" pitchFamily="49" charset="-122"/>
                </a:rPr>
                <a:t>分模面的选择</a:t>
              </a:r>
              <a:r>
                <a:rPr lang="zh-CN" altLang="en-US" sz="1600" b="1" dirty="0">
                  <a:latin typeface="Times New Roman" panose="02020603050405020304" pitchFamily="18" charset="0"/>
                </a:rPr>
                <a:t>	</a:t>
              </a:r>
              <a:endParaRPr lang="zh-CN" altLang="en-US" sz="1600" b="1" dirty="0">
                <a:latin typeface="Times New Roman" panose="02020603050405020304" pitchFamily="18" charset="0"/>
              </a:endParaRPr>
            </a:p>
            <a:p>
              <a:pPr eaLnBrk="1" hangingPunct="1"/>
              <a:endParaRPr lang="en-US" altLang="zh-CN" sz="1600" dirty="0">
                <a:latin typeface="Verdana" panose="020B0604030504040204" pitchFamily="34" charset="0"/>
              </a:endParaRPr>
            </a:p>
          </p:txBody>
        </p:sp>
        <p:pic>
          <p:nvPicPr>
            <p:cNvPr id="99334" name="Picture 15" descr="图片11"/>
            <p:cNvPicPr>
              <a:picLocks noChangeAspect="1"/>
            </p:cNvPicPr>
            <p:nvPr/>
          </p:nvPicPr>
          <p:blipFill>
            <a:blip r:embed="rId1"/>
            <a:stretch>
              <a:fillRect/>
            </a:stretch>
          </p:blipFill>
          <p:spPr>
            <a:xfrm>
              <a:off x="3016" y="1189"/>
              <a:ext cx="2621" cy="2014"/>
            </a:xfrm>
            <a:prstGeom prst="rect">
              <a:avLst/>
            </a:prstGeom>
            <a:noFill/>
            <a:ln w="9525">
              <a:noFill/>
            </a:ln>
          </p:spPr>
        </p:pic>
      </p:gr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a:spLocks noGrp="1"/>
          </p:cNvSpPr>
          <p:nvPr>
            <p:ph type="title"/>
          </p:nvPr>
        </p:nvSpPr>
        <p:spPr>
          <a:xfrm>
            <a:off x="3194050" y="220663"/>
            <a:ext cx="4473575" cy="904875"/>
          </a:xfrm>
        </p:spPr>
        <p:txBody>
          <a:bodyPr vert="horz" wrap="square" lIns="91440" tIns="45720" rIns="91440" bIns="45720" anchor="ctr" anchorCtr="0"/>
          <a:p>
            <a:pPr eaLnBrk="1" hangingPunct="1"/>
            <a:r>
              <a:rPr lang="zh-CN" altLang="en-US" sz="4000" dirty="0">
                <a:ea typeface="楷体_GB2312" pitchFamily="49" charset="-122"/>
              </a:rPr>
              <a:t>锻件结构的工艺性</a:t>
            </a:r>
            <a:endParaRPr lang="zh-CN" altLang="en-US" sz="4000" dirty="0">
              <a:ea typeface="楷体_GB2312" pitchFamily="49" charset="-122"/>
            </a:endParaRPr>
          </a:p>
        </p:txBody>
      </p:sp>
      <p:sp>
        <p:nvSpPr>
          <p:cNvPr id="100355" name="Rectangle 3"/>
          <p:cNvSpPr/>
          <p:nvPr/>
        </p:nvSpPr>
        <p:spPr>
          <a:xfrm>
            <a:off x="250825" y="1484313"/>
            <a:ext cx="8569325" cy="1249362"/>
          </a:xfrm>
          <a:prstGeom prst="rect">
            <a:avLst/>
          </a:prstGeom>
          <a:noFill/>
          <a:ln w="9525">
            <a:noFill/>
          </a:ln>
        </p:spPr>
        <p:txBody>
          <a:bodyPr anchor="ctr" anchorCtr="0">
            <a:spAutoFit/>
          </a:bodyPr>
          <a:p>
            <a:pPr indent="114300" eaLnBrk="1" hangingPunct="1">
              <a:buFont typeface="Wingdings" panose="05000000000000000000" pitchFamily="2" charset="2"/>
              <a:buChar char="Ø"/>
            </a:pPr>
            <a:r>
              <a:rPr lang="zh-CN" altLang="en-US" sz="2800" b="1" dirty="0">
                <a:solidFill>
                  <a:srgbClr val="CC3300"/>
                </a:solidFill>
                <a:latin typeface="楷体_GB2312" pitchFamily="49" charset="-122"/>
                <a:ea typeface="楷体_GB2312" pitchFamily="49" charset="-122"/>
              </a:rPr>
              <a:t>模锻件的结构工艺性</a:t>
            </a:r>
            <a:endParaRPr lang="zh-CN" altLang="en-US" sz="2800" b="1" dirty="0">
              <a:solidFill>
                <a:srgbClr val="CC3300"/>
              </a:solidFill>
              <a:latin typeface="楷体_GB2312" pitchFamily="49" charset="-122"/>
              <a:ea typeface="楷体_GB2312" pitchFamily="49" charset="-122"/>
            </a:endParaRPr>
          </a:p>
          <a:p>
            <a:pPr indent="114300" eaLnBrk="1" hangingPunct="1"/>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）模锻件上与分模面垂直的非加工表面，应设计有</a:t>
            </a:r>
            <a:r>
              <a:rPr lang="zh-CN" altLang="en-US" sz="2400" b="1" dirty="0">
                <a:solidFill>
                  <a:srgbClr val="FF0066"/>
                </a:solidFill>
                <a:latin typeface="楷体_GB2312" pitchFamily="49" charset="-122"/>
                <a:ea typeface="楷体_GB2312" pitchFamily="49" charset="-122"/>
              </a:rPr>
              <a:t>模锻斜度</a:t>
            </a:r>
            <a:r>
              <a:rPr lang="zh-CN" altLang="en-US" sz="2400" b="1" dirty="0">
                <a:latin typeface="楷体_GB2312" pitchFamily="49" charset="-122"/>
                <a:ea typeface="楷体_GB2312" pitchFamily="49" charset="-122"/>
              </a:rPr>
              <a:t>。两个非加工表面所形成的交角都应按</a:t>
            </a:r>
            <a:r>
              <a:rPr lang="zh-CN" altLang="en-US" sz="2400" b="1" dirty="0">
                <a:solidFill>
                  <a:srgbClr val="FF0000"/>
                </a:solidFill>
                <a:latin typeface="楷体_GB2312" pitchFamily="49" charset="-122"/>
                <a:ea typeface="楷体_GB2312" pitchFamily="49" charset="-122"/>
              </a:rPr>
              <a:t>模锻圆角</a:t>
            </a:r>
            <a:r>
              <a:rPr lang="zh-CN" altLang="en-US" sz="2400" b="1" dirty="0">
                <a:latin typeface="楷体_GB2312" pitchFamily="49" charset="-122"/>
                <a:ea typeface="楷体_GB2312" pitchFamily="49" charset="-122"/>
              </a:rPr>
              <a:t>设计。</a:t>
            </a:r>
            <a:endParaRPr lang="zh-CN" altLang="en-US" sz="2400" b="1" dirty="0">
              <a:latin typeface="楷体_GB2312" pitchFamily="49" charset="-122"/>
              <a:ea typeface="楷体_GB2312" pitchFamily="49" charset="-122"/>
            </a:endParaRPr>
          </a:p>
        </p:txBody>
      </p:sp>
      <p:pic>
        <p:nvPicPr>
          <p:cNvPr id="100356" name="Picture 7" descr="327"/>
          <p:cNvPicPr>
            <a:picLocks noChangeAspect="1"/>
          </p:cNvPicPr>
          <p:nvPr/>
        </p:nvPicPr>
        <p:blipFill>
          <a:blip r:embed="rId1"/>
          <a:srcRect l="6857" t="8086" r="2357" b="2913"/>
          <a:stretch>
            <a:fillRect/>
          </a:stretch>
        </p:blipFill>
        <p:spPr>
          <a:xfrm>
            <a:off x="1116013" y="3357563"/>
            <a:ext cx="3024187" cy="2962275"/>
          </a:xfrm>
          <a:prstGeom prst="rect">
            <a:avLst/>
          </a:prstGeom>
          <a:noFill/>
          <a:ln w="9525">
            <a:noFill/>
          </a:ln>
        </p:spPr>
      </p:pic>
      <p:pic>
        <p:nvPicPr>
          <p:cNvPr id="100357" name="Picture 8"/>
          <p:cNvPicPr>
            <a:picLocks noChangeAspect="1"/>
          </p:cNvPicPr>
          <p:nvPr/>
        </p:nvPicPr>
        <p:blipFill>
          <a:blip r:embed="rId2"/>
          <a:stretch>
            <a:fillRect/>
          </a:stretch>
        </p:blipFill>
        <p:spPr>
          <a:xfrm>
            <a:off x="4932363" y="3284538"/>
            <a:ext cx="3089275" cy="3146425"/>
          </a:xfrm>
          <a:prstGeom prst="rect">
            <a:avLst/>
          </a:prstGeom>
          <a:noFill/>
          <a:ln w="9525">
            <a:noFill/>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2"/>
          <p:cNvSpPr>
            <a:spLocks noGrp="1"/>
          </p:cNvSpPr>
          <p:nvPr>
            <p:ph type="title"/>
          </p:nvPr>
        </p:nvSpPr>
        <p:spPr>
          <a:xfrm>
            <a:off x="3265488" y="292100"/>
            <a:ext cx="4762500" cy="976313"/>
          </a:xfrm>
        </p:spPr>
        <p:txBody>
          <a:bodyPr vert="horz" wrap="square" lIns="91440" tIns="45720" rIns="91440" bIns="45720" anchor="ctr" anchorCtr="0"/>
          <a:p>
            <a:pPr eaLnBrk="1" hangingPunct="1"/>
            <a:r>
              <a:rPr lang="zh-CN" altLang="en-US" sz="4000" dirty="0">
                <a:ea typeface="楷体_GB2312" pitchFamily="49" charset="-122"/>
              </a:rPr>
              <a:t>锻件结构的工艺性</a:t>
            </a:r>
            <a:endParaRPr lang="zh-CN" altLang="en-US" sz="4000" dirty="0">
              <a:ea typeface="楷体_GB2312" pitchFamily="49" charset="-122"/>
            </a:endParaRPr>
          </a:p>
        </p:txBody>
      </p:sp>
      <p:sp>
        <p:nvSpPr>
          <p:cNvPr id="101379" name="Rectangle 3"/>
          <p:cNvSpPr/>
          <p:nvPr/>
        </p:nvSpPr>
        <p:spPr>
          <a:xfrm>
            <a:off x="381000" y="1249363"/>
            <a:ext cx="8305800" cy="3074987"/>
          </a:xfrm>
          <a:prstGeom prst="rect">
            <a:avLst/>
          </a:prstGeom>
          <a:noFill/>
          <a:ln w="9525">
            <a:noFill/>
          </a:ln>
        </p:spPr>
        <p:txBody>
          <a:bodyPr>
            <a:spAutoFit/>
          </a:bodyPr>
          <a:p>
            <a:pPr eaLnBrk="1" hangingPunct="1">
              <a:buFont typeface="Wingdings" panose="05000000000000000000" pitchFamily="2" charset="2"/>
              <a:buChar char="Ø"/>
            </a:pPr>
            <a:r>
              <a:rPr lang="zh-CN" altLang="en-US" sz="2800" b="1" dirty="0">
                <a:solidFill>
                  <a:srgbClr val="CC3300"/>
                </a:solidFill>
                <a:latin typeface="楷体_GB2312" pitchFamily="49" charset="-122"/>
                <a:ea typeface="楷体_GB2312" pitchFamily="49" charset="-122"/>
              </a:rPr>
              <a:t>模锻件的结构工艺性</a:t>
            </a:r>
            <a:endParaRPr lang="zh-CN" altLang="en-US" sz="2800" b="1" dirty="0">
              <a:solidFill>
                <a:srgbClr val="CC3300"/>
              </a:solidFill>
              <a:latin typeface="楷体_GB2312" pitchFamily="49" charset="-122"/>
              <a:ea typeface="楷体_GB2312" pitchFamily="49" charset="-122"/>
            </a:endParaRPr>
          </a:p>
          <a:p>
            <a:pPr eaLnBrk="1" hangingPunct="1"/>
            <a:r>
              <a:rPr lang="zh-CN" altLang="en-US" sz="2400" b="1" dirty="0">
                <a:latin typeface="Arial" panose="020B0604020202020204" pitchFamily="34" charset="0"/>
              </a:rPr>
              <a:t>（</a:t>
            </a:r>
            <a:r>
              <a:rPr lang="en-US" altLang="zh-CN" sz="2400" b="1" dirty="0">
                <a:latin typeface="Arial" panose="020B0604020202020204" pitchFamily="34" charset="0"/>
              </a:rPr>
              <a:t>3</a:t>
            </a:r>
            <a:r>
              <a:rPr lang="zh-CN" altLang="en-US" sz="2400" b="1" dirty="0">
                <a:latin typeface="Arial" panose="020B0604020202020204" pitchFamily="34" charset="0"/>
              </a:rPr>
              <a:t>）</a:t>
            </a:r>
            <a:r>
              <a:rPr lang="zh-CN" altLang="en-US" sz="2400" b="1" dirty="0">
                <a:solidFill>
                  <a:srgbClr val="FF0066"/>
                </a:solidFill>
                <a:latin typeface="Arial" panose="020B0604020202020204" pitchFamily="34" charset="0"/>
              </a:rPr>
              <a:t>模锻件外形力求简单、平直和对称，</a:t>
            </a:r>
            <a:r>
              <a:rPr lang="zh-CN" altLang="en-US" sz="2400" b="1" dirty="0">
                <a:latin typeface="Arial" panose="020B0604020202020204" pitchFamily="34" charset="0"/>
              </a:rPr>
              <a:t>尤其应避免模锻件截面相差过大，或有薄壁、高筋、凸起等结构。</a:t>
            </a:r>
            <a:endParaRPr lang="zh-CN" altLang="en-US" sz="2400" b="1" dirty="0">
              <a:solidFill>
                <a:srgbClr val="CC3300"/>
              </a:solidFill>
              <a:latin typeface="楷体_GB2312" pitchFamily="49" charset="-122"/>
              <a:ea typeface="楷体_GB2312" pitchFamily="49" charset="-122"/>
            </a:endParaRPr>
          </a:p>
          <a:p>
            <a:pPr eaLnBrk="1" hangingPunct="1">
              <a:buFont typeface="Wingdings" panose="05000000000000000000" pitchFamily="2" charset="2"/>
            </a:pPr>
            <a:r>
              <a:rPr lang="zh-CN" altLang="en-US" sz="2000" b="1" dirty="0">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图</a:t>
            </a:r>
            <a:r>
              <a:rPr lang="en-US" altLang="zh-CN" sz="2400" b="1" dirty="0">
                <a:solidFill>
                  <a:srgbClr val="000000"/>
                </a:solidFill>
                <a:latin typeface="楷体_GB2312" pitchFamily="49" charset="-122"/>
                <a:ea typeface="楷体_GB2312" pitchFamily="49" charset="-122"/>
              </a:rPr>
              <a:t>a</a:t>
            </a:r>
            <a:r>
              <a:rPr lang="zh-CN" altLang="en-US" sz="2400" b="1" dirty="0">
                <a:solidFill>
                  <a:srgbClr val="000000"/>
                </a:solidFill>
                <a:latin typeface="楷体_GB2312" pitchFamily="49" charset="-122"/>
                <a:ea typeface="楷体_GB2312" pitchFamily="49" charset="-122"/>
              </a:rPr>
              <a:t>所示，</a:t>
            </a:r>
            <a:r>
              <a:rPr lang="zh-CN" altLang="en-US" sz="2400" b="1" dirty="0">
                <a:solidFill>
                  <a:srgbClr val="FF0000"/>
                </a:solidFill>
                <a:latin typeface="楷体_GB2312" pitchFamily="49" charset="-122"/>
                <a:ea typeface="楷体_GB2312" pitchFamily="49" charset="-122"/>
              </a:rPr>
              <a:t>小截面与大截面直径之比为</a:t>
            </a:r>
            <a:r>
              <a:rPr lang="en-US" altLang="zh-CN" sz="2400" b="1" dirty="0">
                <a:solidFill>
                  <a:srgbClr val="FF0000"/>
                </a:solidFill>
                <a:latin typeface="楷体_GB2312" pitchFamily="49" charset="-122"/>
                <a:ea typeface="楷体_GB2312" pitchFamily="49" charset="-122"/>
              </a:rPr>
              <a:t>0.5</a:t>
            </a:r>
            <a:r>
              <a:rPr lang="zh-CN" altLang="en-US" sz="2400" b="1" dirty="0">
                <a:solidFill>
                  <a:srgbClr val="FF0000"/>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不符合要求。</a:t>
            </a:r>
            <a:r>
              <a:rPr lang="zh-CN" altLang="en-US" sz="2400" b="1" dirty="0">
                <a:solidFill>
                  <a:srgbClr val="FF0000"/>
                </a:solidFill>
                <a:latin typeface="楷体_GB2312" pitchFamily="49" charset="-122"/>
                <a:ea typeface="楷体_GB2312" pitchFamily="49" charset="-122"/>
              </a:rPr>
              <a:t>图</a:t>
            </a:r>
            <a:r>
              <a:rPr lang="en-US" altLang="zh-CN" sz="2400" b="1" dirty="0">
                <a:solidFill>
                  <a:srgbClr val="FF0000"/>
                </a:solidFill>
                <a:latin typeface="楷体_GB2312" pitchFamily="49" charset="-122"/>
                <a:ea typeface="楷体_GB2312" pitchFamily="49" charset="-122"/>
              </a:rPr>
              <a:t>b</a:t>
            </a:r>
            <a:r>
              <a:rPr lang="zh-CN" altLang="en-US" sz="2400" b="1" dirty="0">
                <a:solidFill>
                  <a:srgbClr val="FF0000"/>
                </a:solidFill>
                <a:latin typeface="楷体_GB2312" pitchFamily="49" charset="-122"/>
                <a:ea typeface="楷体_GB2312" pitchFamily="49" charset="-122"/>
              </a:rPr>
              <a:t>所示模锻件扁而薄，</a:t>
            </a:r>
            <a:r>
              <a:rPr lang="zh-CN" altLang="en-US" sz="2400" b="1" dirty="0">
                <a:latin typeface="楷体_GB2312" pitchFamily="49" charset="-122"/>
                <a:ea typeface="楷体_GB2312" pitchFamily="49" charset="-122"/>
              </a:rPr>
              <a:t>模锻时</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薄部金属冷却快，变形抗力剧增，易损坏锻模。</a:t>
            </a:r>
            <a:r>
              <a:rPr lang="zh-CN" altLang="en-US" sz="2400" b="1" dirty="0">
                <a:solidFill>
                  <a:srgbClr val="FF0000"/>
                </a:solidFill>
                <a:latin typeface="楷体_GB2312" pitchFamily="49" charset="-122"/>
                <a:ea typeface="楷体_GB2312" pitchFamily="49" charset="-122"/>
              </a:rPr>
              <a:t>图</a:t>
            </a:r>
            <a:r>
              <a:rPr lang="en-US" altLang="zh-CN" sz="2400" b="1" dirty="0">
                <a:solidFill>
                  <a:srgbClr val="FF0000"/>
                </a:solidFill>
                <a:latin typeface="楷体_GB2312" pitchFamily="49" charset="-122"/>
                <a:ea typeface="楷体_GB2312" pitchFamily="49" charset="-122"/>
              </a:rPr>
              <a:t>c</a:t>
            </a:r>
            <a:r>
              <a:rPr lang="zh-CN" altLang="en-US" sz="2400" b="1" dirty="0">
                <a:solidFill>
                  <a:srgbClr val="FF0000"/>
                </a:solidFill>
                <a:latin typeface="楷体_GB2312" pitchFamily="49" charset="-122"/>
                <a:ea typeface="楷体_GB2312" pitchFamily="49" charset="-122"/>
              </a:rPr>
              <a:t>所示零件有一个高而薄的凸缘，</a:t>
            </a:r>
            <a:r>
              <a:rPr lang="zh-CN" altLang="en-US" sz="2400" b="1" dirty="0">
                <a:latin typeface="楷体_GB2312" pitchFamily="49" charset="-122"/>
                <a:ea typeface="楷体_GB2312" pitchFamily="49" charset="-122"/>
              </a:rPr>
              <a:t>金属难以充满模膛，且使锻模制造和成形后取出锻件较为困难，应改成图</a:t>
            </a:r>
            <a:r>
              <a:rPr lang="en-US" altLang="zh-CN" sz="2400" b="1" dirty="0">
                <a:latin typeface="楷体_GB2312" pitchFamily="49" charset="-122"/>
                <a:ea typeface="楷体_GB2312" pitchFamily="49" charset="-122"/>
              </a:rPr>
              <a:t>d</a:t>
            </a:r>
            <a:r>
              <a:rPr lang="zh-CN" altLang="en-US" sz="2400" b="1" dirty="0">
                <a:latin typeface="楷体_GB2312" pitchFamily="49" charset="-122"/>
                <a:ea typeface="楷体_GB2312" pitchFamily="49" charset="-122"/>
              </a:rPr>
              <a:t>所示形状，使之易于锻制成形。</a:t>
            </a:r>
            <a:endParaRPr lang="zh-CN" altLang="en-US" sz="2400" b="1" dirty="0">
              <a:latin typeface="楷体_GB2312" pitchFamily="49" charset="-122"/>
              <a:ea typeface="楷体_GB2312" pitchFamily="49" charset="-122"/>
            </a:endParaRPr>
          </a:p>
        </p:txBody>
      </p:sp>
      <p:pic>
        <p:nvPicPr>
          <p:cNvPr id="101380" name="Picture 6" descr="337"/>
          <p:cNvPicPr>
            <a:picLocks noChangeAspect="1"/>
          </p:cNvPicPr>
          <p:nvPr/>
        </p:nvPicPr>
        <p:blipFill>
          <a:blip r:embed="rId1"/>
          <a:srcRect l="2921" t="19331" r="525" b="1671"/>
          <a:stretch>
            <a:fillRect/>
          </a:stretch>
        </p:blipFill>
        <p:spPr>
          <a:xfrm>
            <a:off x="0" y="4437063"/>
            <a:ext cx="9144000" cy="2252662"/>
          </a:xfrm>
          <a:prstGeom prst="rect">
            <a:avLst/>
          </a:prstGeom>
          <a:noFill/>
          <a:ln w="9525">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2"/>
          <p:cNvSpPr>
            <a:spLocks noGrp="1"/>
          </p:cNvSpPr>
          <p:nvPr>
            <p:ph type="title"/>
          </p:nvPr>
        </p:nvSpPr>
        <p:spPr>
          <a:xfrm>
            <a:off x="3263900" y="128588"/>
            <a:ext cx="4403725" cy="1139825"/>
          </a:xfrm>
        </p:spPr>
        <p:txBody>
          <a:bodyPr vert="horz" wrap="square" lIns="91440" tIns="45720" rIns="91440" bIns="45720" anchor="ctr" anchorCtr="0"/>
          <a:p>
            <a:pPr eaLnBrk="1" hangingPunct="1"/>
            <a:r>
              <a:rPr lang="zh-CN" altLang="en-US" sz="4000" dirty="0">
                <a:ea typeface="楷体_GB2312" pitchFamily="49" charset="-122"/>
              </a:rPr>
              <a:t>锻件结构的工艺性</a:t>
            </a:r>
            <a:endParaRPr lang="zh-CN" altLang="en-US" sz="4000" dirty="0">
              <a:ea typeface="楷体_GB2312" pitchFamily="49" charset="-122"/>
            </a:endParaRPr>
          </a:p>
        </p:txBody>
      </p:sp>
      <p:sp>
        <p:nvSpPr>
          <p:cNvPr id="102403" name="Rectangle 3"/>
          <p:cNvSpPr/>
          <p:nvPr/>
        </p:nvSpPr>
        <p:spPr>
          <a:xfrm>
            <a:off x="720725" y="1336675"/>
            <a:ext cx="8027988" cy="1979613"/>
          </a:xfrm>
          <a:prstGeom prst="rect">
            <a:avLst/>
          </a:prstGeom>
          <a:noFill/>
          <a:ln w="9525">
            <a:noFill/>
          </a:ln>
        </p:spPr>
        <p:txBody>
          <a:bodyPr>
            <a:spAutoFit/>
          </a:bodyPr>
          <a:p>
            <a:pPr eaLnBrk="1" hangingPunct="1">
              <a:buFont typeface="Wingdings" panose="05000000000000000000" pitchFamily="2" charset="2"/>
              <a:buChar char="Ø"/>
            </a:pPr>
            <a:r>
              <a:rPr lang="zh-CN" altLang="en-US" sz="2800" b="1" dirty="0">
                <a:solidFill>
                  <a:srgbClr val="CC3300"/>
                </a:solidFill>
                <a:latin typeface="楷体_GB2312" pitchFamily="49" charset="-122"/>
                <a:ea typeface="楷体_GB2312" pitchFamily="49" charset="-122"/>
              </a:rPr>
              <a:t>模锻件的结构工艺性</a:t>
            </a:r>
            <a:endParaRPr lang="zh-CN" altLang="en-US" sz="2800" b="1" dirty="0">
              <a:solidFill>
                <a:srgbClr val="CC3300"/>
              </a:solidFill>
              <a:latin typeface="楷体_GB2312" pitchFamily="49" charset="-122"/>
              <a:ea typeface="楷体_GB2312" pitchFamily="49" charset="-122"/>
            </a:endParaRPr>
          </a:p>
          <a:p>
            <a:pPr eaLnBrk="1" hangingPunct="1">
              <a:buFont typeface="Wingdings" panose="05000000000000000000" pitchFamily="2" charset="2"/>
            </a:pPr>
            <a:r>
              <a:rPr lang="zh-CN" altLang="en-US" sz="2000" b="1" dirty="0">
                <a:solidFill>
                  <a:srgbClr val="FFFF66"/>
                </a:solidFill>
                <a:latin typeface="楷体_GB2312" pitchFamily="49" charset="-122"/>
                <a:ea typeface="楷体_GB2312" pitchFamily="49" charset="-122"/>
              </a:rPr>
              <a:t>     </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4</a:t>
            </a:r>
            <a:r>
              <a:rPr lang="zh-CN" altLang="en-US" sz="2000" b="1" dirty="0">
                <a:latin typeface="楷体_GB2312" pitchFamily="49" charset="-122"/>
                <a:ea typeface="楷体_GB2312" pitchFamily="49" charset="-122"/>
              </a:rPr>
              <a:t>）</a:t>
            </a:r>
            <a:r>
              <a:rPr lang="zh-CN" altLang="en-US" sz="2400" b="1" dirty="0">
                <a:solidFill>
                  <a:srgbClr val="009900"/>
                </a:solidFill>
                <a:latin typeface="楷体_GB2312" pitchFamily="49" charset="-122"/>
                <a:ea typeface="楷体_GB2312" pitchFamily="49" charset="-122"/>
              </a:rPr>
              <a:t>模锻件的结构中应避免深孔或多孔结构。</a:t>
            </a:r>
            <a:r>
              <a:rPr lang="zh-CN" altLang="en-US" sz="2400" b="1" dirty="0">
                <a:latin typeface="楷体_GB2312" pitchFamily="49" charset="-122"/>
                <a:ea typeface="楷体_GB2312" pitchFamily="49" charset="-122"/>
              </a:rPr>
              <a:t>图</a:t>
            </a:r>
            <a:r>
              <a:rPr lang="en-US" altLang="zh-CN" sz="2400" b="1" dirty="0">
                <a:latin typeface="楷体_GB2312" pitchFamily="49" charset="-122"/>
                <a:ea typeface="楷体_GB2312" pitchFamily="49" charset="-122"/>
              </a:rPr>
              <a:t>38</a:t>
            </a:r>
            <a:r>
              <a:rPr lang="zh-CN" altLang="en-US" sz="2400" b="1" dirty="0">
                <a:latin typeface="楷体_GB2312" pitchFamily="49" charset="-122"/>
                <a:ea typeface="楷体_GB2312" pitchFamily="49" charset="-122"/>
              </a:rPr>
              <a:t>所示零件的轴孔（</a:t>
            </a:r>
            <a:r>
              <a:rPr lang="en-US" altLang="zh-CN" sz="2400" b="1" dirty="0">
                <a:latin typeface="GreekC" pitchFamily="2" charset="0"/>
                <a:ea typeface="楷体_GB2312" pitchFamily="49" charset="-122"/>
              </a:rPr>
              <a:t>φ</a:t>
            </a:r>
            <a:r>
              <a:rPr lang="en-US" altLang="zh-CN" sz="2400" b="1" dirty="0">
                <a:latin typeface="楷体_GB2312" pitchFamily="49" charset="-122"/>
                <a:ea typeface="楷体_GB2312" pitchFamily="49" charset="-122"/>
              </a:rPr>
              <a:t>60mm</a:t>
            </a:r>
            <a:r>
              <a:rPr lang="zh-CN" altLang="en-US" sz="2400" b="1" dirty="0">
                <a:latin typeface="楷体_GB2312" pitchFamily="49" charset="-122"/>
                <a:ea typeface="楷体_GB2312" pitchFamily="49" charset="-122"/>
              </a:rPr>
              <a:t>）属深孔结构其上又有四个非加工孔，不能锻出。故应将轮毂高度减小，</a:t>
            </a:r>
            <a:r>
              <a:rPr lang="en-US" altLang="zh-CN" sz="2400" b="1" dirty="0">
                <a:latin typeface="GreekC" pitchFamily="2" charset="0"/>
                <a:ea typeface="楷体_GB2312" pitchFamily="49" charset="-122"/>
              </a:rPr>
              <a:t>φ</a:t>
            </a:r>
            <a:r>
              <a:rPr lang="en-US" altLang="zh-CN" sz="2400" b="1" dirty="0">
                <a:latin typeface="楷体_GB2312" pitchFamily="49" charset="-122"/>
                <a:ea typeface="楷体_GB2312" pitchFamily="49" charset="-122"/>
              </a:rPr>
              <a:t>40mm</a:t>
            </a:r>
            <a:r>
              <a:rPr lang="zh-CN" altLang="en-US" sz="2400" b="1" dirty="0">
                <a:latin typeface="楷体_GB2312" pitchFamily="49" charset="-122"/>
                <a:ea typeface="楷体_GB2312" pitchFamily="49" charset="-122"/>
              </a:rPr>
              <a:t>的四个孔改用机械加工方法制出。</a:t>
            </a:r>
            <a:endParaRPr lang="zh-CN" altLang="en-US" sz="2400" b="1" dirty="0">
              <a:latin typeface="楷体_GB2312" pitchFamily="49" charset="-122"/>
              <a:ea typeface="楷体_GB2312" pitchFamily="49" charset="-122"/>
            </a:endParaRPr>
          </a:p>
        </p:txBody>
      </p:sp>
      <p:pic>
        <p:nvPicPr>
          <p:cNvPr id="102404" name="Picture 7"/>
          <p:cNvPicPr>
            <a:picLocks noChangeAspect="1"/>
          </p:cNvPicPr>
          <p:nvPr/>
        </p:nvPicPr>
        <p:blipFill>
          <a:blip r:embed="rId1"/>
          <a:stretch>
            <a:fillRect/>
          </a:stretch>
        </p:blipFill>
        <p:spPr>
          <a:xfrm>
            <a:off x="3221038" y="3495675"/>
            <a:ext cx="5922962" cy="3362325"/>
          </a:xfrm>
          <a:prstGeom prst="rect">
            <a:avLst/>
          </a:prstGeom>
          <a:noFill/>
          <a:ln w="9525">
            <a:noFill/>
          </a:ln>
        </p:spPr>
      </p:pic>
      <p:pic>
        <p:nvPicPr>
          <p:cNvPr id="102405" name="Picture 5"/>
          <p:cNvPicPr>
            <a:picLocks noChangeAspect="1"/>
          </p:cNvPicPr>
          <p:nvPr/>
        </p:nvPicPr>
        <p:blipFill>
          <a:blip r:embed="rId2"/>
          <a:stretch>
            <a:fillRect/>
          </a:stretch>
        </p:blipFill>
        <p:spPr>
          <a:xfrm>
            <a:off x="0" y="4008438"/>
            <a:ext cx="3333750" cy="2849562"/>
          </a:xfrm>
          <a:prstGeom prst="rect">
            <a:avLst/>
          </a:prstGeom>
          <a:noFill/>
          <a:ln w="9525">
            <a:noFill/>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p:cNvSpPr>
          <p:nvPr>
            <p:ph type="title"/>
          </p:nvPr>
        </p:nvSpPr>
        <p:spPr>
          <a:xfrm>
            <a:off x="3203575" y="115888"/>
            <a:ext cx="5040313" cy="1139825"/>
          </a:xfrm>
        </p:spPr>
        <p:txBody>
          <a:bodyPr vert="horz" wrap="square" lIns="91440" tIns="45720" rIns="91440" bIns="45720" anchor="ctr" anchorCtr="0"/>
          <a:p>
            <a:pPr algn="ctr" eaLnBrk="1" hangingPunct="1"/>
            <a:r>
              <a:rPr lang="zh-CN" altLang="en-US" sz="4000" dirty="0">
                <a:latin typeface="GreekC" pitchFamily="2" charset="0"/>
                <a:ea typeface="楷体_GB2312" pitchFamily="49" charset="-122"/>
              </a:rPr>
              <a:t>锻件结构的工艺性</a:t>
            </a:r>
            <a:endParaRPr lang="zh-CN" altLang="en-US" sz="4000" dirty="0">
              <a:latin typeface="GreekC" pitchFamily="2" charset="0"/>
              <a:ea typeface="楷体_GB2312" pitchFamily="49" charset="-122"/>
            </a:endParaRPr>
          </a:p>
        </p:txBody>
      </p:sp>
      <p:sp>
        <p:nvSpPr>
          <p:cNvPr id="103427" name="Rectangle 3"/>
          <p:cNvSpPr/>
          <p:nvPr/>
        </p:nvSpPr>
        <p:spPr>
          <a:xfrm>
            <a:off x="323850" y="2414588"/>
            <a:ext cx="4103688" cy="3108325"/>
          </a:xfrm>
          <a:prstGeom prst="rect">
            <a:avLst/>
          </a:prstGeom>
          <a:noFill/>
          <a:ln w="9525">
            <a:noFill/>
          </a:ln>
        </p:spPr>
        <p:txBody>
          <a:bodyPr>
            <a:spAutoFit/>
          </a:bodyPr>
          <a:p>
            <a:pPr eaLnBrk="1" hangingPunct="1">
              <a:buFont typeface="Wingdings" panose="05000000000000000000" pitchFamily="2" charset="2"/>
              <a:buChar char="Ø"/>
            </a:pPr>
            <a:r>
              <a:rPr lang="zh-CN" altLang="en-US" sz="2800" b="1" dirty="0">
                <a:solidFill>
                  <a:srgbClr val="CC3300"/>
                </a:solidFill>
                <a:latin typeface="楷体_GB2312" pitchFamily="49" charset="-122"/>
                <a:ea typeface="楷体_GB2312" pitchFamily="49" charset="-122"/>
              </a:rPr>
              <a:t>模锻件的结构工艺性</a:t>
            </a:r>
            <a:endParaRPr lang="zh-CN" altLang="en-US" sz="2800" b="1" dirty="0">
              <a:solidFill>
                <a:srgbClr val="CC3300"/>
              </a:solidFill>
              <a:latin typeface="楷体_GB2312" pitchFamily="49" charset="-122"/>
              <a:ea typeface="楷体_GB2312" pitchFamily="49" charset="-122"/>
            </a:endParaRPr>
          </a:p>
          <a:p>
            <a:pPr eaLnBrk="1" hangingPunct="1">
              <a:buFont typeface="Wingdings" panose="05000000000000000000" pitchFamily="2" charset="2"/>
            </a:pPr>
            <a:r>
              <a:rPr lang="zh-CN" altLang="en-US" sz="2000" b="1" dirty="0">
                <a:solidFill>
                  <a:srgbClr val="FF9900"/>
                </a:solidFill>
                <a:latin typeface="楷体_GB2312" pitchFamily="49" charset="-122"/>
                <a:ea typeface="楷体_GB2312" pitchFamily="49" charset="-122"/>
              </a:rPr>
              <a:t>    </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5</a:t>
            </a:r>
            <a:r>
              <a:rPr lang="zh-CN" altLang="en-US" sz="2000" b="1" dirty="0">
                <a:latin typeface="楷体_GB2312" pitchFamily="49" charset="-122"/>
                <a:ea typeface="楷体_GB2312" pitchFamily="49" charset="-122"/>
              </a:rPr>
              <a:t>）</a:t>
            </a:r>
            <a:r>
              <a:rPr lang="zh-CN" altLang="en-US" sz="2400" b="1" dirty="0">
                <a:solidFill>
                  <a:srgbClr val="009900"/>
                </a:solidFill>
                <a:latin typeface="楷体_GB2312" pitchFamily="49" charset="-122"/>
                <a:ea typeface="楷体_GB2312" pitchFamily="49" charset="-122"/>
              </a:rPr>
              <a:t>模锻件的整体结构应力求简单。</a:t>
            </a:r>
            <a:r>
              <a:rPr lang="zh-CN" altLang="en-US" sz="2400" b="1" dirty="0">
                <a:latin typeface="楷体_GB2312" pitchFamily="49" charset="-122"/>
                <a:ea typeface="楷体_GB2312" pitchFamily="49" charset="-122"/>
              </a:rPr>
              <a:t>当整体结构在成形中需增加较多</a:t>
            </a:r>
            <a:r>
              <a:rPr lang="zh-CN" altLang="en-US" sz="2400" b="1" dirty="0">
                <a:solidFill>
                  <a:srgbClr val="FF0066"/>
                </a:solidFill>
                <a:latin typeface="楷体_GB2312" pitchFamily="49" charset="-122"/>
                <a:ea typeface="楷体_GB2312" pitchFamily="49" charset="-122"/>
              </a:rPr>
              <a:t>余块</a:t>
            </a:r>
            <a:r>
              <a:rPr lang="zh-CN" altLang="en-US" sz="2400" b="1" dirty="0">
                <a:latin typeface="楷体_GB2312" pitchFamily="49" charset="-122"/>
                <a:ea typeface="楷体_GB2312" pitchFamily="49" charset="-122"/>
              </a:rPr>
              <a:t>时，可采用组合工艺制做。图</a:t>
            </a:r>
            <a:r>
              <a:rPr lang="en-US" altLang="zh-CN" sz="2400" b="1" dirty="0">
                <a:latin typeface="楷体_GB2312" pitchFamily="49" charset="-122"/>
                <a:ea typeface="楷体_GB2312" pitchFamily="49" charset="-122"/>
              </a:rPr>
              <a:t>3</a:t>
            </a:r>
            <a:r>
              <a:rPr lang="en-US" altLang="zh-CN" sz="2400" b="1" dirty="0">
                <a:latin typeface="宋体" panose="02010600030101010101" pitchFamily="2" charset="-122"/>
                <a:ea typeface="楷体_GB2312" pitchFamily="49" charset="-122"/>
              </a:rPr>
              <a:t>—</a:t>
            </a:r>
            <a:r>
              <a:rPr lang="en-US" altLang="zh-CN" sz="2400" b="1" dirty="0">
                <a:latin typeface="楷体_GB2312" pitchFamily="49" charset="-122"/>
                <a:ea typeface="楷体_GB2312" pitchFamily="49" charset="-122"/>
              </a:rPr>
              <a:t>39</a:t>
            </a:r>
            <a:r>
              <a:rPr lang="zh-CN" altLang="en-US" sz="2400" b="1" dirty="0">
                <a:latin typeface="楷体_GB2312" pitchFamily="49" charset="-122"/>
                <a:ea typeface="楷体_GB2312" pitchFamily="49" charset="-122"/>
              </a:rPr>
              <a:t>所示零件</a:t>
            </a:r>
            <a:r>
              <a:rPr lang="zh-CN" altLang="en-US" sz="2400" b="1" dirty="0">
                <a:solidFill>
                  <a:srgbClr val="0000FF"/>
                </a:solidFill>
                <a:latin typeface="楷体_GB2312" pitchFamily="49" charset="-122"/>
                <a:ea typeface="楷体_GB2312" pitchFamily="49" charset="-122"/>
              </a:rPr>
              <a:t>先采用模锻方法单个成形，然后采用焊接工艺组合成一个整体零件。</a:t>
            </a:r>
            <a:endParaRPr lang="zh-CN" altLang="en-US" sz="2400" b="1" dirty="0">
              <a:solidFill>
                <a:srgbClr val="0000FF"/>
              </a:solidFill>
              <a:latin typeface="楷体_GB2312" pitchFamily="49" charset="-122"/>
              <a:ea typeface="楷体_GB2312" pitchFamily="49" charset="-122"/>
            </a:endParaRPr>
          </a:p>
        </p:txBody>
      </p:sp>
      <p:pic>
        <p:nvPicPr>
          <p:cNvPr id="103428" name="Picture 5"/>
          <p:cNvPicPr>
            <a:picLocks noChangeAspect="1"/>
          </p:cNvPicPr>
          <p:nvPr/>
        </p:nvPicPr>
        <p:blipFill>
          <a:blip r:embed="rId1"/>
          <a:stretch>
            <a:fillRect/>
          </a:stretch>
        </p:blipFill>
        <p:spPr>
          <a:xfrm>
            <a:off x="5148263" y="1268413"/>
            <a:ext cx="3508375" cy="5400675"/>
          </a:xfrm>
          <a:prstGeom prst="rect">
            <a:avLst/>
          </a:prstGeom>
          <a:noFill/>
          <a:ln w="9525">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Text Box 4"/>
          <p:cNvSpPr txBox="1"/>
          <p:nvPr/>
        </p:nvSpPr>
        <p:spPr>
          <a:xfrm>
            <a:off x="500063" y="1554163"/>
            <a:ext cx="7969250" cy="583565"/>
          </a:xfrm>
          <a:prstGeom prst="rect">
            <a:avLst/>
          </a:prstGeom>
          <a:noFill/>
          <a:ln w="9525">
            <a:noFill/>
          </a:ln>
        </p:spPr>
        <p:txBody>
          <a:bodyPr wrap="none">
            <a:spAutoFit/>
          </a:bodyPr>
          <a:p>
            <a:pPr eaLnBrk="1" hangingPunct="1"/>
            <a:r>
              <a:rPr lang="zh-CN" altLang="en-US" sz="3200" b="1" dirty="0">
                <a:latin typeface="楷体_GB2312" pitchFamily="49" charset="-122"/>
                <a:ea typeface="楷体_GB2312" pitchFamily="49" charset="-122"/>
              </a:rPr>
              <a:t>作业：</a:t>
            </a:r>
            <a:r>
              <a:rPr lang="en-US" altLang="zh-CN" sz="3200" b="1" dirty="0">
                <a:latin typeface="楷体_GB2312" pitchFamily="49" charset="-122"/>
                <a:ea typeface="楷体_GB2312" pitchFamily="49" charset="-122"/>
              </a:rPr>
              <a:t>p130, (2), (3), (5), (6), (10)</a:t>
            </a:r>
            <a:r>
              <a:rPr lang="zh-CN" altLang="en-US" sz="3200" b="1" dirty="0">
                <a:latin typeface="楷体_GB2312" pitchFamily="49" charset="-122"/>
                <a:ea typeface="楷体_GB2312" pitchFamily="49" charset="-122"/>
              </a:rPr>
              <a:t>。</a:t>
            </a:r>
            <a:endParaRPr lang="zh-CN" altLang="en-US" sz="3200" b="1" dirty="0">
              <a:latin typeface="楷体_GB2312" pitchFamily="49" charset="-122"/>
              <a:ea typeface="楷体_GB2312" pitchFamily="49"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2"/>
          <p:cNvSpPr>
            <a:spLocks noGrp="1"/>
          </p:cNvSpPr>
          <p:nvPr>
            <p:ph type="title"/>
          </p:nvPr>
        </p:nvSpPr>
        <p:spPr>
          <a:xfrm>
            <a:off x="3592513" y="241300"/>
            <a:ext cx="3692525" cy="1035050"/>
          </a:xfrm>
        </p:spPr>
        <p:txBody>
          <a:bodyPr vert="horz" wrap="square" lIns="91440" tIns="45720" rIns="91440" bIns="45720" anchor="ctr" anchorCtr="0"/>
          <a:p>
            <a:pPr eaLnBrk="1" hangingPunct="1"/>
            <a:r>
              <a:rPr lang="en-US" altLang="zh-CN" dirty="0"/>
              <a:t>  </a:t>
            </a:r>
            <a:r>
              <a:rPr lang="zh-CN" altLang="en-US" sz="4000" dirty="0">
                <a:ea typeface="楷体_GB2312" pitchFamily="49" charset="-122"/>
              </a:rPr>
              <a:t>金属塑性加工</a:t>
            </a:r>
            <a:endParaRPr lang="zh-CN" altLang="en-US" sz="4000" dirty="0">
              <a:ea typeface="楷体_GB2312" pitchFamily="49" charset="-122"/>
            </a:endParaRPr>
          </a:p>
        </p:txBody>
      </p:sp>
      <p:sp>
        <p:nvSpPr>
          <p:cNvPr id="1158147" name="Rectangle 3"/>
          <p:cNvSpPr>
            <a:spLocks noGrp="1"/>
          </p:cNvSpPr>
          <p:nvPr>
            <p:ph idx="1"/>
          </p:nvPr>
        </p:nvSpPr>
        <p:spPr>
          <a:xfrm>
            <a:off x="250825" y="1196975"/>
            <a:ext cx="8424863" cy="4924425"/>
          </a:xfrm>
        </p:spPr>
        <p:txBody>
          <a:bodyPr vert="horz" wrap="square" lIns="91440" tIns="45720" rIns="91440" bIns="45720" anchor="t" anchorCtr="0"/>
          <a:p>
            <a:pPr eaLnBrk="1" hangingPunct="1"/>
            <a:r>
              <a:rPr lang="zh-CN" altLang="en-US" sz="2400" b="1" dirty="0">
                <a:solidFill>
                  <a:srgbClr val="0000FF"/>
                </a:solidFill>
                <a:ea typeface="楷体_GB2312" pitchFamily="49" charset="-122"/>
              </a:rPr>
              <a:t>主要内容</a:t>
            </a:r>
            <a:endParaRPr lang="zh-CN" altLang="en-US" sz="2400" b="1" dirty="0">
              <a:solidFill>
                <a:srgbClr val="0000FF"/>
              </a:solidFill>
              <a:ea typeface="楷体_GB2312" pitchFamily="49" charset="-122"/>
            </a:endParaRPr>
          </a:p>
          <a:p>
            <a:pPr lvl="1" eaLnBrk="1" hangingPunct="1"/>
            <a:r>
              <a:rPr lang="zh-CN" altLang="en-US" sz="2400" b="1" dirty="0">
                <a:ea typeface="楷体_GB2312" pitchFamily="49" charset="-122"/>
              </a:rPr>
              <a:t>锻造：在加压设备及工（模）具的作用下，使坯料、铸锭产生局部或全部的塑性变形，以获得一定几何尺寸、形状和质量的锻件的加工方法。</a:t>
            </a:r>
            <a:endParaRPr lang="zh-CN" altLang="en-US" sz="2400" b="1" dirty="0">
              <a:ea typeface="楷体_GB2312" pitchFamily="49" charset="-122"/>
            </a:endParaRPr>
          </a:p>
          <a:p>
            <a:pPr lvl="1" eaLnBrk="1" hangingPunct="1"/>
            <a:r>
              <a:rPr lang="zh-CN" altLang="en-US" sz="2400" b="1" dirty="0">
                <a:ea typeface="楷体_GB2312" pitchFamily="49" charset="-122"/>
              </a:rPr>
              <a:t>冲压：使板料经分离或成形而得到制品的工艺统称。</a:t>
            </a:r>
            <a:endParaRPr lang="zh-CN" altLang="en-US" sz="2400" b="1" dirty="0">
              <a:ea typeface="楷体_GB2312" pitchFamily="49" charset="-122"/>
            </a:endParaRPr>
          </a:p>
        </p:txBody>
      </p:sp>
      <p:pic>
        <p:nvPicPr>
          <p:cNvPr id="105476" name="Picture 4"/>
          <p:cNvPicPr>
            <a:picLocks noChangeAspect="1"/>
          </p:cNvPicPr>
          <p:nvPr>
            <p:custDataLst>
              <p:tags r:id="rId1"/>
            </p:custDataLst>
          </p:nvPr>
        </p:nvPicPr>
        <p:blipFill>
          <a:blip r:embed="rId2"/>
          <a:stretch>
            <a:fillRect/>
          </a:stretch>
        </p:blipFill>
        <p:spPr>
          <a:xfrm>
            <a:off x="1187450" y="3429000"/>
            <a:ext cx="2520950" cy="3429000"/>
          </a:xfrm>
          <a:prstGeom prst="rect">
            <a:avLst/>
          </a:prstGeom>
          <a:noFill/>
          <a:ln w="9525">
            <a:noFill/>
          </a:ln>
        </p:spPr>
      </p:pic>
      <p:pic>
        <p:nvPicPr>
          <p:cNvPr id="1026" name="Picture 2" descr="https://timgsa.baidu.com/timg?image&amp;quality=80&amp;size=b9999_10000&amp;sec=1601371665658&amp;di=cd5b292db67884776ac0ad6e0a6082a0&amp;imgtype=0&amp;src=http%3A%2F%2Fwww.91mold.com%2Fupload%2Fkindeditor%2Fimage%2F20190130%2F20190130201731_4805.gif"/>
          <p:cNvPicPr>
            <a:picLocks noChangeAspect="1" noChangeArrowheads="1" noCrop="1"/>
          </p:cNvPicPr>
          <p:nvPr>
            <p:custDataLst>
              <p:tags r:id="rId3"/>
            </p:custDataLst>
          </p:nvPr>
        </p:nvPicPr>
        <p:blipFill>
          <a:blip r:embed="rId4"/>
          <a:srcRect/>
          <a:stretch>
            <a:fillRect/>
          </a:stretch>
        </p:blipFill>
        <p:spPr bwMode="auto">
          <a:xfrm>
            <a:off x="4140200" y="3316605"/>
            <a:ext cx="4721225" cy="35413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158147">
                                            <p:txEl>
                                              <p:charRg st="0" end="5"/>
                                            </p:txEl>
                                          </p:spTgt>
                                        </p:tgtEl>
                                        <p:attrNameLst>
                                          <p:attrName>style.visibility</p:attrName>
                                        </p:attrNameLst>
                                      </p:cBhvr>
                                      <p:to>
                                        <p:strVal val="visible"/>
                                      </p:to>
                                    </p:set>
                                    <p:animEffect transition="in" filter="blinds(horizontal)">
                                      <p:cBhvr>
                                        <p:cTn id="7" dur="500"/>
                                        <p:tgtEl>
                                          <p:spTgt spid="1158147">
                                            <p:txEl>
                                              <p:charRg st="0"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158147">
                                            <p:txEl>
                                              <p:charRg st="5" end="68"/>
                                            </p:txEl>
                                          </p:spTgt>
                                        </p:tgtEl>
                                        <p:attrNameLst>
                                          <p:attrName>style.visibility</p:attrName>
                                        </p:attrNameLst>
                                      </p:cBhvr>
                                      <p:to>
                                        <p:strVal val="visible"/>
                                      </p:to>
                                    </p:set>
                                    <p:animEffect transition="in" filter="blinds(horizontal)">
                                      <p:cBhvr>
                                        <p:cTn id="10" dur="500"/>
                                        <p:tgtEl>
                                          <p:spTgt spid="1158147">
                                            <p:txEl>
                                              <p:charRg st="5" end="68"/>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158147">
                                            <p:txEl>
                                              <p:charRg st="68" end="92"/>
                                            </p:txEl>
                                          </p:spTgt>
                                        </p:tgtEl>
                                        <p:attrNameLst>
                                          <p:attrName>style.visibility</p:attrName>
                                        </p:attrNameLst>
                                      </p:cBhvr>
                                      <p:to>
                                        <p:strVal val="visible"/>
                                      </p:to>
                                    </p:set>
                                    <p:animEffect transition="in" filter="blinds(horizontal)">
                                      <p:cBhvr>
                                        <p:cTn id="13" dur="500"/>
                                        <p:tgtEl>
                                          <p:spTgt spid="1158147">
                                            <p:txEl>
                                              <p:charRg st="68" end="9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标题 1"/>
          <p:cNvSpPr>
            <a:spLocks noGrp="1"/>
          </p:cNvSpPr>
          <p:nvPr>
            <p:ph type="title"/>
          </p:nvPr>
        </p:nvSpPr>
        <p:spPr/>
        <p:txBody>
          <a:bodyPr vert="horz" wrap="square" lIns="91440" tIns="45720" rIns="91440" bIns="45720" anchor="ctr" anchorCtr="0"/>
          <a:p>
            <a:r>
              <a:rPr lang="zh-CN" altLang="en-US" dirty="0"/>
              <a:t>冲压视频</a:t>
            </a:r>
            <a:endParaRPr lang="zh-CN" altLang="en-US" dirty="0"/>
          </a:p>
        </p:txBody>
      </p:sp>
      <p:sp>
        <p:nvSpPr>
          <p:cNvPr id="107523" name="内容占位符 2"/>
          <p:cNvSpPr>
            <a:spLocks noGrp="1"/>
          </p:cNvSpPr>
          <p:nvPr>
            <p:ph idx="1"/>
          </p:nvPr>
        </p:nvSpPr>
        <p:spPr/>
        <p:txBody>
          <a:bodyPr vert="horz" wrap="square" lIns="91440" tIns="45720" rIns="91440" bIns="45720" anchor="t" anchorCtr="0"/>
          <a:p>
            <a:r>
              <a:rPr lang="en-US" altLang="zh-CN" sz="2800" dirty="0">
                <a:sym typeface="+mn-ea"/>
                <a:hlinkClick r:id="rId1"/>
              </a:rPr>
              <a:t>https://v.qq.com/x/page/f0792k95122.html——</a:t>
            </a:r>
            <a:r>
              <a:rPr lang="zh-CN" altLang="en-US" sz="2800" dirty="0">
                <a:sym typeface="+mn-ea"/>
              </a:rPr>
              <a:t>汽车件冲压工艺（开编播放）</a:t>
            </a:r>
            <a:endParaRPr lang="en-US" altLang="zh-CN" sz="2800" dirty="0"/>
          </a:p>
          <a:p>
            <a:r>
              <a:rPr lang="en-US" altLang="zh-CN" sz="2800" dirty="0">
                <a:hlinkClick r:id="rId2"/>
              </a:rPr>
              <a:t>https://v.qq.com/x/page/l0527rccsbt.html-</a:t>
            </a:r>
            <a:r>
              <a:rPr lang="zh-CN" altLang="en-US" sz="2800" dirty="0"/>
              <a:t>板料冲压教学视频（工序播放）</a:t>
            </a:r>
            <a:endParaRPr lang="zh-CN" altLang="en-US" sz="2800" dirty="0"/>
          </a:p>
          <a:p>
            <a:r>
              <a:rPr lang="en-US" altLang="zh-CN" sz="2800" dirty="0">
                <a:hlinkClick r:id="rId3"/>
              </a:rPr>
              <a:t>https://v.qq.com/x/page/s06117wq5oc.html——</a:t>
            </a:r>
            <a:r>
              <a:rPr lang="zh-CN" altLang="en-US" sz="2800" dirty="0"/>
              <a:t>热冲压工艺（热冲压播放）</a:t>
            </a:r>
            <a:endParaRPr lang="en-US" altLang="zh-CN" sz="2800" dirty="0"/>
          </a:p>
          <a:p>
            <a:r>
              <a:rPr lang="en-US" altLang="zh-CN" sz="2800" dirty="0">
                <a:sym typeface="+mn-ea"/>
                <a:hlinkClick r:id="rId4"/>
              </a:rPr>
              <a:t>https://v.qq.com/x/page/s0603wcvceh.html</a:t>
            </a:r>
            <a:r>
              <a:rPr lang="en-US" altLang="zh-CN" sz="2800" dirty="0">
                <a:sym typeface="+mn-ea"/>
              </a:rPr>
              <a:t>  </a:t>
            </a:r>
            <a:r>
              <a:rPr lang="zh-CN" altLang="en-US" sz="2800" dirty="0">
                <a:sym typeface="+mn-ea"/>
              </a:rPr>
              <a:t>塑性加工动图 回弹</a:t>
            </a:r>
            <a:r>
              <a:rPr lang="en-US" altLang="zh-CN" sz="2800" dirty="0">
                <a:sym typeface="+mn-ea"/>
              </a:rPr>
              <a:t>7</a:t>
            </a:r>
            <a:r>
              <a:rPr lang="zh-CN" altLang="en-US" sz="2800" dirty="0">
                <a:sym typeface="+mn-ea"/>
              </a:rPr>
              <a:t>分</a:t>
            </a:r>
            <a:r>
              <a:rPr lang="en-US" altLang="zh-CN" sz="2800" dirty="0">
                <a:sym typeface="+mn-ea"/>
              </a:rPr>
              <a:t>23</a:t>
            </a:r>
            <a:r>
              <a:rPr lang="zh-CN" altLang="en-US" sz="2800" dirty="0">
                <a:sym typeface="+mn-ea"/>
              </a:rPr>
              <a:t>秒</a:t>
            </a:r>
            <a:endParaRPr lang="zh-CN" altLang="en-US" sz="2800" dirty="0"/>
          </a:p>
          <a:p>
            <a:endParaRPr lang="zh-CN" altLang="en-US" sz="28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2"/>
          <p:cNvSpPr>
            <a:spLocks noGrp="1"/>
          </p:cNvSpPr>
          <p:nvPr>
            <p:ph type="title"/>
          </p:nvPr>
        </p:nvSpPr>
        <p:spPr>
          <a:xfrm>
            <a:off x="3100388" y="100013"/>
            <a:ext cx="4791075" cy="982662"/>
          </a:xfrm>
        </p:spPr>
        <p:txBody>
          <a:bodyPr vert="horz" wrap="square" lIns="91440" tIns="45720" rIns="91440" bIns="45720" anchor="ctr" anchorCtr="0"/>
          <a:p>
            <a:pPr algn="ctr" eaLnBrk="1" hangingPunct="1"/>
            <a:r>
              <a:rPr lang="zh-CN" altLang="en-US" sz="4000" dirty="0">
                <a:ea typeface="楷体_GB2312" pitchFamily="49" charset="-122"/>
              </a:rPr>
              <a:t>冲 压</a:t>
            </a:r>
            <a:endParaRPr lang="zh-CN" altLang="en-US" sz="4000" dirty="0">
              <a:ea typeface="楷体_GB2312" pitchFamily="49" charset="-122"/>
            </a:endParaRPr>
          </a:p>
        </p:txBody>
      </p:sp>
      <p:sp>
        <p:nvSpPr>
          <p:cNvPr id="108547" name="Rectangle 3"/>
          <p:cNvSpPr>
            <a:spLocks noGrp="1"/>
          </p:cNvSpPr>
          <p:nvPr>
            <p:ph idx="1"/>
          </p:nvPr>
        </p:nvSpPr>
        <p:spPr>
          <a:xfrm>
            <a:off x="395288" y="1484313"/>
            <a:ext cx="8208962" cy="4897437"/>
          </a:xfrm>
        </p:spPr>
        <p:txBody>
          <a:bodyPr vert="horz" wrap="square" lIns="91440" tIns="45720" rIns="91440" bIns="45720" anchor="t" anchorCtr="0"/>
          <a:p>
            <a:pPr eaLnBrk="1" hangingPunct="1">
              <a:lnSpc>
                <a:spcPct val="80000"/>
              </a:lnSpc>
              <a:spcBef>
                <a:spcPct val="60000"/>
              </a:spcBef>
              <a:buFont typeface="Wingdings" panose="05000000000000000000" pitchFamily="2" charset="2"/>
              <a:buChar char="p"/>
            </a:pPr>
            <a:r>
              <a:rPr lang="zh-CN" altLang="en-US" sz="2400" b="1" dirty="0">
                <a:solidFill>
                  <a:srgbClr val="009900"/>
                </a:solidFill>
                <a:latin typeface="楷体_GB2312" pitchFamily="49" charset="-122"/>
                <a:ea typeface="楷体_GB2312" pitchFamily="49" charset="-122"/>
              </a:rPr>
              <a:t>（板料）冲压：使板料经分离或成形而获得制件的工艺统称。</a:t>
            </a:r>
            <a:r>
              <a:rPr lang="zh-CN" altLang="en-US" sz="2400" b="1" dirty="0">
                <a:solidFill>
                  <a:srgbClr val="990000"/>
                </a:solidFill>
                <a:latin typeface="楷体_GB2312" pitchFamily="49" charset="-122"/>
                <a:ea typeface="楷体_GB2312" pitchFamily="49" charset="-122"/>
              </a:rPr>
              <a:t>（一般板料厚度</a:t>
            </a:r>
            <a:r>
              <a:rPr lang="en-US" altLang="zh-CN" sz="2400" b="1" dirty="0">
                <a:solidFill>
                  <a:srgbClr val="FF0000"/>
                </a:solidFill>
                <a:latin typeface="楷体_GB2312" pitchFamily="49" charset="-122"/>
                <a:ea typeface="楷体_GB2312" pitchFamily="49" charset="-122"/>
              </a:rPr>
              <a:t>&lt;4mm,</a:t>
            </a:r>
            <a:r>
              <a:rPr lang="zh-CN" altLang="en-US" sz="2400" b="1" dirty="0">
                <a:solidFill>
                  <a:srgbClr val="990000"/>
                </a:solidFill>
                <a:latin typeface="楷体_GB2312" pitchFamily="49" charset="-122"/>
                <a:ea typeface="楷体_GB2312" pitchFamily="49" charset="-122"/>
              </a:rPr>
              <a:t>不需加热，亦称</a:t>
            </a:r>
            <a:r>
              <a:rPr lang="zh-CN" altLang="en-US" sz="2400" b="1" dirty="0">
                <a:solidFill>
                  <a:srgbClr val="FF0000"/>
                </a:solidFill>
                <a:latin typeface="楷体_GB2312" pitchFamily="49" charset="-122"/>
                <a:ea typeface="楷体_GB2312" pitchFamily="49" charset="-122"/>
              </a:rPr>
              <a:t>冷冲压。</a:t>
            </a:r>
            <a:r>
              <a:rPr lang="en-US" altLang="zh-CN" sz="2400" b="1" dirty="0">
                <a:solidFill>
                  <a:srgbClr val="0000FF"/>
                </a:solidFill>
                <a:latin typeface="楷体_GB2312" pitchFamily="49" charset="-122"/>
                <a:ea typeface="楷体_GB2312" pitchFamily="49" charset="-122"/>
              </a:rPr>
              <a:t>8</a:t>
            </a:r>
            <a:r>
              <a:rPr lang="zh-CN" altLang="en-US" sz="2400" b="1" dirty="0">
                <a:solidFill>
                  <a:srgbClr val="0000FF"/>
                </a:solidFill>
                <a:latin typeface="楷体_GB2312" pitchFamily="49" charset="-122"/>
                <a:ea typeface="楷体_GB2312" pitchFamily="49" charset="-122"/>
              </a:rPr>
              <a:t>～</a:t>
            </a:r>
            <a:r>
              <a:rPr lang="en-US" altLang="zh-CN" sz="2400" b="1" dirty="0">
                <a:solidFill>
                  <a:srgbClr val="0000FF"/>
                </a:solidFill>
                <a:latin typeface="楷体_GB2312" pitchFamily="49" charset="-122"/>
                <a:ea typeface="楷体_GB2312" pitchFamily="49" charset="-122"/>
              </a:rPr>
              <a:t>10mm</a:t>
            </a:r>
            <a:r>
              <a:rPr lang="zh-CN" altLang="en-US" sz="2400" b="1" dirty="0">
                <a:solidFill>
                  <a:srgbClr val="0000FF"/>
                </a:solidFill>
                <a:latin typeface="楷体_GB2312" pitchFamily="49" charset="-122"/>
                <a:ea typeface="楷体_GB2312" pitchFamily="49" charset="-122"/>
              </a:rPr>
              <a:t>以上时，热冲压</a:t>
            </a:r>
            <a:r>
              <a:rPr lang="zh-CN" altLang="en-US" sz="2400" b="1" dirty="0">
                <a:solidFill>
                  <a:srgbClr val="990000"/>
                </a:solidFill>
                <a:latin typeface="楷体_GB2312" pitchFamily="49" charset="-122"/>
                <a:ea typeface="楷体_GB2312" pitchFamily="49" charset="-122"/>
              </a:rPr>
              <a:t>）。</a:t>
            </a:r>
            <a:endParaRPr lang="zh-CN" altLang="en-US" sz="2400" b="1" dirty="0">
              <a:solidFill>
                <a:srgbClr val="990000"/>
              </a:solidFill>
              <a:latin typeface="楷体_GB2312" pitchFamily="49" charset="-122"/>
              <a:ea typeface="楷体_GB2312" pitchFamily="49" charset="-122"/>
            </a:endParaRPr>
          </a:p>
          <a:p>
            <a:pPr marL="0" indent="0" eaLnBrk="1" hangingPunct="1">
              <a:lnSpc>
                <a:spcPct val="80000"/>
              </a:lnSpc>
              <a:spcBef>
                <a:spcPct val="60000"/>
              </a:spcBef>
              <a:buFont typeface="Wingdings" panose="05000000000000000000" pitchFamily="2" charset="2"/>
              <a:buNone/>
            </a:pPr>
            <a:r>
              <a:rPr lang="en-US" altLang="zh-CN" sz="2400" dirty="0">
                <a:sym typeface="+mn-ea"/>
              </a:rPr>
              <a:t>     </a:t>
            </a:r>
            <a:r>
              <a:rPr lang="en-US" altLang="zh-CN" sz="2400" dirty="0">
                <a:sym typeface="+mn-ea"/>
                <a:hlinkClick r:id="rId1"/>
              </a:rPr>
              <a:t>https://v.qq.com/x/page/s06117wq5oc.html</a:t>
            </a:r>
            <a:r>
              <a:rPr lang="en-US" altLang="zh-CN" sz="2400" dirty="0">
                <a:sym typeface="+mn-ea"/>
              </a:rPr>
              <a:t> </a:t>
            </a:r>
            <a:r>
              <a:rPr lang="zh-CN" altLang="en-US" sz="2400" dirty="0">
                <a:sym typeface="+mn-ea"/>
              </a:rPr>
              <a:t>热冲压</a:t>
            </a:r>
            <a:endParaRPr lang="zh-CN" altLang="en-US" sz="2400" b="1" dirty="0">
              <a:solidFill>
                <a:srgbClr val="990000"/>
              </a:solidFill>
              <a:latin typeface="楷体_GB2312" pitchFamily="49" charset="-122"/>
              <a:ea typeface="楷体_GB2312" pitchFamily="49" charset="-122"/>
            </a:endParaRPr>
          </a:p>
          <a:p>
            <a:pPr eaLnBrk="1" hangingPunct="1">
              <a:lnSpc>
                <a:spcPct val="80000"/>
              </a:lnSpc>
              <a:spcBef>
                <a:spcPct val="60000"/>
              </a:spcBef>
              <a:buFont typeface="Wingdings" panose="05000000000000000000" pitchFamily="2" charset="2"/>
              <a:buChar char="p"/>
            </a:pPr>
            <a:r>
              <a:rPr lang="zh-CN" altLang="en-US" sz="2400" b="1" dirty="0">
                <a:solidFill>
                  <a:srgbClr val="FF0066"/>
                </a:solidFill>
                <a:latin typeface="楷体_GB2312" pitchFamily="49" charset="-122"/>
                <a:ea typeface="楷体_GB2312" pitchFamily="49" charset="-122"/>
              </a:rPr>
              <a:t>特点</a:t>
            </a:r>
            <a:r>
              <a:rPr lang="en-US" altLang="zh-CN" sz="2400" b="1" dirty="0">
                <a:solidFill>
                  <a:srgbClr val="FF0066"/>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）冲出形状复杂的零件，废料少。</a:t>
            </a:r>
            <a:endParaRPr lang="zh-CN" altLang="en-US" sz="2400" b="1" dirty="0">
              <a:latin typeface="楷体_GB2312" pitchFamily="49" charset="-122"/>
              <a:ea typeface="楷体_GB2312" pitchFamily="49" charset="-122"/>
            </a:endParaRPr>
          </a:p>
          <a:p>
            <a:pPr eaLnBrk="1" hangingPunct="1">
              <a:lnSpc>
                <a:spcPct val="80000"/>
              </a:lnSpc>
              <a:spcBef>
                <a:spcPct val="60000"/>
              </a:spcBef>
              <a:buNone/>
            </a:pPr>
            <a:r>
              <a:rPr lang="zh-CN" altLang="en-US" sz="2400" b="1" dirty="0">
                <a:latin typeface="楷体_GB2312" pitchFamily="49" charset="-122"/>
                <a:ea typeface="楷体_GB2312" pitchFamily="49" charset="-122"/>
              </a:rPr>
              <a:t>     （</a:t>
            </a:r>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）产品精度高，粗糙度低，互换性好，一般不需机加工。</a:t>
            </a:r>
            <a:endParaRPr lang="zh-CN" altLang="en-US" sz="2400" b="1" dirty="0">
              <a:latin typeface="楷体_GB2312" pitchFamily="49" charset="-122"/>
              <a:ea typeface="楷体_GB2312" pitchFamily="49" charset="-122"/>
            </a:endParaRPr>
          </a:p>
          <a:p>
            <a:pPr eaLnBrk="1" hangingPunct="1">
              <a:lnSpc>
                <a:spcPct val="80000"/>
              </a:lnSpc>
              <a:spcBef>
                <a:spcPct val="60000"/>
              </a:spcBef>
              <a:buNone/>
            </a:pPr>
            <a:r>
              <a:rPr lang="zh-CN" altLang="en-US" sz="2400" b="1" dirty="0">
                <a:latin typeface="楷体_GB2312" pitchFamily="49" charset="-122"/>
                <a:ea typeface="楷体_GB2312" pitchFamily="49" charset="-122"/>
              </a:rPr>
              <a:t>     （</a:t>
            </a:r>
            <a:r>
              <a:rPr lang="en-US" altLang="zh-CN" sz="2400" b="1" dirty="0">
                <a:latin typeface="楷体_GB2312" pitchFamily="49" charset="-122"/>
                <a:ea typeface="楷体_GB2312" pitchFamily="49" charset="-122"/>
              </a:rPr>
              <a:t>3</a:t>
            </a:r>
            <a:r>
              <a:rPr lang="zh-CN" altLang="en-US" sz="2400" b="1" dirty="0">
                <a:latin typeface="楷体_GB2312" pitchFamily="49" charset="-122"/>
                <a:ea typeface="楷体_GB2312" pitchFamily="49" charset="-122"/>
              </a:rPr>
              <a:t>）产品重量轻，材料消耗少，强度、刚度高。</a:t>
            </a:r>
            <a:endParaRPr lang="zh-CN" altLang="en-US" sz="2400" b="1" dirty="0">
              <a:latin typeface="楷体_GB2312" pitchFamily="49" charset="-122"/>
              <a:ea typeface="楷体_GB2312" pitchFamily="49" charset="-122"/>
            </a:endParaRPr>
          </a:p>
          <a:p>
            <a:pPr eaLnBrk="1" hangingPunct="1">
              <a:lnSpc>
                <a:spcPct val="80000"/>
              </a:lnSpc>
              <a:spcBef>
                <a:spcPct val="60000"/>
              </a:spcBef>
              <a:buNone/>
            </a:pPr>
            <a:r>
              <a:rPr lang="zh-CN" altLang="en-US" sz="2400" b="1" dirty="0">
                <a:latin typeface="楷体_GB2312" pitchFamily="49" charset="-122"/>
                <a:ea typeface="楷体_GB2312" pitchFamily="49" charset="-122"/>
              </a:rPr>
              <a:t>     （</a:t>
            </a:r>
            <a:r>
              <a:rPr lang="en-US" altLang="zh-CN" sz="2400" b="1" dirty="0">
                <a:latin typeface="楷体_GB2312" pitchFamily="49" charset="-122"/>
                <a:ea typeface="楷体_GB2312" pitchFamily="49" charset="-122"/>
              </a:rPr>
              <a:t>4</a:t>
            </a:r>
            <a:r>
              <a:rPr lang="zh-CN" altLang="en-US" sz="2400" b="1" dirty="0">
                <a:latin typeface="楷体_GB2312" pitchFamily="49" charset="-122"/>
                <a:ea typeface="楷体_GB2312" pitchFamily="49" charset="-122"/>
              </a:rPr>
              <a:t>）操作简单，生产率高，成本低，</a:t>
            </a:r>
            <a:r>
              <a:rPr lang="ja-JP" altLang="en-US" sz="2400" b="1" dirty="0">
                <a:latin typeface="楷体_GB2312" pitchFamily="49" charset="-122"/>
                <a:ea typeface="楷体_GB2312" pitchFamily="49" charset="-122"/>
              </a:rPr>
              <a:t>工艺过程便于实现自动化</a:t>
            </a:r>
            <a:r>
              <a:rPr lang="zh-CN" altLang="en-US" sz="2400" b="1" dirty="0">
                <a:latin typeface="楷体_GB2312" pitchFamily="49" charset="-122"/>
                <a:ea typeface="楷体_GB2312" pitchFamily="49" charset="-122"/>
              </a:rPr>
              <a:t>；但冲模制造复杂要求高，适合于大批量生产。</a:t>
            </a:r>
            <a:endParaRPr lang="zh-CN" altLang="en-US" sz="2400" b="1" dirty="0">
              <a:latin typeface="楷体_GB2312" pitchFamily="49" charset="-122"/>
              <a:ea typeface="楷体_GB2312" pitchFamily="49"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2"/>
          <p:cNvSpPr>
            <a:spLocks noGrp="1"/>
          </p:cNvSpPr>
          <p:nvPr>
            <p:ph type="title"/>
          </p:nvPr>
        </p:nvSpPr>
        <p:spPr>
          <a:xfrm>
            <a:off x="3598863" y="306388"/>
            <a:ext cx="2844800" cy="890587"/>
          </a:xfrm>
        </p:spPr>
        <p:txBody>
          <a:bodyPr vert="horz" wrap="square" lIns="91440" tIns="45720" rIns="91440" bIns="45720" anchor="ctr" anchorCtr="0"/>
          <a:p>
            <a:pPr algn="ctr" eaLnBrk="1" hangingPunct="1"/>
            <a:r>
              <a:rPr lang="zh-CN" altLang="en-US" sz="4000" dirty="0">
                <a:ea typeface="楷体_GB2312" pitchFamily="49" charset="-122"/>
              </a:rPr>
              <a:t>冲压</a:t>
            </a:r>
            <a:endParaRPr lang="zh-CN" altLang="en-US" sz="4000" dirty="0">
              <a:ea typeface="楷体_GB2312" pitchFamily="49" charset="-122"/>
            </a:endParaRPr>
          </a:p>
        </p:txBody>
      </p:sp>
      <p:sp>
        <p:nvSpPr>
          <p:cNvPr id="273411" name="Rectangle 3"/>
          <p:cNvSpPr>
            <a:spLocks noGrp="1"/>
          </p:cNvSpPr>
          <p:nvPr>
            <p:ph idx="1"/>
          </p:nvPr>
        </p:nvSpPr>
        <p:spPr>
          <a:xfrm>
            <a:off x="34925" y="1371600"/>
            <a:ext cx="9109075" cy="1143000"/>
          </a:xfrm>
        </p:spPr>
        <p:txBody>
          <a:bodyPr vert="horz" wrap="square" lIns="91440" tIns="45720" rIns="91440" bIns="45720" anchor="t" anchorCtr="0"/>
          <a:p>
            <a:pPr eaLnBrk="1" hangingPunct="1">
              <a:lnSpc>
                <a:spcPct val="90000"/>
              </a:lnSpc>
            </a:pPr>
            <a:r>
              <a:rPr lang="zh-CN" altLang="en-US" sz="2800" b="1" dirty="0">
                <a:solidFill>
                  <a:srgbClr val="CC3300"/>
                </a:solidFill>
                <a:latin typeface="楷体_GB2312" pitchFamily="49" charset="-122"/>
                <a:ea typeface="楷体_GB2312" pitchFamily="49" charset="-122"/>
              </a:rPr>
              <a:t>冲压设备</a:t>
            </a:r>
            <a:endParaRPr lang="zh-CN" altLang="en-US" sz="2800" b="1" dirty="0">
              <a:solidFill>
                <a:srgbClr val="CC3300"/>
              </a:solidFill>
              <a:latin typeface="楷体_GB2312" pitchFamily="49" charset="-122"/>
              <a:ea typeface="楷体_GB2312" pitchFamily="49" charset="-122"/>
            </a:endParaRPr>
          </a:p>
          <a:p>
            <a:pPr lvl="1" eaLnBrk="1" hangingPunct="1">
              <a:lnSpc>
                <a:spcPct val="90000"/>
              </a:lnSpc>
            </a:pPr>
            <a:r>
              <a:rPr lang="zh-CN" altLang="en-US" sz="2400" b="1" dirty="0">
                <a:solidFill>
                  <a:srgbClr val="009900"/>
                </a:solidFill>
                <a:latin typeface="楷体_GB2312" pitchFamily="49" charset="-122"/>
                <a:ea typeface="楷体_GB2312" pitchFamily="49" charset="-122"/>
              </a:rPr>
              <a:t>剪床：</a:t>
            </a:r>
            <a:r>
              <a:rPr lang="zh-CN" altLang="en-US" sz="2400" b="1" dirty="0">
                <a:latin typeface="楷体_GB2312" pitchFamily="49" charset="-122"/>
                <a:ea typeface="楷体_GB2312" pitchFamily="49" charset="-122"/>
              </a:rPr>
              <a:t>下料用设备，将板料剪成一定宽度的条料，以供冲压之用。</a:t>
            </a:r>
            <a:endParaRPr lang="zh-CN" altLang="en-US" sz="2400" b="1" dirty="0">
              <a:latin typeface="楷体_GB2312" pitchFamily="49" charset="-122"/>
              <a:ea typeface="楷体_GB2312" pitchFamily="49" charset="-122"/>
            </a:endParaRPr>
          </a:p>
        </p:txBody>
      </p:sp>
      <p:pic>
        <p:nvPicPr>
          <p:cNvPr id="109572" name="Picture 1028" descr="冲床2"/>
          <p:cNvPicPr>
            <a:picLocks noChangeAspect="1"/>
          </p:cNvPicPr>
          <p:nvPr/>
        </p:nvPicPr>
        <p:blipFill>
          <a:blip r:embed="rId1"/>
          <a:stretch>
            <a:fillRect/>
          </a:stretch>
        </p:blipFill>
        <p:spPr>
          <a:xfrm>
            <a:off x="1827213" y="2420938"/>
            <a:ext cx="6489700" cy="438626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3411"/>
                                        </p:tgtEl>
                                        <p:attrNameLst>
                                          <p:attrName>style.visibility</p:attrName>
                                        </p:attrNameLst>
                                      </p:cBhvr>
                                      <p:to>
                                        <p:strVal val="visible"/>
                                      </p:to>
                                    </p:set>
                                    <p:animEffect transition="in" filter="blinds(horizontal)">
                                      <p:cBhvr>
                                        <p:cTn id="7" dur="500"/>
                                        <p:tgtEl>
                                          <p:spTgt spid="273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1"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2"/>
          <p:cNvSpPr>
            <a:spLocks noGrp="1"/>
          </p:cNvSpPr>
          <p:nvPr>
            <p:ph type="title"/>
          </p:nvPr>
        </p:nvSpPr>
        <p:spPr>
          <a:xfrm>
            <a:off x="3741738" y="90488"/>
            <a:ext cx="2486025" cy="1035050"/>
          </a:xfrm>
        </p:spPr>
        <p:txBody>
          <a:bodyPr vert="horz" wrap="square" lIns="91440" tIns="45720" rIns="91440" bIns="45720" anchor="ctr" anchorCtr="0"/>
          <a:p>
            <a:pPr eaLnBrk="1" hangingPunct="1"/>
            <a:r>
              <a:rPr lang="en-US" altLang="zh-CN" sz="4000" dirty="0">
                <a:ea typeface="楷体_GB2312" pitchFamily="49" charset="-122"/>
              </a:rPr>
              <a:t>     </a:t>
            </a:r>
            <a:r>
              <a:rPr lang="zh-CN" altLang="en-US" sz="4000" dirty="0">
                <a:ea typeface="楷体_GB2312" pitchFamily="49" charset="-122"/>
              </a:rPr>
              <a:t>冲压</a:t>
            </a:r>
            <a:endParaRPr lang="zh-CN" altLang="en-US" sz="4000" dirty="0">
              <a:ea typeface="楷体_GB2312" pitchFamily="49" charset="-122"/>
            </a:endParaRPr>
          </a:p>
        </p:txBody>
      </p:sp>
      <p:sp>
        <p:nvSpPr>
          <p:cNvPr id="942083" name="Rectangle 3"/>
          <p:cNvSpPr>
            <a:spLocks noGrp="1"/>
          </p:cNvSpPr>
          <p:nvPr>
            <p:ph idx="1"/>
          </p:nvPr>
        </p:nvSpPr>
        <p:spPr>
          <a:xfrm>
            <a:off x="518160" y="1285875"/>
            <a:ext cx="8103870" cy="1440180"/>
          </a:xfrm>
        </p:spPr>
        <p:txBody>
          <a:bodyPr vert="horz" wrap="square" lIns="91440" tIns="45720" rIns="91440" bIns="45720" anchor="t" anchorCtr="0"/>
          <a:p>
            <a:pPr eaLnBrk="1" hangingPunct="1">
              <a:lnSpc>
                <a:spcPct val="80000"/>
              </a:lnSpc>
            </a:pPr>
            <a:r>
              <a:rPr lang="zh-CN" altLang="en-US" sz="2400" b="1" dirty="0">
                <a:solidFill>
                  <a:srgbClr val="CC3300"/>
                </a:solidFill>
                <a:latin typeface="楷体_GB2312" pitchFamily="49" charset="-122"/>
                <a:ea typeface="楷体_GB2312" pitchFamily="49" charset="-122"/>
              </a:rPr>
              <a:t>冲压设备</a:t>
            </a:r>
            <a:endParaRPr lang="zh-CN" altLang="en-US" sz="2400" b="1" dirty="0">
              <a:solidFill>
                <a:srgbClr val="CC3300"/>
              </a:solidFill>
              <a:latin typeface="楷体_GB2312" pitchFamily="49" charset="-122"/>
              <a:ea typeface="楷体_GB2312" pitchFamily="49" charset="-122"/>
            </a:endParaRPr>
          </a:p>
          <a:p>
            <a:pPr lvl="1" eaLnBrk="1" hangingPunct="1">
              <a:lnSpc>
                <a:spcPct val="80000"/>
              </a:lnSpc>
            </a:pPr>
            <a:r>
              <a:rPr lang="zh-CN" altLang="en-US" sz="2000" b="1" dirty="0">
                <a:solidFill>
                  <a:srgbClr val="009900"/>
                </a:solidFill>
                <a:latin typeface="楷体_GB2312" pitchFamily="49" charset="-122"/>
                <a:ea typeface="楷体_GB2312" pitchFamily="49" charset="-122"/>
              </a:rPr>
              <a:t>冲床：</a:t>
            </a:r>
            <a:r>
              <a:rPr lang="zh-CN" altLang="en-US" sz="2000" b="1" dirty="0">
                <a:latin typeface="楷体_GB2312" pitchFamily="49" charset="-122"/>
                <a:ea typeface="楷体_GB2312" pitchFamily="49" charset="-122"/>
              </a:rPr>
              <a:t>实现冲压工序，制成所需形状和尺寸的产品的设备，最大吨位可达</a:t>
            </a:r>
            <a:r>
              <a:rPr lang="en-US" altLang="zh-CN" sz="2000" b="1" dirty="0">
                <a:latin typeface="楷体_GB2312" pitchFamily="49" charset="-122"/>
                <a:ea typeface="楷体_GB2312" pitchFamily="49" charset="-122"/>
              </a:rPr>
              <a:t>40</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000kN</a:t>
            </a:r>
            <a:r>
              <a:rPr lang="zh-CN" altLang="en-US" sz="2000" b="1" dirty="0">
                <a:latin typeface="楷体_GB2312" pitchFamily="49" charset="-122"/>
                <a:ea typeface="楷体_GB2312" pitchFamily="49" charset="-122"/>
              </a:rPr>
              <a:t>。</a:t>
            </a:r>
            <a:endParaRPr lang="zh-CN" altLang="en-US" sz="2000" b="1" dirty="0">
              <a:latin typeface="楷体_GB2312" pitchFamily="49" charset="-122"/>
              <a:ea typeface="楷体_GB2312" pitchFamily="49" charset="-122"/>
            </a:endParaRPr>
          </a:p>
          <a:p>
            <a:pPr lvl="1" eaLnBrk="1" hangingPunct="1">
              <a:lnSpc>
                <a:spcPct val="80000"/>
              </a:lnSpc>
            </a:pPr>
            <a:r>
              <a:rPr lang="en-US" altLang="zh-CN" sz="2400" dirty="0">
                <a:hlinkClick r:id="rId1"/>
              </a:rPr>
              <a:t>https://haokan.baidu.com/v?pd=wisenatural&amp;vid=6602277092064168418-</a:t>
            </a:r>
            <a:r>
              <a:rPr lang="zh-CN" altLang="en-US" sz="2400" dirty="0"/>
              <a:t>液压冲床</a:t>
            </a:r>
            <a:endParaRPr lang="zh-CN" altLang="en-US" sz="2400" b="1" dirty="0"/>
          </a:p>
        </p:txBody>
      </p:sp>
      <p:pic>
        <p:nvPicPr>
          <p:cNvPr id="102" name="图片 101"/>
          <p:cNvPicPr/>
          <p:nvPr/>
        </p:nvPicPr>
        <p:blipFill>
          <a:blip r:embed="rId2"/>
          <a:stretch>
            <a:fillRect/>
          </a:stretch>
        </p:blipFill>
        <p:spPr>
          <a:xfrm>
            <a:off x="0" y="3140710"/>
            <a:ext cx="4055745" cy="3638550"/>
          </a:xfrm>
          <a:prstGeom prst="rect">
            <a:avLst/>
          </a:prstGeom>
          <a:noFill/>
          <a:ln w="9525">
            <a:noFill/>
          </a:ln>
        </p:spPr>
      </p:pic>
      <p:pic>
        <p:nvPicPr>
          <p:cNvPr id="103" name="图片 102"/>
          <p:cNvPicPr/>
          <p:nvPr/>
        </p:nvPicPr>
        <p:blipFill>
          <a:blip r:embed="rId3"/>
          <a:stretch>
            <a:fillRect/>
          </a:stretch>
        </p:blipFill>
        <p:spPr>
          <a:xfrm>
            <a:off x="3491865" y="3464560"/>
            <a:ext cx="5334000" cy="29908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42083"/>
                                        </p:tgtEl>
                                        <p:attrNameLst>
                                          <p:attrName>style.visibility</p:attrName>
                                        </p:attrNameLst>
                                      </p:cBhvr>
                                      <p:to>
                                        <p:strVal val="visible"/>
                                      </p:to>
                                    </p:set>
                                    <p:animEffect transition="in" filter="blinds(horizontal)">
                                      <p:cBhvr>
                                        <p:cTn id="7" dur="500"/>
                                        <p:tgtEl>
                                          <p:spTgt spid="942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083"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标题 1"/>
          <p:cNvSpPr>
            <a:spLocks noGrp="1"/>
          </p:cNvSpPr>
          <p:nvPr>
            <p:ph type="title"/>
          </p:nvPr>
        </p:nvSpPr>
        <p:spPr/>
        <p:txBody>
          <a:bodyPr vert="horz" wrap="square" lIns="91440" tIns="45720" rIns="91440" bIns="45720" anchor="ctr" anchorCtr="0"/>
          <a:p>
            <a:r>
              <a:rPr lang="zh-CN" altLang="en-US" dirty="0"/>
              <a:t>板料冲压工序</a:t>
            </a:r>
            <a:endParaRPr lang="zh-CN" altLang="en-US" dirty="0"/>
          </a:p>
        </p:txBody>
      </p:sp>
      <p:pic>
        <p:nvPicPr>
          <p:cNvPr id="106500" name="图片 3"/>
          <p:cNvPicPr>
            <a:picLocks noChangeAspect="1"/>
          </p:cNvPicPr>
          <p:nvPr/>
        </p:nvPicPr>
        <p:blipFill>
          <a:blip r:embed="rId1"/>
          <a:stretch>
            <a:fillRect/>
          </a:stretch>
        </p:blipFill>
        <p:spPr>
          <a:xfrm>
            <a:off x="-36830" y="1772920"/>
            <a:ext cx="6534150" cy="4686300"/>
          </a:xfrm>
          <a:prstGeom prst="rect">
            <a:avLst/>
          </a:prstGeom>
          <a:noFill/>
          <a:ln w="9525">
            <a:noFill/>
          </a:ln>
        </p:spPr>
      </p:pic>
      <p:pic>
        <p:nvPicPr>
          <p:cNvPr id="100" name="图片 99"/>
          <p:cNvPicPr/>
          <p:nvPr/>
        </p:nvPicPr>
        <p:blipFill>
          <a:blip r:embed="rId2"/>
          <a:stretch>
            <a:fillRect/>
          </a:stretch>
        </p:blipFill>
        <p:spPr>
          <a:xfrm>
            <a:off x="5334000" y="1196658"/>
            <a:ext cx="3810000" cy="2905125"/>
          </a:xfrm>
          <a:prstGeom prst="rect">
            <a:avLst/>
          </a:prstGeom>
          <a:noFill/>
          <a:ln w="9525">
            <a:noFill/>
          </a:ln>
        </p:spPr>
      </p:pic>
      <p:pic>
        <p:nvPicPr>
          <p:cNvPr id="101" name="图片 100"/>
          <p:cNvPicPr/>
          <p:nvPr/>
        </p:nvPicPr>
        <p:blipFill>
          <a:blip r:embed="rId3"/>
          <a:stretch>
            <a:fillRect/>
          </a:stretch>
        </p:blipFill>
        <p:spPr>
          <a:xfrm>
            <a:off x="5460365" y="4173855"/>
            <a:ext cx="3658870" cy="2619375"/>
          </a:xfrm>
          <a:prstGeom prst="rect">
            <a:avLst/>
          </a:prstGeom>
          <a:noFill/>
          <a:ln w="9525">
            <a:noFill/>
          </a:ln>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标题 1"/>
          <p:cNvSpPr>
            <a:spLocks noGrp="1"/>
          </p:cNvSpPr>
          <p:nvPr>
            <p:ph type="title"/>
          </p:nvPr>
        </p:nvSpPr>
        <p:spPr/>
        <p:txBody>
          <a:bodyPr vert="horz" wrap="square" lIns="91440" tIns="45720" rIns="91440" bIns="45720" anchor="ctr" anchorCtr="0"/>
          <a:p>
            <a:r>
              <a:rPr lang="zh-CN" altLang="en-US" dirty="0"/>
              <a:t>冲压视频</a:t>
            </a:r>
            <a:endParaRPr lang="zh-CN" altLang="en-US" dirty="0"/>
          </a:p>
        </p:txBody>
      </p:sp>
      <p:sp>
        <p:nvSpPr>
          <p:cNvPr id="107523" name="内容占位符 2"/>
          <p:cNvSpPr>
            <a:spLocks noGrp="1"/>
          </p:cNvSpPr>
          <p:nvPr>
            <p:ph idx="1"/>
          </p:nvPr>
        </p:nvSpPr>
        <p:spPr/>
        <p:txBody>
          <a:bodyPr vert="horz" wrap="square" lIns="91440" tIns="45720" rIns="91440" bIns="45720" anchor="t" anchorCtr="0"/>
          <a:p>
            <a:r>
              <a:rPr lang="en-US" altLang="zh-CN" sz="2800" dirty="0">
                <a:sym typeface="+mn-ea"/>
                <a:hlinkClick r:id="rId1"/>
              </a:rPr>
              <a:t>https://v.qq.com/x/page/f0792k95122.html——</a:t>
            </a:r>
            <a:r>
              <a:rPr lang="zh-CN" altLang="en-US" sz="2800" dirty="0">
                <a:sym typeface="+mn-ea"/>
              </a:rPr>
              <a:t>汽车件冲压工艺（开编播放）</a:t>
            </a:r>
            <a:endParaRPr lang="en-US" altLang="zh-CN" sz="2800" dirty="0"/>
          </a:p>
          <a:p>
            <a:r>
              <a:rPr lang="en-US" altLang="zh-CN" sz="2800" dirty="0">
                <a:hlinkClick r:id="rId2"/>
              </a:rPr>
              <a:t>https://v.qq.com/x/page/l0527rccsbt.html-</a:t>
            </a:r>
            <a:r>
              <a:rPr lang="zh-CN" altLang="en-US" sz="2800" dirty="0"/>
              <a:t>板料冲压教学视频（工序播放）</a:t>
            </a:r>
            <a:endParaRPr lang="zh-CN" altLang="en-US" sz="2800" dirty="0"/>
          </a:p>
          <a:p>
            <a:r>
              <a:rPr lang="en-US" altLang="zh-CN" sz="2800" dirty="0">
                <a:hlinkClick r:id="rId3"/>
              </a:rPr>
              <a:t>https://v.qq.com/x/page/s06117wq5oc.html——</a:t>
            </a:r>
            <a:r>
              <a:rPr lang="zh-CN" altLang="en-US" sz="2800" dirty="0"/>
              <a:t>热冲压工艺（热冲压播放）</a:t>
            </a:r>
            <a:endParaRPr lang="en-US" altLang="zh-CN" sz="2800" dirty="0"/>
          </a:p>
          <a:p>
            <a:r>
              <a:rPr lang="en-US" altLang="zh-CN" sz="2800" dirty="0">
                <a:sym typeface="+mn-ea"/>
                <a:hlinkClick r:id="rId4"/>
              </a:rPr>
              <a:t>https://v.qq.com/x/page/s0603wcvceh.html</a:t>
            </a:r>
            <a:r>
              <a:rPr lang="en-US" altLang="zh-CN" sz="2800" dirty="0">
                <a:sym typeface="+mn-ea"/>
              </a:rPr>
              <a:t>  </a:t>
            </a:r>
            <a:r>
              <a:rPr lang="zh-CN" altLang="en-US" sz="2800" dirty="0">
                <a:sym typeface="+mn-ea"/>
              </a:rPr>
              <a:t>塑性加工动图 回弹</a:t>
            </a:r>
            <a:r>
              <a:rPr lang="en-US" altLang="zh-CN" sz="2800" dirty="0">
                <a:sym typeface="+mn-ea"/>
              </a:rPr>
              <a:t>7</a:t>
            </a:r>
            <a:r>
              <a:rPr lang="zh-CN" altLang="en-US" sz="2800" dirty="0">
                <a:sym typeface="+mn-ea"/>
              </a:rPr>
              <a:t>分</a:t>
            </a:r>
            <a:r>
              <a:rPr lang="en-US" altLang="zh-CN" sz="2800" dirty="0">
                <a:sym typeface="+mn-ea"/>
              </a:rPr>
              <a:t>23</a:t>
            </a:r>
            <a:r>
              <a:rPr lang="zh-CN" altLang="en-US" sz="2800" dirty="0">
                <a:sym typeface="+mn-ea"/>
              </a:rPr>
              <a:t>秒</a:t>
            </a:r>
            <a:endParaRPr lang="zh-CN" altLang="en-US" sz="2800" dirty="0"/>
          </a:p>
          <a:p>
            <a:endParaRPr lang="zh-CN" altLang="en-US" sz="28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2"/>
          <p:cNvSpPr>
            <a:spLocks noGrp="1"/>
          </p:cNvSpPr>
          <p:nvPr>
            <p:ph type="title"/>
          </p:nvPr>
        </p:nvSpPr>
        <p:spPr>
          <a:xfrm>
            <a:off x="4102100" y="150813"/>
            <a:ext cx="2701925" cy="974725"/>
          </a:xfrm>
        </p:spPr>
        <p:txBody>
          <a:bodyPr vert="horz" wrap="square" lIns="91440" tIns="45720" rIns="91440" bIns="45720" anchor="ctr" anchorCtr="0"/>
          <a:p>
            <a:pPr eaLnBrk="1" hangingPunct="1"/>
            <a:r>
              <a:rPr lang="en-US" altLang="zh-CN" sz="4000" dirty="0">
                <a:ea typeface="楷体_GB2312" pitchFamily="49" charset="-122"/>
              </a:rPr>
              <a:t>    </a:t>
            </a:r>
            <a:r>
              <a:rPr lang="zh-CN" altLang="en-US" sz="4000" dirty="0">
                <a:ea typeface="楷体_GB2312" pitchFamily="49" charset="-122"/>
              </a:rPr>
              <a:t>冲压</a:t>
            </a:r>
            <a:endParaRPr lang="zh-CN" altLang="en-US" sz="4000" dirty="0">
              <a:ea typeface="楷体_GB2312" pitchFamily="49" charset="-122"/>
            </a:endParaRPr>
          </a:p>
        </p:txBody>
      </p:sp>
      <p:sp>
        <p:nvSpPr>
          <p:cNvPr id="111619" name="Rectangle 3"/>
          <p:cNvSpPr>
            <a:spLocks noGrp="1"/>
          </p:cNvSpPr>
          <p:nvPr>
            <p:ph idx="1"/>
          </p:nvPr>
        </p:nvSpPr>
        <p:spPr>
          <a:xfrm>
            <a:off x="1049338" y="1601788"/>
            <a:ext cx="7704137" cy="5256212"/>
          </a:xfrm>
        </p:spPr>
        <p:txBody>
          <a:bodyPr vert="horz" wrap="square" lIns="91440" tIns="45720" rIns="91440" bIns="45720" anchor="t" anchorCtr="0"/>
          <a:p>
            <a:pPr eaLnBrk="1" hangingPunct="1">
              <a:lnSpc>
                <a:spcPct val="80000"/>
              </a:lnSpc>
              <a:buFont typeface="Wingdings" panose="05000000000000000000" pitchFamily="2" charset="2"/>
              <a:buChar char="p"/>
            </a:pPr>
            <a:r>
              <a:rPr lang="zh-CN" altLang="en-US" sz="2800" b="1" dirty="0">
                <a:solidFill>
                  <a:srgbClr val="CC3300"/>
                </a:solidFill>
                <a:latin typeface="楷体_GB2312" pitchFamily="49" charset="-122"/>
                <a:ea typeface="楷体_GB2312" pitchFamily="49" charset="-122"/>
              </a:rPr>
              <a:t>冲压基本工序：</a:t>
            </a:r>
            <a:r>
              <a:rPr lang="zh-CN" altLang="en-US" sz="2800" b="1" dirty="0">
                <a:latin typeface="楷体_GB2312" pitchFamily="49" charset="-122"/>
                <a:ea typeface="楷体_GB2312" pitchFamily="49" charset="-122"/>
              </a:rPr>
              <a:t>有分离工序和成形工序两大类</a:t>
            </a:r>
            <a:endParaRPr lang="zh-CN" altLang="en-US" sz="2800" b="1" dirty="0">
              <a:latin typeface="楷体_GB2312" pitchFamily="49" charset="-122"/>
              <a:ea typeface="楷体_GB2312" pitchFamily="49" charset="-122"/>
            </a:endParaRPr>
          </a:p>
          <a:p>
            <a:pPr lvl="1" eaLnBrk="1" hangingPunct="1">
              <a:lnSpc>
                <a:spcPct val="80000"/>
              </a:lnSpc>
              <a:buFont typeface="Wingdings" panose="05000000000000000000" pitchFamily="2" charset="2"/>
              <a:buChar char="p"/>
            </a:pPr>
            <a:r>
              <a:rPr lang="zh-CN" altLang="en-US" b="1" dirty="0">
                <a:solidFill>
                  <a:srgbClr val="009900"/>
                </a:solidFill>
                <a:latin typeface="楷体_GB2312" pitchFamily="49" charset="-122"/>
                <a:ea typeface="楷体_GB2312" pitchFamily="49" charset="-122"/>
              </a:rPr>
              <a:t>分离工序</a:t>
            </a:r>
            <a:r>
              <a:rPr lang="en-US" altLang="zh-CN" b="1" dirty="0">
                <a:solidFill>
                  <a:srgbClr val="009900"/>
                </a:solidFill>
                <a:latin typeface="楷体_GB2312" pitchFamily="49" charset="-122"/>
                <a:ea typeface="楷体_GB2312" pitchFamily="49" charset="-122"/>
              </a:rPr>
              <a:t>:</a:t>
            </a:r>
            <a:r>
              <a:rPr lang="en-US" altLang="zh-CN"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使坯料的一部分与另一部分相互分离的工序，如落料、冲孔、切断和修整。</a:t>
            </a:r>
            <a:endParaRPr lang="zh-CN" altLang="en-US" b="1" dirty="0">
              <a:latin typeface="楷体_GB2312" pitchFamily="49" charset="-122"/>
              <a:ea typeface="楷体_GB2312" pitchFamily="49" charset="-122"/>
            </a:endParaRPr>
          </a:p>
          <a:p>
            <a:pPr lvl="2" eaLnBrk="1" hangingPunct="1">
              <a:lnSpc>
                <a:spcPct val="80000"/>
              </a:lnSpc>
              <a:buClr>
                <a:srgbClr val="CC3300"/>
              </a:buClr>
              <a:buFont typeface="Wingdings" panose="05000000000000000000" pitchFamily="2" charset="2"/>
              <a:buChar char="p"/>
            </a:pPr>
            <a:r>
              <a:rPr lang="zh-CN" altLang="en-US" sz="2800" b="1" dirty="0">
                <a:solidFill>
                  <a:srgbClr val="CC3300"/>
                </a:solidFill>
                <a:latin typeface="楷体_GB2312" pitchFamily="49" charset="-122"/>
                <a:ea typeface="楷体_GB2312" pitchFamily="49" charset="-122"/>
              </a:rPr>
              <a:t>冲裁</a:t>
            </a:r>
            <a:r>
              <a:rPr lang="zh-CN" altLang="en-US" sz="2800" b="1" dirty="0">
                <a:latin typeface="楷体_GB2312" pitchFamily="49" charset="-122"/>
                <a:ea typeface="楷体_GB2312" pitchFamily="49" charset="-122"/>
              </a:rPr>
              <a:t>（落料和冲孔）：利用冲模将板料以封闭的轮廓与坯料分离的一种冲压方法。</a:t>
            </a:r>
            <a:endParaRPr lang="zh-CN" altLang="en-US" sz="2800" b="1" dirty="0">
              <a:latin typeface="楷体_GB2312" pitchFamily="49" charset="-122"/>
              <a:ea typeface="楷体_GB2312" pitchFamily="49" charset="-122"/>
            </a:endParaRPr>
          </a:p>
          <a:p>
            <a:pPr lvl="3" eaLnBrk="1" hangingPunct="1">
              <a:lnSpc>
                <a:spcPct val="80000"/>
              </a:lnSpc>
              <a:buClr>
                <a:srgbClr val="CC3300"/>
              </a:buClr>
              <a:buFont typeface="Wingdings" panose="05000000000000000000" pitchFamily="2" charset="2"/>
              <a:buChar char="p"/>
            </a:pPr>
            <a:r>
              <a:rPr lang="zh-CN" altLang="en-US" sz="2400" b="1" dirty="0">
                <a:solidFill>
                  <a:srgbClr val="0000FF"/>
                </a:solidFill>
                <a:latin typeface="楷体_GB2312" pitchFamily="49" charset="-122"/>
                <a:ea typeface="楷体_GB2312" pitchFamily="49" charset="-122"/>
              </a:rPr>
              <a:t>落料：利用冲裁取得一定外形的制件或坯料的冲压方法，称为落料。</a:t>
            </a:r>
            <a:r>
              <a:rPr lang="zh-CN" altLang="en-US" sz="2400" b="1" dirty="0">
                <a:latin typeface="楷体_GB2312" pitchFamily="49" charset="-122"/>
                <a:ea typeface="楷体_GB2312" pitchFamily="49" charset="-122"/>
              </a:rPr>
              <a:t>被分离部分为成品，周边是废料。</a:t>
            </a:r>
            <a:endParaRPr lang="zh-CN" altLang="en-US" sz="2400" b="1" dirty="0">
              <a:latin typeface="楷体_GB2312" pitchFamily="49" charset="-122"/>
              <a:ea typeface="楷体_GB2312" pitchFamily="49" charset="-122"/>
            </a:endParaRPr>
          </a:p>
          <a:p>
            <a:pPr lvl="3" eaLnBrk="1" hangingPunct="1">
              <a:lnSpc>
                <a:spcPct val="80000"/>
              </a:lnSpc>
              <a:buClr>
                <a:srgbClr val="CC3300"/>
              </a:buClr>
              <a:buFont typeface="Wingdings" panose="05000000000000000000" pitchFamily="2" charset="2"/>
              <a:buChar char="p"/>
            </a:pPr>
            <a:r>
              <a:rPr lang="zh-CN" altLang="en-US" sz="2400" b="1" dirty="0">
                <a:solidFill>
                  <a:srgbClr val="0000FF"/>
                </a:solidFill>
                <a:latin typeface="楷体_GB2312" pitchFamily="49" charset="-122"/>
                <a:ea typeface="楷体_GB2312" pitchFamily="49" charset="-122"/>
              </a:rPr>
              <a:t>冲孔：将材料以封闭的轮廓分离开来，获得带孔的制件的一种冲压方法称为冲孔。</a:t>
            </a:r>
            <a:r>
              <a:rPr lang="zh-CN" altLang="en-US" sz="2400" b="1" dirty="0">
                <a:latin typeface="楷体_GB2312" pitchFamily="49" charset="-122"/>
                <a:ea typeface="楷体_GB2312" pitchFamily="49" charset="-122"/>
              </a:rPr>
              <a:t>被分离部分是废品，周边是成品。</a:t>
            </a:r>
            <a:endParaRPr lang="zh-CN" altLang="en-US" sz="2400" b="1" dirty="0">
              <a:latin typeface="楷体_GB2312" pitchFamily="49" charset="-122"/>
              <a:ea typeface="楷体_GB2312" pitchFamily="49" charset="-122"/>
            </a:endParaRPr>
          </a:p>
        </p:txBody>
      </p:sp>
      <p:pic>
        <p:nvPicPr>
          <p:cNvPr id="100" name="图片 99"/>
          <p:cNvPicPr/>
          <p:nvPr/>
        </p:nvPicPr>
        <p:blipFill>
          <a:blip r:embed="rId1"/>
          <a:stretch>
            <a:fillRect/>
          </a:stretch>
        </p:blipFill>
        <p:spPr>
          <a:xfrm>
            <a:off x="35560" y="4748530"/>
            <a:ext cx="2444115" cy="2109470"/>
          </a:xfrm>
          <a:prstGeom prst="rect">
            <a:avLst/>
          </a:prstGeom>
          <a:noFill/>
          <a:ln w="9525">
            <a:noFill/>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2"/>
          <p:cNvSpPr>
            <a:spLocks noGrp="1"/>
          </p:cNvSpPr>
          <p:nvPr>
            <p:ph type="title"/>
          </p:nvPr>
        </p:nvSpPr>
        <p:spPr>
          <a:xfrm>
            <a:off x="457200" y="-26987"/>
            <a:ext cx="8229600" cy="1139825"/>
          </a:xfrm>
        </p:spPr>
        <p:txBody>
          <a:bodyPr vert="horz" wrap="square" lIns="91440" tIns="45720" rIns="91440" bIns="45720" anchor="ctr" anchorCtr="0"/>
          <a:p>
            <a:pPr eaLnBrk="1" hangingPunct="1"/>
            <a:r>
              <a:rPr lang="zh-CN" altLang="en-US" dirty="0"/>
              <a:t>板料冲压</a:t>
            </a:r>
            <a:endParaRPr lang="zh-CN" altLang="en-US" dirty="0"/>
          </a:p>
        </p:txBody>
      </p:sp>
      <p:sp>
        <p:nvSpPr>
          <p:cNvPr id="113667" name="Rectangle 15"/>
          <p:cNvSpPr/>
          <p:nvPr/>
        </p:nvSpPr>
        <p:spPr>
          <a:xfrm>
            <a:off x="-3635375" y="2789238"/>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sp>
        <p:nvSpPr>
          <p:cNvPr id="113668" name="Rectangle 26"/>
          <p:cNvSpPr/>
          <p:nvPr/>
        </p:nvSpPr>
        <p:spPr>
          <a:xfrm>
            <a:off x="250825" y="1114267"/>
            <a:ext cx="8569325" cy="2306955"/>
          </a:xfrm>
          <a:prstGeom prst="rect">
            <a:avLst/>
          </a:prstGeom>
          <a:noFill/>
          <a:ln w="9525">
            <a:noFill/>
          </a:ln>
        </p:spPr>
        <p:txBody>
          <a:bodyPr anchor="ctr" anchorCtr="0">
            <a:spAutoFit/>
          </a:bodyPr>
          <a:p>
            <a:pPr indent="228600" eaLnBrk="1" hangingPunct="1">
              <a:buFont typeface="Wingdings" panose="05000000000000000000" pitchFamily="2" charset="2"/>
              <a:buNone/>
            </a:pPr>
            <a:r>
              <a:rPr lang="zh-CN" altLang="en-US" sz="2400" b="1" dirty="0">
                <a:solidFill>
                  <a:srgbClr val="FF0000"/>
                </a:solidFill>
                <a:latin typeface="楷体_GB2312" pitchFamily="49" charset="-122"/>
                <a:ea typeface="楷体_GB2312" pitchFamily="49" charset="-122"/>
              </a:rPr>
              <a:t>三个阶段：</a:t>
            </a:r>
            <a:endParaRPr lang="zh-CN" altLang="en-US" sz="2400" b="1" dirty="0">
              <a:solidFill>
                <a:srgbClr val="FF0000"/>
              </a:solidFill>
              <a:latin typeface="楷体_GB2312" pitchFamily="49" charset="-122"/>
              <a:ea typeface="楷体_GB2312" pitchFamily="49" charset="-122"/>
            </a:endParaRPr>
          </a:p>
          <a:p>
            <a:pPr indent="228600">
              <a:buNone/>
            </a:pPr>
            <a:r>
              <a:rPr lang="zh-CN" altLang="en-US" sz="2400" b="1" dirty="0">
                <a:solidFill>
                  <a:srgbClr val="009900"/>
                </a:solidFill>
                <a:latin typeface="楷体_GB2312" pitchFamily="49" charset="-122"/>
                <a:ea typeface="楷体_GB2312" pitchFamily="49" charset="-122"/>
              </a:rPr>
              <a:t>①弹性变形阶段  </a:t>
            </a:r>
            <a:r>
              <a:rPr lang="zh-CN" altLang="en-US" sz="2400" b="1" dirty="0">
                <a:latin typeface="楷体_GB2312" pitchFamily="49" charset="-122"/>
                <a:ea typeface="楷体_GB2312" pitchFamily="49" charset="-122"/>
              </a:rPr>
              <a:t>冲头接触板料后，继续向下运动的初始阶段，使板料产生</a:t>
            </a:r>
            <a:r>
              <a:rPr lang="zh-CN" altLang="en-US" sz="2400" b="1" dirty="0">
                <a:solidFill>
                  <a:srgbClr val="FF0000"/>
                </a:solidFill>
                <a:latin typeface="楷体_GB2312" pitchFamily="49" charset="-122"/>
                <a:ea typeface="楷体_GB2312" pitchFamily="49" charset="-122"/>
              </a:rPr>
              <a:t>弹性压缩</a:t>
            </a:r>
            <a:r>
              <a:rPr lang="zh-CN" altLang="en-US" sz="2400" b="1" dirty="0">
                <a:latin typeface="楷体_GB2312" pitchFamily="49" charset="-122"/>
                <a:ea typeface="楷体_GB2312" pitchFamily="49" charset="-122"/>
              </a:rPr>
              <a:t>、</a:t>
            </a:r>
            <a:r>
              <a:rPr lang="zh-CN" altLang="en-US" sz="2400" b="1" dirty="0">
                <a:solidFill>
                  <a:srgbClr val="FF0000"/>
                </a:solidFill>
                <a:latin typeface="楷体_GB2312" pitchFamily="49" charset="-122"/>
                <a:ea typeface="楷体_GB2312" pitchFamily="49" charset="-122"/>
              </a:rPr>
              <a:t>拉伸</a:t>
            </a:r>
            <a:r>
              <a:rPr lang="zh-CN" altLang="en-US" sz="2400" b="1" dirty="0">
                <a:latin typeface="楷体_GB2312" pitchFamily="49" charset="-122"/>
                <a:ea typeface="楷体_GB2312" pitchFamily="49" charset="-122"/>
              </a:rPr>
              <a:t>与</a:t>
            </a:r>
            <a:r>
              <a:rPr lang="zh-CN" altLang="en-US" sz="2400" b="1" dirty="0">
                <a:solidFill>
                  <a:srgbClr val="FF0000"/>
                </a:solidFill>
                <a:latin typeface="楷体_GB2312" pitchFamily="49" charset="-122"/>
                <a:ea typeface="楷体_GB2312" pitchFamily="49" charset="-122"/>
              </a:rPr>
              <a:t>弯曲</a:t>
            </a:r>
            <a:r>
              <a:rPr lang="zh-CN" altLang="en-US" sz="2400" b="1" dirty="0">
                <a:latin typeface="楷体_GB2312" pitchFamily="49" charset="-122"/>
                <a:ea typeface="楷体_GB2312" pitchFamily="49" charset="-122"/>
              </a:rPr>
              <a:t>等变形。</a:t>
            </a:r>
            <a:endParaRPr lang="zh-CN" altLang="en-US" sz="2400" b="1" dirty="0">
              <a:latin typeface="楷体_GB2312" pitchFamily="49" charset="-122"/>
              <a:ea typeface="楷体_GB2312" pitchFamily="49" charset="-122"/>
            </a:endParaRPr>
          </a:p>
          <a:p>
            <a:pPr indent="228600">
              <a:buNone/>
            </a:pPr>
            <a:r>
              <a:rPr lang="zh-CN" altLang="en-US" sz="2400" b="1" dirty="0">
                <a:latin typeface="楷体_GB2312" pitchFamily="49" charset="-122"/>
                <a:ea typeface="楷体_GB2312" pitchFamily="49" charset="-122"/>
              </a:rPr>
              <a:t>板料中应力值迅速增大，此时凸模下的材料略有弯曲，凹模周围的板料则向上翘。</a:t>
            </a:r>
            <a:r>
              <a:rPr lang="zh-CN" altLang="en-US" sz="2400" b="1" dirty="0">
                <a:solidFill>
                  <a:srgbClr val="0000FF"/>
                </a:solidFill>
                <a:latin typeface="楷体_GB2312" pitchFamily="49" charset="-122"/>
                <a:ea typeface="楷体_GB2312" pitchFamily="49" charset="-122"/>
              </a:rPr>
              <a:t>凸、凹模之间的间隙越大，弯曲和上翘越明显。形成圆角带</a:t>
            </a:r>
            <a:endParaRPr lang="zh-CN" altLang="en-US" sz="2400" b="1" dirty="0">
              <a:solidFill>
                <a:srgbClr val="0000FF"/>
              </a:solidFill>
              <a:latin typeface="楷体_GB2312" pitchFamily="49" charset="-122"/>
              <a:ea typeface="楷体_GB2312" pitchFamily="49" charset="-122"/>
            </a:endParaRPr>
          </a:p>
        </p:txBody>
      </p:sp>
      <p:sp>
        <p:nvSpPr>
          <p:cNvPr id="113669" name="Rectangle 27"/>
          <p:cNvSpPr/>
          <p:nvPr/>
        </p:nvSpPr>
        <p:spPr>
          <a:xfrm>
            <a:off x="2643188" y="261938"/>
            <a:ext cx="5214937" cy="708025"/>
          </a:xfrm>
          <a:prstGeom prst="rect">
            <a:avLst/>
          </a:prstGeom>
          <a:noFill/>
          <a:ln w="9525">
            <a:noFill/>
          </a:ln>
        </p:spPr>
        <p:txBody>
          <a:bodyPr>
            <a:spAutoFit/>
          </a:bodyPr>
          <a:p>
            <a:pPr eaLnBrk="1" hangingPunct="1"/>
            <a:r>
              <a:rPr lang="en-US" altLang="zh-CN" sz="4000" b="1" dirty="0">
                <a:solidFill>
                  <a:schemeClr val="tx2"/>
                </a:solidFill>
                <a:latin typeface="Arial" panose="020B0604020202020204" pitchFamily="34" charset="0"/>
                <a:ea typeface="楷体_GB2312" pitchFamily="49" charset="-122"/>
              </a:rPr>
              <a:t>    </a:t>
            </a:r>
            <a:r>
              <a:rPr lang="zh-CN" altLang="en-US" sz="4000" b="1" dirty="0">
                <a:solidFill>
                  <a:srgbClr val="CC3300"/>
                </a:solidFill>
                <a:latin typeface="楷体_GB2312" pitchFamily="49" charset="-122"/>
                <a:ea typeface="楷体_GB2312" pitchFamily="49" charset="-122"/>
              </a:rPr>
              <a:t>（</a:t>
            </a:r>
            <a:r>
              <a:rPr lang="en-US" altLang="zh-CN" sz="4000" b="1" dirty="0">
                <a:solidFill>
                  <a:srgbClr val="CC3300"/>
                </a:solidFill>
                <a:latin typeface="楷体_GB2312" pitchFamily="49" charset="-122"/>
                <a:ea typeface="楷体_GB2312" pitchFamily="49" charset="-122"/>
              </a:rPr>
              <a:t>1</a:t>
            </a:r>
            <a:r>
              <a:rPr lang="zh-CN" altLang="en-US" sz="4000" b="1" dirty="0">
                <a:solidFill>
                  <a:srgbClr val="CC3300"/>
                </a:solidFill>
                <a:latin typeface="楷体_GB2312" pitchFamily="49" charset="-122"/>
                <a:ea typeface="楷体_GB2312" pitchFamily="49" charset="-122"/>
              </a:rPr>
              <a:t>）冲裁变形过程　</a:t>
            </a:r>
            <a:endParaRPr lang="zh-CN" altLang="en-US" sz="4000" b="1" dirty="0">
              <a:solidFill>
                <a:srgbClr val="CC3300"/>
              </a:solidFill>
              <a:latin typeface="楷体_GB2312" pitchFamily="49" charset="-122"/>
              <a:ea typeface="楷体_GB2312" pitchFamily="49" charset="-122"/>
            </a:endParaRPr>
          </a:p>
        </p:txBody>
      </p:sp>
      <p:pic>
        <p:nvPicPr>
          <p:cNvPr id="113670" name="Picture 10" descr="金属板料的冲裁过程"/>
          <p:cNvPicPr>
            <a:picLocks noChangeAspect="1"/>
          </p:cNvPicPr>
          <p:nvPr/>
        </p:nvPicPr>
        <p:blipFill>
          <a:blip r:embed="rId1"/>
          <a:stretch>
            <a:fillRect/>
          </a:stretch>
        </p:blipFill>
        <p:spPr>
          <a:xfrm>
            <a:off x="169228" y="3645535"/>
            <a:ext cx="8805862" cy="2519363"/>
          </a:xfrm>
          <a:prstGeom prst="rect">
            <a:avLst/>
          </a:prstGeom>
          <a:noFill/>
          <a:ln w="9525">
            <a:noFill/>
          </a:ln>
        </p:spPr>
      </p:pic>
      <p:sp>
        <p:nvSpPr>
          <p:cNvPr id="7" name="圆角矩形标注 6"/>
          <p:cNvSpPr/>
          <p:nvPr/>
        </p:nvSpPr>
        <p:spPr>
          <a:xfrm>
            <a:off x="714375" y="6072188"/>
            <a:ext cx="1214438" cy="571500"/>
          </a:xfrm>
          <a:prstGeom prst="wedgeRoundRectCallout">
            <a:avLst>
              <a:gd name="adj1" fmla="val -31831"/>
              <a:gd name="adj2" fmla="val -99297"/>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smtClean="0">
                <a:ln>
                  <a:noFill/>
                </a:ln>
                <a:solidFill>
                  <a:schemeClr val="lt1"/>
                </a:solidFill>
                <a:effectLst/>
                <a:uLnTx/>
                <a:uFillTx/>
                <a:latin typeface="+mn-lt"/>
                <a:ea typeface="+mn-ea"/>
                <a:cs typeface="+mn-cs"/>
              </a:rPr>
              <a:t>弹性变形</a:t>
            </a:r>
            <a:endParaRPr kumimoji="0" lang="zh-CN" altLang="en-US" sz="1800" b="0" i="0" u="none" strike="noStrike" kern="1200" cap="none" spc="0" normalizeH="0" baseline="0" noProof="0" dirty="0" smtClean="0">
              <a:ln>
                <a:noFill/>
              </a:ln>
              <a:solidFill>
                <a:schemeClr val="lt1"/>
              </a:solidFill>
              <a:effectLst/>
              <a:uLnTx/>
              <a:uFillTx/>
              <a:latin typeface="+mn-lt"/>
              <a:ea typeface="+mn-ea"/>
              <a:cs typeface="+mn-cs"/>
            </a:endParaRPr>
          </a:p>
        </p:txBody>
      </p:sp>
      <p:sp>
        <p:nvSpPr>
          <p:cNvPr id="8" name="圆角矩形标注 7"/>
          <p:cNvSpPr/>
          <p:nvPr/>
        </p:nvSpPr>
        <p:spPr>
          <a:xfrm>
            <a:off x="2143125" y="6286500"/>
            <a:ext cx="1214438" cy="571500"/>
          </a:xfrm>
          <a:prstGeom prst="wedgeRoundRectCallout">
            <a:avLst>
              <a:gd name="adj1" fmla="val -83437"/>
              <a:gd name="adj2" fmla="val -248509"/>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smtClean="0">
                <a:ln>
                  <a:noFill/>
                </a:ln>
                <a:solidFill>
                  <a:schemeClr val="lt1"/>
                </a:solidFill>
                <a:effectLst/>
                <a:uLnTx/>
                <a:uFillTx/>
                <a:latin typeface="+mn-lt"/>
                <a:ea typeface="+mn-ea"/>
                <a:cs typeface="+mn-cs"/>
              </a:rPr>
              <a:t>圆角带（塌角）</a:t>
            </a:r>
            <a:endParaRPr kumimoji="0" lang="zh-CN" altLang="en-US" sz="1800" b="0" i="0" u="none" strike="noStrike" kern="1200" cap="none" spc="0" normalizeH="0" baseline="0" noProof="0" dirty="0" smtClean="0">
              <a:ln>
                <a:noFill/>
              </a:ln>
              <a:solidFill>
                <a:schemeClr val="lt1"/>
              </a:solidFill>
              <a:effectLst/>
              <a:uLnTx/>
              <a:uFillTx/>
              <a:latin typeface="+mn-lt"/>
              <a:ea typeface="+mn-ea"/>
              <a:cs typeface="+mn-cs"/>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2"/>
          <p:cNvSpPr>
            <a:spLocks noGrp="1"/>
          </p:cNvSpPr>
          <p:nvPr>
            <p:ph type="title"/>
          </p:nvPr>
        </p:nvSpPr>
        <p:spPr>
          <a:xfrm>
            <a:off x="457200" y="-26987"/>
            <a:ext cx="8229600" cy="1139825"/>
          </a:xfrm>
        </p:spPr>
        <p:txBody>
          <a:bodyPr vert="horz" wrap="square" lIns="91440" tIns="45720" rIns="91440" bIns="45720" anchor="ctr" anchorCtr="0"/>
          <a:p>
            <a:pPr eaLnBrk="1" hangingPunct="1"/>
            <a:r>
              <a:rPr lang="zh-CN" altLang="en-US" dirty="0"/>
              <a:t>板料冲压</a:t>
            </a:r>
            <a:endParaRPr lang="zh-CN" altLang="en-US" dirty="0"/>
          </a:p>
        </p:txBody>
      </p:sp>
      <p:sp>
        <p:nvSpPr>
          <p:cNvPr id="114691" name="Rectangle 7"/>
          <p:cNvSpPr/>
          <p:nvPr/>
        </p:nvSpPr>
        <p:spPr>
          <a:xfrm>
            <a:off x="-3635375" y="2789238"/>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sp>
        <p:nvSpPr>
          <p:cNvPr id="114692" name="Rectangle 8"/>
          <p:cNvSpPr/>
          <p:nvPr/>
        </p:nvSpPr>
        <p:spPr>
          <a:xfrm>
            <a:off x="107950" y="1259682"/>
            <a:ext cx="8785225" cy="1568450"/>
          </a:xfrm>
          <a:prstGeom prst="rect">
            <a:avLst/>
          </a:prstGeom>
          <a:noFill/>
          <a:ln w="9525">
            <a:noFill/>
          </a:ln>
        </p:spPr>
        <p:txBody>
          <a:bodyPr anchor="ctr" anchorCtr="0">
            <a:spAutoFit/>
          </a:bodyPr>
          <a:p>
            <a:pPr indent="228600" eaLnBrk="1" hangingPunct="1">
              <a:buFont typeface="Wingdings" panose="05000000000000000000" pitchFamily="2" charset="2"/>
              <a:buNone/>
            </a:pPr>
            <a:r>
              <a:rPr lang="zh-CN" altLang="en-US" sz="2400" b="1" dirty="0">
                <a:solidFill>
                  <a:srgbClr val="009900"/>
                </a:solidFill>
                <a:latin typeface="楷体_GB2312" pitchFamily="49" charset="-122"/>
                <a:ea typeface="楷体_GB2312" pitchFamily="49" charset="-122"/>
              </a:rPr>
              <a:t>②塑性变形阶段  </a:t>
            </a:r>
            <a:r>
              <a:rPr lang="zh-CN" altLang="en-US" sz="2400" b="1" dirty="0">
                <a:latin typeface="楷体_GB2312" pitchFamily="49" charset="-122"/>
                <a:ea typeface="楷体_GB2312" pitchFamily="49" charset="-122"/>
              </a:rPr>
              <a:t>冲头继续压入，压力增加，材料挤入凹模，</a:t>
            </a:r>
            <a:r>
              <a:rPr lang="zh-CN" altLang="en-US" sz="2400" b="1" dirty="0">
                <a:solidFill>
                  <a:srgbClr val="0000FF"/>
                </a:solidFill>
                <a:latin typeface="楷体_GB2312" pitchFamily="49" charset="-122"/>
                <a:ea typeface="楷体_GB2312" pitchFamily="49" charset="-122"/>
              </a:rPr>
              <a:t>板料中的应力值达到屈服点时，板料进入塑性变形阶段。</a:t>
            </a:r>
            <a:r>
              <a:rPr lang="zh-CN" altLang="en-US" sz="2400" b="1" dirty="0">
                <a:latin typeface="楷体_GB2312" pitchFamily="49" charset="-122"/>
                <a:ea typeface="楷体_GB2312" pitchFamily="49" charset="-122"/>
              </a:rPr>
              <a:t>变形达到一定程度，位于凸凹模刃口处的金属冷变形强化加剧，加工硬化，出现裂纹。形成光亮带</a:t>
            </a:r>
            <a:endParaRPr lang="zh-CN" altLang="en-US" sz="2400" b="1" dirty="0">
              <a:latin typeface="楷体_GB2312" pitchFamily="49" charset="-122"/>
              <a:ea typeface="楷体_GB2312" pitchFamily="49" charset="-122"/>
            </a:endParaRPr>
          </a:p>
        </p:txBody>
      </p:sp>
      <p:sp>
        <p:nvSpPr>
          <p:cNvPr id="114693" name="Rectangle 10"/>
          <p:cNvSpPr/>
          <p:nvPr/>
        </p:nvSpPr>
        <p:spPr>
          <a:xfrm>
            <a:off x="250825" y="2800350"/>
            <a:ext cx="8435975" cy="1198880"/>
          </a:xfrm>
          <a:prstGeom prst="rect">
            <a:avLst/>
          </a:prstGeom>
          <a:noFill/>
          <a:ln w="9525">
            <a:noFill/>
          </a:ln>
        </p:spPr>
        <p:txBody>
          <a:bodyPr>
            <a:spAutoFit/>
          </a:bodyPr>
          <a:p>
            <a:pPr eaLnBrk="1" hangingPunct="1"/>
            <a:r>
              <a:rPr lang="en-US" altLang="zh-CN" sz="2400" b="1" dirty="0">
                <a:solidFill>
                  <a:srgbClr val="009900"/>
                </a:solidFill>
                <a:latin typeface="楷体_GB2312" pitchFamily="49" charset="-122"/>
                <a:ea typeface="楷体_GB2312" pitchFamily="49" charset="-122"/>
              </a:rPr>
              <a:t>③</a:t>
            </a:r>
            <a:r>
              <a:rPr lang="zh-CN" altLang="en-US" sz="2400" b="1" dirty="0">
                <a:solidFill>
                  <a:srgbClr val="009900"/>
                </a:solidFill>
                <a:latin typeface="楷体_GB2312" pitchFamily="49" charset="-122"/>
                <a:ea typeface="楷体_GB2312" pitchFamily="49" charset="-122"/>
              </a:rPr>
              <a:t>断裂分离阶段  </a:t>
            </a:r>
            <a:r>
              <a:rPr lang="zh-CN" altLang="en-US" sz="2400" b="1" dirty="0">
                <a:latin typeface="楷体_GB2312" pitchFamily="49" charset="-122"/>
                <a:ea typeface="楷体_GB2312" pitchFamily="49" charset="-122"/>
              </a:rPr>
              <a:t>冲头继续压入，已形成的上、下微裂纹逐渐扩大并向材料内延伸，当上、下裂纹相遇重合时，材料被剪断分离。形成断裂带</a:t>
            </a:r>
            <a:endParaRPr lang="zh-CN" altLang="en-US" sz="2400" b="1" dirty="0">
              <a:latin typeface="楷体_GB2312" pitchFamily="49" charset="-122"/>
              <a:ea typeface="楷体_GB2312" pitchFamily="49" charset="-122"/>
            </a:endParaRPr>
          </a:p>
        </p:txBody>
      </p:sp>
      <p:pic>
        <p:nvPicPr>
          <p:cNvPr id="114694" name="Picture 11" descr="金属板料的冲裁过程"/>
          <p:cNvPicPr>
            <a:picLocks noChangeAspect="1"/>
          </p:cNvPicPr>
          <p:nvPr/>
        </p:nvPicPr>
        <p:blipFill>
          <a:blip r:embed="rId1"/>
          <a:stretch>
            <a:fillRect/>
          </a:stretch>
        </p:blipFill>
        <p:spPr>
          <a:xfrm>
            <a:off x="0" y="4071938"/>
            <a:ext cx="9075738" cy="2597150"/>
          </a:xfrm>
          <a:prstGeom prst="rect">
            <a:avLst/>
          </a:prstGeom>
          <a:noFill/>
          <a:ln w="9525">
            <a:noFill/>
          </a:ln>
        </p:spPr>
      </p:pic>
      <p:sp>
        <p:nvSpPr>
          <p:cNvPr id="114695" name="Rectangle 27"/>
          <p:cNvSpPr/>
          <p:nvPr/>
        </p:nvSpPr>
        <p:spPr>
          <a:xfrm>
            <a:off x="2643188" y="261938"/>
            <a:ext cx="5214937" cy="708025"/>
          </a:xfrm>
          <a:prstGeom prst="rect">
            <a:avLst/>
          </a:prstGeom>
          <a:noFill/>
          <a:ln w="9525">
            <a:noFill/>
          </a:ln>
        </p:spPr>
        <p:txBody>
          <a:bodyPr>
            <a:spAutoFit/>
          </a:bodyPr>
          <a:p>
            <a:pPr eaLnBrk="1" hangingPunct="1"/>
            <a:r>
              <a:rPr lang="en-US" altLang="zh-CN" sz="4000" b="1" dirty="0">
                <a:solidFill>
                  <a:schemeClr val="tx2"/>
                </a:solidFill>
                <a:latin typeface="Arial" panose="020B0604020202020204" pitchFamily="34" charset="0"/>
                <a:ea typeface="楷体_GB2312" pitchFamily="49" charset="-122"/>
              </a:rPr>
              <a:t>    </a:t>
            </a:r>
            <a:r>
              <a:rPr lang="zh-CN" altLang="en-US" sz="4000" b="1" dirty="0">
                <a:solidFill>
                  <a:srgbClr val="CC3300"/>
                </a:solidFill>
                <a:latin typeface="楷体_GB2312" pitchFamily="49" charset="-122"/>
                <a:ea typeface="楷体_GB2312" pitchFamily="49" charset="-122"/>
              </a:rPr>
              <a:t>（</a:t>
            </a:r>
            <a:r>
              <a:rPr lang="en-US" altLang="zh-CN" sz="4000" b="1" dirty="0">
                <a:solidFill>
                  <a:srgbClr val="CC3300"/>
                </a:solidFill>
                <a:latin typeface="楷体_GB2312" pitchFamily="49" charset="-122"/>
                <a:ea typeface="楷体_GB2312" pitchFamily="49" charset="-122"/>
              </a:rPr>
              <a:t>1</a:t>
            </a:r>
            <a:r>
              <a:rPr lang="zh-CN" altLang="en-US" sz="4000" b="1" dirty="0">
                <a:solidFill>
                  <a:srgbClr val="CC3300"/>
                </a:solidFill>
                <a:latin typeface="楷体_GB2312" pitchFamily="49" charset="-122"/>
                <a:ea typeface="楷体_GB2312" pitchFamily="49" charset="-122"/>
              </a:rPr>
              <a:t>）冲裁变形过程　</a:t>
            </a:r>
            <a:endParaRPr lang="zh-CN" altLang="en-US" sz="4000" b="1" dirty="0">
              <a:solidFill>
                <a:srgbClr val="CC3300"/>
              </a:solidFill>
              <a:latin typeface="楷体_GB2312" pitchFamily="49" charset="-122"/>
              <a:ea typeface="楷体_GB2312" pitchFamily="49" charset="-122"/>
            </a:endParaRPr>
          </a:p>
        </p:txBody>
      </p:sp>
      <p:sp>
        <p:nvSpPr>
          <p:cNvPr id="8" name="圆角矩形标注 7"/>
          <p:cNvSpPr/>
          <p:nvPr/>
        </p:nvSpPr>
        <p:spPr>
          <a:xfrm>
            <a:off x="3857625" y="4000500"/>
            <a:ext cx="1214438" cy="571500"/>
          </a:xfrm>
          <a:prstGeom prst="wedgeRoundRectCallout">
            <a:avLst>
              <a:gd name="adj1" fmla="val -36061"/>
              <a:gd name="adj2" fmla="val 85870"/>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smtClean="0">
                <a:ln>
                  <a:noFill/>
                </a:ln>
                <a:solidFill>
                  <a:schemeClr val="lt1"/>
                </a:solidFill>
                <a:effectLst/>
                <a:uLnTx/>
                <a:uFillTx/>
                <a:latin typeface="+mn-lt"/>
                <a:ea typeface="+mn-ea"/>
                <a:cs typeface="+mn-cs"/>
              </a:rPr>
              <a:t>塑性变形</a:t>
            </a:r>
            <a:endParaRPr kumimoji="0" lang="zh-CN" altLang="en-US" sz="1800" b="0" i="0" u="none" strike="noStrike" kern="1200" cap="none" spc="0" normalizeH="0" baseline="0" noProof="0" dirty="0" smtClean="0">
              <a:ln>
                <a:noFill/>
              </a:ln>
              <a:solidFill>
                <a:schemeClr val="lt1"/>
              </a:solidFill>
              <a:effectLst/>
              <a:uLnTx/>
              <a:uFillTx/>
              <a:latin typeface="+mn-lt"/>
              <a:ea typeface="+mn-ea"/>
              <a:cs typeface="+mn-cs"/>
            </a:endParaRPr>
          </a:p>
        </p:txBody>
      </p:sp>
      <p:sp>
        <p:nvSpPr>
          <p:cNvPr id="9" name="圆角矩形标注 8"/>
          <p:cNvSpPr/>
          <p:nvPr/>
        </p:nvSpPr>
        <p:spPr>
          <a:xfrm>
            <a:off x="1928813" y="6143625"/>
            <a:ext cx="1214438" cy="571500"/>
          </a:xfrm>
          <a:prstGeom prst="wedgeRoundRectCallout">
            <a:avLst>
              <a:gd name="adj1" fmla="val 51076"/>
              <a:gd name="adj2" fmla="val -160420"/>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smtClean="0">
                <a:ln>
                  <a:noFill/>
                </a:ln>
                <a:solidFill>
                  <a:schemeClr val="lt1"/>
                </a:solidFill>
                <a:effectLst/>
                <a:uLnTx/>
                <a:uFillTx/>
                <a:latin typeface="+mn-lt"/>
                <a:ea typeface="+mn-ea"/>
                <a:cs typeface="+mn-cs"/>
              </a:rPr>
              <a:t>裂纹，光亮带</a:t>
            </a:r>
            <a:endParaRPr kumimoji="0" lang="zh-CN" altLang="en-US" sz="1800" b="0" i="0" u="none" strike="noStrike" kern="1200" cap="none" spc="0" normalizeH="0" baseline="0" noProof="0" dirty="0" smtClean="0">
              <a:ln>
                <a:noFill/>
              </a:ln>
              <a:solidFill>
                <a:schemeClr val="lt1"/>
              </a:solidFill>
              <a:effectLst/>
              <a:uLnTx/>
              <a:uFillTx/>
              <a:latin typeface="+mn-lt"/>
              <a:ea typeface="+mn-ea"/>
              <a:cs typeface="+mn-cs"/>
            </a:endParaRPr>
          </a:p>
        </p:txBody>
      </p:sp>
      <p:sp>
        <p:nvSpPr>
          <p:cNvPr id="10" name="圆角矩形标注 9"/>
          <p:cNvSpPr/>
          <p:nvPr/>
        </p:nvSpPr>
        <p:spPr>
          <a:xfrm>
            <a:off x="5715000" y="3929063"/>
            <a:ext cx="1214438" cy="571500"/>
          </a:xfrm>
          <a:prstGeom prst="wedgeRoundRectCallout">
            <a:avLst>
              <a:gd name="adj1" fmla="val -60595"/>
              <a:gd name="adj2" fmla="val 105645"/>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smtClean="0">
                <a:ln>
                  <a:noFill/>
                </a:ln>
                <a:solidFill>
                  <a:schemeClr val="lt1"/>
                </a:solidFill>
                <a:effectLst/>
                <a:uLnTx/>
                <a:uFillTx/>
                <a:latin typeface="+mn-lt"/>
                <a:ea typeface="+mn-ea"/>
                <a:cs typeface="+mn-cs"/>
              </a:rPr>
              <a:t>断裂分离</a:t>
            </a:r>
            <a:endParaRPr kumimoji="0" lang="zh-CN" altLang="en-US" sz="1800" b="0" i="0" u="none" strike="noStrike" kern="1200" cap="none" spc="0" normalizeH="0" baseline="0" noProof="0" dirty="0" smtClean="0">
              <a:ln>
                <a:noFill/>
              </a:ln>
              <a:solidFill>
                <a:schemeClr val="lt1"/>
              </a:solidFill>
              <a:effectLst/>
              <a:uLnTx/>
              <a:uFillTx/>
              <a:latin typeface="+mn-lt"/>
              <a:ea typeface="+mn-ea"/>
              <a:cs typeface="+mn-cs"/>
            </a:endParaRPr>
          </a:p>
        </p:txBody>
      </p:sp>
      <p:sp>
        <p:nvSpPr>
          <p:cNvPr id="11" name="圆角矩形标注 10"/>
          <p:cNvSpPr/>
          <p:nvPr/>
        </p:nvSpPr>
        <p:spPr>
          <a:xfrm>
            <a:off x="6215063" y="6286500"/>
            <a:ext cx="1643063" cy="571500"/>
          </a:xfrm>
          <a:prstGeom prst="wedgeRoundRectCallout">
            <a:avLst>
              <a:gd name="adj1" fmla="val -32199"/>
              <a:gd name="adj2" fmla="val -174802"/>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smtClean="0">
                <a:ln>
                  <a:noFill/>
                </a:ln>
                <a:solidFill>
                  <a:schemeClr val="lt1"/>
                </a:solidFill>
                <a:effectLst/>
                <a:uLnTx/>
                <a:uFillTx/>
                <a:latin typeface="+mn-lt"/>
                <a:ea typeface="+mn-ea"/>
                <a:cs typeface="+mn-cs"/>
              </a:rPr>
              <a:t>上下裂纹重合，断裂带</a:t>
            </a:r>
            <a:endParaRPr kumimoji="0" lang="zh-CN" altLang="en-US" sz="1800" b="0" i="0" u="none" strike="noStrike" kern="1200" cap="none" spc="0" normalizeH="0" baseline="0" noProof="0" dirty="0" smtClean="0">
              <a:ln>
                <a:noFill/>
              </a:ln>
              <a:solidFill>
                <a:schemeClr val="lt1"/>
              </a:solidFill>
              <a:effectLst/>
              <a:uLnTx/>
              <a:uFillTx/>
              <a:latin typeface="+mn-lt"/>
              <a:ea typeface="+mn-ea"/>
              <a:cs typeface="+mn-cs"/>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2"/>
          <p:cNvSpPr>
            <a:spLocks noGrp="1"/>
          </p:cNvSpPr>
          <p:nvPr>
            <p:ph type="title"/>
          </p:nvPr>
        </p:nvSpPr>
        <p:spPr>
          <a:xfrm>
            <a:off x="500063" y="0"/>
            <a:ext cx="8229600" cy="1139825"/>
          </a:xfrm>
        </p:spPr>
        <p:txBody>
          <a:bodyPr vert="horz" wrap="square" lIns="91440" tIns="45720" rIns="91440" bIns="45720" anchor="ctr" anchorCtr="0"/>
          <a:p>
            <a:pPr eaLnBrk="1" hangingPunct="1"/>
            <a:r>
              <a:rPr lang="zh-CN" altLang="en-US" dirty="0"/>
              <a:t>板料冲压</a:t>
            </a:r>
            <a:endParaRPr lang="zh-CN" altLang="en-US" dirty="0"/>
          </a:p>
        </p:txBody>
      </p:sp>
      <p:sp>
        <p:nvSpPr>
          <p:cNvPr id="115715" name="Rectangle 6"/>
          <p:cNvSpPr/>
          <p:nvPr/>
        </p:nvSpPr>
        <p:spPr>
          <a:xfrm>
            <a:off x="-3635375" y="2789238"/>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sp>
        <p:nvSpPr>
          <p:cNvPr id="115716" name="Rectangle 7"/>
          <p:cNvSpPr/>
          <p:nvPr/>
        </p:nvSpPr>
        <p:spPr>
          <a:xfrm>
            <a:off x="417830" y="1268730"/>
            <a:ext cx="8229600" cy="2154238"/>
          </a:xfrm>
          <a:prstGeom prst="rect">
            <a:avLst/>
          </a:prstGeom>
          <a:noFill/>
          <a:ln w="9525">
            <a:noFill/>
          </a:ln>
        </p:spPr>
        <p:txBody>
          <a:bodyPr anchor="ctr" anchorCtr="0">
            <a:spAutoFit/>
          </a:bodyPr>
          <a:p>
            <a:pPr indent="228600" eaLnBrk="1" hangingPunct="1"/>
            <a:r>
              <a:rPr lang="zh-CN" altLang="en-US" sz="2200" b="1" dirty="0">
                <a:solidFill>
                  <a:srgbClr val="008000"/>
                </a:solidFill>
                <a:latin typeface="楷体_GB2312" pitchFamily="49" charset="-122"/>
                <a:ea typeface="楷体_GB2312" pitchFamily="49" charset="-122"/>
              </a:rPr>
              <a:t>   间隙</a:t>
            </a:r>
            <a:r>
              <a:rPr lang="zh-CN" altLang="en-US" sz="2200" b="1" dirty="0">
                <a:solidFill>
                  <a:srgbClr val="FF0000"/>
                </a:solidFill>
                <a:latin typeface="楷体_GB2312" pitchFamily="49" charset="-122"/>
                <a:ea typeface="楷体_GB2312" pitchFamily="49" charset="-122"/>
              </a:rPr>
              <a:t>过大</a:t>
            </a:r>
            <a:r>
              <a:rPr lang="zh-CN" altLang="en-US" sz="2200" b="1" dirty="0">
                <a:solidFill>
                  <a:srgbClr val="008000"/>
                </a:solidFill>
                <a:latin typeface="楷体_GB2312" pitchFamily="49" charset="-122"/>
                <a:ea typeface="楷体_GB2312" pitchFamily="49" charset="-122"/>
              </a:rPr>
              <a:t>：凸模刃口附近的剪切裂纹较正常的间隙时</a:t>
            </a:r>
            <a:r>
              <a:rPr lang="zh-CN" altLang="en-US" sz="2200" b="1" dirty="0">
                <a:solidFill>
                  <a:srgbClr val="FF0000"/>
                </a:solidFill>
                <a:latin typeface="楷体_GB2312" pitchFamily="49" charset="-122"/>
                <a:ea typeface="楷体_GB2312" pitchFamily="49" charset="-122"/>
              </a:rPr>
              <a:t>向里</a:t>
            </a:r>
            <a:r>
              <a:rPr lang="zh-CN" altLang="en-US" sz="2200" b="1" dirty="0">
                <a:solidFill>
                  <a:srgbClr val="008000"/>
                </a:solidFill>
                <a:latin typeface="楷体_GB2312" pitchFamily="49" charset="-122"/>
                <a:ea typeface="楷体_GB2312" pitchFamily="49" charset="-122"/>
              </a:rPr>
              <a:t>错开一段距离，难以与凹模刃口附近的裂纹汇合，冲裁件被撕开，边缘粗糙。</a:t>
            </a:r>
            <a:endParaRPr lang="zh-CN" altLang="en-US" sz="2200" b="1" dirty="0">
              <a:latin typeface="楷体_GB2312" pitchFamily="49" charset="-122"/>
              <a:ea typeface="楷体_GB2312" pitchFamily="49" charset="-122"/>
            </a:endParaRPr>
          </a:p>
          <a:p>
            <a:pPr indent="228600" eaLnBrk="1" hangingPunct="1"/>
            <a:r>
              <a:rPr lang="zh-CN" altLang="en-US" sz="2200" b="1" dirty="0">
                <a:solidFill>
                  <a:srgbClr val="008000"/>
                </a:solidFill>
                <a:latin typeface="楷体_GB2312" pitchFamily="49" charset="-122"/>
                <a:ea typeface="楷体_GB2312" pitchFamily="49" charset="-122"/>
              </a:rPr>
              <a:t>   间隙</a:t>
            </a:r>
            <a:r>
              <a:rPr lang="zh-CN" altLang="en-US" sz="2200" b="1" dirty="0">
                <a:solidFill>
                  <a:srgbClr val="FF0000"/>
                </a:solidFill>
                <a:latin typeface="楷体_GB2312" pitchFamily="49" charset="-122"/>
                <a:ea typeface="楷体_GB2312" pitchFamily="49" charset="-122"/>
              </a:rPr>
              <a:t>过小</a:t>
            </a:r>
            <a:r>
              <a:rPr lang="zh-CN" altLang="en-US" sz="2200" b="1" dirty="0">
                <a:solidFill>
                  <a:srgbClr val="008000"/>
                </a:solidFill>
                <a:latin typeface="楷体_GB2312" pitchFamily="49" charset="-122"/>
                <a:ea typeface="楷体_GB2312" pitchFamily="49" charset="-122"/>
              </a:rPr>
              <a:t>：凸模刃口附近的剪切裂纹较正常的间隙时</a:t>
            </a:r>
            <a:r>
              <a:rPr lang="zh-CN" altLang="en-US" sz="2200" b="1" dirty="0">
                <a:solidFill>
                  <a:srgbClr val="FF0000"/>
                </a:solidFill>
                <a:latin typeface="楷体_GB2312" pitchFamily="49" charset="-122"/>
                <a:ea typeface="楷体_GB2312" pitchFamily="49" charset="-122"/>
              </a:rPr>
              <a:t>向外</a:t>
            </a:r>
            <a:r>
              <a:rPr lang="zh-CN" altLang="en-US" sz="2200" b="1" dirty="0">
                <a:solidFill>
                  <a:srgbClr val="008000"/>
                </a:solidFill>
                <a:latin typeface="楷体_GB2312" pitchFamily="49" charset="-122"/>
                <a:ea typeface="楷体_GB2312" pitchFamily="49" charset="-122"/>
              </a:rPr>
              <a:t>错开一段距离，上下裂纹难以很好汇合，冲裁件被撕开，边缘粗糙。</a:t>
            </a:r>
            <a:endParaRPr lang="zh-CN" altLang="en-US" sz="2200" b="1" dirty="0">
              <a:solidFill>
                <a:srgbClr val="008000"/>
              </a:solidFill>
              <a:latin typeface="楷体_GB2312" pitchFamily="49" charset="-122"/>
              <a:ea typeface="楷体_GB2312" pitchFamily="49" charset="-122"/>
            </a:endParaRPr>
          </a:p>
          <a:p>
            <a:pPr indent="228600" eaLnBrk="1" hangingPunct="1"/>
            <a:r>
              <a:rPr lang="zh-CN" altLang="en-US" sz="2400" b="1" dirty="0">
                <a:latin typeface="楷体_GB2312" pitchFamily="49" charset="-122"/>
                <a:ea typeface="楷体_GB2312" pitchFamily="49" charset="-122"/>
              </a:rPr>
              <a:t>   </a:t>
            </a:r>
            <a:endParaRPr lang="en-US" altLang="zh-CN" sz="2400" b="1" i="1" dirty="0">
              <a:solidFill>
                <a:srgbClr val="FF0066"/>
              </a:solidFill>
              <a:latin typeface="Arial" panose="020B0604020202020204" pitchFamily="34" charset="0"/>
            </a:endParaRPr>
          </a:p>
        </p:txBody>
      </p:sp>
      <p:sp>
        <p:nvSpPr>
          <p:cNvPr id="115717" name="Rectangle 9"/>
          <p:cNvSpPr/>
          <p:nvPr/>
        </p:nvSpPr>
        <p:spPr>
          <a:xfrm>
            <a:off x="3286125" y="285750"/>
            <a:ext cx="4714875" cy="708025"/>
          </a:xfrm>
          <a:prstGeom prst="rect">
            <a:avLst/>
          </a:prstGeom>
          <a:noFill/>
          <a:ln w="9525">
            <a:noFill/>
          </a:ln>
        </p:spPr>
        <p:txBody>
          <a:bodyPr>
            <a:spAutoFit/>
          </a:bodyPr>
          <a:p>
            <a:pPr indent="228600" eaLnBrk="1" hangingPunct="1"/>
            <a:r>
              <a:rPr lang="zh-CN" altLang="zh-CN" sz="4000" b="1" dirty="0">
                <a:solidFill>
                  <a:srgbClr val="CC3300"/>
                </a:solidFill>
                <a:latin typeface="楷体_GB2312" pitchFamily="49" charset="-122"/>
                <a:ea typeface="楷体_GB2312" pitchFamily="49" charset="-122"/>
              </a:rPr>
              <a:t>（</a:t>
            </a:r>
            <a:r>
              <a:rPr lang="en-US" altLang="zh-CN" sz="4000" b="1" dirty="0">
                <a:solidFill>
                  <a:srgbClr val="CC3300"/>
                </a:solidFill>
                <a:latin typeface="楷体_GB2312" pitchFamily="49" charset="-122"/>
                <a:ea typeface="楷体_GB2312" pitchFamily="49" charset="-122"/>
              </a:rPr>
              <a:t>2</a:t>
            </a:r>
            <a:r>
              <a:rPr lang="zh-CN" altLang="en-US" sz="4000" b="1" dirty="0">
                <a:solidFill>
                  <a:srgbClr val="CC3300"/>
                </a:solidFill>
                <a:latin typeface="楷体_GB2312" pitchFamily="49" charset="-122"/>
                <a:ea typeface="楷体_GB2312" pitchFamily="49" charset="-122"/>
              </a:rPr>
              <a:t>）凸凹模间隙</a:t>
            </a:r>
            <a:endParaRPr lang="zh-CN" altLang="en-US" sz="4000" b="1" dirty="0">
              <a:solidFill>
                <a:srgbClr val="CC3300"/>
              </a:solidFill>
              <a:latin typeface="楷体_GB2312" pitchFamily="49" charset="-122"/>
              <a:ea typeface="楷体_GB2312" pitchFamily="49" charset="-122"/>
            </a:endParaRPr>
          </a:p>
        </p:txBody>
      </p:sp>
      <p:pic>
        <p:nvPicPr>
          <p:cNvPr id="115718" name="图片 6"/>
          <p:cNvPicPr>
            <a:picLocks noChangeAspect="1"/>
          </p:cNvPicPr>
          <p:nvPr/>
        </p:nvPicPr>
        <p:blipFill>
          <a:blip r:embed="rId1"/>
          <a:stretch>
            <a:fillRect/>
          </a:stretch>
        </p:blipFill>
        <p:spPr>
          <a:xfrm>
            <a:off x="1428750" y="3286125"/>
            <a:ext cx="6207125" cy="3236913"/>
          </a:xfrm>
          <a:prstGeom prst="rect">
            <a:avLst/>
          </a:prstGeom>
          <a:noFill/>
          <a:ln w="9525">
            <a:noFill/>
          </a:ln>
        </p:spPr>
      </p:pic>
      <p:sp>
        <p:nvSpPr>
          <p:cNvPr id="2" name="圆角矩形标注 1"/>
          <p:cNvSpPr/>
          <p:nvPr/>
        </p:nvSpPr>
        <p:spPr>
          <a:xfrm>
            <a:off x="7675563" y="3789363"/>
            <a:ext cx="1360488" cy="2255838"/>
          </a:xfrm>
          <a:prstGeom prst="wedgeRoundRectCallout">
            <a:avLst>
              <a:gd name="adj1" fmla="val -62491"/>
              <a:gd name="adj2" fmla="val 53948"/>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lt1"/>
                </a:solidFill>
                <a:effectLst/>
                <a:uLnTx/>
                <a:uFillTx/>
                <a:latin typeface="+mn-lt"/>
                <a:ea typeface="+mn-ea"/>
                <a:cs typeface="+mn-cs"/>
              </a:rPr>
              <a:t>间隙过大断裂带宽度增大，断面质量和尺寸精度降低，毛刺增大。</a:t>
            </a: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3" name="圆角矩形标注 2"/>
          <p:cNvSpPr/>
          <p:nvPr/>
        </p:nvSpPr>
        <p:spPr>
          <a:xfrm>
            <a:off x="250825" y="3500438"/>
            <a:ext cx="1008063" cy="2984500"/>
          </a:xfrm>
          <a:prstGeom prst="wedgeRoundRectCallout">
            <a:avLst>
              <a:gd name="adj1" fmla="val 82646"/>
              <a:gd name="adj2" fmla="val 28473"/>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lt1"/>
                </a:solidFill>
                <a:effectLst/>
                <a:uLnTx/>
                <a:uFillTx/>
                <a:latin typeface="+mn-lt"/>
                <a:ea typeface="+mn-ea"/>
                <a:cs typeface="+mn-cs"/>
              </a:rPr>
              <a:t>间隙过小，会产生二次剪切，同时使冲裁力增大，模具寿命降低。</a:t>
            </a:r>
            <a:endParaRPr kumimoji="0" lang="en-US" altLang="zh-CN" sz="1800" b="1" i="0" u="none" strike="noStrike" kern="1200" cap="none" spc="0" normalizeH="0" baseline="0" noProof="0" dirty="0">
              <a:ln>
                <a:noFill/>
              </a:ln>
              <a:solidFill>
                <a:schemeClr val="lt1"/>
              </a:solidFill>
              <a:effectLst/>
              <a:uLnTx/>
              <a:uFillTx/>
              <a:latin typeface="楷体_GB2312" pitchFamily="49" charset="-122"/>
              <a:ea typeface="楷体_GB2312" pitchFamily="49" charset="-122"/>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1" name="Rectangle 2"/>
          <p:cNvSpPr>
            <a:spLocks noGrp="1"/>
          </p:cNvSpPr>
          <p:nvPr>
            <p:ph type="title"/>
          </p:nvPr>
        </p:nvSpPr>
        <p:spPr>
          <a:xfrm>
            <a:off x="990600" y="0"/>
            <a:ext cx="7772400" cy="1143000"/>
          </a:xfrm>
        </p:spPr>
        <p:txBody>
          <a:bodyPr vert="horz" wrap="square" lIns="91440" tIns="45720" rIns="91440" bIns="45720" anchor="ctr" anchorCtr="0"/>
          <a:p>
            <a:pPr algn="ctr"/>
            <a:r>
              <a:rPr lang="zh-CN" altLang="en-US" dirty="0">
                <a:solidFill>
                  <a:srgbClr val="FF0000"/>
                </a:solidFill>
                <a:ea typeface="隶书" panose="02010509060101010101" pitchFamily="49" charset="-122"/>
              </a:rPr>
              <a:t>     分离工序</a:t>
            </a:r>
            <a:endParaRPr lang="zh-CN" altLang="en-US" dirty="0">
              <a:solidFill>
                <a:srgbClr val="FF0000"/>
              </a:solidFill>
              <a:ea typeface="隶书" panose="02010509060101010101" pitchFamily="49" charset="-122"/>
            </a:endParaRPr>
          </a:p>
        </p:txBody>
      </p:sp>
      <p:sp>
        <p:nvSpPr>
          <p:cNvPr id="2052" name="Rectangle 3"/>
          <p:cNvSpPr>
            <a:spLocks noGrp="1"/>
          </p:cNvSpPr>
          <p:nvPr>
            <p:ph idx="1"/>
          </p:nvPr>
        </p:nvSpPr>
        <p:spPr>
          <a:xfrm>
            <a:off x="457200" y="1285875"/>
            <a:ext cx="8153400" cy="1143000"/>
          </a:xfrm>
        </p:spPr>
        <p:txBody>
          <a:bodyPr vert="horz" wrap="square" lIns="91440" tIns="45720" rIns="91440" bIns="45720" anchor="t" anchorCtr="0"/>
          <a:p>
            <a:pPr>
              <a:buFont typeface="Wingdings" panose="05000000000000000000" pitchFamily="2" charset="2"/>
              <a:buNone/>
            </a:pPr>
            <a:r>
              <a:rPr lang="zh-CN" altLang="en-US" dirty="0">
                <a:ea typeface="华文隶书" panose="02010800040101010101" pitchFamily="2" charset="-122"/>
              </a:rPr>
              <a:t>   冲裁变形时板材变形区的受力情况</a:t>
            </a:r>
            <a:endParaRPr lang="zh-CN" altLang="en-US" dirty="0">
              <a:ea typeface="华文隶书" panose="02010800040101010101" pitchFamily="2" charset="-122"/>
            </a:endParaRPr>
          </a:p>
        </p:txBody>
      </p:sp>
      <p:graphicFrame>
        <p:nvGraphicFramePr>
          <p:cNvPr id="2050" name="Object 2"/>
          <p:cNvGraphicFramePr/>
          <p:nvPr/>
        </p:nvGraphicFramePr>
        <p:xfrm>
          <a:off x="3714750" y="2214563"/>
          <a:ext cx="5283200" cy="4067175"/>
        </p:xfrm>
        <a:graphic>
          <a:graphicData uri="http://schemas.openxmlformats.org/presentationml/2006/ole">
            <mc:AlternateContent xmlns:mc="http://schemas.openxmlformats.org/markup-compatibility/2006">
              <mc:Choice xmlns:v="urn:schemas-microsoft-com:vml" Requires="v">
                <p:oleObj spid="_x0000_s3077" name="" r:id="rId1" imgW="6705600" imgH="5162550" progId="Paint.Picture">
                  <p:embed/>
                </p:oleObj>
              </mc:Choice>
              <mc:Fallback>
                <p:oleObj name="" r:id="rId1" imgW="6705600" imgH="5162550" progId="Paint.Picture">
                  <p:embed/>
                  <p:pic>
                    <p:nvPicPr>
                      <p:cNvPr id="0" name="图片 3076"/>
                      <p:cNvPicPr/>
                      <p:nvPr/>
                    </p:nvPicPr>
                    <p:blipFill>
                      <a:blip r:embed="rId2"/>
                      <a:stretch>
                        <a:fillRect/>
                      </a:stretch>
                    </p:blipFill>
                    <p:spPr>
                      <a:xfrm>
                        <a:off x="3714750" y="2214563"/>
                        <a:ext cx="5283200" cy="4067175"/>
                      </a:xfrm>
                      <a:prstGeom prst="rect">
                        <a:avLst/>
                      </a:prstGeom>
                      <a:noFill/>
                      <a:ln w="38100">
                        <a:noFill/>
                        <a:miter/>
                      </a:ln>
                    </p:spPr>
                  </p:pic>
                </p:oleObj>
              </mc:Fallback>
            </mc:AlternateContent>
          </a:graphicData>
        </a:graphic>
      </p:graphicFrame>
      <p:sp>
        <p:nvSpPr>
          <p:cNvPr id="2053" name="AutoShape 9"/>
          <p:cNvSpPr/>
          <p:nvPr/>
        </p:nvSpPr>
        <p:spPr>
          <a:xfrm>
            <a:off x="533400" y="1905000"/>
            <a:ext cx="3352800" cy="4495800"/>
          </a:xfrm>
          <a:prstGeom prst="wedgeEllipseCallout">
            <a:avLst>
              <a:gd name="adj1" fmla="val 26611"/>
              <a:gd name="adj2" fmla="val -15148"/>
            </a:avLst>
          </a:prstGeom>
          <a:solidFill>
            <a:srgbClr val="99FF66"/>
          </a:solidFill>
          <a:ln w="9525" cap="flat" cmpd="sng">
            <a:solidFill>
              <a:schemeClr val="tx1"/>
            </a:solidFill>
            <a:prstDash val="solid"/>
            <a:miter/>
            <a:headEnd type="none" w="med" len="med"/>
            <a:tailEnd type="none" w="med" len="med"/>
          </a:ln>
        </p:spPr>
        <p:txBody>
          <a:bodyPr/>
          <a:p>
            <a:pPr algn="ctr"/>
            <a:r>
              <a:rPr lang="en-US" altLang="zh-CN" sz="2000" dirty="0">
                <a:solidFill>
                  <a:srgbClr val="FF0000"/>
                </a:solidFill>
                <a:latin typeface="Arial" panose="020B0604020202020204" pitchFamily="34" charset="0"/>
              </a:rPr>
              <a:t>F</a:t>
            </a:r>
            <a:r>
              <a:rPr lang="en-US" altLang="zh-CN" sz="2000" baseline="-25000" dirty="0">
                <a:solidFill>
                  <a:srgbClr val="FF0000"/>
                </a:solidFill>
                <a:latin typeface="Arial" panose="020B0604020202020204" pitchFamily="34" charset="0"/>
              </a:rPr>
              <a:t>1</a:t>
            </a:r>
            <a:r>
              <a:rPr lang="en-US" altLang="zh-CN" sz="2000" dirty="0">
                <a:solidFill>
                  <a:srgbClr val="FF0000"/>
                </a:solidFill>
                <a:latin typeface="Arial" panose="020B0604020202020204" pitchFamily="34" charset="0"/>
              </a:rPr>
              <a:t>、F</a:t>
            </a:r>
            <a:r>
              <a:rPr lang="en-US" altLang="zh-CN" sz="2000" baseline="-25000" dirty="0">
                <a:solidFill>
                  <a:srgbClr val="FF0000"/>
                </a:solidFill>
                <a:latin typeface="Arial" panose="020B0604020202020204" pitchFamily="34" charset="0"/>
              </a:rPr>
              <a:t>2</a:t>
            </a:r>
            <a:r>
              <a:rPr lang="en-US" altLang="zh-CN" sz="2000" dirty="0">
                <a:solidFill>
                  <a:schemeClr val="bg2"/>
                </a:solidFill>
                <a:latin typeface="Arial" panose="020B0604020202020204" pitchFamily="34" charset="0"/>
              </a:rPr>
              <a:t>----</a:t>
            </a:r>
            <a:r>
              <a:rPr lang="zh-CN" altLang="en-US" sz="2000" dirty="0">
                <a:solidFill>
                  <a:schemeClr val="bg2"/>
                </a:solidFill>
                <a:latin typeface="Arial" panose="020B0604020202020204" pitchFamily="34" charset="0"/>
              </a:rPr>
              <a:t>凸、凹模对板料的垂直作用力</a:t>
            </a:r>
            <a:endParaRPr lang="zh-CN" altLang="en-US" sz="2000" dirty="0">
              <a:solidFill>
                <a:schemeClr val="bg2"/>
              </a:solidFill>
              <a:latin typeface="Arial" panose="020B0604020202020204" pitchFamily="34" charset="0"/>
            </a:endParaRPr>
          </a:p>
          <a:p>
            <a:pPr algn="ctr"/>
            <a:r>
              <a:rPr lang="en-US" altLang="zh-CN" sz="2000" dirty="0">
                <a:solidFill>
                  <a:srgbClr val="FF0000"/>
                </a:solidFill>
                <a:latin typeface="Arial" panose="020B0604020202020204" pitchFamily="34" charset="0"/>
              </a:rPr>
              <a:t>F</a:t>
            </a:r>
            <a:r>
              <a:rPr lang="en-US" altLang="zh-CN" sz="2000" baseline="-25000" dirty="0">
                <a:solidFill>
                  <a:srgbClr val="FF0000"/>
                </a:solidFill>
                <a:latin typeface="Arial" panose="020B0604020202020204" pitchFamily="34" charset="0"/>
              </a:rPr>
              <a:t>3</a:t>
            </a:r>
            <a:r>
              <a:rPr lang="en-US" altLang="zh-CN" sz="2000" dirty="0">
                <a:solidFill>
                  <a:srgbClr val="FF0000"/>
                </a:solidFill>
                <a:latin typeface="Arial" panose="020B0604020202020204" pitchFamily="34" charset="0"/>
              </a:rPr>
              <a:t>、F</a:t>
            </a:r>
            <a:r>
              <a:rPr lang="en-US" altLang="zh-CN" sz="2000" baseline="-25000" dirty="0">
                <a:solidFill>
                  <a:srgbClr val="FF0000"/>
                </a:solidFill>
                <a:latin typeface="Arial" panose="020B0604020202020204" pitchFamily="34" charset="0"/>
              </a:rPr>
              <a:t>4</a:t>
            </a:r>
            <a:r>
              <a:rPr lang="en-US" altLang="zh-CN" sz="2000" dirty="0">
                <a:solidFill>
                  <a:schemeClr val="bg2"/>
                </a:solidFill>
                <a:latin typeface="Arial" panose="020B0604020202020204" pitchFamily="34" charset="0"/>
              </a:rPr>
              <a:t>----</a:t>
            </a:r>
            <a:r>
              <a:rPr lang="zh-CN" altLang="en-US" sz="2000" dirty="0">
                <a:solidFill>
                  <a:schemeClr val="bg2"/>
                </a:solidFill>
                <a:latin typeface="Arial" panose="020B0604020202020204" pitchFamily="34" charset="0"/>
              </a:rPr>
              <a:t>凸、凹模对板料的侧压力</a:t>
            </a:r>
            <a:endParaRPr lang="zh-CN" altLang="en-US" sz="2000" dirty="0">
              <a:solidFill>
                <a:schemeClr val="bg2"/>
              </a:solidFill>
              <a:latin typeface="Arial" panose="020B0604020202020204" pitchFamily="34" charset="0"/>
            </a:endParaRPr>
          </a:p>
          <a:p>
            <a:pPr algn="ctr"/>
            <a:r>
              <a:rPr lang="en-US" altLang="zh-CN" sz="2000" dirty="0">
                <a:solidFill>
                  <a:srgbClr val="FF0000"/>
                </a:solidFill>
                <a:latin typeface="Arial" panose="020B0604020202020204" pitchFamily="34" charset="0"/>
                <a:ea typeface="Times New Roman" panose="02020603050405020304" pitchFamily="18" charset="0"/>
              </a:rPr>
              <a:t>µ</a:t>
            </a:r>
            <a:r>
              <a:rPr lang="en-US" altLang="zh-CN" sz="2000" dirty="0">
                <a:solidFill>
                  <a:srgbClr val="FF0000"/>
                </a:solidFill>
                <a:latin typeface="Arial" panose="020B0604020202020204" pitchFamily="34" charset="0"/>
              </a:rPr>
              <a:t>F</a:t>
            </a:r>
            <a:r>
              <a:rPr lang="en-US" altLang="zh-CN" sz="2000" baseline="-25000" dirty="0">
                <a:solidFill>
                  <a:srgbClr val="FF0000"/>
                </a:solidFill>
                <a:latin typeface="Arial" panose="020B0604020202020204" pitchFamily="34" charset="0"/>
              </a:rPr>
              <a:t>1</a:t>
            </a:r>
            <a:r>
              <a:rPr lang="en-US" altLang="zh-CN" sz="2000" dirty="0">
                <a:solidFill>
                  <a:srgbClr val="FF0000"/>
                </a:solidFill>
                <a:latin typeface="Arial" panose="020B0604020202020204" pitchFamily="34" charset="0"/>
              </a:rPr>
              <a:t>、 </a:t>
            </a:r>
            <a:r>
              <a:rPr lang="en-US" altLang="zh-CN" sz="2000" dirty="0">
                <a:solidFill>
                  <a:srgbClr val="FF0000"/>
                </a:solidFill>
                <a:latin typeface="Arial" panose="020B0604020202020204" pitchFamily="34" charset="0"/>
                <a:ea typeface="Times New Roman" panose="02020603050405020304" pitchFamily="18" charset="0"/>
              </a:rPr>
              <a:t>µ</a:t>
            </a:r>
            <a:r>
              <a:rPr lang="en-US" altLang="zh-CN" sz="2000" dirty="0">
                <a:solidFill>
                  <a:srgbClr val="FF0000"/>
                </a:solidFill>
                <a:latin typeface="Arial" panose="020B0604020202020204" pitchFamily="34" charset="0"/>
              </a:rPr>
              <a:t> F</a:t>
            </a:r>
            <a:r>
              <a:rPr lang="en-US" altLang="zh-CN" sz="2000" baseline="-25000" dirty="0">
                <a:solidFill>
                  <a:srgbClr val="FF0000"/>
                </a:solidFill>
                <a:latin typeface="Arial" panose="020B0604020202020204" pitchFamily="34" charset="0"/>
              </a:rPr>
              <a:t>2</a:t>
            </a:r>
            <a:r>
              <a:rPr lang="en-US" altLang="zh-CN" sz="2000" dirty="0">
                <a:solidFill>
                  <a:schemeClr val="bg2"/>
                </a:solidFill>
                <a:latin typeface="Arial" panose="020B0604020202020204" pitchFamily="34" charset="0"/>
              </a:rPr>
              <a:t>----</a:t>
            </a:r>
            <a:r>
              <a:rPr lang="zh-CN" altLang="en-US" sz="2000" dirty="0">
                <a:solidFill>
                  <a:schemeClr val="bg2"/>
                </a:solidFill>
                <a:latin typeface="Arial" panose="020B0604020202020204" pitchFamily="34" charset="0"/>
              </a:rPr>
              <a:t>凸、凹模端面与板料间的摩擦力</a:t>
            </a:r>
            <a:endParaRPr lang="zh-CN" altLang="en-US" sz="2000" dirty="0">
              <a:solidFill>
                <a:schemeClr val="bg2"/>
              </a:solidFill>
              <a:latin typeface="Arial" panose="020B0604020202020204" pitchFamily="34" charset="0"/>
            </a:endParaRPr>
          </a:p>
          <a:p>
            <a:pPr algn="ctr"/>
            <a:r>
              <a:rPr lang="en-US" altLang="zh-CN" sz="2000" dirty="0">
                <a:solidFill>
                  <a:srgbClr val="FF0000"/>
                </a:solidFill>
                <a:latin typeface="Arial" panose="020B0604020202020204" pitchFamily="34" charset="0"/>
                <a:ea typeface="Times New Roman" panose="02020603050405020304" pitchFamily="18" charset="0"/>
              </a:rPr>
              <a:t>µ</a:t>
            </a:r>
            <a:r>
              <a:rPr lang="en-US" altLang="zh-CN" sz="2000" dirty="0">
                <a:solidFill>
                  <a:srgbClr val="FF0000"/>
                </a:solidFill>
                <a:latin typeface="Arial" panose="020B0604020202020204" pitchFamily="34" charset="0"/>
              </a:rPr>
              <a:t> F</a:t>
            </a:r>
            <a:r>
              <a:rPr lang="en-US" altLang="zh-CN" sz="2000" baseline="-25000" dirty="0">
                <a:solidFill>
                  <a:srgbClr val="FF0000"/>
                </a:solidFill>
                <a:latin typeface="Arial" panose="020B0604020202020204" pitchFamily="34" charset="0"/>
              </a:rPr>
              <a:t>3</a:t>
            </a:r>
            <a:r>
              <a:rPr lang="en-US" altLang="zh-CN" sz="2000" dirty="0">
                <a:solidFill>
                  <a:srgbClr val="FF0000"/>
                </a:solidFill>
                <a:latin typeface="Arial" panose="020B0604020202020204" pitchFamily="34" charset="0"/>
              </a:rPr>
              <a:t>、 </a:t>
            </a:r>
            <a:r>
              <a:rPr lang="en-US" altLang="zh-CN" sz="2000" dirty="0">
                <a:solidFill>
                  <a:srgbClr val="FF0000"/>
                </a:solidFill>
                <a:latin typeface="Arial" panose="020B0604020202020204" pitchFamily="34" charset="0"/>
                <a:ea typeface="Times New Roman" panose="02020603050405020304" pitchFamily="18" charset="0"/>
              </a:rPr>
              <a:t>µ</a:t>
            </a:r>
            <a:r>
              <a:rPr lang="en-US" altLang="zh-CN" sz="2000" dirty="0">
                <a:solidFill>
                  <a:srgbClr val="FF0000"/>
                </a:solidFill>
                <a:latin typeface="Arial" panose="020B0604020202020204" pitchFamily="34" charset="0"/>
              </a:rPr>
              <a:t> F</a:t>
            </a:r>
            <a:r>
              <a:rPr lang="en-US" altLang="zh-CN" sz="2000" baseline="-25000" dirty="0">
                <a:solidFill>
                  <a:srgbClr val="FF0000"/>
                </a:solidFill>
                <a:latin typeface="Arial" panose="020B0604020202020204" pitchFamily="34" charset="0"/>
              </a:rPr>
              <a:t>4</a:t>
            </a:r>
            <a:r>
              <a:rPr lang="en-US" altLang="zh-CN" sz="2000" dirty="0">
                <a:solidFill>
                  <a:schemeClr val="bg2"/>
                </a:solidFill>
                <a:latin typeface="Arial" panose="020B0604020202020204" pitchFamily="34" charset="0"/>
              </a:rPr>
              <a:t>----</a:t>
            </a:r>
            <a:r>
              <a:rPr lang="zh-CN" altLang="en-US" sz="2000" dirty="0">
                <a:solidFill>
                  <a:schemeClr val="bg2"/>
                </a:solidFill>
                <a:latin typeface="Arial" panose="020B0604020202020204" pitchFamily="34" charset="0"/>
              </a:rPr>
              <a:t>凸、凹模侧面与板料间的摩擦力</a:t>
            </a:r>
            <a:endParaRPr lang="zh-CN" altLang="en-US" sz="2000" dirty="0">
              <a:solidFill>
                <a:schemeClr val="bg2"/>
              </a:solidFill>
              <a:latin typeface="Arial" panose="020B0604020202020204" pitchFamily="34" charset="0"/>
            </a:endParaRPr>
          </a:p>
          <a:p>
            <a:pPr algn="ctr"/>
            <a:r>
              <a:rPr lang="en-US" altLang="zh-CN" sz="2000" dirty="0">
                <a:solidFill>
                  <a:schemeClr val="bg2"/>
                </a:solidFill>
                <a:latin typeface="Arial" panose="020B0604020202020204" pitchFamily="34" charset="0"/>
              </a:rPr>
              <a:t>M----</a:t>
            </a:r>
            <a:r>
              <a:rPr lang="zh-CN" altLang="en-US" sz="2000" dirty="0">
                <a:solidFill>
                  <a:schemeClr val="bg2"/>
                </a:solidFill>
                <a:latin typeface="Arial" panose="020B0604020202020204" pitchFamily="34" charset="0"/>
              </a:rPr>
              <a:t>弯距</a:t>
            </a:r>
            <a:endParaRPr lang="zh-CN" altLang="en-US" sz="2000" dirty="0">
              <a:solidFill>
                <a:schemeClr val="bg2"/>
              </a:solidFill>
              <a:latin typeface="Arial" panose="020B0604020202020204" pitchFamily="34" charset="0"/>
            </a:endParaRPr>
          </a:p>
        </p:txBody>
      </p:sp>
      <p:sp>
        <p:nvSpPr>
          <p:cNvPr id="2054" name="Text Box 10"/>
          <p:cNvSpPr txBox="1"/>
          <p:nvPr/>
        </p:nvSpPr>
        <p:spPr>
          <a:xfrm>
            <a:off x="7467600" y="2362200"/>
            <a:ext cx="1143000" cy="457200"/>
          </a:xfrm>
          <a:prstGeom prst="rect">
            <a:avLst/>
          </a:prstGeom>
          <a:noFill/>
          <a:ln w="9525">
            <a:noFill/>
          </a:ln>
        </p:spPr>
        <p:txBody>
          <a:bodyPr>
            <a:spAutoFit/>
          </a:bodyPr>
          <a:p>
            <a:pPr>
              <a:spcBef>
                <a:spcPct val="50000"/>
              </a:spcBef>
            </a:pPr>
            <a:r>
              <a:rPr lang="en-US" altLang="zh-CN" dirty="0">
                <a:solidFill>
                  <a:srgbClr val="FF0000"/>
                </a:solidFill>
                <a:latin typeface="Arial" panose="020B0604020202020204" pitchFamily="34" charset="0"/>
              </a:rPr>
              <a:t>punch</a:t>
            </a:r>
            <a:endParaRPr lang="en-US" altLang="zh-CN" dirty="0">
              <a:solidFill>
                <a:srgbClr val="FF0000"/>
              </a:solidFill>
              <a:latin typeface="Arial" panose="020B0604020202020204" pitchFamily="34" charset="0"/>
            </a:endParaRPr>
          </a:p>
        </p:txBody>
      </p:sp>
      <p:sp>
        <p:nvSpPr>
          <p:cNvPr id="2055" name="Text Box 11"/>
          <p:cNvSpPr txBox="1"/>
          <p:nvPr/>
        </p:nvSpPr>
        <p:spPr>
          <a:xfrm>
            <a:off x="8001000" y="3048000"/>
            <a:ext cx="1143000" cy="822325"/>
          </a:xfrm>
          <a:prstGeom prst="rect">
            <a:avLst/>
          </a:prstGeom>
          <a:noFill/>
          <a:ln w="9525">
            <a:noFill/>
          </a:ln>
        </p:spPr>
        <p:txBody>
          <a:bodyPr>
            <a:spAutoFit/>
          </a:bodyPr>
          <a:p>
            <a:pPr>
              <a:spcBef>
                <a:spcPct val="50000"/>
              </a:spcBef>
            </a:pPr>
            <a:r>
              <a:rPr lang="en-US" altLang="zh-CN" dirty="0">
                <a:solidFill>
                  <a:srgbClr val="FF0000"/>
                </a:solidFill>
                <a:latin typeface="Arial" panose="020B0604020202020204" pitchFamily="34" charset="0"/>
              </a:rPr>
              <a:t>Sheet metal</a:t>
            </a:r>
            <a:endParaRPr lang="en-US" altLang="zh-CN" dirty="0">
              <a:solidFill>
                <a:srgbClr val="FF0000"/>
              </a:solidFill>
              <a:latin typeface="Arial" panose="020B0604020202020204" pitchFamily="34" charset="0"/>
            </a:endParaRPr>
          </a:p>
        </p:txBody>
      </p:sp>
      <p:sp>
        <p:nvSpPr>
          <p:cNvPr id="2056" name="Text Box 13"/>
          <p:cNvSpPr txBox="1"/>
          <p:nvPr/>
        </p:nvSpPr>
        <p:spPr>
          <a:xfrm>
            <a:off x="7772400" y="5105400"/>
            <a:ext cx="1143000" cy="457200"/>
          </a:xfrm>
          <a:prstGeom prst="rect">
            <a:avLst/>
          </a:prstGeom>
          <a:noFill/>
          <a:ln w="9525">
            <a:noFill/>
          </a:ln>
        </p:spPr>
        <p:txBody>
          <a:bodyPr>
            <a:spAutoFit/>
          </a:bodyPr>
          <a:p>
            <a:pPr>
              <a:spcBef>
                <a:spcPct val="50000"/>
              </a:spcBef>
            </a:pPr>
            <a:r>
              <a:rPr lang="en-US" altLang="zh-CN" dirty="0">
                <a:solidFill>
                  <a:srgbClr val="FF0000"/>
                </a:solidFill>
                <a:latin typeface="Arial" panose="020B0604020202020204" pitchFamily="34" charset="0"/>
              </a:rPr>
              <a:t>matrix</a:t>
            </a:r>
            <a:endParaRPr lang="en-US" altLang="zh-CN" dirty="0">
              <a:solidFill>
                <a:srgbClr val="FF0000"/>
              </a:solidFill>
              <a:latin typeface="Arial" panose="020B0604020202020204" pitchFamily="34"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6738" name="Group 4"/>
          <p:cNvGrpSpPr/>
          <p:nvPr/>
        </p:nvGrpSpPr>
        <p:grpSpPr>
          <a:xfrm>
            <a:off x="1214438" y="1357313"/>
            <a:ext cx="6719887" cy="5314950"/>
            <a:chOff x="765" y="855"/>
            <a:chExt cx="4233" cy="3348"/>
          </a:xfrm>
        </p:grpSpPr>
        <p:sp>
          <p:nvSpPr>
            <p:cNvPr id="116740" name="Text Box 8"/>
            <p:cNvSpPr txBox="1"/>
            <p:nvPr/>
          </p:nvSpPr>
          <p:spPr>
            <a:xfrm>
              <a:off x="1035" y="855"/>
              <a:ext cx="3590" cy="288"/>
            </a:xfrm>
            <a:prstGeom prst="rect">
              <a:avLst/>
            </a:prstGeom>
            <a:noFill/>
            <a:ln w="9525">
              <a:noFill/>
            </a:ln>
          </p:spPr>
          <p:txBody>
            <a:bodyPr wrap="none">
              <a:spAutoFit/>
            </a:bodyPr>
            <a:p>
              <a:pPr algn="just"/>
              <a:r>
                <a:rPr lang="zh-CN" altLang="en-US" sz="2400" b="1" dirty="0">
                  <a:latin typeface="宋体" panose="02010600030101010101" pitchFamily="2" charset="-122"/>
                  <a:ea typeface="楷体_GB2312" pitchFamily="49" charset="-122"/>
                </a:rPr>
                <a:t>间隙小，出现二次</a:t>
              </a:r>
              <a:r>
                <a:rPr lang="zh-CN" altLang="en-US" sz="2400" b="1" dirty="0">
                  <a:latin typeface="Arial" panose="020B0604020202020204" pitchFamily="34" charset="0"/>
                  <a:ea typeface="楷体_GB2312" pitchFamily="49" charset="-122"/>
                </a:rPr>
                <a:t>剪裂，产生第二</a:t>
              </a:r>
              <a:r>
                <a:rPr lang="zh-CN" altLang="en-US" sz="2400" b="1" dirty="0">
                  <a:latin typeface="宋体" panose="02010600030101010101" pitchFamily="2" charset="-122"/>
                  <a:ea typeface="楷体_GB2312" pitchFamily="49" charset="-122"/>
                </a:rPr>
                <a:t>光亮带</a:t>
              </a:r>
              <a:endParaRPr lang="zh-CN" altLang="en-US" sz="2400" b="1" dirty="0">
                <a:latin typeface="宋体" panose="02010600030101010101" pitchFamily="2" charset="-122"/>
                <a:ea typeface="楷体_GB2312" pitchFamily="49" charset="-122"/>
              </a:endParaRPr>
            </a:p>
          </p:txBody>
        </p:sp>
        <p:sp>
          <p:nvSpPr>
            <p:cNvPr id="116741" name="Text Box 9"/>
            <p:cNvSpPr txBox="1"/>
            <p:nvPr/>
          </p:nvSpPr>
          <p:spPr>
            <a:xfrm>
              <a:off x="1035" y="1143"/>
              <a:ext cx="3397" cy="288"/>
            </a:xfrm>
            <a:prstGeom prst="rect">
              <a:avLst/>
            </a:prstGeom>
            <a:noFill/>
            <a:ln w="9525">
              <a:noFill/>
            </a:ln>
          </p:spPr>
          <p:txBody>
            <a:bodyPr wrap="none">
              <a:spAutoFit/>
            </a:bodyPr>
            <a:p>
              <a:pPr algn="just"/>
              <a:r>
                <a:rPr lang="zh-CN" altLang="en-US" sz="2400" b="1" dirty="0">
                  <a:latin typeface="宋体" panose="02010600030101010101" pitchFamily="2" charset="-122"/>
                  <a:ea typeface="楷体_GB2312" pitchFamily="49" charset="-122"/>
                </a:rPr>
                <a:t>间隙大，出现二次</a:t>
              </a:r>
              <a:r>
                <a:rPr lang="zh-CN" altLang="en-US" sz="2400" b="1" dirty="0">
                  <a:latin typeface="Arial" panose="020B0604020202020204" pitchFamily="34" charset="0"/>
                  <a:ea typeface="楷体_GB2312" pitchFamily="49" charset="-122"/>
                </a:rPr>
                <a:t>拉裂，产生二个斜度</a:t>
              </a:r>
              <a:endParaRPr lang="zh-CN" altLang="en-US" sz="2400" b="1" dirty="0">
                <a:latin typeface="宋体" panose="02010600030101010101" pitchFamily="2" charset="-122"/>
                <a:ea typeface="楷体_GB2312" pitchFamily="49" charset="-122"/>
              </a:endParaRPr>
            </a:p>
          </p:txBody>
        </p:sp>
        <p:pic>
          <p:nvPicPr>
            <p:cNvPr id="116742" name="Picture 12" descr="225"/>
            <p:cNvPicPr>
              <a:picLocks noChangeAspect="1"/>
            </p:cNvPicPr>
            <p:nvPr/>
          </p:nvPicPr>
          <p:blipFill>
            <a:blip r:embed="rId1">
              <a:clrChange>
                <a:clrFrom>
                  <a:srgbClr val="FFFFFF"/>
                </a:clrFrom>
                <a:clrTo>
                  <a:srgbClr val="FFFFFF">
                    <a:alpha val="0"/>
                  </a:srgbClr>
                </a:clrTo>
              </a:clrChange>
              <a:lum bright="-100000" contrast="100000"/>
            </a:blip>
            <a:stretch>
              <a:fillRect/>
            </a:stretch>
          </p:blipFill>
          <p:spPr>
            <a:xfrm>
              <a:off x="765" y="1530"/>
              <a:ext cx="4233" cy="2673"/>
            </a:xfrm>
            <a:prstGeom prst="rect">
              <a:avLst/>
            </a:prstGeom>
            <a:solidFill>
              <a:srgbClr val="99FF66"/>
            </a:solidFill>
            <a:ln w="9525">
              <a:noFill/>
            </a:ln>
          </p:spPr>
        </p:pic>
      </p:grpSp>
      <p:sp>
        <p:nvSpPr>
          <p:cNvPr id="11" name="标题 1"/>
          <p:cNvSpPr>
            <a:spLocks noGrp="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1" i="0" u="none" strike="noStrike" kern="1200" cap="none" spc="0" normalizeH="0" baseline="0" noProof="0" dirty="0" smtClean="0">
                <a:ln>
                  <a:noFill/>
                </a:ln>
                <a:solidFill>
                  <a:schemeClr val="tx2"/>
                </a:solidFill>
                <a:effectLst>
                  <a:outerShdw blurRad="38100" dist="38100" dir="2700000" algn="tl">
                    <a:srgbClr val="000000"/>
                  </a:outerShdw>
                </a:effectLst>
                <a:uLnTx/>
                <a:uFillTx/>
                <a:latin typeface="楷体_GB2312" pitchFamily="49" charset="-122"/>
                <a:ea typeface="楷体_GB2312" pitchFamily="49" charset="-122"/>
                <a:cs typeface="+mj-cs"/>
              </a:rPr>
              <a:t>凸凹模间隙大小的影响</a:t>
            </a:r>
            <a:endParaRPr kumimoji="0" lang="zh-CN" altLang="en-US" sz="3600" b="1" i="0" u="none" strike="noStrike" kern="1200" cap="none" spc="0" normalizeH="0" baseline="0" noProof="0" dirty="0" smtClean="0">
              <a:ln>
                <a:noFill/>
              </a:ln>
              <a:solidFill>
                <a:schemeClr val="tx2"/>
              </a:solidFill>
              <a:effectLst/>
              <a:uLnTx/>
              <a:uFillTx/>
              <a:latin typeface="+mj-lt"/>
              <a:ea typeface="+mj-ea"/>
              <a:cs typeface="+mj-cs"/>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标题 1"/>
          <p:cNvSpPr>
            <a:spLocks noGrp="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1" i="0" u="none" strike="noStrike" kern="1200" cap="none" spc="0" normalizeH="0" baseline="0" noProof="0" dirty="0" smtClean="0">
                <a:ln>
                  <a:noFill/>
                </a:ln>
                <a:solidFill>
                  <a:schemeClr val="tx2"/>
                </a:solidFill>
                <a:effectLst>
                  <a:outerShdw blurRad="38100" dist="38100" dir="2700000" algn="tl">
                    <a:srgbClr val="000000"/>
                  </a:outerShdw>
                </a:effectLst>
                <a:uLnTx/>
                <a:uFillTx/>
                <a:latin typeface="楷体_GB2312" pitchFamily="49" charset="-122"/>
                <a:ea typeface="楷体_GB2312" pitchFamily="49" charset="-122"/>
                <a:cs typeface="+mj-cs"/>
              </a:rPr>
              <a:t>凸凹模间隙大小的影响</a:t>
            </a:r>
            <a:endParaRPr kumimoji="0" lang="zh-CN" altLang="en-US" sz="3600" b="1" i="0" u="none" strike="noStrike" kern="1200" cap="none" spc="0" normalizeH="0" baseline="0" noProof="0" dirty="0" smtClean="0">
              <a:ln>
                <a:noFill/>
              </a:ln>
              <a:solidFill>
                <a:schemeClr val="tx2"/>
              </a:solidFill>
              <a:effectLst/>
              <a:uLnTx/>
              <a:uFillTx/>
              <a:latin typeface="+mj-lt"/>
              <a:ea typeface="+mj-ea"/>
              <a:cs typeface="+mj-cs"/>
            </a:endParaRPr>
          </a:p>
        </p:txBody>
      </p:sp>
      <p:sp>
        <p:nvSpPr>
          <p:cNvPr id="117763" name="内容占位符 2"/>
          <p:cNvSpPr>
            <a:spLocks noGrp="1"/>
          </p:cNvSpPr>
          <p:nvPr>
            <p:ph idx="1"/>
          </p:nvPr>
        </p:nvSpPr>
        <p:spPr>
          <a:xfrm>
            <a:off x="495300" y="1412558"/>
            <a:ext cx="8153400" cy="4572000"/>
          </a:xfrm>
        </p:spPr>
        <p:txBody>
          <a:bodyPr vert="horz" wrap="square" lIns="91440" tIns="45720" rIns="91440" bIns="45720" anchor="t" anchorCtr="0"/>
          <a:p>
            <a:pPr eaLnBrk="1" hangingPunct="1">
              <a:spcBef>
                <a:spcPct val="0"/>
              </a:spcBef>
              <a:buNone/>
            </a:pPr>
            <a:r>
              <a:rPr lang="zh-CN" altLang="en-US" b="1" dirty="0">
                <a:latin typeface="楷体_GB2312" pitchFamily="49" charset="-122"/>
                <a:ea typeface="楷体_GB2312" pitchFamily="49" charset="-122"/>
              </a:rPr>
              <a:t>      选择模具间隙主要考虑</a:t>
            </a:r>
            <a:r>
              <a:rPr lang="zh-CN" altLang="en-US" b="1" dirty="0">
                <a:solidFill>
                  <a:srgbClr val="FF0000"/>
                </a:solidFill>
                <a:latin typeface="楷体_GB2312" pitchFamily="49" charset="-122"/>
                <a:ea typeface="楷体_GB2312" pitchFamily="49" charset="-122"/>
              </a:rPr>
              <a:t>冲裁件断面质量和模具寿命</a:t>
            </a:r>
            <a:r>
              <a:rPr lang="zh-CN" altLang="en-US" b="1" dirty="0">
                <a:latin typeface="楷体_GB2312" pitchFamily="49" charset="-122"/>
                <a:ea typeface="楷体_GB2312" pitchFamily="49" charset="-122"/>
              </a:rPr>
              <a:t>这两个主要的因素。</a:t>
            </a:r>
            <a:endParaRPr lang="zh-CN" altLang="en-US" b="1" dirty="0">
              <a:latin typeface="楷体_GB2312" pitchFamily="49" charset="-122"/>
              <a:ea typeface="楷体_GB2312" pitchFamily="49" charset="-122"/>
            </a:endParaRPr>
          </a:p>
          <a:p>
            <a:pPr lvl="1" eaLnBrk="1" hangingPunct="1">
              <a:spcBef>
                <a:spcPct val="0"/>
              </a:spcBef>
            </a:pPr>
            <a:r>
              <a:rPr lang="zh-CN" altLang="en-US" b="1" dirty="0">
                <a:solidFill>
                  <a:srgbClr val="0000FF"/>
                </a:solidFill>
                <a:latin typeface="楷体_GB2312" pitchFamily="49" charset="-122"/>
                <a:ea typeface="楷体_GB2312" pitchFamily="49" charset="-122"/>
              </a:rPr>
              <a:t>当对冲裁件断面质量要求较高时，应选取较小的间隙值，</a:t>
            </a:r>
            <a:endParaRPr lang="zh-CN" altLang="en-US" b="1" dirty="0">
              <a:solidFill>
                <a:srgbClr val="0000FF"/>
              </a:solidFill>
              <a:latin typeface="楷体_GB2312" pitchFamily="49" charset="-122"/>
              <a:ea typeface="楷体_GB2312" pitchFamily="49" charset="-122"/>
            </a:endParaRPr>
          </a:p>
          <a:p>
            <a:pPr lvl="1" eaLnBrk="1" hangingPunct="1">
              <a:spcBef>
                <a:spcPct val="0"/>
              </a:spcBef>
            </a:pPr>
            <a:r>
              <a:rPr lang="zh-CN" altLang="en-US" b="1" dirty="0">
                <a:latin typeface="楷体_GB2312" pitchFamily="49" charset="-122"/>
                <a:ea typeface="楷体_GB2312" pitchFamily="49" charset="-122"/>
              </a:rPr>
              <a:t>当冲裁件的质量要求不高时，则应可能地加大间隙值，以利于提高冲模的寿命。</a:t>
            </a:r>
            <a:endParaRPr lang="zh-CN" altLang="en-US" b="1" dirty="0">
              <a:latin typeface="楷体_GB2312" pitchFamily="49" charset="-122"/>
              <a:ea typeface="楷体_GB2312" pitchFamily="49" charset="-122"/>
            </a:endParaRPr>
          </a:p>
        </p:txBody>
      </p:sp>
      <p:pic>
        <p:nvPicPr>
          <p:cNvPr id="113670" name="Picture 10" descr="金属板料的冲裁过程"/>
          <p:cNvPicPr>
            <a:picLocks noChangeAspect="1"/>
          </p:cNvPicPr>
          <p:nvPr>
            <p:custDataLst>
              <p:tags r:id="rId1"/>
            </p:custDataLst>
          </p:nvPr>
        </p:nvPicPr>
        <p:blipFill>
          <a:blip r:embed="rId2"/>
          <a:stretch>
            <a:fillRect/>
          </a:stretch>
        </p:blipFill>
        <p:spPr>
          <a:xfrm>
            <a:off x="130493" y="4293235"/>
            <a:ext cx="8805862" cy="2519363"/>
          </a:xfrm>
          <a:prstGeom prst="rect">
            <a:avLst/>
          </a:prstGeom>
          <a:noFill/>
          <a:ln w="9525">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2"/>
          <p:cNvSpPr>
            <a:spLocks noGrp="1"/>
          </p:cNvSpPr>
          <p:nvPr>
            <p:ph type="title"/>
          </p:nvPr>
        </p:nvSpPr>
        <p:spPr>
          <a:xfrm>
            <a:off x="457200" y="-26987"/>
            <a:ext cx="8229600" cy="1139825"/>
          </a:xfrm>
        </p:spPr>
        <p:txBody>
          <a:bodyPr vert="horz" wrap="square" lIns="91440" tIns="45720" rIns="91440" bIns="45720" anchor="ctr" anchorCtr="0"/>
          <a:p>
            <a:pPr eaLnBrk="1" hangingPunct="1"/>
            <a:r>
              <a:rPr lang="zh-CN" altLang="en-US" dirty="0"/>
              <a:t>板料冲压</a:t>
            </a:r>
            <a:endParaRPr lang="zh-CN" altLang="en-US" dirty="0"/>
          </a:p>
        </p:txBody>
      </p:sp>
      <p:sp>
        <p:nvSpPr>
          <p:cNvPr id="118787" name="Rectangle 3"/>
          <p:cNvSpPr/>
          <p:nvPr/>
        </p:nvSpPr>
        <p:spPr>
          <a:xfrm>
            <a:off x="-3635375" y="2789238"/>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sp>
        <p:nvSpPr>
          <p:cNvPr id="118788" name="Rectangle 4"/>
          <p:cNvSpPr/>
          <p:nvPr/>
        </p:nvSpPr>
        <p:spPr>
          <a:xfrm>
            <a:off x="428625" y="2047875"/>
            <a:ext cx="8389938" cy="4524375"/>
          </a:xfrm>
          <a:prstGeom prst="rect">
            <a:avLst/>
          </a:prstGeom>
          <a:noFill/>
          <a:ln w="9525">
            <a:noFill/>
          </a:ln>
        </p:spPr>
        <p:txBody>
          <a:bodyPr anchor="ctr" anchorCtr="0">
            <a:spAutoFit/>
          </a:bodyPr>
          <a:p>
            <a:pPr indent="228600" eaLnBrk="1" hangingPunct="1">
              <a:buFont typeface="Wingdings" panose="05000000000000000000" pitchFamily="2" charset="2"/>
              <a:buChar char="Ø"/>
            </a:pPr>
            <a:r>
              <a:rPr lang="zh-CN" altLang="en-US" sz="2400" b="1" dirty="0">
                <a:solidFill>
                  <a:srgbClr val="008000"/>
                </a:solidFill>
                <a:latin typeface="楷体_GB2312" pitchFamily="49" charset="-122"/>
                <a:ea typeface="楷体_GB2312" pitchFamily="49" charset="-122"/>
              </a:rPr>
              <a:t>冲孔件：</a:t>
            </a:r>
            <a:r>
              <a:rPr lang="zh-CN" altLang="en-US" sz="2400" b="1" dirty="0">
                <a:latin typeface="楷体_GB2312" pitchFamily="49" charset="-122"/>
                <a:ea typeface="楷体_GB2312" pitchFamily="49" charset="-122"/>
              </a:rPr>
              <a:t>尺寸取决于</a:t>
            </a:r>
            <a:r>
              <a:rPr lang="zh-CN" altLang="en-US" sz="2400" b="1" dirty="0">
                <a:solidFill>
                  <a:srgbClr val="FF0000"/>
                </a:solidFill>
                <a:latin typeface="楷体_GB2312" pitchFamily="49" charset="-122"/>
                <a:ea typeface="楷体_GB2312" pitchFamily="49" charset="-122"/>
              </a:rPr>
              <a:t>凸模</a:t>
            </a:r>
            <a:r>
              <a:rPr lang="zh-CN" altLang="en-US" sz="2400" b="1" dirty="0">
                <a:latin typeface="楷体_GB2312" pitchFamily="49" charset="-122"/>
                <a:ea typeface="楷体_GB2312" pitchFamily="49" charset="-122"/>
              </a:rPr>
              <a:t>刃口尺寸。设计时，</a:t>
            </a:r>
            <a:r>
              <a:rPr lang="zh-CN" altLang="en-US" sz="2400" b="1" dirty="0">
                <a:solidFill>
                  <a:srgbClr val="FF0066"/>
                </a:solidFill>
                <a:latin typeface="楷体_GB2312" pitchFamily="49" charset="-122"/>
                <a:ea typeface="楷体_GB2312" pitchFamily="49" charset="-122"/>
              </a:rPr>
              <a:t>取凸模作设计基准件，</a:t>
            </a:r>
            <a:r>
              <a:rPr lang="zh-CN" altLang="en-US" sz="2400" b="1" dirty="0">
                <a:latin typeface="楷体_GB2312" pitchFamily="49" charset="-122"/>
                <a:ea typeface="楷体_GB2312" pitchFamily="49" charset="-122"/>
              </a:rPr>
              <a:t>然后根据凸凹模间隙</a:t>
            </a:r>
            <a:r>
              <a:rPr lang="en-US" altLang="zh-CN" sz="2400" b="1" dirty="0">
                <a:latin typeface="楷体_GB2312" pitchFamily="49" charset="-122"/>
                <a:ea typeface="楷体_GB2312" pitchFamily="49" charset="-122"/>
              </a:rPr>
              <a:t>c</a:t>
            </a:r>
            <a:r>
              <a:rPr lang="zh-CN" altLang="en-US" sz="2400" b="1" dirty="0">
                <a:latin typeface="楷体_GB2312" pitchFamily="49" charset="-122"/>
                <a:ea typeface="楷体_GB2312" pitchFamily="49" charset="-122"/>
              </a:rPr>
              <a:t>值确定凹模尺寸（即用扩大凹模刃口尺寸来保证间隙值）。</a:t>
            </a:r>
            <a:endParaRPr lang="zh-CN" altLang="en-US" sz="2400" b="1" dirty="0">
              <a:latin typeface="楷体_GB2312" pitchFamily="49" charset="-122"/>
              <a:ea typeface="楷体_GB2312" pitchFamily="49" charset="-122"/>
            </a:endParaRPr>
          </a:p>
          <a:p>
            <a:pPr indent="228600" eaLnBrk="1" hangingPunct="1"/>
            <a:r>
              <a:rPr lang="zh-CN" altLang="en-US" sz="2400" b="1" dirty="0">
                <a:latin typeface="楷体_GB2312" pitchFamily="49" charset="-122"/>
                <a:ea typeface="楷体_GB2312" pitchFamily="49" charset="-122"/>
              </a:rPr>
              <a:t>   考虑磨损因素，凸模渐小（孔渐小，无废品趋势），冲孔凸模刃口尺寸应靠近</a:t>
            </a:r>
            <a:r>
              <a:rPr lang="zh-CN" altLang="en-US" sz="2400" b="1" dirty="0">
                <a:solidFill>
                  <a:srgbClr val="FF0000"/>
                </a:solidFill>
                <a:latin typeface="楷体_GB2312" pitchFamily="49" charset="-122"/>
                <a:ea typeface="楷体_GB2312" pitchFamily="49" charset="-122"/>
              </a:rPr>
              <a:t>孔公差</a:t>
            </a:r>
            <a:r>
              <a:rPr lang="zh-CN" altLang="en-US" sz="2400" b="1" dirty="0">
                <a:latin typeface="楷体_GB2312" pitchFamily="49" charset="-122"/>
                <a:ea typeface="楷体_GB2312" pitchFamily="49" charset="-122"/>
              </a:rPr>
              <a:t>范围的</a:t>
            </a:r>
            <a:r>
              <a:rPr lang="zh-CN" altLang="en-US" sz="2400" b="1" dirty="0">
                <a:solidFill>
                  <a:srgbClr val="FF0000"/>
                </a:solidFill>
                <a:latin typeface="楷体_GB2312" pitchFamily="49" charset="-122"/>
                <a:ea typeface="楷体_GB2312" pitchFamily="49" charset="-122"/>
              </a:rPr>
              <a:t>最大</a:t>
            </a:r>
            <a:r>
              <a:rPr lang="zh-CN" altLang="en-US" sz="2400" b="1" dirty="0">
                <a:latin typeface="楷体_GB2312" pitchFamily="49" charset="-122"/>
                <a:ea typeface="楷体_GB2312" pitchFamily="49" charset="-122"/>
              </a:rPr>
              <a:t>尺寸（加工余量最小）。</a:t>
            </a:r>
            <a:endParaRPr lang="en-US" altLang="zh-CN" sz="2400" b="1" dirty="0">
              <a:latin typeface="楷体_GB2312" pitchFamily="49" charset="-122"/>
              <a:ea typeface="楷体_GB2312" pitchFamily="49" charset="-122"/>
            </a:endParaRPr>
          </a:p>
          <a:p>
            <a:pPr indent="228600" eaLnBrk="1" hangingPunct="1">
              <a:buFont typeface="Wingdings" panose="05000000000000000000" pitchFamily="2" charset="2"/>
              <a:buChar char="Ø"/>
            </a:pPr>
            <a:r>
              <a:rPr lang="zh-CN" altLang="en-US" sz="2400" b="1" dirty="0">
                <a:solidFill>
                  <a:srgbClr val="008000"/>
                </a:solidFill>
                <a:latin typeface="楷体_GB2312" pitchFamily="49" charset="-122"/>
                <a:ea typeface="楷体_GB2312" pitchFamily="49" charset="-122"/>
              </a:rPr>
              <a:t>落料件：</a:t>
            </a:r>
            <a:r>
              <a:rPr lang="zh-CN" altLang="en-US" sz="2400" b="1" dirty="0">
                <a:latin typeface="楷体_GB2312" pitchFamily="49" charset="-122"/>
                <a:ea typeface="楷体_GB2312" pitchFamily="49" charset="-122"/>
              </a:rPr>
              <a:t>尺寸取决于</a:t>
            </a:r>
            <a:r>
              <a:rPr lang="zh-CN" altLang="en-US" sz="2400" b="1" dirty="0">
                <a:solidFill>
                  <a:srgbClr val="FF0000"/>
                </a:solidFill>
                <a:latin typeface="楷体_GB2312" pitchFamily="49" charset="-122"/>
                <a:ea typeface="楷体_GB2312" pitchFamily="49" charset="-122"/>
              </a:rPr>
              <a:t>凹模</a:t>
            </a:r>
            <a:r>
              <a:rPr lang="zh-CN" altLang="en-US" sz="2400" b="1" dirty="0">
                <a:latin typeface="楷体_GB2312" pitchFamily="49" charset="-122"/>
                <a:ea typeface="楷体_GB2312" pitchFamily="49" charset="-122"/>
              </a:rPr>
              <a:t>刃口的尺寸。设计落料模时，</a:t>
            </a:r>
            <a:r>
              <a:rPr lang="zh-CN" altLang="en-US" sz="2400" b="1" dirty="0">
                <a:solidFill>
                  <a:srgbClr val="FF0066"/>
                </a:solidFill>
                <a:latin typeface="楷体_GB2312" pitchFamily="49" charset="-122"/>
                <a:ea typeface="楷体_GB2312" pitchFamily="49" charset="-122"/>
              </a:rPr>
              <a:t>取凹模作设计基准件，</a:t>
            </a:r>
            <a:r>
              <a:rPr lang="zh-CN" altLang="en-US" sz="2400" b="1" dirty="0">
                <a:latin typeface="楷体_GB2312" pitchFamily="49" charset="-122"/>
                <a:ea typeface="楷体_GB2312" pitchFamily="49" charset="-122"/>
              </a:rPr>
              <a:t>然后根据凸凹模间隙</a:t>
            </a:r>
            <a:r>
              <a:rPr lang="en-US" altLang="zh-CN" sz="2400" b="1" dirty="0">
                <a:latin typeface="楷体_GB2312" pitchFamily="49" charset="-122"/>
                <a:ea typeface="楷体_GB2312" pitchFamily="49" charset="-122"/>
              </a:rPr>
              <a:t>c</a:t>
            </a:r>
            <a:r>
              <a:rPr lang="zh-CN" altLang="en-US" sz="2400" b="1" dirty="0">
                <a:latin typeface="楷体_GB2312" pitchFamily="49" charset="-122"/>
                <a:ea typeface="楷体_GB2312" pitchFamily="49" charset="-122"/>
              </a:rPr>
              <a:t>值确定凸模尺寸（即用缩小凸模刃口尺寸来保证间隙值）。</a:t>
            </a:r>
            <a:endParaRPr lang="zh-CN" altLang="en-US" sz="2400" b="1" dirty="0">
              <a:latin typeface="楷体_GB2312" pitchFamily="49" charset="-122"/>
              <a:ea typeface="楷体_GB2312" pitchFamily="49" charset="-122"/>
            </a:endParaRPr>
          </a:p>
          <a:p>
            <a:pPr indent="228600" eaLnBrk="1" hangingPunct="1"/>
            <a:r>
              <a:rPr lang="zh-CN" altLang="en-US" sz="2400" b="1" dirty="0">
                <a:latin typeface="楷体_GB2312" pitchFamily="49" charset="-122"/>
                <a:ea typeface="楷体_GB2312" pitchFamily="49" charset="-122"/>
              </a:rPr>
              <a:t>   考虑磨损因素，凹模渐大（轴渐大，无废品趋势），落料凹模刃口尺寸应靠近</a:t>
            </a:r>
            <a:r>
              <a:rPr lang="zh-CN" altLang="en-US" sz="2400" b="1" dirty="0">
                <a:solidFill>
                  <a:srgbClr val="FF0000"/>
                </a:solidFill>
                <a:latin typeface="楷体_GB2312" pitchFamily="49" charset="-122"/>
                <a:ea typeface="楷体_GB2312" pitchFamily="49" charset="-122"/>
              </a:rPr>
              <a:t>落料件公差</a:t>
            </a:r>
            <a:r>
              <a:rPr lang="zh-CN" altLang="en-US" sz="2400" b="1" dirty="0">
                <a:solidFill>
                  <a:schemeClr val="tx1"/>
                </a:solidFill>
                <a:latin typeface="楷体_GB2312" pitchFamily="49" charset="-122"/>
                <a:ea typeface="楷体_GB2312" pitchFamily="49" charset="-122"/>
              </a:rPr>
              <a:t>范围</a:t>
            </a:r>
            <a:r>
              <a:rPr lang="zh-CN" altLang="en-US" sz="2400" b="1" dirty="0">
                <a:latin typeface="楷体_GB2312" pitchFamily="49" charset="-122"/>
                <a:ea typeface="楷体_GB2312" pitchFamily="49" charset="-122"/>
              </a:rPr>
              <a:t>的</a:t>
            </a:r>
            <a:r>
              <a:rPr lang="zh-CN" altLang="en-US" sz="2400" b="1" dirty="0">
                <a:solidFill>
                  <a:srgbClr val="FF0000"/>
                </a:solidFill>
                <a:latin typeface="楷体_GB2312" pitchFamily="49" charset="-122"/>
                <a:ea typeface="楷体_GB2312" pitchFamily="49" charset="-122"/>
              </a:rPr>
              <a:t>最小</a:t>
            </a:r>
            <a:r>
              <a:rPr lang="zh-CN" altLang="en-US" sz="2400" b="1" dirty="0">
                <a:latin typeface="楷体_GB2312" pitchFamily="49" charset="-122"/>
                <a:ea typeface="楷体_GB2312" pitchFamily="49" charset="-122"/>
              </a:rPr>
              <a:t>尺寸（加工余量最小）。</a:t>
            </a:r>
            <a:r>
              <a:rPr lang="zh-CN" altLang="en-US" sz="2400" dirty="0">
                <a:latin typeface="楷体_GB2312" pitchFamily="49" charset="-122"/>
                <a:ea typeface="楷体_GB2312" pitchFamily="49" charset="-122"/>
              </a:rPr>
              <a:t>                            </a:t>
            </a:r>
            <a:endParaRPr lang="zh-CN" altLang="en-US" sz="2400" dirty="0">
              <a:latin typeface="楷体_GB2312" pitchFamily="49" charset="-122"/>
              <a:ea typeface="楷体_GB2312" pitchFamily="49" charset="-122"/>
            </a:endParaRPr>
          </a:p>
        </p:txBody>
      </p:sp>
      <p:sp>
        <p:nvSpPr>
          <p:cNvPr id="118789" name="Rectangle 5"/>
          <p:cNvSpPr/>
          <p:nvPr/>
        </p:nvSpPr>
        <p:spPr>
          <a:xfrm>
            <a:off x="2357438" y="357188"/>
            <a:ext cx="6643687" cy="708025"/>
          </a:xfrm>
          <a:prstGeom prst="rect">
            <a:avLst/>
          </a:prstGeom>
          <a:noFill/>
          <a:ln w="9525">
            <a:noFill/>
          </a:ln>
        </p:spPr>
        <p:txBody>
          <a:bodyPr>
            <a:spAutoFit/>
          </a:bodyPr>
          <a:p>
            <a:pPr eaLnBrk="1" hangingPunct="1"/>
            <a:r>
              <a:rPr lang="zh-CN" altLang="en-US" sz="4000" b="1" dirty="0">
                <a:solidFill>
                  <a:srgbClr val="CC3300"/>
                </a:solidFill>
                <a:latin typeface="楷体_GB2312" pitchFamily="49" charset="-122"/>
                <a:ea typeface="楷体_GB2312" pitchFamily="49" charset="-122"/>
              </a:rPr>
              <a:t>（</a:t>
            </a:r>
            <a:r>
              <a:rPr lang="en-US" altLang="zh-CN" sz="4000" b="1" dirty="0">
                <a:solidFill>
                  <a:srgbClr val="CC3300"/>
                </a:solidFill>
                <a:latin typeface="楷体_GB2312" pitchFamily="49" charset="-122"/>
                <a:ea typeface="楷体_GB2312" pitchFamily="49" charset="-122"/>
              </a:rPr>
              <a:t>3</a:t>
            </a:r>
            <a:r>
              <a:rPr lang="zh-CN" altLang="en-US" sz="4000" b="1" dirty="0">
                <a:solidFill>
                  <a:srgbClr val="CC3300"/>
                </a:solidFill>
                <a:latin typeface="楷体_GB2312" pitchFamily="49" charset="-122"/>
                <a:ea typeface="楷体_GB2312" pitchFamily="49" charset="-122"/>
              </a:rPr>
              <a:t>）凸、凹模刃口尺寸确定</a:t>
            </a:r>
            <a:endParaRPr lang="zh-CN" altLang="en-US" sz="4000" b="1" dirty="0">
              <a:solidFill>
                <a:schemeClr val="tx2"/>
              </a:solidFill>
              <a:latin typeface="Arial" panose="020B0604020202020204" pitchFamily="34" charset="0"/>
              <a:ea typeface="楷体_GB2312" pitchFamily="49" charset="-122"/>
            </a:endParaRPr>
          </a:p>
        </p:txBody>
      </p:sp>
      <p:sp>
        <p:nvSpPr>
          <p:cNvPr id="2" name="爆炸形 2 1"/>
          <p:cNvSpPr/>
          <p:nvPr/>
        </p:nvSpPr>
        <p:spPr>
          <a:xfrm>
            <a:off x="3000375" y="857250"/>
            <a:ext cx="4359275" cy="1152525"/>
          </a:xfrm>
          <a:prstGeom prst="irregularSeal2">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200" b="0" i="0" u="none" strike="noStrike" kern="1200" cap="none" spc="0" normalizeH="0" baseline="0" noProof="0" dirty="0">
                <a:ln>
                  <a:noFill/>
                </a:ln>
                <a:solidFill>
                  <a:schemeClr val="lt1"/>
                </a:solidFill>
                <a:effectLst/>
                <a:uLnTx/>
                <a:uFillTx/>
                <a:latin typeface="+mn-lt"/>
                <a:ea typeface="+mn-ea"/>
                <a:cs typeface="+mn-cs"/>
              </a:rPr>
              <a:t>孔宜小、轴宜大加工原则</a:t>
            </a:r>
            <a:endParaRPr kumimoji="0" lang="zh-CN" altLang="en-US" sz="2200" b="0"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2"/>
          <p:cNvSpPr>
            <a:spLocks noGrp="1"/>
          </p:cNvSpPr>
          <p:nvPr>
            <p:ph type="title"/>
          </p:nvPr>
        </p:nvSpPr>
        <p:spPr>
          <a:xfrm>
            <a:off x="3429000" y="234950"/>
            <a:ext cx="4643438" cy="962025"/>
          </a:xfrm>
        </p:spPr>
        <p:txBody>
          <a:bodyPr vert="horz" wrap="square" lIns="91440" tIns="45720" rIns="91440" bIns="45720" anchor="ctr" anchorCtr="0"/>
          <a:p>
            <a:pPr eaLnBrk="1" hangingPunct="1"/>
            <a:r>
              <a:rPr lang="zh-CN" altLang="en-US" sz="4000" dirty="0">
                <a:solidFill>
                  <a:srgbClr val="FF0000"/>
                </a:solidFill>
                <a:latin typeface="楷体_GB2312" pitchFamily="49" charset="-122"/>
                <a:ea typeface="楷体_GB2312" pitchFamily="49" charset="-122"/>
              </a:rPr>
              <a:t>（</a:t>
            </a:r>
            <a:r>
              <a:rPr lang="en-US" altLang="zh-CN" sz="4000" dirty="0">
                <a:solidFill>
                  <a:srgbClr val="FF0000"/>
                </a:solidFill>
                <a:latin typeface="楷体_GB2312" pitchFamily="49" charset="-122"/>
                <a:ea typeface="楷体_GB2312" pitchFamily="49" charset="-122"/>
              </a:rPr>
              <a:t>4</a:t>
            </a:r>
            <a:r>
              <a:rPr lang="zh-CN" altLang="en-US" sz="4000" dirty="0">
                <a:solidFill>
                  <a:srgbClr val="FF0000"/>
                </a:solidFill>
                <a:latin typeface="楷体_GB2312" pitchFamily="49" charset="-122"/>
                <a:ea typeface="楷体_GB2312" pitchFamily="49" charset="-122"/>
              </a:rPr>
              <a:t>）冲裁件的排样</a:t>
            </a:r>
            <a:endParaRPr lang="zh-CN" altLang="en-US" sz="4000" dirty="0">
              <a:ea typeface="楷体_GB2312" pitchFamily="49" charset="-122"/>
            </a:endParaRPr>
          </a:p>
        </p:txBody>
      </p:sp>
      <p:sp>
        <p:nvSpPr>
          <p:cNvPr id="119811" name="Rectangle 3"/>
          <p:cNvSpPr>
            <a:spLocks noGrp="1"/>
          </p:cNvSpPr>
          <p:nvPr>
            <p:ph type="body" sz="half" idx="1"/>
          </p:nvPr>
        </p:nvSpPr>
        <p:spPr>
          <a:xfrm>
            <a:off x="107950" y="1339850"/>
            <a:ext cx="8856663" cy="1728788"/>
          </a:xfrm>
        </p:spPr>
        <p:txBody>
          <a:bodyPr vert="horz" wrap="square" lIns="91440" tIns="45720" rIns="91440" bIns="45720" anchor="t" anchorCtr="0"/>
          <a:p>
            <a:pPr eaLnBrk="1" hangingPunct="1">
              <a:buClrTx/>
              <a:buSzTx/>
              <a:buFont typeface="Wingdings" panose="05000000000000000000" pitchFamily="2" charset="2"/>
              <a:buChar char="Ø"/>
            </a:pPr>
            <a:r>
              <a:rPr lang="zh-CN" altLang="en-US" sz="2400" b="1" dirty="0">
                <a:latin typeface="楷体_GB2312" pitchFamily="49" charset="-122"/>
                <a:ea typeface="楷体_GB2312" pitchFamily="49" charset="-122"/>
              </a:rPr>
              <a:t>排样是指冲裁件在条料或带料上的布置方法。排样合理可使废料最少，材料利用率高。分无搭边排样、有搭边排样。</a:t>
            </a:r>
            <a:endParaRPr lang="zh-CN" altLang="en-US" sz="2400" b="1" dirty="0">
              <a:latin typeface="楷体_GB2312" pitchFamily="49" charset="-122"/>
              <a:ea typeface="楷体_GB2312" pitchFamily="49" charset="-122"/>
            </a:endParaRPr>
          </a:p>
          <a:p>
            <a:pPr eaLnBrk="1" hangingPunct="1">
              <a:buClr>
                <a:srgbClr val="CC6600"/>
              </a:buClr>
              <a:buSzTx/>
              <a:buFont typeface="Wingdings" panose="05000000000000000000" pitchFamily="2" charset="2"/>
              <a:buNone/>
            </a:pPr>
            <a:r>
              <a:rPr lang="zh-CN" altLang="en-US" sz="2000" b="1" dirty="0">
                <a:solidFill>
                  <a:srgbClr val="009900"/>
                </a:solidFill>
                <a:latin typeface="楷体_GB2312" pitchFamily="49" charset="-122"/>
                <a:ea typeface="楷体_GB2312" pitchFamily="49" charset="-122"/>
              </a:rPr>
              <a:t>   </a:t>
            </a:r>
            <a:endParaRPr lang="zh-CN" altLang="en-US" sz="2000" b="1" dirty="0">
              <a:solidFill>
                <a:srgbClr val="009900"/>
              </a:solidFill>
              <a:latin typeface="楷体_GB2312" pitchFamily="49" charset="-122"/>
              <a:ea typeface="楷体_GB2312" pitchFamily="49" charset="-122"/>
            </a:endParaRPr>
          </a:p>
        </p:txBody>
      </p:sp>
      <p:pic>
        <p:nvPicPr>
          <p:cNvPr id="119812" name="Picture 5" descr="deng"/>
          <p:cNvPicPr>
            <a:picLocks noChangeAspect="1"/>
          </p:cNvPicPr>
          <p:nvPr/>
        </p:nvPicPr>
        <p:blipFill>
          <a:blip r:embed="rId1"/>
          <a:stretch>
            <a:fillRect/>
          </a:stretch>
        </p:blipFill>
        <p:spPr>
          <a:xfrm>
            <a:off x="4227830" y="2500630"/>
            <a:ext cx="4822825" cy="2943860"/>
          </a:xfrm>
          <a:prstGeom prst="rect">
            <a:avLst/>
          </a:prstGeom>
          <a:noFill/>
          <a:ln w="9525">
            <a:noFill/>
          </a:ln>
        </p:spPr>
      </p:pic>
      <p:sp>
        <p:nvSpPr>
          <p:cNvPr id="119813" name="Rectangle 7"/>
          <p:cNvSpPr/>
          <p:nvPr/>
        </p:nvSpPr>
        <p:spPr>
          <a:xfrm>
            <a:off x="500063" y="2357438"/>
            <a:ext cx="4068762" cy="2771775"/>
          </a:xfrm>
          <a:prstGeom prst="rect">
            <a:avLst/>
          </a:prstGeom>
          <a:noFill/>
          <a:ln w="9525">
            <a:noFill/>
          </a:ln>
        </p:spPr>
        <p:txBody>
          <a:bodyPr>
            <a:spAutoFit/>
          </a:bodyPr>
          <a:p>
            <a:pPr eaLnBrk="1" hangingPunct="1"/>
            <a:r>
              <a:rPr lang="en-US" altLang="zh-CN" sz="2200" b="1" dirty="0">
                <a:solidFill>
                  <a:srgbClr val="990000"/>
                </a:solidFill>
                <a:latin typeface="楷体_GB2312" pitchFamily="49" charset="-122"/>
                <a:ea typeface="楷体_GB2312" pitchFamily="49" charset="-122"/>
              </a:rPr>
              <a:t>    </a:t>
            </a:r>
            <a:r>
              <a:rPr lang="zh-CN" altLang="en-US" sz="2200" b="1" dirty="0">
                <a:solidFill>
                  <a:srgbClr val="990000"/>
                </a:solidFill>
                <a:latin typeface="楷体_GB2312" pitchFamily="49" charset="-122"/>
                <a:ea typeface="楷体_GB2312" pitchFamily="49" charset="-122"/>
              </a:rPr>
              <a:t>无搭边排样：</a:t>
            </a:r>
            <a:r>
              <a:rPr lang="zh-CN" altLang="en-US" sz="2200" b="1" dirty="0">
                <a:solidFill>
                  <a:srgbClr val="000000"/>
                </a:solidFill>
                <a:latin typeface="楷体_GB2312" pitchFamily="49" charset="-122"/>
                <a:ea typeface="楷体_GB2312" pitchFamily="49" charset="-122"/>
              </a:rPr>
              <a:t>利用落料件形状的一个边作为另一个落料件的边缘（图</a:t>
            </a:r>
            <a:r>
              <a:rPr lang="en-US" altLang="zh-CN" sz="2200" b="1" dirty="0">
                <a:solidFill>
                  <a:srgbClr val="000000"/>
                </a:solidFill>
                <a:latin typeface="楷体_GB2312" pitchFamily="49" charset="-122"/>
                <a:ea typeface="楷体_GB2312" pitchFamily="49" charset="-122"/>
              </a:rPr>
              <a:t>d</a:t>
            </a:r>
            <a:r>
              <a:rPr lang="zh-CN" altLang="en-US" sz="2200" b="1" dirty="0">
                <a:solidFill>
                  <a:srgbClr val="000000"/>
                </a:solidFill>
                <a:latin typeface="楷体_GB2312" pitchFamily="49" charset="-122"/>
                <a:ea typeface="楷体_GB2312" pitchFamily="49" charset="-122"/>
              </a:rPr>
              <a:t>）。这种排样，材料</a:t>
            </a:r>
            <a:r>
              <a:rPr lang="zh-CN" altLang="en-US" sz="2200" b="1" dirty="0">
                <a:solidFill>
                  <a:srgbClr val="FF0000"/>
                </a:solidFill>
                <a:latin typeface="楷体_GB2312" pitchFamily="49" charset="-122"/>
                <a:ea typeface="楷体_GB2312" pitchFamily="49" charset="-122"/>
              </a:rPr>
              <a:t>利用率</a:t>
            </a:r>
            <a:r>
              <a:rPr lang="zh-CN" altLang="en-US" sz="2200" b="1" dirty="0">
                <a:solidFill>
                  <a:srgbClr val="000000"/>
                </a:solidFill>
                <a:latin typeface="楷体_GB2312" pitchFamily="49" charset="-122"/>
                <a:ea typeface="楷体_GB2312" pitchFamily="49" charset="-122"/>
              </a:rPr>
              <a:t>很高，但</a:t>
            </a:r>
            <a:r>
              <a:rPr lang="zh-CN" altLang="en-US" sz="2200" b="1" dirty="0">
                <a:solidFill>
                  <a:srgbClr val="FF0000"/>
                </a:solidFill>
                <a:latin typeface="楷体_GB2312" pitchFamily="49" charset="-122"/>
                <a:ea typeface="楷体_GB2312" pitchFamily="49" charset="-122"/>
              </a:rPr>
              <a:t>毛刺不在同一个</a:t>
            </a:r>
            <a:r>
              <a:rPr lang="zh-CN" altLang="en-US" sz="2200" b="1" dirty="0">
                <a:solidFill>
                  <a:srgbClr val="000000"/>
                </a:solidFill>
                <a:latin typeface="楷体_GB2312" pitchFamily="49" charset="-122"/>
                <a:ea typeface="楷体_GB2312" pitchFamily="49" charset="-122"/>
              </a:rPr>
              <a:t>平面上，而且尺寸不容易准确，因此只用于对冲裁件质量要求不高的场合。</a:t>
            </a:r>
            <a:endParaRPr lang="zh-CN" altLang="en-US" sz="2200" b="1" dirty="0">
              <a:solidFill>
                <a:srgbClr val="000000"/>
              </a:solidFill>
              <a:latin typeface="楷体_GB2312" pitchFamily="49" charset="-122"/>
              <a:ea typeface="楷体_GB2312" pitchFamily="49" charset="-122"/>
            </a:endParaRPr>
          </a:p>
          <a:p>
            <a:pPr eaLnBrk="1" hangingPunct="1"/>
            <a:r>
              <a:rPr lang="zh-CN" altLang="en-US" sz="2200" b="1" dirty="0">
                <a:solidFill>
                  <a:srgbClr val="0000FF"/>
                </a:solidFill>
                <a:latin typeface="楷体_GB2312" pitchFamily="49" charset="-122"/>
                <a:ea typeface="楷体_GB2312" pitchFamily="49" charset="-122"/>
              </a:rPr>
              <a:t>      </a:t>
            </a:r>
            <a:endParaRPr lang="zh-CN" altLang="en-US" sz="2200" b="1" dirty="0">
              <a:solidFill>
                <a:srgbClr val="0000FF"/>
              </a:solidFill>
              <a:latin typeface="楷体_GB2312" pitchFamily="49" charset="-122"/>
              <a:ea typeface="楷体_GB2312" pitchFamily="49" charset="-122"/>
            </a:endParaRPr>
          </a:p>
        </p:txBody>
      </p:sp>
      <p:sp>
        <p:nvSpPr>
          <p:cNvPr id="119814" name="Rectangle 8"/>
          <p:cNvSpPr/>
          <p:nvPr/>
        </p:nvSpPr>
        <p:spPr>
          <a:xfrm>
            <a:off x="468313" y="5445125"/>
            <a:ext cx="8207375" cy="1096963"/>
          </a:xfrm>
          <a:prstGeom prst="rect">
            <a:avLst/>
          </a:prstGeom>
          <a:noFill/>
          <a:ln w="9525">
            <a:noFill/>
          </a:ln>
        </p:spPr>
        <p:txBody>
          <a:bodyPr>
            <a:spAutoFit/>
          </a:bodyPr>
          <a:p>
            <a:pPr eaLnBrk="1" hangingPunct="1"/>
            <a:r>
              <a:rPr lang="en-US" altLang="zh-CN" sz="2200" b="1" dirty="0">
                <a:solidFill>
                  <a:srgbClr val="0000FF"/>
                </a:solidFill>
                <a:latin typeface="Arial" panose="020B0604020202020204" pitchFamily="34" charset="0"/>
                <a:ea typeface="楷体_GB2312" pitchFamily="49" charset="-122"/>
              </a:rPr>
              <a:t>       </a:t>
            </a:r>
            <a:r>
              <a:rPr lang="zh-CN" altLang="en-US" sz="2200" b="1" dirty="0">
                <a:solidFill>
                  <a:srgbClr val="0000FF"/>
                </a:solidFill>
                <a:latin typeface="Arial" panose="020B0604020202020204" pitchFamily="34" charset="0"/>
                <a:ea typeface="楷体_GB2312" pitchFamily="49" charset="-122"/>
              </a:rPr>
              <a:t>有搭边排样：</a:t>
            </a:r>
            <a:r>
              <a:rPr lang="zh-CN" altLang="en-US" sz="2200" b="1" dirty="0">
                <a:solidFill>
                  <a:srgbClr val="000000"/>
                </a:solidFill>
                <a:latin typeface="Arial" panose="020B0604020202020204" pitchFamily="34" charset="0"/>
                <a:ea typeface="楷体_GB2312" pitchFamily="49" charset="-122"/>
              </a:rPr>
              <a:t>在各个落料件之间均留有一定尺寸的搭边。其优点是毛刺小，而且在同一个平面上，冲裁件尺寸准确，质量较高，但材料消耗多。</a:t>
            </a:r>
            <a:endParaRPr lang="zh-CN" altLang="en-US" sz="2200" b="1" dirty="0">
              <a:solidFill>
                <a:srgbClr val="000000"/>
              </a:solidFill>
              <a:latin typeface="Arial" panose="020B0604020202020204" pitchFamily="34" charset="0"/>
              <a:ea typeface="楷体_GB2312" pitchFamily="49" charset="-122"/>
            </a:endParaRPr>
          </a:p>
        </p:txBody>
      </p:sp>
      <p:sp>
        <p:nvSpPr>
          <p:cNvPr id="2" name="圆角矩形标注 1"/>
          <p:cNvSpPr/>
          <p:nvPr/>
        </p:nvSpPr>
        <p:spPr>
          <a:xfrm>
            <a:off x="7572375" y="1859280"/>
            <a:ext cx="1414145" cy="777240"/>
          </a:xfrm>
          <a:prstGeom prst="wedgeRoundRectCallout">
            <a:avLst>
              <a:gd name="adj1" fmla="val 336"/>
              <a:gd name="adj2" fmla="val 6633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一个件上既有冲孔面又有落料面</a:t>
            </a:r>
            <a:endParaRPr lang="zh-CN" alt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标题 1"/>
          <p:cNvSpPr>
            <a:spLocks noGrp="1"/>
          </p:cNvSpPr>
          <p:nvPr>
            <p:ph type="title"/>
          </p:nvPr>
        </p:nvSpPr>
        <p:spPr/>
        <p:txBody>
          <a:bodyPr vert="horz" wrap="square" lIns="91440" tIns="45720" rIns="91440" bIns="45720" anchor="ctr" anchorCtr="0"/>
          <a:p>
            <a:endParaRPr lang="zh-CN" altLang="en-US" dirty="0"/>
          </a:p>
        </p:txBody>
      </p:sp>
      <p:sp>
        <p:nvSpPr>
          <p:cNvPr id="120835" name="内容占位符 2"/>
          <p:cNvSpPr>
            <a:spLocks noGrp="1"/>
          </p:cNvSpPr>
          <p:nvPr>
            <p:ph idx="1"/>
          </p:nvPr>
        </p:nvSpPr>
        <p:spPr/>
        <p:txBody>
          <a:bodyPr vert="horz" wrap="square" lIns="91440" tIns="45720" rIns="91440" bIns="45720" anchor="t" anchorCtr="0"/>
          <a:p>
            <a:endParaRPr lang="zh-CN" altLang="en-US" dirty="0"/>
          </a:p>
        </p:txBody>
      </p:sp>
      <p:pic>
        <p:nvPicPr>
          <p:cNvPr id="120836" name="Picture 2"/>
          <p:cNvPicPr>
            <a:picLocks noChangeAspect="1"/>
          </p:cNvPicPr>
          <p:nvPr/>
        </p:nvPicPr>
        <p:blipFill>
          <a:blip r:embed="rId1"/>
          <a:stretch>
            <a:fillRect/>
          </a:stretch>
        </p:blipFill>
        <p:spPr>
          <a:xfrm>
            <a:off x="3000375" y="1214438"/>
            <a:ext cx="5700713" cy="5072062"/>
          </a:xfrm>
          <a:prstGeom prst="rect">
            <a:avLst/>
          </a:prstGeom>
          <a:noFill/>
          <a:ln w="9525">
            <a:noFill/>
          </a:ln>
        </p:spPr>
      </p:pic>
      <p:sp>
        <p:nvSpPr>
          <p:cNvPr id="5" name="圆角矩形标注 4"/>
          <p:cNvSpPr/>
          <p:nvPr/>
        </p:nvSpPr>
        <p:spPr>
          <a:xfrm>
            <a:off x="357188" y="1857375"/>
            <a:ext cx="2000250" cy="3714750"/>
          </a:xfrm>
          <a:prstGeom prst="wedgeRoundRectCallout">
            <a:avLst>
              <a:gd name="adj1" fmla="val 121679"/>
              <a:gd name="adj2" fmla="val 12993"/>
              <a:gd name="adj3" fmla="val 16667"/>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chemeClr val="lt1"/>
                </a:solidFill>
                <a:effectLst/>
                <a:uLnTx/>
                <a:uFillTx/>
                <a:latin typeface="+mn-lt"/>
                <a:ea typeface="+mn-ea"/>
                <a:cs typeface="+mn-cs"/>
              </a:rPr>
              <a:t>毛刺面是边缘有毛刺的冲裁件平面。</a:t>
            </a:r>
            <a:endParaRPr kumimoji="0" lang="zh-CN" altLang="en-US" sz="2000" b="0" i="0" u="none" strike="noStrike" kern="1200" cap="none" spc="0" normalizeH="0" baseline="0" noProof="0" dirty="0">
              <a:ln>
                <a:noFill/>
              </a:ln>
              <a:solidFill>
                <a:schemeClr val="lt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chemeClr val="lt1"/>
                </a:solidFill>
                <a:effectLst/>
                <a:uLnTx/>
                <a:uFillTx/>
                <a:latin typeface="+mn-lt"/>
                <a:ea typeface="+mn-ea"/>
                <a:cs typeface="+mn-cs"/>
              </a:rPr>
              <a:t>对于落料，毛刺面是接触凸模的平面；</a:t>
            </a:r>
            <a:endParaRPr kumimoji="0" lang="zh-CN" altLang="en-US" sz="2000" b="0" i="0" u="none" strike="noStrike" kern="1200" cap="none" spc="0" normalizeH="0" baseline="0" noProof="0" dirty="0">
              <a:ln>
                <a:noFill/>
              </a:ln>
              <a:solidFill>
                <a:schemeClr val="lt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chemeClr val="lt1"/>
                </a:solidFill>
                <a:effectLst/>
                <a:uLnTx/>
                <a:uFillTx/>
                <a:latin typeface="+mn-lt"/>
                <a:ea typeface="+mn-ea"/>
                <a:cs typeface="+mn-cs"/>
              </a:rPr>
              <a:t>对于冲孔，毛刺面是接触凹模的平面。</a:t>
            </a:r>
            <a:endParaRPr kumimoji="0" lang="zh-CN" altLang="en-US" sz="2000" b="0"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2"/>
          <p:cNvSpPr>
            <a:spLocks noGrp="1"/>
          </p:cNvSpPr>
          <p:nvPr>
            <p:ph type="title"/>
          </p:nvPr>
        </p:nvSpPr>
        <p:spPr/>
        <p:txBody>
          <a:bodyPr vert="horz" wrap="square" lIns="91440" tIns="45720" rIns="91440" bIns="45720" anchor="ctr" anchorCtr="0"/>
          <a:p>
            <a:pPr algn="ctr" eaLnBrk="1" hangingPunct="1"/>
            <a:r>
              <a:rPr lang="zh-CN" altLang="en-US" sz="4000" dirty="0">
                <a:ea typeface="楷体_GB2312" pitchFamily="49" charset="-122"/>
              </a:rPr>
              <a:t>分离工序</a:t>
            </a:r>
            <a:endParaRPr lang="zh-CN" altLang="en-US" sz="4000" dirty="0">
              <a:ea typeface="楷体_GB2312" pitchFamily="49" charset="-122"/>
            </a:endParaRPr>
          </a:p>
        </p:txBody>
      </p:sp>
      <p:sp>
        <p:nvSpPr>
          <p:cNvPr id="121859" name="Rectangle 12"/>
          <p:cNvSpPr/>
          <p:nvPr/>
        </p:nvSpPr>
        <p:spPr>
          <a:xfrm>
            <a:off x="179388" y="1290638"/>
            <a:ext cx="8785225" cy="2282825"/>
          </a:xfrm>
          <a:prstGeom prst="rect">
            <a:avLst/>
          </a:prstGeom>
          <a:noFill/>
          <a:ln w="9525">
            <a:noFill/>
          </a:ln>
        </p:spPr>
        <p:txBody>
          <a:bodyPr anchor="ctr" anchorCtr="0">
            <a:spAutoFit/>
          </a:bodyPr>
          <a:p>
            <a:pPr indent="266700" eaLnBrk="1" hangingPunct="1">
              <a:buNone/>
            </a:pPr>
            <a:r>
              <a:rPr lang="en-US" altLang="zh-CN" sz="2400" b="1" dirty="0">
                <a:solidFill>
                  <a:srgbClr val="FF0000"/>
                </a:solidFill>
                <a:latin typeface="楷体_GB2312" pitchFamily="49" charset="-122"/>
                <a:ea typeface="楷体_GB2312" pitchFamily="49" charset="-122"/>
              </a:rPr>
              <a:t>2</a:t>
            </a:r>
            <a:r>
              <a:rPr lang="zh-CN" altLang="en-US" sz="2400" b="1" dirty="0">
                <a:solidFill>
                  <a:srgbClr val="FF0000"/>
                </a:solidFill>
                <a:latin typeface="楷体_GB2312" pitchFamily="49" charset="-122"/>
                <a:ea typeface="楷体_GB2312" pitchFamily="49" charset="-122"/>
              </a:rPr>
              <a:t>．修整：</a:t>
            </a:r>
            <a:endParaRPr lang="zh-CN" altLang="en-US" sz="2400" b="1" dirty="0">
              <a:solidFill>
                <a:srgbClr val="FF0000"/>
              </a:solidFill>
              <a:latin typeface="楷体_GB2312" pitchFamily="49" charset="-122"/>
              <a:ea typeface="楷体_GB2312" pitchFamily="49" charset="-122"/>
            </a:endParaRPr>
          </a:p>
          <a:p>
            <a:pPr indent="266700">
              <a:buNone/>
            </a:pPr>
            <a:r>
              <a:rPr lang="ja-JP" altLang="en-US"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利用修整模沿冲裁件外缘或内孔刮削一薄层金属，以切掉冲裁件上（断面存留）的剪裂带和毛刺，提高精度，降低粗糙度。</a:t>
            </a:r>
            <a:endParaRPr lang="zh-CN" altLang="en-US" sz="2400" b="1" dirty="0">
              <a:latin typeface="楷体_GB2312" pitchFamily="49" charset="-122"/>
              <a:ea typeface="楷体_GB2312" pitchFamily="49" charset="-122"/>
            </a:endParaRPr>
          </a:p>
          <a:p>
            <a:pPr indent="266700" eaLnBrk="1" hangingPunct="1">
              <a:buNone/>
            </a:pP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）外缘修整：修整冲裁件外形，图</a:t>
            </a:r>
            <a:r>
              <a:rPr lang="en-US" altLang="zh-CN" sz="2400" b="1" dirty="0">
                <a:latin typeface="楷体_GB2312" pitchFamily="49" charset="-122"/>
                <a:ea typeface="楷体_GB2312" pitchFamily="49" charset="-122"/>
              </a:rPr>
              <a:t>3.42a</a:t>
            </a:r>
            <a:endParaRPr lang="en-US" altLang="zh-CN" sz="2400" b="1" dirty="0">
              <a:latin typeface="楷体_GB2312" pitchFamily="49" charset="-122"/>
              <a:ea typeface="楷体_GB2312" pitchFamily="49" charset="-122"/>
            </a:endParaRPr>
          </a:p>
          <a:p>
            <a:pPr indent="266700" eaLnBrk="1" hangingPunct="1">
              <a:buNone/>
            </a:pP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）内孔修整：修整冲裁件内孔，图</a:t>
            </a:r>
            <a:r>
              <a:rPr lang="en-US" altLang="zh-CN" sz="2400" b="1" dirty="0">
                <a:latin typeface="楷体_GB2312" pitchFamily="49" charset="-122"/>
                <a:ea typeface="楷体_GB2312" pitchFamily="49" charset="-122"/>
              </a:rPr>
              <a:t>3.42b</a:t>
            </a:r>
            <a:endParaRPr lang="en-US" altLang="zh-CN" sz="2400" b="1" dirty="0">
              <a:latin typeface="楷体_GB2312" pitchFamily="49" charset="-122"/>
              <a:ea typeface="楷体_GB2312" pitchFamily="49" charset="-122"/>
            </a:endParaRPr>
          </a:p>
          <a:p>
            <a:pPr indent="266700">
              <a:buNone/>
            </a:pPr>
            <a:endParaRPr lang="en-US" altLang="zh-CN" sz="2400" b="1" dirty="0">
              <a:latin typeface="楷体_GB2312" pitchFamily="49" charset="-122"/>
              <a:ea typeface="楷体_GB2312" pitchFamily="49" charset="-122"/>
            </a:endParaRPr>
          </a:p>
        </p:txBody>
      </p:sp>
      <p:sp>
        <p:nvSpPr>
          <p:cNvPr id="121860" name="Rectangle 13"/>
          <p:cNvSpPr/>
          <p:nvPr/>
        </p:nvSpPr>
        <p:spPr>
          <a:xfrm>
            <a:off x="0" y="3302000"/>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sp>
        <p:nvSpPr>
          <p:cNvPr id="121861" name="Rectangle 25"/>
          <p:cNvSpPr/>
          <p:nvPr/>
        </p:nvSpPr>
        <p:spPr>
          <a:xfrm>
            <a:off x="431800" y="4005263"/>
            <a:ext cx="4572000" cy="1187450"/>
          </a:xfrm>
          <a:prstGeom prst="rect">
            <a:avLst/>
          </a:prstGeom>
          <a:noFill/>
          <a:ln w="9525">
            <a:noFill/>
          </a:ln>
        </p:spPr>
        <p:txBody>
          <a:bodyPr>
            <a:spAutoFit/>
          </a:bodyPr>
          <a:p>
            <a:pPr eaLnBrk="1" hangingPunct="1"/>
            <a:r>
              <a:rPr lang="en-US" altLang="zh-CN" sz="2400" b="1" dirty="0">
                <a:solidFill>
                  <a:srgbClr val="FF0000"/>
                </a:solidFill>
                <a:latin typeface="楷体_GB2312" pitchFamily="49" charset="-122"/>
                <a:ea typeface="楷体_GB2312" pitchFamily="49" charset="-122"/>
              </a:rPr>
              <a:t>3</a:t>
            </a:r>
            <a:r>
              <a:rPr lang="zh-CN" altLang="en-US" sz="2400" b="1" dirty="0">
                <a:solidFill>
                  <a:srgbClr val="FF0000"/>
                </a:solidFill>
                <a:latin typeface="楷体_GB2312" pitchFamily="49" charset="-122"/>
                <a:ea typeface="楷体_GB2312" pitchFamily="49" charset="-122"/>
              </a:rPr>
              <a:t>．切断：</a:t>
            </a:r>
            <a:endParaRPr lang="zh-CN" altLang="en-US" sz="2400" b="1" dirty="0">
              <a:solidFill>
                <a:srgbClr val="FF0000"/>
              </a:solidFill>
              <a:latin typeface="楷体_GB2312" pitchFamily="49" charset="-122"/>
              <a:ea typeface="楷体_GB2312" pitchFamily="49" charset="-122"/>
            </a:endParaRPr>
          </a:p>
          <a:p>
            <a:pPr eaLnBrk="1" hangingPunct="1"/>
            <a:r>
              <a:rPr lang="ja-JP" altLang="en-US" sz="2400" b="1" dirty="0">
                <a:latin typeface="楷体_GB2312" pitchFamily="49" charset="-122"/>
                <a:ea typeface="楷体_GB2312" pitchFamily="49" charset="-122"/>
              </a:rPr>
              <a:t>　</a:t>
            </a:r>
            <a:r>
              <a:rPr lang="ja-JP"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利用剪刃或冲模将材料沿不封闭的曲线分离的一种冲压方法。</a:t>
            </a:r>
            <a:endParaRPr lang="zh-CN" altLang="en-US" sz="2400" b="1" dirty="0">
              <a:latin typeface="楷体_GB2312" pitchFamily="49" charset="-122"/>
              <a:ea typeface="楷体_GB2312" pitchFamily="49" charset="-122"/>
            </a:endParaRPr>
          </a:p>
        </p:txBody>
      </p:sp>
      <p:grpSp>
        <p:nvGrpSpPr>
          <p:cNvPr id="121862" name="Group 27"/>
          <p:cNvGrpSpPr/>
          <p:nvPr/>
        </p:nvGrpSpPr>
        <p:grpSpPr>
          <a:xfrm>
            <a:off x="5148263" y="3571875"/>
            <a:ext cx="3600450" cy="2600325"/>
            <a:chOff x="3243" y="2155"/>
            <a:chExt cx="2268" cy="1638"/>
          </a:xfrm>
        </p:grpSpPr>
        <p:pic>
          <p:nvPicPr>
            <p:cNvPr id="121863" name="Picture 5"/>
            <p:cNvPicPr>
              <a:picLocks noChangeAspect="1"/>
            </p:cNvPicPr>
            <p:nvPr/>
          </p:nvPicPr>
          <p:blipFill>
            <a:blip r:embed="rId1"/>
            <a:stretch>
              <a:fillRect/>
            </a:stretch>
          </p:blipFill>
          <p:spPr>
            <a:xfrm>
              <a:off x="3243" y="2155"/>
              <a:ext cx="2268" cy="1638"/>
            </a:xfrm>
            <a:prstGeom prst="rect">
              <a:avLst/>
            </a:prstGeom>
            <a:solidFill>
              <a:srgbClr val="CCFFFF"/>
            </a:solidFill>
            <a:ln w="9525">
              <a:noFill/>
            </a:ln>
          </p:spPr>
        </p:pic>
        <p:sp>
          <p:nvSpPr>
            <p:cNvPr id="121864" name="Text Box 26"/>
            <p:cNvSpPr txBox="1"/>
            <p:nvPr/>
          </p:nvSpPr>
          <p:spPr>
            <a:xfrm>
              <a:off x="3936" y="3388"/>
              <a:ext cx="376" cy="212"/>
            </a:xfrm>
            <a:prstGeom prst="rect">
              <a:avLst/>
            </a:prstGeom>
            <a:solidFill>
              <a:srgbClr val="CCFFFF"/>
            </a:solidFill>
            <a:ln w="9525">
              <a:noFill/>
            </a:ln>
          </p:spPr>
          <p:txBody>
            <a:bodyPr wrap="none">
              <a:spAutoFit/>
            </a:bodyPr>
            <a:p>
              <a:pPr eaLnBrk="1" hangingPunct="1"/>
              <a:r>
                <a:rPr lang="en-US" altLang="zh-CN" sz="1600" b="1" dirty="0">
                  <a:solidFill>
                    <a:srgbClr val="000000"/>
                  </a:solidFill>
                  <a:latin typeface="宋体" panose="02010600030101010101" pitchFamily="2" charset="-122"/>
                </a:rPr>
                <a:t>3-42</a:t>
              </a:r>
              <a:endParaRPr lang="en-US" altLang="zh-CN" sz="1600" b="1" dirty="0">
                <a:solidFill>
                  <a:srgbClr val="000000"/>
                </a:solidFill>
                <a:latin typeface="宋体" panose="02010600030101010101" pitchFamily="2" charset="-122"/>
              </a:endParaRPr>
            </a:p>
          </p:txBody>
        </p:sp>
      </p:gr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2"/>
          <p:cNvSpPr>
            <a:spLocks noGrp="1"/>
          </p:cNvSpPr>
          <p:nvPr>
            <p:ph type="title"/>
          </p:nvPr>
        </p:nvSpPr>
        <p:spPr>
          <a:xfrm>
            <a:off x="3887788" y="90488"/>
            <a:ext cx="2844800" cy="1035050"/>
          </a:xfrm>
        </p:spPr>
        <p:txBody>
          <a:bodyPr vert="horz" wrap="square" lIns="91440" tIns="45720" rIns="91440" bIns="45720" anchor="ctr" anchorCtr="0"/>
          <a:p>
            <a:pPr eaLnBrk="1" hangingPunct="1"/>
            <a:r>
              <a:rPr lang="zh-CN" altLang="en-US" sz="4000" dirty="0">
                <a:ea typeface="楷体_GB2312" pitchFamily="49" charset="-122"/>
              </a:rPr>
              <a:t>板料冲压</a:t>
            </a:r>
            <a:endParaRPr lang="zh-CN" altLang="en-US" sz="4000" dirty="0">
              <a:ea typeface="楷体_GB2312" pitchFamily="49" charset="-122"/>
            </a:endParaRPr>
          </a:p>
        </p:txBody>
      </p:sp>
      <p:sp>
        <p:nvSpPr>
          <p:cNvPr id="122883" name="Rectangle 5"/>
          <p:cNvSpPr/>
          <p:nvPr/>
        </p:nvSpPr>
        <p:spPr>
          <a:xfrm>
            <a:off x="0" y="3302000"/>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sp>
        <p:nvSpPr>
          <p:cNvPr id="122884" name="Rectangle 10"/>
          <p:cNvSpPr/>
          <p:nvPr/>
        </p:nvSpPr>
        <p:spPr>
          <a:xfrm>
            <a:off x="107950" y="1327150"/>
            <a:ext cx="8675688" cy="1201738"/>
          </a:xfrm>
          <a:prstGeom prst="rect">
            <a:avLst/>
          </a:prstGeom>
          <a:noFill/>
          <a:ln w="9525">
            <a:noFill/>
          </a:ln>
        </p:spPr>
        <p:txBody>
          <a:bodyPr anchor="ctr" anchorCtr="0">
            <a:spAutoFit/>
          </a:bodyPr>
          <a:p>
            <a:pPr indent="266700" eaLnBrk="1" hangingPunct="1">
              <a:buNone/>
            </a:pPr>
            <a:r>
              <a:rPr lang="zh-CN" altLang="en-US" sz="2400" b="1" dirty="0">
                <a:solidFill>
                  <a:srgbClr val="CC3300"/>
                </a:solidFill>
                <a:latin typeface="楷体_GB2312" pitchFamily="49" charset="-122"/>
                <a:ea typeface="楷体_GB2312" pitchFamily="49" charset="-122"/>
              </a:rPr>
              <a:t>二、 变形工序</a:t>
            </a:r>
            <a:endParaRPr lang="zh-CN" altLang="en-US" sz="2400" dirty="0">
              <a:solidFill>
                <a:srgbClr val="CC3300"/>
              </a:solidFill>
              <a:latin typeface="楷体_GB2312" pitchFamily="49" charset="-122"/>
              <a:ea typeface="楷体_GB2312" pitchFamily="49" charset="-122"/>
            </a:endParaRPr>
          </a:p>
          <a:p>
            <a:pPr indent="266700">
              <a:buNone/>
            </a:pPr>
            <a:r>
              <a:rPr lang="zh-CN" altLang="en-US" sz="2400" b="1" dirty="0">
                <a:latin typeface="楷体_GB2312" pitchFamily="49" charset="-122"/>
                <a:ea typeface="楷体_GB2312" pitchFamily="49" charset="-122"/>
              </a:rPr>
              <a:t>  利用模具使坯料的一部分相对于另一部分产生位移而又不破裂的工序，如拉深、弯曲、翻边、成形等。</a:t>
            </a:r>
            <a:endParaRPr lang="zh-CN" altLang="en-US" sz="2400" b="1" dirty="0">
              <a:latin typeface="楷体_GB2312" pitchFamily="49" charset="-122"/>
              <a:ea typeface="楷体_GB2312" pitchFamily="49" charset="-122"/>
            </a:endParaRPr>
          </a:p>
        </p:txBody>
      </p:sp>
      <p:sp>
        <p:nvSpPr>
          <p:cNvPr id="122885" name="Rectangle 11"/>
          <p:cNvSpPr/>
          <p:nvPr/>
        </p:nvSpPr>
        <p:spPr>
          <a:xfrm>
            <a:off x="0" y="3124200"/>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grpSp>
        <p:nvGrpSpPr>
          <p:cNvPr id="122886" name="Group 37"/>
          <p:cNvGrpSpPr/>
          <p:nvPr/>
        </p:nvGrpSpPr>
        <p:grpSpPr>
          <a:xfrm>
            <a:off x="285750" y="2924175"/>
            <a:ext cx="4037013" cy="3748088"/>
            <a:chOff x="3560" y="1525"/>
            <a:chExt cx="2109" cy="1950"/>
          </a:xfrm>
        </p:grpSpPr>
        <p:sp>
          <p:nvSpPr>
            <p:cNvPr id="122891" name="Rectangle 14"/>
            <p:cNvSpPr/>
            <p:nvPr/>
          </p:nvSpPr>
          <p:spPr>
            <a:xfrm>
              <a:off x="4150" y="3203"/>
              <a:ext cx="1089" cy="234"/>
            </a:xfrm>
            <a:prstGeom prst="rect">
              <a:avLst/>
            </a:prstGeom>
            <a:noFill/>
            <a:ln w="9525">
              <a:noFill/>
            </a:ln>
          </p:spPr>
          <p:txBody>
            <a:bodyPr anchor="ctr" anchorCtr="0"/>
            <a:p>
              <a:pPr eaLnBrk="1" hangingPunct="1">
                <a:buNone/>
              </a:pPr>
              <a:r>
                <a:rPr lang="ja-JP" altLang="en-US" sz="1600" b="1" dirty="0">
                  <a:latin typeface="楷体_GB2312" pitchFamily="49" charset="-122"/>
                  <a:ea typeface="楷体_GB2312" pitchFamily="49" charset="-122"/>
                </a:rPr>
                <a:t>图</a:t>
              </a:r>
              <a:r>
                <a:rPr lang="en-US" altLang="zh-CN" sz="1600" b="1" dirty="0">
                  <a:latin typeface="楷体_GB2312" pitchFamily="49" charset="-122"/>
                  <a:ea typeface="楷体_GB2312" pitchFamily="49" charset="-122"/>
                </a:rPr>
                <a:t>3</a:t>
              </a:r>
              <a:r>
                <a:rPr lang="en-US" altLang="ja-JP" sz="1600" b="1" dirty="0">
                  <a:latin typeface="楷体_GB2312" pitchFamily="49" charset="-122"/>
                  <a:ea typeface="楷体_GB2312" pitchFamily="49" charset="-122"/>
                </a:rPr>
                <a:t>.</a:t>
              </a:r>
              <a:r>
                <a:rPr lang="en-US" altLang="zh-CN" sz="1600" b="1" dirty="0">
                  <a:latin typeface="楷体_GB2312" pitchFamily="49" charset="-122"/>
                  <a:ea typeface="楷体_GB2312" pitchFamily="49" charset="-122"/>
                </a:rPr>
                <a:t>43</a:t>
              </a:r>
              <a:r>
                <a:rPr lang="en-US" altLang="ja-JP" sz="1600" b="1" dirty="0">
                  <a:latin typeface="楷体_GB2312" pitchFamily="49" charset="-122"/>
                  <a:ea typeface="楷体_GB2312" pitchFamily="49" charset="-122"/>
                </a:rPr>
                <a:t> </a:t>
              </a:r>
              <a:r>
                <a:rPr lang="ja-JP" altLang="en-US" sz="1600" b="1" dirty="0">
                  <a:latin typeface="楷体_GB2312" pitchFamily="49" charset="-122"/>
                  <a:ea typeface="楷体_GB2312" pitchFamily="49" charset="-122"/>
                </a:rPr>
                <a:t>拉深工序</a:t>
              </a:r>
              <a:endParaRPr lang="ja-JP" altLang="en-US" sz="1600" b="1" dirty="0">
                <a:latin typeface="楷体_GB2312" pitchFamily="49" charset="-122"/>
                <a:ea typeface="楷体_GB2312" pitchFamily="49" charset="-122"/>
              </a:endParaRPr>
            </a:p>
          </p:txBody>
        </p:sp>
        <p:sp>
          <p:nvSpPr>
            <p:cNvPr id="122892" name="Line 15"/>
            <p:cNvSpPr/>
            <p:nvPr/>
          </p:nvSpPr>
          <p:spPr>
            <a:xfrm>
              <a:off x="4331" y="3241"/>
              <a:ext cx="1089" cy="0"/>
            </a:xfrm>
            <a:prstGeom prst="line">
              <a:avLst/>
            </a:prstGeom>
            <a:ln w="9525">
              <a:noFill/>
            </a:ln>
          </p:spPr>
        </p:sp>
        <p:sp>
          <p:nvSpPr>
            <p:cNvPr id="122893" name="Line 16"/>
            <p:cNvSpPr/>
            <p:nvPr/>
          </p:nvSpPr>
          <p:spPr>
            <a:xfrm>
              <a:off x="4331" y="3475"/>
              <a:ext cx="1089" cy="0"/>
            </a:xfrm>
            <a:prstGeom prst="line">
              <a:avLst/>
            </a:prstGeom>
            <a:ln w="9525">
              <a:noFill/>
            </a:ln>
          </p:spPr>
        </p:sp>
        <p:sp>
          <p:nvSpPr>
            <p:cNvPr id="122894" name="Line 17"/>
            <p:cNvSpPr/>
            <p:nvPr/>
          </p:nvSpPr>
          <p:spPr>
            <a:xfrm>
              <a:off x="4331" y="3241"/>
              <a:ext cx="0" cy="234"/>
            </a:xfrm>
            <a:prstGeom prst="line">
              <a:avLst/>
            </a:prstGeom>
            <a:ln w="9525">
              <a:noFill/>
            </a:ln>
          </p:spPr>
        </p:sp>
        <p:sp>
          <p:nvSpPr>
            <p:cNvPr id="122895" name="Line 18"/>
            <p:cNvSpPr/>
            <p:nvPr/>
          </p:nvSpPr>
          <p:spPr>
            <a:xfrm>
              <a:off x="5420" y="3241"/>
              <a:ext cx="0" cy="234"/>
            </a:xfrm>
            <a:prstGeom prst="line">
              <a:avLst/>
            </a:prstGeom>
            <a:ln w="9525">
              <a:noFill/>
            </a:ln>
          </p:spPr>
        </p:sp>
        <p:pic>
          <p:nvPicPr>
            <p:cNvPr id="122896" name="Picture 9" descr="拉深">
              <a:hlinkClick r:id="rId1" action="ppaction://hlinkfile"/>
            </p:cNvPr>
            <p:cNvPicPr>
              <a:picLocks noChangeAspect="1"/>
            </p:cNvPicPr>
            <p:nvPr/>
          </p:nvPicPr>
          <p:blipFill>
            <a:blip r:embed="rId2"/>
            <a:srcRect l="16893" t="28935" r="2596" b="12854"/>
            <a:stretch>
              <a:fillRect/>
            </a:stretch>
          </p:blipFill>
          <p:spPr>
            <a:xfrm>
              <a:off x="3560" y="1525"/>
              <a:ext cx="2109" cy="1666"/>
            </a:xfrm>
            <a:prstGeom prst="rect">
              <a:avLst/>
            </a:prstGeom>
            <a:noFill/>
            <a:ln w="76200">
              <a:noFill/>
            </a:ln>
          </p:spPr>
        </p:pic>
      </p:grpSp>
      <p:pic>
        <p:nvPicPr>
          <p:cNvPr id="100" name="图片 99"/>
          <p:cNvPicPr/>
          <p:nvPr/>
        </p:nvPicPr>
        <p:blipFill>
          <a:blip r:embed="rId3"/>
          <a:stretch>
            <a:fillRect/>
          </a:stretch>
        </p:blipFill>
        <p:spPr>
          <a:xfrm>
            <a:off x="4500245" y="2811145"/>
            <a:ext cx="4572000" cy="3429000"/>
          </a:xfrm>
          <a:prstGeom prst="rect">
            <a:avLst/>
          </a:prstGeom>
          <a:noFill/>
          <a:ln w="9525">
            <a:noFill/>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2"/>
          <p:cNvSpPr>
            <a:spLocks noGrp="1"/>
          </p:cNvSpPr>
          <p:nvPr>
            <p:ph type="title"/>
          </p:nvPr>
        </p:nvSpPr>
        <p:spPr>
          <a:xfrm>
            <a:off x="3887788" y="90488"/>
            <a:ext cx="2844800" cy="1035050"/>
          </a:xfrm>
        </p:spPr>
        <p:txBody>
          <a:bodyPr vert="horz" wrap="square" lIns="91440" tIns="45720" rIns="91440" bIns="45720" anchor="ctr" anchorCtr="0"/>
          <a:p>
            <a:pPr eaLnBrk="1" hangingPunct="1"/>
            <a:r>
              <a:rPr lang="en-US" altLang="zh-CN" sz="4000" dirty="0">
                <a:solidFill>
                  <a:srgbClr val="009900"/>
                </a:solidFill>
                <a:latin typeface="楷体_GB2312" pitchFamily="49" charset="-122"/>
                <a:ea typeface="楷体_GB2312" pitchFamily="49" charset="-122"/>
              </a:rPr>
              <a:t>1.</a:t>
            </a:r>
            <a:r>
              <a:rPr lang="zh-CN" altLang="en-US" sz="4000" dirty="0">
                <a:solidFill>
                  <a:srgbClr val="009900"/>
                </a:solidFill>
                <a:latin typeface="楷体_GB2312" pitchFamily="49" charset="-122"/>
                <a:ea typeface="楷体_GB2312" pitchFamily="49" charset="-122"/>
              </a:rPr>
              <a:t>拉深</a:t>
            </a:r>
            <a:endParaRPr lang="zh-CN" altLang="en-US" sz="4000" dirty="0">
              <a:ea typeface="楷体_GB2312" pitchFamily="49" charset="-122"/>
            </a:endParaRPr>
          </a:p>
        </p:txBody>
      </p:sp>
      <p:sp>
        <p:nvSpPr>
          <p:cNvPr id="123907" name="Rectangle 3"/>
          <p:cNvSpPr/>
          <p:nvPr/>
        </p:nvSpPr>
        <p:spPr>
          <a:xfrm>
            <a:off x="0" y="3302000"/>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sp>
        <p:nvSpPr>
          <p:cNvPr id="123908" name="Rectangle 5"/>
          <p:cNvSpPr/>
          <p:nvPr/>
        </p:nvSpPr>
        <p:spPr>
          <a:xfrm>
            <a:off x="0" y="3124200"/>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grpSp>
        <p:nvGrpSpPr>
          <p:cNvPr id="123909" name="Group 6"/>
          <p:cNvGrpSpPr/>
          <p:nvPr/>
        </p:nvGrpSpPr>
        <p:grpSpPr>
          <a:xfrm>
            <a:off x="5651500" y="2638425"/>
            <a:ext cx="3348038" cy="3095625"/>
            <a:chOff x="3560" y="1525"/>
            <a:chExt cx="2109" cy="1950"/>
          </a:xfrm>
        </p:grpSpPr>
        <p:sp>
          <p:nvSpPr>
            <p:cNvPr id="123912" name="Rectangle 7"/>
            <p:cNvSpPr/>
            <p:nvPr/>
          </p:nvSpPr>
          <p:spPr>
            <a:xfrm>
              <a:off x="4150" y="3203"/>
              <a:ext cx="1089" cy="234"/>
            </a:xfrm>
            <a:prstGeom prst="rect">
              <a:avLst/>
            </a:prstGeom>
            <a:noFill/>
            <a:ln w="9525">
              <a:noFill/>
            </a:ln>
          </p:spPr>
          <p:txBody>
            <a:bodyPr anchor="ctr" anchorCtr="0"/>
            <a:p>
              <a:pPr eaLnBrk="1" hangingPunct="1">
                <a:buNone/>
              </a:pPr>
              <a:r>
                <a:rPr lang="ja-JP" altLang="en-US" sz="1600" b="1" dirty="0">
                  <a:latin typeface="楷体_GB2312" pitchFamily="49" charset="-122"/>
                  <a:ea typeface="楷体_GB2312" pitchFamily="49" charset="-122"/>
                </a:rPr>
                <a:t>图</a:t>
              </a:r>
              <a:r>
                <a:rPr lang="en-US" altLang="zh-CN" sz="1600" b="1" dirty="0">
                  <a:latin typeface="楷体_GB2312" pitchFamily="49" charset="-122"/>
                  <a:ea typeface="楷体_GB2312" pitchFamily="49" charset="-122"/>
                </a:rPr>
                <a:t>3</a:t>
              </a:r>
              <a:r>
                <a:rPr lang="en-US" altLang="ja-JP" sz="1600" b="1" dirty="0">
                  <a:latin typeface="楷体_GB2312" pitchFamily="49" charset="-122"/>
                  <a:ea typeface="楷体_GB2312" pitchFamily="49" charset="-122"/>
                </a:rPr>
                <a:t>.</a:t>
              </a:r>
              <a:r>
                <a:rPr lang="en-US" altLang="zh-CN" sz="1600" b="1" dirty="0">
                  <a:latin typeface="楷体_GB2312" pitchFamily="49" charset="-122"/>
                  <a:ea typeface="楷体_GB2312" pitchFamily="49" charset="-122"/>
                </a:rPr>
                <a:t>43</a:t>
              </a:r>
              <a:r>
                <a:rPr lang="en-US" altLang="ja-JP" sz="1600" b="1" dirty="0">
                  <a:latin typeface="楷体_GB2312" pitchFamily="49" charset="-122"/>
                  <a:ea typeface="楷体_GB2312" pitchFamily="49" charset="-122"/>
                </a:rPr>
                <a:t> </a:t>
              </a:r>
              <a:r>
                <a:rPr lang="ja-JP" altLang="en-US" sz="1600" b="1" dirty="0">
                  <a:latin typeface="楷体_GB2312" pitchFamily="49" charset="-122"/>
                  <a:ea typeface="楷体_GB2312" pitchFamily="49" charset="-122"/>
                </a:rPr>
                <a:t>拉深工序</a:t>
              </a:r>
              <a:endParaRPr lang="ja-JP" altLang="en-US" sz="1600" b="1" dirty="0">
                <a:latin typeface="楷体_GB2312" pitchFamily="49" charset="-122"/>
                <a:ea typeface="楷体_GB2312" pitchFamily="49" charset="-122"/>
              </a:endParaRPr>
            </a:p>
          </p:txBody>
        </p:sp>
        <p:sp>
          <p:nvSpPr>
            <p:cNvPr id="123913" name="Line 8"/>
            <p:cNvSpPr/>
            <p:nvPr/>
          </p:nvSpPr>
          <p:spPr>
            <a:xfrm>
              <a:off x="4331" y="3241"/>
              <a:ext cx="1089" cy="0"/>
            </a:xfrm>
            <a:prstGeom prst="line">
              <a:avLst/>
            </a:prstGeom>
            <a:ln w="9525">
              <a:noFill/>
            </a:ln>
          </p:spPr>
        </p:sp>
        <p:sp>
          <p:nvSpPr>
            <p:cNvPr id="123914" name="Line 9"/>
            <p:cNvSpPr/>
            <p:nvPr/>
          </p:nvSpPr>
          <p:spPr>
            <a:xfrm>
              <a:off x="4331" y="3475"/>
              <a:ext cx="1089" cy="0"/>
            </a:xfrm>
            <a:prstGeom prst="line">
              <a:avLst/>
            </a:prstGeom>
            <a:ln w="9525">
              <a:noFill/>
            </a:ln>
          </p:spPr>
        </p:sp>
        <p:sp>
          <p:nvSpPr>
            <p:cNvPr id="123915" name="Line 10"/>
            <p:cNvSpPr/>
            <p:nvPr/>
          </p:nvSpPr>
          <p:spPr>
            <a:xfrm>
              <a:off x="4331" y="3241"/>
              <a:ext cx="0" cy="234"/>
            </a:xfrm>
            <a:prstGeom prst="line">
              <a:avLst/>
            </a:prstGeom>
            <a:ln w="9525">
              <a:noFill/>
            </a:ln>
          </p:spPr>
        </p:sp>
        <p:sp>
          <p:nvSpPr>
            <p:cNvPr id="123916" name="Line 11"/>
            <p:cNvSpPr/>
            <p:nvPr/>
          </p:nvSpPr>
          <p:spPr>
            <a:xfrm>
              <a:off x="5420" y="3241"/>
              <a:ext cx="0" cy="234"/>
            </a:xfrm>
            <a:prstGeom prst="line">
              <a:avLst/>
            </a:prstGeom>
            <a:ln w="9525">
              <a:noFill/>
            </a:ln>
          </p:spPr>
        </p:sp>
        <p:pic>
          <p:nvPicPr>
            <p:cNvPr id="123917" name="Picture 12" descr="拉深">
              <a:hlinkClick r:id="rId1" action="ppaction://hlinkfile"/>
            </p:cNvPr>
            <p:cNvPicPr>
              <a:picLocks noChangeAspect="1"/>
            </p:cNvPicPr>
            <p:nvPr/>
          </p:nvPicPr>
          <p:blipFill>
            <a:blip r:embed="rId2"/>
            <a:srcRect l="16893" t="28935" r="2596" b="12854"/>
            <a:stretch>
              <a:fillRect/>
            </a:stretch>
          </p:blipFill>
          <p:spPr>
            <a:xfrm>
              <a:off x="3560" y="1525"/>
              <a:ext cx="2109" cy="1666"/>
            </a:xfrm>
            <a:prstGeom prst="rect">
              <a:avLst/>
            </a:prstGeom>
            <a:noFill/>
            <a:ln w="76200">
              <a:noFill/>
            </a:ln>
          </p:spPr>
        </p:pic>
      </p:grpSp>
      <p:sp>
        <p:nvSpPr>
          <p:cNvPr id="123910" name="Rectangle 13"/>
          <p:cNvSpPr/>
          <p:nvPr/>
        </p:nvSpPr>
        <p:spPr>
          <a:xfrm>
            <a:off x="285750" y="2000250"/>
            <a:ext cx="5111750" cy="4154488"/>
          </a:xfrm>
          <a:prstGeom prst="rect">
            <a:avLst/>
          </a:prstGeom>
          <a:noFill/>
          <a:ln w="9525">
            <a:noFill/>
          </a:ln>
        </p:spPr>
        <p:txBody>
          <a:bodyPr anchor="ctr" anchorCtr="0">
            <a:spAutoFit/>
          </a:bodyPr>
          <a:p>
            <a:pPr indent="228600" eaLnBrk="1" hangingPunct="1"/>
            <a:r>
              <a:rPr lang="zh-CN" altLang="en-US" sz="2200" b="1" dirty="0">
                <a:solidFill>
                  <a:srgbClr val="009900"/>
                </a:solidFill>
                <a:latin typeface="楷体_GB2312" pitchFamily="49" charset="-122"/>
                <a:ea typeface="楷体_GB2312" pitchFamily="49" charset="-122"/>
              </a:rPr>
              <a:t>  </a:t>
            </a:r>
            <a:endParaRPr lang="zh-CN" altLang="ja-JP" sz="2200" b="1" dirty="0">
              <a:solidFill>
                <a:srgbClr val="009900"/>
              </a:solidFill>
              <a:latin typeface="楷体_GB2312" pitchFamily="49" charset="-122"/>
              <a:ea typeface="楷体_GB2312" pitchFamily="49" charset="-122"/>
            </a:endParaRPr>
          </a:p>
          <a:p>
            <a:pPr indent="228600" eaLnBrk="1" hangingPunct="1"/>
            <a:r>
              <a:rPr lang="zh-CN" altLang="en-US" sz="2200" b="1" dirty="0">
                <a:solidFill>
                  <a:srgbClr val="FF3399"/>
                </a:solidFill>
                <a:latin typeface="楷体_GB2312" pitchFamily="49" charset="-122"/>
                <a:ea typeface="楷体_GB2312" pitchFamily="49" charset="-122"/>
              </a:rPr>
              <a:t>过程</a:t>
            </a:r>
            <a:r>
              <a:rPr lang="zh-CN" altLang="en-US" sz="2200" b="1" dirty="0">
                <a:latin typeface="楷体_GB2312" pitchFamily="49" charset="-122"/>
                <a:ea typeface="楷体_GB2312" pitchFamily="49" charset="-122"/>
              </a:rPr>
              <a:t>：将直径为</a:t>
            </a:r>
            <a:r>
              <a:rPr lang="en-US" altLang="zh-CN" sz="2200" b="1" dirty="0">
                <a:latin typeface="楷体_GB2312" pitchFamily="49" charset="-122"/>
                <a:ea typeface="楷体_GB2312" pitchFamily="49" charset="-122"/>
              </a:rPr>
              <a:t>D</a:t>
            </a:r>
            <a:r>
              <a:rPr lang="zh-CN" altLang="en-US" sz="2200" b="1" dirty="0">
                <a:latin typeface="楷体_GB2312" pitchFamily="49" charset="-122"/>
                <a:ea typeface="楷体_GB2312" pitchFamily="49" charset="-122"/>
              </a:rPr>
              <a:t>的平板坯料放在凹模上，在凸模作用下，坯料被拉入凸模和凹模的间隙中，形成空心零件。</a:t>
            </a:r>
            <a:endParaRPr lang="zh-CN" altLang="en-US" sz="2200" b="1" dirty="0">
              <a:latin typeface="楷体_GB2312" pitchFamily="49" charset="-122"/>
              <a:ea typeface="楷体_GB2312" pitchFamily="49" charset="-122"/>
            </a:endParaRPr>
          </a:p>
          <a:p>
            <a:pPr indent="228600"/>
            <a:r>
              <a:rPr lang="zh-CN" altLang="en-US" sz="2200" b="1" dirty="0">
                <a:solidFill>
                  <a:srgbClr val="FF3399"/>
                </a:solidFill>
                <a:latin typeface="楷体_GB2312" pitchFamily="49" charset="-122"/>
                <a:ea typeface="楷体_GB2312" pitchFamily="49" charset="-122"/>
              </a:rPr>
              <a:t>特点：</a:t>
            </a:r>
            <a:r>
              <a:rPr lang="en-US" altLang="zh-CN" sz="2200" b="1" dirty="0">
                <a:latin typeface="楷体_GB2312" pitchFamily="49" charset="-122"/>
                <a:ea typeface="楷体_GB2312" pitchFamily="49" charset="-122"/>
              </a:rPr>
              <a:t>ⅰ</a:t>
            </a:r>
            <a:r>
              <a:rPr lang="zh-CN" altLang="en-US" sz="2200" b="1" dirty="0">
                <a:solidFill>
                  <a:srgbClr val="FF0000"/>
                </a:solidFill>
                <a:latin typeface="楷体_GB2312" pitchFamily="49" charset="-122"/>
                <a:ea typeface="楷体_GB2312" pitchFamily="49" charset="-122"/>
              </a:rPr>
              <a:t>底部</a:t>
            </a:r>
            <a:r>
              <a:rPr lang="zh-CN" altLang="en-US" sz="2200" b="1" dirty="0">
                <a:latin typeface="楷体_GB2312" pitchFamily="49" charset="-122"/>
                <a:ea typeface="楷体_GB2312" pitchFamily="49" charset="-122"/>
              </a:rPr>
              <a:t>金属基本不变形，</a:t>
            </a:r>
            <a:r>
              <a:rPr lang="zh-CN" altLang="en-US" sz="2200" b="1" dirty="0">
                <a:solidFill>
                  <a:srgbClr val="FF0000"/>
                </a:solidFill>
                <a:latin typeface="楷体_GB2312" pitchFamily="49" charset="-122"/>
                <a:ea typeface="楷体_GB2312" pitchFamily="49" charset="-122"/>
              </a:rPr>
              <a:t>法兰</a:t>
            </a:r>
            <a:r>
              <a:rPr lang="zh-CN" altLang="en-US" sz="2200" b="1" dirty="0">
                <a:latin typeface="楷体_GB2312" pitchFamily="49" charset="-122"/>
                <a:ea typeface="楷体_GB2312" pitchFamily="49" charset="-122"/>
              </a:rPr>
              <a:t>部分向内收缩（毛坯变化图），板厚基本不变。 </a:t>
            </a:r>
            <a:endParaRPr lang="zh-CN" altLang="en-US" sz="2200" b="1" dirty="0">
              <a:latin typeface="楷体_GB2312" pitchFamily="49" charset="-122"/>
              <a:ea typeface="楷体_GB2312" pitchFamily="49" charset="-122"/>
            </a:endParaRPr>
          </a:p>
          <a:p>
            <a:pPr indent="228600"/>
            <a:r>
              <a:rPr lang="zh-CN" altLang="en-US" sz="2200" b="1" dirty="0">
                <a:latin typeface="楷体_GB2312" pitchFamily="49" charset="-122"/>
                <a:ea typeface="楷体_GB2312" pitchFamily="49" charset="-122"/>
              </a:rPr>
              <a:t>  </a:t>
            </a:r>
            <a:r>
              <a:rPr lang="en-US" altLang="zh-CN" sz="2200" b="1" dirty="0">
                <a:latin typeface="楷体_GB2312" pitchFamily="49" charset="-122"/>
                <a:ea typeface="楷体_GB2312" pitchFamily="49" charset="-122"/>
              </a:rPr>
              <a:t>ⅱ</a:t>
            </a:r>
            <a:r>
              <a:rPr lang="zh-CN" altLang="en-US" sz="2200" b="1" dirty="0">
                <a:latin typeface="楷体_GB2312" pitchFamily="49" charset="-122"/>
                <a:ea typeface="楷体_GB2312" pitchFamily="49" charset="-122"/>
              </a:rPr>
              <a:t>法兰部分，切向受压，径向受拉，超过屈服点进入凹凸模间隙，形成直臂。</a:t>
            </a:r>
            <a:endParaRPr lang="zh-CN" altLang="en-US" sz="2200" b="1" dirty="0">
              <a:latin typeface="楷体_GB2312" pitchFamily="49" charset="-122"/>
              <a:ea typeface="楷体_GB2312" pitchFamily="49" charset="-122"/>
            </a:endParaRPr>
          </a:p>
          <a:p>
            <a:pPr indent="228600"/>
            <a:r>
              <a:rPr lang="zh-CN" altLang="en-US" sz="2200" b="1" dirty="0">
                <a:latin typeface="楷体_GB2312" pitchFamily="49" charset="-122"/>
                <a:ea typeface="楷体_GB2312" pitchFamily="49" charset="-122"/>
              </a:rPr>
              <a:t>  </a:t>
            </a:r>
            <a:r>
              <a:rPr lang="en-US" altLang="zh-CN" sz="2200" b="1" dirty="0">
                <a:latin typeface="楷体_GB2312" pitchFamily="49" charset="-122"/>
                <a:ea typeface="楷体_GB2312" pitchFamily="49" charset="-122"/>
              </a:rPr>
              <a:t>ⅲ </a:t>
            </a:r>
            <a:r>
              <a:rPr lang="zh-CN" altLang="en-US" sz="2200" b="1" dirty="0">
                <a:latin typeface="楷体_GB2312" pitchFamily="49" charset="-122"/>
                <a:ea typeface="楷体_GB2312" pitchFamily="49" charset="-122"/>
              </a:rPr>
              <a:t>直臂受轴向拉应力，厚度减小，直臂与底部间的</a:t>
            </a:r>
            <a:r>
              <a:rPr lang="zh-CN" altLang="en-US" sz="2200" b="1" dirty="0">
                <a:solidFill>
                  <a:srgbClr val="FF0000"/>
                </a:solidFill>
                <a:latin typeface="楷体_GB2312" pitchFamily="49" charset="-122"/>
                <a:ea typeface="楷体_GB2312" pitchFamily="49" charset="-122"/>
              </a:rPr>
              <a:t>过渡圆角</a:t>
            </a:r>
            <a:r>
              <a:rPr lang="zh-CN" altLang="en-US" sz="2200" b="1" dirty="0">
                <a:latin typeface="楷体_GB2312" pitchFamily="49" charset="-122"/>
                <a:ea typeface="楷体_GB2312" pitchFamily="49" charset="-122"/>
              </a:rPr>
              <a:t>被拉的最薄。</a:t>
            </a:r>
            <a:endParaRPr lang="zh-CN" altLang="en-US" sz="2200" b="1" dirty="0">
              <a:latin typeface="楷体_GB2312" pitchFamily="49" charset="-122"/>
              <a:ea typeface="楷体_GB2312" pitchFamily="49" charset="-122"/>
            </a:endParaRPr>
          </a:p>
        </p:txBody>
      </p:sp>
      <p:sp>
        <p:nvSpPr>
          <p:cNvPr id="123911" name="矩形 12"/>
          <p:cNvSpPr/>
          <p:nvPr/>
        </p:nvSpPr>
        <p:spPr>
          <a:xfrm>
            <a:off x="571500" y="1285875"/>
            <a:ext cx="8072438" cy="830263"/>
          </a:xfrm>
          <a:prstGeom prst="rect">
            <a:avLst/>
          </a:prstGeom>
          <a:noFill/>
          <a:ln w="9525">
            <a:noFill/>
          </a:ln>
        </p:spPr>
        <p:txBody>
          <a:bodyPr>
            <a:spAutoFit/>
          </a:bodyPr>
          <a:p>
            <a:r>
              <a:rPr lang="zh-CN" altLang="en-US" sz="2400" b="1" dirty="0">
                <a:solidFill>
                  <a:srgbClr val="FF3399"/>
                </a:solidFill>
                <a:latin typeface="楷体_GB2312" pitchFamily="49" charset="-122"/>
                <a:ea typeface="楷体_GB2312" pitchFamily="49" charset="-122"/>
              </a:rPr>
              <a:t>定义</a:t>
            </a:r>
            <a:r>
              <a:rPr lang="zh-CN" altLang="en-US" sz="2400" b="1" dirty="0">
                <a:solidFill>
                  <a:srgbClr val="009900"/>
                </a:solidFill>
                <a:latin typeface="楷体_GB2312" pitchFamily="49" charset="-122"/>
                <a:ea typeface="楷体_GB2312" pitchFamily="49" charset="-122"/>
              </a:rPr>
              <a:t>：变形区在一拉一压的应力作用下，使板料（浅的空心坯）成为空心件，而厚度基本不变的加工方法。</a:t>
            </a:r>
            <a:endParaRPr lang="zh-CN" altLang="en-US" sz="2400" dirty="0">
              <a:latin typeface="Arial" panose="020B0604020202020204" pitchFamily="34" charset="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3"/>
          <p:cNvSpPr/>
          <p:nvPr/>
        </p:nvSpPr>
        <p:spPr>
          <a:xfrm>
            <a:off x="0" y="3302000"/>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sp>
        <p:nvSpPr>
          <p:cNvPr id="124931" name="Rectangle 5"/>
          <p:cNvSpPr/>
          <p:nvPr/>
        </p:nvSpPr>
        <p:spPr>
          <a:xfrm>
            <a:off x="0" y="3124200"/>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sp>
        <p:nvSpPr>
          <p:cNvPr id="124932" name="Line 7"/>
          <p:cNvSpPr/>
          <p:nvPr/>
        </p:nvSpPr>
        <p:spPr>
          <a:xfrm>
            <a:off x="6875463" y="5145088"/>
            <a:ext cx="1728787" cy="0"/>
          </a:xfrm>
          <a:prstGeom prst="line">
            <a:avLst/>
          </a:prstGeom>
          <a:ln w="9525">
            <a:noFill/>
          </a:ln>
        </p:spPr>
      </p:sp>
      <p:sp>
        <p:nvSpPr>
          <p:cNvPr id="124933" name="Line 8"/>
          <p:cNvSpPr/>
          <p:nvPr/>
        </p:nvSpPr>
        <p:spPr>
          <a:xfrm>
            <a:off x="6875463" y="5516563"/>
            <a:ext cx="1728787" cy="0"/>
          </a:xfrm>
          <a:prstGeom prst="line">
            <a:avLst/>
          </a:prstGeom>
          <a:ln w="9525">
            <a:noFill/>
          </a:ln>
        </p:spPr>
      </p:sp>
      <p:sp>
        <p:nvSpPr>
          <p:cNvPr id="124934" name="Line 9"/>
          <p:cNvSpPr/>
          <p:nvPr/>
        </p:nvSpPr>
        <p:spPr>
          <a:xfrm>
            <a:off x="6875463" y="5145088"/>
            <a:ext cx="0" cy="371475"/>
          </a:xfrm>
          <a:prstGeom prst="line">
            <a:avLst/>
          </a:prstGeom>
          <a:ln w="9525">
            <a:noFill/>
          </a:ln>
        </p:spPr>
      </p:sp>
      <p:sp>
        <p:nvSpPr>
          <p:cNvPr id="124935" name="Line 10"/>
          <p:cNvSpPr/>
          <p:nvPr/>
        </p:nvSpPr>
        <p:spPr>
          <a:xfrm>
            <a:off x="8604250" y="5145088"/>
            <a:ext cx="0" cy="371475"/>
          </a:xfrm>
          <a:prstGeom prst="line">
            <a:avLst/>
          </a:prstGeom>
          <a:ln w="9525">
            <a:noFill/>
          </a:ln>
        </p:spPr>
      </p:sp>
      <p:sp>
        <p:nvSpPr>
          <p:cNvPr id="124936" name="Rectangle 13"/>
          <p:cNvSpPr/>
          <p:nvPr/>
        </p:nvSpPr>
        <p:spPr>
          <a:xfrm>
            <a:off x="250825" y="1357313"/>
            <a:ext cx="8532813" cy="3046412"/>
          </a:xfrm>
          <a:prstGeom prst="rect">
            <a:avLst/>
          </a:prstGeom>
          <a:noFill/>
          <a:ln w="9525">
            <a:noFill/>
          </a:ln>
        </p:spPr>
        <p:txBody>
          <a:bodyPr anchor="ctr" anchorCtr="0">
            <a:spAutoFit/>
          </a:bodyPr>
          <a:p>
            <a:pPr indent="228600" eaLnBrk="1" hangingPunct="1"/>
            <a:r>
              <a:rPr lang="zh-CN" altLang="en-US" sz="2400" b="1" dirty="0">
                <a:solidFill>
                  <a:srgbClr val="FF3300"/>
                </a:solidFill>
                <a:latin typeface="楷体_GB2312" pitchFamily="49" charset="-122"/>
                <a:ea typeface="楷体_GB2312" pitchFamily="49" charset="-122"/>
              </a:rPr>
              <a:t>（</a:t>
            </a:r>
            <a:r>
              <a:rPr lang="en-US" altLang="zh-CN" sz="2400" b="1" dirty="0">
                <a:solidFill>
                  <a:srgbClr val="FF3300"/>
                </a:solidFill>
                <a:latin typeface="楷体_GB2312" pitchFamily="49" charset="-122"/>
                <a:ea typeface="楷体_GB2312" pitchFamily="49" charset="-122"/>
              </a:rPr>
              <a:t>2</a:t>
            </a:r>
            <a:r>
              <a:rPr lang="zh-CN" altLang="en-US" sz="2400" b="1" dirty="0">
                <a:solidFill>
                  <a:srgbClr val="FF3300"/>
                </a:solidFill>
                <a:latin typeface="楷体_GB2312" pitchFamily="49" charset="-122"/>
                <a:ea typeface="楷体_GB2312" pitchFamily="49" charset="-122"/>
              </a:rPr>
              <a:t>）拉深系数：</a:t>
            </a:r>
            <a:r>
              <a:rPr lang="en-US" altLang="zh-CN" sz="2400" b="1" dirty="0">
                <a:solidFill>
                  <a:srgbClr val="FF3300"/>
                </a:solidFill>
                <a:latin typeface="楷体_GB2312" pitchFamily="49" charset="-122"/>
                <a:ea typeface="楷体_GB2312" pitchFamily="49" charset="-122"/>
              </a:rPr>
              <a:t>m=d/D</a:t>
            </a:r>
            <a:endParaRPr lang="en-US" altLang="zh-CN" sz="2400" b="1" dirty="0">
              <a:solidFill>
                <a:srgbClr val="FF3300"/>
              </a:solidFill>
              <a:latin typeface="楷体_GB2312" pitchFamily="49" charset="-122"/>
              <a:ea typeface="楷体_GB2312" pitchFamily="49" charset="-122"/>
            </a:endParaRPr>
          </a:p>
          <a:p>
            <a:pPr indent="228600" eaLnBrk="1" hangingPunct="1"/>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其中：</a:t>
            </a:r>
            <a:r>
              <a:rPr lang="en-US" altLang="zh-CN" sz="2400" b="1" dirty="0">
                <a:latin typeface="楷体_GB2312" pitchFamily="49" charset="-122"/>
                <a:ea typeface="楷体_GB2312" pitchFamily="49" charset="-122"/>
              </a:rPr>
              <a:t>d</a:t>
            </a:r>
            <a:r>
              <a:rPr lang="en-US" altLang="zh-CN" sz="2400" b="1" dirty="0">
                <a:latin typeface="宋体" panose="02010600030101010101" pitchFamily="2" charset="-122"/>
                <a:ea typeface="楷体_GB2312" pitchFamily="49" charset="-122"/>
              </a:rPr>
              <a:t>—</a:t>
            </a:r>
            <a:r>
              <a:rPr lang="zh-CN" altLang="en-US" sz="2400" b="1" dirty="0">
                <a:latin typeface="楷体_GB2312" pitchFamily="49" charset="-122"/>
                <a:ea typeface="楷体_GB2312" pitchFamily="49" charset="-122"/>
              </a:rPr>
              <a:t>拉深件直径（中性层）</a:t>
            </a:r>
            <a:endParaRPr lang="zh-CN" altLang="en-US" sz="2400" b="1" dirty="0">
              <a:latin typeface="楷体_GB2312" pitchFamily="49" charset="-122"/>
              <a:ea typeface="楷体_GB2312" pitchFamily="49" charset="-122"/>
            </a:endParaRPr>
          </a:p>
          <a:p>
            <a:pPr indent="228600" eaLnBrk="1" hangingPunct="1"/>
            <a:r>
              <a:rPr lang="zh-CN" altLang="en-US" sz="2400" b="1" dirty="0">
                <a:latin typeface="楷体_GB2312" pitchFamily="49" charset="-122"/>
                <a:ea typeface="楷体_GB2312" pitchFamily="49" charset="-122"/>
              </a:rPr>
              <a:t>        </a:t>
            </a:r>
            <a:r>
              <a:rPr lang="en-US" altLang="zh-CN" sz="2400" b="1" dirty="0">
                <a:latin typeface="楷体_GB2312" pitchFamily="49" charset="-122"/>
                <a:ea typeface="楷体_GB2312" pitchFamily="49" charset="-122"/>
              </a:rPr>
              <a:t>D</a:t>
            </a:r>
            <a:r>
              <a:rPr lang="en-US" altLang="zh-CN" sz="2400" b="1" dirty="0">
                <a:latin typeface="宋体" panose="02010600030101010101" pitchFamily="2" charset="-122"/>
                <a:ea typeface="楷体_GB2312" pitchFamily="49" charset="-122"/>
              </a:rPr>
              <a:t>—</a:t>
            </a:r>
            <a:r>
              <a:rPr lang="zh-CN" altLang="en-US" sz="2400" b="1" dirty="0">
                <a:latin typeface="楷体_GB2312" pitchFamily="49" charset="-122"/>
                <a:ea typeface="楷体_GB2312" pitchFamily="49" charset="-122"/>
              </a:rPr>
              <a:t>拉深前毛坯直径</a:t>
            </a:r>
            <a:endParaRPr lang="zh-CN" altLang="en-US" sz="2400" b="1" dirty="0">
              <a:latin typeface="楷体_GB2312" pitchFamily="49" charset="-122"/>
              <a:ea typeface="楷体_GB2312" pitchFamily="49" charset="-122"/>
            </a:endParaRPr>
          </a:p>
          <a:p>
            <a:pPr indent="228600" eaLnBrk="1" hangingPunct="1"/>
            <a:r>
              <a:rPr lang="zh-CN" altLang="en-US" sz="2400" dirty="0">
                <a:latin typeface="楷体_GB2312" pitchFamily="49" charset="-122"/>
                <a:ea typeface="楷体_GB2312" pitchFamily="49" charset="-122"/>
              </a:rPr>
              <a:t>    </a:t>
            </a:r>
            <a:r>
              <a:rPr lang="en-US" altLang="zh-CN" sz="2400" b="1" dirty="0">
                <a:solidFill>
                  <a:srgbClr val="FF0000"/>
                </a:solidFill>
                <a:latin typeface="楷体_GB2312" pitchFamily="49" charset="-122"/>
                <a:ea typeface="楷体_GB2312" pitchFamily="49" charset="-122"/>
              </a:rPr>
              <a:t>m</a:t>
            </a:r>
            <a:r>
              <a:rPr lang="zh-CN" altLang="en-US" sz="2400" b="1" dirty="0">
                <a:solidFill>
                  <a:srgbClr val="FF0000"/>
                </a:solidFill>
                <a:latin typeface="楷体_GB2312" pitchFamily="49" charset="-122"/>
                <a:ea typeface="楷体_GB2312" pitchFamily="49" charset="-122"/>
              </a:rPr>
              <a:t>意义：</a:t>
            </a:r>
            <a:r>
              <a:rPr lang="en-US" altLang="zh-CN" sz="2400" b="1" dirty="0">
                <a:latin typeface="楷体_GB2312" pitchFamily="49" charset="-122"/>
                <a:ea typeface="楷体_GB2312" pitchFamily="49" charset="-122"/>
              </a:rPr>
              <a:t>ⅰ </a:t>
            </a:r>
            <a:r>
              <a:rPr lang="zh-CN" altLang="en-US" sz="2400" b="1" dirty="0">
                <a:latin typeface="楷体_GB2312" pitchFamily="49" charset="-122"/>
                <a:ea typeface="楷体_GB2312" pitchFamily="49" charset="-122"/>
              </a:rPr>
              <a:t>拉深系数</a:t>
            </a:r>
            <a:r>
              <a:rPr lang="en-US" altLang="zh-CN" sz="2400" b="1" dirty="0">
                <a:latin typeface="楷体_GB2312" pitchFamily="49" charset="-122"/>
                <a:ea typeface="楷体_GB2312" pitchFamily="49" charset="-122"/>
              </a:rPr>
              <a:t>: m=d/D</a:t>
            </a:r>
            <a:endParaRPr lang="en-US" altLang="zh-CN" sz="2400" b="1" dirty="0">
              <a:latin typeface="楷体_GB2312" pitchFamily="49" charset="-122"/>
              <a:ea typeface="楷体_GB2312" pitchFamily="49" charset="-122"/>
            </a:endParaRPr>
          </a:p>
          <a:p>
            <a:pPr indent="228600" eaLnBrk="1" hangingPunct="1"/>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是衡量变形程度的指标， </a:t>
            </a:r>
            <a:r>
              <a:rPr lang="en-US" altLang="zh-CN" sz="2400" b="1" dirty="0">
                <a:latin typeface="楷体_GB2312" pitchFamily="49" charset="-122"/>
                <a:ea typeface="楷体_GB2312" pitchFamily="49" charset="-122"/>
              </a:rPr>
              <a:t>m↓</a:t>
            </a:r>
            <a:r>
              <a:rPr lang="zh-CN" altLang="en-US" sz="2400" b="1" dirty="0">
                <a:latin typeface="楷体_GB2312" pitchFamily="49" charset="-122"/>
                <a:ea typeface="楷体_GB2312" pitchFamily="49" charset="-122"/>
              </a:rPr>
              <a:t>，变形程度↑</a:t>
            </a:r>
            <a:endParaRPr lang="zh-CN" altLang="en-US" sz="2400" b="1" dirty="0">
              <a:latin typeface="楷体_GB2312" pitchFamily="49" charset="-122"/>
              <a:ea typeface="楷体_GB2312" pitchFamily="49" charset="-122"/>
            </a:endParaRPr>
          </a:p>
          <a:p>
            <a:pPr indent="228600" eaLnBrk="1" hangingPunct="1"/>
            <a:r>
              <a:rPr lang="zh-CN" altLang="en-US" sz="2400" b="1" dirty="0">
                <a:latin typeface="楷体_GB2312" pitchFamily="49" charset="-122"/>
                <a:ea typeface="楷体_GB2312" pitchFamily="49" charset="-122"/>
              </a:rPr>
              <a:t>           </a:t>
            </a:r>
            <a:r>
              <a:rPr lang="en-US" altLang="zh-CN" sz="2400" b="1" dirty="0">
                <a:latin typeface="楷体_GB2312" pitchFamily="49" charset="-122"/>
                <a:ea typeface="楷体_GB2312" pitchFamily="49" charset="-122"/>
              </a:rPr>
              <a:t>ⅱ </a:t>
            </a:r>
            <a:r>
              <a:rPr lang="zh-CN" altLang="en-US" sz="2400" b="1" dirty="0">
                <a:latin typeface="楷体_GB2312" pitchFamily="49" charset="-122"/>
                <a:ea typeface="楷体_GB2312" pitchFamily="49" charset="-122"/>
              </a:rPr>
              <a:t>确定拉深成形成功与否的判据</a:t>
            </a:r>
            <a:endParaRPr lang="zh-CN" altLang="en-US" sz="2400" b="1" dirty="0">
              <a:latin typeface="楷体_GB2312" pitchFamily="49" charset="-122"/>
              <a:ea typeface="楷体_GB2312" pitchFamily="49" charset="-122"/>
            </a:endParaRPr>
          </a:p>
          <a:p>
            <a:pPr indent="228600" eaLnBrk="1" hangingPunct="1"/>
            <a:r>
              <a:rPr lang="zh-CN" altLang="en-US" sz="2400" b="1" dirty="0">
                <a:latin typeface="楷体_GB2312" pitchFamily="49" charset="-122"/>
                <a:ea typeface="楷体_GB2312" pitchFamily="49" charset="-122"/>
              </a:rPr>
              <a:t>       一般：</a:t>
            </a:r>
            <a:r>
              <a:rPr lang="en-US" altLang="zh-CN" sz="2400" b="1" dirty="0">
                <a:latin typeface="楷体_GB2312" pitchFamily="49" charset="-122"/>
                <a:ea typeface="楷体_GB2312" pitchFamily="49" charset="-122"/>
              </a:rPr>
              <a:t>m≥0.5</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0.8</a:t>
            </a:r>
            <a:r>
              <a:rPr lang="zh-CN" altLang="en-US" sz="2400" b="1" dirty="0">
                <a:latin typeface="楷体_GB2312" pitchFamily="49" charset="-122"/>
                <a:ea typeface="楷体_GB2312" pitchFamily="49" charset="-122"/>
              </a:rPr>
              <a:t>（极限拉深系数）</a:t>
            </a:r>
            <a:endParaRPr lang="zh-CN" altLang="en-US" sz="2400" b="1" dirty="0">
              <a:latin typeface="楷体_GB2312" pitchFamily="49" charset="-122"/>
              <a:ea typeface="楷体_GB2312" pitchFamily="49" charset="-122"/>
            </a:endParaRPr>
          </a:p>
          <a:p>
            <a:pPr indent="228600" eaLnBrk="1" hangingPunct="1"/>
            <a:endParaRPr lang="en-US" altLang="zh-CN" sz="2400" b="1" dirty="0">
              <a:latin typeface="楷体_GB2312" pitchFamily="49" charset="-122"/>
              <a:ea typeface="楷体_GB2312" pitchFamily="49" charset="-122"/>
            </a:endParaRPr>
          </a:p>
        </p:txBody>
      </p:sp>
      <p:sp>
        <p:nvSpPr>
          <p:cNvPr id="124937" name="Rectangle 41"/>
          <p:cNvSpPr>
            <a:spLocks noGrp="1"/>
          </p:cNvSpPr>
          <p:nvPr>
            <p:ph type="title"/>
          </p:nvPr>
        </p:nvSpPr>
        <p:spPr>
          <a:xfrm>
            <a:off x="3887788" y="90488"/>
            <a:ext cx="2844800" cy="1035050"/>
          </a:xfrm>
        </p:spPr>
        <p:txBody>
          <a:bodyPr vert="horz" wrap="square" lIns="91440" tIns="45720" rIns="91440" bIns="45720" anchor="ctr" anchorCtr="0"/>
          <a:p>
            <a:pPr eaLnBrk="1" hangingPunct="1"/>
            <a:r>
              <a:rPr lang="en-US" altLang="zh-CN" dirty="0">
                <a:solidFill>
                  <a:srgbClr val="CC3300"/>
                </a:solidFill>
                <a:latin typeface="楷体_GB2312" pitchFamily="49" charset="-122"/>
                <a:ea typeface="楷体_GB2312" pitchFamily="49" charset="-122"/>
              </a:rPr>
              <a:t>1.</a:t>
            </a:r>
            <a:r>
              <a:rPr lang="zh-CN" altLang="en-US" dirty="0">
                <a:solidFill>
                  <a:srgbClr val="CC3300"/>
                </a:solidFill>
                <a:latin typeface="楷体_GB2312" pitchFamily="49" charset="-122"/>
                <a:ea typeface="楷体_GB2312" pitchFamily="49" charset="-122"/>
              </a:rPr>
              <a:t>拉深</a:t>
            </a:r>
            <a:endParaRPr lang="zh-CN" altLang="en-US" dirty="0"/>
          </a:p>
        </p:txBody>
      </p:sp>
      <p:grpSp>
        <p:nvGrpSpPr>
          <p:cNvPr id="124938" name="Group 6"/>
          <p:cNvGrpSpPr/>
          <p:nvPr/>
        </p:nvGrpSpPr>
        <p:grpSpPr>
          <a:xfrm>
            <a:off x="2714625" y="4071938"/>
            <a:ext cx="4011613" cy="2786062"/>
            <a:chOff x="3560" y="1525"/>
            <a:chExt cx="2109" cy="1950"/>
          </a:xfrm>
        </p:grpSpPr>
        <p:sp>
          <p:nvSpPr>
            <p:cNvPr id="124939" name="Rectangle 7"/>
            <p:cNvSpPr/>
            <p:nvPr/>
          </p:nvSpPr>
          <p:spPr>
            <a:xfrm>
              <a:off x="4150" y="3203"/>
              <a:ext cx="1089" cy="234"/>
            </a:xfrm>
            <a:prstGeom prst="rect">
              <a:avLst/>
            </a:prstGeom>
            <a:noFill/>
            <a:ln w="9525">
              <a:noFill/>
            </a:ln>
          </p:spPr>
          <p:txBody>
            <a:bodyPr anchor="ctr" anchorCtr="0"/>
            <a:p>
              <a:pPr eaLnBrk="1" hangingPunct="1">
                <a:buNone/>
              </a:pPr>
              <a:r>
                <a:rPr lang="ja-JP" altLang="en-US" sz="1600" b="1" dirty="0">
                  <a:latin typeface="楷体_GB2312" pitchFamily="49" charset="-122"/>
                  <a:ea typeface="楷体_GB2312" pitchFamily="49" charset="-122"/>
                </a:rPr>
                <a:t>图</a:t>
              </a:r>
              <a:r>
                <a:rPr lang="en-US" altLang="zh-CN" sz="1600" b="1" dirty="0">
                  <a:latin typeface="楷体_GB2312" pitchFamily="49" charset="-122"/>
                  <a:ea typeface="楷体_GB2312" pitchFamily="49" charset="-122"/>
                </a:rPr>
                <a:t>3</a:t>
              </a:r>
              <a:r>
                <a:rPr lang="en-US" altLang="ja-JP" sz="1600" b="1" dirty="0">
                  <a:latin typeface="楷体_GB2312" pitchFamily="49" charset="-122"/>
                  <a:ea typeface="楷体_GB2312" pitchFamily="49" charset="-122"/>
                </a:rPr>
                <a:t>.</a:t>
              </a:r>
              <a:r>
                <a:rPr lang="en-US" altLang="zh-CN" sz="1600" b="1" dirty="0">
                  <a:latin typeface="楷体_GB2312" pitchFamily="49" charset="-122"/>
                  <a:ea typeface="楷体_GB2312" pitchFamily="49" charset="-122"/>
                </a:rPr>
                <a:t>43</a:t>
              </a:r>
              <a:r>
                <a:rPr lang="en-US" altLang="ja-JP" sz="1600" b="1" dirty="0">
                  <a:latin typeface="楷体_GB2312" pitchFamily="49" charset="-122"/>
                  <a:ea typeface="楷体_GB2312" pitchFamily="49" charset="-122"/>
                </a:rPr>
                <a:t> </a:t>
              </a:r>
              <a:r>
                <a:rPr lang="ja-JP" altLang="en-US" sz="1600" b="1" dirty="0">
                  <a:latin typeface="楷体_GB2312" pitchFamily="49" charset="-122"/>
                  <a:ea typeface="楷体_GB2312" pitchFamily="49" charset="-122"/>
                </a:rPr>
                <a:t>拉深工序</a:t>
              </a:r>
              <a:endParaRPr lang="ja-JP" altLang="en-US" sz="1600" b="1" dirty="0">
                <a:latin typeface="楷体_GB2312" pitchFamily="49" charset="-122"/>
                <a:ea typeface="楷体_GB2312" pitchFamily="49" charset="-122"/>
              </a:endParaRPr>
            </a:p>
          </p:txBody>
        </p:sp>
        <p:sp>
          <p:nvSpPr>
            <p:cNvPr id="124940" name="Line 8"/>
            <p:cNvSpPr/>
            <p:nvPr/>
          </p:nvSpPr>
          <p:spPr>
            <a:xfrm>
              <a:off x="4331" y="3241"/>
              <a:ext cx="1089" cy="0"/>
            </a:xfrm>
            <a:prstGeom prst="line">
              <a:avLst/>
            </a:prstGeom>
            <a:ln w="9525">
              <a:noFill/>
            </a:ln>
          </p:spPr>
        </p:sp>
        <p:sp>
          <p:nvSpPr>
            <p:cNvPr id="124941" name="Line 9"/>
            <p:cNvSpPr/>
            <p:nvPr/>
          </p:nvSpPr>
          <p:spPr>
            <a:xfrm>
              <a:off x="4331" y="3475"/>
              <a:ext cx="1089" cy="0"/>
            </a:xfrm>
            <a:prstGeom prst="line">
              <a:avLst/>
            </a:prstGeom>
            <a:ln w="9525">
              <a:noFill/>
            </a:ln>
          </p:spPr>
        </p:sp>
        <p:sp>
          <p:nvSpPr>
            <p:cNvPr id="124942" name="Line 10"/>
            <p:cNvSpPr/>
            <p:nvPr/>
          </p:nvSpPr>
          <p:spPr>
            <a:xfrm>
              <a:off x="4331" y="3241"/>
              <a:ext cx="0" cy="234"/>
            </a:xfrm>
            <a:prstGeom prst="line">
              <a:avLst/>
            </a:prstGeom>
            <a:ln w="9525">
              <a:noFill/>
            </a:ln>
          </p:spPr>
        </p:sp>
        <p:sp>
          <p:nvSpPr>
            <p:cNvPr id="124943" name="Line 11"/>
            <p:cNvSpPr/>
            <p:nvPr/>
          </p:nvSpPr>
          <p:spPr>
            <a:xfrm>
              <a:off x="5420" y="3241"/>
              <a:ext cx="0" cy="234"/>
            </a:xfrm>
            <a:prstGeom prst="line">
              <a:avLst/>
            </a:prstGeom>
            <a:ln w="9525">
              <a:noFill/>
            </a:ln>
          </p:spPr>
        </p:sp>
        <p:pic>
          <p:nvPicPr>
            <p:cNvPr id="124944" name="Picture 12" descr="拉深">
              <a:hlinkClick r:id="rId1" action="ppaction://hlinkfile"/>
            </p:cNvPr>
            <p:cNvPicPr>
              <a:picLocks noChangeAspect="1"/>
            </p:cNvPicPr>
            <p:nvPr/>
          </p:nvPicPr>
          <p:blipFill>
            <a:blip r:embed="rId2"/>
            <a:srcRect l="16893" t="28935" r="2596" b="12854"/>
            <a:stretch>
              <a:fillRect/>
            </a:stretch>
          </p:blipFill>
          <p:spPr>
            <a:xfrm>
              <a:off x="3560" y="1525"/>
              <a:ext cx="2109" cy="1666"/>
            </a:xfrm>
            <a:prstGeom prst="rect">
              <a:avLst/>
            </a:prstGeom>
            <a:noFill/>
            <a:ln w="76200">
              <a:noFill/>
            </a:ln>
          </p:spPr>
        </p:pic>
      </p:gr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Rectangle 3"/>
          <p:cNvSpPr/>
          <p:nvPr/>
        </p:nvSpPr>
        <p:spPr>
          <a:xfrm>
            <a:off x="0" y="3302000"/>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sp>
        <p:nvSpPr>
          <p:cNvPr id="125955" name="Rectangle 5"/>
          <p:cNvSpPr/>
          <p:nvPr/>
        </p:nvSpPr>
        <p:spPr>
          <a:xfrm>
            <a:off x="0" y="3124200"/>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sp>
        <p:nvSpPr>
          <p:cNvPr id="125956" name="Line 6"/>
          <p:cNvSpPr/>
          <p:nvPr/>
        </p:nvSpPr>
        <p:spPr>
          <a:xfrm>
            <a:off x="6875463" y="5145088"/>
            <a:ext cx="1728787" cy="0"/>
          </a:xfrm>
          <a:prstGeom prst="line">
            <a:avLst/>
          </a:prstGeom>
          <a:ln w="9525">
            <a:noFill/>
          </a:ln>
        </p:spPr>
      </p:sp>
      <p:sp>
        <p:nvSpPr>
          <p:cNvPr id="125957" name="Line 7"/>
          <p:cNvSpPr/>
          <p:nvPr/>
        </p:nvSpPr>
        <p:spPr>
          <a:xfrm>
            <a:off x="6875463" y="5516563"/>
            <a:ext cx="1728787" cy="0"/>
          </a:xfrm>
          <a:prstGeom prst="line">
            <a:avLst/>
          </a:prstGeom>
          <a:ln w="9525">
            <a:noFill/>
          </a:ln>
        </p:spPr>
      </p:sp>
      <p:sp>
        <p:nvSpPr>
          <p:cNvPr id="125958" name="Line 8"/>
          <p:cNvSpPr/>
          <p:nvPr/>
        </p:nvSpPr>
        <p:spPr>
          <a:xfrm>
            <a:off x="6875463" y="5145088"/>
            <a:ext cx="0" cy="371475"/>
          </a:xfrm>
          <a:prstGeom prst="line">
            <a:avLst/>
          </a:prstGeom>
          <a:ln w="9525">
            <a:noFill/>
          </a:ln>
        </p:spPr>
      </p:sp>
      <p:sp>
        <p:nvSpPr>
          <p:cNvPr id="125959" name="Line 9"/>
          <p:cNvSpPr/>
          <p:nvPr/>
        </p:nvSpPr>
        <p:spPr>
          <a:xfrm>
            <a:off x="8604250" y="5145088"/>
            <a:ext cx="0" cy="371475"/>
          </a:xfrm>
          <a:prstGeom prst="line">
            <a:avLst/>
          </a:prstGeom>
          <a:ln w="9525">
            <a:noFill/>
          </a:ln>
        </p:spPr>
      </p:sp>
      <p:sp>
        <p:nvSpPr>
          <p:cNvPr id="125960" name="Rectangle 10"/>
          <p:cNvSpPr/>
          <p:nvPr/>
        </p:nvSpPr>
        <p:spPr>
          <a:xfrm>
            <a:off x="214313" y="2428875"/>
            <a:ext cx="4895850" cy="3046413"/>
          </a:xfrm>
          <a:prstGeom prst="rect">
            <a:avLst/>
          </a:prstGeom>
          <a:noFill/>
          <a:ln w="9525">
            <a:noFill/>
          </a:ln>
        </p:spPr>
        <p:txBody>
          <a:bodyPr anchor="ctr" anchorCtr="0">
            <a:spAutoFit/>
          </a:bodyPr>
          <a:p>
            <a:pPr indent="228600" eaLnBrk="1" hangingPunct="1"/>
            <a:r>
              <a:rPr lang="ja-JP" altLang="en-US" sz="2400" b="1" dirty="0">
                <a:latin typeface="楷体_GB2312" pitchFamily="49" charset="-122"/>
                <a:ea typeface="楷体_GB2312" pitchFamily="49" charset="-122"/>
              </a:rPr>
              <a:t>　</a:t>
            </a:r>
            <a:r>
              <a:rPr lang="zh-CN" altLang="en-US" sz="2400" b="1" dirty="0">
                <a:solidFill>
                  <a:srgbClr val="0000FF"/>
                </a:solidFill>
                <a:latin typeface="楷体_GB2312" pitchFamily="49" charset="-122"/>
                <a:ea typeface="楷体_GB2312" pitchFamily="49" charset="-122"/>
              </a:rPr>
              <a:t>多次拉深过程中加工硬化现象严重。</a:t>
            </a:r>
            <a:r>
              <a:rPr lang="zh-CN" altLang="en-US" sz="2400" b="1" dirty="0">
                <a:latin typeface="楷体_GB2312" pitchFamily="49" charset="-122"/>
                <a:ea typeface="楷体_GB2312" pitchFamily="49" charset="-122"/>
              </a:rPr>
              <a:t>为保证坯料具有足够的塑性，生产中坯料经过一两次拉深后，应安排工序间的</a:t>
            </a:r>
            <a:r>
              <a:rPr lang="zh-CN" altLang="en-US" sz="2400" b="1" dirty="0">
                <a:solidFill>
                  <a:srgbClr val="FF0000"/>
                </a:solidFill>
                <a:latin typeface="楷体_GB2312" pitchFamily="49" charset="-122"/>
                <a:ea typeface="楷体_GB2312" pitchFamily="49" charset="-122"/>
              </a:rPr>
              <a:t>退火处理</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a:p>
            <a:pPr indent="228600" eaLnBrk="1" hangingPunct="1"/>
            <a:r>
              <a:rPr lang="ja-JP" altLang="en-US"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其次，在多次拉深中，</a:t>
            </a:r>
            <a:r>
              <a:rPr lang="zh-CN" altLang="en-US" sz="2400" b="1" dirty="0">
                <a:solidFill>
                  <a:srgbClr val="FF0066"/>
                </a:solidFill>
                <a:latin typeface="楷体_GB2312" pitchFamily="49" charset="-122"/>
                <a:ea typeface="楷体_GB2312" pitchFamily="49" charset="-122"/>
              </a:rPr>
              <a:t>拉深系数应一次比一次略大些，</a:t>
            </a:r>
            <a:r>
              <a:rPr lang="zh-CN" altLang="en-US" sz="2400" b="1" dirty="0">
                <a:latin typeface="楷体_GB2312" pitchFamily="49" charset="-122"/>
                <a:ea typeface="楷体_GB2312" pitchFamily="49" charset="-122"/>
              </a:rPr>
              <a:t>确保拉深件质量，使生产顺利进行。总拉深系数等于每次拉深系数的乘积。</a:t>
            </a:r>
            <a:endParaRPr lang="zh-CN" altLang="en-US" sz="2400" b="1" dirty="0">
              <a:latin typeface="楷体_GB2312" pitchFamily="49" charset="-122"/>
              <a:ea typeface="楷体_GB2312" pitchFamily="49" charset="-122"/>
            </a:endParaRPr>
          </a:p>
        </p:txBody>
      </p:sp>
      <p:pic>
        <p:nvPicPr>
          <p:cNvPr id="125961" name="Picture 13"/>
          <p:cNvPicPr>
            <a:picLocks noChangeAspect="1"/>
          </p:cNvPicPr>
          <p:nvPr/>
        </p:nvPicPr>
        <p:blipFill>
          <a:blip r:embed="rId1"/>
          <a:stretch>
            <a:fillRect/>
          </a:stretch>
        </p:blipFill>
        <p:spPr>
          <a:xfrm>
            <a:off x="5148263" y="2247900"/>
            <a:ext cx="3765550" cy="3341688"/>
          </a:xfrm>
          <a:prstGeom prst="rect">
            <a:avLst/>
          </a:prstGeom>
          <a:noFill/>
          <a:ln w="9525">
            <a:noFill/>
          </a:ln>
        </p:spPr>
      </p:pic>
      <p:sp>
        <p:nvSpPr>
          <p:cNvPr id="125962" name="Rectangle 19"/>
          <p:cNvSpPr>
            <a:spLocks noGrp="1"/>
          </p:cNvSpPr>
          <p:nvPr>
            <p:ph type="title"/>
          </p:nvPr>
        </p:nvSpPr>
        <p:spPr>
          <a:xfrm>
            <a:off x="3887788" y="90488"/>
            <a:ext cx="2844800" cy="1035050"/>
          </a:xfrm>
        </p:spPr>
        <p:txBody>
          <a:bodyPr vert="horz" wrap="square" lIns="91440" tIns="45720" rIns="91440" bIns="45720" anchor="ctr" anchorCtr="0"/>
          <a:p>
            <a:pPr eaLnBrk="1" hangingPunct="1"/>
            <a:r>
              <a:rPr lang="en-US" altLang="zh-CN" dirty="0">
                <a:solidFill>
                  <a:srgbClr val="CC3300"/>
                </a:solidFill>
                <a:latin typeface="楷体_GB2312" pitchFamily="49" charset="-122"/>
                <a:ea typeface="楷体_GB2312" pitchFamily="49" charset="-122"/>
              </a:rPr>
              <a:t>1.</a:t>
            </a:r>
            <a:r>
              <a:rPr lang="zh-CN" altLang="en-US" dirty="0">
                <a:solidFill>
                  <a:srgbClr val="CC3300"/>
                </a:solidFill>
                <a:latin typeface="楷体_GB2312" pitchFamily="49" charset="-122"/>
                <a:ea typeface="楷体_GB2312" pitchFamily="49" charset="-122"/>
              </a:rPr>
              <a:t>拉深</a:t>
            </a:r>
            <a:endParaRPr lang="zh-CN" altLang="en-US" dirty="0"/>
          </a:p>
        </p:txBody>
      </p:sp>
      <p:sp>
        <p:nvSpPr>
          <p:cNvPr id="125963" name="矩形 10"/>
          <p:cNvSpPr/>
          <p:nvPr/>
        </p:nvSpPr>
        <p:spPr>
          <a:xfrm>
            <a:off x="857250" y="1285875"/>
            <a:ext cx="7500938" cy="830263"/>
          </a:xfrm>
          <a:prstGeom prst="rect">
            <a:avLst/>
          </a:prstGeom>
          <a:noFill/>
          <a:ln w="9525">
            <a:noFill/>
          </a:ln>
        </p:spPr>
        <p:txBody>
          <a:bodyPr>
            <a:spAutoFit/>
          </a:bodyPr>
          <a:p>
            <a:pPr indent="228600" eaLnBrk="1" hangingPunct="1"/>
            <a:r>
              <a:rPr lang="zh-CN" altLang="en-US" sz="2400" b="1" dirty="0">
                <a:solidFill>
                  <a:srgbClr val="009900"/>
                </a:solidFill>
                <a:latin typeface="楷体_GB2312" pitchFamily="49" charset="-122"/>
                <a:ea typeface="楷体_GB2312" pitchFamily="49" charset="-122"/>
              </a:rPr>
              <a:t>  多次拉深：</a:t>
            </a:r>
            <a:r>
              <a:rPr lang="zh-CN" altLang="en-US" sz="2400" b="1" dirty="0">
                <a:latin typeface="楷体_GB2312" pitchFamily="49" charset="-122"/>
                <a:ea typeface="楷体_GB2312" pitchFamily="49" charset="-122"/>
              </a:rPr>
              <a:t>当实际拉深系数</a:t>
            </a:r>
            <a:r>
              <a:rPr lang="en-US" altLang="zh-CN" sz="2400" b="1" dirty="0">
                <a:latin typeface="楷体_GB2312" pitchFamily="49" charset="-122"/>
                <a:ea typeface="楷体_GB2312" pitchFamily="49" charset="-122"/>
              </a:rPr>
              <a:t>m&lt;[m]</a:t>
            </a:r>
            <a:r>
              <a:rPr lang="zh-CN" altLang="en-US" sz="2400" b="1" dirty="0">
                <a:latin typeface="楷体_GB2312" pitchFamily="49" charset="-122"/>
                <a:ea typeface="楷体_GB2312" pitchFamily="49" charset="-122"/>
              </a:rPr>
              <a:t>（极限拉深系数），常采用多次拉深工艺，（图</a:t>
            </a:r>
            <a:r>
              <a:rPr lang="en-US" altLang="zh-CN" sz="2400" b="1" dirty="0">
                <a:latin typeface="楷体_GB2312" pitchFamily="49" charset="-122"/>
                <a:ea typeface="楷体_GB2312" pitchFamily="49" charset="-122"/>
              </a:rPr>
              <a:t>3.45</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2"/>
          <p:cNvSpPr>
            <a:spLocks noGrp="1"/>
          </p:cNvSpPr>
          <p:nvPr>
            <p:ph type="title"/>
          </p:nvPr>
        </p:nvSpPr>
        <p:spPr>
          <a:xfrm>
            <a:off x="180975" y="277813"/>
            <a:ext cx="5183188" cy="990600"/>
          </a:xfrm>
        </p:spPr>
        <p:txBody>
          <a:bodyPr vert="horz" wrap="square" lIns="91440" tIns="45720" rIns="91440" bIns="45720" anchor="ctr" anchorCtr="0"/>
          <a:p>
            <a:pPr eaLnBrk="1" hangingPunct="1"/>
            <a:r>
              <a:rPr lang="zh-CN" altLang="en-US" dirty="0"/>
              <a:t>板料冲压</a:t>
            </a:r>
            <a:endParaRPr lang="zh-CN" altLang="en-US" dirty="0"/>
          </a:p>
        </p:txBody>
      </p:sp>
      <p:sp>
        <p:nvSpPr>
          <p:cNvPr id="126979" name="Rectangle 3"/>
          <p:cNvSpPr/>
          <p:nvPr/>
        </p:nvSpPr>
        <p:spPr>
          <a:xfrm>
            <a:off x="0" y="3302000"/>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sp>
        <p:nvSpPr>
          <p:cNvPr id="126980" name="Rectangle 5"/>
          <p:cNvSpPr/>
          <p:nvPr/>
        </p:nvSpPr>
        <p:spPr>
          <a:xfrm>
            <a:off x="0" y="3124200"/>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sp>
        <p:nvSpPr>
          <p:cNvPr id="126981" name="Line 6"/>
          <p:cNvSpPr/>
          <p:nvPr/>
        </p:nvSpPr>
        <p:spPr>
          <a:xfrm>
            <a:off x="6875463" y="5145088"/>
            <a:ext cx="1728787" cy="0"/>
          </a:xfrm>
          <a:prstGeom prst="line">
            <a:avLst/>
          </a:prstGeom>
          <a:ln w="9525">
            <a:noFill/>
          </a:ln>
        </p:spPr>
      </p:sp>
      <p:sp>
        <p:nvSpPr>
          <p:cNvPr id="126982" name="Line 7"/>
          <p:cNvSpPr/>
          <p:nvPr/>
        </p:nvSpPr>
        <p:spPr>
          <a:xfrm>
            <a:off x="6875463" y="5516563"/>
            <a:ext cx="1728787" cy="0"/>
          </a:xfrm>
          <a:prstGeom prst="line">
            <a:avLst/>
          </a:prstGeom>
          <a:ln w="9525">
            <a:noFill/>
          </a:ln>
        </p:spPr>
      </p:sp>
      <p:sp>
        <p:nvSpPr>
          <p:cNvPr id="126983" name="Line 8"/>
          <p:cNvSpPr/>
          <p:nvPr/>
        </p:nvSpPr>
        <p:spPr>
          <a:xfrm>
            <a:off x="6875463" y="5145088"/>
            <a:ext cx="0" cy="371475"/>
          </a:xfrm>
          <a:prstGeom prst="line">
            <a:avLst/>
          </a:prstGeom>
          <a:ln w="9525">
            <a:noFill/>
          </a:ln>
        </p:spPr>
      </p:sp>
      <p:sp>
        <p:nvSpPr>
          <p:cNvPr id="126984" name="Line 9"/>
          <p:cNvSpPr/>
          <p:nvPr/>
        </p:nvSpPr>
        <p:spPr>
          <a:xfrm>
            <a:off x="8604250" y="5145088"/>
            <a:ext cx="0" cy="371475"/>
          </a:xfrm>
          <a:prstGeom prst="line">
            <a:avLst/>
          </a:prstGeom>
          <a:ln w="9525">
            <a:noFill/>
          </a:ln>
        </p:spPr>
      </p:sp>
      <p:sp>
        <p:nvSpPr>
          <p:cNvPr id="126985" name="Rectangle 11"/>
          <p:cNvSpPr/>
          <p:nvPr/>
        </p:nvSpPr>
        <p:spPr>
          <a:xfrm>
            <a:off x="357188" y="1285875"/>
            <a:ext cx="8386762" cy="4462463"/>
          </a:xfrm>
          <a:prstGeom prst="rect">
            <a:avLst/>
          </a:prstGeom>
          <a:noFill/>
          <a:ln w="9525">
            <a:noFill/>
          </a:ln>
        </p:spPr>
        <p:txBody>
          <a:bodyPr anchor="ctr" anchorCtr="0">
            <a:spAutoFit/>
          </a:bodyPr>
          <a:p>
            <a:pPr indent="228600" eaLnBrk="1" hangingPunct="1"/>
            <a:r>
              <a:rPr lang="en-US" altLang="zh-CN" sz="2400" b="1" dirty="0">
                <a:solidFill>
                  <a:srgbClr val="FF3300"/>
                </a:solidFill>
                <a:latin typeface="楷体_GB2312" pitchFamily="49" charset="-122"/>
                <a:ea typeface="楷体_GB2312" pitchFamily="49" charset="-122"/>
              </a:rPr>
              <a:t>Ⅰ</a:t>
            </a:r>
            <a:r>
              <a:rPr lang="zh-CN" altLang="en-US" sz="2400" b="1" dirty="0">
                <a:solidFill>
                  <a:srgbClr val="FF3300"/>
                </a:solidFill>
                <a:latin typeface="楷体_GB2312" pitchFamily="49" charset="-122"/>
                <a:ea typeface="楷体_GB2312" pitchFamily="49" charset="-122"/>
              </a:rPr>
              <a:t>破裂：多发生在直壁与底部的过渡圆角处。（图</a:t>
            </a:r>
            <a:r>
              <a:rPr lang="en-US" altLang="zh-CN" sz="2400" b="1" dirty="0">
                <a:solidFill>
                  <a:srgbClr val="FF3300"/>
                </a:solidFill>
                <a:latin typeface="楷体_GB2312" pitchFamily="49" charset="-122"/>
                <a:ea typeface="楷体_GB2312" pitchFamily="49" charset="-122"/>
              </a:rPr>
              <a:t>3.44</a:t>
            </a:r>
            <a:r>
              <a:rPr lang="zh-CN" altLang="en-US" sz="2400" b="1" dirty="0">
                <a:solidFill>
                  <a:srgbClr val="FF3300"/>
                </a:solidFill>
                <a:latin typeface="楷体_GB2312" pitchFamily="49" charset="-122"/>
                <a:ea typeface="楷体_GB2312" pitchFamily="49" charset="-122"/>
              </a:rPr>
              <a:t>）</a:t>
            </a:r>
            <a:endParaRPr lang="zh-CN" altLang="en-US" sz="2400" b="1" dirty="0">
              <a:solidFill>
                <a:srgbClr val="FF3300"/>
              </a:solidFill>
              <a:latin typeface="楷体_GB2312" pitchFamily="49" charset="-122"/>
              <a:ea typeface="楷体_GB2312" pitchFamily="49" charset="-122"/>
            </a:endParaRPr>
          </a:p>
          <a:p>
            <a:pPr indent="228600" eaLnBrk="1" hangingPunct="1"/>
            <a:r>
              <a:rPr lang="zh-CN" altLang="en-US" sz="2000" b="1" dirty="0">
                <a:solidFill>
                  <a:srgbClr val="CC3300"/>
                </a:solidFill>
                <a:latin typeface="楷体_GB2312" pitchFamily="49" charset="-122"/>
                <a:ea typeface="楷体_GB2312" pitchFamily="49" charset="-122"/>
              </a:rPr>
              <a:t>主要原因：</a:t>
            </a:r>
            <a:endParaRPr lang="en-US" altLang="zh-CN" sz="2000" b="1" dirty="0">
              <a:solidFill>
                <a:srgbClr val="CC3300"/>
              </a:solidFill>
              <a:latin typeface="楷体_GB2312" pitchFamily="49" charset="-122"/>
              <a:ea typeface="楷体_GB2312" pitchFamily="49" charset="-122"/>
            </a:endParaRPr>
          </a:p>
          <a:p>
            <a:pPr indent="228600" eaLnBrk="1" hangingPunct="1"/>
            <a:r>
              <a:rPr lang="en-US" altLang="zh-CN" sz="2000" b="1" dirty="0">
                <a:solidFill>
                  <a:srgbClr val="0000FF"/>
                </a:solidFill>
                <a:latin typeface="楷体_GB2312" pitchFamily="49" charset="-122"/>
                <a:ea typeface="楷体_GB2312" pitchFamily="49" charset="-122"/>
              </a:rPr>
              <a:t>ⅰ</a:t>
            </a:r>
            <a:r>
              <a:rPr lang="zh-CN" altLang="en-US" sz="2000" b="1" dirty="0">
                <a:latin typeface="楷体_GB2312" pitchFamily="49" charset="-122"/>
                <a:ea typeface="楷体_GB2312" pitchFamily="49" charset="-122"/>
              </a:rPr>
              <a:t>凸、凹模</a:t>
            </a:r>
            <a:r>
              <a:rPr lang="zh-CN" altLang="en-US" sz="2000" b="1" dirty="0">
                <a:solidFill>
                  <a:srgbClr val="FF0000"/>
                </a:solidFill>
                <a:latin typeface="楷体_GB2312" pitchFamily="49" charset="-122"/>
                <a:ea typeface="楷体_GB2312" pitchFamily="49" charset="-122"/>
              </a:rPr>
              <a:t>圆角半径</a:t>
            </a:r>
            <a:r>
              <a:rPr lang="zh-CN" altLang="en-US" sz="2000" b="1" dirty="0">
                <a:latin typeface="楷体_GB2312" pitchFamily="49" charset="-122"/>
                <a:ea typeface="楷体_GB2312" pitchFamily="49" charset="-122"/>
              </a:rPr>
              <a:t>设计不合理。凸、凹模圆角半径（尤其是</a:t>
            </a:r>
            <a:r>
              <a:rPr lang="en-US" altLang="zh-CN" sz="2000" b="1" dirty="0">
                <a:latin typeface="楷体_GB2312" pitchFamily="49" charset="-122"/>
                <a:ea typeface="楷体_GB2312" pitchFamily="49" charset="-122"/>
              </a:rPr>
              <a:t>R</a:t>
            </a:r>
            <a:r>
              <a:rPr lang="zh-CN" altLang="en-US" sz="2000" b="1" baseline="-25000" dirty="0">
                <a:latin typeface="楷体_GB2312" pitchFamily="49" charset="-122"/>
                <a:ea typeface="楷体_GB2312" pitchFamily="49" charset="-122"/>
              </a:rPr>
              <a:t>凹</a:t>
            </a:r>
            <a:r>
              <a:rPr lang="zh-CN" altLang="en-US" sz="2000" b="1" dirty="0">
                <a:latin typeface="楷体_GB2312" pitchFamily="49" charset="-122"/>
                <a:ea typeface="楷体_GB2312" pitchFamily="49" charset="-122"/>
              </a:rPr>
              <a:t>）</a:t>
            </a:r>
            <a:r>
              <a:rPr lang="zh-CN" altLang="en-US" sz="2000" b="1" dirty="0">
                <a:solidFill>
                  <a:srgbClr val="FF0000"/>
                </a:solidFill>
                <a:latin typeface="楷体_GB2312" pitchFamily="49" charset="-122"/>
                <a:ea typeface="楷体_GB2312" pitchFamily="49" charset="-122"/>
              </a:rPr>
              <a:t>过小</a:t>
            </a:r>
            <a:r>
              <a:rPr lang="zh-CN" altLang="en-US" sz="2000" b="1" dirty="0">
                <a:latin typeface="楷体_GB2312" pitchFamily="49" charset="-122"/>
                <a:ea typeface="楷体_GB2312" pitchFamily="49" charset="-122"/>
              </a:rPr>
              <a:t>，容易拉裂。普通低碳钢板，</a:t>
            </a:r>
            <a:r>
              <a:rPr lang="en-US" altLang="zh-CN" sz="2000" b="1" dirty="0">
                <a:latin typeface="楷体_GB2312" pitchFamily="49" charset="-122"/>
                <a:ea typeface="楷体_GB2312" pitchFamily="49" charset="-122"/>
              </a:rPr>
              <a:t>R</a:t>
            </a:r>
            <a:r>
              <a:rPr lang="zh-CN" altLang="en-US" sz="2000" b="1" baseline="-25000" dirty="0">
                <a:latin typeface="楷体_GB2312" pitchFamily="49" charset="-122"/>
                <a:ea typeface="楷体_GB2312" pitchFamily="49" charset="-122"/>
              </a:rPr>
              <a:t>凹</a:t>
            </a:r>
            <a:r>
              <a:rPr lang="en-US" altLang="zh-CN" sz="2000" b="1" dirty="0">
                <a:latin typeface="楷体_GB2312" pitchFamily="49" charset="-122"/>
                <a:ea typeface="楷体_GB2312" pitchFamily="49" charset="-122"/>
              </a:rPr>
              <a:t>=10</a:t>
            </a:r>
            <a:r>
              <a:rPr lang="en-US" altLang="zh-CN" sz="2000" b="1" dirty="0">
                <a:latin typeface="GreekC" pitchFamily="2" charset="0"/>
                <a:ea typeface="楷体_GB2312" pitchFamily="49" charset="-122"/>
              </a:rPr>
              <a:t>δ</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R</a:t>
            </a:r>
            <a:r>
              <a:rPr lang="zh-CN" altLang="en-US" sz="2000" b="1" baseline="-25000" dirty="0">
                <a:latin typeface="楷体_GB2312" pitchFamily="49" charset="-122"/>
                <a:ea typeface="楷体_GB2312" pitchFamily="49" charset="-122"/>
              </a:rPr>
              <a:t>凸</a:t>
            </a: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0.6</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1</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R</a:t>
            </a:r>
            <a:r>
              <a:rPr lang="zh-CN" altLang="en-US" sz="2000" b="1" baseline="-25000" dirty="0">
                <a:latin typeface="楷体_GB2312" pitchFamily="49" charset="-122"/>
                <a:ea typeface="楷体_GB2312" pitchFamily="49" charset="-122"/>
              </a:rPr>
              <a:t>凹。</a:t>
            </a:r>
            <a:endParaRPr lang="zh-CN" altLang="en-US" sz="2000" b="1" baseline="-25000" dirty="0">
              <a:latin typeface="楷体_GB2312" pitchFamily="49" charset="-122"/>
              <a:ea typeface="楷体_GB2312" pitchFamily="49" charset="-122"/>
            </a:endParaRPr>
          </a:p>
          <a:p>
            <a:pPr indent="228600" eaLnBrk="1" hangingPunct="1"/>
            <a:r>
              <a:rPr lang="en-US" altLang="zh-CN" sz="2000" b="1" dirty="0">
                <a:solidFill>
                  <a:srgbClr val="0000FF"/>
                </a:solidFill>
                <a:latin typeface="楷体_GB2312" pitchFamily="49" charset="-122"/>
                <a:ea typeface="楷体_GB2312" pitchFamily="49" charset="-122"/>
              </a:rPr>
              <a:t>ⅱ</a:t>
            </a:r>
            <a:r>
              <a:rPr lang="zh-CN" altLang="en-US" sz="2000" b="1" dirty="0">
                <a:latin typeface="楷体_GB2312" pitchFamily="49" charset="-122"/>
                <a:ea typeface="楷体_GB2312" pitchFamily="49" charset="-122"/>
              </a:rPr>
              <a:t>凸凹模</a:t>
            </a:r>
            <a:r>
              <a:rPr lang="zh-CN" altLang="en-US" sz="2000" b="1" dirty="0">
                <a:solidFill>
                  <a:srgbClr val="FF0000"/>
                </a:solidFill>
                <a:latin typeface="楷体_GB2312" pitchFamily="49" charset="-122"/>
                <a:ea typeface="楷体_GB2312" pitchFamily="49" charset="-122"/>
              </a:rPr>
              <a:t>间隙</a:t>
            </a:r>
            <a:r>
              <a:rPr lang="zh-CN" altLang="en-US" sz="2000" b="1" dirty="0">
                <a:latin typeface="楷体_GB2312" pitchFamily="49" charset="-122"/>
                <a:ea typeface="楷体_GB2312" pitchFamily="49" charset="-122"/>
              </a:rPr>
              <a:t>不合理，间隙</a:t>
            </a:r>
            <a:r>
              <a:rPr lang="zh-CN" altLang="en-US" sz="2000" b="1" dirty="0">
                <a:solidFill>
                  <a:srgbClr val="FF0000"/>
                </a:solidFill>
                <a:latin typeface="楷体_GB2312" pitchFamily="49" charset="-122"/>
                <a:ea typeface="楷体_GB2312" pitchFamily="49" charset="-122"/>
              </a:rPr>
              <a:t>过小</a:t>
            </a:r>
            <a:r>
              <a:rPr lang="zh-CN" altLang="en-US" sz="2000" b="1" dirty="0">
                <a:latin typeface="楷体_GB2312" pitchFamily="49" charset="-122"/>
                <a:ea typeface="楷体_GB2312" pitchFamily="49" charset="-122"/>
              </a:rPr>
              <a:t>，模具与工件摩擦增大，易</a:t>
            </a:r>
            <a:r>
              <a:rPr lang="zh-CN" altLang="en-US" sz="2000" b="1" dirty="0">
                <a:solidFill>
                  <a:srgbClr val="FF0000"/>
                </a:solidFill>
                <a:latin typeface="楷体_GB2312" pitchFamily="49" charset="-122"/>
                <a:ea typeface="楷体_GB2312" pitchFamily="49" charset="-122"/>
              </a:rPr>
              <a:t>拉裂</a:t>
            </a:r>
            <a:r>
              <a:rPr lang="zh-CN" altLang="en-US" sz="2000" b="1" dirty="0">
                <a:latin typeface="楷体_GB2312" pitchFamily="49" charset="-122"/>
                <a:ea typeface="楷体_GB2312" pitchFamily="49" charset="-122"/>
              </a:rPr>
              <a:t>工件，擦伤工件表面，</a:t>
            </a:r>
            <a:r>
              <a:rPr lang="zh-CN" altLang="en-US" sz="2000" b="1" dirty="0">
                <a:solidFill>
                  <a:srgbClr val="FF0000"/>
                </a:solidFill>
                <a:latin typeface="楷体_GB2312" pitchFamily="49" charset="-122"/>
                <a:ea typeface="楷体_GB2312" pitchFamily="49" charset="-122"/>
              </a:rPr>
              <a:t>降低模具寿命</a:t>
            </a:r>
            <a:r>
              <a:rPr lang="zh-CN" altLang="en-US" sz="2000" b="1" dirty="0">
                <a:latin typeface="楷体_GB2312" pitchFamily="49" charset="-122"/>
                <a:ea typeface="楷体_GB2312" pitchFamily="49" charset="-122"/>
              </a:rPr>
              <a:t>，一般拉深模间隙</a:t>
            </a:r>
            <a:r>
              <a:rPr lang="en-US" altLang="zh-CN" sz="2000" b="1" dirty="0">
                <a:latin typeface="楷体_GB2312" pitchFamily="49" charset="-122"/>
                <a:ea typeface="楷体_GB2312" pitchFamily="49" charset="-122"/>
              </a:rPr>
              <a:t>c</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1.1</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1.2</a:t>
            </a:r>
            <a:r>
              <a:rPr lang="zh-CN" altLang="en-US" sz="2000" b="1" dirty="0">
                <a:latin typeface="楷体_GB2312" pitchFamily="49" charset="-122"/>
                <a:ea typeface="楷体_GB2312" pitchFamily="49" charset="-122"/>
              </a:rPr>
              <a:t>）</a:t>
            </a:r>
            <a:r>
              <a:rPr lang="en-US" altLang="zh-CN" sz="2000" b="1" dirty="0">
                <a:latin typeface="GreekC" pitchFamily="2" charset="0"/>
                <a:ea typeface="楷体_GB2312" pitchFamily="49" charset="-122"/>
              </a:rPr>
              <a:t>δ</a:t>
            </a:r>
            <a:r>
              <a:rPr lang="zh-CN" altLang="en-US" sz="2000" b="1" dirty="0">
                <a:latin typeface="GreekC" pitchFamily="2" charset="0"/>
                <a:ea typeface="楷体_GB2312" pitchFamily="49" charset="-122"/>
              </a:rPr>
              <a:t>，间隙</a:t>
            </a:r>
            <a:r>
              <a:rPr lang="zh-CN" altLang="en-US" sz="2000" b="1" dirty="0">
                <a:solidFill>
                  <a:srgbClr val="FF0000"/>
                </a:solidFill>
                <a:latin typeface="GreekC" pitchFamily="2" charset="0"/>
                <a:ea typeface="楷体_GB2312" pitchFamily="49" charset="-122"/>
              </a:rPr>
              <a:t>过大</a:t>
            </a:r>
            <a:r>
              <a:rPr lang="zh-CN" altLang="en-US" sz="2000" b="1" dirty="0">
                <a:latin typeface="GreekC" pitchFamily="2" charset="0"/>
                <a:ea typeface="楷体_GB2312" pitchFamily="49" charset="-122"/>
              </a:rPr>
              <a:t>，易</a:t>
            </a:r>
            <a:r>
              <a:rPr lang="zh-CN" altLang="en-US" sz="2000" b="1" dirty="0">
                <a:solidFill>
                  <a:srgbClr val="FF0000"/>
                </a:solidFill>
                <a:latin typeface="GreekC" pitchFamily="2" charset="0"/>
                <a:ea typeface="楷体_GB2312" pitchFamily="49" charset="-122"/>
              </a:rPr>
              <a:t>起皱</a:t>
            </a:r>
            <a:r>
              <a:rPr lang="zh-CN" altLang="en-US" sz="2000" b="1" dirty="0">
                <a:latin typeface="GreekC" pitchFamily="2" charset="0"/>
                <a:ea typeface="楷体_GB2312" pitchFamily="49" charset="-122"/>
              </a:rPr>
              <a:t>。</a:t>
            </a:r>
            <a:endParaRPr lang="zh-CN" altLang="en-US" sz="2000" b="1" dirty="0">
              <a:latin typeface="GreekC" pitchFamily="2" charset="0"/>
              <a:ea typeface="楷体_GB2312" pitchFamily="49" charset="-122"/>
            </a:endParaRPr>
          </a:p>
          <a:p>
            <a:pPr indent="228600" eaLnBrk="1" hangingPunct="1"/>
            <a:r>
              <a:rPr lang="en-US" altLang="zh-CN" sz="2000" b="1" dirty="0">
                <a:solidFill>
                  <a:srgbClr val="0000FF"/>
                </a:solidFill>
                <a:latin typeface="楷体_GB2312" pitchFamily="49" charset="-122"/>
                <a:ea typeface="楷体_GB2312" pitchFamily="49" charset="-122"/>
              </a:rPr>
              <a:t>ⅲ</a:t>
            </a:r>
            <a:r>
              <a:rPr lang="zh-CN" altLang="en-US" sz="2000" b="1" dirty="0">
                <a:solidFill>
                  <a:srgbClr val="FF0000"/>
                </a:solidFill>
                <a:latin typeface="楷体_GB2312" pitchFamily="49" charset="-122"/>
                <a:ea typeface="楷体_GB2312" pitchFamily="49" charset="-122"/>
              </a:rPr>
              <a:t>拉深系数</a:t>
            </a:r>
            <a:r>
              <a:rPr lang="zh-CN" altLang="en-US" sz="2000" b="1" dirty="0">
                <a:latin typeface="楷体_GB2312" pitchFamily="49" charset="-122"/>
                <a:ea typeface="楷体_GB2312" pitchFamily="49" charset="-122"/>
              </a:rPr>
              <a:t>过小，</a:t>
            </a:r>
            <a:r>
              <a:rPr lang="en-US" altLang="zh-CN" sz="2000" b="1" dirty="0">
                <a:latin typeface="楷体_GB2312" pitchFamily="49" charset="-122"/>
                <a:ea typeface="楷体_GB2312" pitchFamily="49" charset="-122"/>
              </a:rPr>
              <a:t>m</a:t>
            </a:r>
            <a:r>
              <a:rPr lang="zh-CN" altLang="en-US" sz="2000" b="1" dirty="0">
                <a:latin typeface="楷体_GB2312" pitchFamily="49" charset="-122"/>
                <a:ea typeface="楷体_GB2312" pitchFamily="49" charset="-122"/>
              </a:rPr>
              <a:t>值过小时，板料变形程度加大，拉深件直壁部分承受的拉力也加大，当超出其承载能力时，即会被拉断。</a:t>
            </a:r>
            <a:endParaRPr lang="zh-CN" altLang="en-US" sz="2000" b="1" dirty="0">
              <a:latin typeface="楷体_GB2312" pitchFamily="49" charset="-122"/>
              <a:ea typeface="楷体_GB2312" pitchFamily="49" charset="-122"/>
            </a:endParaRPr>
          </a:p>
          <a:p>
            <a:pPr indent="228600" eaLnBrk="1" hangingPunct="1"/>
            <a:r>
              <a:rPr lang="en-US" altLang="zh-CN" sz="2000" b="1" dirty="0">
                <a:solidFill>
                  <a:srgbClr val="0000FF"/>
                </a:solidFill>
                <a:latin typeface="楷体_GB2312" pitchFamily="49" charset="-122"/>
                <a:ea typeface="楷体_GB2312" pitchFamily="49" charset="-122"/>
              </a:rPr>
              <a:t>ⅳ</a:t>
            </a:r>
            <a:r>
              <a:rPr lang="zh-CN" altLang="en-US" sz="2000" b="1" dirty="0">
                <a:latin typeface="楷体_GB2312" pitchFamily="49" charset="-122"/>
                <a:ea typeface="楷体_GB2312" pitchFamily="49" charset="-122"/>
              </a:rPr>
              <a:t>模具表面精度和润滑条件差，增大摩擦阻力。</a:t>
            </a:r>
            <a:endParaRPr lang="zh-CN" altLang="en-US" sz="2000" b="1" dirty="0">
              <a:latin typeface="楷体_GB2312" pitchFamily="49" charset="-122"/>
              <a:ea typeface="楷体_GB2312" pitchFamily="49" charset="-122"/>
            </a:endParaRPr>
          </a:p>
          <a:p>
            <a:pPr indent="228600" eaLnBrk="1" hangingPunct="1"/>
            <a:r>
              <a:rPr lang="en-US" altLang="zh-CN" sz="2000" b="1" dirty="0">
                <a:solidFill>
                  <a:srgbClr val="FF3300"/>
                </a:solidFill>
                <a:latin typeface="楷体_GB2312" pitchFamily="49" charset="-122"/>
                <a:ea typeface="楷体_GB2312" pitchFamily="49" charset="-122"/>
              </a:rPr>
              <a:t>Ⅱ</a:t>
            </a:r>
            <a:r>
              <a:rPr lang="zh-CN" altLang="en-US" sz="2000" b="1" dirty="0">
                <a:solidFill>
                  <a:srgbClr val="FF3300"/>
                </a:solidFill>
                <a:latin typeface="楷体_GB2312" pitchFamily="49" charset="-122"/>
                <a:ea typeface="楷体_GB2312" pitchFamily="49" charset="-122"/>
              </a:rPr>
              <a:t>起皱：多发生在拉深件的法兰部分。 （图</a:t>
            </a:r>
            <a:r>
              <a:rPr lang="en-US" altLang="zh-CN" sz="2000" b="1" dirty="0">
                <a:solidFill>
                  <a:srgbClr val="FF3300"/>
                </a:solidFill>
                <a:latin typeface="楷体_GB2312" pitchFamily="49" charset="-122"/>
                <a:ea typeface="楷体_GB2312" pitchFamily="49" charset="-122"/>
              </a:rPr>
              <a:t>3.46</a:t>
            </a:r>
            <a:r>
              <a:rPr lang="zh-CN" altLang="en-US" sz="2000" b="1" dirty="0">
                <a:solidFill>
                  <a:srgbClr val="FF3300"/>
                </a:solidFill>
                <a:latin typeface="楷体_GB2312" pitchFamily="49" charset="-122"/>
                <a:ea typeface="楷体_GB2312" pitchFamily="49" charset="-122"/>
              </a:rPr>
              <a:t>）</a:t>
            </a:r>
            <a:endParaRPr lang="zh-CN" altLang="en-US" sz="2000" b="1" dirty="0">
              <a:solidFill>
                <a:srgbClr val="FF3300"/>
              </a:solidFill>
              <a:latin typeface="楷体_GB2312" pitchFamily="49" charset="-122"/>
              <a:ea typeface="楷体_GB2312" pitchFamily="49" charset="-122"/>
            </a:endParaRPr>
          </a:p>
          <a:p>
            <a:pPr indent="228600" eaLnBrk="1" hangingPunct="1"/>
            <a:r>
              <a:rPr lang="zh-CN" altLang="en-US" sz="2000" b="1" dirty="0">
                <a:latin typeface="楷体_GB2312" pitchFamily="49" charset="-122"/>
                <a:ea typeface="楷体_GB2312" pitchFamily="49" charset="-122"/>
              </a:rPr>
              <a:t>  凹模入口区， </a:t>
            </a:r>
            <a:r>
              <a:rPr lang="zh-CN" altLang="en-US" sz="2000" b="1" dirty="0">
                <a:solidFill>
                  <a:srgbClr val="FF0000"/>
                </a:solidFill>
                <a:latin typeface="楷体_GB2312" pitchFamily="49" charset="-122"/>
                <a:ea typeface="楷体_GB2312" pitchFamily="49" charset="-122"/>
              </a:rPr>
              <a:t>压边力过小</a:t>
            </a:r>
            <a:r>
              <a:rPr lang="zh-CN" altLang="en-US" sz="2000" b="1" dirty="0">
                <a:latin typeface="楷体_GB2312" pitchFamily="49" charset="-122"/>
                <a:ea typeface="楷体_GB2312" pitchFamily="49" charset="-122"/>
              </a:rPr>
              <a:t>，相对厚度</a:t>
            </a:r>
            <a:endParaRPr lang="en-US" altLang="zh-CN" sz="2000" b="1" dirty="0">
              <a:latin typeface="楷体_GB2312" pitchFamily="49" charset="-122"/>
              <a:ea typeface="楷体_GB2312" pitchFamily="49" charset="-122"/>
            </a:endParaRPr>
          </a:p>
          <a:p>
            <a:pPr indent="228600" eaLnBrk="1" hangingPunct="1"/>
            <a:r>
              <a:rPr lang="en-US" altLang="zh-CN" sz="2000" b="1" dirty="0">
                <a:latin typeface="楷体_GB2312" pitchFamily="49" charset="-122"/>
                <a:ea typeface="楷体_GB2312" pitchFamily="49" charset="-122"/>
              </a:rPr>
              <a:t>d/D</a:t>
            </a:r>
            <a:r>
              <a:rPr lang="zh-CN" altLang="en-US" sz="2000" b="1" dirty="0">
                <a:latin typeface="楷体_GB2312" pitchFamily="49" charset="-122"/>
                <a:ea typeface="楷体_GB2312" pitchFamily="49" charset="-122"/>
              </a:rPr>
              <a:t>，拉深系数</a:t>
            </a:r>
            <a:r>
              <a:rPr lang="en-US" altLang="zh-CN" sz="2000" b="1" dirty="0">
                <a:latin typeface="楷体_GB2312" pitchFamily="49" charset="-122"/>
                <a:ea typeface="楷体_GB2312" pitchFamily="49" charset="-122"/>
              </a:rPr>
              <a:t>m</a:t>
            </a:r>
            <a:r>
              <a:rPr lang="zh-CN" altLang="en-US" sz="2000" b="1" dirty="0">
                <a:latin typeface="楷体_GB2312" pitchFamily="49" charset="-122"/>
                <a:ea typeface="楷体_GB2312" pitchFamily="49" charset="-122"/>
              </a:rPr>
              <a:t>过小</a:t>
            </a:r>
            <a:r>
              <a:rPr lang="zh-CN" altLang="en-US" sz="2000" b="1" dirty="0">
                <a:solidFill>
                  <a:srgbClr val="FF0000"/>
                </a:solidFill>
                <a:latin typeface="楷体_GB2312" pitchFamily="49" charset="-122"/>
                <a:ea typeface="楷体_GB2312" pitchFamily="49" charset="-122"/>
              </a:rPr>
              <a:t>容易起皱</a:t>
            </a:r>
            <a:r>
              <a:rPr lang="zh-CN" altLang="en-US" sz="2000" b="1" dirty="0">
                <a:latin typeface="楷体_GB2312" pitchFamily="49" charset="-122"/>
                <a:ea typeface="楷体_GB2312" pitchFamily="49" charset="-122"/>
              </a:rPr>
              <a:t>。</a:t>
            </a:r>
            <a:endParaRPr lang="zh-CN" altLang="en-US" sz="2000" b="1" dirty="0">
              <a:latin typeface="楷体_GB2312" pitchFamily="49" charset="-122"/>
              <a:ea typeface="楷体_GB2312" pitchFamily="49" charset="-122"/>
            </a:endParaRPr>
          </a:p>
          <a:p>
            <a:pPr indent="228600" eaLnBrk="1" hangingPunct="1"/>
            <a:r>
              <a:rPr lang="zh-CN" altLang="en-US" sz="2000" b="1" dirty="0">
                <a:solidFill>
                  <a:srgbClr val="FF0066"/>
                </a:solidFill>
                <a:latin typeface="楷体_GB2312" pitchFamily="49" charset="-122"/>
                <a:ea typeface="楷体_GB2312" pitchFamily="49" charset="-122"/>
              </a:rPr>
              <a:t>防止方法：</a:t>
            </a:r>
            <a:r>
              <a:rPr lang="zh-CN" altLang="en-US" sz="2000" b="1" dirty="0">
                <a:solidFill>
                  <a:srgbClr val="FF9900"/>
                </a:solidFill>
                <a:latin typeface="楷体_GB2312" pitchFamily="49" charset="-122"/>
                <a:ea typeface="楷体_GB2312" pitchFamily="49" charset="-122"/>
              </a:rPr>
              <a:t> </a:t>
            </a:r>
            <a:r>
              <a:rPr lang="zh-CN" altLang="en-US" sz="2000" b="1" dirty="0">
                <a:latin typeface="楷体_GB2312" pitchFamily="49" charset="-122"/>
                <a:ea typeface="楷体_GB2312" pitchFamily="49" charset="-122"/>
              </a:rPr>
              <a:t>设置压边圈来解决</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3-43)</a:t>
            </a:r>
            <a:r>
              <a:rPr lang="zh-CN" altLang="en-US" sz="2000" b="1" dirty="0">
                <a:latin typeface="楷体_GB2312" pitchFamily="49" charset="-122"/>
                <a:ea typeface="楷体_GB2312" pitchFamily="49" charset="-122"/>
              </a:rPr>
              <a:t>。</a:t>
            </a:r>
            <a:endParaRPr lang="zh-CN" altLang="en-US" sz="2000" b="1" dirty="0">
              <a:latin typeface="楷体_GB2312" pitchFamily="49" charset="-122"/>
              <a:ea typeface="楷体_GB2312" pitchFamily="49" charset="-122"/>
            </a:endParaRPr>
          </a:p>
        </p:txBody>
      </p:sp>
      <p:grpSp>
        <p:nvGrpSpPr>
          <p:cNvPr id="126986" name="Group 23"/>
          <p:cNvGrpSpPr/>
          <p:nvPr/>
        </p:nvGrpSpPr>
        <p:grpSpPr>
          <a:xfrm>
            <a:off x="5429250" y="4649788"/>
            <a:ext cx="3571875" cy="2208212"/>
            <a:chOff x="3696" y="140"/>
            <a:chExt cx="2160" cy="1348"/>
          </a:xfrm>
        </p:grpSpPr>
        <p:pic>
          <p:nvPicPr>
            <p:cNvPr id="126988" name="Picture 18"/>
            <p:cNvPicPr>
              <a:picLocks noChangeAspect="1"/>
            </p:cNvPicPr>
            <p:nvPr/>
          </p:nvPicPr>
          <p:blipFill>
            <a:blip r:embed="rId1"/>
            <a:stretch>
              <a:fillRect/>
            </a:stretch>
          </p:blipFill>
          <p:spPr>
            <a:xfrm>
              <a:off x="3696" y="144"/>
              <a:ext cx="720" cy="1344"/>
            </a:xfrm>
            <a:prstGeom prst="rect">
              <a:avLst/>
            </a:prstGeom>
            <a:noFill/>
            <a:ln w="9525">
              <a:noFill/>
            </a:ln>
          </p:spPr>
        </p:pic>
        <p:pic>
          <p:nvPicPr>
            <p:cNvPr id="126989" name="Picture 21"/>
            <p:cNvPicPr>
              <a:picLocks noChangeAspect="1"/>
            </p:cNvPicPr>
            <p:nvPr/>
          </p:nvPicPr>
          <p:blipFill>
            <a:blip r:embed="rId2"/>
            <a:stretch>
              <a:fillRect/>
            </a:stretch>
          </p:blipFill>
          <p:spPr>
            <a:xfrm>
              <a:off x="4416" y="140"/>
              <a:ext cx="1440" cy="1348"/>
            </a:xfrm>
            <a:prstGeom prst="rect">
              <a:avLst/>
            </a:prstGeom>
            <a:noFill/>
            <a:ln w="9525">
              <a:noFill/>
            </a:ln>
          </p:spPr>
        </p:pic>
      </p:grpSp>
      <p:sp>
        <p:nvSpPr>
          <p:cNvPr id="126987" name="Rectangle 24"/>
          <p:cNvSpPr/>
          <p:nvPr/>
        </p:nvSpPr>
        <p:spPr>
          <a:xfrm>
            <a:off x="2500313" y="214313"/>
            <a:ext cx="4857750" cy="708025"/>
          </a:xfrm>
          <a:prstGeom prst="rect">
            <a:avLst/>
          </a:prstGeom>
          <a:noFill/>
          <a:ln w="9525">
            <a:noFill/>
          </a:ln>
        </p:spPr>
        <p:txBody>
          <a:bodyPr>
            <a:spAutoFit/>
          </a:bodyPr>
          <a:p>
            <a:pPr eaLnBrk="1" hangingPunct="1"/>
            <a:r>
              <a:rPr lang="zh-CN" altLang="en-US" sz="4000" b="1" dirty="0">
                <a:solidFill>
                  <a:srgbClr val="009900"/>
                </a:solidFill>
                <a:latin typeface="楷体_GB2312" pitchFamily="49" charset="-122"/>
                <a:ea typeface="楷体_GB2312" pitchFamily="49" charset="-122"/>
              </a:rPr>
              <a:t>（</a:t>
            </a:r>
            <a:r>
              <a:rPr lang="en-US" altLang="zh-CN" sz="4000" b="1" dirty="0">
                <a:solidFill>
                  <a:srgbClr val="009900"/>
                </a:solidFill>
                <a:latin typeface="楷体_GB2312" pitchFamily="49" charset="-122"/>
                <a:ea typeface="楷体_GB2312" pitchFamily="49" charset="-122"/>
              </a:rPr>
              <a:t>3</a:t>
            </a:r>
            <a:r>
              <a:rPr lang="zh-CN" altLang="en-US" sz="4000" b="1" dirty="0">
                <a:solidFill>
                  <a:srgbClr val="009900"/>
                </a:solidFill>
                <a:latin typeface="楷体_GB2312" pitchFamily="49" charset="-122"/>
                <a:ea typeface="楷体_GB2312" pitchFamily="49" charset="-122"/>
              </a:rPr>
              <a:t>）拉深中的废品</a:t>
            </a:r>
            <a:endParaRPr lang="zh-CN" altLang="en-US" sz="4000" b="1" dirty="0">
              <a:solidFill>
                <a:srgbClr val="009900"/>
              </a:solidFill>
              <a:latin typeface="楷体_GB2312" pitchFamily="49" charset="-122"/>
              <a:ea typeface="楷体_GB2312" pitchFamily="49" charset="-122"/>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2"/>
          <p:cNvSpPr>
            <a:spLocks noGrp="1"/>
          </p:cNvSpPr>
          <p:nvPr>
            <p:ph type="title"/>
          </p:nvPr>
        </p:nvSpPr>
        <p:spPr>
          <a:xfrm>
            <a:off x="3814763" y="90488"/>
            <a:ext cx="2628900" cy="1035050"/>
          </a:xfrm>
        </p:spPr>
        <p:txBody>
          <a:bodyPr vert="horz" wrap="square" lIns="91440" tIns="45720" rIns="91440" bIns="45720" anchor="ctr" anchorCtr="0"/>
          <a:p>
            <a:pPr eaLnBrk="1" hangingPunct="1"/>
            <a:r>
              <a:rPr lang="zh-CN" altLang="en-US" sz="4000" dirty="0">
                <a:solidFill>
                  <a:srgbClr val="CC3300"/>
                </a:solidFill>
                <a:latin typeface="楷体_GB2312" pitchFamily="49" charset="-122"/>
                <a:ea typeface="楷体_GB2312" pitchFamily="49" charset="-122"/>
              </a:rPr>
              <a:t>弯曲</a:t>
            </a:r>
            <a:endParaRPr lang="zh-CN" altLang="en-US" sz="4000" dirty="0">
              <a:ea typeface="楷体_GB2312" pitchFamily="49" charset="-122"/>
            </a:endParaRPr>
          </a:p>
        </p:txBody>
      </p:sp>
      <p:sp>
        <p:nvSpPr>
          <p:cNvPr id="128003" name="Rectangle 10"/>
          <p:cNvSpPr/>
          <p:nvPr/>
        </p:nvSpPr>
        <p:spPr>
          <a:xfrm>
            <a:off x="0" y="31353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graphicFrame>
        <p:nvGraphicFramePr>
          <p:cNvPr id="275478" name="Group 22"/>
          <p:cNvGraphicFramePr>
            <a:graphicFrameLocks noGrp="1"/>
          </p:cNvGraphicFramePr>
          <p:nvPr/>
        </p:nvGraphicFramePr>
        <p:xfrm>
          <a:off x="5616575" y="6165850"/>
          <a:ext cx="4140200" cy="438150"/>
        </p:xfrm>
        <a:graphic>
          <a:graphicData uri="http://schemas.openxmlformats.org/drawingml/2006/table">
            <a:tbl>
              <a:tblPr/>
              <a:tblGrid>
                <a:gridCol w="4140200"/>
              </a:tblGrid>
              <a:tr h="43815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ja-JP" altLang="en-US" sz="1800" b="1" i="0" u="none" strike="noStrike" cap="none" normalizeH="0" baseline="0" smtClean="0">
                          <a:ln>
                            <a:noFill/>
                          </a:ln>
                          <a:solidFill>
                            <a:schemeClr val="tx1"/>
                          </a:solidFill>
                          <a:effectLst/>
                          <a:latin typeface="楷体_GB2312" pitchFamily="49" charset="-122"/>
                          <a:ea typeface="楷体_GB2312" pitchFamily="49" charset="-122"/>
                          <a:cs typeface="Times New Roman" panose="02020603050405020304" pitchFamily="18" charset="0"/>
                        </a:rPr>
                        <a:t>图</a:t>
                      </a:r>
                      <a:r>
                        <a:rPr kumimoji="0" lang="en-US" altLang="zh-CN" sz="1800" b="1" i="0" u="none" strike="noStrike" cap="none" normalizeH="0" baseline="0" smtClean="0">
                          <a:ln>
                            <a:noFill/>
                          </a:ln>
                          <a:solidFill>
                            <a:schemeClr val="tx1"/>
                          </a:solidFill>
                          <a:effectLst/>
                          <a:latin typeface="楷体_GB2312" pitchFamily="49" charset="-122"/>
                          <a:ea typeface="楷体_GB2312" pitchFamily="49" charset="-122"/>
                          <a:cs typeface="Times New Roman" panose="02020603050405020304" pitchFamily="18" charset="0"/>
                        </a:rPr>
                        <a:t>3</a:t>
                      </a:r>
                      <a:r>
                        <a:rPr kumimoji="0" lang="en-US" altLang="ja-JP" sz="1800" b="1" i="0" u="none" strike="noStrike" cap="none" normalizeH="0" baseline="0" smtClean="0">
                          <a:ln>
                            <a:noFill/>
                          </a:ln>
                          <a:solidFill>
                            <a:schemeClr val="tx1"/>
                          </a:solidFill>
                          <a:effectLst/>
                          <a:latin typeface="楷体_GB2312" pitchFamily="49" charset="-122"/>
                          <a:ea typeface="楷体_GB2312" pitchFamily="49" charset="-122"/>
                          <a:cs typeface="Times New Roman" panose="02020603050405020304" pitchFamily="18" charset="0"/>
                        </a:rPr>
                        <a:t>.</a:t>
                      </a:r>
                      <a:r>
                        <a:rPr kumimoji="0" lang="en-US" altLang="zh-CN" sz="1800" b="1" i="0" u="none" strike="noStrike" cap="none" normalizeH="0" baseline="0" smtClean="0">
                          <a:ln>
                            <a:noFill/>
                          </a:ln>
                          <a:solidFill>
                            <a:schemeClr val="tx1"/>
                          </a:solidFill>
                          <a:effectLst/>
                          <a:latin typeface="楷体_GB2312" pitchFamily="49" charset="-122"/>
                          <a:ea typeface="楷体_GB2312" pitchFamily="49" charset="-122"/>
                          <a:cs typeface="Times New Roman" panose="02020603050405020304" pitchFamily="18" charset="0"/>
                        </a:rPr>
                        <a:t>50</a:t>
                      </a:r>
                      <a:r>
                        <a:rPr kumimoji="0" lang="en-US" altLang="ja-JP" sz="1800" b="1" i="0" u="none" strike="noStrike" cap="none" normalizeH="0" baseline="0" smtClean="0">
                          <a:ln>
                            <a:noFill/>
                          </a:ln>
                          <a:solidFill>
                            <a:schemeClr val="tx1"/>
                          </a:solidFill>
                          <a:effectLst/>
                          <a:latin typeface="楷体_GB2312" pitchFamily="49" charset="-122"/>
                          <a:ea typeface="楷体_GB2312" pitchFamily="49" charset="-122"/>
                          <a:cs typeface="Times New Roman" panose="02020603050405020304" pitchFamily="18" charset="0"/>
                        </a:rPr>
                        <a:t> </a:t>
                      </a:r>
                      <a:r>
                        <a:rPr kumimoji="0" lang="ja-JP" altLang="en-US" sz="1800" b="1" i="0" u="none" strike="noStrike" cap="none" normalizeH="0" baseline="0" smtClean="0">
                          <a:ln>
                            <a:noFill/>
                          </a:ln>
                          <a:solidFill>
                            <a:schemeClr val="tx1"/>
                          </a:solidFill>
                          <a:effectLst/>
                          <a:latin typeface="楷体_GB2312" pitchFamily="49" charset="-122"/>
                          <a:ea typeface="楷体_GB2312" pitchFamily="49" charset="-122"/>
                          <a:cs typeface="Times New Roman" panose="02020603050405020304" pitchFamily="18" charset="0"/>
                        </a:rPr>
                        <a:t>弯曲时的纤维方向</a:t>
                      </a:r>
                      <a:endParaRPr kumimoji="0" lang="ja-JP" altLang="en-US" sz="1800" b="1" i="0" u="none" strike="noStrike" cap="none" normalizeH="0" baseline="0" smtClean="0">
                        <a:ln>
                          <a:noFill/>
                        </a:ln>
                        <a:solidFill>
                          <a:schemeClr val="tx1"/>
                        </a:solidFill>
                        <a:effectLst/>
                        <a:latin typeface="楷体_GB2312" pitchFamily="49" charset="-122"/>
                        <a:ea typeface="楷体_GB2312" pitchFamily="49" charset="-122"/>
                        <a:cs typeface="Times New Roman" panose="02020603050405020304" pitchFamily="18" charset="0"/>
                      </a:endParaRPr>
                    </a:p>
                  </a:txBody>
                  <a:tcPr anchor="ctr" horzOverflow="overflow">
                    <a:lnL cap="flat">
                      <a:noFill/>
                    </a:lnL>
                    <a:lnR cap="flat">
                      <a:noFill/>
                    </a:lnR>
                    <a:lnT cap="flat">
                      <a:noFill/>
                    </a:lnT>
                    <a:lnB cap="flat">
                      <a:noFill/>
                    </a:lnB>
                    <a:lnTlToBr>
                      <a:noFill/>
                    </a:lnTlToBr>
                    <a:lnBlToTr>
                      <a:noFill/>
                    </a:lnBlToTr>
                    <a:noFill/>
                  </a:tcPr>
                </a:tc>
              </a:tr>
            </a:tbl>
          </a:graphicData>
        </a:graphic>
      </p:graphicFrame>
      <p:pic>
        <p:nvPicPr>
          <p:cNvPr id="128006" name="Picture 8"/>
          <p:cNvPicPr>
            <a:picLocks noChangeAspect="1"/>
          </p:cNvPicPr>
          <p:nvPr/>
        </p:nvPicPr>
        <p:blipFill>
          <a:blip r:embed="rId1">
            <a:lum bright="-23999" contrast="66000"/>
          </a:blip>
          <a:stretch>
            <a:fillRect/>
          </a:stretch>
        </p:blipFill>
        <p:spPr>
          <a:xfrm>
            <a:off x="5357813" y="4071938"/>
            <a:ext cx="3273425" cy="2109787"/>
          </a:xfrm>
          <a:prstGeom prst="rect">
            <a:avLst/>
          </a:prstGeom>
          <a:noFill/>
          <a:ln w="57150">
            <a:noFill/>
          </a:ln>
        </p:spPr>
      </p:pic>
      <p:sp>
        <p:nvSpPr>
          <p:cNvPr id="128007" name="Rectangle 21"/>
          <p:cNvSpPr/>
          <p:nvPr/>
        </p:nvSpPr>
        <p:spPr>
          <a:xfrm>
            <a:off x="34925" y="1379538"/>
            <a:ext cx="4968875" cy="4432300"/>
          </a:xfrm>
          <a:prstGeom prst="rect">
            <a:avLst/>
          </a:prstGeom>
          <a:noFill/>
          <a:ln w="9525">
            <a:noFill/>
          </a:ln>
        </p:spPr>
        <p:txBody>
          <a:bodyPr anchor="ctr" anchorCtr="0">
            <a:spAutoFit/>
          </a:bodyPr>
          <a:p>
            <a:pPr indent="228600" eaLnBrk="1" hangingPunct="1">
              <a:buNone/>
            </a:pPr>
            <a:r>
              <a:rPr lang="zh-CN" altLang="en-US" sz="2400" b="1" dirty="0">
                <a:latin typeface="楷体_GB2312" pitchFamily="49" charset="-122"/>
                <a:ea typeface="楷体_GB2312" pitchFamily="49" charset="-122"/>
              </a:rPr>
              <a:t>　将板料、型材或管材在弯矩作用下弯成具有一定曲率和角度的制件的成形方法，称为弯曲。</a:t>
            </a:r>
            <a:endParaRPr lang="zh-CN" altLang="en-US" sz="2400" b="1" dirty="0">
              <a:latin typeface="楷体_GB2312" pitchFamily="49" charset="-122"/>
              <a:ea typeface="楷体_GB2312" pitchFamily="49" charset="-122"/>
            </a:endParaRPr>
          </a:p>
          <a:p>
            <a:pPr indent="228600" eaLnBrk="1" hangingPunct="1">
              <a:buNone/>
            </a:pPr>
            <a:r>
              <a:rPr lang="zh-CN" altLang="en-US" sz="2400" b="1" dirty="0">
                <a:solidFill>
                  <a:srgbClr val="FF0066"/>
                </a:solidFill>
                <a:latin typeface="楷体_GB2312" pitchFamily="49" charset="-122"/>
                <a:ea typeface="楷体_GB2312" pitchFamily="49" charset="-122"/>
              </a:rPr>
              <a:t>（</a:t>
            </a:r>
            <a:r>
              <a:rPr lang="en-US" altLang="zh-CN" sz="2400" b="1" dirty="0">
                <a:solidFill>
                  <a:srgbClr val="FF0066"/>
                </a:solidFill>
                <a:latin typeface="楷体_GB2312" pitchFamily="49" charset="-122"/>
                <a:ea typeface="楷体_GB2312" pitchFamily="49" charset="-122"/>
              </a:rPr>
              <a:t>1</a:t>
            </a:r>
            <a:r>
              <a:rPr lang="zh-CN" altLang="en-US" sz="2400" b="1" dirty="0">
                <a:solidFill>
                  <a:srgbClr val="FF0066"/>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分类：</a:t>
            </a:r>
            <a:r>
              <a:rPr lang="en-US" altLang="zh-CN" sz="2400" b="1" dirty="0">
                <a:latin typeface="楷体_GB2312" pitchFamily="49" charset="-122"/>
                <a:ea typeface="楷体_GB2312" pitchFamily="49" charset="-122"/>
              </a:rPr>
              <a:t>V</a:t>
            </a:r>
            <a:r>
              <a:rPr lang="zh-CN" altLang="en-US" sz="2400" b="1" dirty="0">
                <a:latin typeface="楷体_GB2312" pitchFamily="49" charset="-122"/>
                <a:ea typeface="楷体_GB2312" pitchFamily="49" charset="-122"/>
              </a:rPr>
              <a:t>形弯曲、</a:t>
            </a:r>
            <a:r>
              <a:rPr lang="en-US" altLang="zh-CN" sz="2400" b="1" dirty="0">
                <a:latin typeface="楷体_GB2312" pitchFamily="49" charset="-122"/>
                <a:ea typeface="楷体_GB2312" pitchFamily="49" charset="-122"/>
              </a:rPr>
              <a:t>U</a:t>
            </a:r>
            <a:r>
              <a:rPr lang="zh-CN" altLang="en-US" sz="2400" b="1" dirty="0">
                <a:latin typeface="楷体_GB2312" pitchFamily="49" charset="-122"/>
                <a:ea typeface="楷体_GB2312" pitchFamily="49" charset="-122"/>
              </a:rPr>
              <a:t>形弯曲</a:t>
            </a:r>
            <a:endParaRPr lang="zh-CN" altLang="en-US" sz="2400" b="1" dirty="0">
              <a:latin typeface="楷体_GB2312" pitchFamily="49" charset="-122"/>
              <a:ea typeface="楷体_GB2312" pitchFamily="49" charset="-122"/>
            </a:endParaRPr>
          </a:p>
          <a:p>
            <a:pPr indent="228600">
              <a:buNone/>
            </a:pPr>
            <a:r>
              <a:rPr lang="zh-CN" altLang="en-US" sz="2400" b="1" dirty="0">
                <a:solidFill>
                  <a:srgbClr val="FF0066"/>
                </a:solidFill>
                <a:latin typeface="楷体_GB2312" pitchFamily="49" charset="-122"/>
                <a:ea typeface="楷体_GB2312" pitchFamily="49" charset="-122"/>
              </a:rPr>
              <a:t>（</a:t>
            </a:r>
            <a:r>
              <a:rPr lang="en-US" altLang="zh-CN" sz="2400" b="1" dirty="0">
                <a:solidFill>
                  <a:srgbClr val="FF0066"/>
                </a:solidFill>
                <a:latin typeface="楷体_GB2312" pitchFamily="49" charset="-122"/>
                <a:ea typeface="楷体_GB2312" pitchFamily="49" charset="-122"/>
              </a:rPr>
              <a:t>2</a:t>
            </a:r>
            <a:r>
              <a:rPr lang="zh-CN" altLang="en-US" sz="2400" b="1" dirty="0">
                <a:solidFill>
                  <a:srgbClr val="FF0066"/>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最小弯曲半径：</a:t>
            </a:r>
            <a:endParaRPr lang="zh-CN" altLang="ja-JP" sz="2400" b="1" dirty="0">
              <a:latin typeface="楷体_GB2312" pitchFamily="49" charset="-122"/>
              <a:ea typeface="楷体_GB2312" pitchFamily="49" charset="-122"/>
            </a:endParaRPr>
          </a:p>
          <a:p>
            <a:pPr indent="228600">
              <a:buNone/>
            </a:pPr>
            <a:r>
              <a:rPr lang="ja-JP" altLang="en-US" sz="2400" b="1" dirty="0">
                <a:latin typeface="楷体_GB2312" pitchFamily="49" charset="-122"/>
                <a:ea typeface="楷体_GB2312" pitchFamily="49" charset="-122"/>
              </a:rPr>
              <a:t>　　　</a:t>
            </a:r>
            <a:r>
              <a:rPr lang="en-US" altLang="zh-CN" sz="2400" b="1" dirty="0">
                <a:latin typeface="楷体_GB2312" pitchFamily="49" charset="-122"/>
                <a:ea typeface="楷体_GB2312" pitchFamily="49" charset="-122"/>
              </a:rPr>
              <a:t>r</a:t>
            </a:r>
            <a:r>
              <a:rPr lang="en-US" altLang="zh-CN" sz="2400" b="1" baseline="-30000" dirty="0">
                <a:latin typeface="楷体_GB2312" pitchFamily="49" charset="-122"/>
                <a:ea typeface="楷体_GB2312" pitchFamily="49" charset="-122"/>
              </a:rPr>
              <a:t>min</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0.25∼1</a:t>
            </a:r>
            <a:r>
              <a:rPr lang="zh-CN" altLang="en-US" sz="2400" b="1" dirty="0">
                <a:latin typeface="楷体_GB2312" pitchFamily="49" charset="-122"/>
                <a:ea typeface="楷体_GB2312" pitchFamily="49" charset="-122"/>
              </a:rPr>
              <a:t>）</a:t>
            </a:r>
            <a:r>
              <a:rPr lang="en-US" altLang="zh-CN" sz="2400" b="1" dirty="0">
                <a:latin typeface="GreekC" pitchFamily="2" charset="0"/>
                <a:ea typeface="楷体_GB2312" pitchFamily="49" charset="-122"/>
              </a:rPr>
              <a:t>δ</a:t>
            </a:r>
            <a:endParaRPr lang="en-US" altLang="zh-CN" sz="2400" b="1" dirty="0">
              <a:latin typeface="GreekC" pitchFamily="2" charset="0"/>
              <a:ea typeface="楷体_GB2312" pitchFamily="49" charset="-122"/>
            </a:endParaRPr>
          </a:p>
          <a:p>
            <a:pPr indent="228600">
              <a:buNone/>
            </a:pPr>
            <a:r>
              <a:rPr lang="zh-CN" altLang="en-US" sz="2400" b="1" dirty="0">
                <a:solidFill>
                  <a:srgbClr val="FF0066"/>
                </a:solidFill>
                <a:latin typeface="楷体_GB2312" pitchFamily="49" charset="-122"/>
                <a:ea typeface="楷体_GB2312" pitchFamily="49" charset="-122"/>
              </a:rPr>
              <a:t>（</a:t>
            </a:r>
            <a:r>
              <a:rPr lang="en-US" altLang="zh-CN" sz="2400" b="1" dirty="0">
                <a:solidFill>
                  <a:srgbClr val="FF0066"/>
                </a:solidFill>
                <a:latin typeface="楷体_GB2312" pitchFamily="49" charset="-122"/>
                <a:ea typeface="楷体_GB2312" pitchFamily="49" charset="-122"/>
              </a:rPr>
              <a:t>3</a:t>
            </a:r>
            <a:r>
              <a:rPr lang="zh-CN" altLang="en-US" sz="2400" b="1" dirty="0">
                <a:solidFill>
                  <a:srgbClr val="FF0066"/>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坯料纤维方向：</a:t>
            </a:r>
            <a:r>
              <a:rPr lang="zh-CN" altLang="en-US" sz="2400" b="1" dirty="0">
                <a:solidFill>
                  <a:srgbClr val="0000FF"/>
                </a:solidFill>
                <a:latin typeface="楷体_GB2312" pitchFamily="49" charset="-122"/>
                <a:ea typeface="楷体_GB2312" pitchFamily="49" charset="-122"/>
              </a:rPr>
              <a:t>应使弯曲线与板料纤维垂直（图</a:t>
            </a:r>
            <a:r>
              <a:rPr lang="en-US" altLang="zh-CN" sz="2400" b="1" dirty="0">
                <a:solidFill>
                  <a:srgbClr val="0000FF"/>
                </a:solidFill>
                <a:latin typeface="楷体_GB2312" pitchFamily="49" charset="-122"/>
                <a:ea typeface="楷体_GB2312" pitchFamily="49" charset="-122"/>
              </a:rPr>
              <a:t>3.50</a:t>
            </a:r>
            <a:r>
              <a:rPr lang="zh-CN" altLang="en-US" sz="2400" b="1" dirty="0">
                <a:solidFill>
                  <a:srgbClr val="0000FF"/>
                </a:solidFill>
                <a:latin typeface="楷体_GB2312" pitchFamily="49" charset="-122"/>
                <a:ea typeface="楷体_GB2312" pitchFamily="49" charset="-122"/>
              </a:rPr>
              <a:t>） 。若弯曲线与纤维方向一致，</a:t>
            </a:r>
            <a:r>
              <a:rPr lang="zh-CN" altLang="en-US" sz="2400" b="1" dirty="0">
                <a:solidFill>
                  <a:srgbClr val="FF0000"/>
                </a:solidFill>
                <a:latin typeface="楷体_GB2312" pitchFamily="49" charset="-122"/>
                <a:ea typeface="楷体_GB2312" pitchFamily="49" charset="-122"/>
              </a:rPr>
              <a:t>容易产生破裂。</a:t>
            </a:r>
            <a:endParaRPr lang="zh-CN" altLang="en-US" sz="2400" b="1" dirty="0">
              <a:solidFill>
                <a:srgbClr val="FF0000"/>
              </a:solidFill>
              <a:latin typeface="楷体_GB2312" pitchFamily="49" charset="-122"/>
              <a:ea typeface="楷体_GB2312" pitchFamily="49" charset="-122"/>
            </a:endParaRPr>
          </a:p>
          <a:p>
            <a:pPr indent="228600">
              <a:buNone/>
            </a:pPr>
            <a:r>
              <a:rPr lang="zh-CN" altLang="en-US" sz="2400" b="1" dirty="0">
                <a:solidFill>
                  <a:srgbClr val="FF0066"/>
                </a:solidFill>
                <a:latin typeface="楷体_GB2312" pitchFamily="49" charset="-122"/>
                <a:ea typeface="楷体_GB2312" pitchFamily="49" charset="-122"/>
              </a:rPr>
              <a:t>（</a:t>
            </a:r>
            <a:r>
              <a:rPr lang="en-US" altLang="zh-CN" sz="2400" b="1" dirty="0">
                <a:solidFill>
                  <a:srgbClr val="FF0066"/>
                </a:solidFill>
                <a:latin typeface="楷体_GB2312" pitchFamily="49" charset="-122"/>
                <a:ea typeface="楷体_GB2312" pitchFamily="49" charset="-122"/>
              </a:rPr>
              <a:t>4</a:t>
            </a:r>
            <a:r>
              <a:rPr lang="zh-CN" altLang="en-US" sz="2400" b="1" dirty="0">
                <a:solidFill>
                  <a:srgbClr val="FF0066"/>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回弹：回弹角</a:t>
            </a:r>
            <a:r>
              <a:rPr lang="en-US" altLang="zh-CN" sz="2400" b="1" dirty="0">
                <a:latin typeface="楷体_GB2312" pitchFamily="49" charset="-122"/>
                <a:ea typeface="楷体_GB2312" pitchFamily="49" charset="-122"/>
              </a:rPr>
              <a:t>0°</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10°</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a:p>
            <a:pPr indent="228600">
              <a:buNone/>
            </a:pPr>
            <a:r>
              <a:rPr lang="zh-CN" altLang="en-US" b="1" dirty="0">
                <a:latin typeface="Arial" panose="020B0604020202020204" pitchFamily="34" charset="0"/>
                <a:cs typeface="Times New Roman" panose="02020603050405020304" pitchFamily="18" charset="0"/>
              </a:rPr>
              <a:t>　</a:t>
            </a:r>
            <a:endParaRPr lang="zh-CN" altLang="en-US" b="1" dirty="0">
              <a:latin typeface="Arial" panose="020B0604020202020204" pitchFamily="34" charset="0"/>
              <a:ea typeface="Times New Roman" panose="02020603050405020304" pitchFamily="18" charset="0"/>
            </a:endParaRPr>
          </a:p>
        </p:txBody>
      </p:sp>
      <p:grpSp>
        <p:nvGrpSpPr>
          <p:cNvPr id="128008" name="Group 29"/>
          <p:cNvGrpSpPr/>
          <p:nvPr/>
        </p:nvGrpSpPr>
        <p:grpSpPr>
          <a:xfrm>
            <a:off x="5003800" y="1989138"/>
            <a:ext cx="3959225" cy="1882775"/>
            <a:chOff x="3152" y="1253"/>
            <a:chExt cx="2494" cy="1186"/>
          </a:xfrm>
        </p:grpSpPr>
        <p:pic>
          <p:nvPicPr>
            <p:cNvPr id="128009" name="Picture 4"/>
            <p:cNvPicPr>
              <a:picLocks noChangeAspect="1"/>
            </p:cNvPicPr>
            <p:nvPr/>
          </p:nvPicPr>
          <p:blipFill>
            <a:blip r:embed="rId2"/>
            <a:stretch>
              <a:fillRect/>
            </a:stretch>
          </p:blipFill>
          <p:spPr>
            <a:xfrm>
              <a:off x="3152" y="1253"/>
              <a:ext cx="2494" cy="1179"/>
            </a:xfrm>
            <a:prstGeom prst="rect">
              <a:avLst/>
            </a:prstGeom>
            <a:solidFill>
              <a:srgbClr val="66FFFF"/>
            </a:solidFill>
            <a:ln w="9525">
              <a:noFill/>
            </a:ln>
          </p:spPr>
        </p:pic>
        <p:sp>
          <p:nvSpPr>
            <p:cNvPr id="128010" name="Text Box 24"/>
            <p:cNvSpPr txBox="1"/>
            <p:nvPr/>
          </p:nvSpPr>
          <p:spPr>
            <a:xfrm>
              <a:off x="3217" y="2266"/>
              <a:ext cx="479" cy="173"/>
            </a:xfrm>
            <a:prstGeom prst="rect">
              <a:avLst/>
            </a:prstGeom>
            <a:solidFill>
              <a:srgbClr val="66FFFF"/>
            </a:solidFill>
            <a:ln w="9525">
              <a:noFill/>
            </a:ln>
          </p:spPr>
          <p:txBody>
            <a:bodyPr>
              <a:spAutoFit/>
            </a:bodyPr>
            <a:p>
              <a:pPr eaLnBrk="1" hangingPunct="1"/>
              <a:r>
                <a:rPr lang="zh-CN" altLang="en-US" sz="1200" b="1" dirty="0">
                  <a:latin typeface="楷体_GB2312" pitchFamily="49" charset="-122"/>
                  <a:ea typeface="楷体_GB2312" pitchFamily="49" charset="-122"/>
                </a:rPr>
                <a:t>图</a:t>
              </a:r>
              <a:r>
                <a:rPr lang="en-US" altLang="zh-CN" sz="1200" b="1" dirty="0">
                  <a:latin typeface="楷体_GB2312" pitchFamily="49" charset="-122"/>
                  <a:ea typeface="楷体_GB2312" pitchFamily="49" charset="-122"/>
                </a:rPr>
                <a:t>3-49</a:t>
              </a:r>
              <a:endParaRPr lang="en-US" altLang="zh-CN" sz="1200" b="1" dirty="0">
                <a:latin typeface="楷体_GB2312" pitchFamily="49" charset="-122"/>
                <a:ea typeface="楷体_GB2312" pitchFamily="49" charset="-122"/>
              </a:endParaRPr>
            </a:p>
          </p:txBody>
        </p:sp>
        <p:sp>
          <p:nvSpPr>
            <p:cNvPr id="128011" name="Rectangle 26"/>
            <p:cNvSpPr/>
            <p:nvPr/>
          </p:nvSpPr>
          <p:spPr>
            <a:xfrm>
              <a:off x="4524" y="2266"/>
              <a:ext cx="373" cy="166"/>
            </a:xfrm>
            <a:prstGeom prst="rect">
              <a:avLst/>
            </a:prstGeom>
            <a:solidFill>
              <a:srgbClr val="66FFFF"/>
            </a:solidFill>
            <a:ln w="9525">
              <a:noFill/>
            </a:ln>
          </p:spPr>
          <p:txBody>
            <a:bodyPr wrap="none" anchor="ctr" anchorCtr="0"/>
            <a:p>
              <a:pPr eaLnBrk="1" hangingPunct="1"/>
              <a:endParaRPr lang="zh-CN" altLang="en-US" dirty="0">
                <a:latin typeface="Arial" panose="020B0604020202020204" pitchFamily="34" charset="0"/>
              </a:endParaRPr>
            </a:p>
          </p:txBody>
        </p:sp>
      </p:gr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2"/>
          <p:cNvSpPr>
            <a:spLocks noGrp="1"/>
          </p:cNvSpPr>
          <p:nvPr>
            <p:ph type="title"/>
          </p:nvPr>
        </p:nvSpPr>
        <p:spPr>
          <a:xfrm>
            <a:off x="2905125" y="-26987"/>
            <a:ext cx="4906963" cy="1206500"/>
          </a:xfrm>
        </p:spPr>
        <p:txBody>
          <a:bodyPr vert="horz" wrap="square" lIns="91440" tIns="45720" rIns="91440" bIns="45720" anchor="ctr" anchorCtr="0"/>
          <a:p>
            <a:pPr algn="ctr" eaLnBrk="1" hangingPunct="1">
              <a:buNone/>
            </a:pPr>
            <a:r>
              <a:rPr lang="zh-CN" altLang="en-US" sz="4000" dirty="0">
                <a:solidFill>
                  <a:srgbClr val="FF0000"/>
                </a:solidFill>
                <a:latin typeface="楷体_GB2312" pitchFamily="49" charset="-122"/>
                <a:ea typeface="楷体_GB2312" pitchFamily="49" charset="-122"/>
              </a:rPr>
              <a:t>翻边</a:t>
            </a:r>
            <a:endParaRPr lang="zh-CN" altLang="en-US" sz="4000" dirty="0">
              <a:ea typeface="楷体_GB2312" pitchFamily="49" charset="-122"/>
            </a:endParaRPr>
          </a:p>
        </p:txBody>
      </p:sp>
      <p:sp>
        <p:nvSpPr>
          <p:cNvPr id="129027" name="Rectangle 13"/>
          <p:cNvSpPr/>
          <p:nvPr/>
        </p:nvSpPr>
        <p:spPr>
          <a:xfrm>
            <a:off x="250825" y="1196975"/>
            <a:ext cx="8569325" cy="1323975"/>
          </a:xfrm>
          <a:prstGeom prst="rect">
            <a:avLst/>
          </a:prstGeom>
          <a:noFill/>
          <a:ln w="9525">
            <a:noFill/>
          </a:ln>
        </p:spPr>
        <p:txBody>
          <a:bodyPr anchor="ctr" anchorCtr="0">
            <a:spAutoFit/>
          </a:bodyPr>
          <a:p>
            <a:pPr indent="304800">
              <a:buNone/>
            </a:pPr>
            <a:r>
              <a:rPr lang="ja-JP" altLang="en-US" sz="2000" b="1" dirty="0">
                <a:latin typeface="楷体_GB2312" pitchFamily="49" charset="-122"/>
                <a:ea typeface="楷体_GB2312" pitchFamily="49" charset="-122"/>
              </a:rPr>
              <a:t>　</a:t>
            </a:r>
            <a:r>
              <a:rPr lang="zh-CN" altLang="en-US" sz="2000" b="1" dirty="0">
                <a:solidFill>
                  <a:srgbClr val="0000FF"/>
                </a:solidFill>
                <a:latin typeface="楷体_GB2312" pitchFamily="49" charset="-122"/>
                <a:ea typeface="楷体_GB2312" pitchFamily="49" charset="-122"/>
              </a:rPr>
              <a:t>在坯料的平面或曲面部分上，使坯料沿一定的曲线翻成竖直边的成形方法。翻边的种类较多，常用的是圆孔翻边。</a:t>
            </a:r>
            <a:endParaRPr lang="zh-CN" altLang="en-US" sz="2000" b="1" dirty="0">
              <a:solidFill>
                <a:srgbClr val="0000FF"/>
              </a:solidFill>
              <a:latin typeface="楷体_GB2312" pitchFamily="49" charset="-122"/>
              <a:ea typeface="楷体_GB2312" pitchFamily="49" charset="-122"/>
            </a:endParaRPr>
          </a:p>
          <a:p>
            <a:pPr indent="304800">
              <a:buNone/>
            </a:pPr>
            <a:endParaRPr lang="zh-CN" altLang="en-US" sz="2000" b="1" dirty="0">
              <a:solidFill>
                <a:srgbClr val="009900"/>
              </a:solidFill>
              <a:latin typeface="楷体_GB2312" pitchFamily="49" charset="-122"/>
              <a:ea typeface="楷体_GB2312" pitchFamily="49" charset="-122"/>
            </a:endParaRPr>
          </a:p>
          <a:p>
            <a:pPr indent="304800">
              <a:buNone/>
            </a:pPr>
            <a:endParaRPr lang="en-US" altLang="zh-CN" sz="2000" b="1" dirty="0">
              <a:solidFill>
                <a:srgbClr val="009900"/>
              </a:solidFill>
              <a:latin typeface="楷体_GB2312" pitchFamily="49" charset="-122"/>
              <a:ea typeface="楷体_GB2312" pitchFamily="49" charset="-122"/>
            </a:endParaRPr>
          </a:p>
        </p:txBody>
      </p:sp>
      <p:sp>
        <p:nvSpPr>
          <p:cNvPr id="129028" name="Rectangle 14"/>
          <p:cNvSpPr/>
          <p:nvPr/>
        </p:nvSpPr>
        <p:spPr>
          <a:xfrm>
            <a:off x="0" y="2770188"/>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graphicFrame>
        <p:nvGraphicFramePr>
          <p:cNvPr id="276503" name="Group 23"/>
          <p:cNvGraphicFramePr>
            <a:graphicFrameLocks noGrp="1"/>
          </p:cNvGraphicFramePr>
          <p:nvPr/>
        </p:nvGraphicFramePr>
        <p:xfrm>
          <a:off x="6516688" y="5445125"/>
          <a:ext cx="2124075" cy="373063"/>
        </p:xfrm>
        <a:graphic>
          <a:graphicData uri="http://schemas.openxmlformats.org/drawingml/2006/table">
            <a:tbl>
              <a:tblPr/>
              <a:tblGrid>
                <a:gridCol w="2124075"/>
              </a:tblGrid>
              <a:tr h="3730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ja-JP" altLang="en-US" sz="1600" b="1" i="0" u="none" strike="noStrike" cap="none" normalizeH="0" baseline="0" smtClean="0">
                          <a:ln>
                            <a:noFill/>
                          </a:ln>
                          <a:solidFill>
                            <a:schemeClr val="tx1"/>
                          </a:solidFill>
                          <a:effectLst/>
                          <a:latin typeface="楷体_GB2312" pitchFamily="49" charset="-122"/>
                          <a:ea typeface="楷体_GB2312" pitchFamily="49" charset="-122"/>
                          <a:cs typeface="Times New Roman" panose="02020603050405020304" pitchFamily="18" charset="0"/>
                        </a:rPr>
                        <a:t>图</a:t>
                      </a:r>
                      <a:r>
                        <a:rPr kumimoji="0" lang="en-US" altLang="zh-CN" sz="1600" b="1" i="0" u="none" strike="noStrike" cap="none" normalizeH="0" baseline="0" smtClean="0">
                          <a:ln>
                            <a:noFill/>
                          </a:ln>
                          <a:solidFill>
                            <a:schemeClr val="tx1"/>
                          </a:solidFill>
                          <a:effectLst/>
                          <a:latin typeface="楷体_GB2312" pitchFamily="49" charset="-122"/>
                          <a:ea typeface="楷体_GB2312" pitchFamily="49" charset="-122"/>
                          <a:cs typeface="Times New Roman" panose="02020603050405020304" pitchFamily="18" charset="0"/>
                        </a:rPr>
                        <a:t>3</a:t>
                      </a:r>
                      <a:r>
                        <a:rPr kumimoji="0" lang="en-US" altLang="ja-JP" sz="1600" b="1" i="0" u="none" strike="noStrike" cap="none" normalizeH="0" baseline="0" smtClean="0">
                          <a:ln>
                            <a:noFill/>
                          </a:ln>
                          <a:solidFill>
                            <a:schemeClr val="tx1"/>
                          </a:solidFill>
                          <a:effectLst/>
                          <a:latin typeface="楷体_GB2312" pitchFamily="49" charset="-122"/>
                          <a:ea typeface="楷体_GB2312" pitchFamily="49" charset="-122"/>
                          <a:cs typeface="Times New Roman" panose="02020603050405020304" pitchFamily="18" charset="0"/>
                        </a:rPr>
                        <a:t>.</a:t>
                      </a:r>
                      <a:r>
                        <a:rPr kumimoji="0" lang="en-US" altLang="zh-CN" sz="1600" b="1" i="0" u="none" strike="noStrike" cap="none" normalizeH="0" baseline="0" smtClean="0">
                          <a:ln>
                            <a:noFill/>
                          </a:ln>
                          <a:solidFill>
                            <a:schemeClr val="tx1"/>
                          </a:solidFill>
                          <a:effectLst/>
                          <a:latin typeface="楷体_GB2312" pitchFamily="49" charset="-122"/>
                          <a:ea typeface="楷体_GB2312" pitchFamily="49" charset="-122"/>
                          <a:cs typeface="Times New Roman" panose="02020603050405020304" pitchFamily="18" charset="0"/>
                        </a:rPr>
                        <a:t>51</a:t>
                      </a:r>
                      <a:r>
                        <a:rPr kumimoji="0" lang="en-US" altLang="ja-JP" sz="1600" b="1" i="0" u="none" strike="noStrike" cap="none" normalizeH="0" baseline="0" smtClean="0">
                          <a:ln>
                            <a:noFill/>
                          </a:ln>
                          <a:solidFill>
                            <a:schemeClr val="tx1"/>
                          </a:solidFill>
                          <a:effectLst/>
                          <a:latin typeface="楷体_GB2312" pitchFamily="49" charset="-122"/>
                          <a:ea typeface="楷体_GB2312" pitchFamily="49" charset="-122"/>
                          <a:cs typeface="Times New Roman" panose="02020603050405020304" pitchFamily="18" charset="0"/>
                        </a:rPr>
                        <a:t> </a:t>
                      </a:r>
                      <a:r>
                        <a:rPr kumimoji="0" lang="ja-JP" altLang="en-US" sz="1600" b="1" i="0" u="none" strike="noStrike" cap="none" normalizeH="0" baseline="0" smtClean="0">
                          <a:ln>
                            <a:noFill/>
                          </a:ln>
                          <a:solidFill>
                            <a:schemeClr val="tx1"/>
                          </a:solidFill>
                          <a:effectLst/>
                          <a:latin typeface="楷体_GB2312" pitchFamily="49" charset="-122"/>
                          <a:ea typeface="楷体_GB2312" pitchFamily="49" charset="-122"/>
                          <a:cs typeface="Times New Roman" panose="02020603050405020304" pitchFamily="18" charset="0"/>
                        </a:rPr>
                        <a:t>翻边工序</a:t>
                      </a:r>
                      <a:endParaRPr kumimoji="0" lang="ja-JP" altLang="en-US" sz="1600" b="1" i="0" u="none" strike="noStrike" cap="none" normalizeH="0" baseline="0" smtClean="0">
                        <a:ln>
                          <a:noFill/>
                        </a:ln>
                        <a:solidFill>
                          <a:schemeClr val="tx1"/>
                        </a:solidFill>
                        <a:effectLst/>
                        <a:latin typeface="楷体_GB2312" pitchFamily="49" charset="-122"/>
                        <a:ea typeface="楷体_GB2312" pitchFamily="49" charset="-122"/>
                        <a:cs typeface="Times New Roman" panose="02020603050405020304" pitchFamily="18" charset="0"/>
                      </a:endParaRPr>
                    </a:p>
                  </a:txBody>
                  <a:tcPr anchor="ctr" horzOverflow="overflow">
                    <a:lnL cap="flat">
                      <a:noFill/>
                    </a:lnL>
                    <a:lnR cap="flat">
                      <a:noFill/>
                    </a:lnR>
                    <a:lnT cap="flat">
                      <a:noFill/>
                    </a:lnT>
                    <a:lnB cap="flat">
                      <a:noFill/>
                    </a:lnB>
                    <a:lnTlToBr>
                      <a:noFill/>
                    </a:lnTlToBr>
                    <a:lnBlToTr>
                      <a:noFill/>
                    </a:lnBlToTr>
                    <a:noFill/>
                  </a:tcPr>
                </a:tc>
              </a:tr>
            </a:tbl>
          </a:graphicData>
        </a:graphic>
      </p:graphicFrame>
      <p:grpSp>
        <p:nvGrpSpPr>
          <p:cNvPr id="129031" name="Group 10"/>
          <p:cNvGrpSpPr/>
          <p:nvPr/>
        </p:nvGrpSpPr>
        <p:grpSpPr>
          <a:xfrm>
            <a:off x="5429250" y="2571750"/>
            <a:ext cx="3571875" cy="3522663"/>
            <a:chOff x="7560" y="4092"/>
            <a:chExt cx="2340" cy="1872"/>
          </a:xfrm>
        </p:grpSpPr>
        <p:pic>
          <p:nvPicPr>
            <p:cNvPr id="129033" name="Picture 12"/>
            <p:cNvPicPr>
              <a:picLocks noChangeAspect="1"/>
            </p:cNvPicPr>
            <p:nvPr/>
          </p:nvPicPr>
          <p:blipFill>
            <a:blip r:embed="rId1"/>
            <a:stretch>
              <a:fillRect/>
            </a:stretch>
          </p:blipFill>
          <p:spPr>
            <a:xfrm>
              <a:off x="7560" y="4092"/>
              <a:ext cx="2160" cy="1236"/>
            </a:xfrm>
            <a:prstGeom prst="rect">
              <a:avLst/>
            </a:prstGeom>
            <a:noFill/>
            <a:ln w="9525">
              <a:noFill/>
            </a:ln>
          </p:spPr>
        </p:pic>
        <p:sp>
          <p:nvSpPr>
            <p:cNvPr id="129034" name="Text Box 11"/>
            <p:cNvSpPr txBox="1"/>
            <p:nvPr/>
          </p:nvSpPr>
          <p:spPr>
            <a:xfrm>
              <a:off x="7920" y="5496"/>
              <a:ext cx="1980" cy="468"/>
            </a:xfrm>
            <a:prstGeom prst="rect">
              <a:avLst/>
            </a:prstGeom>
            <a:noFill/>
            <a:ln w="9525">
              <a:noFill/>
            </a:ln>
          </p:spPr>
          <p:txBody>
            <a:bodyPr lIns="0" tIns="0" rIns="0" bIns="0"/>
            <a:p>
              <a:pPr eaLnBrk="1" hangingPunct="1"/>
              <a:endParaRPr lang="zh-CN" altLang="en-US" dirty="0">
                <a:latin typeface="Arial" panose="020B0604020202020204" pitchFamily="34" charset="0"/>
              </a:endParaRPr>
            </a:p>
          </p:txBody>
        </p:sp>
      </p:grpSp>
      <p:sp>
        <p:nvSpPr>
          <p:cNvPr id="129032" name="Rectangle 25"/>
          <p:cNvSpPr/>
          <p:nvPr/>
        </p:nvSpPr>
        <p:spPr>
          <a:xfrm>
            <a:off x="357188" y="2000250"/>
            <a:ext cx="5143500" cy="4400550"/>
          </a:xfrm>
          <a:prstGeom prst="rect">
            <a:avLst/>
          </a:prstGeom>
          <a:noFill/>
          <a:ln w="9525">
            <a:noFill/>
          </a:ln>
        </p:spPr>
        <p:txBody>
          <a:bodyPr anchor="ctr" anchorCtr="0">
            <a:spAutoFit/>
          </a:bodyPr>
          <a:p>
            <a:pPr indent="304800" eaLnBrk="1" hangingPunct="1">
              <a:buNone/>
            </a:pPr>
            <a:r>
              <a:rPr lang="en-US" altLang="zh-CN" sz="2000" b="1" dirty="0">
                <a:solidFill>
                  <a:srgbClr val="009900"/>
                </a:solidFill>
                <a:latin typeface="楷体_GB2312" pitchFamily="49" charset="-122"/>
                <a:ea typeface="楷体_GB2312" pitchFamily="49" charset="-122"/>
              </a:rPr>
              <a:t>Ⅰ</a:t>
            </a:r>
            <a:r>
              <a:rPr lang="zh-CN" altLang="en-US" sz="2000" b="1" dirty="0">
                <a:solidFill>
                  <a:srgbClr val="009900"/>
                </a:solidFill>
                <a:latin typeface="楷体_GB2312" pitchFamily="49" charset="-122"/>
                <a:ea typeface="楷体_GB2312" pitchFamily="49" charset="-122"/>
              </a:rPr>
              <a:t>原理（圆孔翻边）：图</a:t>
            </a:r>
            <a:r>
              <a:rPr lang="en-US" altLang="zh-CN" sz="2000" b="1" dirty="0">
                <a:solidFill>
                  <a:srgbClr val="009900"/>
                </a:solidFill>
                <a:latin typeface="楷体_GB2312" pitchFamily="49" charset="-122"/>
                <a:ea typeface="楷体_GB2312" pitchFamily="49" charset="-122"/>
              </a:rPr>
              <a:t>3.51</a:t>
            </a: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翻边过程中变形区在凸模作用下内径不断扩大，翻边结束时达到凸模直径，最终形成了竖直的边缘。</a:t>
            </a:r>
            <a:endParaRPr lang="zh-CN" altLang="en-US" sz="2000" b="1" dirty="0">
              <a:latin typeface="楷体_GB2312" pitchFamily="49" charset="-122"/>
              <a:ea typeface="楷体_GB2312" pitchFamily="49" charset="-122"/>
            </a:endParaRPr>
          </a:p>
          <a:p>
            <a:pPr indent="304800">
              <a:buNone/>
            </a:pPr>
            <a:r>
              <a:rPr lang="en-US" altLang="zh-CN" sz="2000" b="1" dirty="0">
                <a:solidFill>
                  <a:srgbClr val="009900"/>
                </a:solidFill>
                <a:latin typeface="楷体_GB2312" pitchFamily="49" charset="-122"/>
                <a:ea typeface="楷体_GB2312" pitchFamily="49" charset="-122"/>
              </a:rPr>
              <a:t>Ⅱ</a:t>
            </a:r>
            <a:r>
              <a:rPr lang="zh-CN" altLang="en-US" sz="2000" b="1" dirty="0">
                <a:solidFill>
                  <a:srgbClr val="009900"/>
                </a:solidFill>
                <a:latin typeface="楷体_GB2312" pitchFamily="49" charset="-122"/>
                <a:ea typeface="楷体_GB2312" pitchFamily="49" charset="-122"/>
              </a:rPr>
              <a:t>特点：</a:t>
            </a:r>
            <a:endParaRPr lang="zh-CN" altLang="en-US" sz="2000" b="1" dirty="0">
              <a:solidFill>
                <a:srgbClr val="009900"/>
              </a:solidFill>
              <a:latin typeface="楷体_GB2312" pitchFamily="49" charset="-122"/>
              <a:ea typeface="楷体_GB2312" pitchFamily="49" charset="-122"/>
            </a:endParaRPr>
          </a:p>
          <a:p>
            <a:pPr indent="304800">
              <a:buNone/>
            </a:pPr>
            <a:r>
              <a:rPr lang="en-US" altLang="zh-CN" sz="2000" b="1" dirty="0">
                <a:solidFill>
                  <a:srgbClr val="FF0066"/>
                </a:solidFill>
                <a:latin typeface="楷体_GB2312" pitchFamily="49" charset="-122"/>
                <a:ea typeface="楷体_GB2312" pitchFamily="49" charset="-122"/>
              </a:rPr>
              <a:t>ⅰ </a:t>
            </a:r>
            <a:r>
              <a:rPr lang="zh-CN" altLang="en-US" sz="2000" b="1" dirty="0">
                <a:solidFill>
                  <a:srgbClr val="FF0066"/>
                </a:solidFill>
                <a:latin typeface="楷体_GB2312" pitchFamily="49" charset="-122"/>
                <a:ea typeface="楷体_GB2312" pitchFamily="49" charset="-122"/>
              </a:rPr>
              <a:t>坯料直径不变</a:t>
            </a:r>
            <a:endParaRPr lang="zh-CN" altLang="en-US" sz="2000" b="1" dirty="0">
              <a:solidFill>
                <a:srgbClr val="FF0066"/>
              </a:solidFill>
              <a:latin typeface="楷体_GB2312" pitchFamily="49" charset="-122"/>
              <a:ea typeface="楷体_GB2312" pitchFamily="49" charset="-122"/>
            </a:endParaRPr>
          </a:p>
          <a:p>
            <a:pPr indent="304800">
              <a:buNone/>
            </a:pPr>
            <a:r>
              <a:rPr lang="en-US" altLang="zh-CN" sz="2000" b="1" dirty="0">
                <a:solidFill>
                  <a:srgbClr val="FF0066"/>
                </a:solidFill>
                <a:latin typeface="楷体_GB2312" pitchFamily="49" charset="-122"/>
                <a:ea typeface="楷体_GB2312" pitchFamily="49" charset="-122"/>
              </a:rPr>
              <a:t>ⅱ </a:t>
            </a:r>
            <a:r>
              <a:rPr lang="zh-CN" altLang="en-US" sz="2000" b="1" dirty="0">
                <a:solidFill>
                  <a:srgbClr val="FF0066"/>
                </a:solidFill>
                <a:latin typeface="楷体_GB2312" pitchFamily="49" charset="-122"/>
                <a:ea typeface="楷体_GB2312" pitchFamily="49" charset="-122"/>
              </a:rPr>
              <a:t>压边力足够大</a:t>
            </a:r>
            <a:endParaRPr lang="zh-CN" altLang="en-US" sz="2000" b="1" dirty="0">
              <a:solidFill>
                <a:srgbClr val="FF0066"/>
              </a:solidFill>
              <a:latin typeface="楷体_GB2312" pitchFamily="49" charset="-122"/>
              <a:ea typeface="楷体_GB2312" pitchFamily="49" charset="-122"/>
            </a:endParaRPr>
          </a:p>
          <a:p>
            <a:pPr indent="304800">
              <a:buNone/>
            </a:pPr>
            <a:r>
              <a:rPr lang="en-US" altLang="zh-CN" sz="2000" b="1" dirty="0">
                <a:solidFill>
                  <a:srgbClr val="FF0066"/>
                </a:solidFill>
                <a:latin typeface="楷体_GB2312" pitchFamily="49" charset="-122"/>
                <a:ea typeface="楷体_GB2312" pitchFamily="49" charset="-122"/>
              </a:rPr>
              <a:t>ⅲ </a:t>
            </a:r>
            <a:r>
              <a:rPr lang="zh-CN" altLang="en-US" sz="2000" b="1" dirty="0">
                <a:solidFill>
                  <a:srgbClr val="FF0066"/>
                </a:solidFill>
                <a:latin typeface="楷体_GB2312" pitchFamily="49" charset="-122"/>
                <a:ea typeface="楷体_GB2312" pitchFamily="49" charset="-122"/>
              </a:rPr>
              <a:t>局部变形</a:t>
            </a:r>
            <a:endParaRPr lang="zh-CN" altLang="en-US" sz="2000" b="1" dirty="0">
              <a:solidFill>
                <a:srgbClr val="FF0066"/>
              </a:solidFill>
              <a:latin typeface="楷体_GB2312" pitchFamily="49" charset="-122"/>
              <a:ea typeface="楷体_GB2312" pitchFamily="49" charset="-122"/>
            </a:endParaRPr>
          </a:p>
          <a:p>
            <a:pPr indent="304800">
              <a:buNone/>
            </a:pPr>
            <a:r>
              <a:rPr lang="en-US" altLang="zh-CN" sz="2000" b="1" dirty="0">
                <a:solidFill>
                  <a:srgbClr val="009900"/>
                </a:solidFill>
                <a:latin typeface="楷体_GB2312" pitchFamily="49" charset="-122"/>
                <a:ea typeface="楷体_GB2312" pitchFamily="49" charset="-122"/>
              </a:rPr>
              <a:t>Ⅲ</a:t>
            </a:r>
            <a:r>
              <a:rPr lang="zh-CN" altLang="en-US" sz="2000" b="1" dirty="0">
                <a:solidFill>
                  <a:srgbClr val="009900"/>
                </a:solidFill>
                <a:latin typeface="楷体_GB2312" pitchFamily="49" charset="-122"/>
                <a:ea typeface="楷体_GB2312" pitchFamily="49" charset="-122"/>
              </a:rPr>
              <a:t>翻边系数：</a:t>
            </a:r>
            <a:r>
              <a:rPr lang="en-US" altLang="zh-CN" sz="2000" b="1" dirty="0">
                <a:solidFill>
                  <a:srgbClr val="009900"/>
                </a:solidFill>
                <a:latin typeface="楷体_GB2312" pitchFamily="49" charset="-122"/>
                <a:ea typeface="楷体_GB2312" pitchFamily="49" charset="-122"/>
              </a:rPr>
              <a:t>K</a:t>
            </a:r>
            <a:r>
              <a:rPr lang="en-US" altLang="zh-CN" sz="2000" b="1" baseline="-25000" dirty="0">
                <a:solidFill>
                  <a:srgbClr val="009900"/>
                </a:solidFill>
                <a:latin typeface="楷体_GB2312" pitchFamily="49" charset="-122"/>
                <a:ea typeface="楷体_GB2312" pitchFamily="49" charset="-122"/>
              </a:rPr>
              <a:t>0</a:t>
            </a:r>
            <a:r>
              <a:rPr lang="zh-CN" altLang="en-US" sz="2000" b="1" dirty="0">
                <a:solidFill>
                  <a:srgbClr val="009900"/>
                </a:solidFill>
                <a:latin typeface="楷体_GB2312" pitchFamily="49" charset="-122"/>
                <a:ea typeface="楷体_GB2312" pitchFamily="49" charset="-122"/>
              </a:rPr>
              <a:t>＝</a:t>
            </a:r>
            <a:r>
              <a:rPr lang="en-US" altLang="zh-CN" sz="2000" b="1" dirty="0">
                <a:solidFill>
                  <a:srgbClr val="009900"/>
                </a:solidFill>
                <a:latin typeface="楷体_GB2312" pitchFamily="49" charset="-122"/>
                <a:ea typeface="楷体_GB2312" pitchFamily="49" charset="-122"/>
              </a:rPr>
              <a:t>d</a:t>
            </a:r>
            <a:r>
              <a:rPr lang="en-US" altLang="zh-CN" sz="2000" b="1" baseline="-25000" dirty="0">
                <a:solidFill>
                  <a:srgbClr val="009900"/>
                </a:solidFill>
                <a:latin typeface="楷体_GB2312" pitchFamily="49" charset="-122"/>
                <a:ea typeface="楷体_GB2312" pitchFamily="49" charset="-122"/>
              </a:rPr>
              <a:t>0</a:t>
            </a:r>
            <a:r>
              <a:rPr lang="en-US" altLang="zh-CN" sz="2000" b="1" dirty="0">
                <a:solidFill>
                  <a:srgbClr val="009900"/>
                </a:solidFill>
                <a:latin typeface="楷体_GB2312" pitchFamily="49" charset="-122"/>
                <a:ea typeface="楷体_GB2312" pitchFamily="49" charset="-122"/>
              </a:rPr>
              <a:t>/d  </a:t>
            </a:r>
            <a:r>
              <a:rPr lang="en-US" altLang="zh-CN" sz="2000" b="1" dirty="0">
                <a:solidFill>
                  <a:srgbClr val="000000"/>
                </a:solidFill>
                <a:latin typeface="楷体_GB2312" pitchFamily="49" charset="-122"/>
                <a:ea typeface="楷体_GB2312" pitchFamily="49" charset="-122"/>
              </a:rPr>
              <a:t>d</a:t>
            </a:r>
            <a:r>
              <a:rPr lang="en-US" altLang="zh-CN" sz="2000" b="1" baseline="-30000" dirty="0">
                <a:solidFill>
                  <a:srgbClr val="000000"/>
                </a:solidFill>
                <a:latin typeface="楷体_GB2312" pitchFamily="49" charset="-122"/>
                <a:ea typeface="楷体_GB2312" pitchFamily="49" charset="-122"/>
              </a:rPr>
              <a:t>0</a:t>
            </a:r>
            <a:r>
              <a:rPr lang="zh-CN" altLang="en-US" sz="2000" b="1" dirty="0">
                <a:solidFill>
                  <a:srgbClr val="000000"/>
                </a:solidFill>
                <a:latin typeface="楷体_GB2312" pitchFamily="49" charset="-122"/>
                <a:ea typeface="楷体_GB2312" pitchFamily="49" charset="-122"/>
              </a:rPr>
              <a:t>－翻边前孔径，</a:t>
            </a:r>
            <a:r>
              <a:rPr lang="en-US" altLang="zh-CN" sz="2000" b="1" dirty="0">
                <a:solidFill>
                  <a:srgbClr val="000000"/>
                </a:solidFill>
                <a:latin typeface="楷体_GB2312" pitchFamily="49" charset="-122"/>
                <a:ea typeface="楷体_GB2312" pitchFamily="49" charset="-122"/>
              </a:rPr>
              <a:t>d</a:t>
            </a:r>
            <a:r>
              <a:rPr lang="zh-CN" altLang="en-US" sz="2000" b="1" dirty="0">
                <a:solidFill>
                  <a:srgbClr val="000000"/>
                </a:solidFill>
                <a:latin typeface="楷体_GB2312" pitchFamily="49" charset="-122"/>
                <a:ea typeface="楷体_GB2312" pitchFamily="49" charset="-122"/>
              </a:rPr>
              <a:t>－翻边后孔径。</a:t>
            </a:r>
            <a:endParaRPr lang="zh-CN" altLang="en-US" sz="2000" b="1" dirty="0">
              <a:solidFill>
                <a:srgbClr val="000000"/>
              </a:solidFill>
              <a:latin typeface="楷体_GB2312" pitchFamily="49" charset="-122"/>
              <a:ea typeface="楷体_GB2312" pitchFamily="49" charset="-122"/>
            </a:endParaRPr>
          </a:p>
          <a:p>
            <a:pPr indent="304800">
              <a:buNone/>
            </a:pPr>
            <a:r>
              <a:rPr lang="en-US" altLang="zh-CN" sz="2000" b="1" dirty="0">
                <a:solidFill>
                  <a:srgbClr val="009900"/>
                </a:solidFill>
                <a:latin typeface="楷体_GB2312" pitchFamily="49" charset="-122"/>
                <a:ea typeface="楷体_GB2312" pitchFamily="49" charset="-122"/>
              </a:rPr>
              <a:t>Ⅳ</a:t>
            </a:r>
            <a:r>
              <a:rPr lang="zh-CN" altLang="en-US" sz="2000" b="1" dirty="0">
                <a:solidFill>
                  <a:srgbClr val="009900"/>
                </a:solidFill>
                <a:latin typeface="楷体_GB2312" pitchFamily="49" charset="-122"/>
                <a:ea typeface="楷体_GB2312" pitchFamily="49" charset="-122"/>
              </a:rPr>
              <a:t>翻边工艺措施： </a:t>
            </a:r>
            <a:r>
              <a:rPr lang="zh-CN" altLang="en-US" sz="2000" b="1" dirty="0">
                <a:latin typeface="楷体_GB2312" pitchFamily="49" charset="-122"/>
                <a:ea typeface="楷体_GB2312" pitchFamily="49" charset="-122"/>
              </a:rPr>
              <a:t>当零件所需凸缘的高度较大，一次翻边计算出的翻边系数</a:t>
            </a:r>
            <a:r>
              <a:rPr lang="en-US" altLang="zh-CN" sz="2000" b="1" i="1" dirty="0">
                <a:latin typeface="楷体_GB2312" pitchFamily="49" charset="-122"/>
                <a:ea typeface="楷体_GB2312" pitchFamily="49" charset="-122"/>
              </a:rPr>
              <a:t>K</a:t>
            </a:r>
            <a:r>
              <a:rPr lang="en-US" altLang="zh-CN" sz="2000" b="1" baseline="-30000" dirty="0">
                <a:latin typeface="楷体_GB2312" pitchFamily="49" charset="-122"/>
                <a:ea typeface="楷体_GB2312" pitchFamily="49" charset="-122"/>
              </a:rPr>
              <a:t>0</a:t>
            </a:r>
            <a:r>
              <a:rPr lang="zh-CN" altLang="en-US" sz="2000" b="1" dirty="0">
                <a:latin typeface="楷体_GB2312" pitchFamily="49" charset="-122"/>
                <a:ea typeface="楷体_GB2312" pitchFamily="49" charset="-122"/>
              </a:rPr>
              <a:t>值小于极限翻边系数时，可采用多次翻边或中间退火的办法。</a:t>
            </a:r>
            <a:endParaRPr lang="zh-CN" altLang="en-US" sz="2000" b="1" dirty="0">
              <a:latin typeface="楷体_GB2312" pitchFamily="49" charset="-122"/>
              <a:ea typeface="楷体_GB2312" pitchFamily="49" charset="-122"/>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2"/>
          <p:cNvSpPr>
            <a:spLocks noGrp="1"/>
          </p:cNvSpPr>
          <p:nvPr>
            <p:ph type="title"/>
          </p:nvPr>
        </p:nvSpPr>
        <p:spPr>
          <a:xfrm>
            <a:off x="3779838" y="188913"/>
            <a:ext cx="3586162" cy="1092200"/>
          </a:xfrm>
        </p:spPr>
        <p:txBody>
          <a:bodyPr vert="horz" wrap="square" lIns="91440" tIns="45720" rIns="91440" bIns="45720" anchor="ctr" anchorCtr="0"/>
          <a:p>
            <a:pPr algn="ctr" eaLnBrk="1" hangingPunct="1">
              <a:buNone/>
            </a:pPr>
            <a:r>
              <a:rPr lang="en-US" altLang="zh-CN" sz="4000" dirty="0">
                <a:solidFill>
                  <a:srgbClr val="FF0000"/>
                </a:solidFill>
                <a:latin typeface="楷体_GB2312" pitchFamily="49" charset="-122"/>
                <a:ea typeface="楷体_GB2312" pitchFamily="49" charset="-122"/>
              </a:rPr>
              <a:t>4.</a:t>
            </a:r>
            <a:r>
              <a:rPr lang="zh-CN" altLang="en-US" sz="4000" dirty="0">
                <a:solidFill>
                  <a:srgbClr val="FF0000"/>
                </a:solidFill>
                <a:latin typeface="楷体_GB2312" pitchFamily="49" charset="-122"/>
                <a:ea typeface="楷体_GB2312" pitchFamily="49" charset="-122"/>
              </a:rPr>
              <a:t>胀形</a:t>
            </a:r>
            <a:endParaRPr lang="zh-CN" altLang="en-US" sz="4000" dirty="0">
              <a:ea typeface="楷体_GB2312" pitchFamily="49" charset="-122"/>
            </a:endParaRPr>
          </a:p>
        </p:txBody>
      </p:sp>
      <p:sp>
        <p:nvSpPr>
          <p:cNvPr id="130051" name="Rectangle 13"/>
          <p:cNvSpPr/>
          <p:nvPr/>
        </p:nvSpPr>
        <p:spPr>
          <a:xfrm>
            <a:off x="365125" y="1419225"/>
            <a:ext cx="4999038" cy="4586288"/>
          </a:xfrm>
          <a:prstGeom prst="rect">
            <a:avLst/>
          </a:prstGeom>
          <a:noFill/>
          <a:ln w="9525">
            <a:noFill/>
          </a:ln>
        </p:spPr>
        <p:txBody>
          <a:bodyPr anchor="ctr" anchorCtr="0">
            <a:spAutoFit/>
          </a:bodyPr>
          <a:p>
            <a:pPr indent="266700">
              <a:buNone/>
            </a:pPr>
            <a:r>
              <a:rPr lang="ja-JP" altLang="en-US"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胀形是利用压力将直径较小的筒形零件或锥形零件由内向外膨胀成为直径较大的凸出曲面零件，或者在板材上形成刚性的筋条的一种塑性成形工艺方法。</a:t>
            </a:r>
            <a:endParaRPr lang="zh-CN" altLang="en-US" sz="2400" b="1" dirty="0">
              <a:latin typeface="楷体_GB2312" pitchFamily="49" charset="-122"/>
              <a:ea typeface="楷体_GB2312" pitchFamily="49" charset="-122"/>
            </a:endParaRPr>
          </a:p>
          <a:p>
            <a:pPr indent="266700">
              <a:buNone/>
            </a:pPr>
            <a:endParaRPr lang="zh-CN" altLang="en-US" sz="2400" b="1" dirty="0">
              <a:latin typeface="楷体_GB2312" pitchFamily="49" charset="-122"/>
              <a:ea typeface="楷体_GB2312" pitchFamily="49" charset="-122"/>
            </a:endParaRPr>
          </a:p>
          <a:p>
            <a:pPr indent="266700">
              <a:buChar char="•"/>
            </a:pPr>
            <a:r>
              <a:rPr lang="zh-CN" altLang="en-US" sz="2800" b="1" dirty="0">
                <a:solidFill>
                  <a:srgbClr val="FF0000"/>
                </a:solidFill>
                <a:latin typeface="楷体_GB2312" pitchFamily="49" charset="-122"/>
                <a:ea typeface="楷体_GB2312" pitchFamily="49" charset="-122"/>
              </a:rPr>
              <a:t>胀型的应用</a:t>
            </a:r>
            <a:endParaRPr lang="zh-CN" altLang="en-US" sz="2800" b="1" dirty="0">
              <a:solidFill>
                <a:srgbClr val="FF0000"/>
              </a:solidFill>
              <a:latin typeface="楷体_GB2312" pitchFamily="49" charset="-122"/>
              <a:ea typeface="楷体_GB2312" pitchFamily="49" charset="-122"/>
            </a:endParaRPr>
          </a:p>
          <a:p>
            <a:pPr indent="266700">
              <a:buNone/>
            </a:pPr>
            <a:r>
              <a:rPr lang="zh-CN" altLang="en-US" sz="2400" b="1" dirty="0">
                <a:latin typeface="楷体_GB2312" pitchFamily="49" charset="-122"/>
                <a:ea typeface="楷体_GB2312" pitchFamily="49" charset="-122"/>
              </a:rPr>
              <a:t>胀形工艺主要用于圆柱形空心毛坯的胀形。管类毛坯的胀形</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如波纹管</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也常用于平板毛坯的局部胀形</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如压制突起、凹坑、加强筋、花纹图案及标记等</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p:txBody>
      </p:sp>
      <p:sp>
        <p:nvSpPr>
          <p:cNvPr id="130052" name="Rectangle 14"/>
          <p:cNvSpPr/>
          <p:nvPr/>
        </p:nvSpPr>
        <p:spPr>
          <a:xfrm>
            <a:off x="-282575" y="2689225"/>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sp>
        <p:nvSpPr>
          <p:cNvPr id="130053" name="Rectangle 26"/>
          <p:cNvSpPr/>
          <p:nvPr/>
        </p:nvSpPr>
        <p:spPr>
          <a:xfrm>
            <a:off x="-282575" y="3830638"/>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grpSp>
        <p:nvGrpSpPr>
          <p:cNvPr id="130054" name="Group 39"/>
          <p:cNvGrpSpPr/>
          <p:nvPr/>
        </p:nvGrpSpPr>
        <p:grpSpPr>
          <a:xfrm>
            <a:off x="5940425" y="2079625"/>
            <a:ext cx="2438400" cy="3581400"/>
            <a:chOff x="3742" y="960"/>
            <a:chExt cx="1536" cy="2256"/>
          </a:xfrm>
        </p:grpSpPr>
        <p:pic>
          <p:nvPicPr>
            <p:cNvPr id="130055" name="Picture 5"/>
            <p:cNvPicPr>
              <a:picLocks noChangeAspect="1"/>
            </p:cNvPicPr>
            <p:nvPr/>
          </p:nvPicPr>
          <p:blipFill>
            <a:blip r:embed="rId1"/>
            <a:stretch>
              <a:fillRect/>
            </a:stretch>
          </p:blipFill>
          <p:spPr>
            <a:xfrm>
              <a:off x="3742" y="960"/>
              <a:ext cx="1536" cy="2256"/>
            </a:xfrm>
            <a:prstGeom prst="rect">
              <a:avLst/>
            </a:prstGeom>
            <a:solidFill>
              <a:srgbClr val="66FFFF"/>
            </a:solidFill>
            <a:ln w="9525">
              <a:noFill/>
            </a:ln>
          </p:spPr>
        </p:pic>
        <p:sp>
          <p:nvSpPr>
            <p:cNvPr id="130056" name="Rectangle 38"/>
            <p:cNvSpPr/>
            <p:nvPr/>
          </p:nvSpPr>
          <p:spPr>
            <a:xfrm>
              <a:off x="3742" y="2976"/>
              <a:ext cx="363" cy="181"/>
            </a:xfrm>
            <a:prstGeom prst="rect">
              <a:avLst/>
            </a:prstGeom>
            <a:solidFill>
              <a:srgbClr val="66FFFF"/>
            </a:solidFill>
            <a:ln w="9525">
              <a:noFill/>
            </a:ln>
          </p:spPr>
          <p:txBody>
            <a:bodyPr wrap="none" anchor="ctr" anchorCtr="0"/>
            <a:p>
              <a:pPr eaLnBrk="1" hangingPunct="1"/>
              <a:endParaRPr lang="zh-CN" altLang="en-US" dirty="0">
                <a:latin typeface="Arial" panose="020B0604020202020204" pitchFamily="34" charset="0"/>
              </a:endParaRPr>
            </a:p>
          </p:txBody>
        </p:sp>
      </p:gr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2"/>
          <p:cNvSpPr/>
          <p:nvPr/>
        </p:nvSpPr>
        <p:spPr>
          <a:xfrm>
            <a:off x="179388" y="1916113"/>
            <a:ext cx="8610600" cy="4537075"/>
          </a:xfrm>
          <a:prstGeom prst="rect">
            <a:avLst/>
          </a:prstGeom>
          <a:noFill/>
          <a:ln w="9525">
            <a:noFill/>
          </a:ln>
        </p:spPr>
        <p:txBody>
          <a:bodyPr>
            <a:spAutoFit/>
          </a:bodyPr>
          <a:p>
            <a:pPr eaLnBrk="1" hangingPunct="1">
              <a:lnSpc>
                <a:spcPct val="130000"/>
              </a:lnSpc>
            </a:pPr>
            <a:r>
              <a:rPr lang="en-US" altLang="zh-CN" sz="2800" b="1" dirty="0">
                <a:latin typeface="楷体_GB2312" pitchFamily="49" charset="-122"/>
                <a:ea typeface="楷体_GB2312" pitchFamily="49" charset="-122"/>
              </a:rPr>
              <a:t>① </a:t>
            </a:r>
            <a:r>
              <a:rPr lang="zh-CN" altLang="en-US" sz="2800" b="1" dirty="0">
                <a:latin typeface="楷体_GB2312" pitchFamily="49" charset="-122"/>
                <a:ea typeface="楷体_GB2312" pitchFamily="49" charset="-122"/>
              </a:rPr>
              <a:t>局部塑性变形；材料不向变形区外转移</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也不从变形区外进入变形区内。</a:t>
            </a:r>
            <a:endParaRPr lang="zh-CN" altLang="en-US" sz="2800" b="1" dirty="0">
              <a:latin typeface="楷体_GB2312" pitchFamily="49" charset="-122"/>
              <a:ea typeface="楷体_GB2312" pitchFamily="49" charset="-122"/>
            </a:endParaRPr>
          </a:p>
          <a:p>
            <a:pPr eaLnBrk="1" hangingPunct="1">
              <a:lnSpc>
                <a:spcPct val="130000"/>
              </a:lnSpc>
            </a:pPr>
            <a:r>
              <a:rPr lang="zh-CN" altLang="en-US" sz="2800" b="1" dirty="0">
                <a:latin typeface="楷体_GB2312" pitchFamily="49" charset="-122"/>
                <a:ea typeface="楷体_GB2312" pitchFamily="49" charset="-122"/>
              </a:rPr>
              <a:t>② 零件变形区内的材料</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处于两相受拉的应力状态</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膨胀时零件一般要变薄。</a:t>
            </a:r>
            <a:endParaRPr lang="zh-CN" altLang="en-US" sz="2800" b="1" dirty="0">
              <a:latin typeface="楷体_GB2312" pitchFamily="49" charset="-122"/>
              <a:ea typeface="楷体_GB2312" pitchFamily="49" charset="-122"/>
            </a:endParaRPr>
          </a:p>
          <a:p>
            <a:pPr eaLnBrk="1" hangingPunct="1">
              <a:lnSpc>
                <a:spcPct val="130000"/>
              </a:lnSpc>
            </a:pPr>
            <a:r>
              <a:rPr lang="zh-CN" altLang="en-US" sz="2800" b="1" dirty="0">
                <a:latin typeface="楷体_GB2312" pitchFamily="49" charset="-122"/>
                <a:ea typeface="楷体_GB2312" pitchFamily="49" charset="-122"/>
              </a:rPr>
              <a:t>③ 胀形极限变形程度</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主要取决于材料塑性</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塑性越好</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极限变形程度越大。</a:t>
            </a:r>
            <a:endParaRPr lang="zh-CN" altLang="en-US" sz="2800" b="1" dirty="0">
              <a:latin typeface="楷体_GB2312" pitchFamily="49" charset="-122"/>
              <a:ea typeface="楷体_GB2312" pitchFamily="49" charset="-122"/>
            </a:endParaRPr>
          </a:p>
          <a:p>
            <a:pPr eaLnBrk="1" hangingPunct="1">
              <a:lnSpc>
                <a:spcPct val="130000"/>
              </a:lnSpc>
            </a:pPr>
            <a:r>
              <a:rPr lang="zh-CN" altLang="en-US" sz="2800" b="1" dirty="0">
                <a:latin typeface="楷体_GB2312" pitchFamily="49" charset="-122"/>
                <a:ea typeface="楷体_GB2312" pitchFamily="49" charset="-122"/>
              </a:rPr>
              <a:t>④ 胀形零件表面光洁</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质量较好；零件回弹现象小。</a:t>
            </a:r>
            <a:endParaRPr lang="zh-CN" altLang="en-US" sz="2800" b="1" dirty="0">
              <a:latin typeface="楷体_GB2312" pitchFamily="49" charset="-122"/>
              <a:ea typeface="楷体_GB2312" pitchFamily="49" charset="-122"/>
            </a:endParaRPr>
          </a:p>
          <a:p>
            <a:pPr eaLnBrk="1" hangingPunct="1">
              <a:lnSpc>
                <a:spcPct val="130000"/>
              </a:lnSpc>
            </a:pPr>
            <a:endParaRPr lang="en-US" altLang="zh-CN" sz="2800" b="1" dirty="0">
              <a:solidFill>
                <a:schemeClr val="bg1"/>
              </a:solidFill>
              <a:latin typeface="楷体_GB2312" pitchFamily="49" charset="-122"/>
              <a:ea typeface="楷体_GB2312" pitchFamily="49" charset="-122"/>
            </a:endParaRPr>
          </a:p>
        </p:txBody>
      </p:sp>
      <p:sp>
        <p:nvSpPr>
          <p:cNvPr id="131075" name="Rectangle 7"/>
          <p:cNvSpPr>
            <a:spLocks noGrp="1"/>
          </p:cNvSpPr>
          <p:nvPr>
            <p:ph type="title"/>
          </p:nvPr>
        </p:nvSpPr>
        <p:spPr>
          <a:xfrm>
            <a:off x="179388" y="1052513"/>
            <a:ext cx="8229600" cy="1143000"/>
          </a:xfrm>
        </p:spPr>
        <p:txBody>
          <a:bodyPr vert="horz" wrap="square" lIns="91440" tIns="45720" rIns="91440" bIns="45720" anchor="ctr" anchorCtr="0"/>
          <a:p>
            <a:pPr eaLnBrk="1" hangingPunct="1"/>
            <a:r>
              <a:rPr lang="en-US" altLang="zh-CN" b="0" dirty="0">
                <a:latin typeface="Arial" panose="020B0604020202020204" pitchFamily="34" charset="0"/>
              </a:rPr>
              <a:t>•</a:t>
            </a:r>
            <a:r>
              <a:rPr lang="en-US" altLang="zh-CN" b="0" dirty="0"/>
              <a:t> </a:t>
            </a:r>
            <a:r>
              <a:rPr lang="zh-CN" altLang="en-US" dirty="0">
                <a:solidFill>
                  <a:srgbClr val="FF0000"/>
                </a:solidFill>
                <a:latin typeface="Times New Roman" panose="02020603050405020304" pitchFamily="18" charset="0"/>
                <a:ea typeface="楷体_GB2312" pitchFamily="49" charset="-122"/>
              </a:rPr>
              <a:t>胀形工艺特点</a:t>
            </a:r>
            <a:endParaRPr lang="zh-CN" altLang="en-US" dirty="0">
              <a:solidFill>
                <a:srgbClr val="FF0000"/>
              </a:solidFill>
              <a:latin typeface="Times New Roman" panose="02020603050405020304" pitchFamily="18" charset="0"/>
              <a:ea typeface="楷体_GB2312" pitchFamily="49" charset="-122"/>
            </a:endParaRPr>
          </a:p>
        </p:txBody>
      </p:sp>
      <p:sp>
        <p:nvSpPr>
          <p:cNvPr id="5" name="Rectangle 2"/>
          <p:cNvSpPr txBox="1">
            <a:spLocks noChangeArrowheads="1"/>
          </p:cNvSpPr>
          <p:nvPr/>
        </p:nvSpPr>
        <p:spPr bwMode="auto">
          <a:xfrm>
            <a:off x="3571875" y="0"/>
            <a:ext cx="3586163" cy="1092200"/>
          </a:xfrm>
          <a:prstGeom prst="rect">
            <a:avLst/>
          </a:prstGeom>
          <a:noFill/>
          <a:ln w="9525">
            <a:noFill/>
            <a:miter lim="800000"/>
          </a:ln>
        </p:spPr>
        <p:txBody>
          <a:bodyPr anchor="ctr"/>
          <a:lstStyle/>
          <a:p>
            <a:pPr marR="0" algn="ctr" defTabSz="914400" eaLnBrk="1" hangingPunct="1">
              <a:buClrTx/>
              <a:buSzTx/>
              <a:buFontTx/>
              <a:buNone/>
              <a:defRPr/>
            </a:pPr>
            <a:r>
              <a:rPr kumimoji="0" lang="en-US" altLang="zh-CN" sz="4000" b="1" kern="1200" cap="none" spc="0" normalizeH="0" baseline="0" noProof="0" dirty="0">
                <a:solidFill>
                  <a:srgbClr val="FF0000"/>
                </a:solidFill>
                <a:latin typeface="楷体_GB2312" pitchFamily="49" charset="-122"/>
                <a:ea typeface="楷体_GB2312" pitchFamily="49" charset="-122"/>
                <a:cs typeface="Times New Roman" panose="02020603050405020304" pitchFamily="18" charset="0"/>
              </a:rPr>
              <a:t>4.</a:t>
            </a:r>
            <a:r>
              <a:rPr kumimoji="0" lang="zh-CN" altLang="en-US" sz="4000" b="1" kern="1200" cap="none" spc="0" normalizeH="0" baseline="0" noProof="0" dirty="0">
                <a:solidFill>
                  <a:srgbClr val="FF0000"/>
                </a:solidFill>
                <a:latin typeface="楷体_GB2312" pitchFamily="49" charset="-122"/>
                <a:ea typeface="楷体_GB2312" pitchFamily="49" charset="-122"/>
                <a:cs typeface="Times New Roman" panose="02020603050405020304" pitchFamily="18" charset="0"/>
              </a:rPr>
              <a:t>胀形</a:t>
            </a:r>
            <a:endParaRPr kumimoji="0" lang="zh-CN" altLang="en-US" sz="4000" b="1" kern="1200" cap="none" spc="0" normalizeH="0" baseline="0" noProof="0" dirty="0">
              <a:solidFill>
                <a:schemeClr val="tx2"/>
              </a:solidFill>
              <a:latin typeface="+mj-lt"/>
              <a:ea typeface="楷体_GB2312" pitchFamily="49" charset="-122"/>
              <a:cs typeface="+mj-cs"/>
            </a:endParaRPr>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标题 1"/>
          <p:cNvSpPr>
            <a:spLocks noGrp="1"/>
          </p:cNvSpPr>
          <p:nvPr>
            <p:ph type="title"/>
          </p:nvPr>
        </p:nvSpPr>
        <p:spPr/>
        <p:txBody>
          <a:bodyPr vert="horz" wrap="square" lIns="91440" tIns="45720" rIns="91440" bIns="45720" anchor="ctr" anchorCtr="0"/>
          <a:p>
            <a:r>
              <a:rPr lang="zh-CN" altLang="en-US" dirty="0"/>
              <a:t>上节回顾</a:t>
            </a:r>
            <a:endParaRPr lang="zh-CN" altLang="en-US" dirty="0"/>
          </a:p>
        </p:txBody>
      </p:sp>
      <p:sp>
        <p:nvSpPr>
          <p:cNvPr id="112643" name="内容占位符 2"/>
          <p:cNvSpPr>
            <a:spLocks noGrp="1"/>
          </p:cNvSpPr>
          <p:nvPr>
            <p:ph idx="1"/>
          </p:nvPr>
        </p:nvSpPr>
        <p:spPr>
          <a:xfrm>
            <a:off x="428625" y="1285875"/>
            <a:ext cx="8153400" cy="5072063"/>
          </a:xfrm>
        </p:spPr>
        <p:txBody>
          <a:bodyPr vert="horz" wrap="square" lIns="91440" tIns="45720" rIns="91440" bIns="45720" anchor="t" anchorCtr="0"/>
          <a:p>
            <a:pPr marL="342900" lvl="2" indent="-342900"/>
            <a:r>
              <a:rPr lang="zh-CN" altLang="en-US" sz="2800" b="1" dirty="0">
                <a:solidFill>
                  <a:srgbClr val="CC3300"/>
                </a:solidFill>
                <a:latin typeface="楷体_GB2312" pitchFamily="49" charset="-122"/>
                <a:ea typeface="楷体_GB2312" pitchFamily="49" charset="-122"/>
              </a:rPr>
              <a:t>板料冲压</a:t>
            </a:r>
            <a:r>
              <a:rPr lang="en-US" altLang="zh-CN" sz="2800" b="1" dirty="0">
                <a:solidFill>
                  <a:srgbClr val="CC3300"/>
                </a:solidFill>
                <a:latin typeface="楷体_GB2312" pitchFamily="49" charset="-122"/>
                <a:ea typeface="楷体_GB2312" pitchFamily="49" charset="-122"/>
              </a:rPr>
              <a:t>——</a:t>
            </a:r>
            <a:r>
              <a:rPr lang="zh-CN" altLang="en-US" sz="2800" b="1" dirty="0">
                <a:solidFill>
                  <a:srgbClr val="CC3300"/>
                </a:solidFill>
                <a:latin typeface="楷体_GB2312" pitchFamily="49" charset="-122"/>
                <a:ea typeface="楷体_GB2312" pitchFamily="49" charset="-122"/>
              </a:rPr>
              <a:t>分离工序、变形工序</a:t>
            </a:r>
            <a:endParaRPr lang="en-US" altLang="zh-CN" sz="2800" b="1" dirty="0">
              <a:solidFill>
                <a:srgbClr val="CC3300"/>
              </a:solidFill>
              <a:latin typeface="楷体_GB2312" pitchFamily="49" charset="-122"/>
              <a:ea typeface="楷体_GB2312" pitchFamily="49" charset="-122"/>
            </a:endParaRPr>
          </a:p>
          <a:p>
            <a:pPr marL="342900" lvl="2" indent="-342900"/>
            <a:r>
              <a:rPr lang="zh-CN" altLang="en-US" sz="2800" b="1" dirty="0">
                <a:solidFill>
                  <a:srgbClr val="CC3300"/>
                </a:solidFill>
                <a:latin typeface="楷体_GB2312" pitchFamily="49" charset="-122"/>
                <a:ea typeface="楷体_GB2312" pitchFamily="49" charset="-122"/>
              </a:rPr>
              <a:t>分离工序</a:t>
            </a:r>
            <a:r>
              <a:rPr lang="en-US" altLang="zh-CN" sz="2800" b="1" dirty="0">
                <a:solidFill>
                  <a:srgbClr val="CC3300"/>
                </a:solidFill>
                <a:latin typeface="楷体_GB2312" pitchFamily="49" charset="-122"/>
                <a:ea typeface="楷体_GB2312" pitchFamily="49" charset="-122"/>
              </a:rPr>
              <a:t>——</a:t>
            </a:r>
            <a:r>
              <a:rPr lang="zh-CN" altLang="en-US" sz="2800" b="1" dirty="0">
                <a:solidFill>
                  <a:srgbClr val="CC3300"/>
                </a:solidFill>
                <a:latin typeface="楷体_GB2312" pitchFamily="49" charset="-122"/>
                <a:ea typeface="楷体_GB2312" pitchFamily="49" charset="-122"/>
              </a:rPr>
              <a:t>冲裁</a:t>
            </a:r>
            <a:r>
              <a:rPr lang="zh-CN" altLang="en-US" sz="2800" b="1" dirty="0">
                <a:latin typeface="楷体_GB2312" pitchFamily="49" charset="-122"/>
                <a:ea typeface="楷体_GB2312" pitchFamily="49" charset="-122"/>
              </a:rPr>
              <a:t>（落料和冲孔）：利用冲模将板料以封闭的轮廓与坯料分离的一种冲压方法。</a:t>
            </a:r>
            <a:endParaRPr lang="zh-CN" altLang="en-US" sz="2800" b="1" dirty="0">
              <a:latin typeface="楷体_GB2312" pitchFamily="49" charset="-122"/>
              <a:ea typeface="楷体_GB2312" pitchFamily="49" charset="-122"/>
            </a:endParaRPr>
          </a:p>
          <a:p>
            <a:endParaRPr lang="zh-CN" altLang="en-US" dirty="0"/>
          </a:p>
        </p:txBody>
      </p:sp>
      <p:pic>
        <p:nvPicPr>
          <p:cNvPr id="112644" name="Picture 2" descr="https://ss1.bdstatic.com/70cFuXSh_Q1YnxGkpoWK1HF6hhy/it/u=1367730022,3175019255&amp;fm=26&amp;gp=0.jpg"/>
          <p:cNvPicPr>
            <a:picLocks noChangeAspect="1"/>
          </p:cNvPicPr>
          <p:nvPr/>
        </p:nvPicPr>
        <p:blipFill>
          <a:blip r:embed="rId1"/>
          <a:stretch>
            <a:fillRect/>
          </a:stretch>
        </p:blipFill>
        <p:spPr>
          <a:xfrm>
            <a:off x="1857375" y="2786063"/>
            <a:ext cx="5429250" cy="4071937"/>
          </a:xfrm>
          <a:prstGeom prst="rect">
            <a:avLst/>
          </a:prstGeom>
          <a:noFill/>
          <a:ln w="9525">
            <a:noFill/>
          </a:ln>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2"/>
          <p:cNvSpPr>
            <a:spLocks noGrp="1"/>
          </p:cNvSpPr>
          <p:nvPr>
            <p:ph type="title"/>
          </p:nvPr>
        </p:nvSpPr>
        <p:spPr/>
        <p:txBody>
          <a:bodyPr vert="horz" wrap="square" lIns="91440" tIns="45720" rIns="91440" bIns="45720" anchor="ctr" anchorCtr="0"/>
          <a:p>
            <a:pPr eaLnBrk="1" hangingPunct="1"/>
            <a:r>
              <a:rPr lang="zh-CN" altLang="en-US" dirty="0">
                <a:latin typeface="楷体_GB2312" pitchFamily="49" charset="-122"/>
                <a:ea typeface="楷体_GB2312" pitchFamily="49" charset="-122"/>
              </a:rPr>
              <a:t>第四节 冲压件的结构工艺性</a:t>
            </a:r>
            <a:endParaRPr lang="zh-CN" altLang="en-US" dirty="0">
              <a:latin typeface="楷体_GB2312" pitchFamily="49" charset="-122"/>
              <a:ea typeface="楷体_GB2312" pitchFamily="49" charset="-122"/>
            </a:endParaRPr>
          </a:p>
        </p:txBody>
      </p:sp>
      <p:sp>
        <p:nvSpPr>
          <p:cNvPr id="132099" name="Rectangle 3"/>
          <p:cNvSpPr>
            <a:spLocks noGrp="1"/>
          </p:cNvSpPr>
          <p:nvPr>
            <p:ph type="body" sz="half" idx="1"/>
          </p:nvPr>
        </p:nvSpPr>
        <p:spPr>
          <a:xfrm>
            <a:off x="228600" y="1447800"/>
            <a:ext cx="8664575" cy="1189038"/>
          </a:xfrm>
        </p:spPr>
        <p:txBody>
          <a:bodyPr vert="horz" wrap="square" lIns="91440" tIns="45720" rIns="91440" bIns="45720" anchor="t" anchorCtr="0"/>
          <a:p>
            <a:pPr eaLnBrk="1" hangingPunct="1">
              <a:lnSpc>
                <a:spcPct val="90000"/>
              </a:lnSpc>
              <a:buClrTx/>
              <a:buSzTx/>
              <a:buFontTx/>
            </a:pPr>
            <a:r>
              <a:rPr lang="zh-CN" altLang="en-US" sz="2400" b="1" dirty="0">
                <a:latin typeface="华文楷体" panose="02010600040101010101" pitchFamily="2" charset="-122"/>
                <a:ea typeface="华文楷体" panose="02010600040101010101" pitchFamily="2" charset="-122"/>
              </a:rPr>
              <a:t>冲压件的设计不仅应保证具有良好的使用性能，而且也应具有良好的工艺性能，以</a:t>
            </a:r>
            <a:r>
              <a:rPr lang="zh-CN" altLang="en-US" sz="2400" b="1" dirty="0">
                <a:solidFill>
                  <a:srgbClr val="FF0000"/>
                </a:solidFill>
                <a:latin typeface="华文楷体" panose="02010600040101010101" pitchFamily="2" charset="-122"/>
                <a:ea typeface="华文楷体" panose="02010600040101010101" pitchFamily="2" charset="-122"/>
              </a:rPr>
              <a:t>减少材料的消耗</a:t>
            </a:r>
            <a:r>
              <a:rPr lang="zh-CN" altLang="en-US" sz="2400" b="1" dirty="0">
                <a:latin typeface="华文楷体" panose="02010600040101010101" pitchFamily="2" charset="-122"/>
                <a:ea typeface="华文楷体" panose="02010600040101010101" pitchFamily="2" charset="-122"/>
              </a:rPr>
              <a:t>、</a:t>
            </a:r>
            <a:r>
              <a:rPr lang="zh-CN" altLang="en-US" sz="2400" b="1" dirty="0">
                <a:solidFill>
                  <a:srgbClr val="FF0000"/>
                </a:solidFill>
                <a:latin typeface="华文楷体" panose="02010600040101010101" pitchFamily="2" charset="-122"/>
                <a:ea typeface="华文楷体" panose="02010600040101010101" pitchFamily="2" charset="-122"/>
              </a:rPr>
              <a:t>延长模具寿命</a:t>
            </a:r>
            <a:r>
              <a:rPr lang="zh-CN" altLang="en-US" sz="2400" b="1" dirty="0">
                <a:latin typeface="华文楷体" panose="02010600040101010101" pitchFamily="2" charset="-122"/>
                <a:ea typeface="华文楷体" panose="02010600040101010101" pitchFamily="2" charset="-122"/>
              </a:rPr>
              <a:t>、</a:t>
            </a:r>
            <a:r>
              <a:rPr lang="zh-CN" altLang="en-US" sz="2400" b="1" dirty="0">
                <a:solidFill>
                  <a:srgbClr val="FF0000"/>
                </a:solidFill>
                <a:latin typeface="华文楷体" panose="02010600040101010101" pitchFamily="2" charset="-122"/>
                <a:ea typeface="华文楷体" panose="02010600040101010101" pitchFamily="2" charset="-122"/>
              </a:rPr>
              <a:t>提高生产率</a:t>
            </a:r>
            <a:r>
              <a:rPr lang="zh-CN" altLang="en-US" sz="2400" b="1" dirty="0">
                <a:latin typeface="华文楷体" panose="02010600040101010101" pitchFamily="2" charset="-122"/>
                <a:ea typeface="华文楷体" panose="02010600040101010101" pitchFamily="2" charset="-122"/>
              </a:rPr>
              <a:t>、</a:t>
            </a:r>
            <a:r>
              <a:rPr lang="zh-CN" altLang="en-US" sz="2400" b="1" dirty="0">
                <a:solidFill>
                  <a:srgbClr val="FF0000"/>
                </a:solidFill>
                <a:latin typeface="华文楷体" panose="02010600040101010101" pitchFamily="2" charset="-122"/>
                <a:ea typeface="华文楷体" panose="02010600040101010101" pitchFamily="2" charset="-122"/>
              </a:rPr>
              <a:t>降低成本及保证冲压件质量</a:t>
            </a:r>
            <a:r>
              <a:rPr lang="zh-CN" altLang="en-US" sz="2400" b="1" dirty="0">
                <a:latin typeface="华文楷体" panose="02010600040101010101" pitchFamily="2" charset="-122"/>
                <a:ea typeface="华文楷体" panose="02010600040101010101" pitchFamily="2" charset="-122"/>
              </a:rPr>
              <a:t>等。影响冲压件工艺性的</a:t>
            </a:r>
            <a:r>
              <a:rPr lang="zh-CN" altLang="en-US" sz="2400" b="1" dirty="0">
                <a:solidFill>
                  <a:srgbClr val="FF0000"/>
                </a:solidFill>
                <a:latin typeface="华文楷体" panose="02010600040101010101" pitchFamily="2" charset="-122"/>
                <a:ea typeface="华文楷体" panose="02010600040101010101" pitchFamily="2" charset="-122"/>
              </a:rPr>
              <a:t>主要因素有：</a:t>
            </a:r>
            <a:r>
              <a:rPr lang="zh-CN" altLang="en-US" sz="2400" b="1" dirty="0">
                <a:solidFill>
                  <a:srgbClr val="0000FF"/>
                </a:solidFill>
                <a:latin typeface="华文楷体" panose="02010600040101010101" pitchFamily="2" charset="-122"/>
                <a:ea typeface="华文楷体" panose="02010600040101010101" pitchFamily="2" charset="-122"/>
              </a:rPr>
              <a:t>冲压件的形状、尺寸、精度及材料等。</a:t>
            </a:r>
            <a:endParaRPr lang="zh-CN" altLang="en-US" sz="2400" b="1" dirty="0">
              <a:solidFill>
                <a:srgbClr val="0000FF"/>
              </a:solidFill>
              <a:latin typeface="华文楷体" panose="02010600040101010101" pitchFamily="2" charset="-122"/>
              <a:ea typeface="华文楷体" panose="02010600040101010101" pitchFamily="2" charset="-122"/>
            </a:endParaRPr>
          </a:p>
        </p:txBody>
      </p:sp>
      <p:sp>
        <p:nvSpPr>
          <p:cNvPr id="132100" name="Rectangle 6"/>
          <p:cNvSpPr/>
          <p:nvPr/>
        </p:nvSpPr>
        <p:spPr>
          <a:xfrm>
            <a:off x="214313" y="3143250"/>
            <a:ext cx="3786187" cy="3046095"/>
          </a:xfrm>
          <a:prstGeom prst="rect">
            <a:avLst/>
          </a:prstGeom>
          <a:noFill/>
          <a:ln w="9525">
            <a:noFill/>
          </a:ln>
        </p:spPr>
        <p:txBody>
          <a:bodyPr>
            <a:spAutoFit/>
          </a:bodyPr>
          <a:p>
            <a:pPr eaLnBrk="1" hangingPunct="1"/>
            <a:r>
              <a:rPr lang="en-US" altLang="zh-CN" sz="2400" b="1" dirty="0">
                <a:latin typeface="华文楷体" panose="02010600040101010101" pitchFamily="2" charset="-122"/>
                <a:ea typeface="华文楷体" panose="02010600040101010101" pitchFamily="2" charset="-122"/>
                <a:cs typeface="华文楷体" panose="02010600040101010101" pitchFamily="2" charset="-122"/>
              </a:rPr>
              <a:t>1</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．对落料件和</a:t>
            </a:r>
            <a:r>
              <a:rPr lang="zh-CN" altLang="en-US" sz="2400" b="1" dirty="0">
                <a:solidFill>
                  <a:schemeClr val="tx1"/>
                </a:solidFill>
                <a:latin typeface="华文楷体" panose="02010600040101010101" pitchFamily="2" charset="-122"/>
                <a:ea typeface="华文楷体" panose="02010600040101010101" pitchFamily="2" charset="-122"/>
                <a:cs typeface="华文楷体" panose="02010600040101010101" pitchFamily="2" charset="-122"/>
              </a:rPr>
              <a:t>冲孔件的要求</a:t>
            </a:r>
            <a:r>
              <a:rPr lang="en-US" altLang="zh-CN" sz="2400" b="1" dirty="0">
                <a:solidFill>
                  <a:schemeClr val="tx1"/>
                </a:solidFill>
                <a:latin typeface="华文楷体" panose="02010600040101010101" pitchFamily="2" charset="-122"/>
                <a:ea typeface="华文楷体" panose="02010600040101010101" pitchFamily="2" charset="-122"/>
                <a:cs typeface="华文楷体" panose="02010600040101010101" pitchFamily="2" charset="-122"/>
              </a:rPr>
              <a:t>:</a:t>
            </a:r>
            <a:endParaRPr lang="en-US" altLang="zh-CN" sz="2400" b="1" dirty="0">
              <a:solidFill>
                <a:schemeClr val="tx1"/>
              </a:solidFill>
              <a:latin typeface="华文楷体" panose="02010600040101010101" pitchFamily="2" charset="-122"/>
              <a:ea typeface="华文楷体" panose="02010600040101010101" pitchFamily="2" charset="-122"/>
              <a:cs typeface="华文楷体" panose="02010600040101010101" pitchFamily="2" charset="-122"/>
            </a:endParaRPr>
          </a:p>
          <a:p>
            <a:pPr eaLnBrk="1" hangingPunct="1"/>
            <a:r>
              <a:rPr lang="en-US" altLang="zh-CN" sz="2000" b="1" dirty="0">
                <a:latin typeface="华文楷体" panose="02010600040101010101" pitchFamily="2" charset="-122"/>
                <a:ea typeface="华文楷体" panose="02010600040101010101" pitchFamily="2" charset="-122"/>
                <a:cs typeface="华文楷体" panose="02010600040101010101" pitchFamily="2" charset="-122"/>
              </a:rPr>
              <a:t>   </a:t>
            </a:r>
            <a:r>
              <a:rPr lang="en-US" altLang="zh-CN" sz="2400" b="1" dirty="0">
                <a:latin typeface="华文楷体" panose="02010600040101010101" pitchFamily="2" charset="-122"/>
                <a:ea typeface="华文楷体" panose="02010600040101010101" pitchFamily="2" charset="-122"/>
                <a:cs typeface="华文楷体" panose="02010600040101010101" pitchFamily="2" charset="-122"/>
              </a:rPr>
              <a:t>(1)</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落料件的外形和冲孔件的孔形</a:t>
            </a:r>
            <a:r>
              <a:rPr lang="zh-CN" altLang="en-US" sz="2400" b="1" dirty="0">
                <a:solidFill>
                  <a:srgbClr val="009900"/>
                </a:solidFill>
                <a:latin typeface="华文楷体" panose="02010600040101010101" pitchFamily="2" charset="-122"/>
                <a:ea typeface="华文楷体" panose="02010600040101010101" pitchFamily="2" charset="-122"/>
                <a:cs typeface="华文楷体" panose="02010600040101010101" pitchFamily="2" charset="-122"/>
              </a:rPr>
              <a:t>应力求简单、对称。尽可能采用圆形或矩形等规则形状，</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应避免长槽或细长悬臂结构，否则使模具制造困难</a:t>
            </a:r>
            <a:r>
              <a:rPr lang="en-US" altLang="zh-CN" sz="2400" b="1" dirty="0">
                <a:latin typeface="华文楷体" panose="02010600040101010101" pitchFamily="2" charset="-122"/>
                <a:ea typeface="华文楷体" panose="02010600040101010101" pitchFamily="2" charset="-122"/>
                <a:cs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降低模具寿命。</a:t>
            </a: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endParaRPr>
          </a:p>
        </p:txBody>
      </p:sp>
      <p:pic>
        <p:nvPicPr>
          <p:cNvPr id="132101" name="Picture 11"/>
          <p:cNvPicPr>
            <a:picLocks noChangeAspect="1"/>
          </p:cNvPicPr>
          <p:nvPr/>
        </p:nvPicPr>
        <p:blipFill>
          <a:blip r:embed="rId1"/>
          <a:stretch>
            <a:fillRect/>
          </a:stretch>
        </p:blipFill>
        <p:spPr>
          <a:xfrm>
            <a:off x="4071938" y="3000375"/>
            <a:ext cx="4867275" cy="3571875"/>
          </a:xfrm>
          <a:prstGeom prst="rect">
            <a:avLst/>
          </a:prstGeom>
          <a:noFill/>
          <a:ln w="9525">
            <a:noFill/>
          </a:ln>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9"/>
          <p:cNvSpPr>
            <a:spLocks noGrp="1"/>
          </p:cNvSpPr>
          <p:nvPr>
            <p:ph type="title"/>
          </p:nvPr>
        </p:nvSpPr>
        <p:spPr>
          <a:xfrm>
            <a:off x="3095625" y="90488"/>
            <a:ext cx="4860925" cy="1190625"/>
          </a:xfrm>
        </p:spPr>
        <p:txBody>
          <a:bodyPr vert="horz" wrap="square" lIns="91440" tIns="45720" rIns="91440" bIns="45720" anchor="ctr" anchorCtr="0"/>
          <a:p>
            <a:pPr eaLnBrk="1" hangingPunct="1"/>
            <a:r>
              <a:rPr lang="zh-CN" altLang="en-US" sz="4000" dirty="0">
                <a:ea typeface="楷体_GB2312" pitchFamily="49" charset="-122"/>
              </a:rPr>
              <a:t>冲压件的结构工艺性</a:t>
            </a:r>
            <a:endParaRPr lang="zh-CN" altLang="en-US" sz="4000" dirty="0">
              <a:ea typeface="楷体_GB2312" pitchFamily="49" charset="-122"/>
            </a:endParaRPr>
          </a:p>
        </p:txBody>
      </p:sp>
      <p:pic>
        <p:nvPicPr>
          <p:cNvPr id="133123" name="Picture 5"/>
          <p:cNvPicPr>
            <a:picLocks noChangeAspect="1"/>
          </p:cNvPicPr>
          <p:nvPr>
            <p:ph sz="half" idx="1"/>
          </p:nvPr>
        </p:nvPicPr>
        <p:blipFill>
          <a:blip r:embed="rId1"/>
          <a:srcRect/>
          <a:stretch>
            <a:fillRect/>
          </a:stretch>
        </p:blipFill>
        <p:spPr>
          <a:xfrm>
            <a:off x="1519238" y="2643188"/>
            <a:ext cx="5553075" cy="4143375"/>
          </a:xfrm>
          <a:solidFill>
            <a:srgbClr val="CCFFFF">
              <a:alpha val="100000"/>
            </a:srgbClr>
          </a:solidFill>
        </p:spPr>
      </p:pic>
      <p:graphicFrame>
        <p:nvGraphicFramePr>
          <p:cNvPr id="780311" name="Group 23"/>
          <p:cNvGraphicFramePr>
            <a:graphicFrameLocks noGrp="1"/>
          </p:cNvGraphicFramePr>
          <p:nvPr/>
        </p:nvGraphicFramePr>
        <p:xfrm>
          <a:off x="466725" y="1268413"/>
          <a:ext cx="7993063" cy="1511300"/>
        </p:xfrm>
        <a:graphic>
          <a:graphicData uri="http://schemas.openxmlformats.org/drawingml/2006/table">
            <a:tbl>
              <a:tblPr/>
              <a:tblGrid>
                <a:gridCol w="7993063"/>
              </a:tblGrid>
              <a:tr h="15113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Ø"/>
                      </a:pPr>
                      <a:r>
                        <a:rPr kumimoji="0" lang="zh-CN" altLang="en-US" sz="2400" b="1" i="0" u="none" strike="noStrike" cap="none" normalizeH="0" baseline="0" smtClean="0">
                          <a:ln>
                            <a:noFill/>
                          </a:ln>
                          <a:solidFill>
                            <a:schemeClr val="tx1"/>
                          </a:solidFill>
                          <a:effectLst/>
                          <a:latin typeface="楷体_GB2312" pitchFamily="49" charset="-122"/>
                          <a:ea typeface="楷体_GB2312" pitchFamily="49" charset="-122"/>
                        </a:rPr>
                        <a:t>对落料件和冲孔件的要求</a:t>
                      </a: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a:t>
                      </a:r>
                      <a:endParaRPr kumimoji="0" lang="en-US" altLang="zh-CN" sz="2400" b="1" i="0" u="none" strike="noStrike" cap="none" normalizeH="0" baseline="0" smtClean="0">
                        <a:ln>
                          <a:noFill/>
                        </a:ln>
                        <a:solidFill>
                          <a:srgbClr val="FF0000"/>
                        </a:solidFill>
                        <a:effectLst/>
                        <a:latin typeface="楷体_GB2312" pitchFamily="49" charset="-122"/>
                        <a:ea typeface="楷体_GB2312" pitchFamily="49" charset="-122"/>
                      </a:endParaRPr>
                    </a:p>
                    <a:p>
                      <a:pPr marL="0" marR="0" lvl="0" indent="0" algn="just" defTabSz="914400" rtl="0" eaLnBrk="1" fontAlgn="base" latinLnBrk="0" hangingPunct="1">
                        <a:lnSpc>
                          <a:spcPct val="100000"/>
                        </a:lnSpc>
                        <a:spcBef>
                          <a:spcPct val="0"/>
                        </a:spcBef>
                        <a:spcAft>
                          <a:spcPct val="0"/>
                        </a:spcAft>
                        <a:buClrTx/>
                        <a:buSzTx/>
                        <a:buFontTx/>
                        <a:buNone/>
                      </a:pPr>
                      <a:r>
                        <a:rPr kumimoji="0" lang="ja-JP" altLang="en-US" sz="2000" b="1" i="0" u="none" strike="noStrike" cap="none" normalizeH="0" baseline="0" smtClean="0">
                          <a:ln>
                            <a:noFill/>
                          </a:ln>
                          <a:solidFill>
                            <a:schemeClr val="tx1"/>
                          </a:solidFill>
                          <a:effectLst/>
                          <a:latin typeface="楷体_GB2312" pitchFamily="49" charset="-122"/>
                          <a:ea typeface="楷体_GB2312" pitchFamily="49" charset="-122"/>
                        </a:rPr>
                        <a:t>　　</a:t>
                      </a:r>
                      <a:r>
                        <a:rPr kumimoji="0" lang="ja-JP" altLang="zh-CN" sz="2000" b="1" i="0" u="none" strike="noStrike" cap="none" normalizeH="0" baseline="0" smtClean="0">
                          <a:ln>
                            <a:noFill/>
                          </a:ln>
                          <a:solidFill>
                            <a:schemeClr val="tx1"/>
                          </a:solidFill>
                          <a:effectLst/>
                          <a:latin typeface="楷体_GB2312" pitchFamily="49" charset="-122"/>
                          <a:ea typeface="楷体_GB2312" pitchFamily="49" charset="-122"/>
                        </a:rPr>
                        <a:t> </a:t>
                      </a:r>
                      <a:r>
                        <a:rPr kumimoji="0" lang="zh-CN" altLang="en-US" sz="2400" b="1" i="0" u="none" strike="noStrike" cap="none" normalizeH="0" baseline="0" smtClean="0">
                          <a:ln>
                            <a:noFill/>
                          </a:ln>
                          <a:solidFill>
                            <a:schemeClr val="tx1"/>
                          </a:solidFill>
                          <a:effectLst/>
                          <a:latin typeface="楷体_GB2312" pitchFamily="49" charset="-122"/>
                          <a:ea typeface="楷体_GB2312" pitchFamily="49" charset="-122"/>
                        </a:rPr>
                        <a:t>应使冲裁件在排样时将废料降低到最少的程度。图</a:t>
                      </a: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57</a:t>
                      </a:r>
                      <a:r>
                        <a:rPr kumimoji="0" lang="zh-CN" altLang="en-US" sz="2400" b="1" i="0" u="none" strike="noStrike" cap="none" normalizeH="0" baseline="0" smtClean="0">
                          <a:ln>
                            <a:noFill/>
                          </a:ln>
                          <a:solidFill>
                            <a:schemeClr val="tx1"/>
                          </a:solidFill>
                          <a:effectLst/>
                          <a:latin typeface="楷体_GB2312" pitchFamily="49" charset="-122"/>
                          <a:ea typeface="楷体_GB2312" pitchFamily="49" charset="-122"/>
                        </a:rPr>
                        <a:t>中的</a:t>
                      </a: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b</a:t>
                      </a:r>
                      <a:r>
                        <a:rPr kumimoji="0" lang="zh-CN" altLang="en-US" sz="2400" b="1" i="0" u="none" strike="noStrike" cap="none" normalizeH="0" baseline="0" smtClean="0">
                          <a:ln>
                            <a:noFill/>
                          </a:ln>
                          <a:solidFill>
                            <a:schemeClr val="tx1"/>
                          </a:solidFill>
                          <a:effectLst/>
                          <a:latin typeface="楷体_GB2312" pitchFamily="49" charset="-122"/>
                          <a:ea typeface="楷体_GB2312" pitchFamily="49" charset="-122"/>
                        </a:rPr>
                        <a:t>较</a:t>
                      </a: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a</a:t>
                      </a:r>
                      <a:r>
                        <a:rPr kumimoji="0" lang="zh-CN" altLang="en-US" sz="2400" b="1" i="0" u="none" strike="noStrike" cap="none" normalizeH="0" baseline="0" smtClean="0">
                          <a:ln>
                            <a:noFill/>
                          </a:ln>
                          <a:solidFill>
                            <a:schemeClr val="tx1"/>
                          </a:solidFill>
                          <a:effectLst/>
                          <a:latin typeface="楷体_GB2312" pitchFamily="49" charset="-122"/>
                          <a:ea typeface="楷体_GB2312" pitchFamily="49" charset="-122"/>
                        </a:rPr>
                        <a:t>更为合理，材料利用率可达</a:t>
                      </a: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79</a:t>
                      </a:r>
                      <a:r>
                        <a:rPr kumimoji="0" lang="zh-CN" altLang="en-US" sz="2400" b="1" i="0" u="none" strike="noStrike" cap="none" normalizeH="0" baseline="0" smtClean="0">
                          <a:ln>
                            <a:noFill/>
                          </a:ln>
                          <a:solidFill>
                            <a:schemeClr val="tx1"/>
                          </a:solidFill>
                          <a:effectLst/>
                          <a:latin typeface="楷体_GB2312" pitchFamily="49" charset="-122"/>
                          <a:ea typeface="楷体_GB2312" pitchFamily="49" charset="-122"/>
                        </a:rPr>
                        <a:t>％。</a:t>
                      </a:r>
                      <a:r>
                        <a: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  </a:t>
                      </a:r>
                      <a:endPara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horzOverflow="overflow">
                    <a:lnL cap="flat">
                      <a:noFill/>
                    </a:lnL>
                    <a:lnR cap="flat">
                      <a:noFill/>
                    </a:lnR>
                    <a:lnT cap="flat">
                      <a:noFill/>
                    </a:lnT>
                    <a:lnB cap="flat">
                      <a:noFill/>
                    </a:lnB>
                    <a:lnTlToBr>
                      <a:noFill/>
                    </a:lnTlToBr>
                    <a:lnBlToTr>
                      <a:noFill/>
                    </a:lnBlToTr>
                    <a:noFill/>
                  </a:tcPr>
                </a:tc>
              </a:tr>
            </a:tbl>
          </a:graphicData>
        </a:graphic>
      </p:graphicFrame>
      <p:sp>
        <p:nvSpPr>
          <p:cNvPr id="133126" name="Rectangle 20"/>
          <p:cNvSpPr/>
          <p:nvPr/>
        </p:nvSpPr>
        <p:spPr>
          <a:xfrm>
            <a:off x="1393825" y="3576638"/>
            <a:ext cx="184150" cy="534987"/>
          </a:xfrm>
          <a:prstGeom prst="rect">
            <a:avLst/>
          </a:prstGeom>
          <a:noFill/>
          <a:ln w="9525">
            <a:noFill/>
          </a:ln>
        </p:spPr>
        <p:txBody>
          <a:bodyPr wrap="none" anchor="ctr" anchorCtr="0">
            <a:spAutoFit/>
          </a:bodyPr>
          <a:p>
            <a:pPr eaLnBrk="1" hangingPunct="1"/>
            <a:br>
              <a:rPr lang="en-US" altLang="zh-CN" sz="1100" dirty="0">
                <a:latin typeface="GreekS" pitchFamily="2" charset="0"/>
              </a:rPr>
            </a:br>
            <a:endParaRPr lang="en-US" altLang="zh-CN" dirty="0">
              <a:latin typeface="Arial" panose="020B0604020202020204" pitchFamily="34" charset="0"/>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Rectangle 9"/>
          <p:cNvSpPr>
            <a:spLocks noGrp="1"/>
          </p:cNvSpPr>
          <p:nvPr>
            <p:ph type="title"/>
          </p:nvPr>
        </p:nvSpPr>
        <p:spPr>
          <a:xfrm>
            <a:off x="3095625" y="90488"/>
            <a:ext cx="4860925" cy="1190625"/>
          </a:xfrm>
        </p:spPr>
        <p:txBody>
          <a:bodyPr vert="horz" wrap="square" lIns="91440" tIns="45720" rIns="91440" bIns="45720" anchor="ctr" anchorCtr="0"/>
          <a:p>
            <a:pPr eaLnBrk="1" hangingPunct="1"/>
            <a:r>
              <a:rPr lang="zh-CN" altLang="en-US" sz="4000" dirty="0">
                <a:ea typeface="楷体_GB2312" pitchFamily="49" charset="-122"/>
              </a:rPr>
              <a:t>冲压件的结构工艺性</a:t>
            </a:r>
            <a:endParaRPr lang="zh-CN" altLang="en-US" sz="4000" dirty="0">
              <a:ea typeface="楷体_GB2312" pitchFamily="49" charset="-122"/>
            </a:endParaRPr>
          </a:p>
        </p:txBody>
      </p:sp>
      <p:sp>
        <p:nvSpPr>
          <p:cNvPr id="134147" name="Rectangle 20"/>
          <p:cNvSpPr/>
          <p:nvPr/>
        </p:nvSpPr>
        <p:spPr>
          <a:xfrm>
            <a:off x="1393825" y="3576638"/>
            <a:ext cx="184150" cy="534987"/>
          </a:xfrm>
          <a:prstGeom prst="rect">
            <a:avLst/>
          </a:prstGeom>
          <a:noFill/>
          <a:ln w="9525">
            <a:noFill/>
          </a:ln>
        </p:spPr>
        <p:txBody>
          <a:bodyPr wrap="none" anchor="ctr" anchorCtr="0">
            <a:spAutoFit/>
          </a:bodyPr>
          <a:p>
            <a:pPr eaLnBrk="1" hangingPunct="1"/>
            <a:br>
              <a:rPr lang="en-US" altLang="zh-CN" sz="1100" dirty="0">
                <a:latin typeface="GreekS" pitchFamily="2" charset="0"/>
              </a:rPr>
            </a:br>
            <a:endParaRPr lang="en-US" altLang="zh-CN" dirty="0">
              <a:latin typeface="Arial" panose="020B0604020202020204" pitchFamily="34" charset="0"/>
            </a:endParaRPr>
          </a:p>
        </p:txBody>
      </p:sp>
      <p:sp>
        <p:nvSpPr>
          <p:cNvPr id="134148" name="Rectangle 24"/>
          <p:cNvSpPr/>
          <p:nvPr/>
        </p:nvSpPr>
        <p:spPr>
          <a:xfrm>
            <a:off x="500063" y="1428750"/>
            <a:ext cx="7500937" cy="830263"/>
          </a:xfrm>
          <a:prstGeom prst="rect">
            <a:avLst/>
          </a:prstGeom>
          <a:noFill/>
          <a:ln w="9525">
            <a:noFill/>
          </a:ln>
        </p:spPr>
        <p:txBody>
          <a:bodyPr>
            <a:spAutoFit/>
          </a:bodyPr>
          <a:p>
            <a:pPr eaLnBrk="1" hangingPunct="1"/>
            <a:r>
              <a:rPr lang="en-US" altLang="zh-CN" sz="2400" b="1" dirty="0">
                <a:solidFill>
                  <a:srgbClr val="0000FF"/>
                </a:solidFill>
                <a:latin typeface="楷体_GB2312" pitchFamily="49" charset="-122"/>
                <a:ea typeface="楷体_GB2312" pitchFamily="49" charset="-122"/>
              </a:rPr>
              <a:t>(2)</a:t>
            </a:r>
            <a:r>
              <a:rPr lang="zh-CN" altLang="en-US" sz="2400" b="1" dirty="0">
                <a:solidFill>
                  <a:srgbClr val="0000FF"/>
                </a:solidFill>
                <a:latin typeface="楷体_GB2312" pitchFamily="49" charset="-122"/>
                <a:ea typeface="楷体_GB2312" pitchFamily="49" charset="-122"/>
              </a:rPr>
              <a:t>冲裁件的结构尺寸</a:t>
            </a:r>
            <a:r>
              <a:rPr lang="en-US" altLang="zh-CN" sz="2400" b="1" dirty="0">
                <a:solidFill>
                  <a:srgbClr val="0000FF"/>
                </a:solidFill>
                <a:latin typeface="楷体_GB2312" pitchFamily="49" charset="-122"/>
                <a:ea typeface="楷体_GB2312" pitchFamily="49" charset="-122"/>
              </a:rPr>
              <a:t>(</a:t>
            </a:r>
            <a:r>
              <a:rPr lang="zh-CN" altLang="en-US" sz="2400" b="1" dirty="0">
                <a:solidFill>
                  <a:srgbClr val="0000FF"/>
                </a:solidFill>
                <a:latin typeface="楷体_GB2312" pitchFamily="49" charset="-122"/>
                <a:ea typeface="楷体_GB2312" pitchFamily="49" charset="-122"/>
              </a:rPr>
              <a:t>如孔径、孔距等</a:t>
            </a:r>
            <a:r>
              <a:rPr lang="en-US" altLang="zh-CN" sz="2400" b="1" dirty="0">
                <a:solidFill>
                  <a:srgbClr val="0000FF"/>
                </a:solidFill>
                <a:latin typeface="楷体_GB2312" pitchFamily="49" charset="-122"/>
                <a:ea typeface="楷体_GB2312" pitchFamily="49" charset="-122"/>
              </a:rPr>
              <a:t>)</a:t>
            </a:r>
            <a:r>
              <a:rPr lang="zh-CN" altLang="en-US" sz="2400" b="1" dirty="0">
                <a:solidFill>
                  <a:srgbClr val="0000FF"/>
                </a:solidFill>
                <a:latin typeface="楷体_GB2312" pitchFamily="49" charset="-122"/>
                <a:ea typeface="楷体_GB2312" pitchFamily="49" charset="-122"/>
              </a:rPr>
              <a:t>必须考虑材料的厚度</a:t>
            </a:r>
            <a:r>
              <a:rPr lang="en-US" altLang="zh-CN" sz="2400" b="1" dirty="0">
                <a:solidFill>
                  <a:srgbClr val="0000FF"/>
                </a:solidFill>
                <a:latin typeface="楷体_GB2312" pitchFamily="49" charset="-122"/>
                <a:ea typeface="楷体_GB2312" pitchFamily="49" charset="-122"/>
              </a:rPr>
              <a:t>(</a:t>
            </a:r>
            <a:r>
              <a:rPr lang="zh-CN" altLang="en-US" sz="2400" b="1" dirty="0">
                <a:solidFill>
                  <a:srgbClr val="0000FF"/>
                </a:solidFill>
                <a:latin typeface="楷体_GB2312" pitchFamily="49" charset="-122"/>
                <a:ea typeface="楷体_GB2312" pitchFamily="49" charset="-122"/>
              </a:rPr>
              <a:t>图</a:t>
            </a:r>
            <a:r>
              <a:rPr lang="en-US" altLang="zh-CN" sz="2400" b="1" dirty="0">
                <a:solidFill>
                  <a:srgbClr val="0000FF"/>
                </a:solidFill>
                <a:latin typeface="楷体_GB2312" pitchFamily="49" charset="-122"/>
                <a:ea typeface="楷体_GB2312" pitchFamily="49" charset="-122"/>
              </a:rPr>
              <a:t>58)</a:t>
            </a:r>
            <a:r>
              <a:rPr lang="zh-CN" altLang="en-US" sz="2400" b="1" dirty="0">
                <a:solidFill>
                  <a:srgbClr val="0000FF"/>
                </a:solidFill>
                <a:latin typeface="楷体_GB2312" pitchFamily="49" charset="-122"/>
                <a:ea typeface="楷体_GB2312" pitchFamily="49" charset="-122"/>
              </a:rPr>
              <a:t>。</a:t>
            </a:r>
            <a:endParaRPr lang="zh-CN" altLang="en-US" sz="2400" b="1" dirty="0">
              <a:solidFill>
                <a:srgbClr val="0000FF"/>
              </a:solidFill>
              <a:latin typeface="楷体_GB2312" pitchFamily="49" charset="-122"/>
              <a:ea typeface="楷体_GB2312" pitchFamily="49" charset="-122"/>
            </a:endParaRPr>
          </a:p>
        </p:txBody>
      </p:sp>
      <p:grpSp>
        <p:nvGrpSpPr>
          <p:cNvPr id="134149" name="Group 33"/>
          <p:cNvGrpSpPr/>
          <p:nvPr/>
        </p:nvGrpSpPr>
        <p:grpSpPr>
          <a:xfrm>
            <a:off x="1285875" y="2428875"/>
            <a:ext cx="7713663" cy="4429125"/>
            <a:chOff x="3542" y="2341"/>
            <a:chExt cx="2692" cy="1253"/>
          </a:xfrm>
        </p:grpSpPr>
        <p:sp>
          <p:nvSpPr>
            <p:cNvPr id="134150" name="Text Box 29"/>
            <p:cNvSpPr txBox="1"/>
            <p:nvPr/>
          </p:nvSpPr>
          <p:spPr>
            <a:xfrm>
              <a:off x="4013" y="3379"/>
              <a:ext cx="2221" cy="215"/>
            </a:xfrm>
            <a:prstGeom prst="rect">
              <a:avLst/>
            </a:prstGeom>
            <a:noFill/>
            <a:ln w="9525">
              <a:noFill/>
            </a:ln>
          </p:spPr>
          <p:txBody>
            <a:bodyPr>
              <a:spAutoFit/>
            </a:bodyPr>
            <a:p>
              <a:pPr eaLnBrk="1" hangingPunct="1"/>
              <a:r>
                <a:rPr lang="zh-CN" altLang="en-US" b="1" dirty="0">
                  <a:solidFill>
                    <a:srgbClr val="000000"/>
                  </a:solidFill>
                  <a:latin typeface="楷体_GB2312" pitchFamily="49" charset="-122"/>
                  <a:ea typeface="楷体_GB2312" pitchFamily="49" charset="-122"/>
                </a:rPr>
                <a:t>图</a:t>
              </a:r>
              <a:r>
                <a:rPr lang="en-US" altLang="zh-CN" b="1" dirty="0">
                  <a:solidFill>
                    <a:srgbClr val="000000"/>
                  </a:solidFill>
                  <a:latin typeface="楷体_GB2312" pitchFamily="49" charset="-122"/>
                  <a:ea typeface="楷体_GB2312" pitchFamily="49" charset="-122"/>
                </a:rPr>
                <a:t>3-58 </a:t>
              </a:r>
              <a:r>
                <a:rPr lang="zh-CN" altLang="en-US" b="1" dirty="0">
                  <a:solidFill>
                    <a:srgbClr val="000000"/>
                  </a:solidFill>
                  <a:latin typeface="楷体_GB2312" pitchFamily="49" charset="-122"/>
                  <a:ea typeface="楷体_GB2312" pitchFamily="49" charset="-122"/>
                </a:rPr>
                <a:t>冲孔件尺寸与厚度的关系</a:t>
              </a:r>
              <a:endParaRPr lang="zh-CN" altLang="en-US" b="1" dirty="0">
                <a:solidFill>
                  <a:srgbClr val="000000"/>
                </a:solidFill>
                <a:latin typeface="楷体_GB2312" pitchFamily="49" charset="-122"/>
                <a:ea typeface="楷体_GB2312" pitchFamily="49" charset="-122"/>
              </a:endParaRPr>
            </a:p>
          </p:txBody>
        </p:sp>
        <p:pic>
          <p:nvPicPr>
            <p:cNvPr id="134151" name="Picture 31" descr="冲压工艺性-3"/>
            <p:cNvPicPr>
              <a:picLocks noChangeAspect="1"/>
            </p:cNvPicPr>
            <p:nvPr/>
          </p:nvPicPr>
          <p:blipFill>
            <a:blip r:embed="rId1"/>
            <a:stretch>
              <a:fillRect/>
            </a:stretch>
          </p:blipFill>
          <p:spPr>
            <a:xfrm>
              <a:off x="3542" y="2341"/>
              <a:ext cx="2343" cy="1001"/>
            </a:xfrm>
            <a:prstGeom prst="rect">
              <a:avLst/>
            </a:prstGeom>
            <a:noFill/>
            <a:ln w="9525">
              <a:noFill/>
            </a:ln>
          </p:spPr>
        </p:pic>
      </p:gr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2"/>
          <p:cNvSpPr>
            <a:spLocks noGrp="1"/>
          </p:cNvSpPr>
          <p:nvPr>
            <p:ph type="title"/>
          </p:nvPr>
        </p:nvSpPr>
        <p:spPr>
          <a:xfrm>
            <a:off x="3094038" y="90488"/>
            <a:ext cx="4933950" cy="1190625"/>
          </a:xfrm>
        </p:spPr>
        <p:txBody>
          <a:bodyPr vert="horz" wrap="square" lIns="91440" tIns="45720" rIns="91440" bIns="45720" anchor="ctr" anchorCtr="0"/>
          <a:p>
            <a:pPr eaLnBrk="1" hangingPunct="1"/>
            <a:r>
              <a:rPr lang="zh-CN" altLang="en-US" sz="4000" dirty="0">
                <a:ea typeface="楷体_GB2312" pitchFamily="49" charset="-122"/>
              </a:rPr>
              <a:t>冲压件的结构工艺性</a:t>
            </a:r>
            <a:endParaRPr lang="zh-CN" altLang="en-US" sz="4000" dirty="0">
              <a:ea typeface="楷体_GB2312" pitchFamily="49" charset="-122"/>
            </a:endParaRPr>
          </a:p>
        </p:txBody>
      </p:sp>
      <p:graphicFrame>
        <p:nvGraphicFramePr>
          <p:cNvPr id="783381" name="Group 21"/>
          <p:cNvGraphicFramePr>
            <a:graphicFrameLocks noGrp="1"/>
          </p:cNvGraphicFramePr>
          <p:nvPr/>
        </p:nvGraphicFramePr>
        <p:xfrm>
          <a:off x="250825" y="1414463"/>
          <a:ext cx="8497888" cy="1189038"/>
        </p:xfrm>
        <a:graphic>
          <a:graphicData uri="http://schemas.openxmlformats.org/drawingml/2006/table">
            <a:tbl>
              <a:tblPr/>
              <a:tblGrid>
                <a:gridCol w="8497888"/>
              </a:tblGrid>
              <a:tr h="1189037">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just"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(3)</a:t>
                      </a:r>
                      <a:r>
                        <a:rPr kumimoji="0" lang="zh-CN" altLang="en-US" sz="2400" b="1" i="0" u="none" strike="noStrike" cap="none" normalizeH="0" baseline="0" smtClean="0">
                          <a:ln>
                            <a:noFill/>
                          </a:ln>
                          <a:solidFill>
                            <a:srgbClr val="CC3300"/>
                          </a:solidFill>
                          <a:effectLst/>
                          <a:latin typeface="楷体_GB2312" pitchFamily="49" charset="-122"/>
                          <a:ea typeface="楷体_GB2312" pitchFamily="49" charset="-122"/>
                        </a:rPr>
                        <a:t>冲裁件上直线与直线、曲线与直线的交接处，均应用圆弧连接。</a:t>
                      </a:r>
                      <a:r>
                        <a:rPr kumimoji="0" lang="zh-CN" altLang="en-US" sz="2400" b="1" i="0" u="none" strike="noStrike" cap="none" normalizeH="0" baseline="0" smtClean="0">
                          <a:ln>
                            <a:noFill/>
                          </a:ln>
                          <a:solidFill>
                            <a:schemeClr val="tx1"/>
                          </a:solidFill>
                          <a:effectLst/>
                          <a:latin typeface="楷体_GB2312" pitchFamily="49" charset="-122"/>
                          <a:ea typeface="楷体_GB2312" pitchFamily="49" charset="-122"/>
                        </a:rPr>
                        <a:t>以避免尖角处因应力集中而产生裂纹。其最小圆角半径如表</a:t>
                      </a: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3-3</a:t>
                      </a:r>
                      <a:r>
                        <a:rPr kumimoji="0" lang="zh-CN" altLang="en-US" sz="2400" b="1" i="0" u="none" strike="noStrike" cap="none" normalizeH="0" baseline="0" smtClean="0">
                          <a:ln>
                            <a:noFill/>
                          </a:ln>
                          <a:solidFill>
                            <a:schemeClr val="tx1"/>
                          </a:solidFill>
                          <a:effectLst/>
                          <a:latin typeface="楷体_GB2312" pitchFamily="49" charset="-122"/>
                          <a:ea typeface="楷体_GB2312" pitchFamily="49" charset="-122"/>
                        </a:rPr>
                        <a:t>所示。</a:t>
                      </a:r>
                      <a:endParaRPr kumimoji="0" lang="zh-CN" altLang="en-US" sz="2400" b="1" i="0" u="none" strike="noStrike" cap="none" normalizeH="0" baseline="0" smtClean="0">
                        <a:ln>
                          <a:noFill/>
                        </a:ln>
                        <a:solidFill>
                          <a:schemeClr val="tx1"/>
                        </a:solidFill>
                        <a:effectLst/>
                        <a:latin typeface="楷体_GB2312" pitchFamily="49" charset="-122"/>
                        <a:ea typeface="楷体_GB2312" pitchFamily="49" charset="-122"/>
                      </a:endParaRPr>
                    </a:p>
                  </a:txBody>
                  <a:tcPr marT="45732" marB="45732" horzOverflow="overflow">
                    <a:lnL cap="flat">
                      <a:noFill/>
                    </a:lnL>
                    <a:lnR cap="flat">
                      <a:noFill/>
                    </a:lnR>
                    <a:lnT cap="flat">
                      <a:noFill/>
                    </a:lnT>
                    <a:lnB cap="flat">
                      <a:noFill/>
                    </a:lnB>
                    <a:lnTlToBr>
                      <a:noFill/>
                    </a:lnTlToBr>
                    <a:lnBlToTr>
                      <a:noFill/>
                    </a:lnBlToTr>
                    <a:noFill/>
                  </a:tcPr>
                </a:tc>
              </a:tr>
            </a:tbl>
          </a:graphicData>
        </a:graphic>
      </p:graphicFrame>
      <p:sp>
        <p:nvSpPr>
          <p:cNvPr id="135173" name="Rectangle 13"/>
          <p:cNvSpPr/>
          <p:nvPr/>
        </p:nvSpPr>
        <p:spPr>
          <a:xfrm>
            <a:off x="1401763" y="3768725"/>
            <a:ext cx="184150" cy="534988"/>
          </a:xfrm>
          <a:prstGeom prst="rect">
            <a:avLst/>
          </a:prstGeom>
          <a:noFill/>
          <a:ln w="9525">
            <a:noFill/>
          </a:ln>
        </p:spPr>
        <p:txBody>
          <a:bodyPr wrap="none" anchor="ctr" anchorCtr="0">
            <a:spAutoFit/>
          </a:bodyPr>
          <a:p>
            <a:pPr eaLnBrk="1" hangingPunct="1"/>
            <a:br>
              <a:rPr lang="en-US" altLang="zh-CN" sz="1100" dirty="0">
                <a:latin typeface="GreekS" pitchFamily="2" charset="0"/>
              </a:rPr>
            </a:br>
            <a:endParaRPr lang="en-US" altLang="zh-CN" dirty="0">
              <a:latin typeface="Arial" panose="020B0604020202020204" pitchFamily="34" charset="0"/>
            </a:endParaRPr>
          </a:p>
        </p:txBody>
      </p:sp>
      <p:pic>
        <p:nvPicPr>
          <p:cNvPr id="135174" name="Picture 19"/>
          <p:cNvPicPr>
            <a:picLocks noChangeAspect="1"/>
          </p:cNvPicPr>
          <p:nvPr/>
        </p:nvPicPr>
        <p:blipFill>
          <a:blip r:embed="rId1"/>
          <a:stretch>
            <a:fillRect/>
          </a:stretch>
        </p:blipFill>
        <p:spPr>
          <a:xfrm>
            <a:off x="0" y="3214688"/>
            <a:ext cx="8991600" cy="2324100"/>
          </a:xfrm>
          <a:prstGeom prst="rect">
            <a:avLst/>
          </a:prstGeom>
          <a:noFill/>
          <a:ln w="9525">
            <a:noFill/>
          </a:ln>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Rectangle 2"/>
          <p:cNvSpPr>
            <a:spLocks noGrp="1"/>
          </p:cNvSpPr>
          <p:nvPr>
            <p:ph type="title"/>
          </p:nvPr>
        </p:nvSpPr>
        <p:spPr>
          <a:xfrm>
            <a:off x="3382963" y="90488"/>
            <a:ext cx="3997325" cy="1190625"/>
          </a:xfrm>
        </p:spPr>
        <p:txBody>
          <a:bodyPr vert="horz" wrap="square" lIns="91440" tIns="45720" rIns="91440" bIns="45720" anchor="ctr" anchorCtr="0"/>
          <a:p>
            <a:pPr eaLnBrk="1" hangingPunct="1"/>
            <a:r>
              <a:rPr lang="en-US" altLang="zh-CN" dirty="0"/>
              <a:t> </a:t>
            </a:r>
            <a:r>
              <a:rPr lang="zh-CN" altLang="en-US" sz="4000" dirty="0">
                <a:latin typeface="楷体_GB2312" pitchFamily="49" charset="-122"/>
                <a:ea typeface="楷体_GB2312" pitchFamily="49" charset="-122"/>
              </a:rPr>
              <a:t>对弯曲件的要求</a:t>
            </a:r>
            <a:r>
              <a:rPr lang="zh-CN" altLang="en-US" dirty="0"/>
              <a:t> </a:t>
            </a:r>
            <a:endParaRPr lang="zh-CN" altLang="en-US" dirty="0"/>
          </a:p>
        </p:txBody>
      </p:sp>
      <p:sp>
        <p:nvSpPr>
          <p:cNvPr id="136195" name="Rectangle 3"/>
          <p:cNvSpPr>
            <a:spLocks noGrp="1"/>
          </p:cNvSpPr>
          <p:nvPr>
            <p:ph type="body" sz="half" idx="1"/>
          </p:nvPr>
        </p:nvSpPr>
        <p:spPr>
          <a:xfrm>
            <a:off x="179388" y="1557338"/>
            <a:ext cx="8675687" cy="1800225"/>
          </a:xfrm>
        </p:spPr>
        <p:txBody>
          <a:bodyPr vert="horz" wrap="square" lIns="91440" tIns="45720" rIns="91440" bIns="45720" anchor="t" anchorCtr="0"/>
          <a:p>
            <a:pPr eaLnBrk="1" hangingPunct="1">
              <a:lnSpc>
                <a:spcPct val="80000"/>
              </a:lnSpc>
              <a:buClrTx/>
              <a:buSzTx/>
              <a:buFontTx/>
              <a:buNone/>
            </a:pPr>
            <a:r>
              <a:rPr lang="en-US" altLang="zh-CN" sz="2400" b="1" dirty="0">
                <a:solidFill>
                  <a:srgbClr val="FF0000"/>
                </a:solidFill>
                <a:latin typeface="楷体_GB2312" pitchFamily="49" charset="-122"/>
                <a:ea typeface="楷体_GB2312" pitchFamily="49" charset="-122"/>
              </a:rPr>
              <a:t>(1)</a:t>
            </a:r>
            <a:r>
              <a:rPr lang="zh-CN" altLang="en-US" sz="2400" b="1" dirty="0">
                <a:latin typeface="楷体_GB2312" pitchFamily="49" charset="-122"/>
                <a:ea typeface="楷体_GB2312" pitchFamily="49" charset="-122"/>
              </a:rPr>
              <a:t>弯曲件形状应尽量对称，弯曲半径不能小于材料允许的最小弯曲半径。</a:t>
            </a:r>
            <a:endParaRPr lang="zh-CN" altLang="en-US" sz="2400" b="1" dirty="0">
              <a:latin typeface="楷体_GB2312" pitchFamily="49" charset="-122"/>
              <a:ea typeface="楷体_GB2312" pitchFamily="49" charset="-122"/>
            </a:endParaRPr>
          </a:p>
          <a:p>
            <a:pPr eaLnBrk="1" hangingPunct="1">
              <a:lnSpc>
                <a:spcPct val="80000"/>
              </a:lnSpc>
              <a:buClrTx/>
              <a:buSzTx/>
              <a:buFontTx/>
              <a:buNone/>
            </a:pPr>
            <a:r>
              <a:rPr lang="en-US" altLang="zh-CN" sz="2400" b="1" dirty="0">
                <a:solidFill>
                  <a:srgbClr val="FF0000"/>
                </a:solidFill>
                <a:latin typeface="楷体_GB2312" pitchFamily="49" charset="-122"/>
                <a:ea typeface="楷体_GB2312" pitchFamily="49" charset="-122"/>
              </a:rPr>
              <a:t>(2)</a:t>
            </a:r>
            <a:r>
              <a:rPr lang="zh-CN" altLang="en-US" sz="2400" b="1" dirty="0">
                <a:latin typeface="楷体_GB2312" pitchFamily="49" charset="-122"/>
                <a:ea typeface="楷体_GB2312" pitchFamily="49" charset="-122"/>
              </a:rPr>
              <a:t>弯曲边过短不易成形，故应使弯曲边的平直部分</a:t>
            </a:r>
            <a:r>
              <a:rPr lang="en-US" altLang="zh-CN" sz="2400" b="1" dirty="0">
                <a:latin typeface="楷体_GB2312" pitchFamily="49" charset="-122"/>
                <a:ea typeface="楷体_GB2312" pitchFamily="49" charset="-122"/>
              </a:rPr>
              <a:t>H&gt;2</a:t>
            </a:r>
            <a:r>
              <a:rPr lang="en-US" altLang="zh-CN" sz="2400" b="1" dirty="0">
                <a:latin typeface="GreekC" pitchFamily="2" charset="0"/>
                <a:ea typeface="楷体_GB2312" pitchFamily="49" charset="-122"/>
              </a:rPr>
              <a:t>δ</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图</a:t>
            </a:r>
            <a:r>
              <a:rPr lang="en-US" altLang="zh-CN" sz="2400" b="1" dirty="0">
                <a:latin typeface="楷体_GB2312" pitchFamily="49" charset="-122"/>
                <a:ea typeface="楷体_GB2312" pitchFamily="49" charset="-122"/>
              </a:rPr>
              <a:t>3-59)</a:t>
            </a:r>
            <a:r>
              <a:rPr lang="zh-CN" altLang="en-US" sz="2400" b="1" dirty="0">
                <a:latin typeface="楷体_GB2312" pitchFamily="49" charset="-122"/>
                <a:ea typeface="楷体_GB2312" pitchFamily="49" charset="-122"/>
              </a:rPr>
              <a:t>。如果要求</a:t>
            </a:r>
            <a:r>
              <a:rPr lang="en-US" altLang="zh-CN" sz="2400" b="1" dirty="0">
                <a:latin typeface="楷体_GB2312" pitchFamily="49" charset="-122"/>
                <a:ea typeface="楷体_GB2312" pitchFamily="49" charset="-122"/>
              </a:rPr>
              <a:t>H</a:t>
            </a:r>
            <a:r>
              <a:rPr lang="zh-CN" altLang="en-US" sz="2400" b="1" dirty="0">
                <a:latin typeface="楷体_GB2312" pitchFamily="49" charset="-122"/>
                <a:ea typeface="楷体_GB2312" pitchFamily="49" charset="-122"/>
              </a:rPr>
              <a:t>很短，则需先留出适当余量以增大</a:t>
            </a:r>
            <a:r>
              <a:rPr lang="en-US" altLang="zh-CN" sz="2400" b="1" dirty="0">
                <a:latin typeface="楷体_GB2312" pitchFamily="49" charset="-122"/>
                <a:ea typeface="楷体_GB2312" pitchFamily="49" charset="-122"/>
              </a:rPr>
              <a:t>H</a:t>
            </a:r>
            <a:r>
              <a:rPr lang="zh-CN" altLang="en-US" sz="2400" b="1" dirty="0">
                <a:latin typeface="楷体_GB2312" pitchFamily="49" charset="-122"/>
                <a:ea typeface="楷体_GB2312" pitchFamily="49" charset="-122"/>
              </a:rPr>
              <a:t>，弯好后再切去增加的金属。 </a:t>
            </a:r>
            <a:endParaRPr lang="zh-CN" altLang="en-US" sz="2400" b="1" dirty="0">
              <a:solidFill>
                <a:srgbClr val="FF0000"/>
              </a:solidFill>
              <a:latin typeface="楷体_GB2312" pitchFamily="49" charset="-122"/>
              <a:ea typeface="楷体_GB2312" pitchFamily="49" charset="-122"/>
            </a:endParaRPr>
          </a:p>
          <a:p>
            <a:pPr eaLnBrk="1" hangingPunct="1">
              <a:lnSpc>
                <a:spcPct val="80000"/>
              </a:lnSpc>
              <a:buClrTx/>
              <a:buSzTx/>
              <a:buFontTx/>
              <a:buNone/>
            </a:pPr>
            <a:r>
              <a:rPr lang="en-US" altLang="zh-CN" sz="2400" b="1" dirty="0">
                <a:solidFill>
                  <a:srgbClr val="FF0000"/>
                </a:solidFill>
                <a:latin typeface="楷体_GB2312" pitchFamily="49" charset="-122"/>
                <a:ea typeface="楷体_GB2312" pitchFamily="49" charset="-122"/>
              </a:rPr>
              <a:t>(3)</a:t>
            </a:r>
            <a:r>
              <a:rPr lang="zh-CN" altLang="en-US" sz="2400" b="1" dirty="0">
                <a:latin typeface="楷体_GB2312" pitchFamily="49" charset="-122"/>
                <a:ea typeface="楷体_GB2312" pitchFamily="49" charset="-122"/>
              </a:rPr>
              <a:t>弯曲带孔件时，为避免孔的变形，孔的位置如 图</a:t>
            </a:r>
            <a:r>
              <a:rPr lang="en-US" altLang="zh-CN" sz="2400" b="1" dirty="0">
                <a:latin typeface="楷体_GB2312" pitchFamily="49" charset="-122"/>
                <a:ea typeface="楷体_GB2312" pitchFamily="49" charset="-122"/>
              </a:rPr>
              <a:t>3-60</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L&gt;1.5</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2</a:t>
            </a:r>
            <a:r>
              <a:rPr lang="en-US" altLang="zh-CN" sz="2400" b="1" dirty="0">
                <a:latin typeface="GreekC" pitchFamily="2" charset="0"/>
                <a:ea typeface="楷体_GB2312" pitchFamily="49" charset="-122"/>
              </a:rPr>
              <a:t>δ</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p:txBody>
      </p:sp>
      <p:grpSp>
        <p:nvGrpSpPr>
          <p:cNvPr id="136196" name="Group 8"/>
          <p:cNvGrpSpPr/>
          <p:nvPr/>
        </p:nvGrpSpPr>
        <p:grpSpPr>
          <a:xfrm>
            <a:off x="6137275" y="4397375"/>
            <a:ext cx="2139950" cy="0"/>
            <a:chOff x="3741" y="1099"/>
            <a:chExt cx="1407" cy="2568"/>
          </a:xfrm>
        </p:grpSpPr>
        <p:pic>
          <p:nvPicPr>
            <p:cNvPr id="136198" name="Picture 4"/>
            <p:cNvPicPr>
              <a:picLocks noChangeAspect="1"/>
            </p:cNvPicPr>
            <p:nvPr/>
          </p:nvPicPr>
          <p:blipFill>
            <a:blip r:embed="rId1"/>
            <a:stretch>
              <a:fillRect/>
            </a:stretch>
          </p:blipFill>
          <p:spPr>
            <a:xfrm>
              <a:off x="3741" y="1099"/>
              <a:ext cx="1407" cy="1379"/>
            </a:xfrm>
            <a:prstGeom prst="rect">
              <a:avLst/>
            </a:prstGeom>
            <a:solidFill>
              <a:srgbClr val="FFFF99"/>
            </a:solidFill>
            <a:ln w="9525">
              <a:noFill/>
            </a:ln>
          </p:spPr>
        </p:pic>
        <p:pic>
          <p:nvPicPr>
            <p:cNvPr id="136199" name="Picture 6"/>
            <p:cNvPicPr>
              <a:picLocks noChangeAspect="1"/>
            </p:cNvPicPr>
            <p:nvPr/>
          </p:nvPicPr>
          <p:blipFill>
            <a:blip r:embed="rId2"/>
            <a:stretch>
              <a:fillRect/>
            </a:stretch>
          </p:blipFill>
          <p:spPr>
            <a:xfrm>
              <a:off x="3742" y="2478"/>
              <a:ext cx="1406" cy="1189"/>
            </a:xfrm>
            <a:prstGeom prst="rect">
              <a:avLst/>
            </a:prstGeom>
            <a:solidFill>
              <a:srgbClr val="FFFF99"/>
            </a:solidFill>
            <a:ln w="9525">
              <a:noFill/>
            </a:ln>
          </p:spPr>
        </p:pic>
      </p:grpSp>
      <p:pic>
        <p:nvPicPr>
          <p:cNvPr id="136197" name="Picture 4"/>
          <p:cNvPicPr>
            <a:picLocks noChangeAspect="1"/>
          </p:cNvPicPr>
          <p:nvPr/>
        </p:nvPicPr>
        <p:blipFill>
          <a:blip r:embed="rId3"/>
          <a:stretch>
            <a:fillRect/>
          </a:stretch>
        </p:blipFill>
        <p:spPr>
          <a:xfrm>
            <a:off x="500063" y="3929063"/>
            <a:ext cx="8128000" cy="2592387"/>
          </a:xfrm>
          <a:prstGeom prst="rect">
            <a:avLst/>
          </a:prstGeom>
          <a:noFill/>
          <a:ln w="9525">
            <a:noFill/>
          </a:ln>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2"/>
          <p:cNvSpPr>
            <a:spLocks noGrp="1"/>
          </p:cNvSpPr>
          <p:nvPr>
            <p:ph type="title"/>
          </p:nvPr>
        </p:nvSpPr>
        <p:spPr>
          <a:xfrm>
            <a:off x="3708400" y="215900"/>
            <a:ext cx="3887788" cy="981075"/>
          </a:xfrm>
        </p:spPr>
        <p:txBody>
          <a:bodyPr vert="horz" wrap="square" lIns="91440" tIns="45720" rIns="91440" bIns="45720" anchor="ctr" anchorCtr="0"/>
          <a:p>
            <a:pPr eaLnBrk="1" hangingPunct="1"/>
            <a:r>
              <a:rPr lang="zh-CN" altLang="en-US" sz="4000" dirty="0">
                <a:ea typeface="楷体_GB2312" pitchFamily="49" charset="-122"/>
              </a:rPr>
              <a:t>对拉深件的要求</a:t>
            </a:r>
            <a:endParaRPr lang="zh-CN" altLang="en-US" sz="4000" dirty="0">
              <a:ea typeface="楷体_GB2312" pitchFamily="49" charset="-122"/>
            </a:endParaRPr>
          </a:p>
        </p:txBody>
      </p:sp>
      <p:sp>
        <p:nvSpPr>
          <p:cNvPr id="137219" name="Rectangle 3"/>
          <p:cNvSpPr>
            <a:spLocks noGrp="1"/>
          </p:cNvSpPr>
          <p:nvPr>
            <p:ph type="body" sz="half" idx="1"/>
          </p:nvPr>
        </p:nvSpPr>
        <p:spPr>
          <a:xfrm>
            <a:off x="457200" y="1528763"/>
            <a:ext cx="8147050" cy="1468437"/>
          </a:xfrm>
        </p:spPr>
        <p:txBody>
          <a:bodyPr vert="horz" wrap="square" lIns="91440" tIns="45720" rIns="91440" bIns="45720" anchor="t" anchorCtr="0"/>
          <a:p>
            <a:pPr eaLnBrk="1" hangingPunct="1">
              <a:lnSpc>
                <a:spcPct val="80000"/>
              </a:lnSpc>
              <a:buClrTx/>
              <a:buSzTx/>
              <a:buFontTx/>
              <a:buNone/>
            </a:pPr>
            <a:r>
              <a:rPr lang="en-US" altLang="zh-CN" sz="2400" b="1" dirty="0">
                <a:solidFill>
                  <a:srgbClr val="FF0066"/>
                </a:solidFill>
                <a:latin typeface="楷体_GB2312" pitchFamily="49" charset="-122"/>
                <a:ea typeface="楷体_GB2312" pitchFamily="49" charset="-122"/>
              </a:rPr>
              <a:t>(2)</a:t>
            </a:r>
            <a:r>
              <a:rPr lang="zh-CN" altLang="en-US" sz="2400" b="1" dirty="0">
                <a:solidFill>
                  <a:srgbClr val="FF0066"/>
                </a:solidFill>
                <a:latin typeface="楷体_GB2312" pitchFamily="49" charset="-122"/>
                <a:ea typeface="楷体_GB2312" pitchFamily="49" charset="-122"/>
              </a:rPr>
              <a:t>拉深件的圆角半径</a:t>
            </a:r>
            <a:endParaRPr lang="zh-CN" altLang="ja-JP" sz="2400" b="1" dirty="0">
              <a:solidFill>
                <a:srgbClr val="FF0066"/>
              </a:solidFill>
              <a:latin typeface="楷体_GB2312" pitchFamily="49" charset="-122"/>
              <a:ea typeface="楷体_GB2312" pitchFamily="49" charset="-122"/>
            </a:endParaRPr>
          </a:p>
          <a:p>
            <a:pPr eaLnBrk="1" hangingPunct="1">
              <a:lnSpc>
                <a:spcPct val="80000"/>
              </a:lnSpc>
              <a:buClrTx/>
              <a:buSzTx/>
              <a:buFontTx/>
              <a:buNone/>
            </a:pPr>
            <a:r>
              <a:rPr lang="ja-JP" altLang="en-US" sz="1400" b="1" dirty="0">
                <a:latin typeface="楷体_GB2312" pitchFamily="49" charset="-122"/>
                <a:ea typeface="楷体_GB2312" pitchFamily="49" charset="-122"/>
              </a:rPr>
              <a:t>　　　</a:t>
            </a:r>
            <a:r>
              <a:rPr lang="ja-JP" altLang="zh-CN" sz="1400" b="1" dirty="0">
                <a:latin typeface="楷体_GB2312" pitchFamily="49" charset="-122"/>
                <a:ea typeface="楷体_GB2312" pitchFamily="49" charset="-122"/>
              </a:rPr>
              <a:t> </a:t>
            </a:r>
            <a:r>
              <a:rPr lang="ja-JP" altLang="en-US" sz="1400" b="1" dirty="0">
                <a:latin typeface="楷体_GB2312" pitchFamily="49" charset="-122"/>
                <a:ea typeface="楷体_GB2312" pitchFamily="49" charset="-122"/>
              </a:rPr>
              <a:t> </a:t>
            </a:r>
            <a:r>
              <a:rPr lang="ja-JP" altLang="zh-CN" sz="1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在不增加工艺程序的情况下，最小许可圆角半径如图</a:t>
            </a:r>
            <a:r>
              <a:rPr lang="en-US" altLang="zh-CN" sz="2400" b="1" dirty="0">
                <a:latin typeface="楷体_GB2312" pitchFamily="49" charset="-122"/>
                <a:ea typeface="楷体_GB2312" pitchFamily="49" charset="-122"/>
              </a:rPr>
              <a:t>3-61</a:t>
            </a:r>
            <a:r>
              <a:rPr lang="zh-CN" altLang="en-US" sz="2400" b="1" dirty="0">
                <a:latin typeface="楷体_GB2312" pitchFamily="49" charset="-122"/>
                <a:ea typeface="楷体_GB2312" pitchFamily="49" charset="-122"/>
              </a:rPr>
              <a:t>所示。否则必将增加拉深次数和整形工作，也增多模具数量，并容易产生废品和提高成本。</a:t>
            </a:r>
            <a:endParaRPr lang="zh-CN" altLang="en-US" sz="2400" b="1" dirty="0">
              <a:latin typeface="楷体_GB2312" pitchFamily="49" charset="-122"/>
              <a:ea typeface="楷体_GB2312" pitchFamily="49" charset="-122"/>
            </a:endParaRPr>
          </a:p>
        </p:txBody>
      </p:sp>
      <p:pic>
        <p:nvPicPr>
          <p:cNvPr id="137220" name="Picture 6"/>
          <p:cNvPicPr>
            <a:picLocks noChangeAspect="1"/>
          </p:cNvPicPr>
          <p:nvPr/>
        </p:nvPicPr>
        <p:blipFill>
          <a:blip r:embed="rId1"/>
          <a:stretch>
            <a:fillRect/>
          </a:stretch>
        </p:blipFill>
        <p:spPr>
          <a:xfrm>
            <a:off x="1273175" y="2996248"/>
            <a:ext cx="6597650" cy="3719512"/>
          </a:xfrm>
          <a:prstGeom prst="rect">
            <a:avLst/>
          </a:prstGeom>
          <a:noFill/>
          <a:ln w="9525">
            <a:noFill/>
          </a:ln>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8"/>
          <p:cNvSpPr>
            <a:spLocks noGrp="1"/>
          </p:cNvSpPr>
          <p:nvPr>
            <p:ph type="title"/>
          </p:nvPr>
        </p:nvSpPr>
        <p:spPr>
          <a:xfrm>
            <a:off x="2590800" y="234950"/>
            <a:ext cx="6019800" cy="962025"/>
          </a:xfrm>
        </p:spPr>
        <p:txBody>
          <a:bodyPr vert="horz" wrap="square" lIns="91440" tIns="45720" rIns="91440" bIns="45720" anchor="ctr" anchorCtr="0"/>
          <a:p>
            <a:pPr eaLnBrk="1" hangingPunct="1"/>
            <a:r>
              <a:rPr lang="zh-CN" altLang="en-US" dirty="0">
                <a:ea typeface="楷体_GB2312" pitchFamily="49" charset="-122"/>
              </a:rPr>
              <a:t>简化工艺及节省材料的设计</a:t>
            </a:r>
            <a:r>
              <a:rPr lang="zh-CN" altLang="en-US" dirty="0"/>
              <a:t> </a:t>
            </a:r>
            <a:endParaRPr lang="zh-CN" altLang="en-US" dirty="0"/>
          </a:p>
        </p:txBody>
      </p:sp>
      <p:sp>
        <p:nvSpPr>
          <p:cNvPr id="138243" name="Rectangle 11"/>
          <p:cNvSpPr/>
          <p:nvPr/>
        </p:nvSpPr>
        <p:spPr>
          <a:xfrm>
            <a:off x="539750" y="1412875"/>
            <a:ext cx="8135938" cy="1917700"/>
          </a:xfrm>
          <a:prstGeom prst="rect">
            <a:avLst/>
          </a:prstGeom>
          <a:noFill/>
          <a:ln w="9525">
            <a:noFill/>
          </a:ln>
        </p:spPr>
        <p:txBody>
          <a:bodyPr>
            <a:spAutoFit/>
          </a:bodyPr>
          <a:p>
            <a:pPr eaLnBrk="1" hangingPunct="1">
              <a:buFont typeface="Wingdings" panose="05000000000000000000" pitchFamily="2" charset="2"/>
              <a:buChar char="Ø"/>
            </a:pPr>
            <a:r>
              <a:rPr lang="zh-CN" altLang="en-US" sz="2400" b="1" dirty="0">
                <a:solidFill>
                  <a:srgbClr val="FF0066"/>
                </a:solidFill>
                <a:latin typeface="楷体_GB2312" pitchFamily="49" charset="-122"/>
                <a:ea typeface="楷体_GB2312" pitchFamily="49" charset="-122"/>
              </a:rPr>
              <a:t>对于形状复杂的冲压件，</a:t>
            </a:r>
            <a:r>
              <a:rPr lang="zh-CN" altLang="en-US" sz="2400" b="1" dirty="0">
                <a:latin typeface="楷体_GB2312" pitchFamily="49" charset="-122"/>
                <a:ea typeface="楷体_GB2312" pitchFamily="49" charset="-122"/>
              </a:rPr>
              <a:t>可以将其分成若干个简单件，分别冲压后，再焊接成为整体组合件</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图</a:t>
            </a:r>
            <a:r>
              <a:rPr lang="en-US" altLang="zh-CN" sz="2400" b="1" dirty="0">
                <a:latin typeface="楷体_GB2312" pitchFamily="49" charset="-122"/>
                <a:ea typeface="楷体_GB2312" pitchFamily="49" charset="-122"/>
              </a:rPr>
              <a:t>62)</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a:p>
            <a:pPr eaLnBrk="1" hangingPunct="1">
              <a:buFont typeface="Wingdings" panose="05000000000000000000" pitchFamily="2" charset="2"/>
            </a:pPr>
            <a:endParaRPr lang="zh-CN" altLang="en-US" sz="2400" dirty="0">
              <a:latin typeface="楷体_GB2312" pitchFamily="49" charset="-122"/>
              <a:ea typeface="楷体_GB2312" pitchFamily="49" charset="-122"/>
            </a:endParaRPr>
          </a:p>
          <a:p>
            <a:pPr eaLnBrk="1" hangingPunct="1">
              <a:buFont typeface="Wingdings" panose="05000000000000000000" pitchFamily="2" charset="2"/>
              <a:buChar char="Ø"/>
            </a:pPr>
            <a:r>
              <a:rPr lang="zh-CN" altLang="en-US" sz="2400" b="1" dirty="0">
                <a:solidFill>
                  <a:srgbClr val="FF0066"/>
                </a:solidFill>
                <a:latin typeface="楷体_GB2312" pitchFamily="49" charset="-122"/>
                <a:ea typeface="楷体_GB2312" pitchFamily="49" charset="-122"/>
              </a:rPr>
              <a:t>采用冲口工艺，</a:t>
            </a:r>
            <a:r>
              <a:rPr lang="zh-CN" altLang="en-US" sz="2400" b="1" dirty="0">
                <a:latin typeface="楷体_GB2312" pitchFamily="49" charset="-122"/>
                <a:ea typeface="楷体_GB2312" pitchFamily="49" charset="-122"/>
              </a:rPr>
              <a:t>以减少组合件数量</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图</a:t>
            </a:r>
            <a:r>
              <a:rPr lang="en-US" altLang="zh-CN" sz="2400" b="1" dirty="0">
                <a:latin typeface="楷体_GB2312" pitchFamily="49" charset="-122"/>
                <a:ea typeface="楷体_GB2312" pitchFamily="49" charset="-122"/>
              </a:rPr>
              <a:t>63)</a:t>
            </a:r>
            <a:r>
              <a:rPr lang="zh-CN" altLang="en-US" sz="2400" b="1" dirty="0">
                <a:latin typeface="楷体_GB2312" pitchFamily="49" charset="-122"/>
                <a:ea typeface="楷体_GB2312" pitchFamily="49" charset="-122"/>
              </a:rPr>
              <a:t>，节省材料和简化工艺过程。</a:t>
            </a:r>
            <a:endParaRPr lang="zh-CN" altLang="en-US" sz="2400" b="1" dirty="0">
              <a:latin typeface="楷体_GB2312" pitchFamily="49" charset="-122"/>
              <a:ea typeface="楷体_GB2312" pitchFamily="49" charset="-122"/>
            </a:endParaRPr>
          </a:p>
        </p:txBody>
      </p:sp>
      <p:pic>
        <p:nvPicPr>
          <p:cNvPr id="138244" name="Picture 12"/>
          <p:cNvPicPr>
            <a:picLocks noChangeAspect="1"/>
          </p:cNvPicPr>
          <p:nvPr/>
        </p:nvPicPr>
        <p:blipFill>
          <a:blip r:embed="rId1"/>
          <a:stretch>
            <a:fillRect/>
          </a:stretch>
        </p:blipFill>
        <p:spPr>
          <a:xfrm>
            <a:off x="611505" y="3546475"/>
            <a:ext cx="4031615" cy="3170555"/>
          </a:xfrm>
          <a:prstGeom prst="rect">
            <a:avLst/>
          </a:prstGeom>
          <a:noFill/>
          <a:ln w="9525">
            <a:noFill/>
          </a:ln>
        </p:spPr>
      </p:pic>
      <p:pic>
        <p:nvPicPr>
          <p:cNvPr id="138245" name="Picture 13"/>
          <p:cNvPicPr>
            <a:picLocks noChangeAspect="1"/>
          </p:cNvPicPr>
          <p:nvPr/>
        </p:nvPicPr>
        <p:blipFill>
          <a:blip r:embed="rId2"/>
          <a:stretch>
            <a:fillRect/>
          </a:stretch>
        </p:blipFill>
        <p:spPr>
          <a:xfrm>
            <a:off x="5147945" y="2897505"/>
            <a:ext cx="3304540" cy="3960495"/>
          </a:xfrm>
          <a:prstGeom prst="rect">
            <a:avLst/>
          </a:prstGeom>
          <a:noFill/>
          <a:ln w="9525">
            <a:noFill/>
          </a:ln>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Rectangle 2"/>
          <p:cNvSpPr>
            <a:spLocks noGrp="1"/>
          </p:cNvSpPr>
          <p:nvPr>
            <p:ph type="title"/>
          </p:nvPr>
        </p:nvSpPr>
        <p:spPr/>
        <p:txBody>
          <a:bodyPr vert="horz" wrap="square" lIns="91440" tIns="45720" rIns="91440" bIns="45720" anchor="ctr" anchorCtr="0"/>
          <a:p>
            <a:pPr eaLnBrk="1" hangingPunct="1"/>
            <a:r>
              <a:rPr lang="zh-CN" altLang="en-US" dirty="0">
                <a:ea typeface="楷体_GB2312" pitchFamily="49" charset="-122"/>
              </a:rPr>
              <a:t>简化工艺及节省材料的设计</a:t>
            </a:r>
            <a:endParaRPr lang="zh-CN" altLang="en-US" dirty="0">
              <a:ea typeface="楷体_GB2312" pitchFamily="49" charset="-122"/>
            </a:endParaRPr>
          </a:p>
        </p:txBody>
      </p:sp>
      <p:sp>
        <p:nvSpPr>
          <p:cNvPr id="139267" name="Rectangle 3"/>
          <p:cNvSpPr>
            <a:spLocks noGrp="1"/>
          </p:cNvSpPr>
          <p:nvPr>
            <p:ph type="body" sz="half" idx="1"/>
          </p:nvPr>
        </p:nvSpPr>
        <p:spPr>
          <a:xfrm>
            <a:off x="457200" y="1412875"/>
            <a:ext cx="8435975" cy="1511300"/>
          </a:xfrm>
        </p:spPr>
        <p:txBody>
          <a:bodyPr vert="horz" wrap="square" lIns="91440" tIns="45720" rIns="91440" bIns="45720" anchor="t" anchorCtr="0"/>
          <a:p>
            <a:pPr eaLnBrk="1" hangingPunct="1">
              <a:lnSpc>
                <a:spcPct val="80000"/>
              </a:lnSpc>
              <a:buClrTx/>
              <a:buSzTx/>
              <a:buFontTx/>
              <a:buNone/>
            </a:pPr>
            <a:r>
              <a:rPr lang="ja-JP" altLang="en-US" b="1" dirty="0">
                <a:latin typeface="宋体" panose="02010600030101010101" pitchFamily="2" charset="-122"/>
                <a:ea typeface="MS PGothic" panose="020B0600070205080204" pitchFamily="34" charset="-128"/>
              </a:rPr>
              <a:t>　</a:t>
            </a:r>
            <a:r>
              <a:rPr lang="ja-JP" altLang="zh-CN" b="1" dirty="0">
                <a:latin typeface="宋体" panose="02010600030101010101" pitchFamily="2" charset="-122"/>
                <a:ea typeface="MS PGothic" panose="020B0600070205080204" pitchFamily="34" charset="-128"/>
              </a:rPr>
              <a:t> </a:t>
            </a:r>
            <a:r>
              <a:rPr lang="ja-JP" altLang="en-US" b="1" dirty="0">
                <a:latin typeface="宋体" panose="02010600030101010101" pitchFamily="2" charset="-122"/>
                <a:ea typeface="MS PGothic" panose="020B0600070205080204" pitchFamily="34" charset="-128"/>
              </a:rPr>
              <a:t> </a:t>
            </a:r>
            <a:r>
              <a:rPr lang="ja-JP" altLang="zh-CN" b="1" dirty="0">
                <a:latin typeface="宋体" panose="02010600030101010101" pitchFamily="2" charset="-122"/>
                <a:ea typeface="MS PGothic" panose="020B0600070205080204" pitchFamily="34" charset="-128"/>
              </a:rPr>
              <a:t> </a:t>
            </a:r>
            <a:r>
              <a:rPr lang="zh-CN" altLang="en-US" sz="2400" b="1" dirty="0">
                <a:solidFill>
                  <a:srgbClr val="000000"/>
                </a:solidFill>
                <a:latin typeface="楷体_GB2312" pitchFamily="49" charset="-122"/>
                <a:ea typeface="楷体_GB2312" pitchFamily="49" charset="-122"/>
              </a:rPr>
              <a:t>在使用性能不变的情况下，应</a:t>
            </a:r>
            <a:r>
              <a:rPr lang="zh-CN" altLang="en-US" sz="2400" b="1" dirty="0">
                <a:solidFill>
                  <a:srgbClr val="0000FF"/>
                </a:solidFill>
                <a:latin typeface="楷体_GB2312" pitchFamily="49" charset="-122"/>
                <a:ea typeface="楷体_GB2312" pitchFamily="49" charset="-122"/>
              </a:rPr>
              <a:t>尽量简化拉深件结构，</a:t>
            </a:r>
            <a:r>
              <a:rPr lang="zh-CN" altLang="en-US" sz="2400" b="1" dirty="0">
                <a:solidFill>
                  <a:srgbClr val="000000"/>
                </a:solidFill>
                <a:latin typeface="楷体_GB2312" pitchFamily="49" charset="-122"/>
                <a:ea typeface="楷体_GB2312" pitchFamily="49" charset="-122"/>
              </a:rPr>
              <a:t>以达到减少工序、节省材料和降低成本的目的。如消音器后盖经改造后</a:t>
            </a:r>
            <a:r>
              <a:rPr lang="en-US" altLang="zh-CN" sz="2400" b="1" dirty="0">
                <a:solidFill>
                  <a:srgbClr val="000000"/>
                </a:solidFill>
                <a:latin typeface="楷体_GB2312" pitchFamily="49" charset="-122"/>
                <a:ea typeface="楷体_GB2312" pitchFamily="49" charset="-122"/>
              </a:rPr>
              <a:t>(</a:t>
            </a:r>
            <a:r>
              <a:rPr lang="zh-CN" altLang="en-US" sz="2400" b="1" dirty="0">
                <a:solidFill>
                  <a:srgbClr val="000000"/>
                </a:solidFill>
                <a:latin typeface="楷体_GB2312" pitchFamily="49" charset="-122"/>
                <a:ea typeface="楷体_GB2312" pitchFamily="49" charset="-122"/>
              </a:rPr>
              <a:t>图</a:t>
            </a:r>
            <a:r>
              <a:rPr lang="en-US" altLang="zh-CN" sz="2400" b="1" dirty="0">
                <a:solidFill>
                  <a:srgbClr val="000000"/>
                </a:solidFill>
                <a:latin typeface="楷体_GB2312" pitchFamily="49" charset="-122"/>
                <a:ea typeface="楷体_GB2312" pitchFamily="49" charset="-122"/>
              </a:rPr>
              <a:t>3-64)</a:t>
            </a:r>
            <a:r>
              <a:rPr lang="zh-CN" altLang="en-US" sz="2400" b="1" dirty="0">
                <a:solidFill>
                  <a:srgbClr val="000000"/>
                </a:solidFill>
                <a:latin typeface="楷体_GB2312" pitchFamily="49" charset="-122"/>
                <a:ea typeface="楷体_GB2312" pitchFamily="49" charset="-122"/>
              </a:rPr>
              <a:t>，冲压工序由八道减少为两道工序，同时，节省材料</a:t>
            </a:r>
            <a:r>
              <a:rPr lang="en-US" altLang="zh-CN" sz="2400" b="1" dirty="0">
                <a:solidFill>
                  <a:srgbClr val="000000"/>
                </a:solidFill>
                <a:latin typeface="楷体_GB2312" pitchFamily="49" charset="-122"/>
                <a:ea typeface="楷体_GB2312" pitchFamily="49" charset="-122"/>
              </a:rPr>
              <a:t>50</a:t>
            </a:r>
            <a:r>
              <a:rPr lang="zh-CN" altLang="en-US" sz="2400" b="1" dirty="0">
                <a:solidFill>
                  <a:srgbClr val="000000"/>
                </a:solidFill>
                <a:latin typeface="楷体_GB2312" pitchFamily="49" charset="-122"/>
                <a:ea typeface="楷体_GB2312" pitchFamily="49" charset="-122"/>
              </a:rPr>
              <a:t>％。</a:t>
            </a:r>
            <a:endParaRPr lang="zh-CN" altLang="en-US" sz="2400" b="1" dirty="0">
              <a:solidFill>
                <a:srgbClr val="000000"/>
              </a:solidFill>
              <a:latin typeface="楷体_GB2312" pitchFamily="49" charset="-122"/>
              <a:ea typeface="楷体_GB2312" pitchFamily="49" charset="-122"/>
            </a:endParaRPr>
          </a:p>
        </p:txBody>
      </p:sp>
      <p:pic>
        <p:nvPicPr>
          <p:cNvPr id="139268" name="Picture 6"/>
          <p:cNvPicPr>
            <a:picLocks noChangeAspect="1"/>
          </p:cNvPicPr>
          <p:nvPr/>
        </p:nvPicPr>
        <p:blipFill>
          <a:blip r:embed="rId1"/>
          <a:stretch>
            <a:fillRect/>
          </a:stretch>
        </p:blipFill>
        <p:spPr>
          <a:xfrm>
            <a:off x="928688" y="2928938"/>
            <a:ext cx="7439025" cy="3662362"/>
          </a:xfrm>
          <a:prstGeom prst="rect">
            <a:avLst/>
          </a:prstGeom>
          <a:noFill/>
          <a:ln w="9525">
            <a:noFill/>
          </a:ln>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Rectangle 2"/>
          <p:cNvSpPr>
            <a:spLocks noGrp="1"/>
          </p:cNvSpPr>
          <p:nvPr>
            <p:ph type="title"/>
          </p:nvPr>
        </p:nvSpPr>
        <p:spPr/>
        <p:txBody>
          <a:bodyPr vert="horz" wrap="square" lIns="91440" tIns="45720" rIns="91440" bIns="45720" anchor="ctr" anchorCtr="0"/>
          <a:p>
            <a:pPr eaLnBrk="1" hangingPunct="1"/>
            <a:r>
              <a:rPr lang="zh-CN" altLang="en-US" dirty="0">
                <a:ea typeface="楷体_GB2312" pitchFamily="49" charset="-122"/>
              </a:rPr>
              <a:t>简化工艺及节省材料的设计</a:t>
            </a:r>
            <a:endParaRPr lang="zh-CN" altLang="en-US" dirty="0">
              <a:ea typeface="楷体_GB2312" pitchFamily="49" charset="-122"/>
            </a:endParaRPr>
          </a:p>
        </p:txBody>
      </p:sp>
      <p:sp>
        <p:nvSpPr>
          <p:cNvPr id="140291" name="Rectangle 3"/>
          <p:cNvSpPr>
            <a:spLocks noGrp="1"/>
          </p:cNvSpPr>
          <p:nvPr>
            <p:ph type="body" sz="half" idx="1"/>
          </p:nvPr>
        </p:nvSpPr>
        <p:spPr>
          <a:xfrm>
            <a:off x="107950" y="1341438"/>
            <a:ext cx="8569325" cy="1511300"/>
          </a:xfrm>
        </p:spPr>
        <p:txBody>
          <a:bodyPr vert="horz" wrap="square" lIns="91440" tIns="45720" rIns="91440" bIns="45720" anchor="t" anchorCtr="0"/>
          <a:p>
            <a:pPr eaLnBrk="1" hangingPunct="1">
              <a:buClrTx/>
              <a:buSzTx/>
              <a:buFontTx/>
              <a:buNone/>
            </a:pPr>
            <a:r>
              <a:rPr lang="ja-JP" altLang="en-US" sz="2400" b="1" dirty="0">
                <a:solidFill>
                  <a:schemeClr val="hlink"/>
                </a:solidFill>
                <a:latin typeface="宋体" panose="02010600030101010101" pitchFamily="2" charset="-122"/>
                <a:ea typeface="MS PGothic" panose="020B0600070205080204" pitchFamily="34" charset="-128"/>
              </a:rPr>
              <a:t>　</a:t>
            </a:r>
            <a:r>
              <a:rPr lang="zh-CN" altLang="en-US" sz="2800" b="1" dirty="0">
                <a:solidFill>
                  <a:srgbClr val="CC3300"/>
                </a:solidFill>
                <a:latin typeface="楷体_GB2312" pitchFamily="49" charset="-122"/>
                <a:ea typeface="楷体_GB2312" pitchFamily="49" charset="-122"/>
              </a:rPr>
              <a:t>三、冲压件的厚度</a:t>
            </a:r>
            <a:endParaRPr lang="zh-CN" altLang="en-US" sz="2800" b="1" dirty="0">
              <a:solidFill>
                <a:srgbClr val="CC3300"/>
              </a:solidFill>
              <a:latin typeface="楷体_GB2312" pitchFamily="49" charset="-122"/>
              <a:ea typeface="楷体_GB2312" pitchFamily="49" charset="-122"/>
            </a:endParaRPr>
          </a:p>
          <a:p>
            <a:pPr eaLnBrk="1" hangingPunct="1">
              <a:buClrTx/>
              <a:buSzTx/>
              <a:buFontTx/>
              <a:buNone/>
            </a:pPr>
            <a:r>
              <a:rPr lang="zh-CN" altLang="en-US" sz="2400" b="1" dirty="0">
                <a:latin typeface="楷体_GB2312" pitchFamily="49" charset="-122"/>
                <a:ea typeface="楷体_GB2312" pitchFamily="49" charset="-122"/>
              </a:rPr>
              <a:t>   </a:t>
            </a:r>
            <a:r>
              <a:rPr lang="ja-JP" altLang="en-US"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在强度和刚度允许的条件下，应尽可能采用较薄的材料，以减少金属的消耗。对刚度不够的部位，可采用</a:t>
            </a:r>
            <a:r>
              <a:rPr lang="zh-CN" altLang="en-US" sz="2400" b="1" dirty="0">
                <a:solidFill>
                  <a:srgbClr val="FF0000"/>
                </a:solidFill>
                <a:latin typeface="楷体_GB2312" pitchFamily="49" charset="-122"/>
                <a:ea typeface="楷体_GB2312" pitchFamily="49" charset="-122"/>
              </a:rPr>
              <a:t>加强筋</a:t>
            </a:r>
            <a:r>
              <a:rPr lang="zh-CN" altLang="en-US" sz="2400" b="1" dirty="0">
                <a:latin typeface="楷体_GB2312" pitchFamily="49" charset="-122"/>
                <a:ea typeface="楷体_GB2312" pitchFamily="49" charset="-122"/>
              </a:rPr>
              <a:t>。</a:t>
            </a:r>
            <a:endParaRPr lang="zh-CN" altLang="en-US" sz="2400" b="1" dirty="0">
              <a:solidFill>
                <a:srgbClr val="FF0000"/>
              </a:solidFill>
              <a:latin typeface="楷体_GB2312" pitchFamily="49" charset="-122"/>
              <a:ea typeface="楷体_GB2312" pitchFamily="49" charset="-122"/>
            </a:endParaRPr>
          </a:p>
          <a:p>
            <a:pPr eaLnBrk="1" hangingPunct="1">
              <a:buClrTx/>
              <a:buSzTx/>
              <a:buFontTx/>
              <a:buNone/>
            </a:pPr>
            <a:endParaRPr lang="en-US" altLang="zh-CN" sz="2400" dirty="0">
              <a:latin typeface="楷体_GB2312" pitchFamily="49" charset="-122"/>
              <a:ea typeface="楷体_GB2312" pitchFamily="49" charset="-122"/>
            </a:endParaRPr>
          </a:p>
        </p:txBody>
      </p:sp>
      <p:pic>
        <p:nvPicPr>
          <p:cNvPr id="140292" name="Picture 5"/>
          <p:cNvPicPr>
            <a:picLocks noChangeAspect="1"/>
          </p:cNvPicPr>
          <p:nvPr>
            <p:ph sz="quarter" idx="3"/>
          </p:nvPr>
        </p:nvPicPr>
        <p:blipFill>
          <a:blip r:embed="rId1"/>
          <a:srcRect/>
          <a:stretch>
            <a:fillRect/>
          </a:stretch>
        </p:blipFill>
        <p:spPr>
          <a:xfrm>
            <a:off x="1928813" y="2928938"/>
            <a:ext cx="5226050" cy="3611562"/>
          </a:xfrm>
          <a:solidFill>
            <a:srgbClr val="FFFF99">
              <a:alpha val="100000"/>
            </a:srgbClr>
          </a:solidFill>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Text Box 2"/>
          <p:cNvSpPr txBox="1"/>
          <p:nvPr/>
        </p:nvSpPr>
        <p:spPr>
          <a:xfrm>
            <a:off x="381000" y="1554163"/>
            <a:ext cx="6738620" cy="583565"/>
          </a:xfrm>
          <a:prstGeom prst="rect">
            <a:avLst/>
          </a:prstGeom>
          <a:noFill/>
          <a:ln w="9525">
            <a:noFill/>
          </a:ln>
        </p:spPr>
        <p:txBody>
          <a:bodyPr wrap="none">
            <a:spAutoFit/>
          </a:bodyPr>
          <a:p>
            <a:pPr eaLnBrk="1" hangingPunct="1"/>
            <a:r>
              <a:rPr lang="zh-CN" altLang="en-US" sz="3200" b="1" dirty="0">
                <a:latin typeface="楷体_GB2312" pitchFamily="49" charset="-122"/>
                <a:ea typeface="楷体_GB2312" pitchFamily="49" charset="-122"/>
              </a:rPr>
              <a:t>作业：</a:t>
            </a:r>
            <a:r>
              <a:rPr lang="en-US" altLang="zh-CN" sz="3200" b="1" dirty="0">
                <a:latin typeface="楷体_GB2312" pitchFamily="49" charset="-122"/>
                <a:ea typeface="楷体_GB2312" pitchFamily="49" charset="-122"/>
              </a:rPr>
              <a:t>p140, (2), (3), (4), (7)</a:t>
            </a:r>
            <a:r>
              <a:rPr lang="zh-CN" altLang="en-US" sz="3200" b="1" dirty="0">
                <a:latin typeface="楷体_GB2312" pitchFamily="49" charset="-122"/>
                <a:ea typeface="楷体_GB2312" pitchFamily="49" charset="-122"/>
              </a:rPr>
              <a:t>。</a:t>
            </a:r>
            <a:endParaRPr lang="zh-CN" altLang="en-US" sz="3200" b="1" dirty="0">
              <a:latin typeface="楷体_GB2312" pitchFamily="49" charset="-122"/>
              <a:ea typeface="楷体_GB2312" pitchFamily="49" charset="-122"/>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Rectangle 4"/>
          <p:cNvSpPr/>
          <p:nvPr/>
        </p:nvSpPr>
        <p:spPr>
          <a:xfrm>
            <a:off x="107950" y="1274763"/>
            <a:ext cx="8748713" cy="3378200"/>
          </a:xfrm>
          <a:prstGeom prst="rect">
            <a:avLst/>
          </a:prstGeom>
          <a:noFill/>
          <a:ln w="9525">
            <a:noFill/>
          </a:ln>
        </p:spPr>
        <p:txBody>
          <a:bodyPr anchor="ctr" anchorCtr="0">
            <a:spAutoFit/>
          </a:bodyPr>
          <a:p>
            <a:pPr indent="228600" eaLnBrk="1" hangingPunct="1">
              <a:buFont typeface="Wingdings" panose="05000000000000000000" pitchFamily="2" charset="2"/>
              <a:buChar char="Ø"/>
            </a:pPr>
            <a:r>
              <a:rPr lang="zh-CN" altLang="en-US" sz="2400" b="1" dirty="0">
                <a:solidFill>
                  <a:srgbClr val="FF0000"/>
                </a:solidFill>
                <a:latin typeface="楷体_GB2312" pitchFamily="49" charset="-122"/>
                <a:ea typeface="楷体_GB2312" pitchFamily="49" charset="-122"/>
              </a:rPr>
              <a:t>挤压成形</a:t>
            </a:r>
            <a:endParaRPr lang="zh-CN" altLang="en-US" sz="2400" dirty="0">
              <a:solidFill>
                <a:srgbClr val="FF0000"/>
              </a:solidFill>
              <a:latin typeface="楷体_GB2312" pitchFamily="49" charset="-122"/>
              <a:ea typeface="楷体_GB2312" pitchFamily="49" charset="-122"/>
            </a:endParaRPr>
          </a:p>
          <a:p>
            <a:pPr indent="228600" eaLnBrk="1" hangingPunct="1"/>
            <a:r>
              <a:rPr lang="zh-CN" altLang="en-US" sz="2400" b="1" dirty="0">
                <a:solidFill>
                  <a:srgbClr val="009900"/>
                </a:solidFill>
                <a:latin typeface="楷体_GB2312" pitchFamily="49" charset="-122"/>
                <a:ea typeface="楷体_GB2312" pitchFamily="49" charset="-122"/>
              </a:rPr>
              <a:t>一、挤压：</a:t>
            </a:r>
            <a:r>
              <a:rPr lang="zh-CN" altLang="en-US" sz="2400" b="1" dirty="0">
                <a:latin typeface="楷体_GB2312" pitchFamily="49" charset="-122"/>
                <a:ea typeface="楷体_GB2312" pitchFamily="49" charset="-122"/>
              </a:rPr>
              <a:t>使金属坯料在挤压模中受强大压力作用而变形的加工方法。</a:t>
            </a:r>
            <a:endParaRPr lang="zh-CN" altLang="en-US" sz="2400" b="1" dirty="0">
              <a:latin typeface="楷体_GB2312" pitchFamily="49" charset="-122"/>
              <a:ea typeface="楷体_GB2312" pitchFamily="49" charset="-122"/>
            </a:endParaRPr>
          </a:p>
          <a:p>
            <a:pPr indent="228600" eaLnBrk="1" hangingPunct="1"/>
            <a:r>
              <a:rPr lang="zh-CN" altLang="en-US" sz="2400" b="1" dirty="0">
                <a:solidFill>
                  <a:srgbClr val="009900"/>
                </a:solidFill>
                <a:latin typeface="楷体_GB2312" pitchFamily="49" charset="-122"/>
                <a:ea typeface="楷体_GB2312" pitchFamily="49" charset="-122"/>
              </a:rPr>
              <a:t>二、挤压特点：</a:t>
            </a:r>
            <a:endParaRPr lang="zh-CN" altLang="en-US" sz="2400" b="1" dirty="0">
              <a:solidFill>
                <a:srgbClr val="009900"/>
              </a:solidFill>
              <a:latin typeface="楷体_GB2312" pitchFamily="49" charset="-122"/>
              <a:ea typeface="楷体_GB2312" pitchFamily="49" charset="-122"/>
            </a:endParaRPr>
          </a:p>
          <a:p>
            <a:pPr indent="228600" eaLnBrk="1" hangingPunct="1"/>
            <a:r>
              <a:rPr lang="zh-CN" altLang="en-US" sz="2400" b="1" dirty="0">
                <a:latin typeface="楷体_GB2312" pitchFamily="49" charset="-122"/>
                <a:ea typeface="楷体_GB2312" pitchFamily="49" charset="-122"/>
              </a:rPr>
              <a:t>   </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挤压时金属坯料在三向压应力作用下变形，可以提高金属坯料的塑性。</a:t>
            </a:r>
            <a:endParaRPr lang="zh-CN" altLang="en-US" sz="2400" b="1" dirty="0">
              <a:latin typeface="楷体_GB2312" pitchFamily="49" charset="-122"/>
              <a:ea typeface="楷体_GB2312" pitchFamily="49" charset="-122"/>
            </a:endParaRPr>
          </a:p>
          <a:p>
            <a:pPr indent="228600" eaLnBrk="1" hangingPunct="1"/>
            <a:r>
              <a:rPr lang="zh-CN" altLang="en-US" sz="2400" b="1" dirty="0">
                <a:latin typeface="楷体_GB2312" pitchFamily="49" charset="-122"/>
                <a:ea typeface="楷体_GB2312" pitchFamily="49" charset="-122"/>
              </a:rPr>
              <a:t>   </a:t>
            </a:r>
            <a:r>
              <a:rPr lang="en-US" altLang="zh-CN" sz="2400" b="1" dirty="0">
                <a:latin typeface="楷体_GB2312" pitchFamily="49" charset="-122"/>
                <a:ea typeface="楷体_GB2312" pitchFamily="49" charset="-122"/>
              </a:rPr>
              <a:t>2. </a:t>
            </a:r>
            <a:r>
              <a:rPr lang="zh-CN" altLang="en-US" sz="2400" b="1" dirty="0">
                <a:latin typeface="楷体_GB2312" pitchFamily="49" charset="-122"/>
                <a:ea typeface="楷体_GB2312" pitchFamily="49" charset="-122"/>
              </a:rPr>
              <a:t>可以挤压出各种形状复杂、深孔、薄壁、异型断的零件</a:t>
            </a:r>
            <a:endParaRPr lang="zh-CN" altLang="en-US" sz="2400" b="1" dirty="0">
              <a:latin typeface="楷体_GB2312" pitchFamily="49" charset="-122"/>
              <a:ea typeface="楷体_GB2312" pitchFamily="49" charset="-122"/>
            </a:endParaRPr>
          </a:p>
          <a:p>
            <a:pPr indent="228600" eaLnBrk="1" hangingPunct="1"/>
            <a:r>
              <a:rPr lang="zh-CN" altLang="en-US" sz="2400" b="1" dirty="0">
                <a:latin typeface="楷体_GB2312" pitchFamily="49" charset="-122"/>
                <a:ea typeface="楷体_GB2312" pitchFamily="49" charset="-122"/>
              </a:rPr>
              <a:t>   </a:t>
            </a:r>
            <a:r>
              <a:rPr lang="en-US" altLang="zh-CN" sz="2400" b="1" dirty="0">
                <a:latin typeface="楷体_GB2312" pitchFamily="49" charset="-122"/>
                <a:ea typeface="楷体_GB2312" pitchFamily="49" charset="-122"/>
              </a:rPr>
              <a:t>3. </a:t>
            </a:r>
            <a:r>
              <a:rPr lang="zh-CN" altLang="en-US" sz="2400" b="1" dirty="0">
                <a:latin typeface="楷体_GB2312" pitchFamily="49" charset="-122"/>
                <a:ea typeface="楷体_GB2312" pitchFamily="49" charset="-122"/>
              </a:rPr>
              <a:t>零件的力学性能好</a:t>
            </a:r>
            <a:endParaRPr lang="zh-CN" altLang="en-US" sz="2400" b="1" dirty="0">
              <a:latin typeface="楷体_GB2312" pitchFamily="49" charset="-122"/>
              <a:ea typeface="楷体_GB2312" pitchFamily="49" charset="-122"/>
            </a:endParaRPr>
          </a:p>
          <a:p>
            <a:pPr indent="228600" eaLnBrk="1" hangingPunct="1"/>
            <a:r>
              <a:rPr lang="zh-CN" altLang="en-US" sz="2400" b="1" dirty="0">
                <a:latin typeface="楷体_GB2312" pitchFamily="49" charset="-122"/>
                <a:ea typeface="楷体_GB2312" pitchFamily="49" charset="-122"/>
              </a:rPr>
              <a:t>   </a:t>
            </a:r>
            <a:r>
              <a:rPr lang="en-US" altLang="zh-CN" sz="2400" b="1" dirty="0">
                <a:latin typeface="楷体_GB2312" pitchFamily="49" charset="-122"/>
                <a:ea typeface="楷体_GB2312" pitchFamily="49" charset="-122"/>
              </a:rPr>
              <a:t>4. </a:t>
            </a:r>
            <a:r>
              <a:rPr lang="zh-CN" altLang="en-US" sz="2400" b="1" dirty="0">
                <a:latin typeface="楷体_GB2312" pitchFamily="49" charset="-122"/>
                <a:ea typeface="楷体_GB2312" pitchFamily="49" charset="-122"/>
              </a:rPr>
              <a:t>零件精度高，节省材料，材料利用率</a:t>
            </a:r>
            <a:r>
              <a:rPr lang="en-US" altLang="zh-CN" sz="2400" b="1" dirty="0">
                <a:latin typeface="楷体_GB2312" pitchFamily="49" charset="-122"/>
                <a:ea typeface="楷体_GB2312" pitchFamily="49" charset="-122"/>
              </a:rPr>
              <a:t>70%</a:t>
            </a:r>
            <a:endParaRPr lang="en-US" altLang="zh-CN" sz="2400" b="1" dirty="0">
              <a:latin typeface="楷体_GB2312" pitchFamily="49" charset="-122"/>
              <a:ea typeface="楷体_GB2312" pitchFamily="49" charset="-122"/>
            </a:endParaRPr>
          </a:p>
        </p:txBody>
      </p:sp>
      <p:sp>
        <p:nvSpPr>
          <p:cNvPr id="142339" name="Text Box 5"/>
          <p:cNvSpPr txBox="1"/>
          <p:nvPr/>
        </p:nvSpPr>
        <p:spPr>
          <a:xfrm>
            <a:off x="3013075" y="239713"/>
            <a:ext cx="5662613" cy="701675"/>
          </a:xfrm>
          <a:prstGeom prst="rect">
            <a:avLst/>
          </a:prstGeom>
          <a:noFill/>
          <a:ln w="9525">
            <a:noFill/>
          </a:ln>
        </p:spPr>
        <p:txBody>
          <a:bodyPr>
            <a:spAutoFit/>
          </a:bodyPr>
          <a:p>
            <a:pPr eaLnBrk="1" hangingPunct="1"/>
            <a:r>
              <a:rPr lang="zh-CN" altLang="en-US" sz="4000" b="1" dirty="0">
                <a:latin typeface="GreekS" pitchFamily="2" charset="0"/>
                <a:ea typeface="楷体_GB2312" pitchFamily="49" charset="-122"/>
              </a:rPr>
              <a:t>特种塑性加工方法简介</a:t>
            </a:r>
            <a:endParaRPr lang="zh-CN" altLang="en-US" sz="4000" b="1" dirty="0">
              <a:latin typeface="GreekS" pitchFamily="2" charset="0"/>
              <a:ea typeface="楷体_GB2312" pitchFamily="49" charset="-122"/>
            </a:endParaRPr>
          </a:p>
        </p:txBody>
      </p:sp>
      <p:pic>
        <p:nvPicPr>
          <p:cNvPr id="142340" name="Picture 6" descr="G111">
            <a:hlinkClick r:id="rId1" action="ppaction://hlinkfile"/>
          </p:cNvPr>
          <p:cNvPicPr>
            <a:picLocks noChangeAspect="1"/>
          </p:cNvPicPr>
          <p:nvPr/>
        </p:nvPicPr>
        <p:blipFill>
          <a:blip r:embed="rId2"/>
          <a:stretch>
            <a:fillRect/>
          </a:stretch>
        </p:blipFill>
        <p:spPr>
          <a:xfrm>
            <a:off x="2332038" y="4681538"/>
            <a:ext cx="1952625" cy="2060575"/>
          </a:xfrm>
          <a:prstGeom prst="rect">
            <a:avLst/>
          </a:prstGeom>
          <a:noFill/>
          <a:ln w="9525">
            <a:noFill/>
          </a:ln>
        </p:spPr>
      </p:pic>
      <p:pic>
        <p:nvPicPr>
          <p:cNvPr id="142341" name="Picture 7" descr="g14">
            <a:hlinkClick r:id="rId3" action="ppaction://hlinkfile"/>
          </p:cNvPr>
          <p:cNvPicPr>
            <a:picLocks noChangeAspect="1"/>
          </p:cNvPicPr>
          <p:nvPr/>
        </p:nvPicPr>
        <p:blipFill>
          <a:blip r:embed="rId4"/>
          <a:srcRect l="9824" t="15820" r="9790" b="17216"/>
          <a:stretch>
            <a:fillRect/>
          </a:stretch>
        </p:blipFill>
        <p:spPr>
          <a:xfrm>
            <a:off x="5148263" y="4787900"/>
            <a:ext cx="2160587" cy="1954213"/>
          </a:xfrm>
          <a:prstGeom prst="rect">
            <a:avLst/>
          </a:prstGeom>
          <a:noFill/>
          <a:ln w="9525">
            <a:noFill/>
          </a:ln>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Rectangle 2"/>
          <p:cNvSpPr/>
          <p:nvPr/>
        </p:nvSpPr>
        <p:spPr>
          <a:xfrm>
            <a:off x="179388" y="1087438"/>
            <a:ext cx="8640762" cy="2955925"/>
          </a:xfrm>
          <a:prstGeom prst="rect">
            <a:avLst/>
          </a:prstGeom>
          <a:noFill/>
          <a:ln w="9525">
            <a:noFill/>
          </a:ln>
        </p:spPr>
        <p:txBody>
          <a:bodyPr anchor="ctr" anchorCtr="0">
            <a:spAutoFit/>
          </a:bodyPr>
          <a:p>
            <a:pPr indent="228600" eaLnBrk="1" hangingPunct="1">
              <a:buFont typeface="Wingdings" panose="05000000000000000000" pitchFamily="2" charset="2"/>
              <a:buChar char="Ø"/>
            </a:pPr>
            <a:r>
              <a:rPr lang="zh-CN" altLang="en-US" sz="2400" b="1" dirty="0">
                <a:solidFill>
                  <a:srgbClr val="FF0000"/>
                </a:solidFill>
                <a:latin typeface="GreekS" pitchFamily="2" charset="0"/>
                <a:ea typeface="楷体_GB2312" pitchFamily="49" charset="-122"/>
              </a:rPr>
              <a:t>挤压成形</a:t>
            </a:r>
            <a:endParaRPr lang="zh-CN" altLang="en-US" sz="2400" dirty="0">
              <a:solidFill>
                <a:srgbClr val="FF0000"/>
              </a:solidFill>
              <a:latin typeface="GreekS" pitchFamily="2" charset="0"/>
              <a:ea typeface="楷体_GB2312" pitchFamily="49" charset="-122"/>
            </a:endParaRPr>
          </a:p>
          <a:p>
            <a:pPr indent="228600" eaLnBrk="1" hangingPunct="1"/>
            <a:r>
              <a:rPr lang="zh-CN" altLang="en-US" sz="2400" b="1" dirty="0">
                <a:solidFill>
                  <a:srgbClr val="CC3300"/>
                </a:solidFill>
                <a:latin typeface="楷体_GB2312" pitchFamily="49" charset="-122"/>
                <a:ea typeface="楷体_GB2312" pitchFamily="49" charset="-122"/>
              </a:rPr>
              <a:t>三、挤压分类</a:t>
            </a:r>
            <a:endParaRPr lang="zh-CN" altLang="en-US" sz="2400" b="1" dirty="0">
              <a:solidFill>
                <a:srgbClr val="CC3300"/>
              </a:solidFill>
              <a:latin typeface="楷体_GB2312" pitchFamily="49" charset="-122"/>
              <a:ea typeface="楷体_GB2312" pitchFamily="49" charset="-122"/>
            </a:endParaRPr>
          </a:p>
          <a:p>
            <a:pPr indent="228600" eaLnBrk="1" hangingPunct="1"/>
            <a:r>
              <a:rPr lang="zh-CN" altLang="en-US" sz="2000" b="1" dirty="0">
                <a:latin typeface="楷体_GB2312" pitchFamily="49" charset="-122"/>
                <a:ea typeface="楷体_GB2312" pitchFamily="49" charset="-122"/>
              </a:rPr>
              <a:t>   根据金属流动方向与挤压时凸模运动方向的关系，挤压成形可以分为四种：</a:t>
            </a:r>
            <a:endParaRPr lang="zh-CN" altLang="en-US" sz="2000" b="1" dirty="0">
              <a:latin typeface="楷体_GB2312" pitchFamily="49" charset="-122"/>
              <a:ea typeface="楷体_GB2312" pitchFamily="49" charset="-122"/>
            </a:endParaRPr>
          </a:p>
          <a:p>
            <a:pPr indent="228600" eaLnBrk="1" hangingPunct="1"/>
            <a:r>
              <a:rPr lang="zh-CN" altLang="en-US" sz="2000" b="1" dirty="0">
                <a:solidFill>
                  <a:srgbClr val="009900"/>
                </a:solidFill>
                <a:latin typeface="楷体_GB2312" pitchFamily="49" charset="-122"/>
                <a:ea typeface="楷体_GB2312" pitchFamily="49" charset="-122"/>
              </a:rPr>
              <a:t>（</a:t>
            </a:r>
            <a:r>
              <a:rPr lang="en-US" altLang="zh-CN" sz="2000" b="1" dirty="0">
                <a:solidFill>
                  <a:srgbClr val="009900"/>
                </a:solidFill>
                <a:latin typeface="楷体_GB2312" pitchFamily="49" charset="-122"/>
                <a:ea typeface="楷体_GB2312" pitchFamily="49" charset="-122"/>
              </a:rPr>
              <a:t>1</a:t>
            </a:r>
            <a:r>
              <a:rPr lang="zh-CN" altLang="en-US" sz="2000" b="1" dirty="0">
                <a:solidFill>
                  <a:srgbClr val="009900"/>
                </a:solidFill>
                <a:latin typeface="楷体_GB2312" pitchFamily="49" charset="-122"/>
                <a:ea typeface="楷体_GB2312" pitchFamily="49" charset="-122"/>
              </a:rPr>
              <a:t>）正挤压</a:t>
            </a:r>
            <a:r>
              <a:rPr lang="zh-CN" altLang="en-US" sz="2000" b="1" dirty="0">
                <a:latin typeface="楷体_GB2312" pitchFamily="49" charset="-122"/>
                <a:ea typeface="楷体_GB2312" pitchFamily="49" charset="-122"/>
              </a:rPr>
              <a:t>  挤压模出口处金属流动方向与凸模运动方向相同（图</a:t>
            </a:r>
            <a:r>
              <a:rPr lang="en-US" altLang="zh-CN" sz="2000" b="1" dirty="0">
                <a:latin typeface="楷体_GB2312" pitchFamily="49" charset="-122"/>
                <a:ea typeface="楷体_GB2312" pitchFamily="49" charset="-122"/>
              </a:rPr>
              <a:t>a</a:t>
            </a:r>
            <a:r>
              <a:rPr lang="zh-CN" altLang="en-US" sz="2000" b="1" dirty="0">
                <a:latin typeface="楷体_GB2312" pitchFamily="49" charset="-122"/>
                <a:ea typeface="楷体_GB2312" pitchFamily="49" charset="-122"/>
              </a:rPr>
              <a:t>）</a:t>
            </a:r>
            <a:endParaRPr lang="zh-CN" altLang="en-US" sz="2000" b="1" dirty="0">
              <a:latin typeface="楷体_GB2312" pitchFamily="49" charset="-122"/>
              <a:ea typeface="楷体_GB2312" pitchFamily="49" charset="-122"/>
            </a:endParaRPr>
          </a:p>
          <a:p>
            <a:pPr indent="228600" eaLnBrk="1" hangingPunct="1"/>
            <a:r>
              <a:rPr lang="zh-CN" altLang="en-US" sz="2000" b="1" dirty="0">
                <a:solidFill>
                  <a:srgbClr val="009900"/>
                </a:solidFill>
                <a:latin typeface="楷体_GB2312" pitchFamily="49" charset="-122"/>
                <a:ea typeface="楷体_GB2312" pitchFamily="49" charset="-122"/>
              </a:rPr>
              <a:t>（</a:t>
            </a:r>
            <a:r>
              <a:rPr lang="en-US" altLang="zh-CN" sz="2000" b="1" dirty="0">
                <a:solidFill>
                  <a:srgbClr val="009900"/>
                </a:solidFill>
                <a:latin typeface="楷体_GB2312" pitchFamily="49" charset="-122"/>
                <a:ea typeface="楷体_GB2312" pitchFamily="49" charset="-122"/>
              </a:rPr>
              <a:t>2</a:t>
            </a:r>
            <a:r>
              <a:rPr lang="zh-CN" altLang="en-US" sz="2000" b="1" dirty="0">
                <a:solidFill>
                  <a:srgbClr val="009900"/>
                </a:solidFill>
                <a:latin typeface="楷体_GB2312" pitchFamily="49" charset="-122"/>
                <a:ea typeface="楷体_GB2312" pitchFamily="49" charset="-122"/>
              </a:rPr>
              <a:t>）反挤压</a:t>
            </a:r>
            <a:r>
              <a:rPr lang="zh-CN" altLang="en-US" sz="2000" b="1" dirty="0">
                <a:latin typeface="楷体_GB2312" pitchFamily="49" charset="-122"/>
                <a:ea typeface="楷体_GB2312" pitchFamily="49" charset="-122"/>
              </a:rPr>
              <a:t>  挤压模出口处金属流动方向与凸模运动方向相反（图</a:t>
            </a:r>
            <a:r>
              <a:rPr lang="en-US" altLang="zh-CN" sz="2000" b="1" dirty="0">
                <a:latin typeface="楷体_GB2312" pitchFamily="49" charset="-122"/>
                <a:ea typeface="楷体_GB2312" pitchFamily="49" charset="-122"/>
              </a:rPr>
              <a:t>b</a:t>
            </a:r>
            <a:r>
              <a:rPr lang="zh-CN" altLang="en-US" sz="2000" b="1" dirty="0">
                <a:latin typeface="楷体_GB2312" pitchFamily="49" charset="-122"/>
                <a:ea typeface="楷体_GB2312" pitchFamily="49" charset="-122"/>
              </a:rPr>
              <a:t>）</a:t>
            </a:r>
            <a:endParaRPr lang="zh-CN" altLang="en-US" sz="2000" b="1" dirty="0">
              <a:latin typeface="楷体_GB2312" pitchFamily="49" charset="-122"/>
              <a:ea typeface="楷体_GB2312" pitchFamily="49" charset="-122"/>
            </a:endParaRPr>
          </a:p>
          <a:p>
            <a:pPr indent="228600" eaLnBrk="1" hangingPunct="1"/>
            <a:r>
              <a:rPr lang="zh-CN" altLang="en-US" sz="2000" b="1" dirty="0">
                <a:solidFill>
                  <a:srgbClr val="009900"/>
                </a:solidFill>
                <a:latin typeface="楷体_GB2312" pitchFamily="49" charset="-122"/>
                <a:ea typeface="楷体_GB2312" pitchFamily="49" charset="-122"/>
              </a:rPr>
              <a:t>（</a:t>
            </a:r>
            <a:r>
              <a:rPr lang="en-US" altLang="zh-CN" sz="2000" b="1" dirty="0">
                <a:solidFill>
                  <a:srgbClr val="009900"/>
                </a:solidFill>
                <a:latin typeface="楷体_GB2312" pitchFamily="49" charset="-122"/>
                <a:ea typeface="楷体_GB2312" pitchFamily="49" charset="-122"/>
              </a:rPr>
              <a:t>3</a:t>
            </a:r>
            <a:r>
              <a:rPr lang="zh-CN" altLang="en-US" sz="2000" b="1" dirty="0">
                <a:solidFill>
                  <a:srgbClr val="009900"/>
                </a:solidFill>
                <a:latin typeface="楷体_GB2312" pitchFamily="49" charset="-122"/>
                <a:ea typeface="楷体_GB2312" pitchFamily="49" charset="-122"/>
              </a:rPr>
              <a:t>）复合挤压</a:t>
            </a:r>
            <a:r>
              <a:rPr lang="zh-CN" altLang="en-US" sz="2000" b="1" dirty="0">
                <a:latin typeface="楷体_GB2312" pitchFamily="49" charset="-122"/>
                <a:ea typeface="楷体_GB2312" pitchFamily="49" charset="-122"/>
              </a:rPr>
              <a:t>  挤压模出口处一部分金属的流动方向与凸模运动方向相同，而另一部分金属流动方向与凸模运动方向相反（图</a:t>
            </a:r>
            <a:r>
              <a:rPr lang="en-US" altLang="zh-CN" sz="2000" b="1" dirty="0">
                <a:latin typeface="楷体_GB2312" pitchFamily="49" charset="-122"/>
                <a:ea typeface="楷体_GB2312" pitchFamily="49" charset="-122"/>
              </a:rPr>
              <a:t>c</a:t>
            </a:r>
            <a:r>
              <a:rPr lang="zh-CN" altLang="en-US" sz="2000" b="1" dirty="0">
                <a:latin typeface="楷体_GB2312" pitchFamily="49" charset="-122"/>
                <a:ea typeface="楷体_GB2312" pitchFamily="49" charset="-122"/>
              </a:rPr>
              <a:t>）</a:t>
            </a:r>
            <a:endParaRPr lang="zh-CN" altLang="en-US" sz="2000" b="1" dirty="0">
              <a:latin typeface="楷体_GB2312" pitchFamily="49" charset="-122"/>
              <a:ea typeface="楷体_GB2312" pitchFamily="49" charset="-122"/>
            </a:endParaRPr>
          </a:p>
          <a:p>
            <a:pPr indent="228600" eaLnBrk="1" hangingPunct="1"/>
            <a:r>
              <a:rPr lang="zh-CN" altLang="en-US" sz="2000" b="1" dirty="0">
                <a:solidFill>
                  <a:srgbClr val="009900"/>
                </a:solidFill>
                <a:latin typeface="楷体_GB2312" pitchFamily="49" charset="-122"/>
                <a:ea typeface="楷体_GB2312" pitchFamily="49" charset="-122"/>
              </a:rPr>
              <a:t>（</a:t>
            </a:r>
            <a:r>
              <a:rPr lang="en-US" altLang="zh-CN" sz="2000" b="1" dirty="0">
                <a:solidFill>
                  <a:srgbClr val="009900"/>
                </a:solidFill>
                <a:latin typeface="楷体_GB2312" pitchFamily="49" charset="-122"/>
                <a:ea typeface="楷体_GB2312" pitchFamily="49" charset="-122"/>
              </a:rPr>
              <a:t>4</a:t>
            </a:r>
            <a:r>
              <a:rPr lang="zh-CN" altLang="en-US" sz="2000" b="1" dirty="0">
                <a:solidFill>
                  <a:srgbClr val="009900"/>
                </a:solidFill>
                <a:latin typeface="楷体_GB2312" pitchFamily="49" charset="-122"/>
                <a:ea typeface="楷体_GB2312" pitchFamily="49" charset="-122"/>
              </a:rPr>
              <a:t>）径向挤压</a:t>
            </a:r>
            <a:r>
              <a:rPr lang="zh-CN" altLang="en-US" sz="2000" b="1" dirty="0">
                <a:latin typeface="楷体_GB2312" pitchFamily="49" charset="-122"/>
                <a:ea typeface="楷体_GB2312" pitchFamily="49" charset="-122"/>
              </a:rPr>
              <a:t>  挤压模出口处金属流动方向与凸模运动方向垂直（图</a:t>
            </a:r>
            <a:r>
              <a:rPr lang="en-US" altLang="zh-CN" sz="2000" b="1" dirty="0">
                <a:latin typeface="楷体_GB2312" pitchFamily="49" charset="-122"/>
                <a:ea typeface="楷体_GB2312" pitchFamily="49" charset="-122"/>
              </a:rPr>
              <a:t>d</a:t>
            </a:r>
            <a:r>
              <a:rPr lang="zh-CN" altLang="en-US" sz="2000" b="1" dirty="0">
                <a:latin typeface="楷体_GB2312" pitchFamily="49" charset="-122"/>
                <a:ea typeface="楷体_GB2312" pitchFamily="49" charset="-122"/>
              </a:rPr>
              <a:t>）</a:t>
            </a:r>
            <a:endParaRPr lang="zh-CN" altLang="en-US" sz="2000" b="1" dirty="0">
              <a:latin typeface="楷体_GB2312" pitchFamily="49" charset="-122"/>
              <a:ea typeface="楷体_GB2312" pitchFamily="49" charset="-122"/>
            </a:endParaRPr>
          </a:p>
        </p:txBody>
      </p:sp>
      <p:grpSp>
        <p:nvGrpSpPr>
          <p:cNvPr id="143363" name="Group 8"/>
          <p:cNvGrpSpPr/>
          <p:nvPr/>
        </p:nvGrpSpPr>
        <p:grpSpPr>
          <a:xfrm>
            <a:off x="1042988" y="4089400"/>
            <a:ext cx="7345362" cy="2586038"/>
            <a:chOff x="657" y="2576"/>
            <a:chExt cx="4627" cy="1629"/>
          </a:xfrm>
        </p:grpSpPr>
        <p:pic>
          <p:nvPicPr>
            <p:cNvPr id="143365" name="Picture 6"/>
            <p:cNvPicPr>
              <a:picLocks noChangeAspect="1"/>
            </p:cNvPicPr>
            <p:nvPr/>
          </p:nvPicPr>
          <p:blipFill>
            <a:blip r:embed="rId1"/>
            <a:stretch>
              <a:fillRect/>
            </a:stretch>
          </p:blipFill>
          <p:spPr>
            <a:xfrm>
              <a:off x="657" y="2576"/>
              <a:ext cx="4627" cy="1625"/>
            </a:xfrm>
            <a:prstGeom prst="rect">
              <a:avLst/>
            </a:prstGeom>
            <a:noFill/>
            <a:ln w="9525">
              <a:noFill/>
            </a:ln>
          </p:spPr>
        </p:pic>
        <p:sp>
          <p:nvSpPr>
            <p:cNvPr id="143366" name="Rectangle 7"/>
            <p:cNvSpPr/>
            <p:nvPr/>
          </p:nvSpPr>
          <p:spPr>
            <a:xfrm>
              <a:off x="2309" y="3974"/>
              <a:ext cx="1206" cy="231"/>
            </a:xfrm>
            <a:prstGeom prst="rect">
              <a:avLst/>
            </a:prstGeom>
            <a:solidFill>
              <a:srgbClr val="FFFFFF"/>
            </a:solidFill>
            <a:ln w="9525">
              <a:noFill/>
            </a:ln>
          </p:spPr>
          <p:txBody>
            <a:bodyPr wrap="none">
              <a:spAutoFit/>
            </a:bodyPr>
            <a:p>
              <a:pPr eaLnBrk="1" hangingPunct="1"/>
              <a:r>
                <a:rPr lang="zh-CN" altLang="en-US" b="1" dirty="0">
                  <a:solidFill>
                    <a:srgbClr val="000000"/>
                  </a:solidFill>
                  <a:latin typeface="楷体_GB2312" pitchFamily="49" charset="-122"/>
                  <a:ea typeface="楷体_GB2312" pitchFamily="49" charset="-122"/>
                </a:rPr>
                <a:t>图</a:t>
              </a:r>
              <a:r>
                <a:rPr lang="en-US" altLang="zh-CN" b="1" dirty="0">
                  <a:solidFill>
                    <a:srgbClr val="000000"/>
                  </a:solidFill>
                  <a:latin typeface="楷体_GB2312" pitchFamily="49" charset="-122"/>
                  <a:ea typeface="楷体_GB2312" pitchFamily="49" charset="-122"/>
                </a:rPr>
                <a:t>3-67 </a:t>
              </a:r>
              <a:r>
                <a:rPr lang="zh-CN" altLang="en-US" b="1" dirty="0">
                  <a:solidFill>
                    <a:srgbClr val="000000"/>
                  </a:solidFill>
                  <a:latin typeface="楷体_GB2312" pitchFamily="49" charset="-122"/>
                  <a:ea typeface="楷体_GB2312" pitchFamily="49" charset="-122"/>
                </a:rPr>
                <a:t>挤压类型</a:t>
              </a:r>
              <a:endParaRPr lang="zh-CN" altLang="en-US" b="1" dirty="0">
                <a:solidFill>
                  <a:srgbClr val="000000"/>
                </a:solidFill>
                <a:latin typeface="楷体_GB2312" pitchFamily="49" charset="-122"/>
                <a:ea typeface="楷体_GB2312" pitchFamily="49" charset="-122"/>
              </a:endParaRPr>
            </a:p>
          </p:txBody>
        </p:sp>
      </p:grpSp>
      <p:sp>
        <p:nvSpPr>
          <p:cNvPr id="143364" name="Text Box 9"/>
          <p:cNvSpPr txBox="1"/>
          <p:nvPr/>
        </p:nvSpPr>
        <p:spPr>
          <a:xfrm>
            <a:off x="3013075" y="239713"/>
            <a:ext cx="5662613" cy="701675"/>
          </a:xfrm>
          <a:prstGeom prst="rect">
            <a:avLst/>
          </a:prstGeom>
          <a:noFill/>
          <a:ln w="9525">
            <a:noFill/>
          </a:ln>
        </p:spPr>
        <p:txBody>
          <a:bodyPr>
            <a:spAutoFit/>
          </a:bodyPr>
          <a:p>
            <a:pPr eaLnBrk="1" hangingPunct="1"/>
            <a:r>
              <a:rPr lang="zh-CN" altLang="en-US" sz="4000" b="1" dirty="0">
                <a:latin typeface="GreekS" pitchFamily="2" charset="0"/>
                <a:ea typeface="楷体_GB2312" pitchFamily="49" charset="-122"/>
              </a:rPr>
              <a:t>特种塑性加工方法简介</a:t>
            </a:r>
            <a:endParaRPr lang="zh-CN" altLang="en-US" sz="4000" b="1" dirty="0">
              <a:latin typeface="GreekS" pitchFamily="2" charset="0"/>
              <a:ea typeface="楷体_GB2312" pitchFamily="49" charset="-122"/>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5" name="Rectangle 2"/>
          <p:cNvSpPr>
            <a:spLocks noGrp="1"/>
          </p:cNvSpPr>
          <p:nvPr>
            <p:ph type="title"/>
          </p:nvPr>
        </p:nvSpPr>
        <p:spPr/>
        <p:txBody>
          <a:bodyPr vert="horz" wrap="square" lIns="91440" tIns="45720" rIns="91440" bIns="45720" anchor="ctr" anchorCtr="0"/>
          <a:p>
            <a:pPr algn="ctr" eaLnBrk="1" hangingPunct="1"/>
            <a:r>
              <a:rPr lang="zh-CN" altLang="en-US" sz="4000" dirty="0">
                <a:ea typeface="楷体_GB2312" pitchFamily="49" charset="-122"/>
              </a:rPr>
              <a:t>零件挤压</a:t>
            </a:r>
            <a:endParaRPr lang="zh-CN" altLang="en-US" sz="4000" dirty="0">
              <a:ea typeface="楷体_GB2312" pitchFamily="49" charset="-122"/>
            </a:endParaRPr>
          </a:p>
        </p:txBody>
      </p:sp>
      <p:sp>
        <p:nvSpPr>
          <p:cNvPr id="3076" name="Rectangle 3"/>
          <p:cNvSpPr>
            <a:spLocks noGrp="1"/>
          </p:cNvSpPr>
          <p:nvPr>
            <p:ph type="body" sz="half" idx="1"/>
          </p:nvPr>
        </p:nvSpPr>
        <p:spPr>
          <a:xfrm>
            <a:off x="457200" y="1371600"/>
            <a:ext cx="4000500" cy="473075"/>
          </a:xfrm>
        </p:spPr>
        <p:txBody>
          <a:bodyPr vert="horz" wrap="square" lIns="91440" tIns="45720" rIns="91440" bIns="45720" anchor="t" anchorCtr="0"/>
          <a:p>
            <a:pPr eaLnBrk="1" hangingPunct="1">
              <a:buClrTx/>
              <a:buSzTx/>
              <a:buFontTx/>
              <a:buNone/>
            </a:pPr>
            <a:r>
              <a:rPr lang="zh-CN" altLang="en-US" sz="2400" b="1" dirty="0">
                <a:solidFill>
                  <a:srgbClr val="FF3300"/>
                </a:solidFill>
                <a:latin typeface="楷体_GB2312" pitchFamily="49" charset="-122"/>
                <a:ea typeface="楷体_GB2312" pitchFamily="49" charset="-122"/>
              </a:rPr>
              <a:t>三、挤压分类</a:t>
            </a:r>
            <a:endParaRPr lang="zh-CN" altLang="en-US" sz="2400" b="1" dirty="0">
              <a:solidFill>
                <a:srgbClr val="FF3300"/>
              </a:solidFill>
              <a:latin typeface="楷体_GB2312" pitchFamily="49" charset="-122"/>
              <a:ea typeface="楷体_GB2312" pitchFamily="49" charset="-122"/>
            </a:endParaRPr>
          </a:p>
        </p:txBody>
      </p:sp>
    </p:spTree>
    <p:controls>
      <mc:AlternateContent xmlns:mc="http://schemas.openxmlformats.org/markup-compatibility/2006">
        <mc:Choice xmlns:v="urn:schemas-microsoft-com:vml" Requires="v">
          <p:control spid="3074" name="" r:id="rId1" imgW="6588125" imgH="4103370"/>
        </mc:Choice>
        <mc:Fallback>
          <p:control name="" r:id="rId1" imgW="6588125" imgH="4103370">
            <p:pic>
              <p:nvPicPr>
                <p:cNvPr id="0" name="Host Control  3073"/>
                <p:cNvPicPr/>
                <p:nvPr/>
              </p:nvPicPr>
              <p:blipFill>
                <a:blip r:embed="rId2"/>
                <a:stretch>
                  <a:fillRect/>
                </a:stretch>
              </p:blipFill>
              <p:spPr>
                <a:xfrm>
                  <a:off x="1476375" y="1989138"/>
                  <a:ext cx="6588125" cy="4103370"/>
                </a:xfrm>
                <a:prstGeom prst="rect">
                  <a:avLst/>
                </a:prstGeom>
              </p:spPr>
            </p:pic>
          </p:control>
        </mc:Fallback>
      </mc:AlternateContent>
    </p:controls>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Rectangle 2"/>
          <p:cNvSpPr>
            <a:spLocks noGrp="1"/>
          </p:cNvSpPr>
          <p:nvPr>
            <p:ph type="title"/>
          </p:nvPr>
        </p:nvSpPr>
        <p:spPr/>
        <p:txBody>
          <a:bodyPr vert="horz" wrap="square" lIns="91440" tIns="45720" rIns="91440" bIns="45720" anchor="ctr" anchorCtr="0"/>
          <a:p>
            <a:pPr algn="ctr" eaLnBrk="1" hangingPunct="1"/>
            <a:r>
              <a:rPr lang="zh-CN" altLang="en-US" sz="4000" dirty="0">
                <a:ea typeface="楷体_GB2312" pitchFamily="49" charset="-122"/>
              </a:rPr>
              <a:t>零件挤压</a:t>
            </a:r>
            <a:endParaRPr lang="zh-CN" altLang="en-US" sz="4000" dirty="0">
              <a:ea typeface="楷体_GB2312" pitchFamily="49" charset="-122"/>
            </a:endParaRPr>
          </a:p>
        </p:txBody>
      </p:sp>
      <p:sp>
        <p:nvSpPr>
          <p:cNvPr id="4100" name="Rectangle 3"/>
          <p:cNvSpPr>
            <a:spLocks noGrp="1"/>
          </p:cNvSpPr>
          <p:nvPr>
            <p:ph type="body" sz="half" idx="1"/>
          </p:nvPr>
        </p:nvSpPr>
        <p:spPr>
          <a:xfrm>
            <a:off x="457200" y="1371600"/>
            <a:ext cx="4000500" cy="473075"/>
          </a:xfrm>
        </p:spPr>
        <p:txBody>
          <a:bodyPr vert="horz" wrap="square" lIns="91440" tIns="45720" rIns="91440" bIns="45720" anchor="t" anchorCtr="0"/>
          <a:p>
            <a:pPr eaLnBrk="1" hangingPunct="1">
              <a:buClrTx/>
              <a:buSzTx/>
              <a:buFontTx/>
              <a:buNone/>
            </a:pPr>
            <a:r>
              <a:rPr lang="zh-CN" altLang="en-US" sz="2400" b="1" dirty="0">
                <a:solidFill>
                  <a:srgbClr val="FF3300"/>
                </a:solidFill>
                <a:latin typeface="楷体_GB2312" pitchFamily="49" charset="-122"/>
                <a:ea typeface="楷体_GB2312" pitchFamily="49" charset="-122"/>
              </a:rPr>
              <a:t>三、挤压分类</a:t>
            </a:r>
            <a:endParaRPr lang="zh-CN" altLang="en-US" sz="2400" b="1" dirty="0">
              <a:solidFill>
                <a:srgbClr val="FF3300"/>
              </a:solidFill>
              <a:latin typeface="楷体_GB2312" pitchFamily="49" charset="-122"/>
              <a:ea typeface="楷体_GB2312" pitchFamily="49" charset="-122"/>
            </a:endParaRPr>
          </a:p>
        </p:txBody>
      </p:sp>
    </p:spTree>
    <p:controls>
      <mc:AlternateContent xmlns:mc="http://schemas.openxmlformats.org/markup-compatibility/2006">
        <mc:Choice xmlns:v="urn:schemas-microsoft-com:vml" Requires="v">
          <p:control spid="4098" name="" r:id="rId1" imgW="6913245" imgH="4248150"/>
        </mc:Choice>
        <mc:Fallback>
          <p:control name="" r:id="rId1" imgW="6913245" imgH="4248150">
            <p:pic>
              <p:nvPicPr>
                <p:cNvPr id="0" name="Host Control  4097"/>
                <p:cNvPicPr/>
                <p:nvPr/>
              </p:nvPicPr>
              <p:blipFill>
                <a:blip r:embed="rId2"/>
                <a:stretch>
                  <a:fillRect/>
                </a:stretch>
              </p:blipFill>
              <p:spPr>
                <a:xfrm>
                  <a:off x="1258888" y="1989138"/>
                  <a:ext cx="6913245" cy="4248150"/>
                </a:xfrm>
                <a:prstGeom prst="rect">
                  <a:avLst/>
                </a:prstGeom>
              </p:spPr>
            </p:pic>
          </p:control>
        </mc:Fallback>
      </mc:AlternateContent>
    </p:controls>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Rectangle 2"/>
          <p:cNvSpPr>
            <a:spLocks noGrp="1"/>
          </p:cNvSpPr>
          <p:nvPr>
            <p:ph type="title"/>
          </p:nvPr>
        </p:nvSpPr>
        <p:spPr/>
        <p:txBody>
          <a:bodyPr vert="horz" wrap="square" lIns="91440" tIns="45720" rIns="91440" bIns="45720" anchor="ctr" anchorCtr="0"/>
          <a:p>
            <a:pPr algn="ctr" eaLnBrk="1" hangingPunct="1"/>
            <a:r>
              <a:rPr lang="zh-CN" altLang="en-US" sz="4000" dirty="0">
                <a:ea typeface="楷体_GB2312" pitchFamily="49" charset="-122"/>
              </a:rPr>
              <a:t>零件挤压</a:t>
            </a:r>
            <a:endParaRPr lang="zh-CN" altLang="en-US" sz="4000" dirty="0">
              <a:ea typeface="楷体_GB2312" pitchFamily="49" charset="-122"/>
            </a:endParaRPr>
          </a:p>
        </p:txBody>
      </p:sp>
      <p:sp>
        <p:nvSpPr>
          <p:cNvPr id="5124" name="Rectangle 3"/>
          <p:cNvSpPr>
            <a:spLocks noGrp="1"/>
          </p:cNvSpPr>
          <p:nvPr>
            <p:ph type="body" sz="half" idx="1"/>
          </p:nvPr>
        </p:nvSpPr>
        <p:spPr>
          <a:xfrm>
            <a:off x="457200" y="1371600"/>
            <a:ext cx="4000500" cy="473075"/>
          </a:xfrm>
        </p:spPr>
        <p:txBody>
          <a:bodyPr vert="horz" wrap="square" lIns="91440" tIns="45720" rIns="91440" bIns="45720" anchor="t" anchorCtr="0"/>
          <a:p>
            <a:pPr eaLnBrk="1" hangingPunct="1">
              <a:buClrTx/>
              <a:buSzTx/>
              <a:buFontTx/>
              <a:buNone/>
            </a:pPr>
            <a:r>
              <a:rPr lang="zh-CN" altLang="en-US" sz="2400" b="1" dirty="0">
                <a:solidFill>
                  <a:srgbClr val="FF3300"/>
                </a:solidFill>
                <a:latin typeface="楷体_GB2312" pitchFamily="49" charset="-122"/>
                <a:ea typeface="楷体_GB2312" pitchFamily="49" charset="-122"/>
              </a:rPr>
              <a:t>三、挤压分类</a:t>
            </a:r>
            <a:endParaRPr lang="zh-CN" altLang="en-US" sz="2400" b="1" dirty="0">
              <a:solidFill>
                <a:srgbClr val="FF3300"/>
              </a:solidFill>
              <a:latin typeface="楷体_GB2312" pitchFamily="49" charset="-122"/>
              <a:ea typeface="楷体_GB2312" pitchFamily="49" charset="-122"/>
            </a:endParaRPr>
          </a:p>
        </p:txBody>
      </p:sp>
    </p:spTree>
    <p:controls>
      <mc:AlternateContent xmlns:mc="http://schemas.openxmlformats.org/markup-compatibility/2006">
        <mc:Choice xmlns:v="urn:schemas-microsoft-com:vml" Requires="v">
          <p:control spid="5122" name="" r:id="rId1" imgW="6775450" imgH="4392295"/>
        </mc:Choice>
        <mc:Fallback>
          <p:control name="" r:id="rId1" imgW="6775450" imgH="4392295">
            <p:pic>
              <p:nvPicPr>
                <p:cNvPr id="0" name="Host Control  5121"/>
                <p:cNvPicPr/>
                <p:nvPr/>
              </p:nvPicPr>
              <p:blipFill>
                <a:blip r:embed="rId2"/>
                <a:stretch>
                  <a:fillRect/>
                </a:stretch>
              </p:blipFill>
              <p:spPr>
                <a:xfrm>
                  <a:off x="1403350" y="1916113"/>
                  <a:ext cx="6775450" cy="4392295"/>
                </a:xfrm>
                <a:prstGeom prst="rect">
                  <a:avLst/>
                </a:prstGeom>
              </p:spPr>
            </p:pic>
          </p:control>
        </mc:Fallback>
      </mc:AlternateContent>
    </p:controls>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2"/>
          <p:cNvSpPr>
            <a:spLocks noGrp="1"/>
          </p:cNvSpPr>
          <p:nvPr>
            <p:ph type="title"/>
          </p:nvPr>
        </p:nvSpPr>
        <p:spPr/>
        <p:txBody>
          <a:bodyPr vert="horz" wrap="square" lIns="91440" tIns="45720" rIns="91440" bIns="45720" anchor="ctr" anchorCtr="0"/>
          <a:p>
            <a:pPr algn="ctr" eaLnBrk="1" hangingPunct="1"/>
            <a:r>
              <a:rPr lang="zh-CN" altLang="en-US" sz="4000" dirty="0">
                <a:ea typeface="楷体_GB2312" pitchFamily="49" charset="-122"/>
              </a:rPr>
              <a:t>零件挤压</a:t>
            </a:r>
            <a:endParaRPr lang="zh-CN" altLang="en-US" sz="4000" dirty="0">
              <a:ea typeface="楷体_GB2312" pitchFamily="49" charset="-122"/>
            </a:endParaRPr>
          </a:p>
        </p:txBody>
      </p:sp>
      <p:sp>
        <p:nvSpPr>
          <p:cNvPr id="6148" name="Rectangle 3"/>
          <p:cNvSpPr>
            <a:spLocks noGrp="1"/>
          </p:cNvSpPr>
          <p:nvPr>
            <p:ph type="body" sz="half" idx="1"/>
          </p:nvPr>
        </p:nvSpPr>
        <p:spPr>
          <a:xfrm>
            <a:off x="457200" y="1371600"/>
            <a:ext cx="4000500" cy="473075"/>
          </a:xfrm>
        </p:spPr>
        <p:txBody>
          <a:bodyPr vert="horz" wrap="square" lIns="91440" tIns="45720" rIns="91440" bIns="45720" anchor="t" anchorCtr="0"/>
          <a:p>
            <a:pPr eaLnBrk="1" hangingPunct="1">
              <a:buClrTx/>
              <a:buSzTx/>
              <a:buFontTx/>
              <a:buNone/>
            </a:pPr>
            <a:r>
              <a:rPr lang="zh-CN" altLang="en-US" sz="2400" b="1" dirty="0">
                <a:solidFill>
                  <a:srgbClr val="FF3300"/>
                </a:solidFill>
                <a:latin typeface="楷体_GB2312" pitchFamily="49" charset="-122"/>
                <a:ea typeface="楷体_GB2312" pitchFamily="49" charset="-122"/>
              </a:rPr>
              <a:t>三、挤压分类</a:t>
            </a:r>
            <a:endParaRPr lang="zh-CN" altLang="en-US" sz="2400" b="1" dirty="0">
              <a:solidFill>
                <a:srgbClr val="FF3300"/>
              </a:solidFill>
              <a:latin typeface="楷体_GB2312" pitchFamily="49" charset="-122"/>
              <a:ea typeface="楷体_GB2312" pitchFamily="49" charset="-122"/>
            </a:endParaRPr>
          </a:p>
        </p:txBody>
      </p:sp>
    </p:spTree>
    <p:controls>
      <mc:AlternateContent xmlns:mc="http://schemas.openxmlformats.org/markup-compatibility/2006">
        <mc:Choice xmlns:v="urn:schemas-microsoft-com:vml" Requires="v">
          <p:control spid="6146" name="" r:id="rId1" imgW="7567295" imgH="4595495"/>
        </mc:Choice>
        <mc:Fallback>
          <p:control name="" r:id="rId1" imgW="7567295" imgH="4595495">
            <p:pic>
              <p:nvPicPr>
                <p:cNvPr id="0" name="Host Control  6145"/>
                <p:cNvPicPr/>
                <p:nvPr/>
              </p:nvPicPr>
              <p:blipFill>
                <a:blip r:embed="rId2"/>
                <a:stretch>
                  <a:fillRect/>
                </a:stretch>
              </p:blipFill>
              <p:spPr>
                <a:xfrm>
                  <a:off x="1042988" y="1928813"/>
                  <a:ext cx="7567295" cy="4595495"/>
                </a:xfrm>
                <a:prstGeom prst="rect">
                  <a:avLst/>
                </a:prstGeom>
              </p:spPr>
            </p:pic>
          </p:control>
        </mc:Fallback>
      </mc:AlternateContent>
    </p:controls>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Rectangle 5"/>
          <p:cNvSpPr/>
          <p:nvPr/>
        </p:nvSpPr>
        <p:spPr>
          <a:xfrm>
            <a:off x="3089275" y="260350"/>
            <a:ext cx="4606925" cy="701675"/>
          </a:xfrm>
          <a:prstGeom prst="rect">
            <a:avLst/>
          </a:prstGeom>
          <a:noFill/>
          <a:ln w="9525">
            <a:noFill/>
          </a:ln>
        </p:spPr>
        <p:txBody>
          <a:bodyPr>
            <a:spAutoFit/>
          </a:bodyPr>
          <a:p>
            <a:pPr algn="ctr" eaLnBrk="1" hangingPunct="1"/>
            <a:r>
              <a:rPr lang="zh-CN" altLang="en-US" sz="4000" b="1" dirty="0">
                <a:latin typeface="GreekS" pitchFamily="2" charset="0"/>
                <a:ea typeface="楷体_GB2312" pitchFamily="49" charset="-122"/>
              </a:rPr>
              <a:t>零件挤压</a:t>
            </a:r>
            <a:endParaRPr lang="zh-CN" altLang="en-US" sz="4000" b="1" dirty="0">
              <a:latin typeface="GreekS" pitchFamily="2" charset="0"/>
              <a:ea typeface="楷体_GB2312" pitchFamily="49" charset="-122"/>
            </a:endParaRPr>
          </a:p>
        </p:txBody>
      </p:sp>
      <p:sp>
        <p:nvSpPr>
          <p:cNvPr id="144387" name="Rectangle 6"/>
          <p:cNvSpPr/>
          <p:nvPr/>
        </p:nvSpPr>
        <p:spPr>
          <a:xfrm>
            <a:off x="250825" y="1268413"/>
            <a:ext cx="8424863" cy="1917700"/>
          </a:xfrm>
          <a:prstGeom prst="rect">
            <a:avLst/>
          </a:prstGeom>
          <a:noFill/>
          <a:ln w="9525">
            <a:noFill/>
          </a:ln>
        </p:spPr>
        <p:txBody>
          <a:bodyPr>
            <a:spAutoFit/>
          </a:bodyPr>
          <a:p>
            <a:pPr eaLnBrk="1" hangingPunct="1">
              <a:buFont typeface="Wingdings" panose="05000000000000000000" pitchFamily="2" charset="2"/>
              <a:buChar char="Ø"/>
            </a:pPr>
            <a:r>
              <a:rPr lang="zh-CN" altLang="en-US" sz="2400" b="1" dirty="0">
                <a:solidFill>
                  <a:srgbClr val="CC3300"/>
                </a:solidFill>
                <a:latin typeface="楷体_GB2312" pitchFamily="49" charset="-122"/>
                <a:ea typeface="楷体_GB2312" pitchFamily="49" charset="-122"/>
              </a:rPr>
              <a:t>按坯料的挤压温度不同分为：</a:t>
            </a:r>
            <a:endParaRPr lang="zh-CN" altLang="en-US" sz="2400" b="1" dirty="0">
              <a:solidFill>
                <a:srgbClr val="CC3300"/>
              </a:solidFill>
              <a:latin typeface="楷体_GB2312" pitchFamily="49" charset="-122"/>
              <a:ea typeface="楷体_GB2312" pitchFamily="49" charset="-122"/>
            </a:endParaRPr>
          </a:p>
          <a:p>
            <a:pPr eaLnBrk="1" hangingPunct="1"/>
            <a:r>
              <a:rPr lang="en-US" altLang="zh-CN" sz="2400" b="1" dirty="0">
                <a:solidFill>
                  <a:srgbClr val="009900"/>
                </a:solidFill>
                <a:latin typeface="楷体_GB2312" pitchFamily="49" charset="-122"/>
                <a:ea typeface="楷体_GB2312" pitchFamily="49" charset="-122"/>
              </a:rPr>
              <a:t>(1)</a:t>
            </a:r>
            <a:r>
              <a:rPr lang="zh-CN" altLang="en-US" sz="2400" b="1" dirty="0">
                <a:solidFill>
                  <a:srgbClr val="009900"/>
                </a:solidFill>
                <a:latin typeface="楷体_GB2312" pitchFamily="49" charset="-122"/>
                <a:ea typeface="楷体_GB2312" pitchFamily="49" charset="-122"/>
              </a:rPr>
              <a:t>热挤压</a:t>
            </a:r>
            <a:r>
              <a:rPr lang="zh-CN" altLang="en-US" sz="2400" b="1" dirty="0">
                <a:latin typeface="楷体_GB2312" pitchFamily="49" charset="-122"/>
                <a:ea typeface="楷体_GB2312" pitchFamily="49" charset="-122"/>
              </a:rPr>
              <a:t>  挤压时，坯料变形的温度</a:t>
            </a:r>
            <a:r>
              <a:rPr lang="zh-CN" altLang="en-US" sz="2400" b="1" dirty="0">
                <a:solidFill>
                  <a:srgbClr val="FF0000"/>
                </a:solidFill>
                <a:latin typeface="楷体_GB2312" pitchFamily="49" charset="-122"/>
                <a:ea typeface="楷体_GB2312" pitchFamily="49" charset="-122"/>
              </a:rPr>
              <a:t>高于再结晶温度</a:t>
            </a:r>
            <a:r>
              <a:rPr lang="zh-CN" altLang="en-US" sz="2400" b="1" dirty="0">
                <a:latin typeface="楷体_GB2312" pitchFamily="49" charset="-122"/>
                <a:ea typeface="楷体_GB2312" pitchFamily="49" charset="-122"/>
              </a:rPr>
              <a:t>，与锻造温度相同。热挤压中，金属的变形抗力小，允许的变形程度较大，</a:t>
            </a:r>
            <a:r>
              <a:rPr lang="zh-CN" altLang="en-US" sz="2400" b="1" dirty="0">
                <a:solidFill>
                  <a:srgbClr val="0000FF"/>
                </a:solidFill>
                <a:latin typeface="楷体_GB2312" pitchFamily="49" charset="-122"/>
                <a:ea typeface="楷体_GB2312" pitchFamily="49" charset="-122"/>
              </a:rPr>
              <a:t>生产率高。但产品表面较粗糙。</a:t>
            </a:r>
            <a:endParaRPr lang="zh-CN" altLang="en-US" sz="2400" b="1" dirty="0">
              <a:solidFill>
                <a:srgbClr val="0000FF"/>
              </a:solidFill>
              <a:latin typeface="楷体_GB2312" pitchFamily="49" charset="-122"/>
              <a:ea typeface="楷体_GB2312" pitchFamily="49" charset="-122"/>
            </a:endParaRPr>
          </a:p>
          <a:p>
            <a:pPr eaLnBrk="1" hangingPunct="1"/>
            <a:endParaRPr lang="en-US" altLang="zh-CN" sz="2400" b="1" dirty="0">
              <a:latin typeface="楷体_GB2312" pitchFamily="49" charset="-122"/>
              <a:ea typeface="楷体_GB2312" pitchFamily="49" charset="-122"/>
            </a:endParaRPr>
          </a:p>
        </p:txBody>
      </p:sp>
      <p:sp>
        <p:nvSpPr>
          <p:cNvPr id="144388" name="Rectangle 10"/>
          <p:cNvSpPr/>
          <p:nvPr/>
        </p:nvSpPr>
        <p:spPr>
          <a:xfrm>
            <a:off x="250825" y="3086100"/>
            <a:ext cx="5905500" cy="2647950"/>
          </a:xfrm>
          <a:prstGeom prst="rect">
            <a:avLst/>
          </a:prstGeom>
          <a:noFill/>
          <a:ln w="9525">
            <a:noFill/>
          </a:ln>
        </p:spPr>
        <p:txBody>
          <a:bodyPr>
            <a:spAutoFit/>
          </a:bodyPr>
          <a:p>
            <a:pPr eaLnBrk="1" hangingPunct="1"/>
            <a:r>
              <a:rPr lang="en-US" altLang="zh-CN" sz="2400" b="1" dirty="0">
                <a:solidFill>
                  <a:srgbClr val="009900"/>
                </a:solidFill>
                <a:latin typeface="楷体_GB2312" pitchFamily="49" charset="-122"/>
                <a:ea typeface="楷体_GB2312" pitchFamily="49" charset="-122"/>
              </a:rPr>
              <a:t>(2)</a:t>
            </a:r>
            <a:r>
              <a:rPr lang="zh-CN" altLang="en-US" sz="2400" b="1" dirty="0">
                <a:solidFill>
                  <a:srgbClr val="009900"/>
                </a:solidFill>
                <a:latin typeface="楷体_GB2312" pitchFamily="49" charset="-122"/>
                <a:ea typeface="楷体_GB2312" pitchFamily="49" charset="-122"/>
              </a:rPr>
              <a:t>冷挤压</a:t>
            </a:r>
            <a:r>
              <a:rPr lang="zh-CN" altLang="en-US" sz="2400" b="1" dirty="0">
                <a:latin typeface="楷体_GB2312" pitchFamily="49" charset="-122"/>
                <a:ea typeface="楷体_GB2312" pitchFamily="49" charset="-122"/>
              </a:rPr>
              <a:t>  挤压时坯料变形的温度</a:t>
            </a:r>
            <a:r>
              <a:rPr lang="zh-CN" altLang="en-US" sz="2400" b="1" dirty="0">
                <a:solidFill>
                  <a:srgbClr val="FF0000"/>
                </a:solidFill>
                <a:latin typeface="楷体_GB2312" pitchFamily="49" charset="-122"/>
                <a:ea typeface="楷体_GB2312" pitchFamily="49" charset="-122"/>
              </a:rPr>
              <a:t>低于再结晶温度</a:t>
            </a:r>
            <a:r>
              <a:rPr lang="zh-CN" altLang="en-US" sz="2400" b="1" dirty="0">
                <a:latin typeface="楷体_GB2312" pitchFamily="49" charset="-122"/>
                <a:ea typeface="楷体_GB2312" pitchFamily="49" charset="-122"/>
              </a:rPr>
              <a:t>，经常是在室温下。冷挤压中，金属的变形抗力较大，变形程度不宜过大。产品的</a:t>
            </a:r>
            <a:r>
              <a:rPr lang="zh-CN" altLang="en-US" sz="2400" b="1" dirty="0">
                <a:solidFill>
                  <a:srgbClr val="FF0000"/>
                </a:solidFill>
                <a:latin typeface="楷体_GB2312" pitchFamily="49" charset="-122"/>
                <a:ea typeface="楷体_GB2312" pitchFamily="49" charset="-122"/>
              </a:rPr>
              <a:t>强度高</a:t>
            </a:r>
            <a:r>
              <a:rPr lang="zh-CN" altLang="en-US" sz="2400" b="1" dirty="0">
                <a:latin typeface="楷体_GB2312" pitchFamily="49" charset="-122"/>
                <a:ea typeface="楷体_GB2312" pitchFamily="49" charset="-122"/>
              </a:rPr>
              <a:t>且</a:t>
            </a:r>
            <a:r>
              <a:rPr lang="zh-CN" altLang="en-US" sz="2400" b="1" dirty="0">
                <a:solidFill>
                  <a:srgbClr val="FF0000"/>
                </a:solidFill>
                <a:latin typeface="楷体_GB2312" pitchFamily="49" charset="-122"/>
                <a:ea typeface="楷体_GB2312" pitchFamily="49" charset="-122"/>
              </a:rPr>
              <a:t>表面较光洁</a:t>
            </a:r>
            <a:r>
              <a:rPr lang="zh-CN" altLang="en-US" sz="2400" b="1" dirty="0">
                <a:latin typeface="楷体_GB2312" pitchFamily="49" charset="-122"/>
                <a:ea typeface="楷体_GB2312" pitchFamily="49" charset="-122"/>
              </a:rPr>
              <a:t>。图</a:t>
            </a:r>
            <a:r>
              <a:rPr lang="en-US" altLang="zh-CN" sz="2400" b="1" dirty="0">
                <a:latin typeface="楷体_GB2312" pitchFamily="49" charset="-122"/>
                <a:ea typeface="楷体_GB2312" pitchFamily="49" charset="-122"/>
              </a:rPr>
              <a:t>3-68</a:t>
            </a:r>
            <a:r>
              <a:rPr lang="zh-CN" altLang="en-US" sz="2400" b="1" dirty="0">
                <a:latin typeface="楷体_GB2312" pitchFamily="49" charset="-122"/>
                <a:ea typeface="楷体_GB2312" pitchFamily="49" charset="-122"/>
              </a:rPr>
              <a:t>所示为纯铁底座零件，用切削加工方法制造，工序多。改用冷挤压成形后，一次挤压成形，尺寸精度完全符合设计要求。</a:t>
            </a:r>
            <a:endParaRPr lang="zh-CN" altLang="en-US" sz="2400" b="1" dirty="0">
              <a:latin typeface="楷体_GB2312" pitchFamily="49" charset="-122"/>
              <a:ea typeface="楷体_GB2312" pitchFamily="49" charset="-122"/>
            </a:endParaRPr>
          </a:p>
        </p:txBody>
      </p:sp>
      <p:grpSp>
        <p:nvGrpSpPr>
          <p:cNvPr id="144389" name="Group 12"/>
          <p:cNvGrpSpPr/>
          <p:nvPr/>
        </p:nvGrpSpPr>
        <p:grpSpPr>
          <a:xfrm>
            <a:off x="6300788" y="3181350"/>
            <a:ext cx="1990725" cy="2695575"/>
            <a:chOff x="3969" y="2004"/>
            <a:chExt cx="1254" cy="1698"/>
          </a:xfrm>
        </p:grpSpPr>
        <p:pic>
          <p:nvPicPr>
            <p:cNvPr id="144390" name="Picture 9"/>
            <p:cNvPicPr>
              <a:picLocks noChangeAspect="1"/>
            </p:cNvPicPr>
            <p:nvPr/>
          </p:nvPicPr>
          <p:blipFill>
            <a:blip r:embed="rId1"/>
            <a:stretch>
              <a:fillRect/>
            </a:stretch>
          </p:blipFill>
          <p:spPr>
            <a:xfrm>
              <a:off x="3969" y="2004"/>
              <a:ext cx="1254" cy="1698"/>
            </a:xfrm>
            <a:prstGeom prst="rect">
              <a:avLst/>
            </a:prstGeom>
            <a:noFill/>
            <a:ln w="9525">
              <a:noFill/>
            </a:ln>
          </p:spPr>
        </p:pic>
        <p:sp>
          <p:nvSpPr>
            <p:cNvPr id="144391" name="Rectangle 11"/>
            <p:cNvSpPr/>
            <p:nvPr/>
          </p:nvSpPr>
          <p:spPr>
            <a:xfrm>
              <a:off x="3987" y="3430"/>
              <a:ext cx="1206" cy="231"/>
            </a:xfrm>
            <a:prstGeom prst="rect">
              <a:avLst/>
            </a:prstGeom>
            <a:solidFill>
              <a:srgbClr val="FFFFFF"/>
            </a:solidFill>
            <a:ln w="9525">
              <a:noFill/>
            </a:ln>
          </p:spPr>
          <p:txBody>
            <a:bodyPr wrap="none">
              <a:spAutoFit/>
            </a:bodyPr>
            <a:p>
              <a:pPr eaLnBrk="1" hangingPunct="1"/>
              <a:r>
                <a:rPr lang="zh-CN" altLang="en-US" b="1" dirty="0">
                  <a:latin typeface="楷体_GB2312" pitchFamily="49" charset="-122"/>
                  <a:ea typeface="楷体_GB2312" pitchFamily="49" charset="-122"/>
                </a:rPr>
                <a:t>图</a:t>
              </a:r>
              <a:r>
                <a:rPr lang="en-US" altLang="zh-CN" b="1" dirty="0">
                  <a:latin typeface="楷体_GB2312" pitchFamily="49" charset="-122"/>
                  <a:ea typeface="楷体_GB2312" pitchFamily="49" charset="-122"/>
                </a:rPr>
                <a:t>3-68 </a:t>
              </a:r>
              <a:r>
                <a:rPr lang="zh-CN" altLang="en-US" b="1" dirty="0">
                  <a:latin typeface="楷体_GB2312" pitchFamily="49" charset="-122"/>
                  <a:ea typeface="楷体_GB2312" pitchFamily="49" charset="-122"/>
                </a:rPr>
                <a:t>纯铁底座</a:t>
              </a:r>
              <a:endParaRPr lang="zh-CN" altLang="en-US" b="1" dirty="0">
                <a:latin typeface="楷体_GB2312" pitchFamily="49" charset="-122"/>
                <a:ea typeface="楷体_GB2312" pitchFamily="49" charset="-122"/>
              </a:endParaRPr>
            </a:p>
          </p:txBody>
        </p:sp>
      </p:gr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5"/>
          <p:cNvSpPr/>
          <p:nvPr/>
        </p:nvSpPr>
        <p:spPr>
          <a:xfrm>
            <a:off x="3205163" y="423863"/>
            <a:ext cx="4606925" cy="701675"/>
          </a:xfrm>
          <a:prstGeom prst="rect">
            <a:avLst/>
          </a:prstGeom>
          <a:noFill/>
          <a:ln w="9525">
            <a:noFill/>
          </a:ln>
        </p:spPr>
        <p:txBody>
          <a:bodyPr>
            <a:spAutoFit/>
          </a:bodyPr>
          <a:p>
            <a:pPr algn="ctr" eaLnBrk="1" hangingPunct="1"/>
            <a:r>
              <a:rPr lang="zh-CN" altLang="en-US" sz="4000" b="1" dirty="0">
                <a:latin typeface="GreekS" pitchFamily="2" charset="0"/>
                <a:ea typeface="楷体_GB2312" pitchFamily="49" charset="-122"/>
              </a:rPr>
              <a:t>零件挤压</a:t>
            </a:r>
            <a:endParaRPr lang="zh-CN" altLang="en-US" sz="4000" b="1" dirty="0">
              <a:latin typeface="GreekS" pitchFamily="2" charset="0"/>
              <a:ea typeface="楷体_GB2312" pitchFamily="49" charset="-122"/>
            </a:endParaRPr>
          </a:p>
        </p:txBody>
      </p:sp>
      <p:sp>
        <p:nvSpPr>
          <p:cNvPr id="145411" name="Rectangle 7"/>
          <p:cNvSpPr/>
          <p:nvPr/>
        </p:nvSpPr>
        <p:spPr>
          <a:xfrm>
            <a:off x="396875" y="1279525"/>
            <a:ext cx="8351838" cy="3013075"/>
          </a:xfrm>
          <a:prstGeom prst="rect">
            <a:avLst/>
          </a:prstGeom>
          <a:noFill/>
          <a:ln w="9525">
            <a:noFill/>
          </a:ln>
        </p:spPr>
        <p:txBody>
          <a:bodyPr>
            <a:spAutoFit/>
          </a:bodyPr>
          <a:p>
            <a:pPr eaLnBrk="1" hangingPunct="1"/>
            <a:r>
              <a:rPr lang="en-US" altLang="zh-CN" sz="2400" b="1" dirty="0">
                <a:solidFill>
                  <a:srgbClr val="009900"/>
                </a:solidFill>
                <a:latin typeface="楷体_GB2312" pitchFamily="49" charset="-122"/>
                <a:ea typeface="楷体_GB2312" pitchFamily="49" charset="-122"/>
              </a:rPr>
              <a:t>(3)</a:t>
            </a:r>
            <a:r>
              <a:rPr lang="zh-CN" altLang="en-US" sz="2400" b="1" dirty="0">
                <a:solidFill>
                  <a:srgbClr val="009900"/>
                </a:solidFill>
                <a:latin typeface="楷体_GB2312" pitchFamily="49" charset="-122"/>
                <a:ea typeface="楷体_GB2312" pitchFamily="49" charset="-122"/>
              </a:rPr>
              <a:t>温挤压</a:t>
            </a:r>
            <a:r>
              <a:rPr lang="zh-CN" altLang="en-US" sz="2400" b="1" dirty="0">
                <a:latin typeface="楷体_GB2312" pitchFamily="49" charset="-122"/>
                <a:ea typeface="楷体_GB2312" pitchFamily="49" charset="-122"/>
              </a:rPr>
              <a:t>  温挤压时金属坯料变形的</a:t>
            </a:r>
            <a:r>
              <a:rPr lang="zh-CN" altLang="en-US" sz="2400" b="1" dirty="0">
                <a:solidFill>
                  <a:srgbClr val="FF0000"/>
                </a:solidFill>
                <a:latin typeface="楷体_GB2312" pitchFamily="49" charset="-122"/>
                <a:ea typeface="楷体_GB2312" pitchFamily="49" charset="-122"/>
              </a:rPr>
              <a:t>温度介于室温和再结晶温度之间</a:t>
            </a:r>
            <a:r>
              <a:rPr lang="en-US" altLang="zh-CN" sz="2400" b="1" dirty="0">
                <a:latin typeface="楷体_GB2312" pitchFamily="49" charset="-122"/>
                <a:ea typeface="楷体_GB2312" pitchFamily="49" charset="-122"/>
              </a:rPr>
              <a:t>(100</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800℃)</a:t>
            </a:r>
            <a:r>
              <a:rPr lang="zh-CN" altLang="en-US" sz="2400" b="1" dirty="0">
                <a:latin typeface="楷体_GB2312" pitchFamily="49" charset="-122"/>
                <a:ea typeface="楷体_GB2312" pitchFamily="49" charset="-122"/>
              </a:rPr>
              <a:t>。</a:t>
            </a:r>
            <a:r>
              <a:rPr lang="zh-CN" altLang="en-US" sz="2400" b="1" dirty="0">
                <a:solidFill>
                  <a:srgbClr val="FF0000"/>
                </a:solidFill>
                <a:latin typeface="楷体_GB2312" pitchFamily="49" charset="-122"/>
                <a:ea typeface="楷体_GB2312" pitchFamily="49" charset="-122"/>
              </a:rPr>
              <a:t>与热挤压相比</a:t>
            </a:r>
            <a:r>
              <a:rPr lang="zh-CN" altLang="en-US" sz="2400" b="1" dirty="0">
                <a:solidFill>
                  <a:srgbClr val="0000FF"/>
                </a:solidFill>
                <a:latin typeface="楷体_GB2312" pitchFamily="49" charset="-122"/>
                <a:ea typeface="楷体_GB2312" pitchFamily="49" charset="-122"/>
              </a:rPr>
              <a:t>，坯料氧化脱碳少，表面粗糙度值低，产品尺寸精度较高。</a:t>
            </a:r>
            <a:r>
              <a:rPr lang="zh-CN" altLang="en-US" sz="2400" b="1" dirty="0">
                <a:solidFill>
                  <a:srgbClr val="FF0000"/>
                </a:solidFill>
                <a:latin typeface="楷体_GB2312" pitchFamily="49" charset="-122"/>
                <a:ea typeface="楷体_GB2312" pitchFamily="49" charset="-122"/>
              </a:rPr>
              <a:t>与冷挤压相比，</a:t>
            </a:r>
            <a:r>
              <a:rPr lang="zh-CN" altLang="en-US" sz="2400" b="1" dirty="0">
                <a:solidFill>
                  <a:srgbClr val="0000FF"/>
                </a:solidFill>
                <a:latin typeface="楷体_GB2312" pitchFamily="49" charset="-122"/>
                <a:ea typeface="楷体_GB2312" pitchFamily="49" charset="-122"/>
              </a:rPr>
              <a:t>变形抗力低，增大了每个工序的变形程度，提高了模具的寿命，扩大了冷挤压产品材料的品种。</a:t>
            </a:r>
            <a:r>
              <a:rPr lang="zh-CN" altLang="en-US" sz="2400" b="1" dirty="0">
                <a:latin typeface="楷体_GB2312" pitchFamily="49" charset="-122"/>
                <a:ea typeface="楷体_GB2312" pitchFamily="49" charset="-122"/>
              </a:rPr>
              <a:t>图</a:t>
            </a:r>
            <a:r>
              <a:rPr lang="en-US" altLang="zh-CN" sz="2400" b="1" dirty="0">
                <a:latin typeface="楷体_GB2312" pitchFamily="49" charset="-122"/>
                <a:ea typeface="楷体_GB2312" pitchFamily="49" charset="-122"/>
              </a:rPr>
              <a:t>3-69</a:t>
            </a:r>
            <a:r>
              <a:rPr lang="zh-CN" altLang="en-US" sz="2400" b="1" dirty="0">
                <a:latin typeface="楷体_GB2312" pitchFamily="49" charset="-122"/>
                <a:ea typeface="楷体_GB2312" pitchFamily="49" charset="-122"/>
              </a:rPr>
              <a:t>是电机不锈钢接头外壳，若采用冷挤压制作，需经多次挤压才能完成。现采用温挤压成形</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变形温度</a:t>
            </a:r>
            <a:r>
              <a:rPr lang="en-US" altLang="zh-CN" sz="2400" b="1" dirty="0">
                <a:latin typeface="楷体_GB2312" pitchFamily="49" charset="-122"/>
                <a:ea typeface="楷体_GB2312" pitchFamily="49" charset="-122"/>
              </a:rPr>
              <a:t>360℃)</a:t>
            </a:r>
            <a:r>
              <a:rPr lang="zh-CN" altLang="en-US" sz="2400" b="1" dirty="0">
                <a:latin typeface="楷体_GB2312" pitchFamily="49" charset="-122"/>
                <a:ea typeface="楷体_GB2312" pitchFamily="49" charset="-122"/>
              </a:rPr>
              <a:t>，只需两次挤压即可成形。</a:t>
            </a:r>
            <a:endParaRPr lang="zh-CN" altLang="en-US" sz="2400" b="1" dirty="0">
              <a:latin typeface="楷体_GB2312" pitchFamily="49" charset="-122"/>
              <a:ea typeface="楷体_GB2312" pitchFamily="49" charset="-122"/>
            </a:endParaRPr>
          </a:p>
          <a:p>
            <a:pPr eaLnBrk="1" hangingPunct="1"/>
            <a:endParaRPr lang="en-US" altLang="zh-CN" sz="2400" dirty="0">
              <a:latin typeface="楷体_GB2312" pitchFamily="49" charset="-122"/>
              <a:ea typeface="楷体_GB2312" pitchFamily="49" charset="-122"/>
            </a:endParaRPr>
          </a:p>
        </p:txBody>
      </p:sp>
      <p:grpSp>
        <p:nvGrpSpPr>
          <p:cNvPr id="145412" name="Group 11"/>
          <p:cNvGrpSpPr/>
          <p:nvPr/>
        </p:nvGrpSpPr>
        <p:grpSpPr>
          <a:xfrm>
            <a:off x="2500313" y="3971925"/>
            <a:ext cx="4087812" cy="2790825"/>
            <a:chOff x="1575" y="2502"/>
            <a:chExt cx="2575" cy="1758"/>
          </a:xfrm>
        </p:grpSpPr>
        <p:pic>
          <p:nvPicPr>
            <p:cNvPr id="145413" name="Picture 9"/>
            <p:cNvPicPr>
              <a:picLocks noChangeAspect="1"/>
            </p:cNvPicPr>
            <p:nvPr/>
          </p:nvPicPr>
          <p:blipFill>
            <a:blip r:embed="rId1"/>
            <a:stretch>
              <a:fillRect/>
            </a:stretch>
          </p:blipFill>
          <p:spPr>
            <a:xfrm>
              <a:off x="1575" y="2502"/>
              <a:ext cx="2575" cy="1758"/>
            </a:xfrm>
            <a:prstGeom prst="rect">
              <a:avLst/>
            </a:prstGeom>
            <a:noFill/>
            <a:ln w="9525">
              <a:noFill/>
            </a:ln>
          </p:spPr>
        </p:pic>
        <p:sp>
          <p:nvSpPr>
            <p:cNvPr id="145414" name="Rectangle 10"/>
            <p:cNvSpPr/>
            <p:nvPr/>
          </p:nvSpPr>
          <p:spPr>
            <a:xfrm>
              <a:off x="2048" y="3997"/>
              <a:ext cx="1648" cy="250"/>
            </a:xfrm>
            <a:prstGeom prst="rect">
              <a:avLst/>
            </a:prstGeom>
            <a:solidFill>
              <a:srgbClr val="FFFFFF"/>
            </a:solidFill>
            <a:ln w="9525">
              <a:noFill/>
            </a:ln>
          </p:spPr>
          <p:txBody>
            <a:bodyPr wrap="none">
              <a:spAutoFit/>
            </a:bodyPr>
            <a:p>
              <a:pPr eaLnBrk="1" hangingPunct="1"/>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3-69 </a:t>
              </a:r>
              <a:r>
                <a:rPr lang="zh-CN" altLang="en-US" sz="2000" b="1" dirty="0">
                  <a:latin typeface="楷体_GB2312" pitchFamily="49" charset="-122"/>
                  <a:ea typeface="楷体_GB2312" pitchFamily="49" charset="-122"/>
                </a:rPr>
                <a:t>外壳挤压过程</a:t>
              </a:r>
              <a:endParaRPr lang="zh-CN" altLang="en-US" sz="2000" b="1" dirty="0">
                <a:latin typeface="楷体_GB2312" pitchFamily="49" charset="-122"/>
                <a:ea typeface="楷体_GB2312" pitchFamily="49" charset="-122"/>
              </a:endParaRPr>
            </a:p>
          </p:txBody>
        </p:sp>
      </p:gr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1858" name="Rectangle 2"/>
          <p:cNvSpPr/>
          <p:nvPr/>
        </p:nvSpPr>
        <p:spPr>
          <a:xfrm>
            <a:off x="179388" y="1382713"/>
            <a:ext cx="8640762" cy="5205412"/>
          </a:xfrm>
          <a:prstGeom prst="rect">
            <a:avLst/>
          </a:prstGeom>
          <a:noFill/>
          <a:ln w="9525">
            <a:noFill/>
          </a:ln>
        </p:spPr>
        <p:txBody>
          <a:bodyPr anchor="ctr" anchorCtr="0">
            <a:spAutoFit/>
          </a:bodyPr>
          <a:p>
            <a:pPr indent="228600" eaLnBrk="1" hangingPunct="1">
              <a:buFont typeface="Wingdings" panose="05000000000000000000" pitchFamily="2" charset="2"/>
              <a:buChar char="Ø"/>
            </a:pPr>
            <a:r>
              <a:rPr lang="zh-CN" altLang="en-US" sz="2800" b="1" dirty="0">
                <a:solidFill>
                  <a:srgbClr val="FF0000"/>
                </a:solidFill>
                <a:latin typeface="GreekS" pitchFamily="2" charset="0"/>
                <a:ea typeface="楷体_GB2312" pitchFamily="49" charset="-122"/>
              </a:rPr>
              <a:t>挤压工艺的特点</a:t>
            </a:r>
            <a:endParaRPr lang="zh-CN" altLang="en-US" sz="2800" b="1" dirty="0">
              <a:solidFill>
                <a:srgbClr val="FF0000"/>
              </a:solidFill>
              <a:latin typeface="GreekS" pitchFamily="2" charset="0"/>
              <a:ea typeface="楷体_GB2312" pitchFamily="49" charset="-122"/>
            </a:endParaRPr>
          </a:p>
          <a:p>
            <a:pPr indent="228600" eaLnBrk="1" hangingPunct="1"/>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）挤压时金属坯料处于</a:t>
            </a:r>
            <a:r>
              <a:rPr lang="zh-CN" altLang="en-US" sz="2400" b="1" dirty="0">
                <a:solidFill>
                  <a:srgbClr val="FF0066"/>
                </a:solidFill>
                <a:latin typeface="楷体_GB2312" pitchFamily="49" charset="-122"/>
                <a:ea typeface="楷体_GB2312" pitchFamily="49" charset="-122"/>
              </a:rPr>
              <a:t>三向受压</a:t>
            </a:r>
            <a:r>
              <a:rPr lang="zh-CN" altLang="en-US" sz="2400" b="1" dirty="0">
                <a:latin typeface="楷体_GB2312" pitchFamily="49" charset="-122"/>
                <a:ea typeface="楷体_GB2312" pitchFamily="49" charset="-122"/>
              </a:rPr>
              <a:t>状态，可提高金属坯料的塑性，因而适合于挤压的</a:t>
            </a:r>
            <a:r>
              <a:rPr lang="zh-CN" altLang="en-US" sz="2400" b="1" dirty="0">
                <a:solidFill>
                  <a:srgbClr val="FF0066"/>
                </a:solidFill>
                <a:latin typeface="楷体_GB2312" pitchFamily="49" charset="-122"/>
                <a:ea typeface="楷体_GB2312" pitchFamily="49" charset="-122"/>
              </a:rPr>
              <a:t>材料品种多</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a:p>
            <a:pPr indent="228600" eaLnBrk="1" hangingPunct="1"/>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）可</a:t>
            </a:r>
            <a:r>
              <a:rPr lang="zh-CN" altLang="en-US" sz="2400" b="1" dirty="0">
                <a:solidFill>
                  <a:srgbClr val="FF0066"/>
                </a:solidFill>
                <a:latin typeface="楷体_GB2312" pitchFamily="49" charset="-122"/>
                <a:ea typeface="楷体_GB2312" pitchFamily="49" charset="-122"/>
              </a:rPr>
              <a:t>制出形状复杂</a:t>
            </a:r>
            <a:r>
              <a:rPr lang="zh-CN" altLang="en-US" sz="2400" b="1" dirty="0">
                <a:latin typeface="楷体_GB2312" pitchFamily="49" charset="-122"/>
                <a:ea typeface="楷体_GB2312" pitchFamily="49" charset="-122"/>
              </a:rPr>
              <a:t>、深孔、薄壁和异型断面的零件。</a:t>
            </a:r>
            <a:endParaRPr lang="zh-CN" altLang="en-US" sz="2400" b="1" dirty="0">
              <a:latin typeface="楷体_GB2312" pitchFamily="49" charset="-122"/>
              <a:ea typeface="楷体_GB2312" pitchFamily="49" charset="-122"/>
            </a:endParaRPr>
          </a:p>
          <a:p>
            <a:pPr indent="228600" eaLnBrk="1" hangingPunct="1"/>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3</a:t>
            </a:r>
            <a:r>
              <a:rPr lang="zh-CN" altLang="en-US" sz="2400" b="1" dirty="0">
                <a:latin typeface="楷体_GB2312" pitchFamily="49" charset="-122"/>
                <a:ea typeface="楷体_GB2312" pitchFamily="49" charset="-122"/>
              </a:rPr>
              <a:t>）挤压零件的精度可达</a:t>
            </a:r>
            <a:r>
              <a:rPr lang="en-US" altLang="zh-CN" sz="2400" b="1" dirty="0">
                <a:latin typeface="楷体_GB2312" pitchFamily="49" charset="-122"/>
                <a:ea typeface="楷体_GB2312" pitchFamily="49" charset="-122"/>
              </a:rPr>
              <a:t>IT7</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IT6</a:t>
            </a:r>
            <a:r>
              <a:rPr lang="zh-CN" altLang="en-US" sz="2400" b="1" dirty="0">
                <a:latin typeface="楷体_GB2312" pitchFamily="49" charset="-122"/>
                <a:ea typeface="楷体_GB2312" pitchFamily="49" charset="-122"/>
              </a:rPr>
              <a:t>，表面粗糙度值可达</a:t>
            </a:r>
            <a:r>
              <a:rPr lang="en-US" altLang="zh-CN" sz="2400" b="1" dirty="0">
                <a:latin typeface="楷体_GB2312" pitchFamily="49" charset="-122"/>
                <a:ea typeface="楷体_GB2312" pitchFamily="49" charset="-122"/>
              </a:rPr>
              <a:t>Ra3.2</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0.4mm</a:t>
            </a:r>
            <a:r>
              <a:rPr lang="zh-CN" altLang="en-US" sz="2400" b="1" dirty="0">
                <a:latin typeface="楷体_GB2312" pitchFamily="49" charset="-122"/>
                <a:ea typeface="楷体_GB2312" pitchFamily="49" charset="-122"/>
              </a:rPr>
              <a:t>，从而可达到</a:t>
            </a:r>
            <a:r>
              <a:rPr lang="zh-CN" altLang="en-US" sz="2400" b="1" dirty="0">
                <a:solidFill>
                  <a:srgbClr val="FF0066"/>
                </a:solidFill>
                <a:latin typeface="楷体_GB2312" pitchFamily="49" charset="-122"/>
                <a:ea typeface="楷体_GB2312" pitchFamily="49" charset="-122"/>
              </a:rPr>
              <a:t>少无屑加工</a:t>
            </a:r>
            <a:r>
              <a:rPr lang="zh-CN" altLang="en-US" sz="2400" b="1" dirty="0">
                <a:latin typeface="楷体_GB2312" pitchFamily="49" charset="-122"/>
                <a:ea typeface="楷体_GB2312" pitchFamily="49" charset="-122"/>
              </a:rPr>
              <a:t>的目的。</a:t>
            </a:r>
            <a:endParaRPr lang="zh-CN" altLang="en-US" sz="2400" b="1" dirty="0">
              <a:latin typeface="楷体_GB2312" pitchFamily="49" charset="-122"/>
              <a:ea typeface="楷体_GB2312" pitchFamily="49" charset="-122"/>
            </a:endParaRPr>
          </a:p>
          <a:p>
            <a:pPr indent="228600" eaLnBrk="1" hangingPunct="1"/>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4</a:t>
            </a:r>
            <a:r>
              <a:rPr lang="zh-CN" altLang="en-US" sz="2400" b="1" dirty="0">
                <a:latin typeface="楷体_GB2312" pitchFamily="49" charset="-122"/>
                <a:ea typeface="楷体_GB2312" pitchFamily="49" charset="-122"/>
              </a:rPr>
              <a:t>）挤压变形后，零件内部的</a:t>
            </a:r>
            <a:r>
              <a:rPr lang="zh-CN" altLang="en-US" sz="2400" b="1" dirty="0">
                <a:solidFill>
                  <a:srgbClr val="FF0066"/>
                </a:solidFill>
                <a:latin typeface="楷体_GB2312" pitchFamily="49" charset="-122"/>
                <a:ea typeface="楷体_GB2312" pitchFamily="49" charset="-122"/>
              </a:rPr>
              <a:t>纤维组织</a:t>
            </a:r>
            <a:r>
              <a:rPr lang="zh-CN" altLang="en-US" sz="2400" b="1" dirty="0">
                <a:latin typeface="楷体_GB2312" pitchFamily="49" charset="-122"/>
                <a:ea typeface="楷体_GB2312" pitchFamily="49" charset="-122"/>
              </a:rPr>
              <a:t>基本上是沿零件外形分布而</a:t>
            </a:r>
            <a:r>
              <a:rPr lang="zh-CN" altLang="en-US" sz="2400" b="1" dirty="0">
                <a:solidFill>
                  <a:srgbClr val="FF0066"/>
                </a:solidFill>
                <a:latin typeface="楷体_GB2312" pitchFamily="49" charset="-122"/>
                <a:ea typeface="楷体_GB2312" pitchFamily="49" charset="-122"/>
              </a:rPr>
              <a:t>不被切断</a:t>
            </a:r>
            <a:r>
              <a:rPr lang="zh-CN" altLang="en-US" sz="2400" b="1" dirty="0">
                <a:latin typeface="楷体_GB2312" pitchFamily="49" charset="-122"/>
                <a:ea typeface="楷体_GB2312" pitchFamily="49" charset="-122"/>
              </a:rPr>
              <a:t>，从而</a:t>
            </a:r>
            <a:r>
              <a:rPr lang="zh-CN" altLang="en-US" sz="2400" b="1" dirty="0">
                <a:solidFill>
                  <a:srgbClr val="FF0066"/>
                </a:solidFill>
                <a:latin typeface="楷体_GB2312" pitchFamily="49" charset="-122"/>
                <a:ea typeface="楷体_GB2312" pitchFamily="49" charset="-122"/>
              </a:rPr>
              <a:t>提高了零件的力学性能。</a:t>
            </a:r>
            <a:endParaRPr lang="zh-CN" altLang="en-US" sz="2400" b="1" dirty="0">
              <a:solidFill>
                <a:srgbClr val="FF0066"/>
              </a:solidFill>
              <a:latin typeface="楷体_GB2312" pitchFamily="49" charset="-122"/>
              <a:ea typeface="楷体_GB2312" pitchFamily="49" charset="-122"/>
            </a:endParaRPr>
          </a:p>
          <a:p>
            <a:pPr indent="228600" eaLnBrk="1" hangingPunct="1"/>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5</a:t>
            </a:r>
            <a:r>
              <a:rPr lang="zh-CN" altLang="en-US" sz="2400" b="1" dirty="0">
                <a:latin typeface="楷体_GB2312" pitchFamily="49" charset="-122"/>
                <a:ea typeface="楷体_GB2312" pitchFamily="49" charset="-122"/>
              </a:rPr>
              <a:t>）</a:t>
            </a:r>
            <a:r>
              <a:rPr lang="zh-CN" altLang="en-US" sz="2400" b="1" dirty="0">
                <a:solidFill>
                  <a:srgbClr val="FF0066"/>
                </a:solidFill>
                <a:latin typeface="楷体_GB2312" pitchFamily="49" charset="-122"/>
                <a:ea typeface="楷体_GB2312" pitchFamily="49" charset="-122"/>
              </a:rPr>
              <a:t>节省原材料。</a:t>
            </a:r>
            <a:r>
              <a:rPr lang="zh-CN" altLang="en-US" sz="2400" b="1" dirty="0">
                <a:latin typeface="楷体_GB2312" pitchFamily="49" charset="-122"/>
                <a:ea typeface="楷体_GB2312" pitchFamily="49" charset="-122"/>
              </a:rPr>
              <a:t>其材料利用率可达 </a:t>
            </a:r>
            <a:r>
              <a:rPr lang="en-US" altLang="zh-CN" sz="2400" b="1" dirty="0">
                <a:latin typeface="楷体_GB2312" pitchFamily="49" charset="-122"/>
                <a:ea typeface="楷体_GB2312" pitchFamily="49" charset="-122"/>
              </a:rPr>
              <a:t>70</a:t>
            </a:r>
            <a:r>
              <a:rPr lang="zh-CN" altLang="en-US" sz="2400" b="1" dirty="0">
                <a:latin typeface="楷体_GB2312" pitchFamily="49" charset="-122"/>
                <a:ea typeface="楷体_GB2312" pitchFamily="49" charset="-122"/>
              </a:rPr>
              <a:t>％，生产率也较高，比其它锻造方法提高几倍。</a:t>
            </a:r>
            <a:endParaRPr lang="zh-CN" altLang="en-US" sz="2400" b="1" dirty="0">
              <a:latin typeface="楷体_GB2312" pitchFamily="49" charset="-122"/>
              <a:ea typeface="楷体_GB2312" pitchFamily="49" charset="-122"/>
            </a:endParaRPr>
          </a:p>
          <a:p>
            <a:pPr indent="228600" eaLnBrk="1" hangingPunct="1"/>
            <a:r>
              <a:rPr lang="zh-CN" altLang="en-US" sz="2400" b="1" dirty="0">
                <a:solidFill>
                  <a:srgbClr val="0000FF"/>
                </a:solidFill>
                <a:latin typeface="楷体_GB2312" pitchFamily="49" charset="-122"/>
                <a:ea typeface="楷体_GB2312" pitchFamily="49" charset="-122"/>
              </a:rPr>
              <a:t>   挤压是在专用挤压机上进行的，也可在适当改造后的通用曲柄压力机或摩擦压力机上进行。</a:t>
            </a:r>
            <a:endParaRPr lang="zh-CN" altLang="en-US" sz="2400" b="1" dirty="0">
              <a:solidFill>
                <a:srgbClr val="0000FF"/>
              </a:solidFill>
              <a:latin typeface="楷体_GB2312" pitchFamily="49" charset="-122"/>
              <a:ea typeface="楷体_GB2312" pitchFamily="49" charset="-122"/>
            </a:endParaRPr>
          </a:p>
          <a:p>
            <a:pPr indent="228600" eaLnBrk="1" hangingPunct="1"/>
            <a:endParaRPr lang="zh-CN" altLang="en-US" sz="2000" b="1" dirty="0">
              <a:solidFill>
                <a:srgbClr val="F19BFD"/>
              </a:solidFill>
              <a:latin typeface="楷体_GB2312" pitchFamily="49" charset="-122"/>
              <a:ea typeface="楷体_GB2312" pitchFamily="49" charset="-122"/>
            </a:endParaRPr>
          </a:p>
          <a:p>
            <a:pPr indent="228600" eaLnBrk="1" hangingPunct="1"/>
            <a:endParaRPr lang="en-US" altLang="zh-CN" sz="2400" dirty="0">
              <a:solidFill>
                <a:srgbClr val="F19BFD"/>
              </a:solidFill>
              <a:latin typeface="GreekS" pitchFamily="2" charset="0"/>
            </a:endParaRPr>
          </a:p>
        </p:txBody>
      </p:sp>
      <p:sp>
        <p:nvSpPr>
          <p:cNvPr id="146435" name="Rectangle 3"/>
          <p:cNvSpPr/>
          <p:nvPr/>
        </p:nvSpPr>
        <p:spPr>
          <a:xfrm>
            <a:off x="4078288" y="341313"/>
            <a:ext cx="2509837" cy="701675"/>
          </a:xfrm>
          <a:prstGeom prst="rect">
            <a:avLst/>
          </a:prstGeom>
          <a:noFill/>
          <a:ln w="9525">
            <a:noFill/>
          </a:ln>
        </p:spPr>
        <p:txBody>
          <a:bodyPr>
            <a:spAutoFit/>
          </a:bodyPr>
          <a:p>
            <a:pPr eaLnBrk="1" hangingPunct="1"/>
            <a:r>
              <a:rPr lang="zh-CN" altLang="en-US" sz="4000" b="1" dirty="0">
                <a:latin typeface="GreekS" pitchFamily="2" charset="0"/>
                <a:ea typeface="楷体_GB2312" pitchFamily="49" charset="-122"/>
              </a:rPr>
              <a:t>零件挤压</a:t>
            </a:r>
            <a:endParaRPr lang="zh-CN" altLang="en-US" sz="4000" b="1" dirty="0">
              <a:latin typeface="GreekS" pitchFamily="2"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61858">
                                            <p:txEl>
                                              <p:charRg st="225" end="269"/>
                                            </p:txEl>
                                          </p:spTgt>
                                        </p:tgtEl>
                                        <p:attrNameLst>
                                          <p:attrName>style.visibility</p:attrName>
                                        </p:attrNameLst>
                                      </p:cBhvr>
                                      <p:to>
                                        <p:strVal val="visible"/>
                                      </p:to>
                                    </p:set>
                                    <p:animEffect transition="in" filter="checkerboard(across)">
                                      <p:cBhvr>
                                        <p:cTn id="7" dur="500"/>
                                        <p:tgtEl>
                                          <p:spTgt spid="761858">
                                            <p:txEl>
                                              <p:charRg st="225" end="26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Rectangle 2"/>
          <p:cNvSpPr/>
          <p:nvPr/>
        </p:nvSpPr>
        <p:spPr>
          <a:xfrm>
            <a:off x="179388" y="1484313"/>
            <a:ext cx="5905500" cy="4535487"/>
          </a:xfrm>
          <a:prstGeom prst="rect">
            <a:avLst/>
          </a:prstGeom>
          <a:noFill/>
          <a:ln w="9525">
            <a:noFill/>
          </a:ln>
        </p:spPr>
        <p:txBody>
          <a:bodyPr anchor="ctr" anchorCtr="0">
            <a:spAutoFit/>
          </a:bodyPr>
          <a:p>
            <a:pPr indent="228600" eaLnBrk="1" hangingPunct="1">
              <a:buFont typeface="Wingdings" panose="05000000000000000000" pitchFamily="2" charset="2"/>
              <a:buChar char="Ø"/>
            </a:pPr>
            <a:r>
              <a:rPr lang="zh-CN" altLang="en-US" sz="2800" b="1" dirty="0">
                <a:solidFill>
                  <a:srgbClr val="FF0000"/>
                </a:solidFill>
                <a:latin typeface="GreekS" pitchFamily="2" charset="0"/>
                <a:ea typeface="楷体_GB2312" pitchFamily="49" charset="-122"/>
              </a:rPr>
              <a:t>轧制成形</a:t>
            </a:r>
            <a:endParaRPr lang="zh-CN" altLang="en-US" sz="2800" b="1" dirty="0">
              <a:latin typeface="GreekS" pitchFamily="2" charset="0"/>
              <a:ea typeface="楷体_GB2312" pitchFamily="49" charset="-122"/>
            </a:endParaRPr>
          </a:p>
          <a:p>
            <a:pPr indent="228600" eaLnBrk="1" hangingPunct="1"/>
            <a:r>
              <a:rPr lang="zh-CN" altLang="en-US" sz="2400" b="1" dirty="0">
                <a:solidFill>
                  <a:srgbClr val="009900"/>
                </a:solidFill>
                <a:latin typeface="楷体_GB2312" pitchFamily="49" charset="-122"/>
                <a:ea typeface="楷体_GB2312" pitchFamily="49" charset="-122"/>
              </a:rPr>
              <a:t>一、纵轧</a:t>
            </a:r>
            <a:r>
              <a:rPr lang="zh-CN" altLang="en-US" sz="2400" dirty="0">
                <a:solidFill>
                  <a:srgbClr val="FFFF00"/>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轧辊轴线与坯料轴线互相垂直的轧制方法。包括各种型材轧制、辊锻轧制、辗环轧制等。</a:t>
            </a:r>
            <a:endParaRPr lang="zh-CN" altLang="en-US" sz="2400" b="1" dirty="0">
              <a:latin typeface="楷体_GB2312" pitchFamily="49" charset="-122"/>
              <a:ea typeface="楷体_GB2312" pitchFamily="49" charset="-122"/>
            </a:endParaRPr>
          </a:p>
          <a:p>
            <a:pPr indent="228600" eaLnBrk="1" hangingPunct="1"/>
            <a:r>
              <a:rPr lang="en-US" altLang="zh-CN" sz="2400" b="1" dirty="0">
                <a:solidFill>
                  <a:srgbClr val="990000"/>
                </a:solidFill>
                <a:latin typeface="楷体_GB2312" pitchFamily="49" charset="-122"/>
                <a:ea typeface="楷体_GB2312" pitchFamily="49" charset="-122"/>
              </a:rPr>
              <a:t>1.</a:t>
            </a:r>
            <a:r>
              <a:rPr lang="zh-CN" altLang="en-US" sz="2400" b="1" dirty="0">
                <a:solidFill>
                  <a:srgbClr val="990000"/>
                </a:solidFill>
                <a:latin typeface="楷体_GB2312" pitchFamily="49" charset="-122"/>
                <a:ea typeface="楷体_GB2312" pitchFamily="49" charset="-122"/>
              </a:rPr>
              <a:t>辊锻轧制：</a:t>
            </a:r>
            <a:r>
              <a:rPr lang="zh-CN" altLang="en-US" sz="2400" b="1" dirty="0">
                <a:latin typeface="楷体_GB2312" pitchFamily="49" charset="-122"/>
                <a:ea typeface="楷体_GB2312" pitchFamily="49" charset="-122"/>
              </a:rPr>
              <a:t>使坯料通过装有圆弧形弧形模块的一对相对旋转的轧辊时受压而变形的生产方法</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原理图</a:t>
            </a:r>
            <a:r>
              <a:rPr lang="en-US" altLang="zh-CN" sz="2400" b="1" dirty="0">
                <a:latin typeface="楷体_GB2312" pitchFamily="49" charset="-122"/>
                <a:ea typeface="楷体_GB2312" pitchFamily="49" charset="-122"/>
              </a:rPr>
              <a:t>3.70</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a:p>
            <a:pPr indent="228600" eaLnBrk="1" hangingPunct="1"/>
            <a:r>
              <a:rPr lang="zh-CN" altLang="en-US" sz="2400" b="1" dirty="0">
                <a:solidFill>
                  <a:srgbClr val="FF0000"/>
                </a:solidFill>
                <a:latin typeface="楷体_GB2312" pitchFamily="49" charset="-122"/>
                <a:ea typeface="楷体_GB2312" pitchFamily="49" charset="-122"/>
              </a:rPr>
              <a:t>产品：</a:t>
            </a:r>
            <a:r>
              <a:rPr lang="zh-CN" altLang="en-US" sz="2400" b="1" dirty="0">
                <a:latin typeface="楷体_GB2312" pitchFamily="49" charset="-122"/>
                <a:ea typeface="楷体_GB2312" pitchFamily="49" charset="-122"/>
              </a:rPr>
              <a:t>①扁断面的长杆件，如扳手、活动扳手、链环等。</a:t>
            </a:r>
            <a:endParaRPr lang="zh-CN" altLang="en-US" sz="2400" b="1" dirty="0">
              <a:latin typeface="楷体_GB2312" pitchFamily="49" charset="-122"/>
              <a:ea typeface="楷体_GB2312" pitchFamily="49" charset="-122"/>
            </a:endParaRPr>
          </a:p>
          <a:p>
            <a:pPr indent="228600" eaLnBrk="1" hangingPunct="1"/>
            <a:r>
              <a:rPr lang="zh-CN" altLang="en-US" sz="2400" b="1" dirty="0">
                <a:latin typeface="楷体_GB2312" pitchFamily="49" charset="-122"/>
                <a:ea typeface="楷体_GB2312" pitchFamily="49" charset="-122"/>
              </a:rPr>
              <a:t>②带有不变形头部而沿长度方向横截面面积递减的锻件，如叶片等。</a:t>
            </a:r>
            <a:endParaRPr lang="zh-CN" altLang="en-US" sz="2400" b="1" dirty="0">
              <a:solidFill>
                <a:srgbClr val="FF0000"/>
              </a:solidFill>
              <a:latin typeface="楷体_GB2312" pitchFamily="49" charset="-122"/>
              <a:ea typeface="楷体_GB2312" pitchFamily="49" charset="-122"/>
            </a:endParaRPr>
          </a:p>
          <a:p>
            <a:pPr indent="228600" eaLnBrk="1" hangingPunct="1"/>
            <a:r>
              <a:rPr lang="zh-CN" altLang="en-US" sz="2400" b="1" dirty="0">
                <a:latin typeface="楷体_GB2312" pitchFamily="49" charset="-122"/>
                <a:ea typeface="楷体_GB2312" pitchFamily="49" charset="-122"/>
              </a:rPr>
              <a:t>③连杆成形。</a:t>
            </a:r>
            <a:endParaRPr lang="zh-CN" altLang="en-US" sz="2400" b="1" dirty="0">
              <a:latin typeface="楷体_GB2312" pitchFamily="49" charset="-122"/>
              <a:ea typeface="楷体_GB2312" pitchFamily="49" charset="-122"/>
            </a:endParaRPr>
          </a:p>
        </p:txBody>
      </p:sp>
      <p:sp>
        <p:nvSpPr>
          <p:cNvPr id="147459" name="Rectangle 3"/>
          <p:cNvSpPr/>
          <p:nvPr/>
        </p:nvSpPr>
        <p:spPr>
          <a:xfrm>
            <a:off x="4005263" y="341313"/>
            <a:ext cx="2654300" cy="701675"/>
          </a:xfrm>
          <a:prstGeom prst="rect">
            <a:avLst/>
          </a:prstGeom>
          <a:noFill/>
          <a:ln w="9525">
            <a:noFill/>
          </a:ln>
        </p:spPr>
        <p:txBody>
          <a:bodyPr>
            <a:spAutoFit/>
          </a:bodyPr>
          <a:p>
            <a:pPr eaLnBrk="1" hangingPunct="1"/>
            <a:r>
              <a:rPr lang="zh-CN" altLang="en-US" sz="4000" b="1" dirty="0">
                <a:latin typeface="GreekS" pitchFamily="2" charset="0"/>
                <a:ea typeface="楷体_GB2312" pitchFamily="49" charset="-122"/>
              </a:rPr>
              <a:t>零件轧制</a:t>
            </a:r>
            <a:endParaRPr lang="zh-CN" altLang="en-US" sz="4000" b="1" dirty="0">
              <a:latin typeface="GreekS" pitchFamily="2" charset="0"/>
              <a:ea typeface="楷体_GB2312" pitchFamily="49" charset="-122"/>
            </a:endParaRPr>
          </a:p>
        </p:txBody>
      </p:sp>
      <p:grpSp>
        <p:nvGrpSpPr>
          <p:cNvPr id="147460" name="Group 10"/>
          <p:cNvGrpSpPr/>
          <p:nvPr/>
        </p:nvGrpSpPr>
        <p:grpSpPr>
          <a:xfrm>
            <a:off x="6227763" y="1989138"/>
            <a:ext cx="2736850" cy="3455987"/>
            <a:chOff x="4105" y="1344"/>
            <a:chExt cx="1320" cy="1631"/>
          </a:xfrm>
        </p:grpSpPr>
        <p:pic>
          <p:nvPicPr>
            <p:cNvPr id="147461" name="Picture 5"/>
            <p:cNvPicPr>
              <a:picLocks noChangeAspect="1"/>
            </p:cNvPicPr>
            <p:nvPr/>
          </p:nvPicPr>
          <p:blipFill>
            <a:blip r:embed="rId1"/>
            <a:stretch>
              <a:fillRect/>
            </a:stretch>
          </p:blipFill>
          <p:spPr>
            <a:xfrm>
              <a:off x="4105" y="1344"/>
              <a:ext cx="1320" cy="1498"/>
            </a:xfrm>
            <a:prstGeom prst="rect">
              <a:avLst/>
            </a:prstGeom>
            <a:noFill/>
            <a:ln w="9525">
              <a:noFill/>
            </a:ln>
          </p:spPr>
        </p:pic>
        <p:sp>
          <p:nvSpPr>
            <p:cNvPr id="147462" name="Text Box 6"/>
            <p:cNvSpPr txBox="1"/>
            <p:nvPr/>
          </p:nvSpPr>
          <p:spPr>
            <a:xfrm>
              <a:off x="4105" y="2795"/>
              <a:ext cx="1315" cy="180"/>
            </a:xfrm>
            <a:prstGeom prst="rect">
              <a:avLst/>
            </a:prstGeom>
            <a:solidFill>
              <a:srgbClr val="FFFFFF"/>
            </a:solidFill>
            <a:ln w="9525">
              <a:noFill/>
            </a:ln>
          </p:spPr>
          <p:txBody>
            <a:bodyPr lIns="0" tIns="0" rIns="0" bIns="0"/>
            <a:p>
              <a:pPr eaLnBrk="1" hangingPunct="1"/>
              <a:r>
                <a:rPr lang="en-US" altLang="zh-CN"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3.70  </a:t>
              </a:r>
              <a:r>
                <a:rPr lang="zh-CN" altLang="en-US" sz="2000" b="1" dirty="0">
                  <a:latin typeface="楷体_GB2312" pitchFamily="49" charset="-122"/>
                  <a:ea typeface="楷体_GB2312" pitchFamily="49" charset="-122"/>
                </a:rPr>
                <a:t>辊锻示意图</a:t>
              </a:r>
              <a:r>
                <a:rPr lang="zh-CN" altLang="en-US" sz="900" dirty="0">
                  <a:latin typeface="Times New Roman" panose="02020603050405020304" pitchFamily="18" charset="0"/>
                </a:rPr>
                <a:t>	</a:t>
              </a:r>
              <a:endParaRPr lang="zh-CN" altLang="en-US" dirty="0">
                <a:latin typeface="GreekS" pitchFamily="2" charset="0"/>
              </a:endParaRPr>
            </a:p>
          </p:txBody>
        </p:sp>
      </p:gr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2"/>
          <p:cNvSpPr/>
          <p:nvPr/>
        </p:nvSpPr>
        <p:spPr>
          <a:xfrm>
            <a:off x="323850" y="1331913"/>
            <a:ext cx="5472113" cy="5265737"/>
          </a:xfrm>
          <a:prstGeom prst="rect">
            <a:avLst/>
          </a:prstGeom>
          <a:noFill/>
          <a:ln w="9525">
            <a:noFill/>
          </a:ln>
        </p:spPr>
        <p:txBody>
          <a:bodyPr anchor="ctr" anchorCtr="0">
            <a:spAutoFit/>
          </a:bodyPr>
          <a:p>
            <a:pPr indent="228600" eaLnBrk="1" hangingPunct="1"/>
            <a:r>
              <a:rPr lang="en-US" altLang="zh-CN" sz="2800" b="1" dirty="0">
                <a:solidFill>
                  <a:srgbClr val="FF0000"/>
                </a:solidFill>
                <a:latin typeface="楷体_GB2312" pitchFamily="49" charset="-122"/>
                <a:ea typeface="楷体_GB2312" pitchFamily="49" charset="-122"/>
              </a:rPr>
              <a:t>2.</a:t>
            </a:r>
            <a:r>
              <a:rPr lang="zh-CN" altLang="en-US" sz="2800" b="1" dirty="0">
                <a:solidFill>
                  <a:srgbClr val="FF0000"/>
                </a:solidFill>
                <a:latin typeface="楷体_GB2312" pitchFamily="49" charset="-122"/>
                <a:ea typeface="楷体_GB2312" pitchFamily="49" charset="-122"/>
              </a:rPr>
              <a:t>辗环轧制：</a:t>
            </a:r>
            <a:endParaRPr lang="zh-CN" altLang="en-US" sz="2800" b="1" dirty="0">
              <a:solidFill>
                <a:srgbClr val="FF0000"/>
              </a:solidFill>
              <a:latin typeface="楷体_GB2312" pitchFamily="49" charset="-122"/>
              <a:ea typeface="楷体_GB2312" pitchFamily="49" charset="-122"/>
            </a:endParaRPr>
          </a:p>
          <a:p>
            <a:pPr indent="228600" eaLnBrk="1" hangingPunct="1"/>
            <a:r>
              <a:rPr lang="zh-CN" altLang="en-US" sz="2400" b="1" dirty="0">
                <a:latin typeface="楷体_GB2312" pitchFamily="49" charset="-122"/>
                <a:ea typeface="楷体_GB2312" pitchFamily="49" charset="-122"/>
              </a:rPr>
              <a:t>  </a:t>
            </a:r>
            <a:r>
              <a:rPr lang="zh-CN" altLang="en-US" sz="2400" b="1" dirty="0">
                <a:solidFill>
                  <a:srgbClr val="CC3300"/>
                </a:solidFill>
                <a:latin typeface="楷体_GB2312" pitchFamily="49" charset="-122"/>
                <a:ea typeface="楷体_GB2312" pitchFamily="49" charset="-122"/>
              </a:rPr>
              <a:t>扩大环形坯料的</a:t>
            </a:r>
            <a:r>
              <a:rPr lang="zh-CN" altLang="en-US" sz="2400" b="1" dirty="0">
                <a:solidFill>
                  <a:srgbClr val="FF0000"/>
                </a:solidFill>
                <a:latin typeface="楷体_GB2312" pitchFamily="49" charset="-122"/>
                <a:ea typeface="楷体_GB2312" pitchFamily="49" charset="-122"/>
              </a:rPr>
              <a:t>外径和内径</a:t>
            </a:r>
            <a:r>
              <a:rPr lang="zh-CN" altLang="en-US" sz="2400" b="1" dirty="0">
                <a:latin typeface="楷体_GB2312" pitchFamily="49" charset="-122"/>
                <a:ea typeface="楷体_GB2312" pitchFamily="49" charset="-122"/>
              </a:rPr>
              <a:t>，从而获得各种环状零件的轧制方法。</a:t>
            </a:r>
            <a:endParaRPr lang="zh-CN" altLang="en-US" sz="2400" b="1" dirty="0">
              <a:latin typeface="楷体_GB2312" pitchFamily="49" charset="-122"/>
              <a:ea typeface="楷体_GB2312" pitchFamily="49" charset="-122"/>
            </a:endParaRPr>
          </a:p>
          <a:p>
            <a:pPr indent="228600" eaLnBrk="1" hangingPunct="1"/>
            <a:r>
              <a:rPr lang="zh-CN" altLang="en-US" sz="2400" b="1" dirty="0">
                <a:solidFill>
                  <a:srgbClr val="009900"/>
                </a:solidFill>
                <a:latin typeface="楷体_GB2312" pitchFamily="49" charset="-122"/>
                <a:ea typeface="楷体_GB2312" pitchFamily="49" charset="-122"/>
              </a:rPr>
              <a:t>（</a:t>
            </a:r>
            <a:r>
              <a:rPr lang="en-US" altLang="zh-CN" sz="2400" b="1" dirty="0">
                <a:solidFill>
                  <a:srgbClr val="009900"/>
                </a:solidFill>
                <a:latin typeface="楷体_GB2312" pitchFamily="49" charset="-122"/>
                <a:ea typeface="楷体_GB2312" pitchFamily="49" charset="-122"/>
              </a:rPr>
              <a:t>1</a:t>
            </a:r>
            <a:r>
              <a:rPr lang="zh-CN" altLang="en-US" sz="2400" b="1" dirty="0">
                <a:solidFill>
                  <a:srgbClr val="009900"/>
                </a:solidFill>
                <a:latin typeface="楷体_GB2312" pitchFamily="49" charset="-122"/>
                <a:ea typeface="楷体_GB2312" pitchFamily="49" charset="-122"/>
              </a:rPr>
              <a:t>）原理：</a:t>
            </a:r>
            <a:r>
              <a:rPr lang="zh-CN" altLang="zh-CN" sz="2400" b="1" dirty="0">
                <a:latin typeface="楷体_GB2312" pitchFamily="49" charset="-122"/>
                <a:ea typeface="楷体_GB2312" pitchFamily="49" charset="-122"/>
              </a:rPr>
              <a:t>驱动辊1由电机带动旋转，</a:t>
            </a:r>
            <a:r>
              <a:rPr lang="zh-CN" altLang="zh-CN" sz="2400" b="1" dirty="0">
                <a:solidFill>
                  <a:srgbClr val="0000FF"/>
                </a:solidFill>
                <a:latin typeface="楷体_GB2312" pitchFamily="49" charset="-122"/>
                <a:ea typeface="楷体_GB2312" pitchFamily="49" charset="-122"/>
              </a:rPr>
              <a:t>利用摩擦力使坯料5在驱动辊和芯辊2之间受压变形。</a:t>
            </a:r>
            <a:r>
              <a:rPr lang="zh-CN" altLang="zh-CN" sz="2400" b="1" dirty="0">
                <a:solidFill>
                  <a:srgbClr val="000000"/>
                </a:solidFill>
                <a:latin typeface="楷体_GB2312" pitchFamily="49" charset="-122"/>
                <a:ea typeface="楷体_GB2312" pitchFamily="49" charset="-122"/>
              </a:rPr>
              <a:t>驱动辊还可由油缸推动作上下移动。</a:t>
            </a:r>
            <a:r>
              <a:rPr lang="zh-CN" altLang="zh-CN" sz="2400" b="1" dirty="0">
                <a:latin typeface="楷体_GB2312" pitchFamily="49" charset="-122"/>
                <a:ea typeface="楷体_GB2312" pitchFamily="49" charset="-122"/>
              </a:rPr>
              <a:t>改变</a:t>
            </a:r>
            <a:r>
              <a:rPr lang="zh-CN" altLang="zh-CN" sz="2400" b="1" dirty="0">
                <a:solidFill>
                  <a:srgbClr val="FF0000"/>
                </a:solidFill>
                <a:latin typeface="楷体_GB2312" pitchFamily="49" charset="-122"/>
                <a:ea typeface="楷体_GB2312" pitchFamily="49" charset="-122"/>
              </a:rPr>
              <a:t>1．2</a:t>
            </a:r>
            <a:r>
              <a:rPr lang="zh-CN" altLang="zh-CN" sz="2400" b="1" dirty="0">
                <a:latin typeface="楷体_GB2312" pitchFamily="49" charset="-122"/>
                <a:ea typeface="楷体_GB2312" pitchFamily="49" charset="-122"/>
              </a:rPr>
              <a:t>两辊间的</a:t>
            </a:r>
            <a:r>
              <a:rPr lang="zh-CN" altLang="zh-CN" sz="2400" b="1" dirty="0">
                <a:solidFill>
                  <a:srgbClr val="FF0000"/>
                </a:solidFill>
                <a:latin typeface="楷体_GB2312" pitchFamily="49" charset="-122"/>
                <a:ea typeface="楷体_GB2312" pitchFamily="49" charset="-122"/>
              </a:rPr>
              <a:t>距离，</a:t>
            </a:r>
            <a:r>
              <a:rPr lang="zh-CN" altLang="zh-CN" sz="2400" b="1" dirty="0">
                <a:latin typeface="楷体_GB2312" pitchFamily="49" charset="-122"/>
                <a:ea typeface="楷体_GB2312" pitchFamily="49" charset="-122"/>
              </a:rPr>
              <a:t>使坯料</a:t>
            </a:r>
            <a:r>
              <a:rPr lang="zh-CN" altLang="zh-CN" sz="2400" b="1" dirty="0">
                <a:solidFill>
                  <a:srgbClr val="FF0000"/>
                </a:solidFill>
                <a:latin typeface="楷体_GB2312" pitchFamily="49" charset="-122"/>
                <a:ea typeface="楷体_GB2312" pitchFamily="49" charset="-122"/>
              </a:rPr>
              <a:t>厚度逐渐变小</a:t>
            </a:r>
            <a:r>
              <a:rPr lang="zh-CN" altLang="zh-CN" sz="2400" b="1" dirty="0">
                <a:latin typeface="楷体_GB2312" pitchFamily="49" charset="-122"/>
                <a:ea typeface="楷体_GB2312" pitchFamily="49" charset="-122"/>
              </a:rPr>
              <a:t>，而直径得到扩大。</a:t>
            </a:r>
            <a:r>
              <a:rPr lang="zh-CN" altLang="zh-CN" sz="2400" b="1" dirty="0">
                <a:solidFill>
                  <a:srgbClr val="008000"/>
                </a:solidFill>
                <a:latin typeface="楷体_GB2312" pitchFamily="49" charset="-122"/>
                <a:ea typeface="楷体_GB2312" pitchFamily="49" charset="-122"/>
              </a:rPr>
              <a:t>导向辊3用以保持正确运送坯料</a:t>
            </a:r>
            <a:r>
              <a:rPr lang="zh-CN" altLang="zh-CN" sz="2400" b="1" dirty="0">
                <a:latin typeface="楷体_GB2312" pitchFamily="49" charset="-122"/>
                <a:ea typeface="楷体_GB2312" pitchFamily="49" charset="-122"/>
              </a:rPr>
              <a:t>。信号辊</a:t>
            </a:r>
            <a:r>
              <a:rPr lang="zh-CN" altLang="zh-CN" sz="2400" b="1" dirty="0">
                <a:solidFill>
                  <a:srgbClr val="0000FF"/>
                </a:solidFill>
                <a:latin typeface="楷体_GB2312" pitchFamily="49" charset="-122"/>
                <a:ea typeface="楷体_GB2312" pitchFamily="49" charset="-122"/>
              </a:rPr>
              <a:t>4用来控制环件直径</a:t>
            </a:r>
            <a:r>
              <a:rPr lang="zh-CN" altLang="zh-CN"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a:p>
            <a:pPr indent="228600" eaLnBrk="1" hangingPunct="1"/>
            <a:r>
              <a:rPr lang="zh-CN" altLang="en-US" sz="2400" b="1" dirty="0">
                <a:solidFill>
                  <a:srgbClr val="009900"/>
                </a:solidFill>
                <a:latin typeface="楷体_GB2312" pitchFamily="49" charset="-122"/>
                <a:ea typeface="楷体_GB2312" pitchFamily="49" charset="-122"/>
              </a:rPr>
              <a:t>（</a:t>
            </a:r>
            <a:r>
              <a:rPr lang="en-US" altLang="zh-CN" sz="2400" b="1" dirty="0">
                <a:solidFill>
                  <a:srgbClr val="009900"/>
                </a:solidFill>
                <a:latin typeface="楷体_GB2312" pitchFamily="49" charset="-122"/>
                <a:ea typeface="楷体_GB2312" pitchFamily="49" charset="-122"/>
              </a:rPr>
              <a:t>2</a:t>
            </a:r>
            <a:r>
              <a:rPr lang="zh-CN" altLang="en-US" sz="2400" b="1" dirty="0">
                <a:solidFill>
                  <a:srgbClr val="009900"/>
                </a:solidFill>
                <a:latin typeface="楷体_GB2312" pitchFamily="49" charset="-122"/>
                <a:ea typeface="楷体_GB2312" pitchFamily="49" charset="-122"/>
              </a:rPr>
              <a:t>）产品：</a:t>
            </a:r>
            <a:r>
              <a:rPr lang="zh-CN" altLang="en-US" sz="2400" b="1" dirty="0">
                <a:latin typeface="楷体_GB2312" pitchFamily="49" charset="-122"/>
                <a:ea typeface="楷体_GB2312" pitchFamily="49" charset="-122"/>
              </a:rPr>
              <a:t>火车轮箍、轴承座圈、齿轮及法兰等。</a:t>
            </a:r>
            <a:endParaRPr lang="zh-CN" altLang="en-US" sz="2400" b="1" dirty="0">
              <a:solidFill>
                <a:srgbClr val="FF0000"/>
              </a:solidFill>
              <a:latin typeface="楷体_GB2312" pitchFamily="49" charset="-122"/>
              <a:ea typeface="楷体_GB2312" pitchFamily="49" charset="-122"/>
            </a:endParaRPr>
          </a:p>
          <a:p>
            <a:pPr indent="228600" eaLnBrk="1" hangingPunct="1"/>
            <a:endParaRPr lang="zh-CN" altLang="en-US" sz="2400" dirty="0">
              <a:solidFill>
                <a:srgbClr val="FF0000"/>
              </a:solidFill>
              <a:latin typeface="楷体_GB2312" pitchFamily="49" charset="-122"/>
              <a:ea typeface="楷体_GB2312" pitchFamily="49" charset="-122"/>
            </a:endParaRPr>
          </a:p>
          <a:p>
            <a:pPr indent="228600" eaLnBrk="1" hangingPunct="1"/>
            <a:endParaRPr lang="en-US" altLang="zh-CN" sz="2400" dirty="0">
              <a:latin typeface="楷体_GB2312" pitchFamily="49" charset="-122"/>
              <a:ea typeface="楷体_GB2312" pitchFamily="49" charset="-122"/>
            </a:endParaRPr>
          </a:p>
        </p:txBody>
      </p:sp>
      <p:sp>
        <p:nvSpPr>
          <p:cNvPr id="148483" name="Rectangle 3"/>
          <p:cNvSpPr/>
          <p:nvPr/>
        </p:nvSpPr>
        <p:spPr>
          <a:xfrm>
            <a:off x="4365625" y="341313"/>
            <a:ext cx="2654300" cy="701675"/>
          </a:xfrm>
          <a:prstGeom prst="rect">
            <a:avLst/>
          </a:prstGeom>
          <a:noFill/>
          <a:ln w="9525">
            <a:noFill/>
          </a:ln>
        </p:spPr>
        <p:txBody>
          <a:bodyPr>
            <a:spAutoFit/>
          </a:bodyPr>
          <a:p>
            <a:pPr eaLnBrk="1" hangingPunct="1"/>
            <a:r>
              <a:rPr lang="zh-CN" altLang="en-US" sz="4000" b="1" dirty="0">
                <a:latin typeface="Arial" panose="020B0604020202020204" pitchFamily="34" charset="0"/>
                <a:ea typeface="楷体_GB2312" pitchFamily="49" charset="-122"/>
              </a:rPr>
              <a:t>零件轧制</a:t>
            </a:r>
            <a:endParaRPr lang="zh-CN" altLang="en-US" sz="4000" dirty="0">
              <a:latin typeface="GreekS" pitchFamily="2" charset="0"/>
              <a:ea typeface="楷体_GB2312" pitchFamily="49" charset="-122"/>
            </a:endParaRPr>
          </a:p>
        </p:txBody>
      </p:sp>
      <p:grpSp>
        <p:nvGrpSpPr>
          <p:cNvPr id="148484" name="Group 13"/>
          <p:cNvGrpSpPr/>
          <p:nvPr/>
        </p:nvGrpSpPr>
        <p:grpSpPr>
          <a:xfrm>
            <a:off x="6076950" y="2347913"/>
            <a:ext cx="2816225" cy="2881312"/>
            <a:chOff x="3742" y="844"/>
            <a:chExt cx="1774" cy="1679"/>
          </a:xfrm>
        </p:grpSpPr>
        <p:sp>
          <p:nvSpPr>
            <p:cNvPr id="148485" name="Text Box 8"/>
            <p:cNvSpPr txBox="1"/>
            <p:nvPr/>
          </p:nvSpPr>
          <p:spPr>
            <a:xfrm>
              <a:off x="3742" y="2278"/>
              <a:ext cx="1769" cy="245"/>
            </a:xfrm>
            <a:prstGeom prst="rect">
              <a:avLst/>
            </a:prstGeom>
            <a:solidFill>
              <a:srgbClr val="FFFFFF"/>
            </a:solidFill>
            <a:ln w="9525">
              <a:noFill/>
            </a:ln>
          </p:spPr>
          <p:txBody>
            <a:bodyPr lIns="0" tIns="0" rIns="0" bIns="0"/>
            <a:p>
              <a:pPr eaLnBrk="1" hangingPunct="1"/>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3.71 </a:t>
              </a:r>
              <a:r>
                <a:rPr lang="zh-CN" altLang="en-US" sz="2000" b="1" dirty="0">
                  <a:latin typeface="楷体_GB2312" pitchFamily="49" charset="-122"/>
                  <a:ea typeface="楷体_GB2312" pitchFamily="49" charset="-122"/>
                </a:rPr>
                <a:t>辗环轧制示意图</a:t>
              </a:r>
              <a:r>
                <a:rPr lang="zh-CN" altLang="en-US" sz="900" dirty="0">
                  <a:latin typeface="Times New Roman" panose="02020603050405020304" pitchFamily="18" charset="0"/>
                </a:rPr>
                <a:t>	</a:t>
              </a:r>
              <a:endParaRPr lang="zh-CN" altLang="en-US" sz="1000" dirty="0">
                <a:latin typeface="Times New Roman" panose="02020603050405020304" pitchFamily="18" charset="0"/>
              </a:endParaRPr>
            </a:p>
            <a:p>
              <a:pPr eaLnBrk="1" hangingPunct="1"/>
              <a:endParaRPr lang="en-US" altLang="zh-CN" dirty="0">
                <a:latin typeface="GreekS" pitchFamily="2" charset="0"/>
              </a:endParaRPr>
            </a:p>
          </p:txBody>
        </p:sp>
        <p:pic>
          <p:nvPicPr>
            <p:cNvPr id="148486" name="Picture 9"/>
            <p:cNvPicPr>
              <a:picLocks noChangeAspect="1"/>
            </p:cNvPicPr>
            <p:nvPr/>
          </p:nvPicPr>
          <p:blipFill>
            <a:blip r:embed="rId1"/>
            <a:srcRect t="2144" b="2591"/>
            <a:stretch>
              <a:fillRect/>
            </a:stretch>
          </p:blipFill>
          <p:spPr>
            <a:xfrm>
              <a:off x="3756" y="844"/>
              <a:ext cx="1760" cy="1476"/>
            </a:xfrm>
            <a:prstGeom prst="rect">
              <a:avLst/>
            </a:prstGeom>
            <a:noFill/>
            <a:ln w="9525">
              <a:noFill/>
            </a:ln>
          </p:spPr>
        </p:pic>
        <p:sp>
          <p:nvSpPr>
            <p:cNvPr id="148487" name="Line 2"/>
            <p:cNvSpPr/>
            <p:nvPr/>
          </p:nvSpPr>
          <p:spPr>
            <a:xfrm flipV="1">
              <a:off x="4774" y="1068"/>
              <a:ext cx="152" cy="161"/>
            </a:xfrm>
            <a:prstGeom prst="line">
              <a:avLst/>
            </a:prstGeom>
            <a:ln w="9525" cap="flat" cmpd="sng">
              <a:solidFill>
                <a:schemeClr val="tx1"/>
              </a:solidFill>
              <a:prstDash val="solid"/>
              <a:headEnd type="none" w="med" len="med"/>
              <a:tailEnd type="none" w="med" len="med"/>
            </a:ln>
          </p:spPr>
        </p:sp>
        <p:sp>
          <p:nvSpPr>
            <p:cNvPr id="148488" name="Text Box 3"/>
            <p:cNvSpPr txBox="1"/>
            <p:nvPr/>
          </p:nvSpPr>
          <p:spPr>
            <a:xfrm>
              <a:off x="4876" y="890"/>
              <a:ext cx="196" cy="214"/>
            </a:xfrm>
            <a:prstGeom prst="rect">
              <a:avLst/>
            </a:prstGeom>
            <a:noFill/>
            <a:ln w="9525">
              <a:noFill/>
            </a:ln>
          </p:spPr>
          <p:txBody>
            <a:bodyPr wrap="none">
              <a:spAutoFit/>
            </a:bodyPr>
            <a:p>
              <a:pPr eaLnBrk="1" hangingPunct="1"/>
              <a:r>
                <a:rPr lang="en-US" altLang="zh-CN" dirty="0">
                  <a:latin typeface="Arial" panose="020B0604020202020204" pitchFamily="34" charset="0"/>
                </a:rPr>
                <a:t>1</a:t>
              </a:r>
              <a:endParaRPr lang="en-US" altLang="zh-CN" dirty="0">
                <a:latin typeface="Arial" panose="020B0604020202020204" pitchFamily="34" charset="0"/>
              </a:endParaRPr>
            </a:p>
          </p:txBody>
        </p:sp>
        <p:sp>
          <p:nvSpPr>
            <p:cNvPr id="148489" name="Line 4"/>
            <p:cNvSpPr/>
            <p:nvPr/>
          </p:nvSpPr>
          <p:spPr>
            <a:xfrm flipV="1">
              <a:off x="4876" y="1552"/>
              <a:ext cx="202" cy="161"/>
            </a:xfrm>
            <a:prstGeom prst="line">
              <a:avLst/>
            </a:prstGeom>
            <a:ln w="9525" cap="flat" cmpd="sng">
              <a:solidFill>
                <a:schemeClr val="tx1"/>
              </a:solidFill>
              <a:prstDash val="solid"/>
              <a:headEnd type="none" w="med" len="med"/>
              <a:tailEnd type="none" w="med" len="med"/>
            </a:ln>
          </p:spPr>
        </p:sp>
        <p:sp>
          <p:nvSpPr>
            <p:cNvPr id="148490" name="Text Box 5"/>
            <p:cNvSpPr txBox="1"/>
            <p:nvPr/>
          </p:nvSpPr>
          <p:spPr>
            <a:xfrm>
              <a:off x="5065" y="1137"/>
              <a:ext cx="196" cy="214"/>
            </a:xfrm>
            <a:prstGeom prst="rect">
              <a:avLst/>
            </a:prstGeom>
            <a:noFill/>
            <a:ln w="9525">
              <a:noFill/>
            </a:ln>
          </p:spPr>
          <p:txBody>
            <a:bodyPr wrap="none">
              <a:spAutoFit/>
            </a:bodyPr>
            <a:p>
              <a:pPr eaLnBrk="1" hangingPunct="1"/>
              <a:r>
                <a:rPr lang="en-US" altLang="zh-CN" dirty="0">
                  <a:latin typeface="Arial" panose="020B0604020202020204" pitchFamily="34" charset="0"/>
                </a:rPr>
                <a:t>2</a:t>
              </a:r>
              <a:endParaRPr lang="en-US" altLang="zh-CN" dirty="0">
                <a:latin typeface="Arial" panose="020B0604020202020204" pitchFamily="34" charset="0"/>
              </a:endParaRPr>
            </a:p>
          </p:txBody>
        </p:sp>
        <p:sp>
          <p:nvSpPr>
            <p:cNvPr id="148491" name="Line 6"/>
            <p:cNvSpPr/>
            <p:nvPr/>
          </p:nvSpPr>
          <p:spPr>
            <a:xfrm flipV="1">
              <a:off x="4672" y="1284"/>
              <a:ext cx="406" cy="323"/>
            </a:xfrm>
            <a:prstGeom prst="line">
              <a:avLst/>
            </a:prstGeom>
            <a:ln w="9525" cap="flat" cmpd="sng">
              <a:solidFill>
                <a:schemeClr val="tx1"/>
              </a:solidFill>
              <a:prstDash val="solid"/>
              <a:headEnd type="none" w="med" len="med"/>
              <a:tailEnd type="none" w="med" len="med"/>
            </a:ln>
          </p:spPr>
        </p:sp>
        <p:sp>
          <p:nvSpPr>
            <p:cNvPr id="148492" name="Text Box 7"/>
            <p:cNvSpPr txBox="1"/>
            <p:nvPr/>
          </p:nvSpPr>
          <p:spPr>
            <a:xfrm>
              <a:off x="5078" y="1713"/>
              <a:ext cx="196" cy="213"/>
            </a:xfrm>
            <a:prstGeom prst="rect">
              <a:avLst/>
            </a:prstGeom>
            <a:noFill/>
            <a:ln w="9525">
              <a:noFill/>
            </a:ln>
          </p:spPr>
          <p:txBody>
            <a:bodyPr wrap="none">
              <a:spAutoFit/>
            </a:bodyPr>
            <a:p>
              <a:pPr eaLnBrk="1" hangingPunct="1"/>
              <a:r>
                <a:rPr lang="en-US" altLang="zh-CN" dirty="0">
                  <a:latin typeface="Arial" panose="020B0604020202020204" pitchFamily="34" charset="0"/>
                </a:rPr>
                <a:t>3</a:t>
              </a:r>
              <a:endParaRPr lang="en-US" altLang="zh-CN" dirty="0">
                <a:latin typeface="Arial" panose="020B0604020202020204" pitchFamily="34" charset="0"/>
              </a:endParaRPr>
            </a:p>
          </p:txBody>
        </p:sp>
        <p:sp>
          <p:nvSpPr>
            <p:cNvPr id="148493" name="Line 8"/>
            <p:cNvSpPr/>
            <p:nvPr/>
          </p:nvSpPr>
          <p:spPr>
            <a:xfrm flipV="1">
              <a:off x="4825" y="1876"/>
              <a:ext cx="305" cy="106"/>
            </a:xfrm>
            <a:prstGeom prst="line">
              <a:avLst/>
            </a:prstGeom>
            <a:ln w="9525" cap="flat" cmpd="sng">
              <a:solidFill>
                <a:schemeClr val="tx1"/>
              </a:solidFill>
              <a:prstDash val="solid"/>
              <a:headEnd type="none" w="med" len="med"/>
              <a:tailEnd type="none" w="med" len="med"/>
            </a:ln>
          </p:spPr>
        </p:sp>
        <p:sp>
          <p:nvSpPr>
            <p:cNvPr id="148494" name="Line 9"/>
            <p:cNvSpPr/>
            <p:nvPr/>
          </p:nvSpPr>
          <p:spPr>
            <a:xfrm flipH="1" flipV="1">
              <a:off x="4166" y="1876"/>
              <a:ext cx="254" cy="161"/>
            </a:xfrm>
            <a:prstGeom prst="line">
              <a:avLst/>
            </a:prstGeom>
            <a:ln w="9525" cap="flat" cmpd="sng">
              <a:solidFill>
                <a:schemeClr val="tx1"/>
              </a:solidFill>
              <a:prstDash val="solid"/>
              <a:headEnd type="none" w="med" len="med"/>
              <a:tailEnd type="none" w="med" len="med"/>
            </a:ln>
          </p:spPr>
        </p:sp>
        <p:sp>
          <p:nvSpPr>
            <p:cNvPr id="148495" name="Text Box 10"/>
            <p:cNvSpPr txBox="1"/>
            <p:nvPr/>
          </p:nvSpPr>
          <p:spPr>
            <a:xfrm>
              <a:off x="5078" y="1386"/>
              <a:ext cx="196" cy="214"/>
            </a:xfrm>
            <a:prstGeom prst="rect">
              <a:avLst/>
            </a:prstGeom>
            <a:noFill/>
            <a:ln w="9525">
              <a:noFill/>
            </a:ln>
          </p:spPr>
          <p:txBody>
            <a:bodyPr wrap="none">
              <a:spAutoFit/>
            </a:bodyPr>
            <a:p>
              <a:pPr eaLnBrk="1" hangingPunct="1"/>
              <a:r>
                <a:rPr lang="en-US" altLang="zh-CN" dirty="0">
                  <a:latin typeface="Arial" panose="020B0604020202020204" pitchFamily="34" charset="0"/>
                </a:rPr>
                <a:t>5</a:t>
              </a:r>
              <a:endParaRPr lang="en-US" altLang="zh-CN" dirty="0">
                <a:latin typeface="Arial" panose="020B0604020202020204" pitchFamily="34" charset="0"/>
              </a:endParaRPr>
            </a:p>
          </p:txBody>
        </p:sp>
        <p:sp>
          <p:nvSpPr>
            <p:cNvPr id="148496" name="Text Box 11"/>
            <p:cNvSpPr txBox="1"/>
            <p:nvPr/>
          </p:nvSpPr>
          <p:spPr>
            <a:xfrm>
              <a:off x="3997" y="1708"/>
              <a:ext cx="196" cy="214"/>
            </a:xfrm>
            <a:prstGeom prst="rect">
              <a:avLst/>
            </a:prstGeom>
            <a:noFill/>
            <a:ln w="9525">
              <a:noFill/>
            </a:ln>
          </p:spPr>
          <p:txBody>
            <a:bodyPr wrap="none">
              <a:spAutoFit/>
            </a:bodyPr>
            <a:p>
              <a:pPr eaLnBrk="1" hangingPunct="1"/>
              <a:r>
                <a:rPr lang="en-US" altLang="zh-CN" dirty="0">
                  <a:latin typeface="Arial" panose="020B0604020202020204" pitchFamily="34" charset="0"/>
                </a:rPr>
                <a:t>4</a:t>
              </a:r>
              <a:endParaRPr lang="en-US" altLang="zh-CN" dirty="0">
                <a:latin typeface="Arial" panose="020B0604020202020204" pitchFamily="34" charset="0"/>
              </a:endParaRPr>
            </a:p>
          </p:txBody>
        </p:sp>
      </p:gr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Rectangle 8"/>
          <p:cNvSpPr/>
          <p:nvPr/>
        </p:nvSpPr>
        <p:spPr>
          <a:xfrm>
            <a:off x="0" y="3240088"/>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grpSp>
        <p:nvGrpSpPr>
          <p:cNvPr id="149507" name="Group 45"/>
          <p:cNvGrpSpPr/>
          <p:nvPr/>
        </p:nvGrpSpPr>
        <p:grpSpPr>
          <a:xfrm>
            <a:off x="5868988" y="2492375"/>
            <a:ext cx="3095625" cy="2808288"/>
            <a:chOff x="3606" y="1117"/>
            <a:chExt cx="1950" cy="1769"/>
          </a:xfrm>
        </p:grpSpPr>
        <p:sp>
          <p:nvSpPr>
            <p:cNvPr id="149511" name="Rectangle 11"/>
            <p:cNvSpPr/>
            <p:nvPr/>
          </p:nvSpPr>
          <p:spPr>
            <a:xfrm>
              <a:off x="3787" y="2432"/>
              <a:ext cx="1588" cy="211"/>
            </a:xfrm>
            <a:prstGeom prst="rect">
              <a:avLst/>
            </a:prstGeom>
            <a:solidFill>
              <a:srgbClr val="FFFFFF"/>
            </a:solidFill>
            <a:ln w="9525">
              <a:noFill/>
            </a:ln>
          </p:spPr>
          <p:txBody>
            <a:bodyPr anchor="ctr" anchorCtr="0"/>
            <a:p>
              <a:pPr eaLnBrk="1" hangingPunct="1">
                <a:buNone/>
              </a:pPr>
              <a:r>
                <a:rPr lang="ja-JP" altLang="zh-CN" sz="2000" b="1" dirty="0">
                  <a:latin typeface="楷体_GB2312" pitchFamily="49" charset="-122"/>
                  <a:ea typeface="楷体_GB2312" pitchFamily="49" charset="-122"/>
                </a:rPr>
                <a:t> </a:t>
              </a:r>
              <a:r>
                <a:rPr lang="ja-JP"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3</a:t>
              </a:r>
              <a:r>
                <a:rPr lang="en-US" altLang="ja-JP"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72</a:t>
              </a:r>
              <a:r>
                <a:rPr lang="en-US" altLang="ja-JP" sz="2000" b="1" dirty="0">
                  <a:latin typeface="楷体_GB2312" pitchFamily="49" charset="-122"/>
                  <a:ea typeface="楷体_GB2312" pitchFamily="49" charset="-122"/>
                </a:rPr>
                <a:t> </a:t>
              </a:r>
              <a:r>
                <a:rPr lang="ja-JP" altLang="en-US" sz="2000" b="1" dirty="0">
                  <a:latin typeface="楷体_GB2312" pitchFamily="49" charset="-122"/>
                  <a:ea typeface="楷体_GB2312" pitchFamily="49" charset="-122"/>
                </a:rPr>
                <a:t>横轧示意图</a:t>
              </a:r>
              <a:endParaRPr lang="ja-JP" altLang="en-US" sz="2000" b="1" dirty="0">
                <a:latin typeface="楷体_GB2312" pitchFamily="49" charset="-122"/>
                <a:ea typeface="楷体_GB2312" pitchFamily="49" charset="-122"/>
              </a:endParaRPr>
            </a:p>
          </p:txBody>
        </p:sp>
        <p:sp>
          <p:nvSpPr>
            <p:cNvPr id="149512" name="Line 12"/>
            <p:cNvSpPr/>
            <p:nvPr/>
          </p:nvSpPr>
          <p:spPr>
            <a:xfrm>
              <a:off x="3606" y="2432"/>
              <a:ext cx="1247" cy="0"/>
            </a:xfrm>
            <a:prstGeom prst="line">
              <a:avLst/>
            </a:prstGeom>
            <a:ln w="9525">
              <a:noFill/>
            </a:ln>
          </p:spPr>
        </p:sp>
        <p:sp>
          <p:nvSpPr>
            <p:cNvPr id="149513" name="Line 13"/>
            <p:cNvSpPr/>
            <p:nvPr/>
          </p:nvSpPr>
          <p:spPr>
            <a:xfrm>
              <a:off x="3606" y="2643"/>
              <a:ext cx="1247" cy="0"/>
            </a:xfrm>
            <a:prstGeom prst="line">
              <a:avLst/>
            </a:prstGeom>
            <a:ln w="9525">
              <a:noFill/>
            </a:ln>
          </p:spPr>
        </p:sp>
        <p:sp>
          <p:nvSpPr>
            <p:cNvPr id="149514" name="Line 14"/>
            <p:cNvSpPr/>
            <p:nvPr/>
          </p:nvSpPr>
          <p:spPr>
            <a:xfrm>
              <a:off x="3606" y="2432"/>
              <a:ext cx="0" cy="211"/>
            </a:xfrm>
            <a:prstGeom prst="line">
              <a:avLst/>
            </a:prstGeom>
            <a:ln w="9525">
              <a:noFill/>
            </a:ln>
          </p:spPr>
        </p:sp>
        <p:sp>
          <p:nvSpPr>
            <p:cNvPr id="149515" name="Line 15"/>
            <p:cNvSpPr/>
            <p:nvPr/>
          </p:nvSpPr>
          <p:spPr>
            <a:xfrm>
              <a:off x="4853" y="2432"/>
              <a:ext cx="0" cy="211"/>
            </a:xfrm>
            <a:prstGeom prst="line">
              <a:avLst/>
            </a:prstGeom>
            <a:ln w="9525">
              <a:noFill/>
            </a:ln>
          </p:spPr>
        </p:sp>
        <p:pic>
          <p:nvPicPr>
            <p:cNvPr id="149516" name="Picture 6"/>
            <p:cNvPicPr>
              <a:picLocks noChangeAspect="1"/>
            </p:cNvPicPr>
            <p:nvPr/>
          </p:nvPicPr>
          <p:blipFill>
            <a:blip r:embed="rId1"/>
            <a:stretch>
              <a:fillRect/>
            </a:stretch>
          </p:blipFill>
          <p:spPr>
            <a:xfrm>
              <a:off x="3787" y="1117"/>
              <a:ext cx="1588" cy="1330"/>
            </a:xfrm>
            <a:prstGeom prst="rect">
              <a:avLst/>
            </a:prstGeom>
            <a:noFill/>
            <a:ln w="9525">
              <a:noFill/>
            </a:ln>
          </p:spPr>
        </p:pic>
        <p:sp>
          <p:nvSpPr>
            <p:cNvPr id="149517" name="Text Box 5"/>
            <p:cNvSpPr txBox="1"/>
            <p:nvPr/>
          </p:nvSpPr>
          <p:spPr>
            <a:xfrm>
              <a:off x="3651" y="2404"/>
              <a:ext cx="1905" cy="482"/>
            </a:xfrm>
            <a:prstGeom prst="rect">
              <a:avLst/>
            </a:prstGeom>
            <a:noFill/>
            <a:ln w="9525">
              <a:noFill/>
            </a:ln>
          </p:spPr>
          <p:txBody>
            <a:bodyPr lIns="0" tIns="0" rIns="0" bIns="0"/>
            <a:p>
              <a:pPr eaLnBrk="1" hangingPunct="1"/>
              <a:endParaRPr lang="zh-CN" altLang="en-US" dirty="0">
                <a:latin typeface="Arial" panose="020B0604020202020204" pitchFamily="34" charset="0"/>
              </a:endParaRPr>
            </a:p>
          </p:txBody>
        </p:sp>
      </p:grpSp>
      <p:sp>
        <p:nvSpPr>
          <p:cNvPr id="149508" name="Rectangle 19"/>
          <p:cNvSpPr/>
          <p:nvPr/>
        </p:nvSpPr>
        <p:spPr>
          <a:xfrm>
            <a:off x="179388" y="1595438"/>
            <a:ext cx="5329237" cy="4789487"/>
          </a:xfrm>
          <a:prstGeom prst="rect">
            <a:avLst/>
          </a:prstGeom>
          <a:noFill/>
          <a:ln w="9525">
            <a:noFill/>
          </a:ln>
        </p:spPr>
        <p:txBody>
          <a:bodyPr anchor="ctr" anchorCtr="0">
            <a:spAutoFit/>
          </a:bodyPr>
          <a:p>
            <a:pPr indent="228600" eaLnBrk="1" hangingPunct="1">
              <a:buNone/>
            </a:pPr>
            <a:r>
              <a:rPr lang="zh-CN" altLang="en-US" sz="2800" b="1" dirty="0">
                <a:solidFill>
                  <a:srgbClr val="FF0000"/>
                </a:solidFill>
                <a:latin typeface="楷体_GB2312" pitchFamily="49" charset="-122"/>
                <a:ea typeface="楷体_GB2312" pitchFamily="49" charset="-122"/>
              </a:rPr>
              <a:t>二、横轧：</a:t>
            </a:r>
            <a:r>
              <a:rPr lang="zh-CN" altLang="en-US" sz="2800" b="1" dirty="0">
                <a:latin typeface="楷体_GB2312" pitchFamily="49" charset="-122"/>
                <a:ea typeface="楷体_GB2312" pitchFamily="49" charset="-122"/>
              </a:rPr>
              <a:t>轧辊轴线与坯料轴线互相平行的轧制方法。</a:t>
            </a:r>
            <a:endParaRPr lang="zh-CN" altLang="en-US" sz="2800" b="1" dirty="0">
              <a:latin typeface="楷体_GB2312" pitchFamily="49" charset="-122"/>
              <a:ea typeface="楷体_GB2312" pitchFamily="49" charset="-122"/>
            </a:endParaRPr>
          </a:p>
          <a:p>
            <a:pPr indent="228600" eaLnBrk="1" hangingPunct="1">
              <a:buNone/>
            </a:pPr>
            <a:r>
              <a:rPr lang="zh-CN" altLang="en-US" sz="2800" b="1" dirty="0">
                <a:solidFill>
                  <a:srgbClr val="009900"/>
                </a:solidFill>
                <a:latin typeface="楷体_GB2312" pitchFamily="49" charset="-122"/>
                <a:ea typeface="楷体_GB2312" pitchFamily="49" charset="-122"/>
              </a:rPr>
              <a:t>  </a:t>
            </a:r>
            <a:r>
              <a:rPr lang="zh-CN" altLang="zh-CN" sz="2800" b="1" dirty="0">
                <a:solidFill>
                  <a:srgbClr val="009900"/>
                </a:solidFill>
                <a:latin typeface="楷体_GB2312" pitchFamily="49" charset="-122"/>
                <a:ea typeface="楷体_GB2312" pitchFamily="49" charset="-122"/>
              </a:rPr>
              <a:t>齿轮轧制</a:t>
            </a:r>
            <a:r>
              <a:rPr lang="zh-CN" altLang="zh-CN" sz="2800" b="1" dirty="0">
                <a:latin typeface="楷体_GB2312" pitchFamily="49" charset="-122"/>
                <a:ea typeface="楷体_GB2312" pitchFamily="49" charset="-122"/>
              </a:rPr>
              <a:t> 采用热横轧可制造出直齿轮和斜齿轮（图3</a:t>
            </a:r>
            <a:r>
              <a:rPr lang="en-US" altLang="zh-CN" sz="2800" b="1" dirty="0">
                <a:latin typeface="楷体_GB2312" pitchFamily="49" charset="-122"/>
                <a:ea typeface="楷体_GB2312" pitchFamily="49" charset="-122"/>
              </a:rPr>
              <a:t>.</a:t>
            </a:r>
            <a:r>
              <a:rPr lang="zh-CN" altLang="zh-CN" sz="2800" b="1" dirty="0">
                <a:latin typeface="楷体_GB2312" pitchFamily="49" charset="-122"/>
                <a:ea typeface="楷体_GB2312" pitchFamily="49" charset="-122"/>
              </a:rPr>
              <a:t>72），这是一种无屑或少屑加工齿轮的新工艺。轧制前将坯料加热，然后将带有齿形的轧轮工作</a:t>
            </a:r>
            <a:r>
              <a:rPr lang="zh-CN" altLang="zh-CN" sz="2800" b="1" dirty="0">
                <a:solidFill>
                  <a:srgbClr val="FF0000"/>
                </a:solidFill>
                <a:latin typeface="楷体_GB2312" pitchFamily="49" charset="-122"/>
                <a:ea typeface="楷体_GB2312" pitchFamily="49" charset="-122"/>
              </a:rPr>
              <a:t>径向进给</a:t>
            </a:r>
            <a:r>
              <a:rPr lang="zh-CN" altLang="zh-CN" sz="2800" b="1" dirty="0">
                <a:latin typeface="楷体_GB2312" pitchFamily="49" charset="-122"/>
                <a:ea typeface="楷体_GB2312" pitchFamily="49" charset="-122"/>
              </a:rPr>
              <a:t>，迫使轧轮与坯料2对辗，这样坯料上的一部分金属</a:t>
            </a:r>
            <a:r>
              <a:rPr lang="zh-CN" altLang="zh-CN" sz="2800" b="1" dirty="0">
                <a:solidFill>
                  <a:srgbClr val="CC3300"/>
                </a:solidFill>
                <a:latin typeface="楷体_GB2312" pitchFamily="49" charset="-122"/>
                <a:ea typeface="楷体_GB2312" pitchFamily="49" charset="-122"/>
              </a:rPr>
              <a:t>受压</a:t>
            </a:r>
            <a:r>
              <a:rPr lang="zh-CN" altLang="zh-CN" sz="2800" b="1" dirty="0">
                <a:latin typeface="楷体_GB2312" pitchFamily="49" charset="-122"/>
                <a:ea typeface="楷体_GB2312" pitchFamily="49" charset="-122"/>
              </a:rPr>
              <a:t>形成</a:t>
            </a:r>
            <a:r>
              <a:rPr lang="zh-CN" altLang="zh-CN" sz="2800" b="1" dirty="0">
                <a:solidFill>
                  <a:srgbClr val="CC3300"/>
                </a:solidFill>
                <a:latin typeface="楷体_GB2312" pitchFamily="49" charset="-122"/>
                <a:ea typeface="楷体_GB2312" pitchFamily="49" charset="-122"/>
              </a:rPr>
              <a:t>齿谷</a:t>
            </a:r>
            <a:r>
              <a:rPr lang="zh-CN" altLang="zh-CN" sz="2800" b="1" dirty="0">
                <a:latin typeface="楷体_GB2312" pitchFamily="49" charset="-122"/>
                <a:ea typeface="楷体_GB2312" pitchFamily="49" charset="-122"/>
              </a:rPr>
              <a:t>，相邻部分的金属被轧轮齿部</a:t>
            </a:r>
            <a:r>
              <a:rPr lang="zh-CN" altLang="zh-CN" sz="2800" b="1" dirty="0">
                <a:latin typeface="宋体" panose="02010600030101010101" pitchFamily="2" charset="-122"/>
                <a:ea typeface="楷体_GB2312" pitchFamily="49" charset="-122"/>
              </a:rPr>
              <a:t>“</a:t>
            </a:r>
            <a:r>
              <a:rPr lang="zh-CN" altLang="zh-CN" sz="2800" b="1" dirty="0">
                <a:solidFill>
                  <a:srgbClr val="CC3300"/>
                </a:solidFill>
                <a:latin typeface="楷体_GB2312" pitchFamily="49" charset="-122"/>
                <a:ea typeface="楷体_GB2312" pitchFamily="49" charset="-122"/>
              </a:rPr>
              <a:t>反挤</a:t>
            </a:r>
            <a:r>
              <a:rPr lang="zh-CN" altLang="zh-CN" sz="2800" b="1" dirty="0">
                <a:latin typeface="宋体" panose="02010600030101010101" pitchFamily="2" charset="-122"/>
                <a:ea typeface="楷体_GB2312" pitchFamily="49" charset="-122"/>
              </a:rPr>
              <a:t>”</a:t>
            </a:r>
            <a:r>
              <a:rPr lang="zh-CN" altLang="zh-CN" sz="2800" b="1" dirty="0">
                <a:latin typeface="楷体_GB2312" pitchFamily="49" charset="-122"/>
                <a:ea typeface="楷体_GB2312" pitchFamily="49" charset="-122"/>
              </a:rPr>
              <a:t>而上升，</a:t>
            </a:r>
            <a:r>
              <a:rPr lang="zh-CN" altLang="zh-CN" sz="2800" b="1" dirty="0">
                <a:solidFill>
                  <a:srgbClr val="CC3300"/>
                </a:solidFill>
                <a:latin typeface="楷体_GB2312" pitchFamily="49" charset="-122"/>
                <a:ea typeface="楷体_GB2312" pitchFamily="49" charset="-122"/>
              </a:rPr>
              <a:t>形成齿顶</a:t>
            </a:r>
            <a:r>
              <a:rPr lang="zh-CN" altLang="zh-CN" sz="2800" b="1" dirty="0">
                <a:latin typeface="楷体_GB2312" pitchFamily="49" charset="-122"/>
                <a:ea typeface="楷体_GB2312" pitchFamily="49" charset="-122"/>
              </a:rPr>
              <a:t>。</a:t>
            </a:r>
            <a:endParaRPr lang="zh-CN" altLang="en-US" sz="2800" b="1" dirty="0">
              <a:latin typeface="楷体_GB2312" pitchFamily="49" charset="-122"/>
              <a:ea typeface="楷体_GB2312" pitchFamily="49" charset="-122"/>
            </a:endParaRPr>
          </a:p>
        </p:txBody>
      </p:sp>
      <p:sp>
        <p:nvSpPr>
          <p:cNvPr id="149509" name="Rectangle 25"/>
          <p:cNvSpPr/>
          <p:nvPr/>
        </p:nvSpPr>
        <p:spPr>
          <a:xfrm>
            <a:off x="3789363" y="311150"/>
            <a:ext cx="2798762" cy="701675"/>
          </a:xfrm>
          <a:prstGeom prst="rect">
            <a:avLst/>
          </a:prstGeom>
          <a:noFill/>
          <a:ln w="9525">
            <a:noFill/>
          </a:ln>
        </p:spPr>
        <p:txBody>
          <a:bodyPr>
            <a:spAutoFit/>
          </a:bodyPr>
          <a:p>
            <a:pPr eaLnBrk="1" hangingPunct="1"/>
            <a:r>
              <a:rPr lang="zh-CN" altLang="en-US" sz="4000" b="1" dirty="0">
                <a:latin typeface="GreekS" pitchFamily="2" charset="0"/>
                <a:ea typeface="楷体_GB2312" pitchFamily="49" charset="-122"/>
              </a:rPr>
              <a:t>零件轧制</a:t>
            </a:r>
            <a:endParaRPr lang="zh-CN" altLang="en-US" sz="4000" b="1" dirty="0">
              <a:latin typeface="GreekS" pitchFamily="2" charset="0"/>
              <a:ea typeface="楷体_GB2312" pitchFamily="49" charset="-122"/>
            </a:endParaRPr>
          </a:p>
        </p:txBody>
      </p:sp>
      <p:sp>
        <p:nvSpPr>
          <p:cNvPr id="149510" name="Rectangle 30"/>
          <p:cNvSpPr/>
          <p:nvPr/>
        </p:nvSpPr>
        <p:spPr>
          <a:xfrm>
            <a:off x="0" y="305276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2"/>
          <p:cNvSpPr/>
          <p:nvPr/>
        </p:nvSpPr>
        <p:spPr>
          <a:xfrm>
            <a:off x="0" y="3240088"/>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sp>
        <p:nvSpPr>
          <p:cNvPr id="150531" name="Rectangle 13"/>
          <p:cNvSpPr/>
          <p:nvPr/>
        </p:nvSpPr>
        <p:spPr>
          <a:xfrm>
            <a:off x="3862388" y="333375"/>
            <a:ext cx="2725737" cy="701675"/>
          </a:xfrm>
          <a:prstGeom prst="rect">
            <a:avLst/>
          </a:prstGeom>
          <a:noFill/>
          <a:ln w="9525">
            <a:noFill/>
          </a:ln>
        </p:spPr>
        <p:txBody>
          <a:bodyPr>
            <a:spAutoFit/>
          </a:bodyPr>
          <a:p>
            <a:pPr eaLnBrk="1" hangingPunct="1"/>
            <a:r>
              <a:rPr lang="zh-CN" altLang="en-US" sz="4000" b="1" dirty="0">
                <a:latin typeface="GreekS" pitchFamily="2" charset="0"/>
                <a:ea typeface="楷体_GB2312" pitchFamily="49" charset="-122"/>
              </a:rPr>
              <a:t>零件轧制</a:t>
            </a:r>
            <a:endParaRPr lang="zh-CN" altLang="en-US" sz="4000" b="1" dirty="0">
              <a:latin typeface="GreekS" pitchFamily="2" charset="0"/>
              <a:ea typeface="楷体_GB2312" pitchFamily="49" charset="-122"/>
            </a:endParaRPr>
          </a:p>
        </p:txBody>
      </p:sp>
      <p:sp>
        <p:nvSpPr>
          <p:cNvPr id="150532" name="Rectangle 14"/>
          <p:cNvSpPr/>
          <p:nvPr/>
        </p:nvSpPr>
        <p:spPr>
          <a:xfrm>
            <a:off x="179388" y="1231900"/>
            <a:ext cx="8713787" cy="1373188"/>
          </a:xfrm>
          <a:prstGeom prst="rect">
            <a:avLst/>
          </a:prstGeom>
          <a:noFill/>
          <a:ln w="9525">
            <a:noFill/>
          </a:ln>
        </p:spPr>
        <p:txBody>
          <a:bodyPr anchor="ctr" anchorCtr="0">
            <a:spAutoFit/>
          </a:bodyPr>
          <a:p>
            <a:pPr indent="266700" eaLnBrk="1" hangingPunct="1">
              <a:buNone/>
            </a:pPr>
            <a:r>
              <a:rPr lang="zh-CN" altLang="en-US" sz="2800" b="1" dirty="0">
                <a:solidFill>
                  <a:srgbClr val="FF0000"/>
                </a:solidFill>
                <a:latin typeface="宋体" panose="02010600030101010101" pitchFamily="2" charset="-122"/>
                <a:ea typeface="楷体_GB2312" pitchFamily="49" charset="-122"/>
              </a:rPr>
              <a:t>三、斜</a:t>
            </a:r>
            <a:r>
              <a:rPr lang="zh-CN" altLang="en-US" sz="2800" b="1" dirty="0">
                <a:solidFill>
                  <a:srgbClr val="FF0000"/>
                </a:solidFill>
                <a:latin typeface="Century" panose="02040604050505020304" pitchFamily="18" charset="0"/>
                <a:ea typeface="楷体_GB2312" pitchFamily="49" charset="-122"/>
              </a:rPr>
              <a:t>轧：</a:t>
            </a:r>
            <a:r>
              <a:rPr lang="zh-CN" altLang="en-US" sz="2800" b="1" dirty="0">
                <a:solidFill>
                  <a:srgbClr val="0000FF"/>
                </a:solidFill>
                <a:latin typeface="Century" panose="02040604050505020304" pitchFamily="18" charset="0"/>
                <a:ea typeface="楷体_GB2312" pitchFamily="49" charset="-122"/>
              </a:rPr>
              <a:t>亦称螺旋斜轧。轧辊轴线与坯料轴线相交一定角度的轧制方法。</a:t>
            </a:r>
            <a:endParaRPr lang="zh-CN" altLang="en-US" sz="2800" b="1" dirty="0">
              <a:solidFill>
                <a:srgbClr val="0000FF"/>
              </a:solidFill>
              <a:latin typeface="GreekS" pitchFamily="2" charset="0"/>
              <a:ea typeface="楷体_GB2312" pitchFamily="49" charset="-122"/>
            </a:endParaRPr>
          </a:p>
          <a:p>
            <a:pPr indent="266700">
              <a:buNone/>
            </a:pPr>
            <a:endParaRPr lang="en-US" altLang="zh-CN" sz="2800" b="1" dirty="0">
              <a:latin typeface="Arial" panose="020B0604020202020204" pitchFamily="34" charset="0"/>
              <a:ea typeface="楷体_GB2312" pitchFamily="49" charset="-122"/>
            </a:endParaRPr>
          </a:p>
        </p:txBody>
      </p:sp>
      <p:sp>
        <p:nvSpPr>
          <p:cNvPr id="150533" name="Rectangle 15"/>
          <p:cNvSpPr/>
          <p:nvPr/>
        </p:nvSpPr>
        <p:spPr>
          <a:xfrm>
            <a:off x="0" y="305276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pPr eaLnBrk="1" hangingPunct="1"/>
            <a:endParaRPr lang="zh-CN" altLang="en-US" dirty="0">
              <a:latin typeface="Arial" panose="020B0604020202020204" pitchFamily="34" charset="0"/>
            </a:endParaRPr>
          </a:p>
        </p:txBody>
      </p:sp>
      <p:grpSp>
        <p:nvGrpSpPr>
          <p:cNvPr id="150534" name="Group 4"/>
          <p:cNvGrpSpPr/>
          <p:nvPr/>
        </p:nvGrpSpPr>
        <p:grpSpPr>
          <a:xfrm>
            <a:off x="1331913" y="4365625"/>
            <a:ext cx="3024187" cy="2305050"/>
            <a:chOff x="1429" y="2568"/>
            <a:chExt cx="1905" cy="1452"/>
          </a:xfrm>
        </p:grpSpPr>
        <p:pic>
          <p:nvPicPr>
            <p:cNvPr id="150537" name="Picture 24"/>
            <p:cNvPicPr>
              <a:picLocks noChangeAspect="1"/>
            </p:cNvPicPr>
            <p:nvPr/>
          </p:nvPicPr>
          <p:blipFill>
            <a:blip r:embed="rId1"/>
            <a:stretch>
              <a:fillRect/>
            </a:stretch>
          </p:blipFill>
          <p:spPr>
            <a:xfrm>
              <a:off x="1429" y="2568"/>
              <a:ext cx="1905" cy="1237"/>
            </a:xfrm>
            <a:prstGeom prst="rect">
              <a:avLst/>
            </a:prstGeom>
            <a:noFill/>
            <a:ln w="9525">
              <a:noFill/>
            </a:ln>
          </p:spPr>
        </p:pic>
        <p:sp>
          <p:nvSpPr>
            <p:cNvPr id="150538" name="Rectangle 17"/>
            <p:cNvSpPr/>
            <p:nvPr/>
          </p:nvSpPr>
          <p:spPr>
            <a:xfrm>
              <a:off x="1429" y="3771"/>
              <a:ext cx="1905" cy="249"/>
            </a:xfrm>
            <a:prstGeom prst="rect">
              <a:avLst/>
            </a:prstGeom>
            <a:solidFill>
              <a:srgbClr val="CCECFF"/>
            </a:solidFill>
            <a:ln w="9525">
              <a:noFill/>
            </a:ln>
          </p:spPr>
          <p:txBody>
            <a:bodyPr anchor="ctr" anchorCtr="0"/>
            <a:p>
              <a:pPr eaLnBrk="1" hangingPunct="1">
                <a:buNone/>
              </a:pPr>
              <a:r>
                <a:rPr lang="ja-JP" altLang="en-US" sz="2000" b="1" dirty="0">
                  <a:solidFill>
                    <a:srgbClr val="000000"/>
                  </a:solidFill>
                  <a:latin typeface="楷体_GB2312" pitchFamily="49" charset="-122"/>
                  <a:ea typeface="楷体_GB2312" pitchFamily="49" charset="-122"/>
                </a:rPr>
                <a:t>图</a:t>
              </a:r>
              <a:r>
                <a:rPr lang="en-US" altLang="zh-CN" sz="2000" b="1" dirty="0">
                  <a:solidFill>
                    <a:srgbClr val="000000"/>
                  </a:solidFill>
                  <a:latin typeface="楷体_GB2312" pitchFamily="49" charset="-122"/>
                  <a:ea typeface="楷体_GB2312" pitchFamily="49" charset="-122"/>
                </a:rPr>
                <a:t>3</a:t>
              </a:r>
              <a:r>
                <a:rPr lang="en-US" altLang="ja-JP" sz="2000" b="1" dirty="0">
                  <a:solidFill>
                    <a:srgbClr val="000000"/>
                  </a:solidFill>
                  <a:latin typeface="楷体_GB2312" pitchFamily="49" charset="-122"/>
                  <a:ea typeface="楷体_GB2312" pitchFamily="49" charset="-122"/>
                </a:rPr>
                <a:t>.</a:t>
              </a:r>
              <a:r>
                <a:rPr lang="en-US" altLang="zh-CN" sz="2000" b="1" dirty="0">
                  <a:solidFill>
                    <a:srgbClr val="000000"/>
                  </a:solidFill>
                  <a:latin typeface="楷体_GB2312" pitchFamily="49" charset="-122"/>
                  <a:ea typeface="楷体_GB2312" pitchFamily="49" charset="-122"/>
                </a:rPr>
                <a:t>73</a:t>
              </a:r>
              <a:r>
                <a:rPr lang="en-US" altLang="ja-JP" sz="2000" b="1" dirty="0">
                  <a:solidFill>
                    <a:srgbClr val="000000"/>
                  </a:solidFill>
                  <a:latin typeface="楷体_GB2312" pitchFamily="49" charset="-122"/>
                  <a:ea typeface="楷体_GB2312" pitchFamily="49" charset="-122"/>
                </a:rPr>
                <a:t>  </a:t>
              </a:r>
              <a:r>
                <a:rPr lang="ja-JP" altLang="en-US" sz="2000" b="1" dirty="0">
                  <a:solidFill>
                    <a:srgbClr val="000000"/>
                  </a:solidFill>
                  <a:latin typeface="楷体_GB2312" pitchFamily="49" charset="-122"/>
                  <a:ea typeface="楷体_GB2312" pitchFamily="49" charset="-122"/>
                </a:rPr>
                <a:t>螺旋斜轧示意图</a:t>
              </a:r>
              <a:endParaRPr lang="ja-JP" altLang="en-US" sz="2000" b="1" dirty="0">
                <a:solidFill>
                  <a:srgbClr val="000000"/>
                </a:solidFill>
                <a:latin typeface="楷体_GB2312" pitchFamily="49" charset="-122"/>
                <a:ea typeface="楷体_GB2312" pitchFamily="49" charset="-122"/>
              </a:endParaRPr>
            </a:p>
          </p:txBody>
        </p:sp>
        <p:sp>
          <p:nvSpPr>
            <p:cNvPr id="150539" name="Line 18"/>
            <p:cNvSpPr/>
            <p:nvPr/>
          </p:nvSpPr>
          <p:spPr>
            <a:xfrm>
              <a:off x="1429" y="3771"/>
              <a:ext cx="1905" cy="0"/>
            </a:xfrm>
            <a:prstGeom prst="line">
              <a:avLst/>
            </a:prstGeom>
            <a:ln w="9525">
              <a:noFill/>
            </a:ln>
          </p:spPr>
        </p:sp>
        <p:sp>
          <p:nvSpPr>
            <p:cNvPr id="150540" name="Line 19"/>
            <p:cNvSpPr/>
            <p:nvPr/>
          </p:nvSpPr>
          <p:spPr>
            <a:xfrm>
              <a:off x="1429" y="4020"/>
              <a:ext cx="1905" cy="0"/>
            </a:xfrm>
            <a:prstGeom prst="line">
              <a:avLst/>
            </a:prstGeom>
            <a:ln w="9525">
              <a:noFill/>
            </a:ln>
          </p:spPr>
        </p:sp>
        <p:sp>
          <p:nvSpPr>
            <p:cNvPr id="150541" name="Line 20"/>
            <p:cNvSpPr/>
            <p:nvPr/>
          </p:nvSpPr>
          <p:spPr>
            <a:xfrm>
              <a:off x="1429" y="3771"/>
              <a:ext cx="0" cy="249"/>
            </a:xfrm>
            <a:prstGeom prst="line">
              <a:avLst/>
            </a:prstGeom>
            <a:ln w="9525">
              <a:noFill/>
            </a:ln>
          </p:spPr>
        </p:sp>
        <p:sp>
          <p:nvSpPr>
            <p:cNvPr id="150542" name="Line 21"/>
            <p:cNvSpPr/>
            <p:nvPr/>
          </p:nvSpPr>
          <p:spPr>
            <a:xfrm>
              <a:off x="3334" y="3771"/>
              <a:ext cx="0" cy="249"/>
            </a:xfrm>
            <a:prstGeom prst="line">
              <a:avLst/>
            </a:prstGeom>
            <a:ln w="9525">
              <a:noFill/>
            </a:ln>
          </p:spPr>
        </p:sp>
      </p:grpSp>
      <p:sp>
        <p:nvSpPr>
          <p:cNvPr id="150535" name="Rectangle 25"/>
          <p:cNvSpPr/>
          <p:nvPr/>
        </p:nvSpPr>
        <p:spPr>
          <a:xfrm>
            <a:off x="107950" y="2232025"/>
            <a:ext cx="8785225" cy="1917700"/>
          </a:xfrm>
          <a:prstGeom prst="rect">
            <a:avLst/>
          </a:prstGeom>
          <a:noFill/>
          <a:ln w="9525">
            <a:noFill/>
          </a:ln>
        </p:spPr>
        <p:txBody>
          <a:bodyPr anchor="ctr" anchorCtr="0">
            <a:spAutoFit/>
          </a:bodyPr>
          <a:p>
            <a:pPr indent="228600" eaLnBrk="1" hangingPunct="1">
              <a:buNone/>
            </a:pPr>
            <a:r>
              <a:rPr lang="zh-CN" altLang="en-US" sz="2400" b="1" dirty="0">
                <a:solidFill>
                  <a:srgbClr val="009900"/>
                </a:solidFill>
                <a:latin typeface="楷体_GB2312" pitchFamily="49" charset="-122"/>
                <a:ea typeface="楷体_GB2312" pitchFamily="49" charset="-122"/>
              </a:rPr>
              <a:t>（</a:t>
            </a:r>
            <a:r>
              <a:rPr lang="en-US" altLang="zh-CN" sz="2400" b="1" dirty="0">
                <a:solidFill>
                  <a:srgbClr val="009900"/>
                </a:solidFill>
                <a:latin typeface="楷体_GB2312" pitchFamily="49" charset="-122"/>
                <a:ea typeface="楷体_GB2312" pitchFamily="49" charset="-122"/>
              </a:rPr>
              <a:t>1</a:t>
            </a:r>
            <a:r>
              <a:rPr lang="zh-CN" altLang="en-US" sz="2400" b="1" dirty="0">
                <a:solidFill>
                  <a:srgbClr val="009900"/>
                </a:solidFill>
                <a:latin typeface="楷体_GB2312" pitchFamily="49" charset="-122"/>
                <a:ea typeface="楷体_GB2312" pitchFamily="49" charset="-122"/>
              </a:rPr>
              <a:t>）原理：</a:t>
            </a:r>
            <a:r>
              <a:rPr lang="zh-CN" altLang="en-US" sz="2400" b="1" dirty="0">
                <a:latin typeface="楷体_GB2312" pitchFamily="49" charset="-122"/>
                <a:ea typeface="楷体_GB2312" pitchFamily="49" charset="-122"/>
              </a:rPr>
              <a:t>螺旋斜轧采用两个带有螺旋型槽的轧辊，互相交叉成一定角度，并做</a:t>
            </a:r>
            <a:r>
              <a:rPr lang="zh-CN" altLang="en-US" sz="2400" b="1" dirty="0">
                <a:solidFill>
                  <a:srgbClr val="CC3300"/>
                </a:solidFill>
                <a:latin typeface="楷体_GB2312" pitchFamily="49" charset="-122"/>
                <a:ea typeface="楷体_GB2312" pitchFamily="49" charset="-122"/>
              </a:rPr>
              <a:t>同方向旋转</a:t>
            </a:r>
            <a:r>
              <a:rPr lang="zh-CN" altLang="en-US" sz="2400" b="1" dirty="0">
                <a:latin typeface="楷体_GB2312" pitchFamily="49" charset="-122"/>
                <a:ea typeface="楷体_GB2312" pitchFamily="49" charset="-122"/>
              </a:rPr>
              <a:t>，使坯料在轧辊间既绕</a:t>
            </a:r>
            <a:r>
              <a:rPr lang="zh-CN" altLang="en-US" sz="2400" b="1" dirty="0">
                <a:solidFill>
                  <a:srgbClr val="CC3300"/>
                </a:solidFill>
                <a:latin typeface="楷体_GB2312" pitchFamily="49" charset="-122"/>
                <a:ea typeface="楷体_GB2312" pitchFamily="49" charset="-122"/>
              </a:rPr>
              <a:t>自身轴线转动，又向前进</a:t>
            </a:r>
            <a:r>
              <a:rPr lang="zh-CN" altLang="en-US" sz="2400" b="1" dirty="0">
                <a:solidFill>
                  <a:srgbClr val="CC6600"/>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与此同时受压变形获得所需产品。产品形状由型槽决定，轧制过程连续进行。</a:t>
            </a:r>
            <a:endParaRPr lang="zh-CN" altLang="en-US" sz="2400" b="1" dirty="0">
              <a:latin typeface="楷体_GB2312" pitchFamily="49" charset="-122"/>
              <a:ea typeface="楷体_GB2312" pitchFamily="49" charset="-122"/>
            </a:endParaRPr>
          </a:p>
          <a:p>
            <a:pPr indent="228600">
              <a:buNone/>
            </a:pPr>
            <a:r>
              <a:rPr lang="zh-CN" altLang="en-US" sz="2400" b="1" dirty="0">
                <a:solidFill>
                  <a:srgbClr val="009900"/>
                </a:solidFill>
                <a:latin typeface="楷体_GB2312" pitchFamily="49" charset="-122"/>
                <a:ea typeface="楷体_GB2312" pitchFamily="49" charset="-122"/>
              </a:rPr>
              <a:t>（</a:t>
            </a:r>
            <a:r>
              <a:rPr lang="en-US" altLang="zh-CN" sz="2400" b="1" dirty="0">
                <a:solidFill>
                  <a:srgbClr val="009900"/>
                </a:solidFill>
                <a:latin typeface="楷体_GB2312" pitchFamily="49" charset="-122"/>
                <a:ea typeface="楷体_GB2312" pitchFamily="49" charset="-122"/>
              </a:rPr>
              <a:t>2</a:t>
            </a:r>
            <a:r>
              <a:rPr lang="zh-CN" altLang="en-US" sz="2400" b="1" dirty="0">
                <a:solidFill>
                  <a:srgbClr val="009900"/>
                </a:solidFill>
                <a:latin typeface="楷体_GB2312" pitchFamily="49" charset="-122"/>
                <a:ea typeface="楷体_GB2312" pitchFamily="49" charset="-122"/>
              </a:rPr>
              <a:t>）产品：</a:t>
            </a:r>
            <a:r>
              <a:rPr lang="zh-CN" altLang="en-US" sz="2400" b="1" dirty="0">
                <a:latin typeface="楷体_GB2312" pitchFamily="49" charset="-122"/>
                <a:ea typeface="楷体_GB2312" pitchFamily="49" charset="-122"/>
              </a:rPr>
              <a:t>高速钢滚刀、冷轧丝杠、钢球轧制等。</a:t>
            </a:r>
            <a:endParaRPr lang="zh-CN" altLang="en-US" sz="2400" b="1" dirty="0">
              <a:latin typeface="楷体_GB2312" pitchFamily="49" charset="-122"/>
              <a:ea typeface="楷体_GB2312" pitchFamily="49" charset="-122"/>
            </a:endParaRPr>
          </a:p>
        </p:txBody>
      </p:sp>
      <p:pic>
        <p:nvPicPr>
          <p:cNvPr id="150536" name="Picture 5" descr="图片7"/>
          <p:cNvPicPr>
            <a:picLocks noChangeAspect="1"/>
          </p:cNvPicPr>
          <p:nvPr/>
        </p:nvPicPr>
        <p:blipFill>
          <a:blip r:embed="rId2"/>
          <a:stretch>
            <a:fillRect/>
          </a:stretch>
        </p:blipFill>
        <p:spPr>
          <a:xfrm>
            <a:off x="5580063" y="4221163"/>
            <a:ext cx="1543050" cy="2520950"/>
          </a:xfrm>
          <a:prstGeom prst="rect">
            <a:avLst/>
          </a:prstGeom>
          <a:noFill/>
          <a:ln w="9525">
            <a:noFill/>
          </a:ln>
        </p:spPr>
      </p:pic>
    </p:spTree>
  </p:cSld>
  <p:clrMapOvr>
    <a:masterClrMapping/>
  </p:clrMapOvr>
</p:sld>
</file>

<file path=ppt/tags/tag1.xml><?xml version="1.0" encoding="utf-8"?>
<p:tagLst xmlns:p="http://schemas.openxmlformats.org/presentationml/2006/main">
  <p:tag name="KSO_WM_UNIT_PLACING_PICTURE_USER_VIEWPORT" val="{&quot;height&quot;:5400,&quot;width&quot;:3970}"/>
</p:tagLst>
</file>

<file path=ppt/tags/tag2.xml><?xml version="1.0" encoding="utf-8"?>
<p:tagLst xmlns:p="http://schemas.openxmlformats.org/presentationml/2006/main">
  <p:tag name="KSO_WM_UNIT_PLACING_PICTURE_USER_VIEWPORT" val="{&quot;height&quot;:6341,&quot;width&quot;:8454}"/>
</p:tagLst>
</file>

<file path=ppt/tags/tag3.xml><?xml version="1.0" encoding="utf-8"?>
<p:tagLst xmlns:p="http://schemas.openxmlformats.org/presentationml/2006/main">
  <p:tag name="KSO_WM_UNIT_PLACING_PICTURE_USER_VIEWPORT" val="{&quot;height&quot;:3967.5007874015746,&quot;width&quot;:13867.499212598424}"/>
</p:tagLst>
</file>

<file path=ppt/theme/theme1.xml><?xml version="1.0" encoding="utf-8"?>
<a:theme xmlns:a="http://schemas.openxmlformats.org/drawingml/2006/main" name="麦田夕照">
  <a:themeElements>
    <a:clrScheme name="麦田夕照 11">
      <a:dk1>
        <a:srgbClr val="1C1C1C"/>
      </a:dk1>
      <a:lt1>
        <a:srgbClr val="523E26"/>
      </a:lt1>
      <a:dk2>
        <a:srgbClr val="654A1D"/>
      </a:dk2>
      <a:lt2>
        <a:srgbClr val="2D2015"/>
      </a:lt2>
      <a:accent1>
        <a:srgbClr val="B1A59D"/>
      </a:accent1>
      <a:accent2>
        <a:srgbClr val="8F5F2F"/>
      </a:accent2>
      <a:accent3>
        <a:srgbClr val="B3AFAC"/>
      </a:accent3>
      <a:accent4>
        <a:srgbClr val="161616"/>
      </a:accent4>
      <a:accent5>
        <a:srgbClr val="D5CFCC"/>
      </a:accent5>
      <a:accent6>
        <a:srgbClr val="81552A"/>
      </a:accent6>
      <a:hlink>
        <a:srgbClr val="F4D700"/>
      </a:hlink>
      <a:folHlink>
        <a:srgbClr val="E7EBEB"/>
      </a:folHlink>
    </a:clrScheme>
    <a:fontScheme name="麦田夕照">
      <a:majorFont>
        <a:latin typeface="Tahoma"/>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麦田夕照 1">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麦田夕照 2">
        <a:dk1>
          <a:srgbClr val="000000"/>
        </a:dk1>
        <a:lt1>
          <a:srgbClr val="FFFFD9"/>
        </a:lt1>
        <a:dk2>
          <a:srgbClr val="000000"/>
        </a:dk2>
        <a:lt2>
          <a:srgbClr val="777777"/>
        </a:lt2>
        <a:accent1>
          <a:srgbClr val="FFFFF7"/>
        </a:accent1>
        <a:accent2>
          <a:srgbClr val="CC9900"/>
        </a:accent2>
        <a:accent3>
          <a:srgbClr val="FFFFE9"/>
        </a:accent3>
        <a:accent4>
          <a:srgbClr val="000000"/>
        </a:accent4>
        <a:accent5>
          <a:srgbClr val="FFFFFA"/>
        </a:accent5>
        <a:accent6>
          <a:srgbClr val="B98A00"/>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麦田夕照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969696"/>
        </a:folHlink>
      </a:clrScheme>
      <a:clrMap bg1="lt1" tx1="dk1" bg2="lt2" tx2="dk2" accent1="accent1" accent2="accent2" accent3="accent3" accent4="accent4" accent5="accent5" accent6="accent6" hlink="hlink" folHlink="folHlink"/>
    </a:extraClrScheme>
    <a:extraClrScheme>
      <a:clrScheme name="麦田夕照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C5B303"/>
        </a:folHlink>
      </a:clrScheme>
      <a:clrMap bg1="lt1" tx1="dk1" bg2="lt2" tx2="dk2" accent1="accent1" accent2="accent2" accent3="accent3" accent4="accent4" accent5="accent5" accent6="accent6" hlink="hlink" folHlink="folHlink"/>
    </a:extraClrScheme>
    <a:extraClrScheme>
      <a:clrScheme name="麦田夕照 5">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CC9900"/>
        </a:folHlink>
      </a:clrScheme>
      <a:clrMap bg1="lt1" tx1="dk1" bg2="lt2" tx2="dk2" accent1="accent1" accent2="accent2" accent3="accent3" accent4="accent4" accent5="accent5" accent6="accent6" hlink="hlink" folHlink="folHlink"/>
    </a:extraClrScheme>
    <a:extraClrScheme>
      <a:clrScheme name="麦田夕照 6">
        <a:dk1>
          <a:srgbClr val="000000"/>
        </a:dk1>
        <a:lt1>
          <a:srgbClr val="FFFFFF"/>
        </a:lt1>
        <a:dk2>
          <a:srgbClr val="000000"/>
        </a:dk2>
        <a:lt2>
          <a:srgbClr val="808080"/>
        </a:lt2>
        <a:accent1>
          <a:srgbClr val="FFCC66"/>
        </a:accent1>
        <a:accent2>
          <a:srgbClr val="EAEAEA"/>
        </a:accent2>
        <a:accent3>
          <a:srgbClr val="FFFFFF"/>
        </a:accent3>
        <a:accent4>
          <a:srgbClr val="000000"/>
        </a:accent4>
        <a:accent5>
          <a:srgbClr val="FFE2B8"/>
        </a:accent5>
        <a:accent6>
          <a:srgbClr val="D4D4D4"/>
        </a:accent6>
        <a:hlink>
          <a:srgbClr val="CC6600"/>
        </a:hlink>
        <a:folHlink>
          <a:srgbClr val="993300"/>
        </a:folHlink>
      </a:clrScheme>
      <a:clrMap bg1="lt1" tx1="dk1" bg2="lt2" tx2="dk2" accent1="accent1" accent2="accent2" accent3="accent3" accent4="accent4" accent5="accent5" accent6="accent6" hlink="hlink" folHlink="folHlink"/>
    </a:extraClrScheme>
    <a:extraClrScheme>
      <a:clrScheme name="麦田夕照 7">
        <a:dk1>
          <a:srgbClr val="003366"/>
        </a:dk1>
        <a:lt1>
          <a:srgbClr val="361B00"/>
        </a:lt1>
        <a:dk2>
          <a:srgbClr val="000099"/>
        </a:dk2>
        <a:lt2>
          <a:srgbClr val="333333"/>
        </a:lt2>
        <a:accent1>
          <a:srgbClr val="3366CC"/>
        </a:accent1>
        <a:accent2>
          <a:srgbClr val="F09A00"/>
        </a:accent2>
        <a:accent3>
          <a:srgbClr val="AAAACA"/>
        </a:accent3>
        <a:accent4>
          <a:srgbClr val="2D1500"/>
        </a:accent4>
        <a:accent5>
          <a:srgbClr val="ADB8E2"/>
        </a:accent5>
        <a:accent6>
          <a:srgbClr val="D98B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麦田夕照 8">
        <a:dk1>
          <a:srgbClr val="777777"/>
        </a:dk1>
        <a:lt1>
          <a:srgbClr val="926C00"/>
        </a:lt1>
        <a:dk2>
          <a:srgbClr val="686B5D"/>
        </a:dk2>
        <a:lt2>
          <a:srgbClr val="4D4D4D"/>
        </a:lt2>
        <a:accent1>
          <a:srgbClr val="B2B2B2"/>
        </a:accent1>
        <a:accent2>
          <a:srgbClr val="809EA8"/>
        </a:accent2>
        <a:accent3>
          <a:srgbClr val="B9BAB6"/>
        </a:accent3>
        <a:accent4>
          <a:srgbClr val="7C5B00"/>
        </a:accent4>
        <a:accent5>
          <a:srgbClr val="D5D5D5"/>
        </a:accent5>
        <a:accent6>
          <a:srgbClr val="738F98"/>
        </a:accent6>
        <a:hlink>
          <a:srgbClr val="FFCC66"/>
        </a:hlink>
        <a:folHlink>
          <a:srgbClr val="F7F3E7"/>
        </a:folHlink>
      </a:clrScheme>
      <a:clrMap bg1="dk2" tx1="lt1" bg2="dk1" tx2="lt2" accent1="accent1" accent2="accent2" accent3="accent3" accent4="accent4" accent5="accent5" accent6="accent6" hlink="hlink" folHlink="folHlink"/>
    </a:extraClrScheme>
    <a:extraClrScheme>
      <a:clrScheme name="麦田夕照 9">
        <a:dk1>
          <a:srgbClr val="005A58"/>
        </a:dk1>
        <a:lt1>
          <a:srgbClr val="CC9900"/>
        </a:lt1>
        <a:dk2>
          <a:srgbClr val="008080"/>
        </a:dk2>
        <a:lt2>
          <a:srgbClr val="006666"/>
        </a:lt2>
        <a:accent1>
          <a:srgbClr val="006462"/>
        </a:accent1>
        <a:accent2>
          <a:srgbClr val="6D6FC7"/>
        </a:accent2>
        <a:accent3>
          <a:srgbClr val="AAC0C0"/>
        </a:accent3>
        <a:accent4>
          <a:srgbClr val="AE8200"/>
        </a:accent4>
        <a:accent5>
          <a:srgbClr val="AAB8B7"/>
        </a:accent5>
        <a:accent6>
          <a:srgbClr val="6264B4"/>
        </a:accent6>
        <a:hlink>
          <a:srgbClr val="FFC41F"/>
        </a:hlink>
        <a:folHlink>
          <a:srgbClr val="FFFFCC"/>
        </a:folHlink>
      </a:clrScheme>
      <a:clrMap bg1="dk2" tx1="lt1" bg2="dk1" tx2="lt2" accent1="accent1" accent2="accent2" accent3="accent3" accent4="accent4" accent5="accent5" accent6="accent6" hlink="hlink" folHlink="folHlink"/>
    </a:extraClrScheme>
    <a:extraClrScheme>
      <a:clrScheme name="麦田夕照 10">
        <a:dk1>
          <a:srgbClr val="111111"/>
        </a:dk1>
        <a:lt1>
          <a:srgbClr val="800000"/>
        </a:lt1>
        <a:dk2>
          <a:srgbClr val="663300"/>
        </a:dk2>
        <a:lt2>
          <a:srgbClr val="5C1F00"/>
        </a:lt2>
        <a:accent1>
          <a:srgbClr val="CC3300"/>
        </a:accent1>
        <a:accent2>
          <a:srgbClr val="BE7960"/>
        </a:accent2>
        <a:accent3>
          <a:srgbClr val="C0AAAA"/>
        </a:accent3>
        <a:accent4>
          <a:srgbClr val="0D0D0D"/>
        </a:accent4>
        <a:accent5>
          <a:srgbClr val="E2ADAA"/>
        </a:accent5>
        <a:accent6>
          <a:srgbClr val="AC6D56"/>
        </a:accent6>
        <a:hlink>
          <a:srgbClr val="FFCC66"/>
        </a:hlink>
        <a:folHlink>
          <a:srgbClr val="D3A219"/>
        </a:folHlink>
      </a:clrScheme>
      <a:clrMap bg1="lt1" tx1="dk1" bg2="lt2" tx2="dk2" accent1="accent1" accent2="accent2" accent3="accent3" accent4="accent4" accent5="accent5" accent6="accent6" hlink="hlink" folHlink="folHlink"/>
    </a:extraClrScheme>
    <a:extraClrScheme>
      <a:clrScheme name="麦田夕照 11">
        <a:dk1>
          <a:srgbClr val="1C1C1C"/>
        </a:dk1>
        <a:lt1>
          <a:srgbClr val="523E26"/>
        </a:lt1>
        <a:dk2>
          <a:srgbClr val="654A1D"/>
        </a:dk2>
        <a:lt2>
          <a:srgbClr val="2D2015"/>
        </a:lt2>
        <a:accent1>
          <a:srgbClr val="B1A59D"/>
        </a:accent1>
        <a:accent2>
          <a:srgbClr val="8F5F2F"/>
        </a:accent2>
        <a:accent3>
          <a:srgbClr val="B3AFAC"/>
        </a:accent3>
        <a:accent4>
          <a:srgbClr val="161616"/>
        </a:accent4>
        <a:accent5>
          <a:srgbClr val="D5CFCC"/>
        </a:accent5>
        <a:accent6>
          <a:srgbClr val="81552A"/>
        </a:accent6>
        <a:hlink>
          <a:srgbClr val="F4D700"/>
        </a:hlink>
        <a:folHlink>
          <a:srgbClr val="E7EBE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CDESIGNF</Template>
  <TotalTime>0</TotalTime>
  <Words>19615</Words>
  <Application>WPS 演示</Application>
  <PresentationFormat/>
  <Paragraphs>1220</Paragraphs>
  <Slides>147</Slides>
  <Notes>103</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2</vt:i4>
      </vt:variant>
      <vt:variant>
        <vt:lpstr>幻灯片标题</vt:lpstr>
      </vt:variant>
      <vt:variant>
        <vt:i4>147</vt:i4>
      </vt:variant>
    </vt:vector>
  </HeadingPairs>
  <TitlesOfParts>
    <vt:vector size="172" baseType="lpstr">
      <vt:lpstr>Arial</vt:lpstr>
      <vt:lpstr>宋体</vt:lpstr>
      <vt:lpstr>Wingdings</vt:lpstr>
      <vt:lpstr>Tahoma</vt:lpstr>
      <vt:lpstr>GreekS</vt:lpstr>
      <vt:lpstr>Segoe Print</vt:lpstr>
      <vt:lpstr>华文彩云</vt:lpstr>
      <vt:lpstr>楷体_GB2312</vt:lpstr>
      <vt:lpstr>新宋体</vt:lpstr>
      <vt:lpstr>华文中宋</vt:lpstr>
      <vt:lpstr>黑体</vt:lpstr>
      <vt:lpstr>微软雅黑</vt:lpstr>
      <vt:lpstr>Arial Unicode MS</vt:lpstr>
      <vt:lpstr>华文楷体</vt:lpstr>
      <vt:lpstr>Verdana</vt:lpstr>
      <vt:lpstr>Times New Roman</vt:lpstr>
      <vt:lpstr>华文新魏</vt:lpstr>
      <vt:lpstr>GreekC</vt:lpstr>
      <vt:lpstr>隶书</vt:lpstr>
      <vt:lpstr>华文隶书</vt:lpstr>
      <vt:lpstr>MS PGothic</vt:lpstr>
      <vt:lpstr>Century</vt:lpstr>
      <vt:lpstr>麦田夕照</vt:lpstr>
      <vt:lpstr>Paint.Picture</vt:lpstr>
      <vt:lpstr>Paint.Picture</vt:lpstr>
      <vt:lpstr>机械制造基础</vt:lpstr>
      <vt:lpstr>第三篇  金属塑性加工</vt:lpstr>
      <vt:lpstr>典型零件</vt:lpstr>
      <vt:lpstr>  金属塑性加工</vt:lpstr>
      <vt:lpstr>  金属塑性加工</vt:lpstr>
      <vt:lpstr>第三篇  金属塑性加工</vt:lpstr>
      <vt:lpstr>本篇内容</vt:lpstr>
      <vt:lpstr>第一章	金属的塑性变形</vt:lpstr>
      <vt:lpstr>金属塑性变形的实质</vt:lpstr>
      <vt:lpstr>金属塑性变形的实质</vt:lpstr>
      <vt:lpstr>金属塑性变形的实质</vt:lpstr>
      <vt:lpstr>金属塑性变形的实质</vt:lpstr>
      <vt:lpstr>金属塑性变形的实质</vt:lpstr>
      <vt:lpstr>金属塑性变形的实质</vt:lpstr>
      <vt:lpstr>金属塑性变形的实质</vt:lpstr>
      <vt:lpstr>塑性变形对金属组织和性能的影响</vt:lpstr>
      <vt:lpstr>塑性变形对金属组织和性能的影响</vt:lpstr>
      <vt:lpstr>PowerPoint 演示文稿</vt:lpstr>
      <vt:lpstr>塑性变形对金属组织 和性能的影响</vt:lpstr>
      <vt:lpstr>塑性变形对金属组织和性能的影响</vt:lpstr>
      <vt:lpstr>塑性变形对金属组织和性能的影响</vt:lpstr>
      <vt:lpstr>塑性变形对金属组织和性能的影响</vt:lpstr>
      <vt:lpstr>塑性变形对金属组织和性能的影响</vt:lpstr>
      <vt:lpstr>PowerPoint 演示文稿</vt:lpstr>
      <vt:lpstr>纤维组织</vt:lpstr>
      <vt:lpstr>塑性变形对金属组织和性能的影响</vt:lpstr>
      <vt:lpstr>塑性变形对金属组织和性能的影响</vt:lpstr>
      <vt:lpstr>PowerPoint 演示文稿</vt:lpstr>
      <vt:lpstr>上节回顾</vt:lpstr>
      <vt:lpstr>上节回顾</vt:lpstr>
      <vt:lpstr>上节回顾</vt:lpstr>
      <vt:lpstr>PowerPoint 演示文稿</vt:lpstr>
      <vt:lpstr>PowerPoint 演示文稿</vt:lpstr>
      <vt:lpstr>金属的可锻性</vt:lpstr>
      <vt:lpstr>金属的可锻性</vt:lpstr>
      <vt:lpstr>PowerPoint 演示文稿</vt:lpstr>
      <vt:lpstr>上节回顾</vt:lpstr>
      <vt:lpstr>上节回顾</vt:lpstr>
      <vt:lpstr>上节回顾</vt:lpstr>
      <vt:lpstr>PowerPoint 演示文稿</vt:lpstr>
      <vt:lpstr>PowerPoint 演示文稿</vt:lpstr>
      <vt:lpstr>自由锻</vt:lpstr>
      <vt:lpstr>PowerPoint 演示文稿</vt:lpstr>
      <vt:lpstr>自由锻</vt:lpstr>
      <vt:lpstr>自由锻基本工序</vt:lpstr>
      <vt:lpstr>自由锻基本工序</vt:lpstr>
      <vt:lpstr>自由锻基本工序</vt:lpstr>
      <vt:lpstr>自由锻基本工序</vt:lpstr>
      <vt:lpstr>自由锻基本工序</vt:lpstr>
      <vt:lpstr>自由锻基本工序</vt:lpstr>
      <vt:lpstr>自由锻基本工序</vt:lpstr>
      <vt:lpstr>PowerPoint 演示文稿</vt:lpstr>
      <vt:lpstr>PowerPoint 演示文稿</vt:lpstr>
      <vt:lpstr>典型零件自由锻工艺</vt:lpstr>
      <vt:lpstr>PowerPoint 演示文稿</vt:lpstr>
      <vt:lpstr>典型零件自由锻工艺</vt:lpstr>
      <vt:lpstr>典型零件自由锻工艺</vt:lpstr>
      <vt:lpstr>典型零件自由锻工艺</vt:lpstr>
      <vt:lpstr>典型零件自由锻工艺</vt:lpstr>
      <vt:lpstr>模锻</vt:lpstr>
      <vt:lpstr>模锻</vt:lpstr>
      <vt:lpstr>模锻</vt:lpstr>
      <vt:lpstr>模锻</vt:lpstr>
      <vt:lpstr>锤上模锻</vt:lpstr>
      <vt:lpstr>锤上模锻</vt:lpstr>
      <vt:lpstr>锤上模锻</vt:lpstr>
      <vt:lpstr>锤上模锻</vt:lpstr>
      <vt:lpstr>锤上模锻</vt:lpstr>
      <vt:lpstr>锤上模锻</vt:lpstr>
      <vt:lpstr>PowerPoint 演示文稿</vt:lpstr>
      <vt:lpstr>PowerPoint 演示文稿</vt:lpstr>
      <vt:lpstr>压力机上模锻</vt:lpstr>
      <vt:lpstr>压力机上模锻</vt:lpstr>
      <vt:lpstr>上节回顾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锻件结构的工艺性</vt:lpstr>
      <vt:lpstr>锻件结构的工艺性</vt:lpstr>
      <vt:lpstr>锻件结构的工艺性</vt:lpstr>
      <vt:lpstr>锻件结构的工艺性</vt:lpstr>
      <vt:lpstr>锻件结构的工艺性</vt:lpstr>
      <vt:lpstr>锻件结构的工艺性</vt:lpstr>
      <vt:lpstr>锻件结构的工艺性</vt:lpstr>
      <vt:lpstr>锻件结构的工艺性</vt:lpstr>
      <vt:lpstr>锻件结构的工艺性</vt:lpstr>
      <vt:lpstr>PowerPoint 演示文稿</vt:lpstr>
      <vt:lpstr>  金属塑性加工</vt:lpstr>
      <vt:lpstr>冲压视频</vt:lpstr>
      <vt:lpstr>冲 压</vt:lpstr>
      <vt:lpstr>冲压</vt:lpstr>
      <vt:lpstr>     冲压</vt:lpstr>
      <vt:lpstr>板料冲压工序</vt:lpstr>
      <vt:lpstr>冲压视频</vt:lpstr>
      <vt:lpstr>    冲压</vt:lpstr>
      <vt:lpstr>板料冲压</vt:lpstr>
      <vt:lpstr>板料冲压</vt:lpstr>
      <vt:lpstr>板料冲压</vt:lpstr>
      <vt:lpstr>     分离工序</vt:lpstr>
      <vt:lpstr>凸凹模间隙大小的影响</vt:lpstr>
      <vt:lpstr>凸凹模间隙大小的影响</vt:lpstr>
      <vt:lpstr>板料冲压</vt:lpstr>
      <vt:lpstr>（4）冲裁件的排样</vt:lpstr>
      <vt:lpstr>PowerPoint 演示文稿</vt:lpstr>
      <vt:lpstr>分离工序</vt:lpstr>
      <vt:lpstr>板料冲压</vt:lpstr>
      <vt:lpstr>1.拉深</vt:lpstr>
      <vt:lpstr>1.拉深</vt:lpstr>
      <vt:lpstr>1.拉深</vt:lpstr>
      <vt:lpstr>板料冲压</vt:lpstr>
      <vt:lpstr>弯曲</vt:lpstr>
      <vt:lpstr>翻边</vt:lpstr>
      <vt:lpstr>4.胀形</vt:lpstr>
      <vt:lpstr>• 胀形工艺特点</vt:lpstr>
      <vt:lpstr>上节回顾</vt:lpstr>
      <vt:lpstr>第四节 冲压件的结构工艺性</vt:lpstr>
      <vt:lpstr>冲压件的结构工艺性</vt:lpstr>
      <vt:lpstr>冲压件的结构工艺性</vt:lpstr>
      <vt:lpstr>冲压件的结构工艺性</vt:lpstr>
      <vt:lpstr> 对弯曲件的要求 </vt:lpstr>
      <vt:lpstr>对拉深件的要求</vt:lpstr>
      <vt:lpstr>简化工艺及节省材料的设计 </vt:lpstr>
      <vt:lpstr>简化工艺及节省材料的设计</vt:lpstr>
      <vt:lpstr>简化工艺及节省材料的设计</vt:lpstr>
      <vt:lpstr>PowerPoint 演示文稿</vt:lpstr>
      <vt:lpstr>PowerPoint 演示文稿</vt:lpstr>
      <vt:lpstr>PowerPoint 演示文稿</vt:lpstr>
      <vt:lpstr>零件挤压</vt:lpstr>
      <vt:lpstr>零件挤压</vt:lpstr>
      <vt:lpstr>零件挤压</vt:lpstr>
      <vt:lpstr>零件挤压</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机械制造基础</dc:title>
  <dc:creator>cdd</dc:creator>
  <cp:lastModifiedBy>rainbow</cp:lastModifiedBy>
  <cp:revision>1330</cp:revision>
  <dcterms:created xsi:type="dcterms:W3CDTF">2003-11-04T05:35:00Z</dcterms:created>
  <dcterms:modified xsi:type="dcterms:W3CDTF">2021-11-04T02:21:34Z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3D01BB38EA2B4393AC24F725C331656A</vt:lpwstr>
  </property>
  <property fmtid="{D5CDD505-2E9C-101B-9397-08002B2CF9AE}" pid="3" name="KSOProductBuildVer">
    <vt:lpwstr>2052-11.1.0.11045</vt:lpwstr>
  </property>
</Properties>
</file>