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gif" ContentType="image/gif"/>
  <Default Extension="emf" ContentType="image/x-e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handoutMasterIdLst>
    <p:handoutMasterId r:id="rId145"/>
  </p:handoutMasterIdLst>
  <p:sldIdLst>
    <p:sldId id="739" r:id="rId4"/>
    <p:sldId id="740" r:id="rId6"/>
    <p:sldId id="741" r:id="rId7"/>
    <p:sldId id="743" r:id="rId8"/>
    <p:sldId id="744" r:id="rId9"/>
    <p:sldId id="745" r:id="rId10"/>
    <p:sldId id="746" r:id="rId11"/>
    <p:sldId id="747" r:id="rId12"/>
    <p:sldId id="748" r:id="rId13"/>
    <p:sldId id="749" r:id="rId14"/>
    <p:sldId id="750" r:id="rId15"/>
    <p:sldId id="752" r:id="rId16"/>
    <p:sldId id="753" r:id="rId17"/>
    <p:sldId id="815" r:id="rId18"/>
    <p:sldId id="754" r:id="rId19"/>
    <p:sldId id="755" r:id="rId20"/>
    <p:sldId id="756" r:id="rId21"/>
    <p:sldId id="757" r:id="rId22"/>
    <p:sldId id="817" r:id="rId23"/>
    <p:sldId id="934" r:id="rId24"/>
    <p:sldId id="935" r:id="rId25"/>
    <p:sldId id="818" r:id="rId26"/>
    <p:sldId id="819" r:id="rId27"/>
    <p:sldId id="820" r:id="rId28"/>
    <p:sldId id="758" r:id="rId29"/>
    <p:sldId id="759" r:id="rId30"/>
    <p:sldId id="760" r:id="rId31"/>
    <p:sldId id="761" r:id="rId32"/>
    <p:sldId id="1053" r:id="rId33"/>
    <p:sldId id="1050" r:id="rId34"/>
    <p:sldId id="1052" r:id="rId35"/>
    <p:sldId id="763" r:id="rId36"/>
    <p:sldId id="764" r:id="rId37"/>
    <p:sldId id="810" r:id="rId38"/>
    <p:sldId id="765" r:id="rId39"/>
    <p:sldId id="1054" r:id="rId40"/>
    <p:sldId id="1055" r:id="rId41"/>
    <p:sldId id="1056" r:id="rId42"/>
    <p:sldId id="1057" r:id="rId43"/>
    <p:sldId id="1058" r:id="rId44"/>
    <p:sldId id="813" r:id="rId45"/>
    <p:sldId id="1059" r:id="rId46"/>
    <p:sldId id="1060" r:id="rId47"/>
    <p:sldId id="766" r:id="rId48"/>
    <p:sldId id="767" r:id="rId49"/>
    <p:sldId id="768" r:id="rId50"/>
    <p:sldId id="821" r:id="rId51"/>
    <p:sldId id="769" r:id="rId52"/>
    <p:sldId id="770" r:id="rId53"/>
    <p:sldId id="771" r:id="rId54"/>
    <p:sldId id="772" r:id="rId55"/>
    <p:sldId id="1169" r:id="rId56"/>
    <p:sldId id="773" r:id="rId57"/>
    <p:sldId id="774" r:id="rId58"/>
    <p:sldId id="775" r:id="rId59"/>
    <p:sldId id="776" r:id="rId60"/>
    <p:sldId id="777" r:id="rId61"/>
    <p:sldId id="778" r:id="rId62"/>
    <p:sldId id="779" r:id="rId63"/>
    <p:sldId id="780" r:id="rId64"/>
    <p:sldId id="781" r:id="rId65"/>
    <p:sldId id="782" r:id="rId66"/>
    <p:sldId id="783" r:id="rId67"/>
    <p:sldId id="784" r:id="rId68"/>
    <p:sldId id="785" r:id="rId69"/>
    <p:sldId id="786" r:id="rId70"/>
    <p:sldId id="787" r:id="rId71"/>
    <p:sldId id="788" r:id="rId72"/>
    <p:sldId id="789" r:id="rId73"/>
    <p:sldId id="790" r:id="rId74"/>
    <p:sldId id="791" r:id="rId75"/>
    <p:sldId id="792" r:id="rId76"/>
    <p:sldId id="793" r:id="rId77"/>
    <p:sldId id="794" r:id="rId78"/>
    <p:sldId id="809" r:id="rId79"/>
    <p:sldId id="795" r:id="rId80"/>
    <p:sldId id="796" r:id="rId81"/>
    <p:sldId id="797" r:id="rId82"/>
    <p:sldId id="798" r:id="rId83"/>
    <p:sldId id="799" r:id="rId84"/>
    <p:sldId id="800" r:id="rId85"/>
    <p:sldId id="801" r:id="rId86"/>
    <p:sldId id="802" r:id="rId87"/>
    <p:sldId id="803" r:id="rId88"/>
    <p:sldId id="804" r:id="rId89"/>
    <p:sldId id="805" r:id="rId90"/>
    <p:sldId id="808" r:id="rId91"/>
    <p:sldId id="550" r:id="rId92"/>
    <p:sldId id="460" r:id="rId93"/>
    <p:sldId id="627" r:id="rId94"/>
    <p:sldId id="461" r:id="rId95"/>
    <p:sldId id="551" r:id="rId96"/>
    <p:sldId id="552" r:id="rId97"/>
    <p:sldId id="462" r:id="rId98"/>
    <p:sldId id="555" r:id="rId99"/>
    <p:sldId id="556" r:id="rId100"/>
    <p:sldId id="560" r:id="rId101"/>
    <p:sldId id="554" r:id="rId102"/>
    <p:sldId id="465" r:id="rId103"/>
    <p:sldId id="630" r:id="rId104"/>
    <p:sldId id="631" r:id="rId105"/>
    <p:sldId id="586" r:id="rId106"/>
    <p:sldId id="587" r:id="rId107"/>
    <p:sldId id="588" r:id="rId108"/>
    <p:sldId id="589" r:id="rId109"/>
    <p:sldId id="570" r:id="rId110"/>
    <p:sldId id="571" r:id="rId111"/>
    <p:sldId id="572" r:id="rId112"/>
    <p:sldId id="573" r:id="rId113"/>
    <p:sldId id="467" r:id="rId114"/>
    <p:sldId id="657" r:id="rId115"/>
    <p:sldId id="658" r:id="rId116"/>
    <p:sldId id="659" r:id="rId117"/>
    <p:sldId id="660" r:id="rId118"/>
    <p:sldId id="661" r:id="rId119"/>
    <p:sldId id="663" r:id="rId120"/>
    <p:sldId id="664" r:id="rId121"/>
    <p:sldId id="665" r:id="rId122"/>
    <p:sldId id="666" r:id="rId123"/>
    <p:sldId id="667" r:id="rId124"/>
    <p:sldId id="668" r:id="rId125"/>
    <p:sldId id="471" r:id="rId126"/>
    <p:sldId id="643" r:id="rId127"/>
    <p:sldId id="644" r:id="rId128"/>
    <p:sldId id="645" r:id="rId129"/>
    <p:sldId id="646" r:id="rId130"/>
    <p:sldId id="647" r:id="rId131"/>
    <p:sldId id="648" r:id="rId132"/>
    <p:sldId id="649" r:id="rId133"/>
    <p:sldId id="650" r:id="rId134"/>
    <p:sldId id="651" r:id="rId135"/>
    <p:sldId id="652" r:id="rId136"/>
    <p:sldId id="653" r:id="rId137"/>
    <p:sldId id="654" r:id="rId138"/>
    <p:sldId id="638" r:id="rId139"/>
    <p:sldId id="639" r:id="rId140"/>
    <p:sldId id="640" r:id="rId141"/>
    <p:sldId id="641" r:id="rId142"/>
    <p:sldId id="642" r:id="rId143"/>
    <p:sldId id="527" r:id="rId144"/>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99"/>
    <a:srgbClr val="FFFFFF"/>
    <a:srgbClr val="99FFCC"/>
    <a:srgbClr val="008000"/>
    <a:srgbClr val="000000"/>
    <a:srgbClr val="CC0066"/>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46"/>
    <p:restoredTop sz="99815"/>
  </p:normalViewPr>
  <p:slideViewPr>
    <p:cSldViewPr showGuides="1">
      <p:cViewPr varScale="1">
        <p:scale>
          <a:sx n="78" d="100"/>
          <a:sy n="78" d="100"/>
        </p:scale>
        <p:origin x="98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937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handoutMaster" Target="handoutMasters/handoutMaster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image" Target="../media/image104.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8.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57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7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4096D95-5B92-441F-AAEF-7B6CDAB6A2CD}"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1170 713,'-3'-2,"0"1,0 1,0-1,0 1,0 0,0-1,0 1,0 0,0 0,0-1,0 0,0 1,0-1,0 0,0-1,0 1,0 0,0-1,0 1,0-1,0 1,0-2,0 1,0 1,0-1,0 0,0 0,-1 0,1 1,0-1,0 1,0 1,0-1,0 1,0-1,0 0,0 1,0-1,0 0,0 0,-1 0,1 0,0 0,0-1,0 1,0-1,0 2,0-2,0 1,0-1,-1 1,1-1,0 2,0-2,-1 1,1 0,0 0,-1 0,1 0,0 0,0 0,0 0,0 0,-1-1,1 2,0-1,-1 0,0 0,1 0,0 1,0 0,0-1,0 0,-1 0,1 0,0 1,0 0,0 0,0 0,0-1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1172 714,'-3'-2,"0"0,-1 0,3-1,-3 2,1 0,0 0,0-1,0 1,0 0,0 0,0 0,0 0,0-1,0 0,0 0,1-1,-1 2,0-1,0 0,0 0,0 0,0-1,0 2,0 0,0 1,0-2,0 1,0 0,0 0,0-1,0 1,0-1,0 1,0-1,-1 1,1-1,0 0,0 0,0 0,0 1,0-2,0 2,0 0,0 0,0-1,0 0,0 1,0-1,0 0,0 0,0 0,0 0,0 1,0-1,0 0,0 0,0 1,0-1,-1-1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1177 714,'1'3,"1"0,-1 0,-1 0,0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000000"/>
      <inkml:brushProperty name="ignorePressure" value="0"/>
    </inkml:brush>
  </inkml:definitions>
  <inkml:trace contextRef="#ctx0" brushRef="#br0">1177 720,'-1'3,"1"0,0 0,0 0,0 0,0 0,-1 0,0 0,0 0,0 0,0 0,0 0,1 0,-1 0,0 0,0 0,0 0,1 0,0 0,0 0,0 0,0 0,-1 0,1 0,-1 0,1 0,0 0,0 0,-1 0,1 0,0 0,-1 0,1 0,0 0,-1 0,1 0,-1 0,0 1,1-1,-1 0,1 0,-1 0,1 0,0 1,0-1,0 0,-1 0,1 4,-1-3,1-1,-1 0,0 0,0 0,-1 0,2 0,-1 0,1 0,-1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1178 719,'-3'0,"0"2,0 0,0 0,1 1,0 0,2 0,0 0,0 0,-1 1,1-1,0 0,0 0,-1 0,1 0,-1 0,0 0,1 0,-1 0,1 0,-1 0,0 0,-1 0,0 0,1 0,0 0,0 0,-1 0,1 0,0 0,1 0,-2 0,0 0,1 0,0 0,0 0,-1 0,0 0,1 0,-2 0,0 0,1 0,0 0,-1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1181 716,'-3'3,"0"0,2 0,-1 0,0 0,1 0,-1 0,0 0,0 0,1 0,-1 0,-1 1,2-1,-2 1,1-1,1 0,0 0,0 0,-1 0,2 0,-2 0,2 0,-1 0,1 1,-1-1,0 0,1 0,-1 0,0 0,0 0,1 0,-1 0,0 0,-2 0,2 0,-1 0,-1 0,1 1,-1 0,0 0,0-1,0 1,1-1,-1-1,2 1,-2-2,1 2,1 0,-2 0,2 0,0 0,-1 0,1 0,0 1,0-1,0 0,-1 0,1 0,1 1,-1-1,1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988 613,'0'3,"0"0,-1 0,0 0,-1 0,1 0,1 0,0 0,0 0,0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12-09T08:58:2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1148 899,'-1'-3,"-2"0,1 0,-1 1,1-1,-1 1,0 1,0-1,0 0,0 1,0 0,0 0,0 0,0 0,1-2,-1 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328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Century" panose="020406040505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panose="02040604050505020304" pitchFamily="18" charset="0"/>
              <a:ea typeface="宋体" panose="02010600030101010101" pitchFamily="2" charset="-122"/>
              <a:cs typeface="+mn-cs"/>
            </a:endParaRPr>
          </a:p>
        </p:txBody>
      </p:sp>
      <p:sp>
        <p:nvSpPr>
          <p:cNvPr id="93286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Century" panose="020406040505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panose="02040604050505020304" pitchFamily="18" charset="0"/>
              <a:ea typeface="宋体" panose="02010600030101010101" pitchFamily="2" charset="-122"/>
              <a:cs typeface="+mn-cs"/>
            </a:endParaRPr>
          </a:p>
        </p:txBody>
      </p:sp>
      <p:sp>
        <p:nvSpPr>
          <p:cNvPr id="6148"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3286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287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Century" panose="020406040505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Century" panose="02040604050505020304" pitchFamily="18" charset="0"/>
              <a:ea typeface="宋体" panose="02010600030101010101" pitchFamily="2" charset="-122"/>
              <a:cs typeface="+mn-cs"/>
            </a:endParaRPr>
          </a:p>
        </p:txBody>
      </p:sp>
      <p:sp>
        <p:nvSpPr>
          <p:cNvPr id="932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Century" panose="020406040505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F54A44C-3DF6-483A-BAEA-5B36391522F9}" type="slidenum">
              <a:rPr kumimoji="0" lang="en-US" altLang="zh-CN" sz="1200" b="0" i="0" u="none" strike="noStrike" kern="1200" cap="none" spc="0" normalizeH="0" baseline="0" noProof="0" smtClean="0">
                <a:ln>
                  <a:noFill/>
                </a:ln>
                <a:solidFill>
                  <a:schemeClr val="tx1"/>
                </a:solidFill>
                <a:effectLst/>
                <a:uLnTx/>
                <a:uFillTx/>
                <a:latin typeface="Century" panose="02040604050505020304" pitchFamily="18"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Century" panose="020406040505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ea typeface="宋体" panose="02010600030101010101" pitchFamily="2" charset="-122"/>
              </a:rPr>
            </a:fld>
            <a:endParaRPr lang="en-US" altLang="zh-CN" sz="1200" dirty="0">
              <a:latin typeface="Century" panose="02040604050505020304" pitchFamily="18" charset="0"/>
              <a:ea typeface="宋体" panose="02010600030101010101" pitchFamily="2" charset="-122"/>
            </a:endParaRPr>
          </a:p>
        </p:txBody>
      </p:sp>
      <p:sp>
        <p:nvSpPr>
          <p:cNvPr id="8194" name="Rectangle 2"/>
          <p:cNvSpPr>
            <a:spLocks noTextEdit="1"/>
          </p:cNvSpPr>
          <p:nvPr>
            <p:ph type="sldImg"/>
          </p:nvPr>
        </p:nvSpPr>
        <p:spPr>
          <a:ln/>
        </p:spPr>
      </p:sp>
      <p:sp>
        <p:nvSpPr>
          <p:cNvPr id="819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242" name="Rectangle 2"/>
          <p:cNvSpPr>
            <a:spLocks noTextEdit="1"/>
          </p:cNvSpPr>
          <p:nvPr>
            <p:ph type="sldImg"/>
          </p:nvPr>
        </p:nvSpPr>
        <p:spPr>
          <a:ln/>
        </p:spPr>
      </p:sp>
      <p:sp>
        <p:nvSpPr>
          <p:cNvPr id="102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2290" name="Rectangle 2"/>
          <p:cNvSpPr>
            <a:spLocks noTextEdit="1"/>
          </p:cNvSpPr>
          <p:nvPr>
            <p:ph type="sldImg"/>
          </p:nvPr>
        </p:nvSpPr>
        <p:spPr>
          <a:ln/>
        </p:spPr>
      </p:sp>
      <p:sp>
        <p:nvSpPr>
          <p:cNvPr id="1229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338" name="Rectangle 2"/>
          <p:cNvSpPr>
            <a:spLocks noTextEdit="1"/>
          </p:cNvSpPr>
          <p:nvPr>
            <p:ph type="sldImg"/>
          </p:nvPr>
        </p:nvSpPr>
        <p:spPr>
          <a:ln/>
        </p:spPr>
      </p:sp>
      <p:sp>
        <p:nvSpPr>
          <p:cNvPr id="143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386" name="Rectangle 2"/>
          <p:cNvSpPr>
            <a:spLocks noTextEdit="1"/>
          </p:cNvSpPr>
          <p:nvPr>
            <p:ph type="sldImg"/>
          </p:nvPr>
        </p:nvSpPr>
        <p:spPr>
          <a:ln/>
        </p:spPr>
      </p:sp>
      <p:sp>
        <p:nvSpPr>
          <p:cNvPr id="163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434" name="Rectangle 2"/>
          <p:cNvSpPr>
            <a:spLocks noTextEdit="1"/>
          </p:cNvSpPr>
          <p:nvPr>
            <p:ph type="sldImg"/>
          </p:nvPr>
        </p:nvSpPr>
        <p:spPr>
          <a:ln/>
        </p:spPr>
      </p:sp>
      <p:sp>
        <p:nvSpPr>
          <p:cNvPr id="1843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482" name="Rectangle 2"/>
          <p:cNvSpPr>
            <a:spLocks noTextEdit="1"/>
          </p:cNvSpPr>
          <p:nvPr>
            <p:ph type="sldImg"/>
          </p:nvPr>
        </p:nvSpPr>
        <p:spPr>
          <a:ln/>
        </p:spPr>
      </p:sp>
      <p:sp>
        <p:nvSpPr>
          <p:cNvPr id="2048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530" name="Rectangle 2"/>
          <p:cNvSpPr>
            <a:spLocks noTextEdit="1"/>
          </p:cNvSpPr>
          <p:nvPr>
            <p:ph type="sldImg"/>
          </p:nvPr>
        </p:nvSpPr>
        <p:spPr>
          <a:ln/>
        </p:spPr>
      </p:sp>
      <p:sp>
        <p:nvSpPr>
          <p:cNvPr id="2253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578" name="Rectangle 2"/>
          <p:cNvSpPr>
            <a:spLocks noTextEdit="1"/>
          </p:cNvSpPr>
          <p:nvPr>
            <p:ph type="sldImg"/>
          </p:nvPr>
        </p:nvSpPr>
        <p:spPr>
          <a:ln/>
        </p:spPr>
      </p:sp>
      <p:sp>
        <p:nvSpPr>
          <p:cNvPr id="245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626" name="Rectangle 2"/>
          <p:cNvSpPr>
            <a:spLocks noTextEdit="1"/>
          </p:cNvSpPr>
          <p:nvPr>
            <p:ph type="sldImg"/>
          </p:nvPr>
        </p:nvSpPr>
        <p:spPr>
          <a:ln/>
        </p:spPr>
      </p:sp>
      <p:sp>
        <p:nvSpPr>
          <p:cNvPr id="266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8674" name="Rectangle 2"/>
          <p:cNvSpPr>
            <a:spLocks noTextEdit="1"/>
          </p:cNvSpPr>
          <p:nvPr>
            <p:ph type="sldImg"/>
          </p:nvPr>
        </p:nvSpPr>
        <p:spPr>
          <a:ln/>
        </p:spPr>
      </p:sp>
      <p:sp>
        <p:nvSpPr>
          <p:cNvPr id="286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30722" name="Rectangle 2"/>
          <p:cNvSpPr>
            <a:spLocks noTextEdit="1"/>
          </p:cNvSpPr>
          <p:nvPr>
            <p:ph type="sldImg"/>
          </p:nvPr>
        </p:nvSpPr>
        <p:spPr>
          <a:ln/>
        </p:spPr>
      </p:sp>
      <p:sp>
        <p:nvSpPr>
          <p:cNvPr id="307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32770" name="Rectangle 2"/>
          <p:cNvSpPr>
            <a:spLocks noTextEdit="1"/>
          </p:cNvSpPr>
          <p:nvPr>
            <p:ph type="sldImg"/>
          </p:nvPr>
        </p:nvSpPr>
        <p:spPr>
          <a:ln/>
        </p:spPr>
      </p:sp>
      <p:sp>
        <p:nvSpPr>
          <p:cNvPr id="327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35842" name="Rectangle 2"/>
          <p:cNvSpPr>
            <a:spLocks noTextEdit="1"/>
          </p:cNvSpPr>
          <p:nvPr>
            <p:ph type="sldImg"/>
          </p:nvPr>
        </p:nvSpPr>
        <p:spPr>
          <a:ln/>
        </p:spPr>
      </p:sp>
      <p:sp>
        <p:nvSpPr>
          <p:cNvPr id="358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37890" name="Rectangle 2"/>
          <p:cNvSpPr>
            <a:spLocks noTextEdit="1"/>
          </p:cNvSpPr>
          <p:nvPr>
            <p:ph type="sldImg"/>
          </p:nvPr>
        </p:nvSpPr>
        <p:spPr>
          <a:ln/>
        </p:spPr>
      </p:sp>
      <p:sp>
        <p:nvSpPr>
          <p:cNvPr id="3789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39938" name="Rectangle 2"/>
          <p:cNvSpPr>
            <a:spLocks noTextEdit="1"/>
          </p:cNvSpPr>
          <p:nvPr>
            <p:ph type="sldImg"/>
          </p:nvPr>
        </p:nvSpPr>
        <p:spPr>
          <a:ln/>
        </p:spPr>
      </p:sp>
      <p:sp>
        <p:nvSpPr>
          <p:cNvPr id="399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41986" name="Rectangle 2"/>
          <p:cNvSpPr>
            <a:spLocks noTextEdit="1"/>
          </p:cNvSpPr>
          <p:nvPr>
            <p:ph type="sldImg"/>
          </p:nvPr>
        </p:nvSpPr>
        <p:spPr>
          <a:ln/>
        </p:spPr>
      </p:sp>
      <p:sp>
        <p:nvSpPr>
          <p:cNvPr id="419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50178" name="Rectangle 2"/>
          <p:cNvSpPr>
            <a:spLocks noTextEdit="1"/>
          </p:cNvSpPr>
          <p:nvPr>
            <p:ph type="sldImg"/>
          </p:nvPr>
        </p:nvSpPr>
        <p:spPr>
          <a:ln/>
        </p:spPr>
      </p:sp>
      <p:sp>
        <p:nvSpPr>
          <p:cNvPr id="501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52226" name="Rectangle 2"/>
          <p:cNvSpPr>
            <a:spLocks noTextEdit="1"/>
          </p:cNvSpPr>
          <p:nvPr>
            <p:ph type="sldImg"/>
          </p:nvPr>
        </p:nvSpPr>
        <p:spPr>
          <a:ln/>
        </p:spPr>
      </p:sp>
      <p:sp>
        <p:nvSpPr>
          <p:cNvPr id="522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54274" name="Rectangle 2"/>
          <p:cNvSpPr>
            <a:spLocks noTextEdit="1"/>
          </p:cNvSpPr>
          <p:nvPr>
            <p:ph type="sldImg"/>
          </p:nvPr>
        </p:nvSpPr>
        <p:spPr>
          <a:ln/>
        </p:spPr>
      </p:sp>
      <p:sp>
        <p:nvSpPr>
          <p:cNvPr id="542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56322" name="Rectangle 2"/>
          <p:cNvSpPr>
            <a:spLocks noTextEdit="1"/>
          </p:cNvSpPr>
          <p:nvPr>
            <p:ph type="sldImg"/>
          </p:nvPr>
        </p:nvSpPr>
        <p:spPr>
          <a:ln/>
        </p:spPr>
      </p:sp>
      <p:sp>
        <p:nvSpPr>
          <p:cNvPr id="563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58370" name="Rectangle 2"/>
          <p:cNvSpPr>
            <a:spLocks noTextEdit="1"/>
          </p:cNvSpPr>
          <p:nvPr>
            <p:ph type="sldImg"/>
          </p:nvPr>
        </p:nvSpPr>
        <p:spPr>
          <a:ln/>
        </p:spPr>
      </p:sp>
      <p:sp>
        <p:nvSpPr>
          <p:cNvPr id="583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62466" name="Rectangle 2"/>
          <p:cNvSpPr>
            <a:spLocks noTextEdit="1"/>
          </p:cNvSpPr>
          <p:nvPr>
            <p:ph type="sldImg"/>
          </p:nvPr>
        </p:nvSpPr>
        <p:spPr>
          <a:ln/>
        </p:spPr>
      </p:sp>
      <p:sp>
        <p:nvSpPr>
          <p:cNvPr id="624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64514" name="Rectangle 2"/>
          <p:cNvSpPr>
            <a:spLocks noTextEdit="1"/>
          </p:cNvSpPr>
          <p:nvPr>
            <p:ph type="sldImg"/>
          </p:nvPr>
        </p:nvSpPr>
        <p:spPr>
          <a:ln/>
        </p:spPr>
      </p:sp>
      <p:sp>
        <p:nvSpPr>
          <p:cNvPr id="645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67586" name="Rectangle 2"/>
          <p:cNvSpPr>
            <a:spLocks noTextEdit="1"/>
          </p:cNvSpPr>
          <p:nvPr>
            <p:ph type="sldImg"/>
          </p:nvPr>
        </p:nvSpPr>
        <p:spPr>
          <a:ln/>
        </p:spPr>
      </p:sp>
      <p:sp>
        <p:nvSpPr>
          <p:cNvPr id="675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77826" name="Rectangle 2"/>
          <p:cNvSpPr>
            <a:spLocks noTextEdit="1"/>
          </p:cNvSpPr>
          <p:nvPr>
            <p:ph type="sldImg"/>
          </p:nvPr>
        </p:nvSpPr>
        <p:spPr>
          <a:ln/>
        </p:spPr>
      </p:sp>
      <p:sp>
        <p:nvSpPr>
          <p:cNvPr id="778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79874" name="Rectangle 2"/>
          <p:cNvSpPr>
            <a:spLocks noTextEdit="1"/>
          </p:cNvSpPr>
          <p:nvPr>
            <p:ph type="sldImg"/>
          </p:nvPr>
        </p:nvSpPr>
        <p:spPr>
          <a:ln/>
        </p:spPr>
      </p:sp>
      <p:sp>
        <p:nvSpPr>
          <p:cNvPr id="798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81922" name="Rectangle 2"/>
          <p:cNvSpPr>
            <a:spLocks noTextEdit="1"/>
          </p:cNvSpPr>
          <p:nvPr>
            <p:ph type="sldImg"/>
          </p:nvPr>
        </p:nvSpPr>
        <p:spPr>
          <a:ln/>
        </p:spPr>
      </p:sp>
      <p:sp>
        <p:nvSpPr>
          <p:cNvPr id="819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83970" name="Rectangle 2"/>
          <p:cNvSpPr>
            <a:spLocks noTextEdit="1"/>
          </p:cNvSpPr>
          <p:nvPr>
            <p:ph type="sldImg"/>
          </p:nvPr>
        </p:nvSpPr>
        <p:spPr>
          <a:ln/>
        </p:spPr>
      </p:sp>
      <p:sp>
        <p:nvSpPr>
          <p:cNvPr id="839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86018" name="Rectangle 2"/>
          <p:cNvSpPr>
            <a:spLocks noTextEdit="1"/>
          </p:cNvSpPr>
          <p:nvPr>
            <p:ph type="sldImg"/>
          </p:nvPr>
        </p:nvSpPr>
        <p:spPr>
          <a:ln/>
        </p:spPr>
      </p:sp>
      <p:sp>
        <p:nvSpPr>
          <p:cNvPr id="860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88066" name="Rectangle 2"/>
          <p:cNvSpPr>
            <a:spLocks noTextEdit="1"/>
          </p:cNvSpPr>
          <p:nvPr>
            <p:ph type="sldImg"/>
          </p:nvPr>
        </p:nvSpPr>
        <p:spPr>
          <a:ln/>
        </p:spPr>
      </p:sp>
      <p:sp>
        <p:nvSpPr>
          <p:cNvPr id="880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90114" name="Rectangle 2"/>
          <p:cNvSpPr>
            <a:spLocks noTextEdit="1"/>
          </p:cNvSpPr>
          <p:nvPr>
            <p:ph type="sldImg"/>
          </p:nvPr>
        </p:nvSpPr>
        <p:spPr>
          <a:ln/>
        </p:spPr>
      </p:sp>
      <p:sp>
        <p:nvSpPr>
          <p:cNvPr id="901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92162" name="Rectangle 2"/>
          <p:cNvSpPr>
            <a:spLocks noTextEdit="1"/>
          </p:cNvSpPr>
          <p:nvPr>
            <p:ph type="sldImg"/>
          </p:nvPr>
        </p:nvSpPr>
        <p:spPr>
          <a:ln/>
        </p:spPr>
      </p:sp>
      <p:sp>
        <p:nvSpPr>
          <p:cNvPr id="921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95234" name="Rectangle 2"/>
          <p:cNvSpPr>
            <a:spLocks noTextEdit="1"/>
          </p:cNvSpPr>
          <p:nvPr>
            <p:ph type="sldImg"/>
          </p:nvPr>
        </p:nvSpPr>
        <p:spPr>
          <a:ln/>
        </p:spPr>
      </p:sp>
      <p:sp>
        <p:nvSpPr>
          <p:cNvPr id="9523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97282" name="Rectangle 2"/>
          <p:cNvSpPr>
            <a:spLocks noTextEdit="1"/>
          </p:cNvSpPr>
          <p:nvPr>
            <p:ph type="sldImg"/>
          </p:nvPr>
        </p:nvSpPr>
        <p:spPr>
          <a:ln/>
        </p:spPr>
      </p:sp>
      <p:sp>
        <p:nvSpPr>
          <p:cNvPr id="9728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99330" name="Rectangle 2"/>
          <p:cNvSpPr>
            <a:spLocks noTextEdit="1"/>
          </p:cNvSpPr>
          <p:nvPr>
            <p:ph type="sldImg"/>
          </p:nvPr>
        </p:nvSpPr>
        <p:spPr>
          <a:ln/>
        </p:spPr>
      </p:sp>
      <p:sp>
        <p:nvSpPr>
          <p:cNvPr id="9933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1378" name="Rectangle 2"/>
          <p:cNvSpPr>
            <a:spLocks noTextEdit="1"/>
          </p:cNvSpPr>
          <p:nvPr>
            <p:ph type="sldImg"/>
          </p:nvPr>
        </p:nvSpPr>
        <p:spPr>
          <a:ln/>
        </p:spPr>
      </p:sp>
      <p:sp>
        <p:nvSpPr>
          <p:cNvPr id="1013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3426" name="Rectangle 2"/>
          <p:cNvSpPr>
            <a:spLocks noTextEdit="1"/>
          </p:cNvSpPr>
          <p:nvPr>
            <p:ph type="sldImg"/>
          </p:nvPr>
        </p:nvSpPr>
        <p:spPr>
          <a:ln/>
        </p:spPr>
      </p:sp>
      <p:sp>
        <p:nvSpPr>
          <p:cNvPr id="1034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5474" name="Rectangle 2"/>
          <p:cNvSpPr>
            <a:spLocks noTextEdit="1"/>
          </p:cNvSpPr>
          <p:nvPr>
            <p:ph type="sldImg"/>
          </p:nvPr>
        </p:nvSpPr>
        <p:spPr>
          <a:ln/>
        </p:spPr>
      </p:sp>
      <p:sp>
        <p:nvSpPr>
          <p:cNvPr id="1054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7522" name="Rectangle 2"/>
          <p:cNvSpPr>
            <a:spLocks noTextEdit="1"/>
          </p:cNvSpPr>
          <p:nvPr>
            <p:ph type="sldImg"/>
          </p:nvPr>
        </p:nvSpPr>
        <p:spPr>
          <a:ln/>
        </p:spPr>
      </p:sp>
      <p:sp>
        <p:nvSpPr>
          <p:cNvPr id="1075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09570" name="Rectangle 2"/>
          <p:cNvSpPr>
            <a:spLocks noTextEdit="1"/>
          </p:cNvSpPr>
          <p:nvPr>
            <p:ph type="sldImg"/>
          </p:nvPr>
        </p:nvSpPr>
        <p:spPr>
          <a:ln/>
        </p:spPr>
      </p:sp>
      <p:sp>
        <p:nvSpPr>
          <p:cNvPr id="1095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11618" name="Rectangle 2"/>
          <p:cNvSpPr>
            <a:spLocks noTextEdit="1"/>
          </p:cNvSpPr>
          <p:nvPr>
            <p:ph type="sldImg"/>
          </p:nvPr>
        </p:nvSpPr>
        <p:spPr>
          <a:ln/>
        </p:spPr>
      </p:sp>
      <p:sp>
        <p:nvSpPr>
          <p:cNvPr id="1116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13666" name="Rectangle 2"/>
          <p:cNvSpPr>
            <a:spLocks noTextEdit="1"/>
          </p:cNvSpPr>
          <p:nvPr>
            <p:ph type="sldImg"/>
          </p:nvPr>
        </p:nvSpPr>
        <p:spPr>
          <a:ln/>
        </p:spPr>
      </p:sp>
      <p:sp>
        <p:nvSpPr>
          <p:cNvPr id="1136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15714" name="Rectangle 2"/>
          <p:cNvSpPr>
            <a:spLocks noTextEdit="1"/>
          </p:cNvSpPr>
          <p:nvPr>
            <p:ph type="sldImg"/>
          </p:nvPr>
        </p:nvSpPr>
        <p:spPr>
          <a:ln/>
        </p:spPr>
      </p:sp>
      <p:sp>
        <p:nvSpPr>
          <p:cNvPr id="1157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17762" name="Rectangle 2"/>
          <p:cNvSpPr>
            <a:spLocks noTextEdit="1"/>
          </p:cNvSpPr>
          <p:nvPr>
            <p:ph type="sldImg"/>
          </p:nvPr>
        </p:nvSpPr>
        <p:spPr>
          <a:ln/>
        </p:spPr>
      </p:sp>
      <p:sp>
        <p:nvSpPr>
          <p:cNvPr id="1177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19810" name="Rectangle 2"/>
          <p:cNvSpPr>
            <a:spLocks noTextEdit="1"/>
          </p:cNvSpPr>
          <p:nvPr>
            <p:ph type="sldImg"/>
          </p:nvPr>
        </p:nvSpPr>
        <p:spPr>
          <a:ln/>
        </p:spPr>
      </p:sp>
      <p:sp>
        <p:nvSpPr>
          <p:cNvPr id="11981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21858" name="Rectangle 2"/>
          <p:cNvSpPr>
            <a:spLocks noTextEdit="1"/>
          </p:cNvSpPr>
          <p:nvPr>
            <p:ph type="sldImg"/>
          </p:nvPr>
        </p:nvSpPr>
        <p:spPr>
          <a:ln/>
        </p:spPr>
      </p:sp>
      <p:sp>
        <p:nvSpPr>
          <p:cNvPr id="12185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23906" name="Rectangle 2"/>
          <p:cNvSpPr>
            <a:spLocks noTextEdit="1"/>
          </p:cNvSpPr>
          <p:nvPr>
            <p:ph type="sldImg"/>
          </p:nvPr>
        </p:nvSpPr>
        <p:spPr>
          <a:ln/>
        </p:spPr>
      </p:sp>
      <p:sp>
        <p:nvSpPr>
          <p:cNvPr id="12390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25954" name="Rectangle 2"/>
          <p:cNvSpPr>
            <a:spLocks noTextEdit="1"/>
          </p:cNvSpPr>
          <p:nvPr>
            <p:ph type="sldImg"/>
          </p:nvPr>
        </p:nvSpPr>
        <p:spPr>
          <a:ln/>
        </p:spPr>
      </p:sp>
      <p:sp>
        <p:nvSpPr>
          <p:cNvPr id="12595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28002" name="Rectangle 2"/>
          <p:cNvSpPr>
            <a:spLocks noTextEdit="1"/>
          </p:cNvSpPr>
          <p:nvPr>
            <p:ph type="sldImg"/>
          </p:nvPr>
        </p:nvSpPr>
        <p:spPr>
          <a:ln/>
        </p:spPr>
      </p:sp>
      <p:sp>
        <p:nvSpPr>
          <p:cNvPr id="12800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30050" name="Rectangle 2"/>
          <p:cNvSpPr>
            <a:spLocks noTextEdit="1"/>
          </p:cNvSpPr>
          <p:nvPr>
            <p:ph type="sldImg"/>
          </p:nvPr>
        </p:nvSpPr>
        <p:spPr>
          <a:ln/>
        </p:spPr>
      </p:sp>
      <p:sp>
        <p:nvSpPr>
          <p:cNvPr id="13005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32098" name="Rectangle 2"/>
          <p:cNvSpPr>
            <a:spLocks noTextEdit="1"/>
          </p:cNvSpPr>
          <p:nvPr>
            <p:ph type="sldImg"/>
          </p:nvPr>
        </p:nvSpPr>
        <p:spPr>
          <a:ln/>
        </p:spPr>
      </p:sp>
      <p:sp>
        <p:nvSpPr>
          <p:cNvPr id="13209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34146" name="Rectangle 2"/>
          <p:cNvSpPr>
            <a:spLocks noTextEdit="1"/>
          </p:cNvSpPr>
          <p:nvPr>
            <p:ph type="sldImg"/>
          </p:nvPr>
        </p:nvSpPr>
        <p:spPr>
          <a:ln/>
        </p:spPr>
      </p:sp>
      <p:sp>
        <p:nvSpPr>
          <p:cNvPr id="13414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36194" name="Rectangle 2"/>
          <p:cNvSpPr>
            <a:spLocks noTextEdit="1"/>
          </p:cNvSpPr>
          <p:nvPr>
            <p:ph type="sldImg"/>
          </p:nvPr>
        </p:nvSpPr>
        <p:spPr>
          <a:ln/>
        </p:spPr>
      </p:sp>
      <p:sp>
        <p:nvSpPr>
          <p:cNvPr id="13619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38242" name="Rectangle 2"/>
          <p:cNvSpPr>
            <a:spLocks noTextEdit="1"/>
          </p:cNvSpPr>
          <p:nvPr>
            <p:ph type="sldImg"/>
          </p:nvPr>
        </p:nvSpPr>
        <p:spPr>
          <a:ln/>
        </p:spPr>
      </p:sp>
      <p:sp>
        <p:nvSpPr>
          <p:cNvPr id="1382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0290" name="Rectangle 2"/>
          <p:cNvSpPr>
            <a:spLocks noTextEdit="1"/>
          </p:cNvSpPr>
          <p:nvPr>
            <p:ph type="sldImg"/>
          </p:nvPr>
        </p:nvSpPr>
        <p:spPr>
          <a:ln/>
        </p:spPr>
      </p:sp>
      <p:sp>
        <p:nvSpPr>
          <p:cNvPr id="14029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2338" name="Rectangle 2"/>
          <p:cNvSpPr>
            <a:spLocks noTextEdit="1"/>
          </p:cNvSpPr>
          <p:nvPr>
            <p:ph type="sldImg"/>
          </p:nvPr>
        </p:nvSpPr>
        <p:spPr>
          <a:ln/>
        </p:spPr>
      </p:sp>
      <p:sp>
        <p:nvSpPr>
          <p:cNvPr id="1423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4386" name="Rectangle 2"/>
          <p:cNvSpPr>
            <a:spLocks noTextEdit="1"/>
          </p:cNvSpPr>
          <p:nvPr>
            <p:ph type="sldImg"/>
          </p:nvPr>
        </p:nvSpPr>
        <p:spPr>
          <a:ln/>
        </p:spPr>
      </p:sp>
      <p:sp>
        <p:nvSpPr>
          <p:cNvPr id="1443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6434" name="Rectangle 2"/>
          <p:cNvSpPr>
            <a:spLocks noTextEdit="1"/>
          </p:cNvSpPr>
          <p:nvPr>
            <p:ph type="sldImg"/>
          </p:nvPr>
        </p:nvSpPr>
        <p:spPr>
          <a:ln/>
        </p:spPr>
      </p:sp>
      <p:sp>
        <p:nvSpPr>
          <p:cNvPr id="14643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48482" name="Rectangle 2"/>
          <p:cNvSpPr>
            <a:spLocks noTextEdit="1"/>
          </p:cNvSpPr>
          <p:nvPr>
            <p:ph type="sldImg"/>
          </p:nvPr>
        </p:nvSpPr>
        <p:spPr>
          <a:ln/>
        </p:spPr>
      </p:sp>
      <p:sp>
        <p:nvSpPr>
          <p:cNvPr id="14848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50530" name="Rectangle 2"/>
          <p:cNvSpPr>
            <a:spLocks noTextEdit="1"/>
          </p:cNvSpPr>
          <p:nvPr>
            <p:ph type="sldImg"/>
          </p:nvPr>
        </p:nvSpPr>
        <p:spPr>
          <a:ln/>
        </p:spPr>
      </p:sp>
      <p:sp>
        <p:nvSpPr>
          <p:cNvPr id="15053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52578" name="Rectangle 2"/>
          <p:cNvSpPr>
            <a:spLocks noTextEdit="1"/>
          </p:cNvSpPr>
          <p:nvPr>
            <p:ph type="sldImg"/>
          </p:nvPr>
        </p:nvSpPr>
        <p:spPr>
          <a:ln/>
        </p:spPr>
      </p:sp>
      <p:sp>
        <p:nvSpPr>
          <p:cNvPr id="1525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54626" name="Rectangle 2"/>
          <p:cNvSpPr>
            <a:spLocks noTextEdit="1"/>
          </p:cNvSpPr>
          <p:nvPr>
            <p:ph type="sldImg"/>
          </p:nvPr>
        </p:nvSpPr>
        <p:spPr>
          <a:ln/>
        </p:spPr>
      </p:sp>
      <p:sp>
        <p:nvSpPr>
          <p:cNvPr id="1546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56674" name="Rectangle 2"/>
          <p:cNvSpPr>
            <a:spLocks noTextEdit="1"/>
          </p:cNvSpPr>
          <p:nvPr>
            <p:ph type="sldImg"/>
          </p:nvPr>
        </p:nvSpPr>
        <p:spPr>
          <a:ln/>
        </p:spPr>
      </p:sp>
      <p:sp>
        <p:nvSpPr>
          <p:cNvPr id="1566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58722" name="Rectangle 2"/>
          <p:cNvSpPr>
            <a:spLocks noTextEdit="1"/>
          </p:cNvSpPr>
          <p:nvPr>
            <p:ph type="sldImg"/>
          </p:nvPr>
        </p:nvSpPr>
        <p:spPr>
          <a:ln/>
        </p:spPr>
      </p:sp>
      <p:sp>
        <p:nvSpPr>
          <p:cNvPr id="1587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0770" name="Rectangle 2"/>
          <p:cNvSpPr>
            <a:spLocks noTextEdit="1"/>
          </p:cNvSpPr>
          <p:nvPr>
            <p:ph type="sldImg"/>
          </p:nvPr>
        </p:nvSpPr>
        <p:spPr>
          <a:ln/>
        </p:spPr>
      </p:sp>
      <p:sp>
        <p:nvSpPr>
          <p:cNvPr id="1607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2818" name="Rectangle 2"/>
          <p:cNvSpPr>
            <a:spLocks noTextEdit="1"/>
          </p:cNvSpPr>
          <p:nvPr>
            <p:ph type="sldImg"/>
          </p:nvPr>
        </p:nvSpPr>
        <p:spPr>
          <a:ln/>
        </p:spPr>
      </p:sp>
      <p:sp>
        <p:nvSpPr>
          <p:cNvPr id="1628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4866" name="Rectangle 2"/>
          <p:cNvSpPr>
            <a:spLocks noTextEdit="1"/>
          </p:cNvSpPr>
          <p:nvPr>
            <p:ph type="sldImg"/>
          </p:nvPr>
        </p:nvSpPr>
        <p:spPr>
          <a:ln/>
        </p:spPr>
      </p:sp>
      <p:sp>
        <p:nvSpPr>
          <p:cNvPr id="1648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6914" name="Rectangle 2"/>
          <p:cNvSpPr>
            <a:spLocks noTextEdit="1"/>
          </p:cNvSpPr>
          <p:nvPr>
            <p:ph type="sldImg"/>
          </p:nvPr>
        </p:nvSpPr>
        <p:spPr>
          <a:ln/>
        </p:spPr>
      </p:sp>
      <p:sp>
        <p:nvSpPr>
          <p:cNvPr id="1669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68962" name="Rectangle 2"/>
          <p:cNvSpPr>
            <a:spLocks noTextEdit="1"/>
          </p:cNvSpPr>
          <p:nvPr>
            <p:ph type="sldImg"/>
          </p:nvPr>
        </p:nvSpPr>
        <p:spPr>
          <a:ln/>
        </p:spPr>
      </p:sp>
      <p:sp>
        <p:nvSpPr>
          <p:cNvPr id="1689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71010" name="Rectangle 2"/>
          <p:cNvSpPr>
            <a:spLocks noTextEdit="1"/>
          </p:cNvSpPr>
          <p:nvPr>
            <p:ph type="sldImg"/>
          </p:nvPr>
        </p:nvSpPr>
        <p:spPr>
          <a:ln/>
        </p:spPr>
      </p:sp>
      <p:sp>
        <p:nvSpPr>
          <p:cNvPr id="17101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73058" name="Rectangle 2"/>
          <p:cNvSpPr>
            <a:spLocks noTextEdit="1"/>
          </p:cNvSpPr>
          <p:nvPr>
            <p:ph type="sldImg"/>
          </p:nvPr>
        </p:nvSpPr>
        <p:spPr>
          <a:ln/>
        </p:spPr>
      </p:sp>
      <p:sp>
        <p:nvSpPr>
          <p:cNvPr id="17305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75106" name="Rectangle 2"/>
          <p:cNvSpPr>
            <a:spLocks noTextEdit="1"/>
          </p:cNvSpPr>
          <p:nvPr>
            <p:ph type="sldImg"/>
          </p:nvPr>
        </p:nvSpPr>
        <p:spPr>
          <a:ln/>
        </p:spPr>
      </p:sp>
      <p:sp>
        <p:nvSpPr>
          <p:cNvPr id="17510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77154" name="Rectangle 2"/>
          <p:cNvSpPr>
            <a:spLocks noTextEdit="1"/>
          </p:cNvSpPr>
          <p:nvPr>
            <p:ph type="sldImg"/>
          </p:nvPr>
        </p:nvSpPr>
        <p:spPr>
          <a:ln/>
        </p:spPr>
      </p:sp>
      <p:sp>
        <p:nvSpPr>
          <p:cNvPr id="17715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79202" name="Rectangle 2"/>
          <p:cNvSpPr>
            <a:spLocks noTextEdit="1"/>
          </p:cNvSpPr>
          <p:nvPr>
            <p:ph type="sldImg"/>
          </p:nvPr>
        </p:nvSpPr>
        <p:spPr>
          <a:ln/>
        </p:spPr>
      </p:sp>
      <p:sp>
        <p:nvSpPr>
          <p:cNvPr id="17920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1250" name="Rectangle 2"/>
          <p:cNvSpPr>
            <a:spLocks noTextEdit="1"/>
          </p:cNvSpPr>
          <p:nvPr>
            <p:ph type="sldImg"/>
          </p:nvPr>
        </p:nvSpPr>
        <p:spPr>
          <a:ln/>
        </p:spPr>
      </p:sp>
      <p:sp>
        <p:nvSpPr>
          <p:cNvPr id="18125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3298" name="Rectangle 2"/>
          <p:cNvSpPr>
            <a:spLocks noTextEdit="1"/>
          </p:cNvSpPr>
          <p:nvPr>
            <p:ph type="sldImg"/>
          </p:nvPr>
        </p:nvSpPr>
        <p:spPr>
          <a:ln/>
        </p:spPr>
      </p:sp>
      <p:sp>
        <p:nvSpPr>
          <p:cNvPr id="18329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5346" name="Rectangle 2"/>
          <p:cNvSpPr>
            <a:spLocks noTextEdit="1"/>
          </p:cNvSpPr>
          <p:nvPr>
            <p:ph type="sldImg"/>
          </p:nvPr>
        </p:nvSpPr>
        <p:spPr>
          <a:ln/>
        </p:spPr>
      </p:sp>
      <p:sp>
        <p:nvSpPr>
          <p:cNvPr id="18534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7394" name="Rectangle 2"/>
          <p:cNvSpPr>
            <a:spLocks noTextEdit="1"/>
          </p:cNvSpPr>
          <p:nvPr>
            <p:ph type="sldImg"/>
          </p:nvPr>
        </p:nvSpPr>
        <p:spPr>
          <a:ln/>
        </p:spPr>
      </p:sp>
      <p:sp>
        <p:nvSpPr>
          <p:cNvPr id="18739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89442" name="Rectangle 2"/>
          <p:cNvSpPr>
            <a:spLocks noTextEdit="1"/>
          </p:cNvSpPr>
          <p:nvPr>
            <p:ph type="sldImg"/>
          </p:nvPr>
        </p:nvSpPr>
        <p:spPr>
          <a:ln/>
        </p:spPr>
      </p:sp>
      <p:sp>
        <p:nvSpPr>
          <p:cNvPr id="1894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91490" name="Rectangle 2"/>
          <p:cNvSpPr>
            <a:spLocks noTextEdit="1"/>
          </p:cNvSpPr>
          <p:nvPr>
            <p:ph type="sldImg"/>
          </p:nvPr>
        </p:nvSpPr>
        <p:spPr>
          <a:ln/>
        </p:spPr>
      </p:sp>
      <p:sp>
        <p:nvSpPr>
          <p:cNvPr id="19149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93538" name="Rectangle 2"/>
          <p:cNvSpPr>
            <a:spLocks noTextEdit="1"/>
          </p:cNvSpPr>
          <p:nvPr>
            <p:ph type="sldImg"/>
          </p:nvPr>
        </p:nvSpPr>
        <p:spPr>
          <a:ln/>
        </p:spPr>
      </p:sp>
      <p:sp>
        <p:nvSpPr>
          <p:cNvPr id="1935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95586" name="Rectangle 2"/>
          <p:cNvSpPr>
            <a:spLocks noTextEdit="1"/>
          </p:cNvSpPr>
          <p:nvPr>
            <p:ph type="sldImg"/>
          </p:nvPr>
        </p:nvSpPr>
        <p:spPr>
          <a:solidFill>
            <a:srgbClr val="FFFFFF"/>
          </a:solidFill>
          <a:ln/>
        </p:spPr>
      </p:sp>
      <p:sp>
        <p:nvSpPr>
          <p:cNvPr id="195587"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97634" name="Rectangle 2"/>
          <p:cNvSpPr>
            <a:spLocks noTextEdit="1"/>
          </p:cNvSpPr>
          <p:nvPr>
            <p:ph type="sldImg"/>
          </p:nvPr>
        </p:nvSpPr>
        <p:spPr>
          <a:solidFill>
            <a:srgbClr val="FFFFFF"/>
          </a:solidFill>
          <a:ln/>
        </p:spPr>
      </p:sp>
      <p:sp>
        <p:nvSpPr>
          <p:cNvPr id="19763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199682" name="Rectangle 2"/>
          <p:cNvSpPr>
            <a:spLocks noTextEdit="1"/>
          </p:cNvSpPr>
          <p:nvPr>
            <p:ph type="sldImg"/>
          </p:nvPr>
        </p:nvSpPr>
        <p:spPr>
          <a:solidFill>
            <a:srgbClr val="FFFFFF"/>
          </a:solidFill>
          <a:ln/>
        </p:spPr>
      </p:sp>
      <p:sp>
        <p:nvSpPr>
          <p:cNvPr id="199683"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1730" name="Rectangle 2"/>
          <p:cNvSpPr>
            <a:spLocks noTextEdit="1"/>
          </p:cNvSpPr>
          <p:nvPr>
            <p:ph type="sldImg"/>
          </p:nvPr>
        </p:nvSpPr>
        <p:spPr>
          <a:solidFill>
            <a:srgbClr val="FFFFFF"/>
          </a:solidFill>
          <a:ln/>
        </p:spPr>
      </p:sp>
      <p:sp>
        <p:nvSpPr>
          <p:cNvPr id="201731"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3778" name="Rectangle 2"/>
          <p:cNvSpPr>
            <a:spLocks noTextEdit="1"/>
          </p:cNvSpPr>
          <p:nvPr>
            <p:ph type="sldImg"/>
          </p:nvPr>
        </p:nvSpPr>
        <p:spPr>
          <a:ln/>
        </p:spPr>
      </p:sp>
      <p:sp>
        <p:nvSpPr>
          <p:cNvPr id="2037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5826" name="Rectangle 2"/>
          <p:cNvSpPr>
            <a:spLocks noTextEdit="1"/>
          </p:cNvSpPr>
          <p:nvPr>
            <p:ph type="sldImg"/>
          </p:nvPr>
        </p:nvSpPr>
        <p:spPr>
          <a:ln/>
        </p:spPr>
      </p:sp>
      <p:sp>
        <p:nvSpPr>
          <p:cNvPr id="2058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7874" name="Rectangle 2"/>
          <p:cNvSpPr>
            <a:spLocks noTextEdit="1"/>
          </p:cNvSpPr>
          <p:nvPr>
            <p:ph type="sldImg"/>
          </p:nvPr>
        </p:nvSpPr>
        <p:spPr>
          <a:ln/>
        </p:spPr>
      </p:sp>
      <p:sp>
        <p:nvSpPr>
          <p:cNvPr id="2078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09922" name="Rectangle 2"/>
          <p:cNvSpPr>
            <a:spLocks noTextEdit="1"/>
          </p:cNvSpPr>
          <p:nvPr>
            <p:ph type="sldImg"/>
          </p:nvPr>
        </p:nvSpPr>
        <p:spPr>
          <a:ln/>
        </p:spPr>
      </p:sp>
      <p:sp>
        <p:nvSpPr>
          <p:cNvPr id="2099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11970" name="Rectangle 2"/>
          <p:cNvSpPr>
            <a:spLocks noTextEdit="1"/>
          </p:cNvSpPr>
          <p:nvPr>
            <p:ph type="sldImg"/>
          </p:nvPr>
        </p:nvSpPr>
        <p:spPr>
          <a:ln/>
        </p:spPr>
      </p:sp>
      <p:sp>
        <p:nvSpPr>
          <p:cNvPr id="2119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14018" name="Rectangle 2"/>
          <p:cNvSpPr>
            <a:spLocks noTextEdit="1"/>
          </p:cNvSpPr>
          <p:nvPr>
            <p:ph type="sldImg"/>
          </p:nvPr>
        </p:nvSpPr>
        <p:spPr>
          <a:ln/>
        </p:spPr>
      </p:sp>
      <p:sp>
        <p:nvSpPr>
          <p:cNvPr id="2140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16066" name="Rectangle 2"/>
          <p:cNvSpPr>
            <a:spLocks noTextEdit="1"/>
          </p:cNvSpPr>
          <p:nvPr>
            <p:ph type="sldImg"/>
          </p:nvPr>
        </p:nvSpPr>
        <p:spPr>
          <a:ln/>
        </p:spPr>
      </p:sp>
      <p:sp>
        <p:nvSpPr>
          <p:cNvPr id="2160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18114" name="Rectangle 2"/>
          <p:cNvSpPr>
            <a:spLocks noTextEdit="1"/>
          </p:cNvSpPr>
          <p:nvPr>
            <p:ph type="sldImg"/>
          </p:nvPr>
        </p:nvSpPr>
        <p:spPr>
          <a:ln/>
        </p:spPr>
      </p:sp>
      <p:sp>
        <p:nvSpPr>
          <p:cNvPr id="2181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0162" name="Rectangle 2"/>
          <p:cNvSpPr>
            <a:spLocks noTextEdit="1"/>
          </p:cNvSpPr>
          <p:nvPr>
            <p:ph type="sldImg"/>
          </p:nvPr>
        </p:nvSpPr>
        <p:spPr>
          <a:ln/>
        </p:spPr>
      </p:sp>
      <p:sp>
        <p:nvSpPr>
          <p:cNvPr id="2201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2210" name="Rectangle 2"/>
          <p:cNvSpPr>
            <a:spLocks noTextEdit="1"/>
          </p:cNvSpPr>
          <p:nvPr>
            <p:ph type="sldImg"/>
          </p:nvPr>
        </p:nvSpPr>
        <p:spPr>
          <a:ln/>
        </p:spPr>
      </p:sp>
      <p:sp>
        <p:nvSpPr>
          <p:cNvPr id="22221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4258" name="Rectangle 2"/>
          <p:cNvSpPr>
            <a:spLocks noTextEdit="1"/>
          </p:cNvSpPr>
          <p:nvPr>
            <p:ph type="sldImg"/>
          </p:nvPr>
        </p:nvSpPr>
        <p:spPr>
          <a:ln/>
        </p:spPr>
      </p:sp>
      <p:sp>
        <p:nvSpPr>
          <p:cNvPr id="22425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6306" name="Rectangle 2"/>
          <p:cNvSpPr>
            <a:spLocks noTextEdit="1"/>
          </p:cNvSpPr>
          <p:nvPr>
            <p:ph type="sldImg"/>
          </p:nvPr>
        </p:nvSpPr>
        <p:spPr>
          <a:ln/>
        </p:spPr>
      </p:sp>
      <p:sp>
        <p:nvSpPr>
          <p:cNvPr id="22630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28354" name="Rectangle 2"/>
          <p:cNvSpPr>
            <a:spLocks noTextEdit="1"/>
          </p:cNvSpPr>
          <p:nvPr>
            <p:ph type="sldImg"/>
          </p:nvPr>
        </p:nvSpPr>
        <p:spPr>
          <a:ln/>
        </p:spPr>
      </p:sp>
      <p:sp>
        <p:nvSpPr>
          <p:cNvPr id="22835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30402" name="Rectangle 2"/>
          <p:cNvSpPr>
            <a:spLocks noTextEdit="1"/>
          </p:cNvSpPr>
          <p:nvPr>
            <p:ph type="sldImg"/>
          </p:nvPr>
        </p:nvSpPr>
        <p:spPr>
          <a:ln/>
        </p:spPr>
      </p:sp>
      <p:sp>
        <p:nvSpPr>
          <p:cNvPr id="23040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32450" name="Rectangle 2"/>
          <p:cNvSpPr>
            <a:spLocks noTextEdit="1"/>
          </p:cNvSpPr>
          <p:nvPr>
            <p:ph type="sldImg"/>
          </p:nvPr>
        </p:nvSpPr>
        <p:spPr>
          <a:ln/>
        </p:spPr>
      </p:sp>
      <p:sp>
        <p:nvSpPr>
          <p:cNvPr id="23245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34498" name="Rectangle 2"/>
          <p:cNvSpPr>
            <a:spLocks noTextEdit="1"/>
          </p:cNvSpPr>
          <p:nvPr>
            <p:ph type="sldImg"/>
          </p:nvPr>
        </p:nvSpPr>
        <p:spPr>
          <a:ln/>
        </p:spPr>
      </p:sp>
      <p:sp>
        <p:nvSpPr>
          <p:cNvPr id="23449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36546" name="Rectangle 2"/>
          <p:cNvSpPr>
            <a:spLocks noTextEdit="1"/>
          </p:cNvSpPr>
          <p:nvPr>
            <p:ph type="sldImg"/>
          </p:nvPr>
        </p:nvSpPr>
        <p:spPr>
          <a:ln/>
        </p:spPr>
      </p:sp>
      <p:sp>
        <p:nvSpPr>
          <p:cNvPr id="23654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38594" name="Rectangle 2"/>
          <p:cNvSpPr>
            <a:spLocks noTextEdit="1"/>
          </p:cNvSpPr>
          <p:nvPr>
            <p:ph type="sldImg"/>
          </p:nvPr>
        </p:nvSpPr>
        <p:spPr>
          <a:ln/>
        </p:spPr>
      </p:sp>
      <p:sp>
        <p:nvSpPr>
          <p:cNvPr id="23859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0642" name="Rectangle 2"/>
          <p:cNvSpPr>
            <a:spLocks noTextEdit="1"/>
          </p:cNvSpPr>
          <p:nvPr>
            <p:ph type="sldImg"/>
          </p:nvPr>
        </p:nvSpPr>
        <p:spPr>
          <a:ln/>
        </p:spPr>
      </p:sp>
      <p:sp>
        <p:nvSpPr>
          <p:cNvPr id="2406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2690" name="Rectangle 2"/>
          <p:cNvSpPr>
            <a:spLocks noTextEdit="1"/>
          </p:cNvSpPr>
          <p:nvPr>
            <p:ph type="sldImg"/>
          </p:nvPr>
        </p:nvSpPr>
        <p:spPr>
          <a:ln/>
        </p:spPr>
      </p:sp>
      <p:sp>
        <p:nvSpPr>
          <p:cNvPr id="24269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4738" name="Rectangle 2"/>
          <p:cNvSpPr>
            <a:spLocks noTextEdit="1"/>
          </p:cNvSpPr>
          <p:nvPr>
            <p:ph type="sldImg"/>
          </p:nvPr>
        </p:nvSpPr>
        <p:spPr>
          <a:ln/>
        </p:spPr>
      </p:sp>
      <p:sp>
        <p:nvSpPr>
          <p:cNvPr id="2447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6786" name="Rectangle 2"/>
          <p:cNvSpPr>
            <a:spLocks noTextEdit="1"/>
          </p:cNvSpPr>
          <p:nvPr>
            <p:ph type="sldImg"/>
          </p:nvPr>
        </p:nvSpPr>
        <p:spPr>
          <a:ln/>
        </p:spPr>
      </p:sp>
      <p:sp>
        <p:nvSpPr>
          <p:cNvPr id="2467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48834" name="Rectangle 2"/>
          <p:cNvSpPr>
            <a:spLocks noTextEdit="1"/>
          </p:cNvSpPr>
          <p:nvPr>
            <p:ph type="sldImg"/>
          </p:nvPr>
        </p:nvSpPr>
        <p:spPr>
          <a:ln/>
        </p:spPr>
      </p:sp>
      <p:sp>
        <p:nvSpPr>
          <p:cNvPr id="24883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50882" name="Rectangle 2"/>
          <p:cNvSpPr>
            <a:spLocks noTextEdit="1"/>
          </p:cNvSpPr>
          <p:nvPr>
            <p:ph type="sldImg"/>
          </p:nvPr>
        </p:nvSpPr>
        <p:spPr>
          <a:ln/>
        </p:spPr>
      </p:sp>
      <p:sp>
        <p:nvSpPr>
          <p:cNvPr id="25088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52930" name="Rectangle 2"/>
          <p:cNvSpPr>
            <a:spLocks noTextEdit="1"/>
          </p:cNvSpPr>
          <p:nvPr>
            <p:ph type="sldImg"/>
          </p:nvPr>
        </p:nvSpPr>
        <p:spPr>
          <a:ln/>
        </p:spPr>
      </p:sp>
      <p:sp>
        <p:nvSpPr>
          <p:cNvPr id="25293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54978" name="Rectangle 2"/>
          <p:cNvSpPr>
            <a:spLocks noTextEdit="1"/>
          </p:cNvSpPr>
          <p:nvPr>
            <p:ph type="sldImg"/>
          </p:nvPr>
        </p:nvSpPr>
        <p:spPr>
          <a:ln/>
        </p:spPr>
      </p:sp>
      <p:sp>
        <p:nvSpPr>
          <p:cNvPr id="25497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57026" name="Rectangle 2"/>
          <p:cNvSpPr>
            <a:spLocks noTextEdit="1"/>
          </p:cNvSpPr>
          <p:nvPr>
            <p:ph type="sldImg"/>
          </p:nvPr>
        </p:nvSpPr>
        <p:spPr>
          <a:ln/>
        </p:spPr>
      </p:sp>
      <p:sp>
        <p:nvSpPr>
          <p:cNvPr id="2570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59074" name="Rectangle 2"/>
          <p:cNvSpPr>
            <a:spLocks noTextEdit="1"/>
          </p:cNvSpPr>
          <p:nvPr>
            <p:ph type="sldImg"/>
          </p:nvPr>
        </p:nvSpPr>
        <p:spPr>
          <a:ln/>
        </p:spPr>
      </p:sp>
      <p:sp>
        <p:nvSpPr>
          <p:cNvPr id="2590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1122" name="Rectangle 2"/>
          <p:cNvSpPr>
            <a:spLocks noTextEdit="1"/>
          </p:cNvSpPr>
          <p:nvPr>
            <p:ph type="sldImg"/>
          </p:nvPr>
        </p:nvSpPr>
        <p:spPr>
          <a:ln/>
        </p:spPr>
      </p:sp>
      <p:sp>
        <p:nvSpPr>
          <p:cNvPr id="2611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3170" name="Rectangle 2"/>
          <p:cNvSpPr>
            <a:spLocks noTextEdit="1"/>
          </p:cNvSpPr>
          <p:nvPr>
            <p:ph type="sldImg"/>
          </p:nvPr>
        </p:nvSpPr>
        <p:spPr>
          <a:ln/>
        </p:spPr>
      </p:sp>
      <p:sp>
        <p:nvSpPr>
          <p:cNvPr id="2631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5218" name="Rectangle 2"/>
          <p:cNvSpPr>
            <a:spLocks noTextEdit="1"/>
          </p:cNvSpPr>
          <p:nvPr>
            <p:ph type="sldImg"/>
          </p:nvPr>
        </p:nvSpPr>
        <p:spPr>
          <a:ln/>
        </p:spPr>
      </p:sp>
      <p:sp>
        <p:nvSpPr>
          <p:cNvPr id="2652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7266" name="Rectangle 2"/>
          <p:cNvSpPr>
            <a:spLocks noTextEdit="1"/>
          </p:cNvSpPr>
          <p:nvPr>
            <p:ph type="sldImg"/>
          </p:nvPr>
        </p:nvSpPr>
        <p:spPr>
          <a:ln/>
        </p:spPr>
      </p:sp>
      <p:sp>
        <p:nvSpPr>
          <p:cNvPr id="2672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69314" name="Rectangle 2"/>
          <p:cNvSpPr>
            <a:spLocks noTextEdit="1"/>
          </p:cNvSpPr>
          <p:nvPr>
            <p:ph type="sldImg"/>
          </p:nvPr>
        </p:nvSpPr>
        <p:spPr>
          <a:ln/>
        </p:spPr>
      </p:sp>
      <p:sp>
        <p:nvSpPr>
          <p:cNvPr id="2693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71362" name="Rectangle 2"/>
          <p:cNvSpPr>
            <a:spLocks noTextEdit="1"/>
          </p:cNvSpPr>
          <p:nvPr>
            <p:ph type="sldImg"/>
          </p:nvPr>
        </p:nvSpPr>
        <p:spPr>
          <a:ln/>
        </p:spPr>
      </p:sp>
      <p:sp>
        <p:nvSpPr>
          <p:cNvPr id="2713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latin typeface="Century" panose="02040604050505020304" pitchFamily="18" charset="0"/>
              </a:rPr>
            </a:fld>
            <a:endParaRPr lang="en-US" altLang="zh-CN" sz="1200" dirty="0">
              <a:latin typeface="Century" panose="02040604050505020304" pitchFamily="18" charset="0"/>
            </a:endParaRPr>
          </a:p>
        </p:txBody>
      </p:sp>
      <p:sp>
        <p:nvSpPr>
          <p:cNvPr id="273410" name="Rectangle 2"/>
          <p:cNvSpPr>
            <a:spLocks noTextEdit="1"/>
          </p:cNvSpPr>
          <p:nvPr>
            <p:ph type="sldImg"/>
          </p:nvPr>
        </p:nvSpPr>
        <p:spPr>
          <a:ln/>
        </p:spPr>
      </p:sp>
      <p:sp>
        <p:nvSpPr>
          <p:cNvPr id="27341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33570" name="Rectangle 2"/>
          <p:cNvSpPr>
            <a:spLocks noGrp="1" noChangeArrowheads="1"/>
          </p:cNvSpPr>
          <p:nvPr>
            <p:ph type="ctrTitle"/>
          </p:nvPr>
        </p:nvSpPr>
        <p:spPr>
          <a:xfrm>
            <a:off x="2514600" y="3962400"/>
            <a:ext cx="5638800" cy="1295400"/>
          </a:xfrm>
        </p:spPr>
        <p:txBody>
          <a:bodyPr/>
          <a:lstStyle>
            <a:lvl1pPr>
              <a:lnSpc>
                <a:spcPct val="80000"/>
              </a:lnSpc>
              <a:defRPr sz="4000"/>
            </a:lvl1pPr>
          </a:lstStyle>
          <a:p>
            <a:pPr fontAlgn="base"/>
            <a:r>
              <a:rPr lang="zh-CN" altLang="en-US" strike="noStrike" noProof="1"/>
              <a:t>单击此处编辑母版标题样式</a:t>
            </a:r>
            <a:endParaRPr lang="zh-CN" altLang="en-US" strike="noStrike" noProof="1"/>
          </a:p>
        </p:txBody>
      </p:sp>
      <p:sp>
        <p:nvSpPr>
          <p:cNvPr id="1133571" name="Rectangle 3"/>
          <p:cNvSpPr>
            <a:spLocks noGrp="1" noChangeArrowheads="1"/>
          </p:cNvSpPr>
          <p:nvPr>
            <p:ph type="subTitle" idx="1"/>
          </p:nvPr>
        </p:nvSpPr>
        <p:spPr>
          <a:xfrm>
            <a:off x="2514600" y="5486400"/>
            <a:ext cx="5638800" cy="609600"/>
          </a:xfrm>
        </p:spPr>
        <p:txBody>
          <a:bodyPr/>
          <a:lstStyle>
            <a:lvl1pPr marL="0" indent="0">
              <a:buFontTx/>
              <a:buNone/>
              <a:defRPr sz="2800"/>
            </a:lvl1pPr>
          </a:lstStyle>
          <a:p>
            <a:pPr fontAlgn="base"/>
            <a:r>
              <a:rPr lang="zh-CN" altLang="en-US" strike="noStrike" noProof="1"/>
              <a:t>单击此处编辑母版副标题样式</a:t>
            </a:r>
            <a:endParaRPr lang="zh-CN" altLang="en-US" strike="noStrike" noProof="1"/>
          </a:p>
        </p:txBody>
      </p:sp>
      <p:sp>
        <p:nvSpPr>
          <p:cNvPr id="7" name="Rectangle 4"/>
          <p:cNvSpPr>
            <a:spLocks noGrp="1" noChangeArrowheads="1"/>
          </p:cNvSpPr>
          <p:nvPr>
            <p:ph type="dt" sz="half" idx="2"/>
          </p:nvPr>
        </p:nvSpPr>
        <p:spPr bwMode="auto">
          <a:xfrm>
            <a:off x="2286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2362200" y="6248400"/>
            <a:ext cx="43434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70104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F214C57-E576-4373-95B8-AFA0C7D199D0}"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3716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10100" y="13716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90488"/>
            <a:ext cx="2038350" cy="585311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90488"/>
            <a:ext cx="5962650" cy="585311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101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101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101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101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101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33570" name="Rectangle 2"/>
          <p:cNvSpPr>
            <a:spLocks noGrp="1" noChangeArrowheads="1"/>
          </p:cNvSpPr>
          <p:nvPr>
            <p:ph type="ctrTitle"/>
          </p:nvPr>
        </p:nvSpPr>
        <p:spPr>
          <a:xfrm>
            <a:off x="2514600" y="3962400"/>
            <a:ext cx="5638800" cy="1295400"/>
          </a:xfrm>
        </p:spPr>
        <p:txBody>
          <a:bodyPr/>
          <a:lstStyle>
            <a:lvl1pPr>
              <a:lnSpc>
                <a:spcPct val="80000"/>
              </a:lnSpc>
              <a:defRPr sz="4000"/>
            </a:lvl1pPr>
          </a:lstStyle>
          <a:p>
            <a:pPr fontAlgn="base"/>
            <a:r>
              <a:rPr lang="zh-CN" altLang="en-US" strike="noStrike" noProof="1"/>
              <a:t>单击此处编辑母版标题样式</a:t>
            </a:r>
            <a:endParaRPr lang="zh-CN" altLang="en-US" strike="noStrike" noProof="1"/>
          </a:p>
        </p:txBody>
      </p:sp>
      <p:sp>
        <p:nvSpPr>
          <p:cNvPr id="1133571" name="Rectangle 3"/>
          <p:cNvSpPr>
            <a:spLocks noGrp="1" noChangeArrowheads="1"/>
          </p:cNvSpPr>
          <p:nvPr>
            <p:ph type="subTitle" idx="1"/>
          </p:nvPr>
        </p:nvSpPr>
        <p:spPr>
          <a:xfrm>
            <a:off x="2514600" y="5486400"/>
            <a:ext cx="5638800" cy="609600"/>
          </a:xfrm>
        </p:spPr>
        <p:txBody>
          <a:bodyPr/>
          <a:lstStyle>
            <a:lvl1pPr marL="0" indent="0">
              <a:buFontTx/>
              <a:buNone/>
              <a:defRPr sz="2800"/>
            </a:lvl1pPr>
          </a:lstStyle>
          <a:p>
            <a:pPr fontAlgn="base"/>
            <a:r>
              <a:rPr lang="zh-CN" altLang="en-US" strike="noStrike" noProof="1"/>
              <a:t>单击此处编辑母版副标题样式</a:t>
            </a:r>
            <a:endParaRPr lang="zh-CN" altLang="en-US" strike="noStrike" noProof="1"/>
          </a:p>
        </p:txBody>
      </p:sp>
      <p:sp>
        <p:nvSpPr>
          <p:cNvPr id="7" name="Rectangle 4"/>
          <p:cNvSpPr>
            <a:spLocks noGrp="1" noChangeArrowheads="1"/>
          </p:cNvSpPr>
          <p:nvPr>
            <p:ph type="dt" sz="half" idx="2"/>
          </p:nvPr>
        </p:nvSpPr>
        <p:spPr bwMode="auto">
          <a:xfrm>
            <a:off x="2286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2362200" y="6248400"/>
            <a:ext cx="43434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70104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F214C57-E576-4373-95B8-AFA0C7D199D0}"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3716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10100" y="13716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90488"/>
            <a:ext cx="2038350" cy="585311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90488"/>
            <a:ext cx="5962650" cy="585311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101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371600"/>
            <a:ext cx="4000500" cy="45720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101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101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2590800" y="90488"/>
            <a:ext cx="6019800" cy="1190625"/>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4572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10100" y="13716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572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10100" y="3733800"/>
            <a:ext cx="4000500"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Rectangle 2"/>
          <p:cNvSpPr>
            <a:spLocks noGrp="1"/>
          </p:cNvSpPr>
          <p:nvPr>
            <p:ph type="title"/>
          </p:nvPr>
        </p:nvSpPr>
        <p:spPr>
          <a:xfrm>
            <a:off x="2590800" y="90488"/>
            <a:ext cx="6019800" cy="119062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371600"/>
            <a:ext cx="8153400" cy="45720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32548" name="Rectangle 4"/>
          <p:cNvSpPr>
            <a:spLocks noGrp="1" noChangeArrowheads="1"/>
          </p:cNvSpPr>
          <p:nvPr>
            <p:ph type="dt" sz="half" idx="2"/>
          </p:nvPr>
        </p:nvSpPr>
        <p:spPr bwMode="auto">
          <a:xfrm>
            <a:off x="2819400" y="6248400"/>
            <a:ext cx="12954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2549" name="Rectangle 5"/>
          <p:cNvSpPr>
            <a:spLocks noGrp="1" noChangeArrowheads="1"/>
          </p:cNvSpPr>
          <p:nvPr>
            <p:ph type="ftr" sz="quarter" idx="3"/>
          </p:nvPr>
        </p:nvSpPr>
        <p:spPr bwMode="auto">
          <a:xfrm>
            <a:off x="4267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2550" name="Rectangle 6"/>
          <p:cNvSpPr>
            <a:spLocks noGrp="1" noChangeArrowheads="1"/>
          </p:cNvSpPr>
          <p:nvPr>
            <p:ph type="sldNum" sz="quarter" idx="4"/>
          </p:nvPr>
        </p:nvSpPr>
        <p:spPr bwMode="auto">
          <a:xfrm>
            <a:off x="7315200" y="6248400"/>
            <a:ext cx="12954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lvl1pPr>
          </a:lstStyle>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randomBar dir="vert"/>
  </p:transition>
  <p:hf sldNum="0" hdr="0" ftr="0" dt="0"/>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2050" name="Rectangle 2"/>
          <p:cNvSpPr>
            <a:spLocks noGrp="1"/>
          </p:cNvSpPr>
          <p:nvPr>
            <p:ph type="title"/>
          </p:nvPr>
        </p:nvSpPr>
        <p:spPr>
          <a:xfrm>
            <a:off x="2590800" y="90488"/>
            <a:ext cx="6019800" cy="119062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p:nvPr>
        </p:nvSpPr>
        <p:spPr>
          <a:xfrm>
            <a:off x="457200" y="1371600"/>
            <a:ext cx="8153400" cy="45720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32548" name="Rectangle 4"/>
          <p:cNvSpPr>
            <a:spLocks noGrp="1" noChangeArrowheads="1"/>
          </p:cNvSpPr>
          <p:nvPr>
            <p:ph type="dt" sz="half" idx="2"/>
          </p:nvPr>
        </p:nvSpPr>
        <p:spPr bwMode="auto">
          <a:xfrm>
            <a:off x="2819400" y="6248400"/>
            <a:ext cx="12954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2549" name="Rectangle 5"/>
          <p:cNvSpPr>
            <a:spLocks noGrp="1" noChangeArrowheads="1"/>
          </p:cNvSpPr>
          <p:nvPr>
            <p:ph type="ftr" sz="quarter" idx="3"/>
          </p:nvPr>
        </p:nvSpPr>
        <p:spPr bwMode="auto">
          <a:xfrm>
            <a:off x="4267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32550" name="Rectangle 6"/>
          <p:cNvSpPr>
            <a:spLocks noGrp="1" noChangeArrowheads="1"/>
          </p:cNvSpPr>
          <p:nvPr>
            <p:ph type="sldNum" sz="quarter" idx="4"/>
          </p:nvPr>
        </p:nvSpPr>
        <p:spPr bwMode="auto">
          <a:xfrm>
            <a:off x="7315200" y="6248400"/>
            <a:ext cx="12954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lvl1pPr>
          </a:lstStyle>
          <a:p>
            <a:pPr marL="0" marR="0" lvl="0" indent="0" algn="r" defTabSz="914400" rtl="0" eaLnBrk="1" fontAlgn="base" latinLnBrk="0" hangingPunct="1">
              <a:lnSpc>
                <a:spcPct val="100000"/>
              </a:lnSpc>
              <a:spcBef>
                <a:spcPct val="0"/>
              </a:spcBef>
              <a:spcAft>
                <a:spcPct val="0"/>
              </a:spcAft>
              <a:buClrTx/>
              <a:buSzTx/>
              <a:buFontTx/>
              <a:buNone/>
              <a:defRPr/>
            </a:pPr>
            <a:fld id="{A14ECF09-A21B-4A2A-B209-38311F2C2CF7}" type="slidenum">
              <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spd="slow">
    <p:randomBar dir="vert"/>
  </p:transition>
  <p:hf sldNum="0" hdr="0" ftr="0" dt="0"/>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oleObject" Target="../embeddings/oleObject1.bin"/><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1.jpeg"/></Relationships>
</file>

<file path=ppt/slides/_rels/slide13.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3.xml"/><Relationship Id="rId7" Type="http://schemas.openxmlformats.org/officeDocument/2006/relationships/image" Target="../media/image25.png"/><Relationship Id="rId6" Type="http://schemas.openxmlformats.org/officeDocument/2006/relationships/image" Target="../media/image24.wmf"/><Relationship Id="rId5" Type="http://schemas.openxmlformats.org/officeDocument/2006/relationships/oleObject" Target="../embeddings/oleObject5.bin"/><Relationship Id="rId4" Type="http://schemas.openxmlformats.org/officeDocument/2006/relationships/image" Target="../media/image23.wmf"/><Relationship Id="rId3" Type="http://schemas.openxmlformats.org/officeDocument/2006/relationships/oleObject" Target="../embeddings/oleObject4.bin"/><Relationship Id="rId2" Type="http://schemas.openxmlformats.org/officeDocument/2006/relationships/image" Target="../media/image22.wmf"/><Relationship Id="rId10" Type="http://schemas.openxmlformats.org/officeDocument/2006/relationships/notesSlide" Target="../notesSlides/notesSlide13.xml"/><Relationship Id="rId1"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9.wmf"/><Relationship Id="rId3" Type="http://schemas.openxmlformats.org/officeDocument/2006/relationships/oleObject" Target="../embeddings/oleObject7.bin"/><Relationship Id="rId2" Type="http://schemas.openxmlformats.org/officeDocument/2006/relationships/image" Target="../media/image28.wmf"/><Relationship Id="rId1"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31.wmf"/><Relationship Id="rId2" Type="http://schemas.openxmlformats.org/officeDocument/2006/relationships/oleObject" Target="../embeddings/oleObject8.bin"/><Relationship Id="rId1" Type="http://schemas.openxmlformats.org/officeDocument/2006/relationships/image" Target="../media/image30.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37.wmf"/><Relationship Id="rId2" Type="http://schemas.openxmlformats.org/officeDocument/2006/relationships/oleObject" Target="../embeddings/oleObject10.bin"/><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image" Target="../media/image38.wmf"/><Relationship Id="rId2" Type="http://schemas.openxmlformats.org/officeDocument/2006/relationships/oleObject" Target="../embeddings/oleObject11.bin"/><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39.wmf"/><Relationship Id="rId2" Type="http://schemas.openxmlformats.org/officeDocument/2006/relationships/oleObject" Target="../embeddings/oleObject12.bin"/><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41.jpeg"/><Relationship Id="rId1" Type="http://schemas.openxmlformats.org/officeDocument/2006/relationships/image" Target="../media/image40.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4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47.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6.xml"/><Relationship Id="rId2" Type="http://schemas.openxmlformats.org/officeDocument/2006/relationships/image" Target="../media/image49.png"/><Relationship Id="rId1"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6.xml"/><Relationship Id="rId2" Type="http://schemas.openxmlformats.org/officeDocument/2006/relationships/image" Target="../media/image50.wmf"/><Relationship Id="rId1" Type="http://schemas.openxmlformats.org/officeDocument/2006/relationships/oleObject" Target="../embeddings/oleObject13.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5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56.wmf"/><Relationship Id="rId1" Type="http://schemas.openxmlformats.org/officeDocument/2006/relationships/oleObject" Target="../embeddings/oleObject14.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jpeg"/></Relationships>
</file>

<file path=ppt/slides/_rels/slide42.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customXml" Target="../ink/ink4.xml"/><Relationship Id="rId7" Type="http://schemas.openxmlformats.org/officeDocument/2006/relationships/image" Target="../media/image65.png"/><Relationship Id="rId6" Type="http://schemas.openxmlformats.org/officeDocument/2006/relationships/customXml" Target="../ink/ink3.xml"/><Relationship Id="rId5" Type="http://schemas.openxmlformats.org/officeDocument/2006/relationships/image" Target="../media/image64.png"/><Relationship Id="rId4" Type="http://schemas.openxmlformats.org/officeDocument/2006/relationships/customXml" Target="../ink/ink2.xml"/><Relationship Id="rId3" Type="http://schemas.openxmlformats.org/officeDocument/2006/relationships/image" Target="../media/image63.png"/><Relationship Id="rId2" Type="http://schemas.openxmlformats.org/officeDocument/2006/relationships/customXml" Target="../ink/ink1.xml"/><Relationship Id="rId18" Type="http://schemas.openxmlformats.org/officeDocument/2006/relationships/slideLayout" Target="../slideLayouts/slideLayout2.xml"/><Relationship Id="rId17" Type="http://schemas.openxmlformats.org/officeDocument/2006/relationships/image" Target="../media/image70.png"/><Relationship Id="rId16" Type="http://schemas.openxmlformats.org/officeDocument/2006/relationships/customXml" Target="../ink/ink8.xml"/><Relationship Id="rId15" Type="http://schemas.openxmlformats.org/officeDocument/2006/relationships/image" Target="../media/image69.png"/><Relationship Id="rId14" Type="http://schemas.openxmlformats.org/officeDocument/2006/relationships/customXml" Target="../ink/ink7.xml"/><Relationship Id="rId13" Type="http://schemas.openxmlformats.org/officeDocument/2006/relationships/image" Target="../media/image68.png"/><Relationship Id="rId12" Type="http://schemas.openxmlformats.org/officeDocument/2006/relationships/customXml" Target="../ink/ink6.xml"/><Relationship Id="rId11" Type="http://schemas.openxmlformats.org/officeDocument/2006/relationships/image" Target="../media/image67.png"/><Relationship Id="rId10" Type="http://schemas.openxmlformats.org/officeDocument/2006/relationships/customXml" Target="../ink/ink5.xml"/><Relationship Id="rId1" Type="http://schemas.openxmlformats.org/officeDocument/2006/relationships/image" Target="../media/image6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73.GIF"/><Relationship Id="rId1" Type="http://schemas.openxmlformats.org/officeDocument/2006/relationships/image" Target="../media/image72.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image" Target="../media/image7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image" Target="../media/image7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image" Target="../media/image79.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vmlDrawing" Target="../drawings/vmlDrawing12.vml"/><Relationship Id="rId3" Type="http://schemas.openxmlformats.org/officeDocument/2006/relationships/slideLayout" Target="../slideLayouts/slideLayout12.xml"/><Relationship Id="rId2" Type="http://schemas.openxmlformats.org/officeDocument/2006/relationships/image" Target="../media/image81.wmf"/><Relationship Id="rId1" Type="http://schemas.openxmlformats.org/officeDocument/2006/relationships/oleObject" Target="../embeddings/oleObject15.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image" Target="../media/image82.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hyperlink" Target="https://v.qq.com/x/page/b0387084hoj.html" TargetMode="External"/><Relationship Id="rId1" Type="http://schemas.openxmlformats.org/officeDocument/2006/relationships/image" Target="../media/image27.jpeg"/></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83.emf"/><Relationship Id="rId1" Type="http://schemas.openxmlformats.org/officeDocument/2006/relationships/oleObject" Target="../embeddings/oleObject16.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image" Target="../media/image86.jpeg"/><Relationship Id="rId4" Type="http://schemas.openxmlformats.org/officeDocument/2006/relationships/image" Target="../media/image85.wmf"/><Relationship Id="rId3" Type="http://schemas.openxmlformats.org/officeDocument/2006/relationships/oleObject" Target="../embeddings/oleObject18.bin"/><Relationship Id="rId2" Type="http://schemas.openxmlformats.org/officeDocument/2006/relationships/image" Target="../media/image84.wmf"/><Relationship Id="rId1" Type="http://schemas.openxmlformats.org/officeDocument/2006/relationships/oleObject" Target="../embeddings/oleObject17.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90.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91.wmf"/><Relationship Id="rId1" Type="http://schemas.openxmlformats.org/officeDocument/2006/relationships/oleObject" Target="../embeddings/oleObject19.bin"/></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92.emf"/></Relationships>
</file>

<file path=ppt/slides/_rels/slide75.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93.wmf"/><Relationship Id="rId1" Type="http://schemas.openxmlformats.org/officeDocument/2006/relationships/oleObject" Target="../embeddings/oleObject20.bin"/></Relationships>
</file>

<file path=ppt/slides/_rels/slide76.xml.rels><?xml version="1.0" encoding="UTF-8" standalone="yes"?>
<Relationships xmlns="http://schemas.openxmlformats.org/package/2006/relationships"><Relationship Id="rId7" Type="http://schemas.openxmlformats.org/officeDocument/2006/relationships/notesSlide" Target="../notesSlides/notesSlide57.xml"/><Relationship Id="rId6" Type="http://schemas.openxmlformats.org/officeDocument/2006/relationships/vmlDrawing" Target="../drawings/vmlDrawing17.vml"/><Relationship Id="rId5" Type="http://schemas.openxmlformats.org/officeDocument/2006/relationships/slideLayout" Target="../slideLayouts/slideLayout4.xml"/><Relationship Id="rId4" Type="http://schemas.openxmlformats.org/officeDocument/2006/relationships/image" Target="../media/image95.wmf"/><Relationship Id="rId3" Type="http://schemas.openxmlformats.org/officeDocument/2006/relationships/oleObject" Target="../embeddings/oleObject22.bin"/><Relationship Id="rId2" Type="http://schemas.openxmlformats.org/officeDocument/2006/relationships/image" Target="../media/image94.wmf"/><Relationship Id="rId1" Type="http://schemas.openxmlformats.org/officeDocument/2006/relationships/oleObject" Target="../embeddings/oleObject21.bin"/></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image" Target="../media/image96.png"/></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vmlDrawing" Target="../drawings/vmlDrawing18.vml"/><Relationship Id="rId4" Type="http://schemas.openxmlformats.org/officeDocument/2006/relationships/slideLayout" Target="../slideLayouts/slideLayout4.xml"/><Relationship Id="rId3" Type="http://schemas.openxmlformats.org/officeDocument/2006/relationships/image" Target="../media/image98.wmf"/><Relationship Id="rId2" Type="http://schemas.openxmlformats.org/officeDocument/2006/relationships/oleObject" Target="../embeddings/oleObject23.bin"/><Relationship Id="rId1" Type="http://schemas.openxmlformats.org/officeDocument/2006/relationships/image" Target="../media/image9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99.jpe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100.jpe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2.xml"/><Relationship Id="rId2" Type="http://schemas.openxmlformats.org/officeDocument/2006/relationships/image" Target="../media/image102.jpeg"/><Relationship Id="rId1" Type="http://schemas.openxmlformats.org/officeDocument/2006/relationships/image" Target="../media/image101.jpe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103.jpeg"/></Relationships>
</file>

<file path=ppt/slides/_rels/slide89.xml.rels><?xml version="1.0" encoding="UTF-8" standalone="yes"?>
<Relationships xmlns="http://schemas.openxmlformats.org/package/2006/relationships"><Relationship Id="rId9" Type="http://schemas.openxmlformats.org/officeDocument/2006/relationships/notesSlide" Target="../notesSlides/notesSlide70.xml"/><Relationship Id="rId8" Type="http://schemas.openxmlformats.org/officeDocument/2006/relationships/vmlDrawing" Target="../drawings/vmlDrawing19.vml"/><Relationship Id="rId7"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3" Type="http://schemas.openxmlformats.org/officeDocument/2006/relationships/oleObject" Target="../embeddings/oleObject25.bin"/><Relationship Id="rId2" Type="http://schemas.openxmlformats.org/officeDocument/2006/relationships/image" Target="../media/image104.png"/><Relationship Id="rId1" Type="http://schemas.openxmlformats.org/officeDocument/2006/relationships/oleObject" Target="../embeddings/oleObject24.bin"/></Relationships>
</file>

<file path=ppt/slides/_rels/slide90.xml.rels><?xml version="1.0" encoding="UTF-8" standalone="yes"?>
<Relationships xmlns="http://schemas.openxmlformats.org/package/2006/relationships"><Relationship Id="rId6" Type="http://schemas.openxmlformats.org/officeDocument/2006/relationships/notesSlide" Target="../notesSlides/notesSlide71.xml"/><Relationship Id="rId5" Type="http://schemas.openxmlformats.org/officeDocument/2006/relationships/vmlDrawing" Target="../drawings/vmlDrawing20.vml"/><Relationship Id="rId4" Type="http://schemas.openxmlformats.org/officeDocument/2006/relationships/slideLayout" Target="../slideLayouts/slideLayout2.xml"/><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oleObject" Target="../embeddings/oleObject26.bin"/></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2.xml"/><Relationship Id="rId2" Type="http://schemas.openxmlformats.org/officeDocument/2006/relationships/slide" Target="slide90.xml"/><Relationship Id="rId1" Type="http://schemas.openxmlformats.org/officeDocument/2006/relationships/image" Target="../media/image111.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2.xml"/><Relationship Id="rId2" Type="http://schemas.openxmlformats.org/officeDocument/2006/relationships/slide" Target="slide90.xml"/><Relationship Id="rId1" Type="http://schemas.openxmlformats.org/officeDocument/2006/relationships/image" Target="../media/image112.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4.xml"/><Relationship Id="rId2" Type="http://schemas.openxmlformats.org/officeDocument/2006/relationships/image" Target="../media/image114.png"/><Relationship Id="rId1" Type="http://schemas.openxmlformats.org/officeDocument/2006/relationships/image" Target="../media/image113.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4.xml"/><Relationship Id="rId2" Type="http://schemas.openxmlformats.org/officeDocument/2006/relationships/image" Target="../media/image116.png"/><Relationship Id="rId1" Type="http://schemas.openxmlformats.org/officeDocument/2006/relationships/image" Target="../media/image115.png"/></Relationships>
</file>

<file path=ppt/slides/_rels/slide96.xml.rels><?xml version="1.0" encoding="UTF-8" standalone="yes"?>
<Relationships xmlns="http://schemas.openxmlformats.org/package/2006/relationships"><Relationship Id="rId6" Type="http://schemas.openxmlformats.org/officeDocument/2006/relationships/notesSlide" Target="../notesSlides/notesSlide77.xml"/><Relationship Id="rId5" Type="http://schemas.openxmlformats.org/officeDocument/2006/relationships/vmlDrawing" Target="../drawings/vmlDrawing21.vml"/><Relationship Id="rId4" Type="http://schemas.openxmlformats.org/officeDocument/2006/relationships/slideLayout" Target="../slideLayouts/slideLayout13.xml"/><Relationship Id="rId3" Type="http://schemas.openxmlformats.org/officeDocument/2006/relationships/image" Target="../media/image118.wmf"/><Relationship Id="rId2" Type="http://schemas.openxmlformats.org/officeDocument/2006/relationships/oleObject" Target="../embeddings/oleObject27.bin"/><Relationship Id="rId1" Type="http://schemas.openxmlformats.org/officeDocument/2006/relationships/image" Target="../media/image117.jpe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4.xml"/><Relationship Id="rId2" Type="http://schemas.openxmlformats.org/officeDocument/2006/relationships/image" Target="../media/image120.jpeg"/><Relationship Id="rId1" Type="http://schemas.openxmlformats.org/officeDocument/2006/relationships/image" Target="../media/image119.jpeg"/></Relationships>
</file>

<file path=ppt/slides/_rels/slide98.xml.rels><?xml version="1.0" encoding="UTF-8" standalone="yes"?>
<Relationships xmlns="http://schemas.openxmlformats.org/package/2006/relationships"><Relationship Id="rId6" Type="http://schemas.openxmlformats.org/officeDocument/2006/relationships/notesSlide" Target="../notesSlides/notesSlide79.xml"/><Relationship Id="rId5" Type="http://schemas.openxmlformats.org/officeDocument/2006/relationships/vmlDrawing" Target="../drawings/vmlDrawing22.vml"/><Relationship Id="rId4" Type="http://schemas.openxmlformats.org/officeDocument/2006/relationships/slideLayout" Target="../slideLayouts/slideLayout12.xml"/><Relationship Id="rId3" Type="http://schemas.openxmlformats.org/officeDocument/2006/relationships/image" Target="../media/image122.png"/><Relationship Id="rId2" Type="http://schemas.openxmlformats.org/officeDocument/2006/relationships/image" Target="../media/image121.wmf"/><Relationship Id="rId1" Type="http://schemas.openxmlformats.org/officeDocument/2006/relationships/oleObject" Target="../embeddings/oleObject28.bin"/></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2.xml"/><Relationship Id="rId2" Type="http://schemas.openxmlformats.org/officeDocument/2006/relationships/slide" Target="slide101.xml"/><Relationship Id="rId1" Type="http://schemas.openxmlformats.org/officeDocument/2006/relationships/image" Target="../media/image123.png"/></Relationships>
</file>

<file path=ppt/slides/_rels/slide100.xml.rels><?xml version="1.0" encoding="UTF-8" standalone="yes"?>
<Relationships xmlns="http://schemas.openxmlformats.org/package/2006/relationships"><Relationship Id="rId7" Type="http://schemas.openxmlformats.org/officeDocument/2006/relationships/notesSlide" Target="../notesSlides/notesSlide81.xml"/><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125.wmf"/><Relationship Id="rId3" Type="http://schemas.openxmlformats.org/officeDocument/2006/relationships/oleObject" Target="../embeddings/oleObject29.bin"/><Relationship Id="rId2" Type="http://schemas.openxmlformats.org/officeDocument/2006/relationships/image" Target="../media/image124.png"/><Relationship Id="rId1" Type="http://schemas.openxmlformats.org/officeDocument/2006/relationships/slide" Target="slide99.xml"/></Relationships>
</file>

<file path=ppt/slides/_rels/slide101.xml.rels><?xml version="1.0" encoding="UTF-8" standalone="yes"?>
<Relationships xmlns="http://schemas.openxmlformats.org/package/2006/relationships"><Relationship Id="rId7" Type="http://schemas.openxmlformats.org/officeDocument/2006/relationships/notesSlide" Target="../notesSlides/notesSlide82.xml"/><Relationship Id="rId6" Type="http://schemas.openxmlformats.org/officeDocument/2006/relationships/vmlDrawing" Target="../drawings/vmlDrawing24.vml"/><Relationship Id="rId5" Type="http://schemas.openxmlformats.org/officeDocument/2006/relationships/slideLayout" Target="../slideLayouts/slideLayout4.xml"/><Relationship Id="rId4" Type="http://schemas.openxmlformats.org/officeDocument/2006/relationships/image" Target="../media/image127.wmf"/><Relationship Id="rId3" Type="http://schemas.openxmlformats.org/officeDocument/2006/relationships/oleObject" Target="../embeddings/oleObject30.bin"/><Relationship Id="rId2" Type="http://schemas.openxmlformats.org/officeDocument/2006/relationships/image" Target="../media/image126.png"/><Relationship Id="rId1" Type="http://schemas.openxmlformats.org/officeDocument/2006/relationships/slide" Target="slide99.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4.xml"/><Relationship Id="rId1" Type="http://schemas.openxmlformats.org/officeDocument/2006/relationships/image" Target="../media/image128.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4.xml"/><Relationship Id="rId1" Type="http://schemas.openxmlformats.org/officeDocument/2006/relationships/image" Target="../media/image129.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4.xml"/><Relationship Id="rId1" Type="http://schemas.openxmlformats.org/officeDocument/2006/relationships/image" Target="../media/image130.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131.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image" Target="../media/image132.jpe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image" Target="../media/image133.jpe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134.jpe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2.xml"/><Relationship Id="rId2" Type="http://schemas.openxmlformats.org/officeDocument/2006/relationships/image" Target="../media/image135.jpeg"/><Relationship Id="rId1" Type="http://schemas.openxmlformats.org/officeDocument/2006/relationships/hyperlink" Target="http:///" TargetMode="Externa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136.jpe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2.xml"/><Relationship Id="rId2" Type="http://schemas.openxmlformats.org/officeDocument/2006/relationships/image" Target="../media/image137.jpeg"/><Relationship Id="rId1" Type="http://schemas.openxmlformats.org/officeDocument/2006/relationships/hyperlink" Target="file:///F:\&#24037;&#31243;&#35757;&#32451;&#20013;&#24515;\11.1.3.htm" TargetMode="Externa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138.png"/></Relationships>
</file>

<file path=ppt/slides/_rels/slide125.xml.rels><?xml version="1.0" encoding="UTF-8" standalone="yes"?>
<Relationships xmlns="http://schemas.openxmlformats.org/package/2006/relationships"><Relationship Id="rId6" Type="http://schemas.openxmlformats.org/officeDocument/2006/relationships/notesSlide" Target="../notesSlides/notesSlide106.xml"/><Relationship Id="rId5" Type="http://schemas.openxmlformats.org/officeDocument/2006/relationships/vmlDrawing" Target="../drawings/vmlDrawing25.vml"/><Relationship Id="rId4" Type="http://schemas.openxmlformats.org/officeDocument/2006/relationships/slideLayout" Target="../slideLayouts/slideLayout2.xml"/><Relationship Id="rId3" Type="http://schemas.openxmlformats.org/officeDocument/2006/relationships/image" Target="../media/image140.jpeg"/><Relationship Id="rId2" Type="http://schemas.openxmlformats.org/officeDocument/2006/relationships/image" Target="../media/image139.png"/><Relationship Id="rId1" Type="http://schemas.openxmlformats.org/officeDocument/2006/relationships/oleObject" Target="../embeddings/oleObject31.bin"/></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image" Target="../media/image141.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2.xml"/><Relationship Id="rId1" Type="http://schemas.openxmlformats.org/officeDocument/2006/relationships/image" Target="../media/image142.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ctrTitle"/>
          </p:nvPr>
        </p:nvSpPr>
        <p:spPr>
          <a:xfrm>
            <a:off x="1763713" y="1844675"/>
            <a:ext cx="4392612" cy="863600"/>
          </a:xfrm>
          <a:ln/>
        </p:spPr>
        <p:txBody>
          <a:bodyPr vert="horz" wrap="square" lIns="91440" tIns="45720" rIns="91440" bIns="45720" anchor="ctr" anchorCtr="0"/>
          <a:p>
            <a:pPr eaLnBrk="1" hangingPunct="1">
              <a:buClrTx/>
              <a:buSzTx/>
              <a:buFontTx/>
            </a:pPr>
            <a:r>
              <a:rPr lang="zh-CN" altLang="en-US" sz="4800" dirty="0">
                <a:solidFill>
                  <a:srgbClr val="86511C"/>
                </a:solidFill>
                <a:latin typeface="+mj-lt"/>
                <a:ea typeface="华文行楷" panose="02010800040101010101" pitchFamily="2" charset="-122"/>
                <a:cs typeface="+mj-cs"/>
              </a:rPr>
              <a:t>机械制造基础</a:t>
            </a:r>
            <a:endParaRPr lang="zh-CN" altLang="en-US" sz="4800" dirty="0">
              <a:solidFill>
                <a:srgbClr val="86511C"/>
              </a:solidFill>
              <a:latin typeface="+mj-lt"/>
              <a:ea typeface="华文行楷" panose="02010800040101010101" pitchFamily="2" charset="-122"/>
              <a:cs typeface="+mj-cs"/>
            </a:endParaRPr>
          </a:p>
        </p:txBody>
      </p:sp>
      <p:sp>
        <p:nvSpPr>
          <p:cNvPr id="5123" name="Rectangle 3"/>
          <p:cNvSpPr>
            <a:spLocks noGrp="1"/>
          </p:cNvSpPr>
          <p:nvPr>
            <p:ph type="subTitle" idx="1"/>
          </p:nvPr>
        </p:nvSpPr>
        <p:spPr>
          <a:xfrm>
            <a:off x="2841625" y="3860800"/>
            <a:ext cx="5284788" cy="184150"/>
          </a:xfrm>
        </p:spPr>
        <p:txBody>
          <a:bodyPr vert="horz" wrap="square" lIns="91440" tIns="45720" rIns="91440" bIns="45720" anchor="t" anchorCtr="0"/>
          <a:p>
            <a:pPr marL="0" marR="0" indent="0" algn="l" defTabSz="914400" rtl="0" eaLnBrk="1" fontAlgn="base" latinLnBrk="0" hangingPunct="1">
              <a:lnSpc>
                <a:spcPct val="100000"/>
              </a:lnSpc>
              <a:spcBef>
                <a:spcPct val="20000"/>
              </a:spcBef>
              <a:spcAft>
                <a:spcPct val="0"/>
              </a:spcAft>
              <a:buClrTx/>
              <a:buSzTx/>
              <a:buFontTx/>
              <a:buNone/>
            </a:pPr>
            <a:r>
              <a:rPr kumimoji="0" lang="zh-CN" altLang="en-US" sz="2800" b="1" i="0" u="none" strike="noStrike" kern="0" cap="none" spc="0" normalizeH="0" baseline="0" noProof="1" dirty="0">
                <a:solidFill>
                  <a:schemeClr val="bg2"/>
                </a:solidFill>
                <a:latin typeface="楷体_GB2312"/>
                <a:ea typeface="楷体_GB2312"/>
                <a:cs typeface="+mn-cs"/>
              </a:rPr>
              <a:t>许虹（机械与动力工程学院）</a:t>
            </a:r>
            <a:endParaRPr kumimoji="0" lang="zh-CN" altLang="en-US" sz="2800" b="1" i="0" u="none" strike="noStrike" kern="0" cap="none" spc="0" normalizeH="0" baseline="0" noProof="1" dirty="0">
              <a:solidFill>
                <a:schemeClr val="bg2"/>
              </a:solidFill>
              <a:latin typeface="楷体_GB2312"/>
              <a:ea typeface="楷体_GB2312"/>
              <a:cs typeface="+mn-cs"/>
            </a:endParaRPr>
          </a:p>
          <a:p>
            <a:pPr marL="0" marR="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kern="0" cap="none" spc="0" normalizeH="0" baseline="0" noProof="1" dirty="0">
                <a:solidFill>
                  <a:schemeClr val="bg2"/>
                </a:solidFill>
                <a:latin typeface="楷体_GB2312"/>
                <a:ea typeface="楷体_GB2312"/>
                <a:cs typeface="+mn-cs"/>
              </a:rPr>
              <a:t>xuhong@ecust.edu.cn</a:t>
            </a:r>
            <a:endParaRPr kumimoji="0" lang="en-US" altLang="zh-CN" sz="2800" b="1" i="0" u="none" strike="noStrike" kern="0" cap="none" spc="0" normalizeH="0" baseline="0" noProof="1" dirty="0">
              <a:solidFill>
                <a:schemeClr val="bg2"/>
              </a:solidFill>
              <a:latin typeface="楷体_GB2312"/>
              <a:ea typeface="楷体_GB2312"/>
              <a:cs typeface="+mn-cs"/>
            </a:endParaRPr>
          </a:p>
          <a:p>
            <a:pPr marL="0" marR="0" indent="0" algn="l" defTabSz="914400" rtl="0" eaLnBrk="1" fontAlgn="base" latinLnBrk="0" hangingPunct="1">
              <a:lnSpc>
                <a:spcPct val="100000"/>
              </a:lnSpc>
              <a:spcBef>
                <a:spcPct val="20000"/>
              </a:spcBef>
              <a:spcAft>
                <a:spcPct val="0"/>
              </a:spcAft>
              <a:buClrTx/>
              <a:buSzTx/>
              <a:buFontTx/>
              <a:buNone/>
            </a:pPr>
            <a:r>
              <a:rPr kumimoji="0" lang="en-US" altLang="zh-CN" sz="2800" b="1" i="0" u="none" strike="noStrike" kern="0" cap="none" spc="0" normalizeH="0" baseline="0" noProof="1" dirty="0">
                <a:solidFill>
                  <a:schemeClr val="bg2"/>
                </a:solidFill>
                <a:latin typeface="楷体_GB2312"/>
                <a:ea typeface="楷体_GB2312"/>
                <a:cs typeface="+mn-cs"/>
              </a:rPr>
              <a:t>32</a:t>
            </a:r>
            <a:r>
              <a:rPr kumimoji="0" lang="zh-CN" altLang="en-US" sz="2800" b="1" i="0" u="none" strike="noStrike" kern="0" cap="none" spc="0" normalizeH="0" baseline="0" noProof="1" dirty="0">
                <a:solidFill>
                  <a:schemeClr val="bg2"/>
                </a:solidFill>
                <a:latin typeface="楷体_GB2312"/>
                <a:ea typeface="楷体_GB2312"/>
                <a:cs typeface="+mn-cs"/>
              </a:rPr>
              <a:t>学时（理论）</a:t>
            </a:r>
            <a:endParaRPr kumimoji="0" lang="zh-CN" altLang="en-US" sz="2800" b="1" i="0" u="none" strike="noStrike" kern="0" cap="none" spc="0" normalizeH="0" baseline="0" noProof="1" dirty="0">
              <a:solidFill>
                <a:schemeClr val="bg2"/>
              </a:solidFill>
              <a:latin typeface="楷体_GB2312"/>
              <a:ea typeface="楷体_GB2312"/>
              <a:cs typeface="+mn-cs"/>
            </a:endParaRPr>
          </a:p>
          <a:p>
            <a:pPr marL="0" marR="0" indent="0" algn="l" defTabSz="914400" rtl="0" eaLnBrk="1" fontAlgn="base" latinLnBrk="0" hangingPunct="1">
              <a:lnSpc>
                <a:spcPct val="100000"/>
              </a:lnSpc>
              <a:spcBef>
                <a:spcPct val="20000"/>
              </a:spcBef>
              <a:spcAft>
                <a:spcPct val="0"/>
              </a:spcAft>
              <a:buClrTx/>
              <a:buSzTx/>
              <a:buFontTx/>
              <a:buNone/>
            </a:pPr>
            <a:endParaRPr kumimoji="0" lang="en-US" altLang="zh-CN" sz="2800" b="1" i="0" u="none" strike="noStrike" kern="0" cap="none" spc="0" normalizeH="0" baseline="0" noProof="1" dirty="0">
              <a:solidFill>
                <a:srgbClr val="336600"/>
              </a:solidFill>
              <a:latin typeface="楷体_GB2312"/>
              <a:ea typeface="楷体_GB2312"/>
              <a:cs typeface="+mn-cs"/>
            </a:endParaRPr>
          </a:p>
        </p:txBody>
      </p:sp>
      <p:sp>
        <p:nvSpPr>
          <p:cNvPr id="7171" name="WordArt 4"/>
          <p:cNvSpPr>
            <a:spLocks noTextEdit="1"/>
          </p:cNvSpPr>
          <p:nvPr/>
        </p:nvSpPr>
        <p:spPr>
          <a:xfrm>
            <a:off x="6372225" y="1987550"/>
            <a:ext cx="1152525" cy="720725"/>
          </a:xfrm>
          <a:prstGeom prst="rect">
            <a:avLst/>
          </a:prstGeom>
        </p:spPr>
        <p:txBody>
          <a:bodyPr wrap="none" fromWordArt="1">
            <a:prstTxWarp prst="textWave1">
              <a:avLst>
                <a:gd name="adj1" fmla="val 13005"/>
                <a:gd name="adj2" fmla="val 0"/>
              </a:avLst>
            </a:prstTxWarp>
            <a:normAutofit/>
          </a:bodyPr>
          <a:p>
            <a:pPr algn="ctr"/>
            <a:r>
              <a:rPr lang="zh-CN" altLang="en-US" sz="3600" spc="-360">
                <a:ln w="12700" cap="flat" cmpd="sng">
                  <a:solidFill>
                    <a:srgbClr val="FF6600"/>
                  </a:solidFill>
                  <a:prstDash val="solid"/>
                  <a:roun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rPr>
              <a:t>ECUST</a:t>
            </a:r>
            <a:endParaRPr lang="zh-CN" altLang="en-US" sz="3600" spc="-360">
              <a:ln w="12700" cap="flat" cmpd="sng">
                <a:solidFill>
                  <a:srgbClr val="FF6600"/>
                </a:solidFill>
                <a:prstDash val="solid"/>
                <a:roun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endParaRPr>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3328988" y="434975"/>
            <a:ext cx="4843462" cy="690563"/>
          </a:xfrm>
          <a:ln/>
        </p:spPr>
        <p:txBody>
          <a:bodyPr vert="horz" wrap="square" lIns="91440" tIns="45720" rIns="91440" bIns="45720" anchor="ctr" anchorCtr="0"/>
          <a:p>
            <a:pPr eaLnBrk="1" hangingPunct="1"/>
            <a:r>
              <a:rPr lang="zh-CN" altLang="en-US" sz="4000" dirty="0">
                <a:solidFill>
                  <a:srgbClr val="993300"/>
                </a:solidFill>
                <a:latin typeface="楷体_GB2312"/>
                <a:ea typeface="楷体_GB2312"/>
              </a:rPr>
              <a:t>第五篇  切削加工</a:t>
            </a:r>
            <a:r>
              <a:rPr lang="zh-CN" altLang="en-US" sz="3200" dirty="0"/>
              <a:t>  </a:t>
            </a:r>
            <a:endParaRPr lang="zh-CN" altLang="en-US" sz="3200" dirty="0"/>
          </a:p>
        </p:txBody>
      </p:sp>
      <p:sp>
        <p:nvSpPr>
          <p:cNvPr id="9218" name="Rectangle 3"/>
          <p:cNvSpPr>
            <a:spLocks noGrp="1"/>
          </p:cNvSpPr>
          <p:nvPr>
            <p:ph idx="1"/>
          </p:nvPr>
        </p:nvSpPr>
        <p:spPr>
          <a:xfrm>
            <a:off x="250825" y="1557338"/>
            <a:ext cx="8640763" cy="4248150"/>
          </a:xfrm>
          <a:ln/>
        </p:spPr>
        <p:txBody>
          <a:bodyPr vert="horz" wrap="square" lIns="91440" tIns="45720" rIns="91440" bIns="45720" anchor="t" anchorCtr="0"/>
          <a:p>
            <a:pPr eaLnBrk="1" hangingPunct="1">
              <a:lnSpc>
                <a:spcPct val="80000"/>
              </a:lnSpc>
            </a:pPr>
            <a:r>
              <a:rPr lang="zh-CN" altLang="en-US" sz="2800" b="1" dirty="0">
                <a:solidFill>
                  <a:srgbClr val="FF0000"/>
                </a:solidFill>
                <a:ea typeface="楷体_GB2312"/>
              </a:rPr>
              <a:t>切削加工：</a:t>
            </a:r>
            <a:r>
              <a:rPr lang="zh-CN" altLang="en-US" sz="2800" b="1" dirty="0">
                <a:solidFill>
                  <a:srgbClr val="000000"/>
                </a:solidFill>
                <a:ea typeface="楷体_GB2312"/>
              </a:rPr>
              <a:t>使用切削刀具，从工件上切除多余的金属获得形状，尺寸精度及表面质量合乎技术要求零件的加工方法。</a:t>
            </a:r>
            <a:endParaRPr lang="zh-CN" altLang="en-US" sz="2800" b="1" dirty="0">
              <a:solidFill>
                <a:srgbClr val="000000"/>
              </a:solidFill>
              <a:ea typeface="楷体_GB2312"/>
            </a:endParaRPr>
          </a:p>
          <a:p>
            <a:pPr eaLnBrk="1" hangingPunct="1">
              <a:lnSpc>
                <a:spcPct val="80000"/>
              </a:lnSpc>
              <a:buNone/>
            </a:pPr>
            <a:endParaRPr lang="zh-CN" altLang="en-US" sz="2800" b="1" dirty="0">
              <a:solidFill>
                <a:srgbClr val="000000"/>
              </a:solidFill>
              <a:ea typeface="楷体_GB2312"/>
            </a:endParaRPr>
          </a:p>
          <a:p>
            <a:pPr eaLnBrk="1" hangingPunct="1">
              <a:lnSpc>
                <a:spcPct val="80000"/>
              </a:lnSpc>
            </a:pPr>
            <a:r>
              <a:rPr lang="zh-CN" altLang="en-US" sz="2400" b="1" dirty="0">
                <a:solidFill>
                  <a:srgbClr val="A50021"/>
                </a:solidFill>
                <a:ea typeface="楷体_GB2312"/>
              </a:rPr>
              <a:t>本篇内容：</a:t>
            </a:r>
            <a:endParaRPr lang="zh-CN" altLang="en-US" sz="2400" b="1" dirty="0">
              <a:solidFill>
                <a:srgbClr val="A50021"/>
              </a:solidFill>
              <a:ea typeface="楷体_GB2312"/>
            </a:endParaRPr>
          </a:p>
          <a:p>
            <a:pPr lvl="1" eaLnBrk="1" hangingPunct="1">
              <a:lnSpc>
                <a:spcPct val="80000"/>
              </a:lnSpc>
            </a:pPr>
            <a:r>
              <a:rPr lang="zh-CN" altLang="en-US" sz="2400" b="1" u="sng" dirty="0">
                <a:solidFill>
                  <a:srgbClr val="0000FF"/>
                </a:solidFill>
                <a:ea typeface="楷体_GB2312"/>
              </a:rPr>
              <a:t>金属切削的基础知识</a:t>
            </a:r>
            <a:endParaRPr lang="zh-CN" altLang="en-US" sz="2400" b="1" u="sng" dirty="0">
              <a:solidFill>
                <a:srgbClr val="0000FF"/>
              </a:solidFill>
              <a:ea typeface="楷体_GB2312"/>
            </a:endParaRPr>
          </a:p>
          <a:p>
            <a:pPr lvl="1" eaLnBrk="1" hangingPunct="1">
              <a:lnSpc>
                <a:spcPct val="80000"/>
              </a:lnSpc>
            </a:pPr>
            <a:r>
              <a:rPr lang="zh-CN" altLang="en-US" sz="2400" b="1" u="sng" dirty="0">
                <a:solidFill>
                  <a:srgbClr val="0000FF"/>
                </a:solidFill>
                <a:ea typeface="楷体_GB2312"/>
              </a:rPr>
              <a:t>常用加工方法综述</a:t>
            </a:r>
            <a:endParaRPr lang="zh-CN" altLang="en-US" sz="2400" b="1" u="sng" dirty="0">
              <a:solidFill>
                <a:srgbClr val="0000FF"/>
              </a:solidFill>
              <a:ea typeface="楷体_GB2312"/>
            </a:endParaRPr>
          </a:p>
          <a:p>
            <a:pPr lvl="1" eaLnBrk="1" hangingPunct="1">
              <a:lnSpc>
                <a:spcPct val="80000"/>
              </a:lnSpc>
            </a:pPr>
            <a:r>
              <a:rPr lang="zh-CN" altLang="en-US" sz="2400" b="1" dirty="0">
                <a:solidFill>
                  <a:srgbClr val="0000FF"/>
                </a:solidFill>
                <a:ea typeface="楷体_GB2312"/>
              </a:rPr>
              <a:t>精密加工和特种加工简介</a:t>
            </a:r>
            <a:endParaRPr lang="zh-CN" altLang="en-US" sz="2400" b="1" dirty="0">
              <a:solidFill>
                <a:srgbClr val="0000FF"/>
              </a:solidFill>
              <a:ea typeface="楷体_GB2312"/>
            </a:endParaRPr>
          </a:p>
          <a:p>
            <a:pPr lvl="1" eaLnBrk="1" hangingPunct="1">
              <a:lnSpc>
                <a:spcPct val="80000"/>
              </a:lnSpc>
            </a:pPr>
            <a:r>
              <a:rPr lang="zh-CN" altLang="en-US" sz="2400" b="1" dirty="0">
                <a:solidFill>
                  <a:srgbClr val="0000FF"/>
                </a:solidFill>
                <a:ea typeface="楷体_GB2312"/>
              </a:rPr>
              <a:t>典型表面加工分析</a:t>
            </a:r>
            <a:endParaRPr lang="zh-CN" altLang="en-US" sz="2400" b="1" dirty="0">
              <a:solidFill>
                <a:srgbClr val="0000FF"/>
              </a:solidFill>
              <a:ea typeface="楷体_GB2312"/>
            </a:endParaRPr>
          </a:p>
          <a:p>
            <a:pPr lvl="1" eaLnBrk="1" hangingPunct="1">
              <a:lnSpc>
                <a:spcPct val="80000"/>
              </a:lnSpc>
            </a:pPr>
            <a:r>
              <a:rPr lang="zh-CN" altLang="en-US" sz="2400" b="1" dirty="0">
                <a:solidFill>
                  <a:srgbClr val="0000FF"/>
                </a:solidFill>
                <a:ea typeface="楷体_GB2312"/>
              </a:rPr>
              <a:t>工艺过程的基本知识</a:t>
            </a:r>
            <a:endParaRPr lang="zh-CN" altLang="en-US" sz="2400" b="1" dirty="0">
              <a:solidFill>
                <a:srgbClr val="0000FF"/>
              </a:solidFill>
              <a:ea typeface="楷体_GB2312"/>
            </a:endParaRPr>
          </a:p>
          <a:p>
            <a:pPr lvl="1" eaLnBrk="1" hangingPunct="1">
              <a:lnSpc>
                <a:spcPct val="80000"/>
              </a:lnSpc>
            </a:pPr>
            <a:r>
              <a:rPr lang="zh-CN" altLang="en-US" sz="2400" b="1" dirty="0">
                <a:solidFill>
                  <a:srgbClr val="0000FF"/>
                </a:solidFill>
                <a:ea typeface="楷体_GB2312"/>
              </a:rPr>
              <a:t>零件结构的工艺性</a:t>
            </a:r>
            <a:endParaRPr lang="zh-CN" altLang="en-US" sz="2400" b="1" dirty="0">
              <a:solidFill>
                <a:srgbClr val="0000FF"/>
              </a:solidFill>
              <a:ea typeface="楷体_GB2312"/>
            </a:endParaRPr>
          </a:p>
        </p:txBody>
      </p:sp>
      <p:pic>
        <p:nvPicPr>
          <p:cNvPr id="9219" name="Picture 4" descr="VF-3"/>
          <p:cNvPicPr>
            <a:picLocks noChangeAspect="1"/>
          </p:cNvPicPr>
          <p:nvPr/>
        </p:nvPicPr>
        <p:blipFill>
          <a:blip r:embed="rId1"/>
          <a:stretch>
            <a:fillRect/>
          </a:stretch>
        </p:blipFill>
        <p:spPr>
          <a:xfrm>
            <a:off x="4787900" y="3170238"/>
            <a:ext cx="4176713" cy="2922587"/>
          </a:xfrm>
          <a:prstGeom prst="rect">
            <a:avLst/>
          </a:prstGeom>
          <a:noFill/>
          <a:ln w="9525">
            <a:noFill/>
          </a:ln>
        </p:spPr>
      </p:pic>
      <p:pic>
        <p:nvPicPr>
          <p:cNvPr id="1400837" name="Picture 5" descr="HSM600U_Action"/>
          <p:cNvPicPr>
            <a:picLocks noChangeAspect="1"/>
          </p:cNvPicPr>
          <p:nvPr/>
        </p:nvPicPr>
        <p:blipFill>
          <a:blip r:embed="rId2"/>
          <a:stretch>
            <a:fillRect/>
          </a:stretch>
        </p:blipFill>
        <p:spPr>
          <a:xfrm>
            <a:off x="4826000" y="2493963"/>
            <a:ext cx="4132263" cy="4248150"/>
          </a:xfrm>
          <a:prstGeom prst="rect">
            <a:avLst/>
          </a:prstGeom>
          <a:noFill/>
          <a:ln w="9525">
            <a:noFill/>
          </a:ln>
        </p:spPr>
      </p:pic>
      <p:sp>
        <p:nvSpPr>
          <p:cNvPr id="9221" name="矩形 10"/>
          <p:cNvSpPr/>
          <p:nvPr/>
        </p:nvSpPr>
        <p:spPr>
          <a:xfrm>
            <a:off x="214313" y="6000750"/>
            <a:ext cx="4572000" cy="646113"/>
          </a:xfrm>
          <a:prstGeom prst="rect">
            <a:avLst/>
          </a:prstGeom>
          <a:noFill/>
          <a:ln w="9525">
            <a:noFill/>
          </a:ln>
        </p:spPr>
        <p:txBody>
          <a:bodyPr anchor="t" anchorCtr="0">
            <a:spAutoFit/>
          </a:bodyPr>
          <a:p>
            <a:pPr eaLnBrk="0" hangingPunct="0"/>
            <a:r>
              <a:rPr lang="en-US" altLang="zh-CN" dirty="0">
                <a:latin typeface="Arial" panose="020B0604020202020204" pitchFamily="34" charset="0"/>
                <a:ea typeface="宋体" panose="02010600030101010101" pitchFamily="2" charset="-122"/>
              </a:rPr>
              <a:t>https://v.youku.com/v_show/id_XNzk3OTYxODA=.html?f=4402640&amp;o=1</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400837"/>
                                        </p:tgtEl>
                                        <p:attrNameLst>
                                          <p:attrName>style.visibility</p:attrName>
                                        </p:attrNameLst>
                                      </p:cBhvr>
                                      <p:to>
                                        <p:strVal val="visible"/>
                                      </p:to>
                                    </p:set>
                                    <p:animEffect transition="in" filter="plus(in)">
                                      <p:cBhvr>
                                        <p:cTn id="7" dur="2000"/>
                                        <p:tgtEl>
                                          <p:spTgt spid="1400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8"/>
          <p:cNvSpPr/>
          <p:nvPr/>
        </p:nvSpPr>
        <p:spPr>
          <a:xfrm>
            <a:off x="107950" y="1196975"/>
            <a:ext cx="5286375" cy="579438"/>
          </a:xfrm>
          <a:prstGeom prst="rect">
            <a:avLst/>
          </a:prstGeom>
          <a:noFill/>
          <a:ln w="9525">
            <a:noFill/>
          </a:ln>
        </p:spPr>
        <p:txBody>
          <a:bodyPr wrap="none" anchor="t" anchorCtr="0">
            <a:spAutoFit/>
          </a:bodyPr>
          <a:p>
            <a:pPr>
              <a:spcBef>
                <a:spcPct val="20000"/>
              </a:spcBef>
              <a:buClr>
                <a:srgbClr val="CCFF33"/>
              </a:buClr>
              <a:buSzPct val="70000"/>
              <a:buFont typeface="Wingdings" panose="05000000000000000000" pitchFamily="2" charset="2"/>
            </a:pPr>
            <a:r>
              <a:rPr lang="en-US" altLang="zh-CN" sz="3200" b="1" dirty="0">
                <a:solidFill>
                  <a:srgbClr val="009900"/>
                </a:solidFill>
                <a:latin typeface="楷体_GB2312"/>
                <a:ea typeface="楷体_GB2312"/>
              </a:rPr>
              <a:t>1. </a:t>
            </a:r>
            <a:r>
              <a:rPr lang="zh-CN" altLang="en-US" sz="3200" b="1" dirty="0">
                <a:solidFill>
                  <a:srgbClr val="009900"/>
                </a:solidFill>
                <a:latin typeface="楷体_GB2312"/>
                <a:ea typeface="楷体_GB2312"/>
              </a:rPr>
              <a:t>机械零件常用的表面形状</a:t>
            </a:r>
            <a:endParaRPr lang="zh-CN" altLang="en-US" sz="3200" b="1" dirty="0">
              <a:solidFill>
                <a:srgbClr val="009900"/>
              </a:solidFill>
              <a:latin typeface="楷体_GB2312"/>
              <a:ea typeface="楷体_GB2312"/>
            </a:endParaRPr>
          </a:p>
        </p:txBody>
      </p:sp>
      <p:grpSp>
        <p:nvGrpSpPr>
          <p:cNvPr id="11266" name="Group 9"/>
          <p:cNvGrpSpPr/>
          <p:nvPr/>
        </p:nvGrpSpPr>
        <p:grpSpPr>
          <a:xfrm>
            <a:off x="4932363" y="1809750"/>
            <a:ext cx="4059237" cy="4824413"/>
            <a:chOff x="761" y="1253"/>
            <a:chExt cx="2557" cy="3039"/>
          </a:xfrm>
        </p:grpSpPr>
        <p:sp>
          <p:nvSpPr>
            <p:cNvPr id="11267" name="Text Box 10"/>
            <p:cNvSpPr txBox="1"/>
            <p:nvPr/>
          </p:nvSpPr>
          <p:spPr>
            <a:xfrm>
              <a:off x="2082" y="2527"/>
              <a:ext cx="500" cy="135"/>
            </a:xfrm>
            <a:prstGeom prst="rect">
              <a:avLst/>
            </a:prstGeom>
            <a:noFill/>
            <a:ln w="28575">
              <a:noFill/>
            </a:ln>
          </p:spPr>
          <p:txBody>
            <a:bodyPr wrap="none" anchor="t" anchorCtr="0">
              <a:spAutoFit/>
            </a:bodyPr>
            <a:p>
              <a:pPr algn="ctr">
                <a:spcBef>
                  <a:spcPct val="50000"/>
                </a:spcBef>
              </a:pPr>
              <a:r>
                <a:rPr lang="zh-CN" altLang="en-US" sz="800" dirty="0">
                  <a:solidFill>
                    <a:srgbClr val="000099"/>
                  </a:solidFill>
                  <a:latin typeface="Times New Roman" panose="02020603050405020304" pitchFamily="18" charset="0"/>
                  <a:ea typeface="宋体" panose="02010600030101010101" pitchFamily="2" charset="-122"/>
                </a:rPr>
                <a:t>设计：潘存云</a:t>
              </a:r>
              <a:endParaRPr lang="zh-CN" altLang="en-US" sz="800" dirty="0">
                <a:solidFill>
                  <a:srgbClr val="000099"/>
                </a:solidFill>
                <a:latin typeface="Times New Roman" panose="02020603050405020304" pitchFamily="18" charset="0"/>
                <a:ea typeface="宋体" panose="02010600030101010101" pitchFamily="2" charset="-122"/>
              </a:endParaRPr>
            </a:p>
          </p:txBody>
        </p:sp>
        <p:pic>
          <p:nvPicPr>
            <p:cNvPr id="11268" name="Picture 11" descr="内燃机"/>
            <p:cNvPicPr>
              <a:picLocks noChangeAspect="1"/>
            </p:cNvPicPr>
            <p:nvPr/>
          </p:nvPicPr>
          <p:blipFill>
            <a:blip r:embed="rId1"/>
            <a:stretch>
              <a:fillRect/>
            </a:stretch>
          </p:blipFill>
          <p:spPr>
            <a:xfrm>
              <a:off x="761" y="1253"/>
              <a:ext cx="2557" cy="3039"/>
            </a:xfrm>
            <a:prstGeom prst="rect">
              <a:avLst/>
            </a:prstGeom>
            <a:solidFill>
              <a:srgbClr val="000099"/>
            </a:solidFill>
            <a:ln w="9525">
              <a:noFill/>
            </a:ln>
          </p:spPr>
        </p:pic>
        <p:pic>
          <p:nvPicPr>
            <p:cNvPr id="11269" name="Picture 12" descr="连杆活塞"/>
            <p:cNvPicPr>
              <a:picLocks noChangeAspect="1"/>
            </p:cNvPicPr>
            <p:nvPr/>
          </p:nvPicPr>
          <p:blipFill>
            <a:blip r:embed="rId2"/>
            <a:stretch>
              <a:fillRect/>
            </a:stretch>
          </p:blipFill>
          <p:spPr>
            <a:xfrm>
              <a:off x="1764" y="2021"/>
              <a:ext cx="703" cy="1473"/>
            </a:xfrm>
            <a:prstGeom prst="rect">
              <a:avLst/>
            </a:prstGeom>
            <a:noFill/>
            <a:ln w="9525">
              <a:noFill/>
            </a:ln>
          </p:spPr>
        </p:pic>
        <p:pic>
          <p:nvPicPr>
            <p:cNvPr id="11270" name="Picture 13" descr="凸轮气门"/>
            <p:cNvPicPr>
              <a:picLocks noChangeAspect="1"/>
            </p:cNvPicPr>
            <p:nvPr/>
          </p:nvPicPr>
          <p:blipFill>
            <a:blip r:embed="rId3"/>
            <a:stretch>
              <a:fillRect/>
            </a:stretch>
          </p:blipFill>
          <p:spPr>
            <a:xfrm>
              <a:off x="2541" y="2201"/>
              <a:ext cx="393" cy="1643"/>
            </a:xfrm>
            <a:prstGeom prst="rect">
              <a:avLst/>
            </a:prstGeom>
            <a:noFill/>
            <a:ln w="9525">
              <a:noFill/>
            </a:ln>
          </p:spPr>
        </p:pic>
        <p:pic>
          <p:nvPicPr>
            <p:cNvPr id="11271" name="Picture 14" descr="配气齿轮机构"/>
            <p:cNvPicPr>
              <a:picLocks noChangeAspect="1"/>
            </p:cNvPicPr>
            <p:nvPr/>
          </p:nvPicPr>
          <p:blipFill>
            <a:blip r:embed="rId4"/>
            <a:stretch>
              <a:fillRect/>
            </a:stretch>
          </p:blipFill>
          <p:spPr>
            <a:xfrm>
              <a:off x="830" y="2970"/>
              <a:ext cx="1875" cy="1284"/>
            </a:xfrm>
            <a:prstGeom prst="rect">
              <a:avLst/>
            </a:prstGeom>
            <a:noFill/>
            <a:ln w="9525">
              <a:noFill/>
            </a:ln>
          </p:spPr>
        </p:pic>
      </p:grpSp>
      <p:grpSp>
        <p:nvGrpSpPr>
          <p:cNvPr id="3" name="Group 15"/>
          <p:cNvGrpSpPr/>
          <p:nvPr/>
        </p:nvGrpSpPr>
        <p:grpSpPr>
          <a:xfrm>
            <a:off x="0" y="2408238"/>
            <a:ext cx="4824413" cy="3889375"/>
            <a:chOff x="2699" y="1797"/>
            <a:chExt cx="3039" cy="2450"/>
          </a:xfrm>
        </p:grpSpPr>
        <p:grpSp>
          <p:nvGrpSpPr>
            <p:cNvPr id="11273" name="Group 16"/>
            <p:cNvGrpSpPr/>
            <p:nvPr/>
          </p:nvGrpSpPr>
          <p:grpSpPr>
            <a:xfrm>
              <a:off x="2699" y="1807"/>
              <a:ext cx="3016" cy="2440"/>
              <a:chOff x="1155" y="1236"/>
              <a:chExt cx="3358" cy="2899"/>
            </a:xfrm>
          </p:grpSpPr>
          <p:sp>
            <p:nvSpPr>
              <p:cNvPr id="11274" name="Rectangle 17"/>
              <p:cNvSpPr/>
              <p:nvPr/>
            </p:nvSpPr>
            <p:spPr>
              <a:xfrm>
                <a:off x="1156" y="3838"/>
                <a:ext cx="3356" cy="297"/>
              </a:xfrm>
              <a:prstGeom prst="rect">
                <a:avLst/>
              </a:prstGeom>
              <a:solidFill>
                <a:srgbClr val="FFFFFF"/>
              </a:solidFill>
              <a:ln w="9525">
                <a:noFill/>
              </a:ln>
            </p:spPr>
            <p:txBody>
              <a:bodyPr anchor="t" anchorCtr="0">
                <a:spAutoFit/>
              </a:bodyPr>
              <a:p>
                <a:pPr eaLnBrk="0" hangingPunct="0"/>
                <a:r>
                  <a:rPr lang="en-US" altLang="zh-CN"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1  </a:t>
                </a:r>
                <a:r>
                  <a:rPr lang="zh-CN" altLang="en-US" sz="2000" b="1" dirty="0">
                    <a:solidFill>
                      <a:srgbClr val="000000"/>
                    </a:solidFill>
                    <a:latin typeface="楷体_GB2312"/>
                    <a:ea typeface="楷体_GB2312"/>
                  </a:rPr>
                  <a:t>机器零件上常用的各种典型表面</a:t>
                </a:r>
                <a:endParaRPr lang="zh-CN" altLang="en-US" sz="2000" b="1" dirty="0">
                  <a:solidFill>
                    <a:srgbClr val="000000"/>
                  </a:solidFill>
                  <a:latin typeface="楷体_GB2312"/>
                  <a:ea typeface="楷体_GB2312"/>
                </a:endParaRPr>
              </a:p>
            </p:txBody>
          </p:sp>
          <p:graphicFrame>
            <p:nvGraphicFramePr>
              <p:cNvPr id="11275" name="Object 18"/>
              <p:cNvGraphicFramePr>
                <a:graphicFrameLocks noChangeAspect="1"/>
              </p:cNvGraphicFramePr>
              <p:nvPr/>
            </p:nvGraphicFramePr>
            <p:xfrm>
              <a:off x="1155" y="1236"/>
              <a:ext cx="3358" cy="2648"/>
            </p:xfrm>
            <a:graphic>
              <a:graphicData uri="http://schemas.openxmlformats.org/presentationml/2006/ole">
                <mc:AlternateContent xmlns:mc="http://schemas.openxmlformats.org/markup-compatibility/2006">
                  <mc:Choice xmlns:v="urn:schemas-microsoft-com:vml" Requires="v">
                    <p:oleObj spid="_x0000_s3076" name="" r:id="rId5" imgW="11896725" imgH="9382125" progId="Paint.Picture">
                      <p:embed/>
                    </p:oleObj>
                  </mc:Choice>
                  <mc:Fallback>
                    <p:oleObj name="" r:id="rId5" imgW="11896725" imgH="9382125" progId="Paint.Picture">
                      <p:embed/>
                      <p:pic>
                        <p:nvPicPr>
                          <p:cNvPr id="0" name="图片 3075"/>
                          <p:cNvPicPr/>
                          <p:nvPr/>
                        </p:nvPicPr>
                        <p:blipFill>
                          <a:blip r:embed="rId6">
                            <a:biLevel thresh="50000"/>
                            <a:grayscl/>
                          </a:blip>
                          <a:stretch>
                            <a:fillRect/>
                          </a:stretch>
                        </p:blipFill>
                        <p:spPr>
                          <a:xfrm>
                            <a:off x="1155" y="1236"/>
                            <a:ext cx="3358" cy="2648"/>
                          </a:xfrm>
                          <a:prstGeom prst="rect">
                            <a:avLst/>
                          </a:prstGeom>
                          <a:noFill/>
                          <a:ln w="38100">
                            <a:noFill/>
                            <a:miter/>
                          </a:ln>
                        </p:spPr>
                      </p:pic>
                    </p:oleObj>
                  </mc:Fallback>
                </mc:AlternateContent>
              </a:graphicData>
            </a:graphic>
          </p:graphicFrame>
        </p:grpSp>
        <p:sp>
          <p:nvSpPr>
            <p:cNvPr id="11276" name="Rectangle 19"/>
            <p:cNvSpPr/>
            <p:nvPr/>
          </p:nvSpPr>
          <p:spPr>
            <a:xfrm>
              <a:off x="2699" y="1797"/>
              <a:ext cx="3039" cy="2450"/>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1277" name="Rectangle 2"/>
          <p:cNvSpPr>
            <a:spLocks noGrp="1"/>
          </p:cNvSpPr>
          <p:nvPr>
            <p:ph type="title"/>
          </p:nvPr>
        </p:nvSpPr>
        <p:spPr>
          <a:ln/>
        </p:spPr>
        <p:txBody>
          <a:bodyPr vert="horz" wrap="square" lIns="91440" tIns="45720" rIns="91440" bIns="45720" anchor="ctr" anchorCtr="0"/>
          <a:p>
            <a:pP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3"/>
          <p:cNvSpPr>
            <a:spLocks noGrp="1"/>
          </p:cNvSpPr>
          <p:nvPr>
            <p:ph idx="1"/>
          </p:nvPr>
        </p:nvSpPr>
        <p:spPr>
          <a:xfrm>
            <a:off x="0" y="1838325"/>
            <a:ext cx="3348038" cy="2376488"/>
          </a:xfrm>
          <a:ln/>
        </p:spPr>
        <p:txBody>
          <a:bodyPr vert="horz" wrap="square" lIns="91440" tIns="45720" rIns="91440" bIns="45720" anchor="t" anchorCtr="0"/>
          <a:p>
            <a:pPr eaLnBrk="1" hangingPunct="1">
              <a:buNone/>
            </a:pPr>
            <a:r>
              <a:rPr lang="en-US" altLang="zh-CN" sz="2400" b="1" dirty="0">
                <a:solidFill>
                  <a:srgbClr val="009900"/>
                </a:solidFill>
                <a:latin typeface="楷体_GB2312"/>
                <a:ea typeface="楷体_GB2312"/>
              </a:rPr>
              <a:t>2. </a:t>
            </a:r>
            <a:r>
              <a:rPr lang="zh-CN" altLang="en-US" sz="2400" b="1" dirty="0">
                <a:solidFill>
                  <a:srgbClr val="009900"/>
                </a:solidFill>
                <a:latin typeface="楷体_GB2312"/>
                <a:ea typeface="楷体_GB2312"/>
              </a:rPr>
              <a:t>切削加工成形方法</a:t>
            </a:r>
            <a:endParaRPr lang="zh-CN" altLang="en-US" sz="2400" b="1" dirty="0">
              <a:solidFill>
                <a:srgbClr val="009900"/>
              </a:solidFill>
              <a:latin typeface="楷体_GB2312"/>
              <a:ea typeface="楷体_GB2312"/>
            </a:endParaRPr>
          </a:p>
          <a:p>
            <a:pPr eaLnBrk="1" fontAlgn="ctr" hangingPunct="1">
              <a:buNone/>
            </a:pPr>
            <a:r>
              <a:rPr lang="zh-CN" altLang="en-US" sz="3600" b="1" dirty="0">
                <a:solidFill>
                  <a:srgbClr val="000000"/>
                </a:solidFill>
                <a:latin typeface="楷体_GB2312"/>
                <a:ea typeface="楷体_GB2312"/>
              </a:rPr>
              <a:t> </a:t>
            </a:r>
            <a:r>
              <a:rPr lang="en-US" altLang="zh-CN" sz="3600" b="1" dirty="0">
                <a:solidFill>
                  <a:srgbClr val="000000"/>
                </a:solidFill>
                <a:latin typeface="楷体_GB2312"/>
                <a:ea typeface="楷体_GB2312"/>
              </a:rPr>
              <a:t>  </a:t>
            </a:r>
            <a:r>
              <a:rPr lang="zh-CN" altLang="en-US" sz="2000" b="1" dirty="0">
                <a:solidFill>
                  <a:srgbClr val="000000"/>
                </a:solidFill>
                <a:latin typeface="楷体_GB2312"/>
                <a:ea typeface="楷体_GB2312"/>
              </a:rPr>
              <a:t>零件表面可以看成是一条线沿着另一条线移动或旋转而形成的。这两条线叫作</a:t>
            </a:r>
            <a:r>
              <a:rPr lang="zh-CN" altLang="en-US" sz="2000" b="1" dirty="0">
                <a:solidFill>
                  <a:srgbClr val="FF3300"/>
                </a:solidFill>
                <a:latin typeface="楷体_GB2312"/>
                <a:ea typeface="楷体_GB2312"/>
              </a:rPr>
              <a:t>母线和导线</a:t>
            </a:r>
            <a:r>
              <a:rPr lang="zh-CN" altLang="en-US" sz="2000" b="1" dirty="0">
                <a:solidFill>
                  <a:srgbClr val="000000"/>
                </a:solidFill>
                <a:latin typeface="楷体_GB2312"/>
                <a:ea typeface="楷体_GB2312"/>
              </a:rPr>
              <a:t>，统称为形成表面的</a:t>
            </a:r>
            <a:r>
              <a:rPr lang="zh-CN" altLang="en-US" sz="2000" b="1" dirty="0">
                <a:solidFill>
                  <a:srgbClr val="FF3300"/>
                </a:solidFill>
                <a:latin typeface="楷体_GB2312"/>
                <a:ea typeface="楷体_GB2312"/>
              </a:rPr>
              <a:t>成形线</a:t>
            </a:r>
            <a:r>
              <a:rPr lang="zh-CN" altLang="en-US" sz="2000" b="1" dirty="0">
                <a:solidFill>
                  <a:srgbClr val="000000"/>
                </a:solidFill>
                <a:latin typeface="楷体_GB2312"/>
                <a:ea typeface="楷体_GB2312"/>
              </a:rPr>
              <a:t>。</a:t>
            </a:r>
            <a:endParaRPr lang="en-US" altLang="zh-CN" sz="2000" b="1" dirty="0">
              <a:solidFill>
                <a:srgbClr val="000000"/>
              </a:solidFill>
              <a:latin typeface="楷体_GB2312"/>
              <a:ea typeface="楷体_GB2312"/>
            </a:endParaRPr>
          </a:p>
          <a:p>
            <a:pPr eaLnBrk="1" fontAlgn="ctr" hangingPunct="1">
              <a:buNone/>
            </a:pPr>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切削加工时具体</a:t>
            </a:r>
            <a:r>
              <a:rPr lang="zh-CN" altLang="en-US" sz="2000" b="1" dirty="0">
                <a:solidFill>
                  <a:srgbClr val="0000FF"/>
                </a:solidFill>
                <a:latin typeface="楷体_GB2312"/>
                <a:ea typeface="楷体_GB2312"/>
              </a:rPr>
              <a:t>实现这两根成形线的是刀具的</a:t>
            </a:r>
            <a:r>
              <a:rPr lang="zh-CN" altLang="en-US" sz="2000" b="1" dirty="0">
                <a:solidFill>
                  <a:srgbClr val="FF3300"/>
                </a:solidFill>
                <a:latin typeface="楷体_GB2312"/>
                <a:ea typeface="楷体_GB2312"/>
              </a:rPr>
              <a:t>切削刃与工件的</a:t>
            </a:r>
            <a:r>
              <a:rPr lang="zh-CN" altLang="en-US" sz="2000" b="1" u="sng" dirty="0">
                <a:solidFill>
                  <a:srgbClr val="FF3300"/>
                </a:solidFill>
                <a:latin typeface="楷体_GB2312"/>
                <a:ea typeface="楷体_GB2312"/>
              </a:rPr>
              <a:t>相对运动</a:t>
            </a:r>
            <a:r>
              <a:rPr lang="zh-CN" altLang="en-US" sz="2000" b="1" dirty="0">
                <a:solidFill>
                  <a:srgbClr val="3366FF"/>
                </a:solidFill>
                <a:latin typeface="楷体_GB2312"/>
                <a:ea typeface="楷体_GB2312"/>
              </a:rPr>
              <a:t>，</a:t>
            </a:r>
            <a:r>
              <a:rPr lang="zh-CN" altLang="en-US" sz="2000" b="1" dirty="0">
                <a:solidFill>
                  <a:srgbClr val="000000"/>
                </a:solidFill>
                <a:latin typeface="楷体_GB2312"/>
                <a:ea typeface="楷体_GB2312"/>
              </a:rPr>
              <a:t>并通过此运动将工件的表面切削成形。</a:t>
            </a:r>
            <a:endParaRPr lang="zh-CN" altLang="en-US" sz="2000" b="1" dirty="0">
              <a:solidFill>
                <a:srgbClr val="000000"/>
              </a:solidFill>
              <a:latin typeface="楷体_GB2312"/>
              <a:ea typeface="楷体_GB2312"/>
            </a:endParaRPr>
          </a:p>
        </p:txBody>
      </p:sp>
      <p:grpSp>
        <p:nvGrpSpPr>
          <p:cNvPr id="13314" name="Group 5"/>
          <p:cNvGrpSpPr/>
          <p:nvPr/>
        </p:nvGrpSpPr>
        <p:grpSpPr>
          <a:xfrm>
            <a:off x="3348038" y="1989138"/>
            <a:ext cx="5616575" cy="3919537"/>
            <a:chOff x="1474" y="2614"/>
            <a:chExt cx="2585" cy="1587"/>
          </a:xfrm>
        </p:grpSpPr>
        <p:grpSp>
          <p:nvGrpSpPr>
            <p:cNvPr id="13315" name="Group 6"/>
            <p:cNvGrpSpPr/>
            <p:nvPr/>
          </p:nvGrpSpPr>
          <p:grpSpPr>
            <a:xfrm>
              <a:off x="1474" y="2614"/>
              <a:ext cx="2585" cy="1573"/>
              <a:chOff x="1565" y="2523"/>
              <a:chExt cx="2928" cy="1696"/>
            </a:xfrm>
          </p:grpSpPr>
          <p:grpSp>
            <p:nvGrpSpPr>
              <p:cNvPr id="13316" name="Group 7"/>
              <p:cNvGrpSpPr/>
              <p:nvPr/>
            </p:nvGrpSpPr>
            <p:grpSpPr>
              <a:xfrm>
                <a:off x="1565" y="2523"/>
                <a:ext cx="2928" cy="1693"/>
                <a:chOff x="1392" y="2544"/>
                <a:chExt cx="2928" cy="1693"/>
              </a:xfrm>
            </p:grpSpPr>
            <p:pic>
              <p:nvPicPr>
                <p:cNvPr id="13317" name="Picture 8"/>
                <p:cNvPicPr>
                  <a:picLocks noChangeAspect="1"/>
                </p:cNvPicPr>
                <p:nvPr/>
              </p:nvPicPr>
              <p:blipFill>
                <a:blip r:embed="rId1"/>
                <a:stretch>
                  <a:fillRect/>
                </a:stretch>
              </p:blipFill>
              <p:spPr>
                <a:xfrm>
                  <a:off x="1392" y="2544"/>
                  <a:ext cx="2928" cy="1693"/>
                </a:xfrm>
                <a:prstGeom prst="rect">
                  <a:avLst/>
                </a:prstGeom>
                <a:noFill/>
                <a:ln w="9525">
                  <a:noFill/>
                </a:ln>
              </p:spPr>
            </p:pic>
            <p:sp>
              <p:nvSpPr>
                <p:cNvPr id="13318" name="Text Box 9"/>
                <p:cNvSpPr txBox="1"/>
                <p:nvPr/>
              </p:nvSpPr>
              <p:spPr>
                <a:xfrm>
                  <a:off x="2640" y="4070"/>
                  <a:ext cx="144" cy="166"/>
                </a:xfrm>
                <a:prstGeom prst="rect">
                  <a:avLst/>
                </a:prstGeom>
                <a:solidFill>
                  <a:srgbClr val="FFFFFF"/>
                </a:solidFill>
                <a:ln w="9525">
                  <a:noFill/>
                </a:ln>
              </p:spPr>
              <p:txBody>
                <a:bodyPr anchor="t" anchorCtr="0">
                  <a:spAutoFit/>
                </a:bodyPr>
                <a:p>
                  <a:r>
                    <a:rPr lang="en-US" altLang="zh-CN" sz="1000" dirty="0">
                      <a:solidFill>
                        <a:srgbClr val="000000"/>
                      </a:solidFill>
                      <a:latin typeface="Times New Roman" panose="02020603050405020304" pitchFamily="18" charset="0"/>
                      <a:ea typeface="宋体" panose="02010600030101010101" pitchFamily="2" charset="-122"/>
                    </a:rPr>
                    <a:t>1</a:t>
                  </a:r>
                  <a:endParaRPr lang="en-US" altLang="zh-CN" sz="1000" dirty="0">
                    <a:solidFill>
                      <a:srgbClr val="000000"/>
                    </a:solidFill>
                    <a:latin typeface="Times New Roman" panose="02020603050405020304" pitchFamily="18" charset="0"/>
                    <a:ea typeface="宋体" panose="02010600030101010101" pitchFamily="2" charset="-122"/>
                  </a:endParaRPr>
                </a:p>
              </p:txBody>
            </p:sp>
          </p:grpSp>
          <p:sp>
            <p:nvSpPr>
              <p:cNvPr id="13319" name="Rectangle 10"/>
              <p:cNvSpPr/>
              <p:nvPr/>
            </p:nvSpPr>
            <p:spPr>
              <a:xfrm>
                <a:off x="2566" y="3963"/>
                <a:ext cx="1125" cy="256"/>
              </a:xfrm>
              <a:prstGeom prst="rect">
                <a:avLst/>
              </a:prstGeom>
              <a:solidFill>
                <a:srgbClr val="FFFFFF"/>
              </a:solidFill>
              <a:ln w="9525" cap="flat" cmpd="sng">
                <a:solidFill>
                  <a:srgbClr val="FFFFFF"/>
                </a:solidFill>
                <a:prstDash val="solid"/>
                <a:miter/>
                <a:headEnd type="none" w="med" len="med"/>
                <a:tailEnd type="none" w="med" len="med"/>
              </a:ln>
            </p:spPr>
            <p:txBody>
              <a:bodyPr wrap="non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 </a:t>
                </a:r>
                <a:r>
                  <a:rPr lang="zh-CN" altLang="en-US" b="1" dirty="0">
                    <a:solidFill>
                      <a:srgbClr val="000000"/>
                    </a:solidFill>
                    <a:latin typeface="楷体_GB2312"/>
                    <a:ea typeface="楷体_GB2312"/>
                  </a:rPr>
                  <a:t>表面成形</a:t>
                </a:r>
                <a:endParaRPr lang="zh-CN" altLang="en-US" b="1" dirty="0">
                  <a:solidFill>
                    <a:srgbClr val="000000"/>
                  </a:solidFill>
                  <a:latin typeface="楷体_GB2312"/>
                  <a:ea typeface="楷体_GB2312"/>
                </a:endParaRPr>
              </a:p>
            </p:txBody>
          </p:sp>
        </p:grpSp>
        <p:sp>
          <p:nvSpPr>
            <p:cNvPr id="13320" name="Rectangle 11"/>
            <p:cNvSpPr/>
            <p:nvPr/>
          </p:nvSpPr>
          <p:spPr>
            <a:xfrm>
              <a:off x="1474" y="2614"/>
              <a:ext cx="2585" cy="1587"/>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3321" name="Rectangle 2"/>
          <p:cNvSpPr>
            <a:spLocks noGrp="1"/>
          </p:cNvSpPr>
          <p:nvPr>
            <p:ph type="title"/>
          </p:nvPr>
        </p:nvSpPr>
        <p:spPr>
          <a:ln/>
        </p:spPr>
        <p:txBody>
          <a:bodyPr vert="horz" wrap="square" lIns="91440" tIns="45720" rIns="91440" bIns="45720" anchor="ctr" anchorCtr="0"/>
          <a:p>
            <a:pP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2917825" y="349250"/>
            <a:ext cx="5324475" cy="750888"/>
          </a:xfrm>
          <a:ln/>
        </p:spPr>
        <p:txBody>
          <a:bodyPr vert="horz" wrap="square" lIns="91440" tIns="45720" rIns="91440" bIns="45720" anchor="ctr" anchorCtr="0"/>
          <a:p>
            <a:pP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
        <p:nvSpPr>
          <p:cNvPr id="15362" name="Rectangle 3"/>
          <p:cNvSpPr/>
          <p:nvPr/>
        </p:nvSpPr>
        <p:spPr>
          <a:xfrm>
            <a:off x="215900" y="1341438"/>
            <a:ext cx="3238500" cy="4770437"/>
          </a:xfrm>
          <a:prstGeom prst="rect">
            <a:avLst/>
          </a:prstGeom>
          <a:noFill/>
          <a:ln w="9525">
            <a:noFill/>
          </a:ln>
        </p:spPr>
        <p:txBody>
          <a:bodyPr anchor="t" anchorCtr="0">
            <a:spAutoFit/>
          </a:bodyPr>
          <a:p>
            <a:pPr marL="342900" indent="-342900"/>
            <a:r>
              <a:rPr lang="en-US" altLang="zh-CN" sz="2400" b="1" dirty="0">
                <a:solidFill>
                  <a:srgbClr val="009900"/>
                </a:solidFill>
                <a:latin typeface="楷体_GB2312"/>
                <a:ea typeface="楷体_GB2312"/>
              </a:rPr>
              <a:t>2.</a:t>
            </a:r>
            <a:r>
              <a:rPr lang="zh-CN" altLang="en-US" sz="2400" b="1" dirty="0">
                <a:solidFill>
                  <a:srgbClr val="009900"/>
                </a:solidFill>
                <a:latin typeface="楷体_GB2312"/>
                <a:ea typeface="楷体_GB2312"/>
              </a:rPr>
              <a:t>切削加工成形方法</a:t>
            </a:r>
            <a:endParaRPr lang="zh-CN" altLang="en-US" sz="2400" b="1" dirty="0">
              <a:solidFill>
                <a:srgbClr val="009900"/>
              </a:solidFill>
              <a:latin typeface="楷体_GB2312"/>
              <a:ea typeface="楷体_GB2312"/>
            </a:endParaRPr>
          </a:p>
          <a:p>
            <a:pPr marL="342900" indent="-342900"/>
            <a:r>
              <a:rPr lang="zh-CN" altLang="en-US" sz="2000" b="1" dirty="0">
                <a:solidFill>
                  <a:srgbClr val="000000"/>
                </a:solidFill>
                <a:latin typeface="楷体_GB2312"/>
                <a:ea typeface="楷体_GB2312"/>
              </a:rPr>
              <a:t>     直线或曲线</a:t>
            </a:r>
            <a:r>
              <a:rPr lang="en-US" altLang="zh-CN" sz="2000" b="1" dirty="0">
                <a:solidFill>
                  <a:srgbClr val="FF0000"/>
                </a:solidFill>
                <a:latin typeface="楷体_GB2312"/>
                <a:ea typeface="楷体_GB2312"/>
              </a:rPr>
              <a:t>1</a:t>
            </a:r>
            <a:r>
              <a:rPr lang="zh-CN" altLang="en-US" sz="2000" b="1" dirty="0">
                <a:solidFill>
                  <a:srgbClr val="FF0000"/>
                </a:solidFill>
                <a:latin typeface="楷体_GB2312"/>
                <a:ea typeface="楷体_GB2312"/>
              </a:rPr>
              <a:t>视为母线</a:t>
            </a:r>
            <a:r>
              <a:rPr lang="zh-CN" altLang="en-US" sz="2000" b="1" dirty="0">
                <a:solidFill>
                  <a:srgbClr val="000000"/>
                </a:solidFill>
                <a:latin typeface="楷体_GB2312"/>
                <a:ea typeface="楷体_GB2312"/>
              </a:rPr>
              <a:t>，绕</a:t>
            </a:r>
            <a:r>
              <a:rPr lang="en-US" altLang="zh-CN" sz="2000" b="1" dirty="0">
                <a:solidFill>
                  <a:srgbClr val="000000"/>
                </a:solidFill>
                <a:latin typeface="楷体_GB2312"/>
                <a:ea typeface="楷体_GB2312"/>
              </a:rPr>
              <a:t>O-O</a:t>
            </a:r>
            <a:r>
              <a:rPr lang="zh-CN" altLang="en-US" sz="2000" b="1" dirty="0">
                <a:solidFill>
                  <a:srgbClr val="000000"/>
                </a:solidFill>
                <a:latin typeface="楷体_GB2312"/>
                <a:ea typeface="楷体_GB2312"/>
              </a:rPr>
              <a:t>轴心旋转所形成的</a:t>
            </a:r>
            <a:r>
              <a:rPr lang="zh-CN" altLang="en-US" sz="2000" b="1" dirty="0">
                <a:solidFill>
                  <a:srgbClr val="FF0000"/>
                </a:solidFill>
                <a:latin typeface="楷体_GB2312"/>
                <a:ea typeface="楷体_GB2312"/>
              </a:rPr>
              <a:t>圆</a:t>
            </a:r>
            <a:r>
              <a:rPr lang="zh-CN" altLang="en-US" sz="2000" b="1" dirty="0">
                <a:solidFill>
                  <a:srgbClr val="000000"/>
                </a:solidFill>
                <a:latin typeface="楷体_GB2312"/>
                <a:ea typeface="楷体_GB2312"/>
              </a:rPr>
              <a:t>或按</a:t>
            </a:r>
            <a:r>
              <a:rPr lang="zh-CN" altLang="en-US" sz="2000" b="1" dirty="0">
                <a:solidFill>
                  <a:srgbClr val="FF3300"/>
                </a:solidFill>
                <a:latin typeface="楷体_GB2312"/>
                <a:ea typeface="楷体_GB2312"/>
              </a:rPr>
              <a:t>一定方向</a:t>
            </a:r>
            <a:r>
              <a:rPr lang="zh-CN" altLang="en-US" sz="2000" b="1" dirty="0">
                <a:solidFill>
                  <a:srgbClr val="3333FF"/>
                </a:solidFill>
                <a:latin typeface="楷体_GB2312"/>
                <a:ea typeface="楷体_GB2312"/>
              </a:rPr>
              <a:t>移动</a:t>
            </a:r>
            <a:r>
              <a:rPr lang="zh-CN" altLang="en-US" sz="2000" b="1" dirty="0">
                <a:latin typeface="楷体_GB2312"/>
                <a:ea typeface="楷体_GB2312"/>
              </a:rPr>
              <a:t>所形成</a:t>
            </a:r>
            <a:r>
              <a:rPr lang="zh-CN" altLang="en-US" sz="2000" b="1" dirty="0">
                <a:solidFill>
                  <a:srgbClr val="000000"/>
                </a:solidFill>
                <a:latin typeface="楷体_GB2312"/>
                <a:ea typeface="楷体_GB2312"/>
              </a:rPr>
              <a:t>的</a:t>
            </a:r>
            <a:r>
              <a:rPr lang="zh-CN" altLang="en-US" sz="2000" b="1" dirty="0">
                <a:solidFill>
                  <a:srgbClr val="FF0000"/>
                </a:solidFill>
                <a:latin typeface="楷体_GB2312"/>
                <a:ea typeface="楷体_GB2312"/>
              </a:rPr>
              <a:t>直线</a:t>
            </a:r>
            <a:r>
              <a:rPr lang="zh-CN" altLang="en-US" sz="2000" b="1" dirty="0">
                <a:solidFill>
                  <a:srgbClr val="000000"/>
                </a:solidFill>
                <a:latin typeface="楷体_GB2312"/>
                <a:ea typeface="楷体_GB2312"/>
              </a:rPr>
              <a:t>（或</a:t>
            </a:r>
            <a:r>
              <a:rPr lang="zh-CN" altLang="en-US" sz="2000" b="1" dirty="0">
                <a:solidFill>
                  <a:srgbClr val="FF0000"/>
                </a:solidFill>
                <a:latin typeface="楷体_GB2312"/>
                <a:ea typeface="楷体_GB2312"/>
              </a:rPr>
              <a:t>曲线</a:t>
            </a:r>
            <a:r>
              <a:rPr lang="zh-CN" altLang="en-US" sz="2000" b="1" dirty="0">
                <a:solidFill>
                  <a:srgbClr val="000000"/>
                </a:solidFill>
                <a:latin typeface="楷体_GB2312"/>
                <a:ea typeface="楷体_GB2312"/>
              </a:rPr>
              <a:t>）</a:t>
            </a:r>
            <a:r>
              <a:rPr lang="en-US" altLang="zh-CN" sz="2000" b="1" dirty="0">
                <a:solidFill>
                  <a:srgbClr val="FF0000"/>
                </a:solidFill>
                <a:latin typeface="楷体_GB2312"/>
                <a:ea typeface="楷体_GB2312"/>
              </a:rPr>
              <a:t>2</a:t>
            </a:r>
            <a:r>
              <a:rPr lang="zh-CN" altLang="en-US" sz="2000" b="1" dirty="0">
                <a:solidFill>
                  <a:srgbClr val="FF0000"/>
                </a:solidFill>
                <a:latin typeface="楷体_GB2312"/>
                <a:ea typeface="楷体_GB2312"/>
              </a:rPr>
              <a:t>视为导线</a:t>
            </a:r>
            <a:r>
              <a:rPr lang="zh-CN" altLang="en-US" sz="2000" b="1" dirty="0">
                <a:solidFill>
                  <a:srgbClr val="000000"/>
                </a:solidFill>
                <a:latin typeface="楷体_GB2312"/>
                <a:ea typeface="楷体_GB2312"/>
              </a:rPr>
              <a:t>。</a:t>
            </a:r>
            <a:endParaRPr lang="zh-CN" altLang="en-US" sz="2000" b="1" dirty="0">
              <a:solidFill>
                <a:srgbClr val="000000"/>
              </a:solidFill>
              <a:latin typeface="楷体_GB2312"/>
              <a:ea typeface="楷体_GB2312"/>
            </a:endParaRPr>
          </a:p>
          <a:p>
            <a:pPr marL="342900" indent="-342900"/>
            <a:r>
              <a:rPr lang="zh-CN" altLang="en-US" sz="2000" b="1" dirty="0">
                <a:solidFill>
                  <a:srgbClr val="000000"/>
                </a:solidFill>
                <a:latin typeface="楷体_GB2312"/>
                <a:ea typeface="楷体_GB2312"/>
              </a:rPr>
              <a:t>   </a:t>
            </a:r>
            <a:r>
              <a:rPr lang="zh-CN" altLang="en-US" sz="2000" b="1" dirty="0">
                <a:solidFill>
                  <a:srgbClr val="FF0000"/>
                </a:solidFill>
                <a:latin typeface="楷体_GB2312"/>
                <a:ea typeface="楷体_GB2312"/>
              </a:rPr>
              <a:t>注意：</a:t>
            </a:r>
            <a:endParaRPr lang="zh-CN" altLang="en-US" sz="2000" b="1" dirty="0">
              <a:solidFill>
                <a:srgbClr val="FF0000"/>
              </a:solidFill>
              <a:latin typeface="楷体_GB2312"/>
              <a:ea typeface="楷体_GB2312"/>
            </a:endParaRPr>
          </a:p>
          <a:p>
            <a:pPr marL="342900" indent="-342900"/>
            <a:r>
              <a:rPr lang="zh-CN" altLang="en-US" sz="2000" b="1" dirty="0">
                <a:solidFill>
                  <a:srgbClr val="FF3300"/>
                </a:solidFill>
                <a:latin typeface="楷体_GB2312"/>
                <a:ea typeface="楷体_GB2312"/>
              </a:rPr>
              <a:t>    </a:t>
            </a:r>
            <a:r>
              <a:rPr lang="zh-CN" altLang="en-US" sz="2000" b="1" dirty="0">
                <a:solidFill>
                  <a:srgbClr val="000000"/>
                </a:solidFill>
                <a:latin typeface="楷体_GB2312"/>
                <a:ea typeface="楷体_GB2312"/>
              </a:rPr>
              <a:t>①虽然母线形状相同导线形状也相同，若两者间</a:t>
            </a:r>
            <a:r>
              <a:rPr lang="zh-CN" altLang="en-US" sz="2000" b="1" dirty="0">
                <a:solidFill>
                  <a:srgbClr val="A50021"/>
                </a:solidFill>
                <a:latin typeface="楷体_GB2312"/>
                <a:ea typeface="楷体_GB2312"/>
              </a:rPr>
              <a:t>原始相对位置不同，所形成的表面也就不同</a:t>
            </a:r>
            <a:r>
              <a:rPr lang="en-US" altLang="zh-CN" sz="2000" b="1" dirty="0">
                <a:solidFill>
                  <a:srgbClr val="000000"/>
                </a:solidFill>
                <a:latin typeface="楷体_GB2312"/>
                <a:ea typeface="楷体_GB2312"/>
              </a:rPr>
              <a:t>(</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b</a:t>
            </a:r>
            <a:r>
              <a:rPr lang="zh-CN" altLang="en-US" sz="2000" b="1" dirty="0">
                <a:solidFill>
                  <a:srgbClr val="000000"/>
                </a:solidFill>
                <a:latin typeface="楷体_GB2312"/>
                <a:ea typeface="楷体_GB2312"/>
              </a:rPr>
              <a:t>及</a:t>
            </a:r>
            <a:r>
              <a:rPr lang="en-US" altLang="zh-CN" sz="2000" b="1" dirty="0">
                <a:solidFill>
                  <a:srgbClr val="000000"/>
                </a:solidFill>
                <a:latin typeface="楷体_GB2312"/>
                <a:ea typeface="楷体_GB2312"/>
              </a:rPr>
              <a:t>c)</a:t>
            </a:r>
            <a:r>
              <a:rPr lang="zh-CN" altLang="en-US" sz="2000" b="1" dirty="0">
                <a:solidFill>
                  <a:srgbClr val="000000"/>
                </a:solidFill>
                <a:latin typeface="楷体_GB2312"/>
                <a:ea typeface="楷体_GB2312"/>
              </a:rPr>
              <a:t>。</a:t>
            </a:r>
            <a:endParaRPr lang="zh-CN" altLang="en-US" sz="2000" b="1" dirty="0">
              <a:solidFill>
                <a:srgbClr val="000000"/>
              </a:solidFill>
              <a:latin typeface="楷体_GB2312"/>
              <a:ea typeface="楷体_GB2312"/>
            </a:endParaRPr>
          </a:p>
          <a:p>
            <a:pPr marL="342900" indent="-342900"/>
            <a:r>
              <a:rPr lang="zh-CN" altLang="en-US" sz="2000" b="1" dirty="0">
                <a:latin typeface="楷体_GB2312"/>
                <a:ea typeface="楷体_GB2312"/>
              </a:rPr>
              <a:t>    </a:t>
            </a:r>
            <a:r>
              <a:rPr lang="zh-CN" altLang="en-US" sz="2000" b="1" dirty="0">
                <a:solidFill>
                  <a:srgbClr val="000000"/>
                </a:solidFill>
                <a:latin typeface="楷体_GB2312"/>
                <a:ea typeface="楷体_GB2312"/>
              </a:rPr>
              <a:t>②在某些情况下</a:t>
            </a:r>
            <a:r>
              <a:rPr lang="zh-CN" altLang="en-US" sz="2000" b="1" dirty="0">
                <a:solidFill>
                  <a:srgbClr val="A50021"/>
                </a:solidFill>
                <a:latin typeface="楷体_GB2312"/>
                <a:ea typeface="楷体_GB2312"/>
              </a:rPr>
              <a:t>母线、导线没有严格的区分</a:t>
            </a:r>
            <a:r>
              <a:rPr lang="zh-CN" altLang="en-US" sz="2000" b="1" dirty="0">
                <a:solidFill>
                  <a:srgbClr val="000000"/>
                </a:solidFill>
                <a:latin typeface="楷体_GB2312"/>
                <a:ea typeface="楷体_GB2312"/>
              </a:rPr>
              <a:t>，特别对于自由曲面</a:t>
            </a:r>
            <a:r>
              <a:rPr lang="en-US" altLang="zh-CN" sz="2000" b="1" dirty="0">
                <a:solidFill>
                  <a:srgbClr val="000000"/>
                </a:solidFill>
                <a:latin typeface="楷体_GB2312"/>
                <a:ea typeface="楷体_GB2312"/>
              </a:rPr>
              <a:t>(</a:t>
            </a:r>
            <a:r>
              <a:rPr lang="zh-CN" altLang="en-US" sz="2000" b="1" dirty="0">
                <a:solidFill>
                  <a:srgbClr val="000000"/>
                </a:solidFill>
                <a:latin typeface="楷体_GB2312"/>
                <a:ea typeface="楷体_GB2312"/>
              </a:rPr>
              <a:t>图</a:t>
            </a:r>
            <a:r>
              <a:rPr lang="en-US" altLang="zh-CN" sz="2000" b="1" dirty="0">
                <a:solidFill>
                  <a:srgbClr val="000000"/>
                </a:solidFill>
                <a:latin typeface="Times New Roman" panose="02020603050405020304" pitchFamily="18" charset="0"/>
                <a:ea typeface="楷体_GB2312"/>
              </a:rPr>
              <a:t>f</a:t>
            </a:r>
            <a:r>
              <a:rPr lang="en-US" altLang="zh-CN" sz="2000" b="1" dirty="0">
                <a:solidFill>
                  <a:srgbClr val="000000"/>
                </a:solidFill>
                <a:latin typeface="楷体_GB2312"/>
                <a:ea typeface="楷体_GB2312"/>
              </a:rPr>
              <a:t>)</a:t>
            </a:r>
            <a:r>
              <a:rPr lang="zh-CN" altLang="en-US" sz="2000" b="1" dirty="0">
                <a:solidFill>
                  <a:srgbClr val="000000"/>
                </a:solidFill>
                <a:latin typeface="楷体_GB2312"/>
                <a:ea typeface="楷体_GB2312"/>
              </a:rPr>
              <a:t>。</a:t>
            </a:r>
            <a:endParaRPr lang="zh-CN" altLang="en-US" sz="2000" b="1" dirty="0">
              <a:solidFill>
                <a:srgbClr val="000000"/>
              </a:solidFill>
              <a:latin typeface="楷体_GB2312"/>
              <a:ea typeface="楷体_GB2312"/>
            </a:endParaRPr>
          </a:p>
        </p:txBody>
      </p:sp>
      <p:grpSp>
        <p:nvGrpSpPr>
          <p:cNvPr id="15363" name="Group 4"/>
          <p:cNvGrpSpPr/>
          <p:nvPr/>
        </p:nvGrpSpPr>
        <p:grpSpPr>
          <a:xfrm>
            <a:off x="3455988" y="1989138"/>
            <a:ext cx="5653087" cy="4176712"/>
            <a:chOff x="1927" y="2614"/>
            <a:chExt cx="3040" cy="1706"/>
          </a:xfrm>
        </p:grpSpPr>
        <p:grpSp>
          <p:nvGrpSpPr>
            <p:cNvPr id="15364" name="Group 5"/>
            <p:cNvGrpSpPr/>
            <p:nvPr/>
          </p:nvGrpSpPr>
          <p:grpSpPr>
            <a:xfrm>
              <a:off x="1927" y="2614"/>
              <a:ext cx="3039" cy="1693"/>
              <a:chOff x="1565" y="2523"/>
              <a:chExt cx="2928" cy="1693"/>
            </a:xfrm>
          </p:grpSpPr>
          <p:grpSp>
            <p:nvGrpSpPr>
              <p:cNvPr id="15365" name="Group 6"/>
              <p:cNvGrpSpPr/>
              <p:nvPr/>
            </p:nvGrpSpPr>
            <p:grpSpPr>
              <a:xfrm>
                <a:off x="1565" y="2523"/>
                <a:ext cx="2928" cy="1693"/>
                <a:chOff x="1392" y="2544"/>
                <a:chExt cx="2928" cy="1693"/>
              </a:xfrm>
            </p:grpSpPr>
            <p:pic>
              <p:nvPicPr>
                <p:cNvPr id="15366" name="Picture 7"/>
                <p:cNvPicPr>
                  <a:picLocks noChangeAspect="1"/>
                </p:cNvPicPr>
                <p:nvPr/>
              </p:nvPicPr>
              <p:blipFill>
                <a:blip r:embed="rId1"/>
                <a:stretch>
                  <a:fillRect/>
                </a:stretch>
              </p:blipFill>
              <p:spPr>
                <a:xfrm>
                  <a:off x="1392" y="2544"/>
                  <a:ext cx="2928" cy="1693"/>
                </a:xfrm>
                <a:prstGeom prst="rect">
                  <a:avLst/>
                </a:prstGeom>
                <a:noFill/>
                <a:ln w="9525">
                  <a:noFill/>
                </a:ln>
              </p:spPr>
            </p:pic>
            <p:sp>
              <p:nvSpPr>
                <p:cNvPr id="15367" name="Text Box 8"/>
                <p:cNvSpPr txBox="1"/>
                <p:nvPr/>
              </p:nvSpPr>
              <p:spPr>
                <a:xfrm>
                  <a:off x="2640" y="4070"/>
                  <a:ext cx="144" cy="154"/>
                </a:xfrm>
                <a:prstGeom prst="rect">
                  <a:avLst/>
                </a:prstGeom>
                <a:solidFill>
                  <a:srgbClr val="FFFFFF"/>
                </a:solidFill>
                <a:ln w="9525">
                  <a:noFill/>
                </a:ln>
              </p:spPr>
              <p:txBody>
                <a:bodyPr anchor="t" anchorCtr="0">
                  <a:spAutoFit/>
                </a:bodyPr>
                <a:p>
                  <a:r>
                    <a:rPr lang="en-US" altLang="zh-CN" sz="1000" dirty="0">
                      <a:solidFill>
                        <a:srgbClr val="000000"/>
                      </a:solidFill>
                      <a:latin typeface="Times New Roman" panose="02020603050405020304" pitchFamily="18" charset="0"/>
                      <a:ea typeface="宋体" panose="02010600030101010101" pitchFamily="2" charset="-122"/>
                    </a:rPr>
                    <a:t>1</a:t>
                  </a:r>
                  <a:endParaRPr lang="en-US" altLang="zh-CN" sz="1000" dirty="0">
                    <a:solidFill>
                      <a:srgbClr val="000000"/>
                    </a:solidFill>
                    <a:latin typeface="Times New Roman" panose="02020603050405020304" pitchFamily="18" charset="0"/>
                    <a:ea typeface="宋体" panose="02010600030101010101" pitchFamily="2" charset="-122"/>
                  </a:endParaRPr>
                </a:p>
              </p:txBody>
            </p:sp>
          </p:grpSp>
          <p:sp>
            <p:nvSpPr>
              <p:cNvPr id="15368" name="Rectangle 9"/>
              <p:cNvSpPr/>
              <p:nvPr/>
            </p:nvSpPr>
            <p:spPr>
              <a:xfrm>
                <a:off x="2567" y="3964"/>
                <a:ext cx="957" cy="237"/>
              </a:xfrm>
              <a:prstGeom prst="rect">
                <a:avLst/>
              </a:prstGeom>
              <a:solidFill>
                <a:srgbClr val="FFFFFF"/>
              </a:solidFill>
              <a:ln w="9525" cap="flat" cmpd="sng">
                <a:solidFill>
                  <a:srgbClr val="FFFFFF"/>
                </a:solidFill>
                <a:prstDash val="solid"/>
                <a:miter/>
                <a:headEnd type="none" w="med" len="med"/>
                <a:tailEnd type="none" w="med" len="med"/>
              </a:ln>
            </p:spPr>
            <p:txBody>
              <a:bodyPr wrap="non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 </a:t>
                </a:r>
                <a:r>
                  <a:rPr lang="zh-CN" altLang="en-US" b="1" dirty="0">
                    <a:solidFill>
                      <a:srgbClr val="000000"/>
                    </a:solidFill>
                    <a:latin typeface="楷体_GB2312"/>
                    <a:ea typeface="楷体_GB2312"/>
                  </a:rPr>
                  <a:t>表面成形</a:t>
                </a:r>
                <a:endParaRPr lang="zh-CN" altLang="en-US" b="1" dirty="0">
                  <a:solidFill>
                    <a:srgbClr val="000000"/>
                  </a:solidFill>
                  <a:latin typeface="楷体_GB2312"/>
                  <a:ea typeface="楷体_GB2312"/>
                </a:endParaRPr>
              </a:p>
            </p:txBody>
          </p:sp>
        </p:grpSp>
        <p:sp>
          <p:nvSpPr>
            <p:cNvPr id="15369" name="Rectangle 10"/>
            <p:cNvSpPr/>
            <p:nvPr/>
          </p:nvSpPr>
          <p:spPr>
            <a:xfrm>
              <a:off x="1927" y="2614"/>
              <a:ext cx="3040" cy="1706"/>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2917825" y="228600"/>
            <a:ext cx="5324475" cy="752475"/>
          </a:xfrm>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
        <p:nvSpPr>
          <p:cNvPr id="17410" name="Rectangle 3"/>
          <p:cNvSpPr/>
          <p:nvPr/>
        </p:nvSpPr>
        <p:spPr>
          <a:xfrm>
            <a:off x="395288" y="1339850"/>
            <a:ext cx="7993062" cy="793750"/>
          </a:xfrm>
          <a:prstGeom prst="rect">
            <a:avLst/>
          </a:prstGeom>
          <a:noFill/>
          <a:ln w="9525">
            <a:noFill/>
          </a:ln>
        </p:spPr>
        <p:txBody>
          <a:bodyPr anchor="t" anchorCtr="0">
            <a:spAutoFit/>
          </a:bodyPr>
          <a:p>
            <a:pPr marL="342900" indent="-342900"/>
            <a:r>
              <a:rPr lang="zh-CN" altLang="en-US" sz="2800" b="1" dirty="0">
                <a:solidFill>
                  <a:srgbClr val="009900"/>
                </a:solidFill>
                <a:latin typeface="楷体_GB2312"/>
                <a:ea typeface="楷体_GB2312"/>
              </a:rPr>
              <a:t>例、工件表面的形成</a:t>
            </a:r>
            <a:endParaRPr lang="zh-CN" altLang="en-US" sz="2800" b="1" dirty="0">
              <a:solidFill>
                <a:srgbClr val="009900"/>
              </a:solidFill>
              <a:latin typeface="楷体_GB2312"/>
              <a:ea typeface="楷体_GB2312"/>
            </a:endParaRPr>
          </a:p>
          <a:p>
            <a:pPr marL="342900" indent="-342900"/>
            <a:r>
              <a:rPr lang="zh-CN" altLang="en-US" b="1" dirty="0">
                <a:latin typeface="楷体_GB2312"/>
                <a:ea typeface="楷体_GB2312"/>
              </a:rPr>
              <a:t>       </a:t>
            </a:r>
            <a:endParaRPr lang="zh-CN" altLang="en-US" sz="2000" b="1" dirty="0">
              <a:solidFill>
                <a:srgbClr val="000000"/>
              </a:solidFill>
              <a:latin typeface="楷体_GB2312"/>
              <a:ea typeface="楷体_GB2312"/>
            </a:endParaRPr>
          </a:p>
        </p:txBody>
      </p:sp>
      <p:sp>
        <p:nvSpPr>
          <p:cNvPr id="17411" name="Text Box 4"/>
          <p:cNvSpPr txBox="1"/>
          <p:nvPr/>
        </p:nvSpPr>
        <p:spPr>
          <a:xfrm>
            <a:off x="7323138" y="2205038"/>
            <a:ext cx="1425575" cy="1004887"/>
          </a:xfrm>
          <a:prstGeom prst="rect">
            <a:avLst/>
          </a:prstGeom>
          <a:noFill/>
          <a:ln w="12700">
            <a:noFill/>
          </a:ln>
        </p:spPr>
        <p:txBody>
          <a:bodyPr anchor="t" anchorCtr="0">
            <a:spAutoFit/>
          </a:bodyPr>
          <a:p>
            <a:pPr>
              <a:spcBef>
                <a:spcPct val="50000"/>
              </a:spcBef>
            </a:pPr>
            <a:r>
              <a:rPr lang="en-US" altLang="zh-CN" sz="2400" b="1" dirty="0">
                <a:latin typeface="楷体_GB2312"/>
                <a:ea typeface="楷体_GB2312"/>
              </a:rPr>
              <a:t>1 - </a:t>
            </a:r>
            <a:r>
              <a:rPr lang="zh-CN" altLang="en-US" sz="2400" b="1" dirty="0">
                <a:latin typeface="楷体_GB2312"/>
                <a:ea typeface="楷体_GB2312"/>
              </a:rPr>
              <a:t>母线</a:t>
            </a:r>
            <a:endParaRPr lang="zh-CN" altLang="en-US" sz="2400" b="1" dirty="0">
              <a:latin typeface="楷体_GB2312"/>
              <a:ea typeface="楷体_GB2312"/>
            </a:endParaRPr>
          </a:p>
          <a:p>
            <a:pPr>
              <a:spcBef>
                <a:spcPct val="50000"/>
              </a:spcBef>
            </a:pPr>
            <a:r>
              <a:rPr lang="en-US" altLang="zh-CN" sz="2400" b="1" dirty="0">
                <a:latin typeface="楷体_GB2312"/>
                <a:ea typeface="楷体_GB2312"/>
              </a:rPr>
              <a:t>2 - </a:t>
            </a:r>
            <a:r>
              <a:rPr lang="zh-CN" altLang="en-US" sz="2400" b="1" dirty="0">
                <a:latin typeface="楷体_GB2312"/>
                <a:ea typeface="楷体_GB2312"/>
              </a:rPr>
              <a:t>导线</a:t>
            </a:r>
            <a:endParaRPr lang="zh-CN" altLang="en-US" dirty="0">
              <a:latin typeface="Arial" panose="020B0604020202020204" pitchFamily="34" charset="0"/>
              <a:ea typeface="宋体" panose="02010600030101010101" pitchFamily="2" charset="-122"/>
            </a:endParaRPr>
          </a:p>
        </p:txBody>
      </p:sp>
      <p:grpSp>
        <p:nvGrpSpPr>
          <p:cNvPr id="17412" name="Group 6"/>
          <p:cNvGrpSpPr/>
          <p:nvPr/>
        </p:nvGrpSpPr>
        <p:grpSpPr>
          <a:xfrm>
            <a:off x="539750" y="2060575"/>
            <a:ext cx="6264275" cy="4392613"/>
            <a:chOff x="340" y="1298"/>
            <a:chExt cx="3946" cy="2767"/>
          </a:xfrm>
        </p:grpSpPr>
        <p:grpSp>
          <p:nvGrpSpPr>
            <p:cNvPr id="17413" name="Group 7"/>
            <p:cNvGrpSpPr/>
            <p:nvPr/>
          </p:nvGrpSpPr>
          <p:grpSpPr>
            <a:xfrm>
              <a:off x="340" y="1298"/>
              <a:ext cx="3946" cy="2753"/>
              <a:chOff x="884" y="1221"/>
              <a:chExt cx="3946" cy="2753"/>
            </a:xfrm>
          </p:grpSpPr>
          <p:sp>
            <p:nvSpPr>
              <p:cNvPr id="17414" name="Rectangle 8"/>
              <p:cNvSpPr/>
              <p:nvPr/>
            </p:nvSpPr>
            <p:spPr>
              <a:xfrm>
                <a:off x="884" y="3724"/>
                <a:ext cx="3946" cy="250"/>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3  </a:t>
                </a:r>
                <a:r>
                  <a:rPr lang="zh-CN" altLang="en-US" sz="2000" b="1" dirty="0">
                    <a:solidFill>
                      <a:srgbClr val="000000"/>
                    </a:solidFill>
                    <a:latin typeface="楷体_GB2312"/>
                    <a:ea typeface="楷体_GB2312"/>
                  </a:rPr>
                  <a:t>组成工件轮廓的几何表面</a:t>
                </a:r>
                <a:endParaRPr lang="zh-CN" altLang="en-US" sz="2000" b="1" dirty="0">
                  <a:solidFill>
                    <a:srgbClr val="000000"/>
                  </a:solidFill>
                  <a:latin typeface="楷体_GB2312"/>
                  <a:ea typeface="楷体_GB2312"/>
                </a:endParaRPr>
              </a:p>
            </p:txBody>
          </p:sp>
          <p:pic>
            <p:nvPicPr>
              <p:cNvPr id="17415" name="Picture 9" descr="clip_image002_0021"/>
              <p:cNvPicPr>
                <a:picLocks noChangeAspect="1"/>
              </p:cNvPicPr>
              <p:nvPr/>
            </p:nvPicPr>
            <p:blipFill>
              <a:blip r:embed="rId1"/>
              <a:stretch>
                <a:fillRect/>
              </a:stretch>
            </p:blipFill>
            <p:spPr>
              <a:xfrm>
                <a:off x="884" y="1221"/>
                <a:ext cx="3946" cy="2534"/>
              </a:xfrm>
              <a:prstGeom prst="rect">
                <a:avLst/>
              </a:prstGeom>
              <a:noFill/>
              <a:ln w="9525">
                <a:noFill/>
              </a:ln>
            </p:spPr>
          </p:pic>
        </p:grpSp>
        <p:sp>
          <p:nvSpPr>
            <p:cNvPr id="17416" name="Rectangle 10"/>
            <p:cNvSpPr/>
            <p:nvPr/>
          </p:nvSpPr>
          <p:spPr>
            <a:xfrm>
              <a:off x="340" y="1298"/>
              <a:ext cx="3946" cy="2767"/>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xfrm>
            <a:off x="3403600" y="117475"/>
            <a:ext cx="5035550" cy="960438"/>
          </a:xfrm>
          <a:ln/>
        </p:spPr>
        <p:txBody>
          <a:bodyPr vert="horz" wrap="square" lIns="91440" tIns="45720" rIns="91440" bIns="45720" anchor="ctr" anchorCtr="0"/>
          <a:p>
            <a:pPr eaLnBrk="1" hangingPunct="1"/>
            <a:r>
              <a:rPr lang="zh-CN" altLang="en-US" sz="4000" dirty="0">
                <a:solidFill>
                  <a:srgbClr val="A50021"/>
                </a:solidFill>
                <a:ea typeface="楷体_GB2312"/>
              </a:rPr>
              <a:t>金属切削的基础知识</a:t>
            </a:r>
            <a:endParaRPr lang="zh-CN" altLang="en-US" sz="4000" dirty="0">
              <a:solidFill>
                <a:srgbClr val="A50021"/>
              </a:solidFill>
              <a:ea typeface="楷体_GB2312"/>
            </a:endParaRPr>
          </a:p>
        </p:txBody>
      </p:sp>
      <p:sp>
        <p:nvSpPr>
          <p:cNvPr id="19458" name="Rectangle 3"/>
          <p:cNvSpPr/>
          <p:nvPr/>
        </p:nvSpPr>
        <p:spPr>
          <a:xfrm>
            <a:off x="323850" y="1341438"/>
            <a:ext cx="8351838" cy="2738437"/>
          </a:xfrm>
          <a:prstGeom prst="rect">
            <a:avLst/>
          </a:prstGeom>
          <a:noFill/>
          <a:ln w="9525">
            <a:noFill/>
          </a:ln>
        </p:spPr>
        <p:txBody>
          <a:bodyPr anchor="t" anchorCtr="0">
            <a:spAutoFit/>
          </a:bodyPr>
          <a:p>
            <a:pPr>
              <a:spcBef>
                <a:spcPct val="50000"/>
              </a:spcBef>
            </a:pPr>
            <a:r>
              <a:rPr lang="en-US" altLang="zh-CN" dirty="0">
                <a:latin typeface="Century" panose="02040604050505020304" pitchFamily="18" charset="0"/>
                <a:ea typeface="宋体" panose="02010600030101010101" pitchFamily="2" charset="-122"/>
              </a:rPr>
              <a:t> </a:t>
            </a:r>
            <a:r>
              <a:rPr lang="en-US" altLang="zh-CN" sz="2800" b="1" dirty="0">
                <a:solidFill>
                  <a:srgbClr val="009900"/>
                </a:solidFill>
                <a:latin typeface="楷体_GB2312"/>
                <a:ea typeface="楷体_GB2312"/>
              </a:rPr>
              <a:t>2. </a:t>
            </a:r>
            <a:r>
              <a:rPr lang="zh-CN" altLang="en-US" sz="2800" b="1" dirty="0">
                <a:solidFill>
                  <a:srgbClr val="009900"/>
                </a:solidFill>
                <a:latin typeface="楷体_GB2312"/>
                <a:ea typeface="楷体_GB2312"/>
              </a:rPr>
              <a:t>切削加工成形方法</a:t>
            </a:r>
            <a:endParaRPr lang="zh-CN" altLang="en-US" sz="2800" b="1" dirty="0">
              <a:solidFill>
                <a:srgbClr val="009900"/>
              </a:solidFill>
              <a:latin typeface="楷体_GB2312"/>
              <a:ea typeface="楷体_GB2312"/>
            </a:endParaRPr>
          </a:p>
          <a:p>
            <a:pPr>
              <a:spcBef>
                <a:spcPct val="50000"/>
              </a:spcBef>
            </a:pPr>
            <a:r>
              <a:rPr lang="zh-CN" altLang="en-US" sz="2400" b="1" dirty="0">
                <a:solidFill>
                  <a:srgbClr val="3333FF"/>
                </a:solidFill>
                <a:latin typeface="楷体_GB2312"/>
                <a:ea typeface="楷体_GB2312"/>
              </a:rPr>
              <a:t>    </a:t>
            </a:r>
            <a:r>
              <a:rPr lang="zh-CN" altLang="en-US" sz="2400" b="1" dirty="0">
                <a:solidFill>
                  <a:srgbClr val="0033CC"/>
                </a:solidFill>
                <a:latin typeface="楷体_GB2312"/>
                <a:ea typeface="楷体_GB2312"/>
              </a:rPr>
              <a:t>不同的加工运动、不同的切削刀刃形状，形成成形线的方式不同，</a:t>
            </a:r>
            <a:r>
              <a:rPr lang="zh-CN" altLang="en-US" sz="2400" b="1" dirty="0">
                <a:solidFill>
                  <a:srgbClr val="000000"/>
                </a:solidFill>
                <a:latin typeface="楷体_GB2312"/>
                <a:ea typeface="楷体_GB2312"/>
              </a:rPr>
              <a:t>形成零件表面的方法也不同，归纳为四种：</a:t>
            </a:r>
            <a:r>
              <a:rPr lang="zh-CN" altLang="en-US" sz="2400" dirty="0">
                <a:latin typeface="楷体_GB2312"/>
                <a:ea typeface="楷体_GB2312"/>
              </a:rPr>
              <a:t> </a:t>
            </a:r>
            <a:endParaRPr lang="zh-CN" altLang="en-US" sz="2400" dirty="0">
              <a:latin typeface="楷体_GB2312"/>
              <a:ea typeface="楷体_GB2312"/>
            </a:endParaRPr>
          </a:p>
          <a:p>
            <a:pPr>
              <a:spcBef>
                <a:spcPct val="50000"/>
              </a:spcBef>
            </a:pPr>
            <a:r>
              <a:rPr lang="en-US" altLang="zh-CN" sz="2400" b="1" dirty="0">
                <a:solidFill>
                  <a:srgbClr val="CC0066"/>
                </a:solidFill>
                <a:latin typeface="楷体_GB2312"/>
                <a:ea typeface="楷体_GB2312"/>
              </a:rPr>
              <a:t>1</a:t>
            </a:r>
            <a:r>
              <a:rPr lang="zh-CN" altLang="en-US" sz="2400" b="1" dirty="0">
                <a:solidFill>
                  <a:srgbClr val="CC0066"/>
                </a:solidFill>
                <a:latin typeface="楷体_GB2312"/>
                <a:ea typeface="楷体_GB2312"/>
              </a:rPr>
              <a:t>）成型法</a:t>
            </a:r>
            <a:r>
              <a:rPr lang="zh-CN" altLang="en-US" sz="2400" b="1" dirty="0">
                <a:latin typeface="楷体_GB2312"/>
                <a:ea typeface="楷体_GB2312"/>
              </a:rPr>
              <a:t> </a:t>
            </a:r>
            <a:r>
              <a:rPr lang="zh-CN" altLang="en-US" sz="2400" b="1" dirty="0">
                <a:solidFill>
                  <a:srgbClr val="0033CC"/>
                </a:solidFill>
                <a:latin typeface="楷体_GB2312"/>
                <a:ea typeface="楷体_GB2312"/>
              </a:rPr>
              <a:t>工件的一条</a:t>
            </a:r>
            <a:r>
              <a:rPr lang="zh-CN" altLang="en-US" sz="2400" b="1" dirty="0">
                <a:solidFill>
                  <a:srgbClr val="00B0F0"/>
                </a:solidFill>
                <a:latin typeface="Arial" panose="020B0604020202020204" pitchFamily="34" charset="0"/>
                <a:ea typeface="楷体_GB2312"/>
              </a:rPr>
              <a:t>成形线（母线）</a:t>
            </a:r>
            <a:r>
              <a:rPr lang="zh-CN" altLang="en-US" sz="2400" b="1" dirty="0">
                <a:solidFill>
                  <a:srgbClr val="0033CC"/>
                </a:solidFill>
                <a:latin typeface="楷体_GB2312"/>
                <a:ea typeface="楷体_GB2312"/>
              </a:rPr>
              <a:t>是通过</a:t>
            </a:r>
            <a:r>
              <a:rPr lang="zh-CN" altLang="en-US" sz="2400" b="1" dirty="0">
                <a:solidFill>
                  <a:srgbClr val="FF0000"/>
                </a:solidFill>
                <a:latin typeface="楷体_GB2312"/>
                <a:ea typeface="楷体_GB2312"/>
              </a:rPr>
              <a:t>刀刃的形状直接获得</a:t>
            </a:r>
            <a:r>
              <a:rPr lang="zh-CN" altLang="en-US" sz="2400" b="1" dirty="0">
                <a:solidFill>
                  <a:srgbClr val="000000"/>
                </a:solidFill>
                <a:latin typeface="楷体_GB2312"/>
                <a:ea typeface="楷体_GB2312"/>
              </a:rPr>
              <a:t>的。图</a:t>
            </a:r>
            <a:r>
              <a:rPr lang="en-US" altLang="zh-CN" sz="2400" b="1" dirty="0">
                <a:solidFill>
                  <a:srgbClr val="000000"/>
                </a:solidFill>
                <a:latin typeface="楷体_GB2312"/>
                <a:ea typeface="楷体_GB2312"/>
              </a:rPr>
              <a:t>(a)</a:t>
            </a:r>
            <a:r>
              <a:rPr lang="zh-CN" altLang="en-US" sz="2400" b="1" dirty="0">
                <a:solidFill>
                  <a:srgbClr val="000000"/>
                </a:solidFill>
                <a:latin typeface="楷体_GB2312"/>
                <a:ea typeface="楷体_GB2312"/>
              </a:rPr>
              <a:t>所示，刀刃</a:t>
            </a:r>
            <a:r>
              <a:rPr lang="en-US" altLang="zh-CN" sz="2400" b="1" dirty="0">
                <a:solidFill>
                  <a:srgbClr val="000000"/>
                </a:solidFill>
                <a:latin typeface="楷体_GB2312"/>
                <a:ea typeface="楷体_GB2312"/>
              </a:rPr>
              <a:t>1</a:t>
            </a:r>
            <a:r>
              <a:rPr lang="zh-CN" altLang="en-US" sz="2400" b="1" dirty="0">
                <a:solidFill>
                  <a:srgbClr val="000000"/>
                </a:solidFill>
                <a:latin typeface="楷体_GB2312"/>
                <a:ea typeface="楷体_GB2312"/>
              </a:rPr>
              <a:t>的形状与工件的母线</a:t>
            </a:r>
            <a:r>
              <a:rPr lang="en-US" altLang="zh-CN" sz="2400" b="1" dirty="0">
                <a:solidFill>
                  <a:srgbClr val="000000"/>
                </a:solidFill>
                <a:latin typeface="楷体_GB2312"/>
                <a:ea typeface="楷体_GB2312"/>
              </a:rPr>
              <a:t>2</a:t>
            </a:r>
            <a:r>
              <a:rPr lang="zh-CN" altLang="en-US" sz="2400" b="1" dirty="0">
                <a:solidFill>
                  <a:srgbClr val="000000"/>
                </a:solidFill>
                <a:latin typeface="楷体_GB2312"/>
                <a:ea typeface="楷体_GB2312"/>
              </a:rPr>
              <a:t>相同，工件绕自身轴线作回转运动，形成导线，最终获得回转曲面。</a:t>
            </a:r>
            <a:endParaRPr lang="zh-CN" altLang="en-US" sz="2400" b="1" dirty="0">
              <a:solidFill>
                <a:srgbClr val="000000"/>
              </a:solidFill>
              <a:latin typeface="楷体_GB2312"/>
              <a:ea typeface="楷体_GB2312"/>
            </a:endParaRPr>
          </a:p>
        </p:txBody>
      </p:sp>
      <p:grpSp>
        <p:nvGrpSpPr>
          <p:cNvPr id="19459" name="Group 4"/>
          <p:cNvGrpSpPr/>
          <p:nvPr/>
        </p:nvGrpSpPr>
        <p:grpSpPr>
          <a:xfrm>
            <a:off x="395288" y="4221163"/>
            <a:ext cx="3673475" cy="2232025"/>
            <a:chOff x="158" y="2704"/>
            <a:chExt cx="2314" cy="1406"/>
          </a:xfrm>
        </p:grpSpPr>
        <p:grpSp>
          <p:nvGrpSpPr>
            <p:cNvPr id="19460" name="Group 5"/>
            <p:cNvGrpSpPr/>
            <p:nvPr/>
          </p:nvGrpSpPr>
          <p:grpSpPr>
            <a:xfrm>
              <a:off x="159" y="2704"/>
              <a:ext cx="2313" cy="1402"/>
              <a:chOff x="839" y="2523"/>
              <a:chExt cx="2222" cy="1380"/>
            </a:xfrm>
          </p:grpSpPr>
          <p:pic>
            <p:nvPicPr>
              <p:cNvPr id="19461" name="Picture 6"/>
              <p:cNvPicPr>
                <a:picLocks noChangeAspect="1"/>
              </p:cNvPicPr>
              <p:nvPr/>
            </p:nvPicPr>
            <p:blipFill>
              <a:blip r:embed="rId1"/>
              <a:stretch>
                <a:fillRect/>
              </a:stretch>
            </p:blipFill>
            <p:spPr>
              <a:xfrm>
                <a:off x="839" y="2523"/>
                <a:ext cx="2222" cy="1363"/>
              </a:xfrm>
              <a:prstGeom prst="rect">
                <a:avLst/>
              </a:prstGeom>
              <a:noFill/>
              <a:ln w="9525">
                <a:noFill/>
              </a:ln>
            </p:spPr>
          </p:pic>
          <p:sp>
            <p:nvSpPr>
              <p:cNvPr id="19462" name="Rectangle 7"/>
              <p:cNvSpPr/>
              <p:nvPr/>
            </p:nvSpPr>
            <p:spPr>
              <a:xfrm>
                <a:off x="1338" y="3657"/>
                <a:ext cx="808" cy="246"/>
              </a:xfrm>
              <a:prstGeom prst="rect">
                <a:avLst/>
              </a:prstGeom>
              <a:solidFill>
                <a:srgbClr val="FFFFFF"/>
              </a:solidFill>
              <a:ln w="9525">
                <a:noFill/>
              </a:ln>
            </p:spPr>
            <p:txBody>
              <a:bodyPr wrap="none" anchor="t" anchorCtr="0">
                <a:spAutoFit/>
              </a:bodyPr>
              <a:p>
                <a:r>
                  <a:rPr lang="en-US" altLang="zh-CN" sz="2000" b="1" dirty="0">
                    <a:solidFill>
                      <a:srgbClr val="000000"/>
                    </a:solidFill>
                    <a:latin typeface="楷体_GB2312"/>
                    <a:ea typeface="楷体_GB2312"/>
                  </a:rPr>
                  <a:t>(a)</a:t>
                </a:r>
                <a:r>
                  <a:rPr lang="zh-CN" altLang="en-US" sz="2000" b="1" dirty="0">
                    <a:solidFill>
                      <a:srgbClr val="000000"/>
                    </a:solidFill>
                    <a:latin typeface="楷体_GB2312"/>
                    <a:ea typeface="楷体_GB2312"/>
                  </a:rPr>
                  <a:t>成型法</a:t>
                </a:r>
                <a:endParaRPr lang="zh-CN" altLang="en-US" sz="2000" b="1" dirty="0">
                  <a:solidFill>
                    <a:srgbClr val="000000"/>
                  </a:solidFill>
                  <a:latin typeface="楷体_GB2312"/>
                  <a:ea typeface="楷体_GB2312"/>
                </a:endParaRPr>
              </a:p>
            </p:txBody>
          </p:sp>
        </p:grpSp>
        <p:sp>
          <p:nvSpPr>
            <p:cNvPr id="19463" name="Rectangle 8"/>
            <p:cNvSpPr/>
            <p:nvPr/>
          </p:nvSpPr>
          <p:spPr>
            <a:xfrm>
              <a:off x="158" y="2704"/>
              <a:ext cx="2314" cy="1406"/>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 name="Group 9"/>
          <p:cNvGrpSpPr/>
          <p:nvPr/>
        </p:nvGrpSpPr>
        <p:grpSpPr>
          <a:xfrm>
            <a:off x="4356100" y="4221163"/>
            <a:ext cx="3887788" cy="2376487"/>
            <a:chOff x="2744" y="2659"/>
            <a:chExt cx="2449" cy="1497"/>
          </a:xfrm>
        </p:grpSpPr>
        <p:grpSp>
          <p:nvGrpSpPr>
            <p:cNvPr id="19465" name="Group 10"/>
            <p:cNvGrpSpPr/>
            <p:nvPr/>
          </p:nvGrpSpPr>
          <p:grpSpPr>
            <a:xfrm>
              <a:off x="2744" y="2659"/>
              <a:ext cx="2449" cy="1497"/>
              <a:chOff x="2744" y="2659"/>
              <a:chExt cx="2449" cy="1497"/>
            </a:xfrm>
          </p:grpSpPr>
          <p:pic>
            <p:nvPicPr>
              <p:cNvPr id="19466" name="Picture 11"/>
              <p:cNvPicPr>
                <a:picLocks noChangeAspect="1"/>
              </p:cNvPicPr>
              <p:nvPr/>
            </p:nvPicPr>
            <p:blipFill>
              <a:blip r:embed="rId2"/>
              <a:stretch>
                <a:fillRect/>
              </a:stretch>
            </p:blipFill>
            <p:spPr>
              <a:xfrm>
                <a:off x="2762" y="2659"/>
                <a:ext cx="2431" cy="1432"/>
              </a:xfrm>
              <a:prstGeom prst="rect">
                <a:avLst/>
              </a:prstGeom>
              <a:noFill/>
              <a:ln w="9525">
                <a:noFill/>
              </a:ln>
            </p:spPr>
          </p:pic>
          <p:sp>
            <p:nvSpPr>
              <p:cNvPr id="19467" name="Rectangle 12"/>
              <p:cNvSpPr/>
              <p:nvPr/>
            </p:nvSpPr>
            <p:spPr>
              <a:xfrm>
                <a:off x="2744" y="3925"/>
                <a:ext cx="2449" cy="231"/>
              </a:xfrm>
              <a:prstGeom prst="rect">
                <a:avLst/>
              </a:prstGeom>
              <a:solidFill>
                <a:srgbClr val="FFFFFF"/>
              </a:solidFill>
              <a:ln w="9525">
                <a:noFill/>
              </a:ln>
            </p:spPr>
            <p:txBody>
              <a:bodyPr wrap="none" anchor="t" anchorCtr="0">
                <a:spAutoFit/>
              </a:bodyPr>
              <a:p>
                <a:r>
                  <a:rPr lang="en-US" altLang="zh-CN" b="1" dirty="0">
                    <a:solidFill>
                      <a:srgbClr val="000000"/>
                    </a:solidFill>
                    <a:latin typeface="楷体_GB2312"/>
                    <a:ea typeface="楷体_GB2312"/>
                  </a:rPr>
                  <a:t>           (a) </a:t>
                </a:r>
                <a:r>
                  <a:rPr lang="zh-CN" altLang="en-US" b="1" dirty="0">
                    <a:solidFill>
                      <a:srgbClr val="000000"/>
                    </a:solidFill>
                    <a:latin typeface="楷体_GB2312"/>
                    <a:ea typeface="楷体_GB2312"/>
                  </a:rPr>
                  <a:t>成型法           </a:t>
                </a:r>
                <a:endParaRPr lang="zh-CN" altLang="en-US" b="1" dirty="0">
                  <a:solidFill>
                    <a:srgbClr val="000000"/>
                  </a:solidFill>
                  <a:latin typeface="楷体_GB2312"/>
                  <a:ea typeface="楷体_GB2312"/>
                </a:endParaRPr>
              </a:p>
            </p:txBody>
          </p:sp>
        </p:grpSp>
        <p:sp>
          <p:nvSpPr>
            <p:cNvPr id="19468" name="Rectangle 13"/>
            <p:cNvSpPr/>
            <p:nvPr/>
          </p:nvSpPr>
          <p:spPr>
            <a:xfrm>
              <a:off x="2744" y="2659"/>
              <a:ext cx="2449" cy="1497"/>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xfrm>
            <a:off x="3403600" y="117475"/>
            <a:ext cx="5035550" cy="960438"/>
          </a:xfrm>
          <a:ln/>
        </p:spPr>
        <p:txBody>
          <a:bodyPr vert="horz" wrap="square" lIns="91440" tIns="45720" rIns="91440" bIns="45720" anchor="ctr" anchorCtr="0"/>
          <a:p>
            <a:pPr eaLnBrk="1" hangingPunct="1"/>
            <a:r>
              <a:rPr lang="zh-CN" altLang="en-US" sz="4000" dirty="0">
                <a:solidFill>
                  <a:srgbClr val="A50021"/>
                </a:solidFill>
                <a:ea typeface="楷体_GB2312"/>
              </a:rPr>
              <a:t>金属切削的基础知识</a:t>
            </a:r>
            <a:endParaRPr lang="zh-CN" altLang="en-US" sz="4000" dirty="0">
              <a:solidFill>
                <a:srgbClr val="A50021"/>
              </a:solidFill>
              <a:ea typeface="楷体_GB2312"/>
            </a:endParaRPr>
          </a:p>
        </p:txBody>
      </p:sp>
      <p:sp>
        <p:nvSpPr>
          <p:cNvPr id="21506" name="Rectangle 3"/>
          <p:cNvSpPr>
            <a:spLocks noGrp="1"/>
          </p:cNvSpPr>
          <p:nvPr>
            <p:ph idx="1"/>
          </p:nvPr>
        </p:nvSpPr>
        <p:spPr>
          <a:xfrm>
            <a:off x="34925" y="1412875"/>
            <a:ext cx="8964613" cy="2232025"/>
          </a:xfrm>
          <a:ln/>
        </p:spPr>
        <p:txBody>
          <a:bodyPr vert="horz" wrap="square" lIns="91440" tIns="45720" rIns="91440" bIns="45720" anchor="t" anchorCtr="0"/>
          <a:p>
            <a:pPr eaLnBrk="1" hangingPunct="1">
              <a:lnSpc>
                <a:spcPct val="80000"/>
              </a:lnSpc>
              <a:buNone/>
            </a:pPr>
            <a:r>
              <a:rPr lang="en-US" altLang="zh-CN" sz="2800" b="1" dirty="0">
                <a:solidFill>
                  <a:srgbClr val="009900"/>
                </a:solidFill>
                <a:latin typeface="楷体_GB2312"/>
                <a:ea typeface="楷体_GB2312"/>
              </a:rPr>
              <a:t>2. </a:t>
            </a:r>
            <a:r>
              <a:rPr lang="zh-CN" altLang="en-US" sz="2800" b="1" dirty="0">
                <a:solidFill>
                  <a:srgbClr val="009900"/>
                </a:solidFill>
                <a:latin typeface="楷体_GB2312"/>
                <a:ea typeface="楷体_GB2312"/>
              </a:rPr>
              <a:t>切削加工成形方法</a:t>
            </a:r>
            <a:endParaRPr lang="zh-CN" altLang="en-US" sz="2800" b="1" dirty="0">
              <a:solidFill>
                <a:srgbClr val="009900"/>
              </a:solidFill>
              <a:latin typeface="楷体_GB2312"/>
              <a:ea typeface="楷体_GB2312"/>
            </a:endParaRPr>
          </a:p>
          <a:p>
            <a:pPr eaLnBrk="1" hangingPunct="1">
              <a:lnSpc>
                <a:spcPct val="80000"/>
              </a:lnSpc>
              <a:buNone/>
            </a:pPr>
            <a:r>
              <a:rPr lang="zh-CN" altLang="en-US" sz="2400" b="1" dirty="0">
                <a:solidFill>
                  <a:srgbClr val="CC0066"/>
                </a:solidFill>
                <a:latin typeface="楷体_GB2312"/>
                <a:ea typeface="楷体_GB2312"/>
              </a:rPr>
              <a:t>     </a:t>
            </a:r>
            <a:r>
              <a:rPr lang="en-US" altLang="zh-CN" sz="2400" b="1" dirty="0">
                <a:solidFill>
                  <a:srgbClr val="CC0066"/>
                </a:solidFill>
                <a:latin typeface="楷体_GB2312"/>
                <a:ea typeface="楷体_GB2312"/>
              </a:rPr>
              <a:t>2</a:t>
            </a:r>
            <a:r>
              <a:rPr lang="zh-CN" altLang="en-US" sz="2400" b="1" dirty="0">
                <a:solidFill>
                  <a:srgbClr val="CC0066"/>
                </a:solidFill>
                <a:latin typeface="楷体_GB2312"/>
                <a:ea typeface="楷体_GB2312"/>
              </a:rPr>
              <a:t>）轨迹法</a:t>
            </a:r>
            <a:r>
              <a:rPr lang="zh-CN" altLang="en-US" sz="2400" b="1" dirty="0">
                <a:latin typeface="楷体_GB2312"/>
                <a:ea typeface="楷体_GB2312"/>
              </a:rPr>
              <a:t> </a:t>
            </a:r>
            <a:r>
              <a:rPr lang="zh-CN" altLang="en-US" sz="2400" b="1" dirty="0">
                <a:solidFill>
                  <a:srgbClr val="000000"/>
                </a:solidFill>
                <a:latin typeface="楷体_GB2312"/>
                <a:ea typeface="楷体_GB2312"/>
              </a:rPr>
              <a:t>工件表面的</a:t>
            </a:r>
            <a:r>
              <a:rPr lang="zh-CN" altLang="en-US" sz="2400" b="1" dirty="0">
                <a:solidFill>
                  <a:srgbClr val="FF0000"/>
                </a:solidFill>
                <a:latin typeface="楷体_GB2312"/>
                <a:ea typeface="楷体_GB2312"/>
              </a:rPr>
              <a:t>成形线</a:t>
            </a:r>
            <a:r>
              <a:rPr lang="zh-CN" altLang="en-US" sz="2400" b="1" dirty="0">
                <a:solidFill>
                  <a:srgbClr val="000000"/>
                </a:solidFill>
                <a:latin typeface="楷体_GB2312"/>
                <a:ea typeface="楷体_GB2312"/>
              </a:rPr>
              <a:t>均由</a:t>
            </a:r>
            <a:r>
              <a:rPr lang="zh-CN" altLang="en-US" sz="2400" b="1" dirty="0">
                <a:solidFill>
                  <a:srgbClr val="FF0000"/>
                </a:solidFill>
                <a:latin typeface="楷体_GB2312"/>
                <a:ea typeface="楷体_GB2312"/>
              </a:rPr>
              <a:t>轨迹运动生成。</a:t>
            </a:r>
            <a:r>
              <a:rPr lang="zh-CN" altLang="en-US" sz="2400" b="1" dirty="0">
                <a:solidFill>
                  <a:srgbClr val="000000"/>
                </a:solidFill>
                <a:latin typeface="楷体_GB2312"/>
                <a:ea typeface="楷体_GB2312"/>
              </a:rPr>
              <a:t>图</a:t>
            </a:r>
            <a:r>
              <a:rPr lang="en-US" altLang="zh-CN" sz="2400" b="1" dirty="0">
                <a:solidFill>
                  <a:srgbClr val="000000"/>
                </a:solidFill>
                <a:latin typeface="楷体_GB2312"/>
                <a:ea typeface="楷体_GB2312"/>
              </a:rPr>
              <a:t>(b)</a:t>
            </a:r>
            <a:r>
              <a:rPr lang="zh-CN" altLang="en-US" sz="2400" b="1" dirty="0">
                <a:solidFill>
                  <a:srgbClr val="000000"/>
                </a:solidFill>
                <a:latin typeface="楷体_GB2312"/>
                <a:ea typeface="楷体_GB2312"/>
              </a:rPr>
              <a:t>所示，刀刃为切削点</a:t>
            </a:r>
            <a:r>
              <a:rPr lang="en-US" altLang="zh-CN" sz="2400" b="1" dirty="0">
                <a:solidFill>
                  <a:srgbClr val="000000"/>
                </a:solidFill>
                <a:latin typeface="楷体_GB2312"/>
                <a:ea typeface="楷体_GB2312"/>
              </a:rPr>
              <a:t>1</a:t>
            </a:r>
            <a:r>
              <a:rPr lang="zh-CN" altLang="en-US" sz="2400" b="1" dirty="0">
                <a:solidFill>
                  <a:srgbClr val="000000"/>
                </a:solidFill>
                <a:latin typeface="楷体_GB2312"/>
                <a:ea typeface="楷体_GB2312"/>
              </a:rPr>
              <a:t>，它按照一定的规律作轨迹运动</a:t>
            </a:r>
            <a:r>
              <a:rPr lang="en-US" altLang="zh-CN" sz="2400" b="1" dirty="0">
                <a:solidFill>
                  <a:srgbClr val="000000"/>
                </a:solidFill>
                <a:latin typeface="楷体_GB2312"/>
                <a:ea typeface="楷体_GB2312"/>
              </a:rPr>
              <a:t>3</a:t>
            </a:r>
            <a:r>
              <a:rPr lang="zh-CN" altLang="en-US" sz="2400" b="1" dirty="0">
                <a:solidFill>
                  <a:srgbClr val="000000"/>
                </a:solidFill>
                <a:latin typeface="楷体_GB2312"/>
                <a:ea typeface="楷体_GB2312"/>
              </a:rPr>
              <a:t>，</a:t>
            </a:r>
            <a:r>
              <a:rPr lang="zh-CN" altLang="en-US" sz="2400" b="1" dirty="0">
                <a:solidFill>
                  <a:srgbClr val="FF3300"/>
                </a:solidFill>
                <a:latin typeface="楷体_GB2312"/>
                <a:ea typeface="楷体_GB2312"/>
              </a:rPr>
              <a:t>生成母线</a:t>
            </a:r>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a:t>
            </a:r>
            <a:r>
              <a:rPr lang="zh-CN" altLang="en-US" sz="2400" b="1" dirty="0">
                <a:solidFill>
                  <a:srgbClr val="000000"/>
                </a:solidFill>
                <a:latin typeface="楷体_GB2312"/>
                <a:ea typeface="楷体_GB2312"/>
              </a:rPr>
              <a:t>工件绕自身轴线作回转运动形成导线，最终获得回转曲面。</a:t>
            </a:r>
            <a:endParaRPr lang="zh-CN" altLang="en-US" sz="2400" b="1" dirty="0">
              <a:solidFill>
                <a:srgbClr val="FF6600"/>
              </a:solidFill>
              <a:latin typeface="楷体_GB2312"/>
              <a:ea typeface="楷体_GB2312"/>
            </a:endParaRPr>
          </a:p>
        </p:txBody>
      </p:sp>
      <p:grpSp>
        <p:nvGrpSpPr>
          <p:cNvPr id="21507" name="Group 4"/>
          <p:cNvGrpSpPr/>
          <p:nvPr/>
        </p:nvGrpSpPr>
        <p:grpSpPr>
          <a:xfrm>
            <a:off x="182563" y="2943225"/>
            <a:ext cx="4067175" cy="3754438"/>
            <a:chOff x="612" y="2341"/>
            <a:chExt cx="1905" cy="1633"/>
          </a:xfrm>
        </p:grpSpPr>
        <p:grpSp>
          <p:nvGrpSpPr>
            <p:cNvPr id="21508" name="Group 5"/>
            <p:cNvGrpSpPr/>
            <p:nvPr/>
          </p:nvGrpSpPr>
          <p:grpSpPr>
            <a:xfrm>
              <a:off x="628" y="2341"/>
              <a:ext cx="1889" cy="1633"/>
              <a:chOff x="-522" y="2160"/>
              <a:chExt cx="1980" cy="1674"/>
            </a:xfrm>
          </p:grpSpPr>
          <p:pic>
            <p:nvPicPr>
              <p:cNvPr id="21509" name="Picture 6"/>
              <p:cNvPicPr>
                <a:picLocks noChangeAspect="1"/>
              </p:cNvPicPr>
              <p:nvPr/>
            </p:nvPicPr>
            <p:blipFill>
              <a:blip r:embed="rId1"/>
              <a:stretch>
                <a:fillRect/>
              </a:stretch>
            </p:blipFill>
            <p:spPr>
              <a:xfrm>
                <a:off x="-522" y="2160"/>
                <a:ext cx="1980" cy="1674"/>
              </a:xfrm>
              <a:prstGeom prst="rect">
                <a:avLst/>
              </a:prstGeom>
              <a:noFill/>
              <a:ln w="9525">
                <a:noFill/>
              </a:ln>
            </p:spPr>
          </p:pic>
          <p:sp>
            <p:nvSpPr>
              <p:cNvPr id="21510" name="Rectangle 7"/>
              <p:cNvSpPr/>
              <p:nvPr/>
            </p:nvSpPr>
            <p:spPr>
              <a:xfrm>
                <a:off x="68" y="3521"/>
                <a:ext cx="807" cy="237"/>
              </a:xfrm>
              <a:prstGeom prst="rect">
                <a:avLst/>
              </a:prstGeom>
              <a:solidFill>
                <a:srgbClr val="FFFFFF"/>
              </a:solidFill>
              <a:ln w="9525">
                <a:noFill/>
              </a:ln>
            </p:spPr>
            <p:txBody>
              <a:bodyPr wrap="none" anchor="t" anchorCtr="0">
                <a:spAutoFit/>
              </a:bodyPr>
              <a:p>
                <a:r>
                  <a:rPr lang="en-US" altLang="zh-CN" b="1" dirty="0">
                    <a:solidFill>
                      <a:srgbClr val="000000"/>
                    </a:solidFill>
                    <a:latin typeface="楷体_GB2312"/>
                    <a:ea typeface="楷体_GB2312"/>
                  </a:rPr>
                  <a:t>(b)</a:t>
                </a:r>
                <a:r>
                  <a:rPr lang="zh-CN" altLang="en-US" b="1" dirty="0">
                    <a:solidFill>
                      <a:srgbClr val="000000"/>
                    </a:solidFill>
                    <a:latin typeface="楷体_GB2312"/>
                    <a:ea typeface="楷体_GB2312"/>
                  </a:rPr>
                  <a:t>轨迹法</a:t>
                </a:r>
                <a:endParaRPr lang="zh-CN" altLang="en-US" b="1" dirty="0">
                  <a:solidFill>
                    <a:srgbClr val="000000"/>
                  </a:solidFill>
                  <a:latin typeface="楷体_GB2312"/>
                  <a:ea typeface="楷体_GB2312"/>
                </a:endParaRPr>
              </a:p>
            </p:txBody>
          </p:sp>
        </p:grpSp>
        <p:sp>
          <p:nvSpPr>
            <p:cNvPr id="21511" name="Rectangle 8"/>
            <p:cNvSpPr/>
            <p:nvPr/>
          </p:nvSpPr>
          <p:spPr>
            <a:xfrm>
              <a:off x="612" y="2341"/>
              <a:ext cx="1905" cy="1633"/>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 name="Group 9"/>
          <p:cNvGrpSpPr/>
          <p:nvPr/>
        </p:nvGrpSpPr>
        <p:grpSpPr>
          <a:xfrm>
            <a:off x="4284663" y="2924175"/>
            <a:ext cx="4714875" cy="3790950"/>
            <a:chOff x="3016" y="2341"/>
            <a:chExt cx="2313" cy="1679"/>
          </a:xfrm>
        </p:grpSpPr>
        <p:grpSp>
          <p:nvGrpSpPr>
            <p:cNvPr id="21513" name="Group 10"/>
            <p:cNvGrpSpPr/>
            <p:nvPr/>
          </p:nvGrpSpPr>
          <p:grpSpPr>
            <a:xfrm>
              <a:off x="3016" y="2341"/>
              <a:ext cx="2313" cy="1664"/>
              <a:chOff x="3016" y="2478"/>
              <a:chExt cx="2313" cy="1664"/>
            </a:xfrm>
          </p:grpSpPr>
          <p:pic>
            <p:nvPicPr>
              <p:cNvPr id="21514" name="Picture 11"/>
              <p:cNvPicPr>
                <a:picLocks noChangeAspect="1"/>
              </p:cNvPicPr>
              <p:nvPr/>
            </p:nvPicPr>
            <p:blipFill>
              <a:blip r:embed="rId2"/>
              <a:stretch>
                <a:fillRect/>
              </a:stretch>
            </p:blipFill>
            <p:spPr>
              <a:xfrm>
                <a:off x="3016" y="2614"/>
                <a:ext cx="2313" cy="1528"/>
              </a:xfrm>
              <a:prstGeom prst="rect">
                <a:avLst/>
              </a:prstGeom>
              <a:noFill/>
              <a:ln w="9525">
                <a:noFill/>
              </a:ln>
            </p:spPr>
          </p:pic>
          <p:sp>
            <p:nvSpPr>
              <p:cNvPr id="21515" name="Rectangle 12"/>
              <p:cNvSpPr/>
              <p:nvPr/>
            </p:nvSpPr>
            <p:spPr>
              <a:xfrm>
                <a:off x="3016" y="2478"/>
                <a:ext cx="2313" cy="181"/>
              </a:xfrm>
              <a:prstGeom prst="rect">
                <a:avLst/>
              </a:prstGeom>
              <a:solidFill>
                <a:srgbClr val="FFFFFF"/>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1516" name="Rectangle 13"/>
            <p:cNvSpPr/>
            <p:nvPr/>
          </p:nvSpPr>
          <p:spPr>
            <a:xfrm>
              <a:off x="3016" y="2341"/>
              <a:ext cx="2313" cy="1679"/>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2738438" y="200025"/>
            <a:ext cx="5754687" cy="769938"/>
          </a:xfrm>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
        <p:nvSpPr>
          <p:cNvPr id="23554" name="Rectangle 3"/>
          <p:cNvSpPr/>
          <p:nvPr/>
        </p:nvSpPr>
        <p:spPr>
          <a:xfrm>
            <a:off x="500063" y="1171575"/>
            <a:ext cx="8177212" cy="2185988"/>
          </a:xfrm>
          <a:prstGeom prst="rect">
            <a:avLst/>
          </a:prstGeom>
          <a:noFill/>
          <a:ln w="9525">
            <a:noFill/>
          </a:ln>
        </p:spPr>
        <p:txBody>
          <a:bodyPr anchor="t" anchorCtr="0">
            <a:spAutoFit/>
          </a:bodyPr>
          <a:p>
            <a:pPr>
              <a:spcBef>
                <a:spcPct val="50000"/>
              </a:spcBef>
            </a:pPr>
            <a:r>
              <a:rPr lang="en-US" altLang="zh-CN" dirty="0">
                <a:latin typeface="Century" panose="02040604050505020304" pitchFamily="18" charset="0"/>
                <a:ea typeface="宋体" panose="02010600030101010101" pitchFamily="2" charset="-122"/>
              </a:rPr>
              <a:t> </a:t>
            </a:r>
            <a:r>
              <a:rPr lang="en-US" altLang="zh-CN" sz="2800" b="1" dirty="0">
                <a:solidFill>
                  <a:srgbClr val="009900"/>
                </a:solidFill>
                <a:latin typeface="楷体_GB2312"/>
                <a:ea typeface="楷体_GB2312"/>
              </a:rPr>
              <a:t>2. </a:t>
            </a:r>
            <a:r>
              <a:rPr lang="zh-CN" altLang="en-US" sz="2800" b="1" dirty="0">
                <a:solidFill>
                  <a:srgbClr val="009900"/>
                </a:solidFill>
                <a:latin typeface="楷体_GB2312"/>
                <a:ea typeface="楷体_GB2312"/>
              </a:rPr>
              <a:t>切削加工成形方法</a:t>
            </a:r>
            <a:endParaRPr lang="zh-CN" altLang="en-US" sz="2800" b="1" dirty="0">
              <a:solidFill>
                <a:srgbClr val="009900"/>
              </a:solidFill>
              <a:latin typeface="楷体_GB2312"/>
              <a:ea typeface="楷体_GB2312"/>
            </a:endParaRPr>
          </a:p>
          <a:p>
            <a:pPr>
              <a:spcBef>
                <a:spcPct val="50000"/>
              </a:spcBef>
            </a:pPr>
            <a:r>
              <a:rPr lang="en-US" altLang="zh-CN" sz="2400" b="1" dirty="0">
                <a:solidFill>
                  <a:srgbClr val="CC0066"/>
                </a:solidFill>
                <a:latin typeface="楷体_GB2312"/>
                <a:ea typeface="楷体_GB2312"/>
              </a:rPr>
              <a:t>3</a:t>
            </a:r>
            <a:r>
              <a:rPr lang="zh-CN" altLang="en-US" sz="2400" b="1" dirty="0">
                <a:solidFill>
                  <a:srgbClr val="CC0066"/>
                </a:solidFill>
                <a:latin typeface="楷体_GB2312"/>
                <a:ea typeface="楷体_GB2312"/>
              </a:rPr>
              <a:t>）相切法</a:t>
            </a:r>
            <a:r>
              <a:rPr lang="zh-CN" altLang="en-US" sz="2400" b="1" dirty="0">
                <a:solidFill>
                  <a:srgbClr val="FFFF00"/>
                </a:solidFill>
                <a:latin typeface="楷体_GB2312"/>
                <a:ea typeface="楷体_GB2312"/>
              </a:rPr>
              <a:t> </a:t>
            </a:r>
            <a:r>
              <a:rPr lang="zh-CN" altLang="en-US" sz="2400" b="1" dirty="0">
                <a:solidFill>
                  <a:srgbClr val="000000"/>
                </a:solidFill>
                <a:latin typeface="楷体_GB2312"/>
                <a:ea typeface="楷体_GB2312"/>
              </a:rPr>
              <a:t>工件的一条成形线是刀刃运动轨迹（与工件相切运动）的包络线。图</a:t>
            </a:r>
            <a:r>
              <a:rPr lang="en-US" altLang="zh-CN" sz="2400" b="1" dirty="0">
                <a:solidFill>
                  <a:srgbClr val="000000"/>
                </a:solidFill>
                <a:latin typeface="楷体_GB2312"/>
                <a:ea typeface="楷体_GB2312"/>
              </a:rPr>
              <a:t>(c)</a:t>
            </a:r>
            <a:r>
              <a:rPr lang="zh-CN" altLang="en-US" sz="2400" b="1" dirty="0">
                <a:solidFill>
                  <a:srgbClr val="000000"/>
                </a:solidFill>
                <a:latin typeface="楷体_GB2312"/>
                <a:ea typeface="楷体_GB2312"/>
              </a:rPr>
              <a:t>所示，</a:t>
            </a:r>
            <a:r>
              <a:rPr lang="zh-CN" altLang="en-US" sz="2400" b="1" dirty="0">
                <a:solidFill>
                  <a:srgbClr val="FF3300"/>
                </a:solidFill>
                <a:latin typeface="楷体_GB2312"/>
                <a:ea typeface="楷体_GB2312"/>
              </a:rPr>
              <a:t>刀刃点</a:t>
            </a:r>
            <a:r>
              <a:rPr lang="en-US" altLang="zh-CN" sz="2400" b="1" dirty="0">
                <a:solidFill>
                  <a:srgbClr val="FF3300"/>
                </a:solidFill>
                <a:latin typeface="楷体_GB2312"/>
                <a:ea typeface="楷体_GB2312"/>
              </a:rPr>
              <a:t>1</a:t>
            </a:r>
            <a:r>
              <a:rPr lang="zh-CN" altLang="en-US" sz="2400" b="1" dirty="0">
                <a:solidFill>
                  <a:srgbClr val="FF3300"/>
                </a:solidFill>
                <a:latin typeface="楷体_GB2312"/>
                <a:ea typeface="楷体_GB2312"/>
              </a:rPr>
              <a:t>作回转运动，</a:t>
            </a:r>
            <a:r>
              <a:rPr lang="zh-CN" altLang="en-US" sz="2400" b="1" dirty="0">
                <a:solidFill>
                  <a:srgbClr val="000000"/>
                </a:solidFill>
                <a:latin typeface="楷体_GB2312"/>
                <a:ea typeface="楷体_GB2312"/>
              </a:rPr>
              <a:t>其回转轴线按一定规律作轨迹运动</a:t>
            </a:r>
            <a:r>
              <a:rPr lang="en-US" altLang="zh-CN" sz="2400" b="1" dirty="0">
                <a:solidFill>
                  <a:srgbClr val="000000"/>
                </a:solidFill>
                <a:latin typeface="楷体_GB2312"/>
                <a:ea typeface="楷体_GB2312"/>
              </a:rPr>
              <a:t>3</a:t>
            </a:r>
            <a:r>
              <a:rPr lang="zh-CN" altLang="en-US" sz="2400" b="1" dirty="0">
                <a:solidFill>
                  <a:srgbClr val="000000"/>
                </a:solidFill>
                <a:latin typeface="楷体_GB2312"/>
                <a:ea typeface="楷体_GB2312"/>
              </a:rPr>
              <a:t>，</a:t>
            </a:r>
            <a:r>
              <a:rPr lang="zh-CN" altLang="en-US" sz="2400" b="1" dirty="0">
                <a:solidFill>
                  <a:srgbClr val="FF3300"/>
                </a:solidFill>
                <a:latin typeface="楷体_GB2312"/>
                <a:ea typeface="楷体_GB2312"/>
              </a:rPr>
              <a:t>刀刃切削点运动轨迹的包络线形成成形线</a:t>
            </a:r>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a:t>
            </a:r>
            <a:r>
              <a:rPr lang="zh-CN" altLang="en-US" sz="2400" b="1" dirty="0">
                <a:solidFill>
                  <a:srgbClr val="000000"/>
                </a:solidFill>
                <a:latin typeface="楷体_GB2312"/>
                <a:ea typeface="楷体_GB2312"/>
              </a:rPr>
              <a:t>自由曲面的数控加工是相切法的典型例子。</a:t>
            </a:r>
            <a:endParaRPr lang="zh-CN" altLang="en-US" sz="2400" b="1" dirty="0">
              <a:solidFill>
                <a:srgbClr val="000000"/>
              </a:solidFill>
              <a:latin typeface="楷体_GB2312"/>
              <a:ea typeface="楷体_GB2312"/>
            </a:endParaRPr>
          </a:p>
        </p:txBody>
      </p:sp>
      <p:grpSp>
        <p:nvGrpSpPr>
          <p:cNvPr id="23555" name="Group 4"/>
          <p:cNvGrpSpPr/>
          <p:nvPr/>
        </p:nvGrpSpPr>
        <p:grpSpPr>
          <a:xfrm>
            <a:off x="33338" y="3500438"/>
            <a:ext cx="5410200" cy="3186112"/>
            <a:chOff x="385" y="2387"/>
            <a:chExt cx="2322" cy="1602"/>
          </a:xfrm>
        </p:grpSpPr>
        <p:grpSp>
          <p:nvGrpSpPr>
            <p:cNvPr id="23556" name="Group 5"/>
            <p:cNvGrpSpPr/>
            <p:nvPr/>
          </p:nvGrpSpPr>
          <p:grpSpPr>
            <a:xfrm>
              <a:off x="385" y="2387"/>
              <a:ext cx="2322" cy="1602"/>
              <a:chOff x="385" y="2387"/>
              <a:chExt cx="2322" cy="1602"/>
            </a:xfrm>
          </p:grpSpPr>
          <p:pic>
            <p:nvPicPr>
              <p:cNvPr id="23557" name="Picture 6"/>
              <p:cNvPicPr>
                <a:picLocks noChangeAspect="1"/>
              </p:cNvPicPr>
              <p:nvPr/>
            </p:nvPicPr>
            <p:blipFill>
              <a:blip r:embed="rId1"/>
              <a:stretch>
                <a:fillRect/>
              </a:stretch>
            </p:blipFill>
            <p:spPr>
              <a:xfrm>
                <a:off x="385" y="2387"/>
                <a:ext cx="2322" cy="1602"/>
              </a:xfrm>
              <a:prstGeom prst="rect">
                <a:avLst/>
              </a:prstGeom>
              <a:noFill/>
              <a:ln w="9525">
                <a:noFill/>
              </a:ln>
            </p:spPr>
          </p:pic>
          <p:sp>
            <p:nvSpPr>
              <p:cNvPr id="23558" name="Rectangle 7"/>
              <p:cNvSpPr/>
              <p:nvPr/>
            </p:nvSpPr>
            <p:spPr>
              <a:xfrm>
                <a:off x="1132" y="3657"/>
                <a:ext cx="842" cy="250"/>
              </a:xfrm>
              <a:prstGeom prst="rect">
                <a:avLst/>
              </a:prstGeom>
              <a:solidFill>
                <a:srgbClr val="FFFFFF"/>
              </a:solidFill>
              <a:ln w="9525">
                <a:noFill/>
              </a:ln>
            </p:spPr>
            <p:txBody>
              <a:bodyPr wrap="none" anchor="t" anchorCtr="0">
                <a:spAutoFit/>
              </a:bodyPr>
              <a:p>
                <a:r>
                  <a:rPr lang="en-US" altLang="zh-CN" sz="2000" b="1" dirty="0">
                    <a:solidFill>
                      <a:srgbClr val="000000"/>
                    </a:solidFill>
                    <a:latin typeface="楷体_GB2312"/>
                    <a:ea typeface="楷体_GB2312"/>
                  </a:rPr>
                  <a:t>(c)</a:t>
                </a:r>
                <a:r>
                  <a:rPr lang="zh-CN" altLang="en-US" sz="2000" b="1" dirty="0">
                    <a:solidFill>
                      <a:srgbClr val="000000"/>
                    </a:solidFill>
                    <a:latin typeface="楷体_GB2312"/>
                    <a:ea typeface="楷体_GB2312"/>
                  </a:rPr>
                  <a:t>相切法</a:t>
                </a:r>
                <a:endParaRPr lang="zh-CN" altLang="en-US" sz="2000" b="1" dirty="0">
                  <a:solidFill>
                    <a:srgbClr val="000000"/>
                  </a:solidFill>
                  <a:latin typeface="楷体_GB2312"/>
                  <a:ea typeface="楷体_GB2312"/>
                </a:endParaRPr>
              </a:p>
            </p:txBody>
          </p:sp>
        </p:grpSp>
        <p:sp>
          <p:nvSpPr>
            <p:cNvPr id="23559" name="Rectangle 8"/>
            <p:cNvSpPr/>
            <p:nvPr/>
          </p:nvSpPr>
          <p:spPr>
            <a:xfrm>
              <a:off x="385" y="2387"/>
              <a:ext cx="2314" cy="1587"/>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 name="Group 9"/>
          <p:cNvGrpSpPr/>
          <p:nvPr/>
        </p:nvGrpSpPr>
        <p:grpSpPr>
          <a:xfrm>
            <a:off x="5310188" y="3302000"/>
            <a:ext cx="3744912" cy="3384550"/>
            <a:chOff x="3243" y="2296"/>
            <a:chExt cx="1951" cy="1724"/>
          </a:xfrm>
        </p:grpSpPr>
        <p:grpSp>
          <p:nvGrpSpPr>
            <p:cNvPr id="23561" name="Group 10"/>
            <p:cNvGrpSpPr/>
            <p:nvPr/>
          </p:nvGrpSpPr>
          <p:grpSpPr>
            <a:xfrm>
              <a:off x="3243" y="2307"/>
              <a:ext cx="1951" cy="1713"/>
              <a:chOff x="3243" y="2251"/>
              <a:chExt cx="1951" cy="1713"/>
            </a:xfrm>
          </p:grpSpPr>
          <p:pic>
            <p:nvPicPr>
              <p:cNvPr id="23562" name="Picture 11"/>
              <p:cNvPicPr>
                <a:picLocks noChangeAspect="1"/>
              </p:cNvPicPr>
              <p:nvPr/>
            </p:nvPicPr>
            <p:blipFill>
              <a:blip r:embed="rId2"/>
              <a:stretch>
                <a:fillRect/>
              </a:stretch>
            </p:blipFill>
            <p:spPr>
              <a:xfrm>
                <a:off x="3243" y="2251"/>
                <a:ext cx="1951" cy="1713"/>
              </a:xfrm>
              <a:prstGeom prst="rect">
                <a:avLst/>
              </a:prstGeom>
              <a:noFill/>
              <a:ln w="9525">
                <a:noFill/>
              </a:ln>
            </p:spPr>
          </p:pic>
          <p:sp>
            <p:nvSpPr>
              <p:cNvPr id="23563" name="Rectangle 12"/>
              <p:cNvSpPr/>
              <p:nvPr/>
            </p:nvSpPr>
            <p:spPr>
              <a:xfrm>
                <a:off x="3763" y="3702"/>
                <a:ext cx="923" cy="250"/>
              </a:xfrm>
              <a:prstGeom prst="rect">
                <a:avLst/>
              </a:prstGeom>
              <a:solidFill>
                <a:srgbClr val="FFFFFF"/>
              </a:solidFill>
              <a:ln w="9525">
                <a:noFill/>
              </a:ln>
            </p:spPr>
            <p:txBody>
              <a:bodyPr wrap="none" anchor="t" anchorCtr="0">
                <a:spAutoFit/>
              </a:bodyPr>
              <a:p>
                <a:r>
                  <a:rPr lang="en-US" altLang="zh-CN" sz="2000" b="1" dirty="0">
                    <a:solidFill>
                      <a:srgbClr val="000000"/>
                    </a:solidFill>
                    <a:latin typeface="楷体_GB2312"/>
                    <a:ea typeface="楷体_GB2312"/>
                  </a:rPr>
                  <a:t>(c) </a:t>
                </a:r>
                <a:r>
                  <a:rPr lang="zh-CN" altLang="en-US" sz="2000" b="1" dirty="0">
                    <a:solidFill>
                      <a:srgbClr val="000000"/>
                    </a:solidFill>
                    <a:latin typeface="楷体_GB2312"/>
                    <a:ea typeface="楷体_GB2312"/>
                  </a:rPr>
                  <a:t>相切法</a:t>
                </a:r>
                <a:endParaRPr lang="zh-CN" altLang="en-US" sz="2000" b="1" dirty="0">
                  <a:solidFill>
                    <a:srgbClr val="000000"/>
                  </a:solidFill>
                  <a:latin typeface="楷体_GB2312"/>
                  <a:ea typeface="楷体_GB2312"/>
                </a:endParaRPr>
              </a:p>
            </p:txBody>
          </p:sp>
        </p:grpSp>
        <p:sp>
          <p:nvSpPr>
            <p:cNvPr id="23564" name="Rectangle 13"/>
            <p:cNvSpPr/>
            <p:nvPr/>
          </p:nvSpPr>
          <p:spPr>
            <a:xfrm>
              <a:off x="3243" y="2296"/>
              <a:ext cx="1950" cy="1724"/>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xfrm>
            <a:off x="2738438" y="200025"/>
            <a:ext cx="5754687" cy="769938"/>
          </a:xfrm>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
        <p:nvSpPr>
          <p:cNvPr id="25602" name="Rectangle 3"/>
          <p:cNvSpPr/>
          <p:nvPr/>
        </p:nvSpPr>
        <p:spPr>
          <a:xfrm>
            <a:off x="179388" y="1271588"/>
            <a:ext cx="8497887" cy="1816100"/>
          </a:xfrm>
          <a:prstGeom prst="rect">
            <a:avLst/>
          </a:prstGeom>
          <a:noFill/>
          <a:ln w="9525">
            <a:noFill/>
          </a:ln>
        </p:spPr>
        <p:txBody>
          <a:bodyPr anchor="t" anchorCtr="0">
            <a:spAutoFit/>
          </a:bodyPr>
          <a:p>
            <a:pPr>
              <a:spcBef>
                <a:spcPct val="50000"/>
              </a:spcBef>
            </a:pPr>
            <a:r>
              <a:rPr lang="en-US" altLang="zh-CN" dirty="0">
                <a:latin typeface="Century" panose="02040604050505020304" pitchFamily="18" charset="0"/>
                <a:ea typeface="宋体" panose="02010600030101010101" pitchFamily="2" charset="-122"/>
              </a:rPr>
              <a:t> </a:t>
            </a:r>
            <a:r>
              <a:rPr lang="en-US" altLang="zh-CN" sz="2800" b="1" dirty="0">
                <a:solidFill>
                  <a:srgbClr val="009900"/>
                </a:solidFill>
                <a:latin typeface="楷体_GB2312"/>
                <a:ea typeface="楷体_GB2312"/>
              </a:rPr>
              <a:t>2. </a:t>
            </a:r>
            <a:r>
              <a:rPr lang="zh-CN" altLang="en-US" sz="2800" b="1" dirty="0">
                <a:solidFill>
                  <a:srgbClr val="009900"/>
                </a:solidFill>
                <a:latin typeface="楷体_GB2312"/>
                <a:ea typeface="楷体_GB2312"/>
              </a:rPr>
              <a:t>切削加工成形方法</a:t>
            </a:r>
            <a:endParaRPr lang="zh-CN" altLang="en-US" sz="2800" b="1" dirty="0">
              <a:solidFill>
                <a:srgbClr val="009900"/>
              </a:solidFill>
              <a:latin typeface="楷体_GB2312"/>
              <a:ea typeface="楷体_GB2312"/>
            </a:endParaRPr>
          </a:p>
          <a:p>
            <a:pPr>
              <a:spcBef>
                <a:spcPct val="50000"/>
              </a:spcBef>
            </a:pPr>
            <a:r>
              <a:rPr lang="en-US" altLang="zh-CN" sz="2400" b="1" dirty="0">
                <a:solidFill>
                  <a:srgbClr val="CC0066"/>
                </a:solidFill>
                <a:latin typeface="楷体_GB2312"/>
                <a:ea typeface="楷体_GB2312"/>
              </a:rPr>
              <a:t>4</a:t>
            </a:r>
            <a:r>
              <a:rPr lang="zh-CN" altLang="en-US" sz="2400" b="1" dirty="0">
                <a:solidFill>
                  <a:srgbClr val="CC0066"/>
                </a:solidFill>
                <a:latin typeface="楷体_GB2312"/>
                <a:ea typeface="楷体_GB2312"/>
              </a:rPr>
              <a:t>）范成法</a:t>
            </a:r>
            <a:r>
              <a:rPr lang="zh-CN" altLang="en-US" sz="2400" b="1" dirty="0">
                <a:latin typeface="楷体_GB2312"/>
                <a:ea typeface="楷体_GB2312"/>
              </a:rPr>
              <a:t> </a:t>
            </a:r>
            <a:r>
              <a:rPr lang="zh-CN" altLang="en-US" sz="2400" b="1" dirty="0">
                <a:solidFill>
                  <a:srgbClr val="000000"/>
                </a:solidFill>
                <a:latin typeface="楷体_GB2312"/>
                <a:ea typeface="楷体_GB2312"/>
              </a:rPr>
              <a:t>工件的一条</a:t>
            </a:r>
            <a:r>
              <a:rPr lang="zh-CN" altLang="en-US" sz="2400" b="1" dirty="0">
                <a:solidFill>
                  <a:srgbClr val="FF0000"/>
                </a:solidFill>
                <a:latin typeface="楷体_GB2312"/>
                <a:ea typeface="楷体_GB2312"/>
              </a:rPr>
              <a:t>成形线</a:t>
            </a:r>
            <a:r>
              <a:rPr lang="zh-CN" altLang="en-US" sz="2400" b="1" dirty="0">
                <a:solidFill>
                  <a:srgbClr val="000000"/>
                </a:solidFill>
                <a:latin typeface="楷体_GB2312"/>
                <a:ea typeface="楷体_GB2312"/>
              </a:rPr>
              <a:t>是</a:t>
            </a:r>
            <a:r>
              <a:rPr lang="zh-CN" altLang="en-US" sz="2400" b="1" dirty="0">
                <a:solidFill>
                  <a:srgbClr val="FF0000"/>
                </a:solidFill>
                <a:latin typeface="楷体_GB2312"/>
                <a:ea typeface="楷体_GB2312"/>
              </a:rPr>
              <a:t>刀刃运动轨迹</a:t>
            </a:r>
            <a:r>
              <a:rPr lang="zh-CN" altLang="en-US" sz="2400" b="1" dirty="0">
                <a:solidFill>
                  <a:srgbClr val="000000"/>
                </a:solidFill>
                <a:latin typeface="楷体_GB2312"/>
                <a:ea typeface="楷体_GB2312"/>
              </a:rPr>
              <a:t>（与刀具范成运动或展成）的</a:t>
            </a:r>
            <a:r>
              <a:rPr lang="zh-CN" altLang="en-US" sz="2400" b="1" dirty="0">
                <a:solidFill>
                  <a:srgbClr val="FF0000"/>
                </a:solidFill>
                <a:latin typeface="楷体_GB2312"/>
                <a:ea typeface="楷体_GB2312"/>
              </a:rPr>
              <a:t>包络线</a:t>
            </a:r>
            <a:r>
              <a:rPr lang="zh-CN" altLang="en-US" b="1" dirty="0">
                <a:solidFill>
                  <a:srgbClr val="000000"/>
                </a:solidFill>
                <a:latin typeface="Arial" panose="020B0604020202020204" pitchFamily="34" charset="0"/>
                <a:ea typeface="宋体" panose="02010600030101010101" pitchFamily="2" charset="-122"/>
              </a:rPr>
              <a:t>，</a:t>
            </a:r>
            <a:r>
              <a:rPr lang="zh-CN" altLang="en-US" sz="2400" b="1" dirty="0">
                <a:solidFill>
                  <a:srgbClr val="0000FF"/>
                </a:solidFill>
                <a:latin typeface="楷体_GB2312"/>
                <a:ea typeface="楷体_GB2312"/>
              </a:rPr>
              <a:t>包络线通过刀具与工件之间的范成运动</a:t>
            </a:r>
            <a:r>
              <a:rPr lang="zh-CN" altLang="en-US" sz="2400" b="1" dirty="0">
                <a:solidFill>
                  <a:srgbClr val="000000"/>
                </a:solidFill>
                <a:latin typeface="楷体_GB2312"/>
                <a:ea typeface="楷体_GB2312"/>
              </a:rPr>
              <a:t>来生成。各种形式的齿轮、链轮大多数采用范成法加工。</a:t>
            </a:r>
            <a:endParaRPr lang="zh-CN" altLang="en-US" sz="2400" b="1" dirty="0">
              <a:solidFill>
                <a:srgbClr val="000000"/>
              </a:solidFill>
              <a:latin typeface="楷体_GB2312"/>
              <a:ea typeface="楷体_GB2312"/>
            </a:endParaRPr>
          </a:p>
        </p:txBody>
      </p:sp>
      <p:grpSp>
        <p:nvGrpSpPr>
          <p:cNvPr id="25603" name="Group 4"/>
          <p:cNvGrpSpPr/>
          <p:nvPr/>
        </p:nvGrpSpPr>
        <p:grpSpPr>
          <a:xfrm>
            <a:off x="0" y="3370263"/>
            <a:ext cx="3455988" cy="3317875"/>
            <a:chOff x="204" y="2115"/>
            <a:chExt cx="1819" cy="1954"/>
          </a:xfrm>
        </p:grpSpPr>
        <p:grpSp>
          <p:nvGrpSpPr>
            <p:cNvPr id="25604" name="Group 5"/>
            <p:cNvGrpSpPr/>
            <p:nvPr/>
          </p:nvGrpSpPr>
          <p:grpSpPr>
            <a:xfrm>
              <a:off x="204" y="2115"/>
              <a:ext cx="1819" cy="1954"/>
              <a:chOff x="653" y="2115"/>
              <a:chExt cx="1819" cy="1954"/>
            </a:xfrm>
          </p:grpSpPr>
          <p:pic>
            <p:nvPicPr>
              <p:cNvPr id="25605" name="Picture 6"/>
              <p:cNvPicPr>
                <a:picLocks noChangeAspect="1"/>
              </p:cNvPicPr>
              <p:nvPr/>
            </p:nvPicPr>
            <p:blipFill>
              <a:blip r:embed="rId1"/>
              <a:stretch>
                <a:fillRect/>
              </a:stretch>
            </p:blipFill>
            <p:spPr>
              <a:xfrm>
                <a:off x="653" y="2115"/>
                <a:ext cx="1819" cy="1954"/>
              </a:xfrm>
              <a:prstGeom prst="rect">
                <a:avLst/>
              </a:prstGeom>
              <a:noFill/>
              <a:ln w="9525">
                <a:noFill/>
              </a:ln>
            </p:spPr>
          </p:pic>
          <p:sp>
            <p:nvSpPr>
              <p:cNvPr id="25606" name="Rectangle 7"/>
              <p:cNvSpPr/>
              <p:nvPr/>
            </p:nvSpPr>
            <p:spPr>
              <a:xfrm>
                <a:off x="1132" y="3793"/>
                <a:ext cx="923" cy="250"/>
              </a:xfrm>
              <a:prstGeom prst="rect">
                <a:avLst/>
              </a:prstGeom>
              <a:solidFill>
                <a:srgbClr val="FFFFFF"/>
              </a:solidFill>
              <a:ln w="9525">
                <a:noFill/>
              </a:ln>
            </p:spPr>
            <p:txBody>
              <a:bodyPr wrap="none" anchor="t" anchorCtr="0">
                <a:spAutoFit/>
              </a:bodyPr>
              <a:p>
                <a:r>
                  <a:rPr lang="en-US" altLang="zh-CN" sz="2000" b="1" dirty="0">
                    <a:solidFill>
                      <a:srgbClr val="000000"/>
                    </a:solidFill>
                    <a:latin typeface="楷体_GB2312"/>
                    <a:ea typeface="楷体_GB2312"/>
                  </a:rPr>
                  <a:t>(d) </a:t>
                </a:r>
                <a:r>
                  <a:rPr lang="zh-CN" altLang="en-US" sz="2000" b="1" dirty="0">
                    <a:solidFill>
                      <a:srgbClr val="000000"/>
                    </a:solidFill>
                    <a:latin typeface="楷体_GB2312"/>
                    <a:ea typeface="楷体_GB2312"/>
                  </a:rPr>
                  <a:t>范成法</a:t>
                </a:r>
                <a:endParaRPr lang="zh-CN" altLang="en-US" sz="2000" b="1" dirty="0">
                  <a:solidFill>
                    <a:srgbClr val="000000"/>
                  </a:solidFill>
                  <a:latin typeface="楷体_GB2312"/>
                  <a:ea typeface="楷体_GB2312"/>
                </a:endParaRPr>
              </a:p>
            </p:txBody>
          </p:sp>
        </p:grpSp>
        <p:sp>
          <p:nvSpPr>
            <p:cNvPr id="25607" name="Rectangle 8"/>
            <p:cNvSpPr/>
            <p:nvPr/>
          </p:nvSpPr>
          <p:spPr>
            <a:xfrm>
              <a:off x="204" y="2115"/>
              <a:ext cx="1814" cy="1950"/>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4" name="Group 9"/>
          <p:cNvGrpSpPr/>
          <p:nvPr/>
        </p:nvGrpSpPr>
        <p:grpSpPr>
          <a:xfrm>
            <a:off x="3203575" y="3716338"/>
            <a:ext cx="5940425" cy="2743200"/>
            <a:chOff x="2199" y="2523"/>
            <a:chExt cx="3496" cy="1334"/>
          </a:xfrm>
        </p:grpSpPr>
        <p:grpSp>
          <p:nvGrpSpPr>
            <p:cNvPr id="25609" name="Group 10"/>
            <p:cNvGrpSpPr/>
            <p:nvPr/>
          </p:nvGrpSpPr>
          <p:grpSpPr>
            <a:xfrm>
              <a:off x="2200" y="2523"/>
              <a:ext cx="3495" cy="1334"/>
              <a:chOff x="2154" y="2504"/>
              <a:chExt cx="3495" cy="1334"/>
            </a:xfrm>
          </p:grpSpPr>
          <p:pic>
            <p:nvPicPr>
              <p:cNvPr id="25610" name="Picture 11"/>
              <p:cNvPicPr>
                <a:picLocks noChangeAspect="1"/>
              </p:cNvPicPr>
              <p:nvPr/>
            </p:nvPicPr>
            <p:blipFill>
              <a:blip r:embed="rId2"/>
              <a:stretch>
                <a:fillRect/>
              </a:stretch>
            </p:blipFill>
            <p:spPr>
              <a:xfrm>
                <a:off x="2154" y="2504"/>
                <a:ext cx="3495" cy="1334"/>
              </a:xfrm>
              <a:prstGeom prst="rect">
                <a:avLst/>
              </a:prstGeom>
              <a:noFill/>
              <a:ln w="9525">
                <a:noFill/>
              </a:ln>
            </p:spPr>
          </p:pic>
          <p:sp>
            <p:nvSpPr>
              <p:cNvPr id="25611" name="Rectangle 12"/>
              <p:cNvSpPr/>
              <p:nvPr/>
            </p:nvSpPr>
            <p:spPr>
              <a:xfrm>
                <a:off x="3379" y="3452"/>
                <a:ext cx="923" cy="250"/>
              </a:xfrm>
              <a:prstGeom prst="rect">
                <a:avLst/>
              </a:prstGeom>
              <a:solidFill>
                <a:srgbClr val="FFFFFF"/>
              </a:solidFill>
              <a:ln w="9525">
                <a:noFill/>
              </a:ln>
            </p:spPr>
            <p:txBody>
              <a:bodyPr wrap="none" anchor="t" anchorCtr="0">
                <a:spAutoFit/>
              </a:bodyPr>
              <a:p>
                <a:r>
                  <a:rPr lang="en-US" altLang="zh-CN" sz="2000" b="1" dirty="0">
                    <a:solidFill>
                      <a:srgbClr val="000000"/>
                    </a:solidFill>
                    <a:latin typeface="楷体_GB2312"/>
                    <a:ea typeface="楷体_GB2312"/>
                  </a:rPr>
                  <a:t>(d) </a:t>
                </a:r>
                <a:r>
                  <a:rPr lang="zh-CN" altLang="en-US" sz="2000" b="1" dirty="0">
                    <a:solidFill>
                      <a:srgbClr val="000000"/>
                    </a:solidFill>
                    <a:latin typeface="楷体_GB2312"/>
                    <a:ea typeface="楷体_GB2312"/>
                  </a:rPr>
                  <a:t>范成法</a:t>
                </a:r>
                <a:endParaRPr lang="zh-CN" altLang="en-US" sz="2000" b="1" dirty="0">
                  <a:solidFill>
                    <a:srgbClr val="000000"/>
                  </a:solidFill>
                  <a:latin typeface="楷体_GB2312"/>
                  <a:ea typeface="楷体_GB2312"/>
                </a:endParaRPr>
              </a:p>
            </p:txBody>
          </p:sp>
        </p:grpSp>
        <p:sp>
          <p:nvSpPr>
            <p:cNvPr id="25612" name="Rectangle 13"/>
            <p:cNvSpPr/>
            <p:nvPr/>
          </p:nvSpPr>
          <p:spPr>
            <a:xfrm>
              <a:off x="2199" y="2523"/>
              <a:ext cx="3493" cy="1315"/>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2962275" y="115888"/>
            <a:ext cx="5210175" cy="1143000"/>
          </a:xfrm>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
        <p:nvSpPr>
          <p:cNvPr id="27650" name="Text Box 3"/>
          <p:cNvSpPr txBox="1"/>
          <p:nvPr/>
        </p:nvSpPr>
        <p:spPr>
          <a:xfrm>
            <a:off x="746125" y="3756025"/>
            <a:ext cx="3673475" cy="366713"/>
          </a:xfrm>
          <a:prstGeom prst="rect">
            <a:avLst/>
          </a:prstGeom>
          <a:noFill/>
          <a:ln w="9525">
            <a:noFill/>
          </a:ln>
        </p:spPr>
        <p:txBody>
          <a:bodyPr anchor="t" anchorCtr="0">
            <a:spAutoFit/>
          </a:bodyPr>
          <a:p>
            <a:endParaRPr lang="zh-CN" altLang="zh-CN" dirty="0">
              <a:latin typeface="Century" panose="02040604050505020304" pitchFamily="18" charset="0"/>
              <a:ea typeface="宋体" panose="02010600030101010101" pitchFamily="2" charset="-122"/>
            </a:endParaRPr>
          </a:p>
        </p:txBody>
      </p:sp>
      <p:sp>
        <p:nvSpPr>
          <p:cNvPr id="27651" name="Rectangle 4"/>
          <p:cNvSpPr/>
          <p:nvPr/>
        </p:nvSpPr>
        <p:spPr>
          <a:xfrm>
            <a:off x="323850" y="1397000"/>
            <a:ext cx="8497888" cy="519113"/>
          </a:xfrm>
          <a:prstGeom prst="rect">
            <a:avLst/>
          </a:prstGeom>
          <a:noFill/>
          <a:ln w="9525">
            <a:noFill/>
          </a:ln>
        </p:spPr>
        <p:txBody>
          <a:bodyPr anchor="t" anchorCtr="0">
            <a:spAutoFit/>
          </a:bodyPr>
          <a:p>
            <a:pPr>
              <a:spcBef>
                <a:spcPct val="50000"/>
              </a:spcBef>
            </a:pPr>
            <a:r>
              <a:rPr lang="zh-CN" altLang="en-US" sz="2800" b="1" dirty="0">
                <a:solidFill>
                  <a:srgbClr val="009900"/>
                </a:solidFill>
                <a:latin typeface="楷体_GB2312"/>
                <a:ea typeface="楷体_GB2312"/>
              </a:rPr>
              <a:t>例、形成各种工件表面所需的运动</a:t>
            </a:r>
            <a:endParaRPr lang="zh-CN" altLang="en-US" sz="2800" b="1" dirty="0">
              <a:solidFill>
                <a:srgbClr val="009900"/>
              </a:solidFill>
              <a:latin typeface="楷体_GB2312"/>
              <a:ea typeface="楷体_GB2312"/>
            </a:endParaRPr>
          </a:p>
        </p:txBody>
      </p:sp>
      <p:grpSp>
        <p:nvGrpSpPr>
          <p:cNvPr id="27652" name="Group 5"/>
          <p:cNvGrpSpPr/>
          <p:nvPr/>
        </p:nvGrpSpPr>
        <p:grpSpPr>
          <a:xfrm>
            <a:off x="1116013" y="2060575"/>
            <a:ext cx="6480175" cy="4032250"/>
            <a:chOff x="703" y="1298"/>
            <a:chExt cx="4082" cy="2540"/>
          </a:xfrm>
        </p:grpSpPr>
        <p:grpSp>
          <p:nvGrpSpPr>
            <p:cNvPr id="27653" name="Group 6"/>
            <p:cNvGrpSpPr/>
            <p:nvPr/>
          </p:nvGrpSpPr>
          <p:grpSpPr>
            <a:xfrm>
              <a:off x="703" y="1298"/>
              <a:ext cx="4059" cy="2523"/>
              <a:chOff x="703" y="1071"/>
              <a:chExt cx="4173" cy="2820"/>
            </a:xfrm>
          </p:grpSpPr>
          <p:graphicFrame>
            <p:nvGraphicFramePr>
              <p:cNvPr id="27654" name="Object 7"/>
              <p:cNvGraphicFramePr>
                <a:graphicFrameLocks noChangeAspect="1"/>
              </p:cNvGraphicFramePr>
              <p:nvPr/>
            </p:nvGraphicFramePr>
            <p:xfrm>
              <a:off x="732" y="1071"/>
              <a:ext cx="4144" cy="2592"/>
            </p:xfrm>
            <a:graphic>
              <a:graphicData uri="http://schemas.openxmlformats.org/presentationml/2006/ole">
                <mc:AlternateContent xmlns:mc="http://schemas.openxmlformats.org/markup-compatibility/2006">
                  <mc:Choice xmlns:v="urn:schemas-microsoft-com:vml" Requires="v">
                    <p:oleObj spid="_x0000_s3081" name="" r:id="rId1" imgW="15363825" imgH="9610725" progId="Paint.Picture">
                      <p:embed/>
                    </p:oleObj>
                  </mc:Choice>
                  <mc:Fallback>
                    <p:oleObj name="" r:id="rId1" imgW="15363825" imgH="9610725" progId="Paint.Picture">
                      <p:embed/>
                      <p:pic>
                        <p:nvPicPr>
                          <p:cNvPr id="0" name="图片 3080"/>
                          <p:cNvPicPr/>
                          <p:nvPr/>
                        </p:nvPicPr>
                        <p:blipFill>
                          <a:blip r:embed="rId2">
                            <a:biLevel thresh="50000"/>
                            <a:grayscl/>
                          </a:blip>
                          <a:stretch>
                            <a:fillRect/>
                          </a:stretch>
                        </p:blipFill>
                        <p:spPr>
                          <a:xfrm>
                            <a:off x="732" y="1071"/>
                            <a:ext cx="4144" cy="2592"/>
                          </a:xfrm>
                          <a:prstGeom prst="rect">
                            <a:avLst/>
                          </a:prstGeom>
                          <a:noFill/>
                          <a:ln w="38100">
                            <a:noFill/>
                            <a:miter/>
                          </a:ln>
                        </p:spPr>
                      </p:pic>
                    </p:oleObj>
                  </mc:Fallback>
                </mc:AlternateContent>
              </a:graphicData>
            </a:graphic>
          </p:graphicFrame>
          <p:sp>
            <p:nvSpPr>
              <p:cNvPr id="27655" name="Rectangle 8"/>
              <p:cNvSpPr/>
              <p:nvPr/>
            </p:nvSpPr>
            <p:spPr>
              <a:xfrm>
                <a:off x="703" y="3612"/>
                <a:ext cx="4173" cy="279"/>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5  </a:t>
                </a:r>
                <a:r>
                  <a:rPr lang="zh-CN" altLang="en-US" sz="2000" b="1" dirty="0">
                    <a:solidFill>
                      <a:srgbClr val="000000"/>
                    </a:solidFill>
                    <a:latin typeface="楷体_GB2312"/>
                    <a:ea typeface="楷体_GB2312"/>
                  </a:rPr>
                  <a:t>形成生成线所需的运动</a:t>
                </a:r>
                <a:endParaRPr lang="zh-CN" altLang="en-US" sz="2000" b="1" dirty="0">
                  <a:solidFill>
                    <a:srgbClr val="000000"/>
                  </a:solidFill>
                  <a:latin typeface="楷体_GB2312"/>
                  <a:ea typeface="楷体_GB2312"/>
                </a:endParaRPr>
              </a:p>
            </p:txBody>
          </p:sp>
        </p:grpSp>
        <p:sp>
          <p:nvSpPr>
            <p:cNvPr id="27656" name="Rectangle 9"/>
            <p:cNvSpPr/>
            <p:nvPr/>
          </p:nvSpPr>
          <p:spPr>
            <a:xfrm>
              <a:off x="703" y="1298"/>
              <a:ext cx="4082" cy="2540"/>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7657" name="文本框 1"/>
          <p:cNvSpPr txBox="1"/>
          <p:nvPr/>
        </p:nvSpPr>
        <p:spPr>
          <a:xfrm>
            <a:off x="1692275" y="6200775"/>
            <a:ext cx="5095875"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https://www.bilibili.com/video/BV1d64y19791/</a:t>
            </a:r>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范成法加工</a:t>
            </a:r>
            <a:endParaRPr lang="zh-CN" altLang="en-US">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3"/>
          <p:cNvSpPr>
            <a:spLocks noGrp="1"/>
          </p:cNvSpPr>
          <p:nvPr>
            <p:ph type="body" sz="half" idx="1"/>
          </p:nvPr>
        </p:nvSpPr>
        <p:spPr>
          <a:xfrm>
            <a:off x="323850" y="1341438"/>
            <a:ext cx="4319588" cy="541337"/>
          </a:xfrm>
          <a:ln/>
        </p:spPr>
        <p:txBody>
          <a:bodyPr vert="horz" wrap="square" lIns="91440" tIns="45720" rIns="91440" bIns="45720" anchor="t" anchorCtr="0"/>
          <a:p>
            <a:pPr eaLnBrk="1" hangingPunct="1">
              <a:lnSpc>
                <a:spcPct val="90000"/>
              </a:lnSpc>
              <a:buClrTx/>
              <a:buSzTx/>
              <a:buFontTx/>
              <a:buNone/>
            </a:pPr>
            <a:r>
              <a:rPr lang="en-US" altLang="zh-CN" sz="2800" b="1" dirty="0">
                <a:solidFill>
                  <a:srgbClr val="009900"/>
                </a:solidFill>
                <a:latin typeface="楷体_GB2312"/>
                <a:ea typeface="楷体_GB2312"/>
              </a:rPr>
              <a:t>3.</a:t>
            </a:r>
            <a:r>
              <a:rPr lang="zh-CN" altLang="en-US" sz="2800" b="1" dirty="0">
                <a:solidFill>
                  <a:srgbClr val="009900"/>
                </a:solidFill>
                <a:latin typeface="楷体_GB2312"/>
                <a:ea typeface="楷体_GB2312"/>
              </a:rPr>
              <a:t>切削加工成形运动</a:t>
            </a:r>
            <a:endParaRPr lang="zh-CN" altLang="en-US" sz="2800" b="1" dirty="0">
              <a:solidFill>
                <a:srgbClr val="009900"/>
              </a:solidFill>
              <a:latin typeface="楷体_GB2312"/>
              <a:ea typeface="楷体_GB2312"/>
            </a:endParaRPr>
          </a:p>
          <a:p>
            <a:pPr eaLnBrk="1" hangingPunct="1">
              <a:lnSpc>
                <a:spcPct val="90000"/>
              </a:lnSpc>
              <a:buClrTx/>
              <a:buSzTx/>
              <a:buFontTx/>
              <a:buNone/>
            </a:pPr>
            <a:endParaRPr lang="en-US" altLang="zh-CN" sz="2400" b="1" dirty="0">
              <a:solidFill>
                <a:srgbClr val="FF0000"/>
              </a:solidFill>
              <a:latin typeface="楷体_GB2312"/>
              <a:ea typeface="楷体_GB2312"/>
            </a:endParaRPr>
          </a:p>
        </p:txBody>
      </p:sp>
      <p:grpSp>
        <p:nvGrpSpPr>
          <p:cNvPr id="29698" name="Group 4"/>
          <p:cNvGrpSpPr/>
          <p:nvPr/>
        </p:nvGrpSpPr>
        <p:grpSpPr>
          <a:xfrm>
            <a:off x="69850" y="2276475"/>
            <a:ext cx="9074150" cy="4392613"/>
            <a:chOff x="158" y="1706"/>
            <a:chExt cx="4310" cy="2450"/>
          </a:xfrm>
        </p:grpSpPr>
        <p:pic>
          <p:nvPicPr>
            <p:cNvPr id="29699" name="Picture 5" descr="图1－1"/>
            <p:cNvPicPr>
              <a:picLocks noChangeAspect="1"/>
            </p:cNvPicPr>
            <p:nvPr/>
          </p:nvPicPr>
          <p:blipFill>
            <a:blip r:embed="rId1"/>
            <a:stretch>
              <a:fillRect/>
            </a:stretch>
          </p:blipFill>
          <p:spPr>
            <a:xfrm>
              <a:off x="158" y="1706"/>
              <a:ext cx="4309" cy="2206"/>
            </a:xfrm>
            <a:prstGeom prst="rect">
              <a:avLst/>
            </a:prstGeom>
            <a:noFill/>
            <a:ln w="9525">
              <a:noFill/>
            </a:ln>
          </p:spPr>
        </p:pic>
        <p:sp>
          <p:nvSpPr>
            <p:cNvPr id="29700" name="Text Box 6"/>
            <p:cNvSpPr txBox="1"/>
            <p:nvPr/>
          </p:nvSpPr>
          <p:spPr>
            <a:xfrm>
              <a:off x="158" y="3884"/>
              <a:ext cx="4309" cy="250"/>
            </a:xfrm>
            <a:prstGeom prst="rect">
              <a:avLst/>
            </a:prstGeom>
            <a:solidFill>
              <a:srgbClr val="FFFFFF"/>
            </a:solidFill>
            <a:ln w="9525">
              <a:noFill/>
            </a:ln>
          </p:spPr>
          <p:txBody>
            <a:bodyPr anchor="t" anchorCtr="0">
              <a:spAutoFit/>
            </a:bodyPr>
            <a:p>
              <a:r>
                <a:rPr lang="en-US" altLang="zh-CN" sz="2000" b="1" dirty="0">
                  <a:latin typeface="楷体_GB2312"/>
                  <a:ea typeface="楷体_GB2312"/>
                </a:rPr>
                <a:t>          </a:t>
              </a:r>
              <a:r>
                <a:rPr lang="zh-CN" altLang="en-US" sz="2000" b="1" dirty="0">
                  <a:latin typeface="楷体_GB2312"/>
                  <a:ea typeface="楷体_GB2312"/>
                </a:rPr>
                <a:t>图  零件不同表面加工时的切削运动</a:t>
              </a:r>
              <a:endParaRPr lang="zh-CN" altLang="en-US" sz="2000" b="1" dirty="0">
                <a:latin typeface="楷体_GB2312"/>
                <a:ea typeface="楷体_GB2312"/>
              </a:endParaRPr>
            </a:p>
          </p:txBody>
        </p:sp>
        <p:sp>
          <p:nvSpPr>
            <p:cNvPr id="29701" name="Rectangle 7"/>
            <p:cNvSpPr/>
            <p:nvPr/>
          </p:nvSpPr>
          <p:spPr>
            <a:xfrm>
              <a:off x="158" y="1706"/>
              <a:ext cx="4310" cy="2450"/>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425416" name="AutoShape 8"/>
          <p:cNvSpPr/>
          <p:nvPr/>
        </p:nvSpPr>
        <p:spPr>
          <a:xfrm>
            <a:off x="4284663" y="925513"/>
            <a:ext cx="4535487" cy="1295400"/>
          </a:xfrm>
          <a:prstGeom prst="wedgeRoundRectCallout">
            <a:avLst>
              <a:gd name="adj1" fmla="val -43560"/>
              <a:gd name="adj2" fmla="val 83333"/>
              <a:gd name="adj3" fmla="val 16667"/>
            </a:avLst>
          </a:prstGeom>
          <a:solidFill>
            <a:srgbClr val="CCFFFF"/>
          </a:solidFill>
          <a:ln w="9525" cap="flat" cmpd="sng">
            <a:solidFill>
              <a:srgbClr val="FFCC99"/>
            </a:solidFill>
            <a:prstDash val="solid"/>
            <a:miter/>
            <a:headEnd type="none" w="med" len="med"/>
            <a:tailEnd type="none" w="med" len="med"/>
          </a:ln>
        </p:spPr>
        <p:txBody>
          <a:bodyPr anchor="t" anchorCtr="0"/>
          <a:p>
            <a:r>
              <a:rPr lang="en-US" altLang="zh-CN" sz="2400" b="1" dirty="0">
                <a:solidFill>
                  <a:srgbClr val="000000"/>
                </a:solidFill>
                <a:latin typeface="Arial" panose="020B0604020202020204" pitchFamily="34" charset="0"/>
                <a:ea typeface="宋体" panose="02010600030101010101" pitchFamily="2" charset="-122"/>
              </a:rPr>
              <a:t>     </a:t>
            </a:r>
            <a:r>
              <a:rPr lang="zh-CN" altLang="en-US" sz="2400" b="1" dirty="0">
                <a:solidFill>
                  <a:srgbClr val="000000"/>
                </a:solidFill>
                <a:latin typeface="Arial" panose="020B0604020202020204" pitchFamily="34" charset="0"/>
                <a:ea typeface="楷体_GB2312"/>
              </a:rPr>
              <a:t>不同运动形式和不同运动执行元件的多种组合，产生了不同的加工方法。</a:t>
            </a:r>
            <a:endParaRPr lang="zh-CN" altLang="en-US" sz="2400" b="1" dirty="0">
              <a:solidFill>
                <a:srgbClr val="000000"/>
              </a:solidFill>
              <a:latin typeface="Arial" panose="020B0604020202020204" pitchFamily="34" charset="0"/>
              <a:ea typeface="楷体_GB2312"/>
            </a:endParaRPr>
          </a:p>
        </p:txBody>
      </p:sp>
      <p:sp>
        <p:nvSpPr>
          <p:cNvPr id="29703" name="Rectangle 2"/>
          <p:cNvSpPr>
            <a:spLocks noGrp="1"/>
          </p:cNvSpPr>
          <p:nvPr>
            <p:ph type="title"/>
          </p:nvPr>
        </p:nvSpPr>
        <p:spPr>
          <a:xfrm>
            <a:off x="2339975" y="14288"/>
            <a:ext cx="6019800" cy="1190625"/>
          </a:xfrm>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425416"/>
                                        </p:tgtEl>
                                        <p:attrNameLst>
                                          <p:attrName>style.visibility</p:attrName>
                                        </p:attrNameLst>
                                      </p:cBhvr>
                                      <p:to>
                                        <p:strVal val="visible"/>
                                      </p:to>
                                    </p:set>
                                    <p:anim calcmode="lin" valueType="num">
                                      <p:cBhvr>
                                        <p:cTn id="7" dur="1000" fill="hold"/>
                                        <p:tgtEl>
                                          <p:spTgt spid="1425416"/>
                                        </p:tgtEl>
                                        <p:attrNameLst>
                                          <p:attrName>ppt_w</p:attrName>
                                        </p:attrNameLst>
                                      </p:cBhvr>
                                      <p:tavLst>
                                        <p:tav tm="0">
                                          <p:val>
                                            <p:strVal val="#ppt_w*0.70"/>
                                          </p:val>
                                        </p:tav>
                                        <p:tav tm="100000">
                                          <p:val>
                                            <p:strVal val="#ppt_w"/>
                                          </p:val>
                                        </p:tav>
                                      </p:tavLst>
                                    </p:anim>
                                    <p:anim calcmode="lin" valueType="num">
                                      <p:cBhvr>
                                        <p:cTn id="8" dur="1000" fill="hold"/>
                                        <p:tgtEl>
                                          <p:spTgt spid="1425416"/>
                                        </p:tgtEl>
                                        <p:attrNameLst>
                                          <p:attrName>ppt_h</p:attrName>
                                        </p:attrNameLst>
                                      </p:cBhvr>
                                      <p:tavLst>
                                        <p:tav tm="0">
                                          <p:val>
                                            <p:strVal val="#ppt_h"/>
                                          </p:val>
                                        </p:tav>
                                        <p:tav tm="100000">
                                          <p:val>
                                            <p:strVal val="#ppt_h"/>
                                          </p:val>
                                        </p:tav>
                                      </p:tavLst>
                                    </p:anim>
                                    <p:animEffect transition="in" filter="fade">
                                      <p:cBhvr>
                                        <p:cTn id="9" dur="1000"/>
                                        <p:tgtEl>
                                          <p:spTgt spid="1425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p:nvPr/>
        </p:nvSpPr>
        <p:spPr>
          <a:xfrm>
            <a:off x="395288" y="1125538"/>
            <a:ext cx="8139112" cy="1614487"/>
          </a:xfrm>
          <a:prstGeom prst="rect">
            <a:avLst/>
          </a:prstGeom>
          <a:noFill/>
          <a:ln w="9525">
            <a:noFill/>
          </a:ln>
        </p:spPr>
        <p:txBody>
          <a:bodyPr anchor="t" anchorCtr="0">
            <a:spAutoFit/>
          </a:bodyPr>
          <a:p>
            <a:r>
              <a:rPr lang="en-US" altLang="zh-CN" sz="2800" b="1" dirty="0">
                <a:solidFill>
                  <a:srgbClr val="009900"/>
                </a:solidFill>
                <a:latin typeface="楷体_GB2312"/>
                <a:ea typeface="楷体_GB2312"/>
              </a:rPr>
              <a:t>3.</a:t>
            </a:r>
            <a:r>
              <a:rPr lang="zh-CN" altLang="en-US" sz="2800" b="1" dirty="0">
                <a:solidFill>
                  <a:srgbClr val="009900"/>
                </a:solidFill>
                <a:latin typeface="楷体_GB2312"/>
                <a:ea typeface="楷体_GB2312"/>
              </a:rPr>
              <a:t>切削加工成形运动</a:t>
            </a:r>
            <a:endParaRPr lang="zh-CN" altLang="en-US" sz="2800" b="1" dirty="0">
              <a:solidFill>
                <a:srgbClr val="009900"/>
              </a:solidFill>
              <a:latin typeface="楷体_GB2312"/>
              <a:ea typeface="楷体_GB2312"/>
            </a:endParaRPr>
          </a:p>
          <a:p>
            <a:r>
              <a:rPr lang="zh-CN" altLang="en-US" sz="2000" b="1" dirty="0">
                <a:latin typeface="楷体_GB2312"/>
                <a:ea typeface="楷体_GB2312"/>
              </a:rPr>
              <a:t>    </a:t>
            </a:r>
            <a:r>
              <a:rPr lang="zh-CN" altLang="en-US" sz="2400" b="1" dirty="0">
                <a:solidFill>
                  <a:srgbClr val="000000"/>
                </a:solidFill>
                <a:latin typeface="楷体_GB2312"/>
                <a:ea typeface="楷体_GB2312"/>
              </a:rPr>
              <a:t>在切削和磨削加工中工件表面的形状、尺寸及相互位置关系是通过刀具相对于工件的运动形成的。工件表面的成形运动主要有二种：</a:t>
            </a:r>
            <a:endParaRPr lang="zh-CN" altLang="en-US" sz="2400" b="1" dirty="0">
              <a:solidFill>
                <a:srgbClr val="000000"/>
              </a:solidFill>
              <a:latin typeface="楷体_GB2312"/>
              <a:ea typeface="楷体_GB2312"/>
            </a:endParaRPr>
          </a:p>
        </p:txBody>
      </p:sp>
      <p:sp>
        <p:nvSpPr>
          <p:cNvPr id="1427461" name="Rectangle 5"/>
          <p:cNvSpPr>
            <a:spLocks noChangeArrowheads="1"/>
          </p:cNvSpPr>
          <p:nvPr/>
        </p:nvSpPr>
        <p:spPr bwMode="auto">
          <a:xfrm>
            <a:off x="395288" y="2843213"/>
            <a:ext cx="8604250" cy="4154488"/>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CC3300"/>
                </a:solidFill>
                <a:effectLst/>
                <a:uLnTx/>
                <a:uFillTx/>
                <a:latin typeface="楷体_GB2312" pitchFamily="49" charset="-122"/>
                <a:ea typeface="楷体_GB2312" pitchFamily="49" charset="-122"/>
                <a:cs typeface="宋体" panose="02010600030101010101" pitchFamily="2" charset="-122"/>
              </a:rPr>
              <a:t>1</a:t>
            </a:r>
            <a:r>
              <a:rPr kumimoji="0" lang="zh-CN" altLang="en-US" sz="2400" b="1" i="0" u="none" strike="noStrike" kern="1200" cap="none" spc="0" normalizeH="0" baseline="0" noProof="0" dirty="0">
                <a:ln>
                  <a:noFill/>
                </a:ln>
                <a:solidFill>
                  <a:srgbClr val="CC3300"/>
                </a:solidFill>
                <a:effectLst/>
                <a:uLnTx/>
                <a:uFillTx/>
                <a:latin typeface="楷体_GB2312" pitchFamily="49" charset="-122"/>
                <a:ea typeface="楷体_GB2312" pitchFamily="49" charset="-122"/>
                <a:cs typeface="宋体" panose="02010600030101010101" pitchFamily="2" charset="-122"/>
              </a:rPr>
              <a:t>．主运动</a:t>
            </a:r>
            <a:r>
              <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楷体_GB2312" pitchFamily="49" charset="-122"/>
                <a:cs typeface="宋体" panose="02010600030101010101" pitchFamily="2" charset="-122"/>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宋体" panose="02010600030101010101" pitchFamily="2" charset="-122"/>
              </a:rPr>
              <a:t>        </a:t>
            </a: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主要完成切削的运动，消耗功率最多，</a:t>
            </a: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    一种加工主运动只有一个。</a:t>
            </a:r>
            <a:endPar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CC3300"/>
                </a:solidFill>
                <a:effectLst/>
                <a:uLnTx/>
                <a:uFillTx/>
                <a:latin typeface="楷体_GB2312" pitchFamily="49" charset="-122"/>
                <a:ea typeface="楷体_GB2312" pitchFamily="49" charset="-122"/>
                <a:cs typeface="宋体" panose="02010600030101010101" pitchFamily="2" charset="-122"/>
              </a:rPr>
              <a:t>2</a:t>
            </a:r>
            <a:r>
              <a:rPr kumimoji="0" lang="zh-CN" altLang="en-US" sz="2400" b="1" i="0" u="none" strike="noStrike" kern="1200" cap="none" spc="0" normalizeH="0" baseline="0" noProof="0" dirty="0">
                <a:ln>
                  <a:noFill/>
                </a:ln>
                <a:solidFill>
                  <a:srgbClr val="CC3300"/>
                </a:solidFill>
                <a:effectLst/>
                <a:uLnTx/>
                <a:uFillTx/>
                <a:latin typeface="楷体_GB2312" pitchFamily="49" charset="-122"/>
                <a:ea typeface="楷体_GB2312" pitchFamily="49" charset="-122"/>
                <a:cs typeface="宋体" panose="02010600030101010101" pitchFamily="2" charset="-122"/>
              </a:rPr>
              <a:t>．进给运动</a:t>
            </a:r>
            <a:r>
              <a:rPr kumimoji="0" lang="zh-CN" altLang="en-US" sz="20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楷体_GB2312" pitchFamily="49" charset="-122"/>
                <a:cs typeface="宋体" panose="02010600030101010101" pitchFamily="2" charset="-122"/>
              </a:rPr>
              <a:t>（     ）</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宋体" panose="02010600030101010101" pitchFamily="2" charset="-122"/>
              </a:rPr>
              <a:t>      </a:t>
            </a: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使切削</a:t>
            </a: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加工保持连续进行，一种加</a:t>
            </a: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工可以有一种（或以上）的</a:t>
            </a: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进给运动。</a:t>
            </a:r>
            <a:endPar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   实际的切削运动是一个合</a:t>
            </a: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成运动。合成切削速度：　　　　　　　　　　　　　　</a:t>
            </a:r>
            <a:endPar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rPr>
              <a:t> 是矢量和。</a:t>
            </a:r>
            <a:endParaRPr kumimoji="0" lang="zh-CN" altLang="en-US"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楷体_GB2312" pitchFamily="49" charset="-122"/>
              <a:ea typeface="楷体_GB2312" pitchFamily="49" charset="-122"/>
              <a:cs typeface="宋体" panose="02010600030101010101" pitchFamily="2" charset="-122"/>
            </a:endParaRPr>
          </a:p>
        </p:txBody>
      </p:sp>
      <p:graphicFrame>
        <p:nvGraphicFramePr>
          <p:cNvPr id="31747" name="Object 6"/>
          <p:cNvGraphicFramePr>
            <a:graphicFrameLocks noChangeAspect="1"/>
          </p:cNvGraphicFramePr>
          <p:nvPr/>
        </p:nvGraphicFramePr>
        <p:xfrm>
          <a:off x="1571625" y="5643563"/>
          <a:ext cx="1838325" cy="600075"/>
        </p:xfrm>
        <a:graphic>
          <a:graphicData uri="http://schemas.openxmlformats.org/presentationml/2006/ole">
            <mc:AlternateContent xmlns:mc="http://schemas.openxmlformats.org/markup-compatibility/2006">
              <mc:Choice xmlns:v="urn:schemas-microsoft-com:vml" Requires="v">
                <p:oleObj spid="_x0000_s3078" name="" r:id="rId1" imgW="736600" imgH="241300" progId="Equation.DSMT4">
                  <p:embed/>
                </p:oleObj>
              </mc:Choice>
              <mc:Fallback>
                <p:oleObj name="" r:id="rId1" imgW="736600" imgH="241300" progId="Equation.DSMT4">
                  <p:embed/>
                  <p:pic>
                    <p:nvPicPr>
                      <p:cNvPr id="0" name="图片 3077"/>
                      <p:cNvPicPr/>
                      <p:nvPr/>
                    </p:nvPicPr>
                    <p:blipFill>
                      <a:blip r:embed="rId2"/>
                      <a:stretch>
                        <a:fillRect/>
                      </a:stretch>
                    </p:blipFill>
                    <p:spPr>
                      <a:xfrm>
                        <a:off x="1571625" y="5643563"/>
                        <a:ext cx="1838325" cy="600075"/>
                      </a:xfrm>
                      <a:prstGeom prst="rect">
                        <a:avLst/>
                      </a:prstGeom>
                      <a:noFill/>
                      <a:ln w="38100">
                        <a:noFill/>
                        <a:miter/>
                      </a:ln>
                    </p:spPr>
                  </p:pic>
                </p:oleObj>
              </mc:Fallback>
            </mc:AlternateContent>
          </a:graphicData>
        </a:graphic>
      </p:graphicFrame>
      <p:graphicFrame>
        <p:nvGraphicFramePr>
          <p:cNvPr id="31748" name="Object 7"/>
          <p:cNvGraphicFramePr>
            <a:graphicFrameLocks noChangeAspect="1"/>
          </p:cNvGraphicFramePr>
          <p:nvPr/>
        </p:nvGraphicFramePr>
        <p:xfrm>
          <a:off x="2197100" y="2770188"/>
          <a:ext cx="423863" cy="587375"/>
        </p:xfrm>
        <a:graphic>
          <a:graphicData uri="http://schemas.openxmlformats.org/presentationml/2006/ole">
            <mc:AlternateContent xmlns:mc="http://schemas.openxmlformats.org/markup-compatibility/2006">
              <mc:Choice xmlns:v="urn:schemas-microsoft-com:vml" Requires="v">
                <p:oleObj spid="_x0000_s3076" name="" r:id="rId3" imgW="165100" imgH="228600" progId="Equation.DSMT4">
                  <p:embed/>
                </p:oleObj>
              </mc:Choice>
              <mc:Fallback>
                <p:oleObj name="" r:id="rId3" imgW="165100" imgH="228600" progId="Equation.DSMT4">
                  <p:embed/>
                  <p:pic>
                    <p:nvPicPr>
                      <p:cNvPr id="0" name="图片 3075"/>
                      <p:cNvPicPr/>
                      <p:nvPr/>
                    </p:nvPicPr>
                    <p:blipFill>
                      <a:blip r:embed="rId4"/>
                      <a:stretch>
                        <a:fillRect/>
                      </a:stretch>
                    </p:blipFill>
                    <p:spPr>
                      <a:xfrm>
                        <a:off x="2197100" y="2770188"/>
                        <a:ext cx="423863" cy="587375"/>
                      </a:xfrm>
                      <a:prstGeom prst="rect">
                        <a:avLst/>
                      </a:prstGeom>
                      <a:noFill/>
                      <a:ln w="38100">
                        <a:noFill/>
                        <a:miter/>
                      </a:ln>
                    </p:spPr>
                  </p:pic>
                </p:oleObj>
              </mc:Fallback>
            </mc:AlternateContent>
          </a:graphicData>
        </a:graphic>
      </p:graphicFrame>
      <p:graphicFrame>
        <p:nvGraphicFramePr>
          <p:cNvPr id="31749" name="Object 8"/>
          <p:cNvGraphicFramePr>
            <a:graphicFrameLocks noChangeAspect="1"/>
          </p:cNvGraphicFramePr>
          <p:nvPr/>
        </p:nvGraphicFramePr>
        <p:xfrm>
          <a:off x="2411413" y="3576638"/>
          <a:ext cx="339725" cy="428625"/>
        </p:xfrm>
        <a:graphic>
          <a:graphicData uri="http://schemas.openxmlformats.org/presentationml/2006/ole">
            <mc:AlternateContent xmlns:mc="http://schemas.openxmlformats.org/markup-compatibility/2006">
              <mc:Choice xmlns:v="urn:schemas-microsoft-com:vml" Requires="v">
                <p:oleObj spid="_x0000_s3077" name="" r:id="rId5" imgW="190500" imgH="241300" progId="Equation.DSMT4">
                  <p:embed/>
                </p:oleObj>
              </mc:Choice>
              <mc:Fallback>
                <p:oleObj name="" r:id="rId5" imgW="190500" imgH="241300" progId="Equation.DSMT4">
                  <p:embed/>
                  <p:pic>
                    <p:nvPicPr>
                      <p:cNvPr id="0" name="图片 3076"/>
                      <p:cNvPicPr/>
                      <p:nvPr/>
                    </p:nvPicPr>
                    <p:blipFill>
                      <a:blip r:embed="rId6"/>
                      <a:stretch>
                        <a:fillRect/>
                      </a:stretch>
                    </p:blipFill>
                    <p:spPr>
                      <a:xfrm>
                        <a:off x="2411413" y="3576638"/>
                        <a:ext cx="339725" cy="428625"/>
                      </a:xfrm>
                      <a:prstGeom prst="rect">
                        <a:avLst/>
                      </a:prstGeom>
                      <a:noFill/>
                      <a:ln w="38100">
                        <a:noFill/>
                        <a:miter/>
                      </a:ln>
                    </p:spPr>
                  </p:pic>
                </p:oleObj>
              </mc:Fallback>
            </mc:AlternateContent>
          </a:graphicData>
        </a:graphic>
      </p:graphicFrame>
      <p:sp>
        <p:nvSpPr>
          <p:cNvPr id="31750" name="Line 9"/>
          <p:cNvSpPr/>
          <p:nvPr/>
        </p:nvSpPr>
        <p:spPr>
          <a:xfrm>
            <a:off x="2843213" y="3068638"/>
            <a:ext cx="431800" cy="0"/>
          </a:xfrm>
          <a:prstGeom prst="line">
            <a:avLst/>
          </a:prstGeom>
          <a:ln w="28575" cap="flat" cmpd="sng">
            <a:solidFill>
              <a:srgbClr val="FF3300"/>
            </a:solidFill>
            <a:prstDash val="solid"/>
            <a:round/>
            <a:headEnd type="none" w="med" len="med"/>
            <a:tailEnd type="none" w="med" len="med"/>
          </a:ln>
        </p:spPr>
      </p:sp>
      <p:sp>
        <p:nvSpPr>
          <p:cNvPr id="31751" name="Line 10"/>
          <p:cNvSpPr/>
          <p:nvPr/>
        </p:nvSpPr>
        <p:spPr>
          <a:xfrm>
            <a:off x="2987675" y="3789363"/>
            <a:ext cx="431800" cy="0"/>
          </a:xfrm>
          <a:prstGeom prst="line">
            <a:avLst/>
          </a:prstGeom>
          <a:ln w="28575" cap="flat" cmpd="sng">
            <a:solidFill>
              <a:srgbClr val="FF3300"/>
            </a:solidFill>
            <a:prstDash val="solid"/>
            <a:round/>
            <a:headEnd type="none" w="med" len="med"/>
            <a:tailEnd type="none" w="med" len="med"/>
          </a:ln>
        </p:spPr>
      </p:sp>
      <p:grpSp>
        <p:nvGrpSpPr>
          <p:cNvPr id="2" name="Group 12"/>
          <p:cNvGrpSpPr/>
          <p:nvPr/>
        </p:nvGrpSpPr>
        <p:grpSpPr>
          <a:xfrm>
            <a:off x="101600" y="171450"/>
            <a:ext cx="8882063" cy="6664325"/>
            <a:chOff x="2744" y="2205"/>
            <a:chExt cx="2858" cy="2042"/>
          </a:xfrm>
        </p:grpSpPr>
        <p:grpSp>
          <p:nvGrpSpPr>
            <p:cNvPr id="31753" name="Group 13"/>
            <p:cNvGrpSpPr/>
            <p:nvPr/>
          </p:nvGrpSpPr>
          <p:grpSpPr>
            <a:xfrm>
              <a:off x="2745" y="2205"/>
              <a:ext cx="2857" cy="2032"/>
              <a:chOff x="2745" y="2205"/>
              <a:chExt cx="2857" cy="2032"/>
            </a:xfrm>
          </p:grpSpPr>
          <p:pic>
            <p:nvPicPr>
              <p:cNvPr id="31754" name="Picture 14"/>
              <p:cNvPicPr>
                <a:picLocks noChangeAspect="1"/>
              </p:cNvPicPr>
              <p:nvPr/>
            </p:nvPicPr>
            <p:blipFill>
              <a:blip r:embed="rId7"/>
              <a:stretch>
                <a:fillRect/>
              </a:stretch>
            </p:blipFill>
            <p:spPr>
              <a:xfrm>
                <a:off x="2745" y="2205"/>
                <a:ext cx="2857" cy="2032"/>
              </a:xfrm>
              <a:prstGeom prst="rect">
                <a:avLst/>
              </a:prstGeom>
              <a:noFill/>
              <a:ln w="9525">
                <a:noFill/>
              </a:ln>
            </p:spPr>
          </p:pic>
          <p:sp>
            <p:nvSpPr>
              <p:cNvPr id="31755" name="Text Box 15"/>
              <p:cNvSpPr txBox="1"/>
              <p:nvPr/>
            </p:nvSpPr>
            <p:spPr>
              <a:xfrm>
                <a:off x="3146" y="3970"/>
                <a:ext cx="2002" cy="113"/>
              </a:xfrm>
              <a:prstGeom prst="rect">
                <a:avLst/>
              </a:prstGeom>
              <a:solidFill>
                <a:srgbClr val="FFFFFF"/>
              </a:solidFill>
              <a:ln w="9525">
                <a:noFill/>
              </a:ln>
            </p:spPr>
            <p:txBody>
              <a:bodyPr wrap="square" anchor="t" anchorCtr="0">
                <a:spAutoFit/>
              </a:bodyPr>
              <a:p>
                <a:r>
                  <a:rPr lang="zh-CN" altLang="en-US" b="1" dirty="0">
                    <a:solidFill>
                      <a:srgbClr val="000000"/>
                    </a:solidFill>
                    <a:latin typeface="楷体_GB2312"/>
                    <a:ea typeface="楷体_GB2312"/>
                  </a:rPr>
                  <a:t>图  各种切削加工的切削运动</a:t>
                </a:r>
                <a:endParaRPr lang="zh-CN" altLang="en-US" b="1" dirty="0">
                  <a:solidFill>
                    <a:srgbClr val="000000"/>
                  </a:solidFill>
                  <a:latin typeface="楷体_GB2312"/>
                  <a:ea typeface="楷体_GB2312"/>
                </a:endParaRPr>
              </a:p>
            </p:txBody>
          </p:sp>
        </p:grpSp>
        <p:sp>
          <p:nvSpPr>
            <p:cNvPr id="31756" name="Rectangle 16"/>
            <p:cNvSpPr/>
            <p:nvPr/>
          </p:nvSpPr>
          <p:spPr>
            <a:xfrm>
              <a:off x="2744" y="2205"/>
              <a:ext cx="2858" cy="2042"/>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31757"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ln/>
        </p:spPr>
        <p:txBody>
          <a:bodyPr vert="horz" wrap="square" lIns="91440" tIns="45720" rIns="91440" bIns="45720" anchor="ctr" anchorCtr="0"/>
          <a:p>
            <a:endParaRPr lang="zh-CN" altLang="en-US" dirty="0"/>
          </a:p>
        </p:txBody>
      </p:sp>
      <p:sp>
        <p:nvSpPr>
          <p:cNvPr id="33794" name="内容占位符 2"/>
          <p:cNvSpPr>
            <a:spLocks noGrp="1"/>
          </p:cNvSpPr>
          <p:nvPr>
            <p:ph idx="1"/>
          </p:nvPr>
        </p:nvSpPr>
        <p:spPr>
          <a:ln/>
        </p:spPr>
        <p:txBody>
          <a:bodyPr vert="horz" wrap="square" lIns="91440" tIns="45720" rIns="91440" bIns="45720" anchor="t" anchorCtr="0"/>
          <a:p>
            <a:endParaRPr lang="zh-CN" altLang="en-US" dirty="0"/>
          </a:p>
        </p:txBody>
      </p:sp>
      <p:pic>
        <p:nvPicPr>
          <p:cNvPr id="33795" name="Picture 2" descr="https://timgsa.baidu.com/timg?image&amp;quality=80&amp;size=b9999_10000&amp;sec=1607498056827&amp;di=036b1da0221b2a81ae5cae07763a5175&amp;imgtype=0&amp;src=http%3A%2F%2Fimg1.wanguan.com%2Fimg%2F001%2F1%2F1302%2F511f0735b32e5.jpg"/>
          <p:cNvPicPr>
            <a:picLocks noChangeAspect="1"/>
          </p:cNvPicPr>
          <p:nvPr/>
        </p:nvPicPr>
        <p:blipFill>
          <a:blip r:embed="rId1"/>
          <a:stretch>
            <a:fillRect/>
          </a:stretch>
        </p:blipFill>
        <p:spPr>
          <a:xfrm>
            <a:off x="611188" y="452438"/>
            <a:ext cx="4589462" cy="4025900"/>
          </a:xfrm>
          <a:prstGeom prst="rect">
            <a:avLst/>
          </a:prstGeom>
          <a:noFill/>
          <a:ln w="9525">
            <a:noFill/>
          </a:ln>
        </p:spPr>
      </p:pic>
      <p:grpSp>
        <p:nvGrpSpPr>
          <p:cNvPr id="33796" name="Group 4"/>
          <p:cNvGrpSpPr/>
          <p:nvPr/>
        </p:nvGrpSpPr>
        <p:grpSpPr>
          <a:xfrm>
            <a:off x="4895850" y="3573463"/>
            <a:ext cx="4248150" cy="3276600"/>
            <a:chOff x="2789" y="1162"/>
            <a:chExt cx="2676" cy="2064"/>
          </a:xfrm>
        </p:grpSpPr>
        <p:grpSp>
          <p:nvGrpSpPr>
            <p:cNvPr id="33797" name="Group 5"/>
            <p:cNvGrpSpPr/>
            <p:nvPr/>
          </p:nvGrpSpPr>
          <p:grpSpPr>
            <a:xfrm>
              <a:off x="2789" y="1162"/>
              <a:ext cx="2676" cy="2064"/>
              <a:chOff x="2789" y="1162"/>
              <a:chExt cx="2676" cy="2064"/>
            </a:xfrm>
          </p:grpSpPr>
          <p:pic>
            <p:nvPicPr>
              <p:cNvPr id="33798" name="Picture 6" descr="切削力1"/>
              <p:cNvPicPr>
                <a:picLocks noChangeAspect="1"/>
              </p:cNvPicPr>
              <p:nvPr/>
            </p:nvPicPr>
            <p:blipFill>
              <a:blip r:embed="rId2">
                <a:clrChange>
                  <a:clrFrom>
                    <a:srgbClr val="FFFFFF"/>
                  </a:clrFrom>
                  <a:clrTo>
                    <a:srgbClr val="FFFFFF">
                      <a:alpha val="0"/>
                    </a:srgbClr>
                  </a:clrTo>
                </a:clrChange>
              </a:blip>
              <a:stretch>
                <a:fillRect/>
              </a:stretch>
            </p:blipFill>
            <p:spPr>
              <a:xfrm>
                <a:off x="2789" y="1162"/>
                <a:ext cx="2676" cy="1848"/>
              </a:xfrm>
              <a:prstGeom prst="rect">
                <a:avLst/>
              </a:prstGeom>
              <a:solidFill>
                <a:srgbClr val="CCFFFF"/>
              </a:solidFill>
              <a:ln w="9525">
                <a:noFill/>
              </a:ln>
            </p:spPr>
          </p:pic>
          <p:sp>
            <p:nvSpPr>
              <p:cNvPr id="33799" name="Rectangle 7"/>
              <p:cNvSpPr/>
              <p:nvPr/>
            </p:nvSpPr>
            <p:spPr>
              <a:xfrm>
                <a:off x="2789" y="2976"/>
                <a:ext cx="2676" cy="250"/>
              </a:xfrm>
              <a:prstGeom prst="rect">
                <a:avLst/>
              </a:prstGeom>
              <a:solidFill>
                <a:srgbClr val="CC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   切削力分解</a:t>
                </a:r>
                <a:endParaRPr lang="zh-CN" altLang="en-US" sz="2000" b="1" dirty="0">
                  <a:solidFill>
                    <a:srgbClr val="000000"/>
                  </a:solidFill>
                  <a:latin typeface="楷体_GB2312"/>
                  <a:ea typeface="楷体_GB2312"/>
                </a:endParaRPr>
              </a:p>
            </p:txBody>
          </p:sp>
        </p:grpSp>
        <p:sp>
          <p:nvSpPr>
            <p:cNvPr id="33800" name="Rectangle 8"/>
            <p:cNvSpPr/>
            <p:nvPr/>
          </p:nvSpPr>
          <p:spPr>
            <a:xfrm>
              <a:off x="2789" y="1162"/>
              <a:ext cx="2676" cy="2041"/>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3"/>
          <p:cNvSpPr>
            <a:spLocks noGrp="1"/>
          </p:cNvSpPr>
          <p:nvPr>
            <p:ph idx="1"/>
          </p:nvPr>
        </p:nvSpPr>
        <p:spPr>
          <a:xfrm>
            <a:off x="34925" y="1266825"/>
            <a:ext cx="9083675" cy="5257800"/>
          </a:xfrm>
          <a:ln/>
        </p:spPr>
        <p:txBody>
          <a:bodyPr vert="horz" wrap="square" lIns="91440" tIns="45720" rIns="91440" bIns="45720" anchor="t" anchorCtr="0"/>
          <a:p>
            <a:pPr eaLnBrk="1" hangingPunct="1"/>
            <a:r>
              <a:rPr lang="zh-CN" altLang="en-US" sz="2400" b="1" dirty="0">
                <a:solidFill>
                  <a:srgbClr val="00CC00"/>
                </a:solidFill>
                <a:latin typeface="楷体_GB2312"/>
                <a:ea typeface="楷体_GB2312"/>
              </a:rPr>
              <a:t>切削用量</a:t>
            </a:r>
            <a:r>
              <a:rPr lang="zh-CN" altLang="en-US" sz="2400" b="1" dirty="0">
                <a:latin typeface="楷体_GB2312"/>
                <a:ea typeface="楷体_GB2312"/>
              </a:rPr>
              <a:t> </a:t>
            </a:r>
            <a:r>
              <a:rPr lang="zh-CN" altLang="en-US" sz="2400" b="1" dirty="0">
                <a:solidFill>
                  <a:srgbClr val="000000"/>
                </a:solidFill>
                <a:latin typeface="楷体_GB2312"/>
                <a:ea typeface="楷体_GB2312"/>
              </a:rPr>
              <a:t>用来衡量切削运动量的大小。一般包括</a:t>
            </a:r>
            <a:r>
              <a:rPr lang="zh-CN" altLang="en-US" sz="2400" b="1" dirty="0">
                <a:solidFill>
                  <a:srgbClr val="CC3300"/>
                </a:solidFill>
                <a:latin typeface="楷体_GB2312"/>
                <a:ea typeface="楷体_GB2312"/>
              </a:rPr>
              <a:t>切削速度、进给量和背吃刀量</a:t>
            </a:r>
            <a:r>
              <a:rPr lang="zh-CN" altLang="en-US" sz="2400" b="1" dirty="0">
                <a:solidFill>
                  <a:srgbClr val="000000"/>
                </a:solidFill>
                <a:latin typeface="楷体_GB2312"/>
                <a:ea typeface="楷体_GB2312"/>
              </a:rPr>
              <a:t>三要素。</a:t>
            </a:r>
            <a:endParaRPr lang="zh-CN" altLang="en-US" sz="2400" b="1" dirty="0">
              <a:solidFill>
                <a:srgbClr val="000000"/>
              </a:solidFill>
              <a:latin typeface="楷体_GB2312"/>
              <a:ea typeface="楷体_GB2312"/>
            </a:endParaRPr>
          </a:p>
          <a:p>
            <a:pPr lvl="1" eaLnBrk="1" hangingPunct="1"/>
            <a:r>
              <a:rPr lang="zh-CN" altLang="en-US" sz="2400" b="1" dirty="0">
                <a:solidFill>
                  <a:srgbClr val="FF3300"/>
                </a:solidFill>
                <a:latin typeface="楷体_GB2312"/>
                <a:ea typeface="楷体_GB2312"/>
              </a:rPr>
              <a:t>切削速度</a:t>
            </a:r>
            <a:r>
              <a:rPr lang="en-US" altLang="zh-CN" b="1" i="1" dirty="0">
                <a:solidFill>
                  <a:srgbClr val="FF0000"/>
                </a:solidFill>
                <a:latin typeface="楷体_GB2312"/>
                <a:ea typeface="楷体_GB2312"/>
              </a:rPr>
              <a:t>v</a:t>
            </a:r>
            <a:r>
              <a:rPr lang="en-US" altLang="zh-CN" b="1" i="1" baseline="-25000" dirty="0">
                <a:solidFill>
                  <a:srgbClr val="FF0000"/>
                </a:solidFill>
                <a:latin typeface="楷体_GB2312"/>
                <a:ea typeface="楷体_GB2312"/>
              </a:rPr>
              <a:t>c</a:t>
            </a:r>
            <a:r>
              <a:rPr lang="zh-CN" altLang="en-US" b="1" dirty="0">
                <a:latin typeface="楷体_GB2312"/>
                <a:ea typeface="楷体_GB2312"/>
              </a:rPr>
              <a:t>：</a:t>
            </a:r>
            <a:r>
              <a:rPr lang="zh-CN" altLang="en-US" sz="2400" b="1" dirty="0">
                <a:solidFill>
                  <a:srgbClr val="000000"/>
                </a:solidFill>
                <a:latin typeface="楷体_GB2312"/>
                <a:ea typeface="楷体_GB2312"/>
              </a:rPr>
              <a:t>在切削加工时，切削刃上选定点相对于工件的主运动的瞬时速度。</a:t>
            </a:r>
            <a:endParaRPr lang="zh-CN" altLang="en-US" sz="2400" b="1" dirty="0">
              <a:solidFill>
                <a:srgbClr val="000000"/>
              </a:solidFill>
              <a:latin typeface="楷体_GB2312"/>
              <a:ea typeface="楷体_GB2312"/>
            </a:endParaRPr>
          </a:p>
          <a:p>
            <a:pPr lvl="2" eaLnBrk="1" hangingPunct="1"/>
            <a:r>
              <a:rPr lang="zh-CN" altLang="en-US" b="1" dirty="0">
                <a:solidFill>
                  <a:srgbClr val="3333FF"/>
                </a:solidFill>
                <a:latin typeface="楷体_GB2312"/>
                <a:ea typeface="楷体_GB2312"/>
              </a:rPr>
              <a:t>当主运动为旋转运动时，</a:t>
            </a:r>
            <a:endParaRPr lang="zh-CN" altLang="en-US" b="1" dirty="0">
              <a:solidFill>
                <a:srgbClr val="3333FF"/>
              </a:solidFill>
              <a:latin typeface="楷体_GB2312"/>
              <a:ea typeface="楷体_GB2312"/>
            </a:endParaRPr>
          </a:p>
          <a:p>
            <a:pPr lvl="2" eaLnBrk="1" hangingPunct="1"/>
            <a:endParaRPr lang="zh-CN" altLang="en-US" b="1" dirty="0">
              <a:latin typeface="楷体_GB2312"/>
              <a:ea typeface="楷体_GB2312"/>
            </a:endParaRPr>
          </a:p>
          <a:p>
            <a:pPr lvl="2" eaLnBrk="1" hangingPunct="1"/>
            <a:r>
              <a:rPr lang="zh-CN" altLang="en-US" b="1" dirty="0">
                <a:solidFill>
                  <a:srgbClr val="3333FF"/>
                </a:solidFill>
                <a:latin typeface="楷体_GB2312"/>
                <a:ea typeface="楷体_GB2312"/>
              </a:rPr>
              <a:t>当主运动为直线运动时，</a:t>
            </a:r>
            <a:endParaRPr lang="zh-CN" altLang="en-US" b="1" dirty="0">
              <a:solidFill>
                <a:srgbClr val="3333FF"/>
              </a:solidFill>
              <a:latin typeface="楷体_GB2312"/>
              <a:ea typeface="楷体_GB2312"/>
            </a:endParaRPr>
          </a:p>
          <a:p>
            <a:pPr lvl="2" eaLnBrk="1" hangingPunct="1"/>
            <a:endParaRPr lang="zh-CN" altLang="en-US" b="1" dirty="0">
              <a:solidFill>
                <a:srgbClr val="000000"/>
              </a:solidFill>
              <a:latin typeface="楷体_GB2312"/>
              <a:ea typeface="楷体_GB2312"/>
            </a:endParaRPr>
          </a:p>
          <a:p>
            <a:pPr lvl="2" eaLnBrk="1" hangingPunct="1">
              <a:buNone/>
            </a:pPr>
            <a:r>
              <a:rPr lang="zh-CN" altLang="en-US" b="1" dirty="0">
                <a:solidFill>
                  <a:srgbClr val="000000"/>
                </a:solidFill>
                <a:latin typeface="楷体_GB2312"/>
                <a:ea typeface="楷体_GB2312"/>
              </a:rPr>
              <a:t>式中，</a:t>
            </a:r>
            <a:r>
              <a:rPr lang="en-US" altLang="zh-CN" b="1" i="1" dirty="0">
                <a:solidFill>
                  <a:srgbClr val="000000"/>
                </a:solidFill>
                <a:latin typeface="楷体_GB2312"/>
                <a:ea typeface="楷体_GB2312"/>
              </a:rPr>
              <a:t>n</a:t>
            </a:r>
            <a:r>
              <a:rPr lang="zh-CN" altLang="en-US" b="1" dirty="0">
                <a:solidFill>
                  <a:srgbClr val="000000"/>
                </a:solidFill>
                <a:latin typeface="楷体_GB2312"/>
                <a:ea typeface="楷体_GB2312"/>
              </a:rPr>
              <a:t>－工件或刀具的转速或往复次数（</a:t>
            </a:r>
            <a:r>
              <a:rPr lang="en-US" altLang="zh-CN" b="1" dirty="0">
                <a:solidFill>
                  <a:srgbClr val="000000"/>
                </a:solidFill>
                <a:latin typeface="楷体_GB2312"/>
                <a:ea typeface="楷体_GB2312"/>
              </a:rPr>
              <a:t>r/min</a:t>
            </a:r>
            <a:r>
              <a:rPr lang="zh-CN" altLang="en-US" b="1" dirty="0">
                <a:solidFill>
                  <a:srgbClr val="000000"/>
                </a:solidFill>
                <a:latin typeface="楷体_GB2312"/>
                <a:ea typeface="楷体_GB2312"/>
              </a:rPr>
              <a:t>）</a:t>
            </a:r>
            <a:endParaRPr lang="zh-CN" altLang="en-US" b="1" dirty="0">
              <a:solidFill>
                <a:srgbClr val="000000"/>
              </a:solidFill>
              <a:latin typeface="楷体_GB2312"/>
              <a:ea typeface="楷体_GB2312"/>
            </a:endParaRPr>
          </a:p>
          <a:p>
            <a:pPr lvl="2" eaLnBrk="1" hangingPunct="1">
              <a:buNone/>
            </a:pPr>
            <a:r>
              <a:rPr lang="zh-CN" altLang="en-US" b="1" dirty="0">
                <a:solidFill>
                  <a:srgbClr val="000000"/>
                </a:solidFill>
                <a:latin typeface="楷体_GB2312"/>
                <a:ea typeface="楷体_GB2312"/>
              </a:rPr>
              <a:t>      </a:t>
            </a:r>
            <a:r>
              <a:rPr lang="en-US" altLang="zh-CN" b="1" i="1" dirty="0">
                <a:solidFill>
                  <a:srgbClr val="000000"/>
                </a:solidFill>
                <a:latin typeface="楷体_GB2312"/>
                <a:ea typeface="楷体_GB2312"/>
              </a:rPr>
              <a:t>D</a:t>
            </a:r>
            <a:r>
              <a:rPr lang="zh-CN" altLang="en-US" b="1" dirty="0">
                <a:solidFill>
                  <a:srgbClr val="000000"/>
                </a:solidFill>
                <a:latin typeface="楷体_GB2312"/>
                <a:ea typeface="楷体_GB2312"/>
              </a:rPr>
              <a:t>－工件工件或刀具的最大直径（</a:t>
            </a:r>
            <a:r>
              <a:rPr lang="en-US" altLang="zh-CN" b="1" dirty="0">
                <a:solidFill>
                  <a:srgbClr val="000000"/>
                </a:solidFill>
                <a:latin typeface="楷体_GB2312"/>
                <a:ea typeface="楷体_GB2312"/>
              </a:rPr>
              <a:t>mm</a:t>
            </a:r>
            <a:r>
              <a:rPr lang="zh-CN" altLang="en-US" b="1" dirty="0">
                <a:solidFill>
                  <a:srgbClr val="000000"/>
                </a:solidFill>
                <a:latin typeface="楷体_GB2312"/>
                <a:ea typeface="楷体_GB2312"/>
              </a:rPr>
              <a:t>）</a:t>
            </a:r>
            <a:endParaRPr lang="zh-CN" altLang="en-US" b="1" dirty="0">
              <a:solidFill>
                <a:srgbClr val="000000"/>
              </a:solidFill>
              <a:latin typeface="楷体_GB2312"/>
              <a:ea typeface="楷体_GB2312"/>
            </a:endParaRPr>
          </a:p>
          <a:p>
            <a:pPr lvl="2" eaLnBrk="1" hangingPunct="1">
              <a:buNone/>
            </a:pPr>
            <a:r>
              <a:rPr lang="zh-CN" altLang="en-US" b="1" dirty="0">
                <a:solidFill>
                  <a:srgbClr val="000000"/>
                </a:solidFill>
                <a:latin typeface="楷体_GB2312"/>
                <a:ea typeface="楷体_GB2312"/>
              </a:rPr>
              <a:t>      </a:t>
            </a:r>
            <a:r>
              <a:rPr lang="en-US" altLang="zh-CN" b="1" i="1" dirty="0">
                <a:solidFill>
                  <a:srgbClr val="000000"/>
                </a:solidFill>
                <a:latin typeface="楷体_GB2312"/>
                <a:ea typeface="楷体_GB2312"/>
              </a:rPr>
              <a:t>L</a:t>
            </a:r>
            <a:r>
              <a:rPr lang="zh-CN" altLang="en-US" b="1" dirty="0">
                <a:solidFill>
                  <a:srgbClr val="000000"/>
                </a:solidFill>
                <a:latin typeface="楷体_GB2312"/>
                <a:ea typeface="楷体_GB2312"/>
              </a:rPr>
              <a:t>－工件或刀具作往复运动的行程长度（</a:t>
            </a:r>
            <a:r>
              <a:rPr lang="en-US" altLang="zh-CN" b="1" dirty="0">
                <a:solidFill>
                  <a:srgbClr val="000000"/>
                </a:solidFill>
                <a:latin typeface="楷体_GB2312"/>
                <a:ea typeface="楷体_GB2312"/>
              </a:rPr>
              <a:t>mm</a:t>
            </a:r>
            <a:r>
              <a:rPr lang="zh-CN" altLang="en-US" b="1" dirty="0">
                <a:solidFill>
                  <a:srgbClr val="000000"/>
                </a:solidFill>
                <a:latin typeface="楷体_GB2312"/>
                <a:ea typeface="楷体_GB2312"/>
              </a:rPr>
              <a:t>）</a:t>
            </a:r>
            <a:endParaRPr lang="zh-CN" altLang="en-US" b="1" i="1" dirty="0">
              <a:solidFill>
                <a:srgbClr val="000000"/>
              </a:solidFill>
              <a:latin typeface="楷体_GB2312"/>
              <a:ea typeface="楷体_GB2312"/>
            </a:endParaRPr>
          </a:p>
        </p:txBody>
      </p:sp>
      <p:grpSp>
        <p:nvGrpSpPr>
          <p:cNvPr id="34818" name="Group 4"/>
          <p:cNvGrpSpPr/>
          <p:nvPr/>
        </p:nvGrpSpPr>
        <p:grpSpPr>
          <a:xfrm>
            <a:off x="4648200" y="2781300"/>
            <a:ext cx="2655888" cy="1592263"/>
            <a:chOff x="3024" y="2064"/>
            <a:chExt cx="1673" cy="1003"/>
          </a:xfrm>
        </p:grpSpPr>
        <p:graphicFrame>
          <p:nvGraphicFramePr>
            <p:cNvPr id="34819" name="Object 5"/>
            <p:cNvGraphicFramePr>
              <a:graphicFrameLocks noChangeAspect="1"/>
            </p:cNvGraphicFramePr>
            <p:nvPr/>
          </p:nvGraphicFramePr>
          <p:xfrm>
            <a:off x="3024" y="2064"/>
            <a:ext cx="1673" cy="499"/>
          </p:xfrm>
          <a:graphic>
            <a:graphicData uri="http://schemas.openxmlformats.org/presentationml/2006/ole">
              <mc:AlternateContent xmlns:mc="http://schemas.openxmlformats.org/markup-compatibility/2006">
                <mc:Choice xmlns:v="urn:schemas-microsoft-com:vml" Requires="v">
                  <p:oleObj spid="_x0000_s3079" name="" r:id="rId1" imgW="1320165" imgH="393700" progId="Equation.3">
                    <p:embed/>
                  </p:oleObj>
                </mc:Choice>
                <mc:Fallback>
                  <p:oleObj name="" r:id="rId1" imgW="1320165" imgH="393700" progId="Equation.3">
                    <p:embed/>
                    <p:pic>
                      <p:nvPicPr>
                        <p:cNvPr id="0" name="图片 3078"/>
                        <p:cNvPicPr/>
                        <p:nvPr/>
                      </p:nvPicPr>
                      <p:blipFill>
                        <a:blip r:embed="rId2"/>
                        <a:stretch>
                          <a:fillRect/>
                        </a:stretch>
                      </p:blipFill>
                      <p:spPr>
                        <a:xfrm>
                          <a:off x="3024" y="2064"/>
                          <a:ext cx="1673" cy="499"/>
                        </a:xfrm>
                        <a:prstGeom prst="rect">
                          <a:avLst/>
                        </a:prstGeom>
                        <a:solidFill>
                          <a:srgbClr val="CCFFFF"/>
                        </a:solidFill>
                        <a:ln w="38100">
                          <a:noFill/>
                          <a:miter/>
                        </a:ln>
                      </p:spPr>
                    </p:pic>
                  </p:oleObj>
                </mc:Fallback>
              </mc:AlternateContent>
            </a:graphicData>
          </a:graphic>
        </p:graphicFrame>
        <p:graphicFrame>
          <p:nvGraphicFramePr>
            <p:cNvPr id="34820" name="Object 6"/>
            <p:cNvGraphicFramePr>
              <a:graphicFrameLocks noChangeAspect="1"/>
            </p:cNvGraphicFramePr>
            <p:nvPr/>
          </p:nvGraphicFramePr>
          <p:xfrm>
            <a:off x="3024" y="2568"/>
            <a:ext cx="1673" cy="499"/>
          </p:xfrm>
          <a:graphic>
            <a:graphicData uri="http://schemas.openxmlformats.org/presentationml/2006/ole">
              <mc:AlternateContent xmlns:mc="http://schemas.openxmlformats.org/markup-compatibility/2006">
                <mc:Choice xmlns:v="urn:schemas-microsoft-com:vml" Requires="v">
                  <p:oleObj spid="_x0000_s3080" name="" r:id="rId3" imgW="1320165" imgH="393700" progId="Equation.3">
                    <p:embed/>
                  </p:oleObj>
                </mc:Choice>
                <mc:Fallback>
                  <p:oleObj name="" r:id="rId3" imgW="1320165" imgH="393700" progId="Equation.3">
                    <p:embed/>
                    <p:pic>
                      <p:nvPicPr>
                        <p:cNvPr id="0" name="图片 3079"/>
                        <p:cNvPicPr/>
                        <p:nvPr/>
                      </p:nvPicPr>
                      <p:blipFill>
                        <a:blip r:embed="rId4"/>
                        <a:stretch>
                          <a:fillRect/>
                        </a:stretch>
                      </p:blipFill>
                      <p:spPr>
                        <a:xfrm>
                          <a:off x="3024" y="2568"/>
                          <a:ext cx="1673" cy="499"/>
                        </a:xfrm>
                        <a:prstGeom prst="rect">
                          <a:avLst/>
                        </a:prstGeom>
                        <a:solidFill>
                          <a:srgbClr val="CCFFFF"/>
                        </a:solidFill>
                        <a:ln w="38100">
                          <a:noFill/>
                          <a:miter/>
                        </a:ln>
                      </p:spPr>
                    </p:pic>
                  </p:oleObj>
                </mc:Fallback>
              </mc:AlternateContent>
            </a:graphicData>
          </a:graphic>
        </p:graphicFrame>
      </p:grpSp>
      <p:sp>
        <p:nvSpPr>
          <p:cNvPr id="34821"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3"/>
          <p:cNvSpPr>
            <a:spLocks noGrp="1"/>
          </p:cNvSpPr>
          <p:nvPr>
            <p:ph idx="1"/>
          </p:nvPr>
        </p:nvSpPr>
        <p:spPr>
          <a:xfrm>
            <a:off x="179388" y="1268413"/>
            <a:ext cx="8820150" cy="2016125"/>
          </a:xfrm>
          <a:ln/>
        </p:spPr>
        <p:txBody>
          <a:bodyPr vert="horz" wrap="square" lIns="91440" tIns="45720" rIns="91440" bIns="45720" anchor="t" anchorCtr="0"/>
          <a:p>
            <a:pPr eaLnBrk="1" hangingPunct="1">
              <a:lnSpc>
                <a:spcPct val="80000"/>
              </a:lnSpc>
            </a:pPr>
            <a:r>
              <a:rPr lang="zh-CN" altLang="en-US" sz="2400" b="1" dirty="0">
                <a:solidFill>
                  <a:srgbClr val="00CC00"/>
                </a:solidFill>
                <a:latin typeface="楷体_GB2312"/>
                <a:ea typeface="楷体_GB2312"/>
              </a:rPr>
              <a:t>切削用量</a:t>
            </a:r>
            <a:endParaRPr lang="zh-CN" altLang="en-US" sz="2400" b="1" dirty="0">
              <a:solidFill>
                <a:srgbClr val="00CC00"/>
              </a:solidFill>
              <a:latin typeface="楷体_GB2312"/>
              <a:ea typeface="楷体_GB2312"/>
            </a:endParaRPr>
          </a:p>
          <a:p>
            <a:pPr lvl="1" eaLnBrk="1" hangingPunct="1">
              <a:lnSpc>
                <a:spcPct val="80000"/>
              </a:lnSpc>
              <a:buClr>
                <a:srgbClr val="FF0000"/>
              </a:buClr>
            </a:pPr>
            <a:r>
              <a:rPr lang="zh-CN" altLang="en-US" sz="2400" b="1" dirty="0">
                <a:solidFill>
                  <a:srgbClr val="CC3300"/>
                </a:solidFill>
                <a:latin typeface="楷体_GB2312"/>
                <a:ea typeface="楷体_GB2312"/>
              </a:rPr>
              <a:t>进给量</a:t>
            </a:r>
            <a:r>
              <a:rPr lang="en-US" altLang="zh-CN" sz="2400" b="1" i="1" dirty="0">
                <a:solidFill>
                  <a:srgbClr val="CC3300"/>
                </a:solidFill>
                <a:latin typeface="Times New Roman" panose="02020603050405020304" pitchFamily="18" charset="0"/>
                <a:ea typeface="楷体_GB2312"/>
              </a:rPr>
              <a:t>f</a:t>
            </a:r>
            <a:r>
              <a:rPr lang="en-US" altLang="zh-CN" sz="2400" b="1" i="1" dirty="0">
                <a:solidFill>
                  <a:srgbClr val="CC3300"/>
                </a:solidFill>
                <a:latin typeface="楷体_GB2312"/>
                <a:ea typeface="楷体_GB2312"/>
              </a:rPr>
              <a:t>:</a:t>
            </a:r>
            <a:r>
              <a:rPr lang="zh-CN" altLang="en-US" sz="2400" b="1" dirty="0">
                <a:solidFill>
                  <a:srgbClr val="000000"/>
                </a:solidFill>
                <a:latin typeface="楷体_GB2312"/>
                <a:ea typeface="楷体_GB2312"/>
              </a:rPr>
              <a:t>刀具在进给运动方向上相对工件的位移量，用刀具或工件每转或每行程的位移量来表述和度量。</a:t>
            </a:r>
            <a:endParaRPr lang="zh-CN" altLang="en-US" sz="2400" b="1" dirty="0">
              <a:solidFill>
                <a:srgbClr val="000000"/>
              </a:solidFill>
              <a:latin typeface="楷体_GB2312"/>
              <a:ea typeface="楷体_GB2312"/>
            </a:endParaRPr>
          </a:p>
          <a:p>
            <a:pPr lvl="1" eaLnBrk="1" hangingPunct="1">
              <a:lnSpc>
                <a:spcPct val="80000"/>
              </a:lnSpc>
              <a:buClr>
                <a:srgbClr val="FF0000"/>
              </a:buClr>
            </a:pPr>
            <a:r>
              <a:rPr lang="zh-CN" altLang="en-US" sz="2400" b="1" dirty="0">
                <a:solidFill>
                  <a:srgbClr val="CC3300"/>
                </a:solidFill>
                <a:latin typeface="楷体_GB2312"/>
                <a:ea typeface="楷体_GB2312"/>
              </a:rPr>
              <a:t>车削时</a:t>
            </a:r>
            <a:r>
              <a:rPr lang="en-US" altLang="zh-CN" sz="2400" b="1" i="1" dirty="0">
                <a:solidFill>
                  <a:srgbClr val="CC3300"/>
                </a:solidFill>
                <a:latin typeface="楷体_GB2312"/>
                <a:ea typeface="楷体_GB2312"/>
              </a:rPr>
              <a:t>:</a:t>
            </a:r>
            <a:r>
              <a:rPr lang="zh-CN" altLang="en-US" sz="2400" b="1" dirty="0">
                <a:solidFill>
                  <a:srgbClr val="000000"/>
                </a:solidFill>
                <a:latin typeface="楷体_GB2312"/>
                <a:ea typeface="楷体_GB2312"/>
              </a:rPr>
              <a:t>工件旋转一周，刀具纵向移动的距离</a:t>
            </a:r>
            <a:r>
              <a:rPr lang="en-US" altLang="zh-CN" sz="2400" b="1" dirty="0">
                <a:solidFill>
                  <a:srgbClr val="000000"/>
                </a:solidFill>
                <a:latin typeface="楷体_GB2312"/>
                <a:ea typeface="楷体_GB2312"/>
              </a:rPr>
              <a:t>(mm/r)</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a:p>
            <a:pPr lvl="1" eaLnBrk="1" hangingPunct="1">
              <a:lnSpc>
                <a:spcPct val="80000"/>
              </a:lnSpc>
              <a:buClr>
                <a:srgbClr val="FF0000"/>
              </a:buClr>
            </a:pPr>
            <a:r>
              <a:rPr lang="zh-CN" altLang="en-US" sz="2400" b="1" dirty="0">
                <a:solidFill>
                  <a:srgbClr val="CC3300"/>
                </a:solidFill>
                <a:latin typeface="楷体_GB2312"/>
                <a:ea typeface="楷体_GB2312"/>
              </a:rPr>
              <a:t>刨削时</a:t>
            </a:r>
            <a:r>
              <a:rPr lang="en-US" altLang="zh-CN" sz="2400" b="1" dirty="0">
                <a:solidFill>
                  <a:srgbClr val="CC3300"/>
                </a:solidFill>
                <a:latin typeface="楷体_GB2312"/>
                <a:ea typeface="楷体_GB2312"/>
              </a:rPr>
              <a:t>:</a:t>
            </a:r>
            <a:r>
              <a:rPr lang="zh-CN" altLang="en-US" sz="2400" b="1" dirty="0">
                <a:solidFill>
                  <a:srgbClr val="000000"/>
                </a:solidFill>
                <a:latin typeface="楷体_GB2312"/>
                <a:ea typeface="楷体_GB2312"/>
              </a:rPr>
              <a:t>刀具往复一次，工件移动的距离</a:t>
            </a:r>
            <a:r>
              <a:rPr lang="en-US" altLang="zh-CN" sz="2400" b="1" dirty="0">
                <a:solidFill>
                  <a:srgbClr val="000000"/>
                </a:solidFill>
                <a:latin typeface="楷体_GB2312"/>
                <a:ea typeface="楷体_GB2312"/>
              </a:rPr>
              <a:t>(mm)</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p:txBody>
      </p:sp>
      <p:sp>
        <p:nvSpPr>
          <p:cNvPr id="36866"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pic>
        <p:nvPicPr>
          <p:cNvPr id="36867" name="Picture 2" descr="https://timgsa.baidu.com/timg?image&amp;quality=80&amp;size=b9999_10000&amp;sec=1607498056827&amp;di=036b1da0221b2a81ae5cae07763a5175&amp;imgtype=0&amp;src=http%3A%2F%2Fimg1.wanguan.com%2Fimg%2F001%2F1%2F1302%2F511f0735b32e5.jpg"/>
          <p:cNvPicPr>
            <a:picLocks noChangeAspect="1"/>
          </p:cNvPicPr>
          <p:nvPr/>
        </p:nvPicPr>
        <p:blipFill>
          <a:blip r:embed="rId1"/>
          <a:stretch>
            <a:fillRect/>
          </a:stretch>
        </p:blipFill>
        <p:spPr>
          <a:xfrm>
            <a:off x="2286000" y="3097213"/>
            <a:ext cx="4286250" cy="3760787"/>
          </a:xfrm>
          <a:prstGeom prst="rect">
            <a:avLst/>
          </a:prstGeom>
          <a:noFill/>
          <a:ln w="9525">
            <a:noFill/>
          </a:ln>
        </p:spPr>
      </p:pic>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3" name="Picture 11" descr="https://timgsa.baidu.com/timg?image&amp;quality=80&amp;size=b9999_10000&amp;sec=1608023173912&amp;di=f60025d96657826da59642c242c92a5e&amp;imgtype=0&amp;src=http%3A%2F%2F5b0988e595225.cdn.sohucs.com%2Fimages%2F20180610%2Fd12d281f43a04e509a33677d869bd4f0.jpeg"/>
          <p:cNvPicPr>
            <a:picLocks noChangeAspect="1"/>
          </p:cNvPicPr>
          <p:nvPr/>
        </p:nvPicPr>
        <p:blipFill>
          <a:blip r:embed="rId1"/>
          <a:stretch>
            <a:fillRect/>
          </a:stretch>
        </p:blipFill>
        <p:spPr>
          <a:xfrm>
            <a:off x="4048125" y="3673475"/>
            <a:ext cx="5095875" cy="3184525"/>
          </a:xfrm>
          <a:prstGeom prst="rect">
            <a:avLst/>
          </a:prstGeom>
          <a:noFill/>
          <a:ln w="9525">
            <a:noFill/>
          </a:ln>
        </p:spPr>
      </p:pic>
      <p:sp>
        <p:nvSpPr>
          <p:cNvPr id="38914" name="Rectangle 3"/>
          <p:cNvSpPr>
            <a:spLocks noGrp="1"/>
          </p:cNvSpPr>
          <p:nvPr>
            <p:ph idx="1"/>
          </p:nvPr>
        </p:nvSpPr>
        <p:spPr>
          <a:xfrm>
            <a:off x="395288" y="1125538"/>
            <a:ext cx="8077200" cy="4498975"/>
          </a:xfrm>
          <a:ln/>
        </p:spPr>
        <p:txBody>
          <a:bodyPr vert="horz" wrap="square" lIns="91440" tIns="45720" rIns="91440" bIns="45720" anchor="t" anchorCtr="0"/>
          <a:p>
            <a:pPr eaLnBrk="1" hangingPunct="1"/>
            <a:r>
              <a:rPr lang="zh-CN" altLang="en-US" sz="2400" b="1" dirty="0">
                <a:solidFill>
                  <a:srgbClr val="00CC00"/>
                </a:solidFill>
                <a:latin typeface="楷体_GB2312"/>
                <a:ea typeface="楷体_GB2312"/>
              </a:rPr>
              <a:t>切削用量</a:t>
            </a:r>
            <a:endParaRPr lang="zh-CN" altLang="en-US" sz="2400" b="1" dirty="0">
              <a:solidFill>
                <a:srgbClr val="00CC00"/>
              </a:solidFill>
              <a:latin typeface="楷体_GB2312"/>
              <a:ea typeface="楷体_GB2312"/>
            </a:endParaRPr>
          </a:p>
          <a:p>
            <a:pPr lvl="1" eaLnBrk="1" hangingPunct="1"/>
            <a:r>
              <a:rPr lang="zh-CN" altLang="en-US" sz="2400" b="1" dirty="0">
                <a:solidFill>
                  <a:srgbClr val="CC3300"/>
                </a:solidFill>
                <a:latin typeface="楷体_GB2312"/>
                <a:ea typeface="楷体_GB2312"/>
              </a:rPr>
              <a:t>背吃刀量</a:t>
            </a:r>
            <a:r>
              <a:rPr lang="en-US" altLang="zh-CN" sz="2400" b="1" i="1" dirty="0">
                <a:solidFill>
                  <a:srgbClr val="CC3300"/>
                </a:solidFill>
                <a:latin typeface="楷体_GB2312"/>
                <a:ea typeface="楷体_GB2312"/>
              </a:rPr>
              <a:t>a</a:t>
            </a:r>
            <a:r>
              <a:rPr lang="en-US" altLang="zh-CN" sz="2400" b="1" baseline="-25000" dirty="0">
                <a:solidFill>
                  <a:srgbClr val="CC3300"/>
                </a:solidFill>
                <a:latin typeface="楷体_GB2312"/>
                <a:ea typeface="楷体_GB2312"/>
              </a:rPr>
              <a:t>p</a:t>
            </a:r>
            <a:r>
              <a:rPr lang="en-US" altLang="zh-CN" sz="2400" b="1" baseline="-25000" dirty="0">
                <a:solidFill>
                  <a:srgbClr val="000000"/>
                </a:solidFill>
                <a:latin typeface="楷体_GB2312"/>
                <a:ea typeface="楷体_GB2312"/>
              </a:rPr>
              <a:t>   </a:t>
            </a:r>
            <a:r>
              <a:rPr lang="zh-CN" altLang="en-US" sz="2400" b="1" dirty="0">
                <a:solidFill>
                  <a:srgbClr val="000000"/>
                </a:solidFill>
                <a:latin typeface="楷体_GB2312"/>
                <a:ea typeface="楷体_GB2312"/>
              </a:rPr>
              <a:t>在通过切削刃上选定点并垂直于该点主运动方向的切削层尺寸平面中，垂直于进给运动方向测量的切削层尺寸，称为背吃刀量。车外圆时，</a:t>
            </a:r>
            <a:endParaRPr lang="zh-CN" altLang="en-US" sz="2400" b="1" dirty="0">
              <a:solidFill>
                <a:srgbClr val="000000"/>
              </a:solidFill>
              <a:latin typeface="楷体_GB2312"/>
              <a:ea typeface="楷体_GB2312"/>
            </a:endParaRPr>
          </a:p>
          <a:p>
            <a:pPr lvl="1" eaLnBrk="1" hangingPunct="1"/>
            <a:endParaRPr lang="zh-CN" altLang="en-US" sz="2400" b="1" dirty="0">
              <a:solidFill>
                <a:srgbClr val="000000"/>
              </a:solidFill>
              <a:latin typeface="楷体_GB2312"/>
              <a:ea typeface="楷体_GB2312"/>
            </a:endParaRPr>
          </a:p>
          <a:p>
            <a:pPr lvl="1" eaLnBrk="1" hangingPunct="1">
              <a:buNone/>
            </a:pPr>
            <a:endParaRPr lang="zh-CN" altLang="en-US" sz="2400" b="1" dirty="0">
              <a:solidFill>
                <a:srgbClr val="000000"/>
              </a:solidFill>
              <a:latin typeface="楷体_GB2312"/>
              <a:ea typeface="楷体_GB2312"/>
            </a:endParaRPr>
          </a:p>
          <a:p>
            <a:pPr lvl="1" eaLnBrk="1" hangingPunct="1">
              <a:buNone/>
            </a:pPr>
            <a:r>
              <a:rPr lang="zh-CN" altLang="en-US" sz="2400" b="1" dirty="0">
                <a:solidFill>
                  <a:srgbClr val="000000"/>
                </a:solidFill>
                <a:latin typeface="楷体_GB2312"/>
                <a:ea typeface="楷体_GB2312"/>
              </a:rPr>
              <a:t>式中：</a:t>
            </a:r>
            <a:r>
              <a:rPr lang="en-US" altLang="zh-CN" sz="2400" b="1" i="1" dirty="0">
                <a:solidFill>
                  <a:srgbClr val="000000"/>
                </a:solidFill>
                <a:latin typeface="楷体_GB2312"/>
                <a:ea typeface="楷体_GB2312"/>
              </a:rPr>
              <a:t>d</a:t>
            </a:r>
            <a:r>
              <a:rPr lang="en-US" altLang="zh-CN" sz="2400" b="1" baseline="-25000" dirty="0">
                <a:solidFill>
                  <a:srgbClr val="000000"/>
                </a:solidFill>
                <a:latin typeface="楷体_GB2312"/>
                <a:ea typeface="楷体_GB2312"/>
              </a:rPr>
              <a:t>w</a:t>
            </a:r>
            <a:r>
              <a:rPr lang="en-US" altLang="zh-CN" sz="2400" b="1" dirty="0">
                <a:solidFill>
                  <a:srgbClr val="000000"/>
                </a:solidFill>
                <a:latin typeface="楷体_GB2312"/>
                <a:ea typeface="楷体_GB2312"/>
              </a:rPr>
              <a:t> </a:t>
            </a:r>
            <a:r>
              <a:rPr lang="zh-CN" altLang="en-US" sz="2400" b="1" dirty="0">
                <a:solidFill>
                  <a:srgbClr val="000000"/>
                </a:solidFill>
                <a:latin typeface="楷体_GB2312"/>
                <a:ea typeface="楷体_GB2312"/>
              </a:rPr>
              <a:t>－工件待加工</a:t>
            </a:r>
            <a:endParaRPr lang="en-US" altLang="zh-CN" sz="2400" b="1" dirty="0">
              <a:solidFill>
                <a:srgbClr val="000000"/>
              </a:solidFill>
              <a:latin typeface="楷体_GB2312"/>
              <a:ea typeface="楷体_GB2312"/>
            </a:endParaRPr>
          </a:p>
          <a:p>
            <a:pPr lvl="1" eaLnBrk="1" hangingPunct="1">
              <a:buNone/>
            </a:pPr>
            <a:r>
              <a:rPr lang="zh-CN" altLang="en-US" sz="2400" b="1" dirty="0">
                <a:solidFill>
                  <a:srgbClr val="000000"/>
                </a:solidFill>
                <a:latin typeface="楷体_GB2312"/>
                <a:ea typeface="楷体_GB2312"/>
              </a:rPr>
              <a:t>表面直径（</a:t>
            </a:r>
            <a:r>
              <a:rPr lang="en-US" altLang="zh-CN" sz="2400" b="1" dirty="0">
                <a:solidFill>
                  <a:srgbClr val="000000"/>
                </a:solidFill>
                <a:latin typeface="楷体_GB2312"/>
                <a:ea typeface="楷体_GB2312"/>
              </a:rPr>
              <a:t>mm</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a:p>
            <a:pPr lvl="1" eaLnBrk="1" hangingPunct="1">
              <a:buNone/>
            </a:pPr>
            <a:r>
              <a:rPr lang="zh-CN" altLang="en-US" sz="2400" b="1" dirty="0">
                <a:solidFill>
                  <a:srgbClr val="000000"/>
                </a:solidFill>
                <a:latin typeface="楷体_GB2312"/>
                <a:ea typeface="楷体_GB2312"/>
              </a:rPr>
              <a:t>      </a:t>
            </a:r>
            <a:r>
              <a:rPr lang="en-US" altLang="zh-CN" sz="2400" b="1" i="1" dirty="0">
                <a:solidFill>
                  <a:srgbClr val="000000"/>
                </a:solidFill>
                <a:latin typeface="楷体_GB2312"/>
                <a:ea typeface="楷体_GB2312"/>
              </a:rPr>
              <a:t>d</a:t>
            </a:r>
            <a:r>
              <a:rPr lang="en-US" altLang="zh-CN" sz="2400" b="1" baseline="-25000" dirty="0">
                <a:solidFill>
                  <a:srgbClr val="000000"/>
                </a:solidFill>
                <a:latin typeface="楷体_GB2312"/>
                <a:ea typeface="楷体_GB2312"/>
              </a:rPr>
              <a:t>m</a:t>
            </a:r>
            <a:r>
              <a:rPr lang="en-US" altLang="zh-CN" sz="2400" b="1" dirty="0">
                <a:solidFill>
                  <a:srgbClr val="000000"/>
                </a:solidFill>
                <a:latin typeface="楷体_GB2312"/>
                <a:ea typeface="楷体_GB2312"/>
              </a:rPr>
              <a:t> </a:t>
            </a:r>
            <a:r>
              <a:rPr lang="zh-CN" altLang="en-US" sz="2400" b="1" dirty="0">
                <a:solidFill>
                  <a:srgbClr val="000000"/>
                </a:solidFill>
                <a:latin typeface="楷体_GB2312"/>
                <a:ea typeface="楷体_GB2312"/>
              </a:rPr>
              <a:t>－工件已加工表</a:t>
            </a:r>
            <a:endParaRPr lang="en-US" altLang="zh-CN" sz="2400" b="1" dirty="0">
              <a:solidFill>
                <a:srgbClr val="000000"/>
              </a:solidFill>
              <a:latin typeface="楷体_GB2312"/>
              <a:ea typeface="楷体_GB2312"/>
            </a:endParaRPr>
          </a:p>
          <a:p>
            <a:pPr lvl="1" eaLnBrk="1" hangingPunct="1">
              <a:buNone/>
            </a:pPr>
            <a:r>
              <a:rPr lang="zh-CN" altLang="en-US" sz="2400" b="1" dirty="0">
                <a:solidFill>
                  <a:srgbClr val="000000"/>
                </a:solidFill>
                <a:latin typeface="楷体_GB2312"/>
                <a:ea typeface="楷体_GB2312"/>
              </a:rPr>
              <a:t>面直径（</a:t>
            </a:r>
            <a:r>
              <a:rPr lang="en-US" altLang="zh-CN" sz="2400" b="1" dirty="0">
                <a:solidFill>
                  <a:srgbClr val="000000"/>
                </a:solidFill>
                <a:latin typeface="楷体_GB2312"/>
                <a:ea typeface="楷体_GB2312"/>
              </a:rPr>
              <a:t>mm</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p:txBody>
      </p:sp>
      <p:graphicFrame>
        <p:nvGraphicFramePr>
          <p:cNvPr id="38915" name="Object 4"/>
          <p:cNvGraphicFramePr>
            <a:graphicFrameLocks noChangeAspect="1"/>
          </p:cNvGraphicFramePr>
          <p:nvPr/>
        </p:nvGraphicFramePr>
        <p:xfrm>
          <a:off x="2916238" y="2708275"/>
          <a:ext cx="2951162" cy="942975"/>
        </p:xfrm>
        <a:graphic>
          <a:graphicData uri="http://schemas.openxmlformats.org/presentationml/2006/ole">
            <mc:AlternateContent xmlns:mc="http://schemas.openxmlformats.org/markup-compatibility/2006">
              <mc:Choice xmlns:v="urn:schemas-microsoft-com:vml" Requires="v">
                <p:oleObj spid="_x0000_s3085" name="" r:id="rId2" imgW="1231265" imgH="393700" progId="Equation.3">
                  <p:embed/>
                </p:oleObj>
              </mc:Choice>
              <mc:Fallback>
                <p:oleObj name="" r:id="rId2" imgW="1231265" imgH="393700" progId="Equation.3">
                  <p:embed/>
                  <p:pic>
                    <p:nvPicPr>
                      <p:cNvPr id="0" name="图片 3084"/>
                      <p:cNvPicPr/>
                      <p:nvPr/>
                    </p:nvPicPr>
                    <p:blipFill>
                      <a:blip r:embed="rId3"/>
                      <a:stretch>
                        <a:fillRect/>
                      </a:stretch>
                    </p:blipFill>
                    <p:spPr>
                      <a:xfrm>
                        <a:off x="2916238" y="2708275"/>
                        <a:ext cx="2951162" cy="942975"/>
                      </a:xfrm>
                      <a:prstGeom prst="rect">
                        <a:avLst/>
                      </a:prstGeom>
                      <a:solidFill>
                        <a:srgbClr val="CCFFFF"/>
                      </a:solidFill>
                      <a:ln w="38100">
                        <a:noFill/>
                        <a:miter/>
                      </a:ln>
                    </p:spPr>
                  </p:pic>
                </p:oleObj>
              </mc:Fallback>
            </mc:AlternateContent>
          </a:graphicData>
        </a:graphic>
      </p:graphicFrame>
      <p:sp>
        <p:nvSpPr>
          <p:cNvPr id="38916"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1" name="Group 3"/>
          <p:cNvGrpSpPr/>
          <p:nvPr/>
        </p:nvGrpSpPr>
        <p:grpSpPr>
          <a:xfrm>
            <a:off x="857250" y="1708150"/>
            <a:ext cx="7239000" cy="5149850"/>
            <a:chOff x="40" y="959"/>
            <a:chExt cx="3711" cy="2751"/>
          </a:xfrm>
        </p:grpSpPr>
        <p:graphicFrame>
          <p:nvGraphicFramePr>
            <p:cNvPr id="40962" name="Object 4"/>
            <p:cNvGraphicFramePr>
              <a:graphicFrameLocks noChangeAspect="1"/>
            </p:cNvGraphicFramePr>
            <p:nvPr/>
          </p:nvGraphicFramePr>
          <p:xfrm>
            <a:off x="40" y="959"/>
            <a:ext cx="3674" cy="1722"/>
          </p:xfrm>
          <a:graphic>
            <a:graphicData uri="http://schemas.openxmlformats.org/presentationml/2006/ole">
              <mc:AlternateContent xmlns:mc="http://schemas.openxmlformats.org/markup-compatibility/2006">
                <mc:Choice xmlns:v="urn:schemas-microsoft-com:vml" Requires="v">
                  <p:oleObj spid="_x0000_s3084" name="" r:id="rId1" imgW="18945225" imgH="11229975" progId="Paint.Picture">
                    <p:embed/>
                  </p:oleObj>
                </mc:Choice>
                <mc:Fallback>
                  <p:oleObj name="" r:id="rId1" imgW="18945225" imgH="11229975" progId="Paint.Picture">
                    <p:embed/>
                    <p:pic>
                      <p:nvPicPr>
                        <p:cNvPr id="0" name="图片 3083"/>
                        <p:cNvPicPr/>
                        <p:nvPr/>
                      </p:nvPicPr>
                      <p:blipFill>
                        <a:blip r:embed="rId2"/>
                        <a:stretch>
                          <a:fillRect/>
                        </a:stretch>
                      </p:blipFill>
                      <p:spPr>
                        <a:xfrm>
                          <a:off x="40" y="959"/>
                          <a:ext cx="3674" cy="1722"/>
                        </a:xfrm>
                        <a:prstGeom prst="rect">
                          <a:avLst/>
                        </a:prstGeom>
                        <a:noFill/>
                        <a:ln w="9525" cap="flat" cmpd="sng">
                          <a:solidFill>
                            <a:srgbClr val="FF6600"/>
                          </a:solidFill>
                          <a:prstDash val="solid"/>
                          <a:miter/>
                          <a:headEnd type="none" w="med" len="med"/>
                          <a:tailEnd type="none" w="med" len="med"/>
                        </a:ln>
                      </p:spPr>
                    </p:pic>
                  </p:oleObj>
                </mc:Fallback>
              </mc:AlternateContent>
            </a:graphicData>
          </a:graphic>
        </p:graphicFrame>
        <p:pic>
          <p:nvPicPr>
            <p:cNvPr id="40963" name="Picture 5" descr="Image004"/>
            <p:cNvPicPr>
              <a:picLocks noChangeAspect="1"/>
            </p:cNvPicPr>
            <p:nvPr/>
          </p:nvPicPr>
          <p:blipFill>
            <a:blip r:embed="rId3"/>
            <a:stretch>
              <a:fillRect/>
            </a:stretch>
          </p:blipFill>
          <p:spPr>
            <a:xfrm>
              <a:off x="77" y="2681"/>
              <a:ext cx="3674" cy="1029"/>
            </a:xfrm>
            <a:prstGeom prst="rect">
              <a:avLst/>
            </a:prstGeom>
            <a:noFill/>
            <a:ln w="9525" cap="flat" cmpd="sng">
              <a:solidFill>
                <a:srgbClr val="FF6600"/>
              </a:solidFill>
              <a:prstDash val="solid"/>
              <a:miter/>
              <a:headEnd type="none" w="med" len="med"/>
              <a:tailEnd type="none" w="med" len="med"/>
            </a:ln>
          </p:spPr>
        </p:pic>
      </p:grpSp>
      <p:sp>
        <p:nvSpPr>
          <p:cNvPr id="40964" name="Rectangle 6"/>
          <p:cNvSpPr/>
          <p:nvPr/>
        </p:nvSpPr>
        <p:spPr>
          <a:xfrm>
            <a:off x="468313" y="1254125"/>
            <a:ext cx="5824537" cy="519113"/>
          </a:xfrm>
          <a:prstGeom prst="rect">
            <a:avLst/>
          </a:prstGeom>
          <a:noFill/>
          <a:ln w="9525">
            <a:noFill/>
          </a:ln>
        </p:spPr>
        <p:txBody>
          <a:bodyPr wrap="none" anchor="t" anchorCtr="0">
            <a:spAutoFit/>
          </a:bodyPr>
          <a:p>
            <a:pPr>
              <a:buClr>
                <a:srgbClr val="FF5050"/>
              </a:buClr>
              <a:buFont typeface="Wingdings" panose="05000000000000000000" pitchFamily="2" charset="2"/>
              <a:buChar char="Ø"/>
            </a:pPr>
            <a:r>
              <a:rPr lang="zh-CN" altLang="en-US" sz="2800" b="1" dirty="0">
                <a:latin typeface="Arial" panose="020B0604020202020204" pitchFamily="34" charset="0"/>
                <a:ea typeface="楷体_GB2312"/>
              </a:rPr>
              <a:t>不同切削工艺的进给量和背吃刀量</a:t>
            </a:r>
            <a:endParaRPr lang="zh-CN" altLang="en-US" sz="2800" b="1" dirty="0">
              <a:latin typeface="Arial" panose="020B0604020202020204" pitchFamily="34" charset="0"/>
              <a:ea typeface="楷体_GB2312"/>
            </a:endParaRPr>
          </a:p>
        </p:txBody>
      </p:sp>
      <p:sp>
        <p:nvSpPr>
          <p:cNvPr id="40965"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Rectangle 4"/>
          <p:cNvSpPr/>
          <p:nvPr/>
        </p:nvSpPr>
        <p:spPr>
          <a:xfrm>
            <a:off x="685800" y="1219200"/>
            <a:ext cx="8077200" cy="1000125"/>
          </a:xfrm>
          <a:prstGeom prst="rect">
            <a:avLst/>
          </a:prstGeom>
          <a:noFill/>
          <a:ln w="9525">
            <a:noFill/>
          </a:ln>
        </p:spPr>
        <p:txBody>
          <a:bodyPr anchor="ctr" anchorCtr="0">
            <a:spAutoFit/>
          </a:bodyPr>
          <a:p>
            <a:pPr eaLnBrk="0" hangingPunct="0">
              <a:lnSpc>
                <a:spcPct val="110000"/>
              </a:lnSpc>
            </a:pPr>
            <a:r>
              <a:rPr lang="zh-CN" altLang="zh-CN" sz="2000" dirty="0">
                <a:latin typeface="Arial" panose="020B0604020202020204" pitchFamily="34" charset="0"/>
                <a:ea typeface="宋体" panose="02010600030101010101" pitchFamily="2" charset="-122"/>
              </a:rPr>
              <a:t>         </a:t>
            </a:r>
            <a:r>
              <a:rPr lang="zh-CN" altLang="zh-CN" sz="2800" dirty="0">
                <a:solidFill>
                  <a:srgbClr val="333399"/>
                </a:solidFill>
                <a:latin typeface="Arial" panose="020B0604020202020204" pitchFamily="34" charset="0"/>
                <a:ea typeface="黑体" panose="02010609060101010101" pitchFamily="49" charset="-122"/>
              </a:rPr>
              <a:t>切削过程中，刀具的切削刃在一次进给中从工件待加工表面上切除的金属层</a:t>
            </a:r>
            <a:r>
              <a:rPr lang="en-US" altLang="zh-CN" sz="2800" dirty="0">
                <a:solidFill>
                  <a:srgbClr val="333399"/>
                </a:solidFill>
                <a:latin typeface="Arial" panose="020B0604020202020204" pitchFamily="34" charset="0"/>
                <a:ea typeface="黑体" panose="02010609060101010101" pitchFamily="49" charset="-122"/>
              </a:rPr>
              <a:t>——</a:t>
            </a:r>
            <a:r>
              <a:rPr lang="zh-CN" altLang="en-US" sz="2800" dirty="0">
                <a:solidFill>
                  <a:srgbClr val="AF3773"/>
                </a:solidFill>
                <a:latin typeface="Arial" panose="020B0604020202020204" pitchFamily="34" charset="0"/>
                <a:ea typeface="黑体" panose="02010609060101010101" pitchFamily="49" charset="-122"/>
              </a:rPr>
              <a:t>切削层</a:t>
            </a:r>
            <a:r>
              <a:rPr lang="zh-CN" altLang="en-US" sz="2800" dirty="0">
                <a:solidFill>
                  <a:srgbClr val="333399"/>
                </a:solidFill>
                <a:latin typeface="Arial" panose="020B0604020202020204" pitchFamily="34" charset="0"/>
                <a:ea typeface="黑体" panose="02010609060101010101" pitchFamily="49" charset="-122"/>
              </a:rPr>
              <a:t>。</a:t>
            </a:r>
            <a:endParaRPr lang="zh-CN" altLang="zh-CN" sz="2800" dirty="0">
              <a:solidFill>
                <a:srgbClr val="333399"/>
              </a:solidFill>
              <a:latin typeface="Arial" panose="020B0604020202020204" pitchFamily="34" charset="0"/>
              <a:ea typeface="黑体" panose="02010609060101010101" pitchFamily="49" charset="-122"/>
            </a:endParaRPr>
          </a:p>
        </p:txBody>
      </p:sp>
      <p:pic>
        <p:nvPicPr>
          <p:cNvPr id="9223" name="Picture 7"/>
          <p:cNvPicPr>
            <a:picLocks noChangeAspect="1"/>
          </p:cNvPicPr>
          <p:nvPr/>
        </p:nvPicPr>
        <p:blipFill>
          <a:blip r:embed="rId1"/>
          <a:stretch>
            <a:fillRect/>
          </a:stretch>
        </p:blipFill>
        <p:spPr>
          <a:xfrm>
            <a:off x="428625" y="2428875"/>
            <a:ext cx="8334375" cy="4278313"/>
          </a:xfrm>
          <a:prstGeom prst="rect">
            <a:avLst/>
          </a:prstGeom>
          <a:noFill/>
          <a:ln w="9525">
            <a:noFill/>
          </a:ln>
        </p:spPr>
      </p:pic>
      <p:sp>
        <p:nvSpPr>
          <p:cNvPr id="9224" name="Rectangle 8"/>
          <p:cNvSpPr/>
          <p:nvPr/>
        </p:nvSpPr>
        <p:spPr>
          <a:xfrm>
            <a:off x="3048000" y="228600"/>
            <a:ext cx="3200400" cy="708025"/>
          </a:xfrm>
          <a:prstGeom prst="rect">
            <a:avLst/>
          </a:prstGeom>
          <a:noFill/>
          <a:ln w="9525">
            <a:noFill/>
          </a:ln>
        </p:spPr>
        <p:txBody>
          <a:bodyPr anchor="t" anchorCtr="0">
            <a:spAutoFit/>
          </a:bodyPr>
          <a:p>
            <a:pPr eaLnBrk="0" hangingPunct="0"/>
            <a:r>
              <a:rPr lang="zh-CN" altLang="zh-CN" sz="4000" dirty="0">
                <a:solidFill>
                  <a:srgbClr val="CC0066"/>
                </a:solidFill>
                <a:latin typeface="Arial" panose="020B0604020202020204" pitchFamily="34" charset="0"/>
                <a:ea typeface="黑体" panose="02010609060101010101" pitchFamily="49" charset="-122"/>
              </a:rPr>
              <a:t>切削层参数</a:t>
            </a:r>
            <a:endParaRPr lang="zh-CN" altLang="zh-CN" sz="4000" dirty="0">
              <a:solidFill>
                <a:srgbClr val="CC0066"/>
              </a:solidFill>
              <a:latin typeface="Arial" panose="020B0604020202020204" pitchFamily="34" charset="0"/>
              <a:ea typeface="黑体" panose="02010609060101010101" pitchFamily="49" charset="-122"/>
            </a:endParaRPr>
          </a:p>
        </p:txBody>
      </p:sp>
      <p:sp>
        <p:nvSpPr>
          <p:cNvPr id="6" name="五角星 5"/>
          <p:cNvSpPr/>
          <p:nvPr/>
        </p:nvSpPr>
        <p:spPr>
          <a:xfrm>
            <a:off x="142875" y="1285875"/>
            <a:ext cx="571500" cy="500063"/>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4"/>
                                        </p:tgtEl>
                                        <p:attrNameLst>
                                          <p:attrName>style.visibility</p:attrName>
                                        </p:attrNameLst>
                                      </p:cBhvr>
                                      <p:to>
                                        <p:strVal val="visible"/>
                                      </p:to>
                                    </p:set>
                                    <p:anim calcmode="lin" valueType="num">
                                      <p:cBhvr additive="base">
                                        <p:cTn id="7" dur="500" fill="hold"/>
                                        <p:tgtEl>
                                          <p:spTgt spid="9224"/>
                                        </p:tgtEl>
                                        <p:attrNameLst>
                                          <p:attrName>ppt_x</p:attrName>
                                        </p:attrNameLst>
                                      </p:cBhvr>
                                      <p:tavLst>
                                        <p:tav tm="0">
                                          <p:val>
                                            <p:strVal val="#ppt_x"/>
                                          </p:val>
                                        </p:tav>
                                        <p:tav tm="100000">
                                          <p:val>
                                            <p:strVal val="#ppt_x"/>
                                          </p:val>
                                        </p:tav>
                                      </p:tavLst>
                                    </p:anim>
                                    <p:anim calcmode="lin" valueType="num">
                                      <p:cBhvr additive="base">
                                        <p:cTn id="8"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0">
                                            <p:txEl>
                                              <p:charRg st="0" end="49"/>
                                            </p:txEl>
                                          </p:spTgt>
                                        </p:tgtEl>
                                        <p:attrNameLst>
                                          <p:attrName>style.visibility</p:attrName>
                                        </p:attrNameLst>
                                      </p:cBhvr>
                                      <p:to>
                                        <p:strVal val="visible"/>
                                      </p:to>
                                    </p:set>
                                    <p:anim calcmode="lin" valueType="num">
                                      <p:cBhvr additive="base">
                                        <p:cTn id="13" dur="500" fill="hold"/>
                                        <p:tgtEl>
                                          <p:spTgt spid="9220">
                                            <p:txEl>
                                              <p:charRg st="0" end="4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0">
                                            <p:txEl>
                                              <p:charRg st="0" end="4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3"/>
                                        </p:tgtEl>
                                        <p:attrNameLst>
                                          <p:attrName>style.visibility</p:attrName>
                                        </p:attrNameLst>
                                      </p:cBhvr>
                                      <p:to>
                                        <p:strVal val="visible"/>
                                      </p:to>
                                    </p:set>
                                    <p:anim calcmode="lin" valueType="num">
                                      <p:cBhvr additive="base">
                                        <p:cTn id="19" dur="500" fill="hold"/>
                                        <p:tgtEl>
                                          <p:spTgt spid="9223"/>
                                        </p:tgtEl>
                                        <p:attrNameLst>
                                          <p:attrName>ppt_x</p:attrName>
                                        </p:attrNameLst>
                                      </p:cBhvr>
                                      <p:tavLst>
                                        <p:tav tm="0">
                                          <p:val>
                                            <p:strVal val="#ppt_x"/>
                                          </p:val>
                                        </p:tav>
                                        <p:tav tm="100000">
                                          <p:val>
                                            <p:strVal val="#ppt_x"/>
                                          </p:val>
                                        </p:tav>
                                      </p:tavLst>
                                    </p:anim>
                                    <p:anim calcmode="lin" valueType="num">
                                      <p:cBhvr additive="base">
                                        <p:cTn id="20"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3" name="图片 101"/>
          <p:cNvPicPr/>
          <p:nvPr/>
        </p:nvPicPr>
        <p:blipFill>
          <a:blip r:embed="rId1"/>
          <a:stretch>
            <a:fillRect/>
          </a:stretch>
        </p:blipFill>
        <p:spPr>
          <a:xfrm>
            <a:off x="611188" y="476250"/>
            <a:ext cx="7667625" cy="6235700"/>
          </a:xfrm>
          <a:prstGeom prst="rect">
            <a:avLst/>
          </a:prstGeom>
          <a:noFill/>
          <a:ln w="9525">
            <a:noFill/>
          </a:ln>
        </p:spPr>
      </p:pic>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7" name="图片 1"/>
          <p:cNvPicPr>
            <a:picLocks noChangeAspect="1"/>
          </p:cNvPicPr>
          <p:nvPr/>
        </p:nvPicPr>
        <p:blipFill>
          <a:blip r:embed="rId1"/>
          <a:stretch>
            <a:fillRect/>
          </a:stretch>
        </p:blipFill>
        <p:spPr>
          <a:xfrm>
            <a:off x="395288" y="333375"/>
            <a:ext cx="8482012" cy="6315075"/>
          </a:xfrm>
          <a:prstGeom prst="rect">
            <a:avLst/>
          </a:prstGeom>
          <a:noFill/>
          <a:ln w="9525">
            <a:noFill/>
          </a:ln>
        </p:spPr>
      </p:pic>
    </p:spTree>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2"/>
          <p:cNvPicPr>
            <a:picLocks noChangeAspect="1"/>
          </p:cNvPicPr>
          <p:nvPr/>
        </p:nvPicPr>
        <p:blipFill>
          <a:blip r:embed="rId1"/>
          <a:srcRect b="2879"/>
          <a:stretch>
            <a:fillRect/>
          </a:stretch>
        </p:blipFill>
        <p:spPr>
          <a:xfrm>
            <a:off x="1214438" y="3243263"/>
            <a:ext cx="7253287" cy="3614737"/>
          </a:xfrm>
          <a:prstGeom prst="rect">
            <a:avLst/>
          </a:prstGeom>
          <a:noFill/>
          <a:ln w="9525">
            <a:noFill/>
          </a:ln>
        </p:spPr>
      </p:pic>
      <p:sp>
        <p:nvSpPr>
          <p:cNvPr id="10243" name="Rectangle 3"/>
          <p:cNvSpPr/>
          <p:nvPr/>
        </p:nvSpPr>
        <p:spPr>
          <a:xfrm>
            <a:off x="762000" y="1219200"/>
            <a:ext cx="7391400" cy="493713"/>
          </a:xfrm>
          <a:prstGeom prst="rect">
            <a:avLst/>
          </a:prstGeom>
          <a:noFill/>
          <a:ln w="9525">
            <a:noFill/>
          </a:ln>
        </p:spPr>
        <p:txBody>
          <a:bodyPr anchor="ctr" anchorCtr="0">
            <a:spAutoFit/>
          </a:bodyPr>
          <a:p>
            <a:pPr eaLnBrk="0" hangingPunct="0">
              <a:lnSpc>
                <a:spcPct val="110000"/>
              </a:lnSpc>
            </a:pPr>
            <a:r>
              <a:rPr lang="zh-CN" altLang="zh-CN" sz="2400" dirty="0">
                <a:solidFill>
                  <a:srgbClr val="AF3773"/>
                </a:solidFill>
                <a:latin typeface="Arial" panose="020B0604020202020204" pitchFamily="34" charset="0"/>
                <a:ea typeface="黑体" panose="02010609060101010101" pitchFamily="49" charset="-122"/>
              </a:rPr>
              <a:t>切削层参数</a:t>
            </a:r>
            <a:r>
              <a:rPr lang="zh-CN" altLang="zh-CN" sz="2400" dirty="0">
                <a:solidFill>
                  <a:schemeClr val="tx2"/>
                </a:solidFill>
                <a:latin typeface="Arial" panose="020B0604020202020204" pitchFamily="34" charset="0"/>
                <a:ea typeface="黑体" panose="02010609060101010101" pitchFamily="49" charset="-122"/>
              </a:rPr>
              <a:t>是在基面内测量的切削层横截面尺寸。</a:t>
            </a:r>
            <a:r>
              <a:rPr lang="zh-CN" altLang="zh-CN" sz="2400" dirty="0">
                <a:latin typeface="Arial" panose="020B0604020202020204" pitchFamily="34" charset="0"/>
                <a:ea typeface="黑体" panose="02010609060101010101" pitchFamily="49" charset="-122"/>
              </a:rPr>
              <a:t> </a:t>
            </a:r>
            <a:endParaRPr lang="zh-CN" altLang="zh-CN" sz="2400" dirty="0">
              <a:latin typeface="Arial" panose="020B0604020202020204" pitchFamily="34" charset="0"/>
              <a:ea typeface="黑体" panose="02010609060101010101" pitchFamily="49" charset="-122"/>
            </a:endParaRPr>
          </a:p>
        </p:txBody>
      </p:sp>
      <p:sp>
        <p:nvSpPr>
          <p:cNvPr id="10244" name="Rectangle 4"/>
          <p:cNvSpPr/>
          <p:nvPr/>
        </p:nvSpPr>
        <p:spPr>
          <a:xfrm>
            <a:off x="3048000" y="228600"/>
            <a:ext cx="3200400" cy="646113"/>
          </a:xfrm>
          <a:prstGeom prst="rect">
            <a:avLst/>
          </a:prstGeom>
          <a:noFill/>
          <a:ln w="9525">
            <a:noFill/>
          </a:ln>
        </p:spPr>
        <p:txBody>
          <a:bodyPr anchor="t" anchorCtr="0">
            <a:spAutoFit/>
          </a:bodyPr>
          <a:p>
            <a:pPr eaLnBrk="0" hangingPunct="0"/>
            <a:r>
              <a:rPr lang="zh-CN" altLang="zh-CN" sz="3600" dirty="0">
                <a:solidFill>
                  <a:srgbClr val="CC0066"/>
                </a:solidFill>
                <a:latin typeface="Arial" panose="020B0604020202020204" pitchFamily="34" charset="0"/>
                <a:ea typeface="黑体" panose="02010609060101010101" pitchFamily="49" charset="-122"/>
              </a:rPr>
              <a:t>切削层参数</a:t>
            </a:r>
            <a:endParaRPr lang="zh-CN" altLang="zh-CN" sz="3600" dirty="0">
              <a:solidFill>
                <a:srgbClr val="CC0066"/>
              </a:solidFill>
              <a:latin typeface="Arial" panose="020B0604020202020204" pitchFamily="34" charset="0"/>
              <a:ea typeface="黑体" panose="02010609060101010101" pitchFamily="49" charset="-122"/>
            </a:endParaRPr>
          </a:p>
        </p:txBody>
      </p:sp>
      <p:sp>
        <p:nvSpPr>
          <p:cNvPr id="10245" name="Rectangle 5"/>
          <p:cNvSpPr/>
          <p:nvPr/>
        </p:nvSpPr>
        <p:spPr>
          <a:xfrm>
            <a:off x="762000" y="1714500"/>
            <a:ext cx="8305800" cy="1481138"/>
          </a:xfrm>
          <a:prstGeom prst="rect">
            <a:avLst/>
          </a:prstGeom>
          <a:noFill/>
          <a:ln w="9525">
            <a:noFill/>
          </a:ln>
        </p:spPr>
        <p:txBody>
          <a:bodyPr anchor="t" anchorCtr="0">
            <a:spAutoFit/>
          </a:bodyPr>
          <a:p>
            <a:pPr eaLnBrk="0" hangingPunct="0">
              <a:lnSpc>
                <a:spcPct val="120000"/>
              </a:lnSpc>
              <a:spcBef>
                <a:spcPct val="20000"/>
              </a:spcBef>
            </a:pPr>
            <a:r>
              <a:rPr lang="en-US" altLang="zh-CN" sz="2400" dirty="0">
                <a:latin typeface="黑体" panose="02010609060101010101" pitchFamily="49" charset="-122"/>
                <a:ea typeface="黑体" panose="02010609060101010101" pitchFamily="49" charset="-122"/>
              </a:rPr>
              <a:t>1.</a:t>
            </a:r>
            <a:r>
              <a:rPr lang="zh-CN" altLang="zh-CN" sz="2400" dirty="0">
                <a:latin typeface="黑体" panose="02010609060101010101" pitchFamily="49" charset="-122"/>
                <a:ea typeface="黑体" panose="02010609060101010101" pitchFamily="49" charset="-122"/>
              </a:rPr>
              <a:t>切削厚度</a:t>
            </a:r>
            <a:r>
              <a:rPr lang="en-US" altLang="zh-CN" sz="2400" i="1" dirty="0">
                <a:latin typeface="Times New Roman" panose="02020603050405020304" pitchFamily="18" charset="0"/>
                <a:ea typeface="黑体" panose="02010609060101010101" pitchFamily="49" charset="-122"/>
              </a:rPr>
              <a:t>a</a:t>
            </a:r>
            <a:r>
              <a:rPr lang="en-US" altLang="zh-CN" sz="2400" baseline="-25000" dirty="0">
                <a:latin typeface="Times New Roman" panose="02020603050405020304" pitchFamily="18" charset="0"/>
                <a:ea typeface="黑体" panose="02010609060101010101" pitchFamily="49" charset="-122"/>
              </a:rPr>
              <a:t>c</a:t>
            </a:r>
            <a:r>
              <a:rPr lang="zh-CN" altLang="zh-CN" sz="2400" dirty="0">
                <a:latin typeface="黑体" panose="02010609060101010101" pitchFamily="49" charset="-122"/>
                <a:ea typeface="黑体" panose="02010609060101010101" pitchFamily="49" charset="-122"/>
              </a:rPr>
              <a:t>（</a:t>
            </a:r>
            <a:r>
              <a:rPr lang="zh-CN" altLang="zh-CN" sz="2400" dirty="0">
                <a:solidFill>
                  <a:srgbClr val="333399"/>
                </a:solidFill>
                <a:latin typeface="黑体" panose="02010609060101010101" pitchFamily="49" charset="-122"/>
                <a:ea typeface="黑体" panose="02010609060101010101" pitchFamily="49" charset="-122"/>
              </a:rPr>
              <a:t>切削层公称厚度</a:t>
            </a:r>
            <a:r>
              <a:rPr lang="en-US" altLang="zh-CN" sz="2400" i="1" dirty="0">
                <a:solidFill>
                  <a:srgbClr val="333399"/>
                </a:solidFill>
                <a:latin typeface="Times New Roman" panose="02020603050405020304" pitchFamily="18" charset="0"/>
                <a:ea typeface="黑体" panose="02010609060101010101" pitchFamily="49" charset="-122"/>
              </a:rPr>
              <a:t>h</a:t>
            </a:r>
            <a:r>
              <a:rPr lang="en-US" altLang="zh-CN" sz="2400" baseline="-25000" dirty="0">
                <a:solidFill>
                  <a:srgbClr val="333399"/>
                </a:solidFill>
                <a:latin typeface="Times New Roman" panose="02020603050405020304" pitchFamily="18" charset="0"/>
                <a:ea typeface="黑体" panose="02010609060101010101" pitchFamily="49" charset="-122"/>
              </a:rPr>
              <a:t>D</a:t>
            </a:r>
            <a:r>
              <a:rPr lang="en-US" altLang="zh-CN" sz="2400" dirty="0">
                <a:latin typeface="Times New Roman" panose="02020603050405020304" pitchFamily="18" charset="0"/>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a:t>
            </a:r>
            <a:endParaRPr lang="zh-CN" altLang="zh-CN" sz="2400" dirty="0">
              <a:latin typeface="黑体" panose="02010609060101010101" pitchFamily="49" charset="-122"/>
              <a:ea typeface="黑体" panose="02010609060101010101" pitchFamily="49" charset="-122"/>
            </a:endParaRPr>
          </a:p>
          <a:p>
            <a:pPr algn="just" eaLnBrk="0" hangingPunct="0">
              <a:lnSpc>
                <a:spcPct val="120000"/>
              </a:lnSpc>
              <a:spcBef>
                <a:spcPct val="20000"/>
              </a:spcBef>
            </a:pPr>
            <a:r>
              <a:rPr lang="zh-CN" altLang="zh-CN" sz="2400" dirty="0">
                <a:solidFill>
                  <a:schemeClr val="tx2"/>
                </a:solidFill>
                <a:latin typeface="黑体" panose="02010609060101010101" pitchFamily="49" charset="-122"/>
                <a:ea typeface="黑体" panose="02010609060101010101" pitchFamily="49" charset="-122"/>
              </a:rPr>
              <a:t>  过主切削刃上选定点，在基面内测量的</a:t>
            </a:r>
            <a:r>
              <a:rPr lang="zh-CN" altLang="zh-CN" sz="2400" dirty="0">
                <a:solidFill>
                  <a:srgbClr val="FF0000"/>
                </a:solidFill>
                <a:latin typeface="黑体" panose="02010609060101010101" pitchFamily="49" charset="-122"/>
                <a:ea typeface="黑体" panose="02010609060101010101" pitchFamily="49" charset="-122"/>
              </a:rPr>
              <a:t>垂直于加工</a:t>
            </a:r>
            <a:r>
              <a:rPr lang="zh-CN" altLang="zh-CN" sz="2400" dirty="0">
                <a:solidFill>
                  <a:schemeClr val="tx2"/>
                </a:solidFill>
                <a:latin typeface="黑体" panose="02010609060101010101" pitchFamily="49" charset="-122"/>
                <a:ea typeface="黑体" panose="02010609060101010101" pitchFamily="49" charset="-122"/>
              </a:rPr>
              <a:t>表面的切削层尺寸，单位为</a:t>
            </a:r>
            <a:r>
              <a:rPr lang="en-US" altLang="zh-CN" sz="2400" dirty="0">
                <a:solidFill>
                  <a:schemeClr val="tx2"/>
                </a:solidFill>
                <a:latin typeface="Times New Roman" panose="02020603050405020304" pitchFamily="18" charset="0"/>
                <a:ea typeface="黑体" panose="02010609060101010101" pitchFamily="49" charset="-122"/>
              </a:rPr>
              <a:t>mm</a:t>
            </a:r>
            <a:r>
              <a:rPr lang="zh-CN" altLang="zh-CN" sz="2400" dirty="0">
                <a:solidFill>
                  <a:schemeClr val="tx2"/>
                </a:solidFill>
                <a:latin typeface="黑体" panose="02010609060101010101" pitchFamily="49" charset="-122"/>
                <a:ea typeface="黑体" panose="02010609060101010101" pitchFamily="49" charset="-122"/>
              </a:rPr>
              <a:t>。 </a:t>
            </a:r>
            <a:endParaRPr lang="zh-CN" altLang="zh-CN" sz="2400" dirty="0">
              <a:solidFill>
                <a:schemeClr val="tx2"/>
              </a:solidFill>
              <a:latin typeface="黑体" panose="02010609060101010101" pitchFamily="49" charset="-122"/>
              <a:ea typeface="黑体" panose="02010609060101010101" pitchFamily="49" charset="-122"/>
            </a:endParaRPr>
          </a:p>
        </p:txBody>
      </p:sp>
      <p:sp>
        <p:nvSpPr>
          <p:cNvPr id="46085" name="Rectangle 6"/>
          <p:cNvSpPr/>
          <p:nvPr/>
        </p:nvSpPr>
        <p:spPr>
          <a:xfrm>
            <a:off x="0" y="3319463"/>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46086" name="Rectangle 7"/>
          <p:cNvSpPr/>
          <p:nvPr/>
        </p:nvSpPr>
        <p:spPr>
          <a:xfrm>
            <a:off x="0" y="3309938"/>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249" name="Object 2"/>
          <p:cNvGraphicFramePr>
            <a:graphicFrameLocks noChangeAspect="1"/>
          </p:cNvGraphicFramePr>
          <p:nvPr/>
        </p:nvGraphicFramePr>
        <p:xfrm>
          <a:off x="4572000" y="2643188"/>
          <a:ext cx="2030413" cy="590550"/>
        </p:xfrm>
        <a:graphic>
          <a:graphicData uri="http://schemas.openxmlformats.org/presentationml/2006/ole">
            <mc:AlternateContent xmlns:mc="http://schemas.openxmlformats.org/markup-compatibility/2006">
              <mc:Choice xmlns:v="urn:schemas-microsoft-com:vml" Requires="v">
                <p:oleObj spid="_x0000_s3082" name="" r:id="rId2" imgW="711200" imgH="203200" progId="Equation.3">
                  <p:embed/>
                </p:oleObj>
              </mc:Choice>
              <mc:Fallback>
                <p:oleObj name="" r:id="rId2" imgW="711200" imgH="203200" progId="Equation.3">
                  <p:embed/>
                  <p:pic>
                    <p:nvPicPr>
                      <p:cNvPr id="0" name="图片 3081"/>
                      <p:cNvPicPr/>
                      <p:nvPr/>
                    </p:nvPicPr>
                    <p:blipFill>
                      <a:blip r:embed="rId3"/>
                      <a:stretch>
                        <a:fillRect/>
                      </a:stretch>
                    </p:blipFill>
                    <p:spPr>
                      <a:xfrm>
                        <a:off x="4572000" y="2643188"/>
                        <a:ext cx="2030413" cy="590550"/>
                      </a:xfrm>
                      <a:prstGeom prst="rect">
                        <a:avLst/>
                      </a:prstGeom>
                      <a:noFill/>
                      <a:ln w="38100">
                        <a:noFill/>
                        <a:miter/>
                      </a:ln>
                    </p:spPr>
                  </p:pic>
                </p:oleObj>
              </mc:Fallback>
            </mc:AlternateContent>
          </a:graphicData>
        </a:graphic>
      </p:graphicFrame>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ppt_x"/>
                                          </p:val>
                                        </p:tav>
                                        <p:tav tm="100000">
                                          <p:val>
                                            <p:strVal val="#ppt_x"/>
                                          </p:val>
                                        </p:tav>
                                      </p:tavLst>
                                    </p:anim>
                                    <p:anim calcmode="lin" valueType="num">
                                      <p:cBhvr additive="base">
                                        <p:cTn id="8"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xEl>
                                              <p:charRg st="0" end="24"/>
                                            </p:txEl>
                                          </p:spTgt>
                                        </p:tgtEl>
                                        <p:attrNameLst>
                                          <p:attrName>style.visibility</p:attrName>
                                        </p:attrNameLst>
                                      </p:cBhvr>
                                      <p:to>
                                        <p:strVal val="visible"/>
                                      </p:to>
                                    </p:set>
                                    <p:anim calcmode="lin" valueType="num">
                                      <p:cBhvr additive="base">
                                        <p:cTn id="13" dur="500" fill="hold"/>
                                        <p:tgtEl>
                                          <p:spTgt spid="10243">
                                            <p:txEl>
                                              <p:charRg st="0" end="2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charRg st="0" end="2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45">
                                            <p:txEl>
                                              <p:charRg st="0" end="21"/>
                                            </p:txEl>
                                          </p:spTgt>
                                        </p:tgtEl>
                                        <p:attrNameLst>
                                          <p:attrName>style.visibility</p:attrName>
                                        </p:attrNameLst>
                                      </p:cBhvr>
                                      <p:to>
                                        <p:strVal val="visible"/>
                                      </p:to>
                                    </p:set>
                                    <p:anim calcmode="lin" valueType="num">
                                      <p:cBhvr additive="base">
                                        <p:cTn id="19" dur="500" fill="hold"/>
                                        <p:tgtEl>
                                          <p:spTgt spid="10245">
                                            <p:txEl>
                                              <p:charRg st="0" end="2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5">
                                            <p:txEl>
                                              <p:charRg st="0" end="2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245">
                                            <p:txEl>
                                              <p:charRg st="21" end="62"/>
                                            </p:txEl>
                                          </p:spTgt>
                                        </p:tgtEl>
                                        <p:attrNameLst>
                                          <p:attrName>style.visibility</p:attrName>
                                        </p:attrNameLst>
                                      </p:cBhvr>
                                      <p:to>
                                        <p:strVal val="visible"/>
                                      </p:to>
                                    </p:set>
                                    <p:anim calcmode="lin" valueType="num">
                                      <p:cBhvr additive="base">
                                        <p:cTn id="25" dur="500" fill="hold"/>
                                        <p:tgtEl>
                                          <p:spTgt spid="10245">
                                            <p:txEl>
                                              <p:charRg st="21" end="6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5">
                                            <p:txEl>
                                              <p:charRg st="21" end="6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249"/>
                                        </p:tgtEl>
                                        <p:attrNameLst>
                                          <p:attrName>style.visibility</p:attrName>
                                        </p:attrNameLst>
                                      </p:cBhvr>
                                      <p:to>
                                        <p:strVal val="visible"/>
                                      </p:to>
                                    </p:set>
                                    <p:anim calcmode="lin" valueType="num">
                                      <p:cBhvr additive="base">
                                        <p:cTn id="31" dur="500" fill="hold"/>
                                        <p:tgtEl>
                                          <p:spTgt spid="10249"/>
                                        </p:tgtEl>
                                        <p:attrNameLst>
                                          <p:attrName>ppt_x</p:attrName>
                                        </p:attrNameLst>
                                      </p:cBhvr>
                                      <p:tavLst>
                                        <p:tav tm="0">
                                          <p:val>
                                            <p:strVal val="#ppt_x"/>
                                          </p:val>
                                        </p:tav>
                                        <p:tav tm="100000">
                                          <p:val>
                                            <p:strVal val="#ppt_x"/>
                                          </p:val>
                                        </p:tav>
                                      </p:tavLst>
                                    </p:anim>
                                    <p:anim calcmode="lin" valueType="num">
                                      <p:cBhvr additive="base">
                                        <p:cTn id="32" dur="500" fill="hold"/>
                                        <p:tgtEl>
                                          <p:spTgt spid="1024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42"/>
                                        </p:tgtEl>
                                        <p:attrNameLst>
                                          <p:attrName>style.visibility</p:attrName>
                                        </p:attrNameLst>
                                      </p:cBhvr>
                                      <p:to>
                                        <p:strVal val="visible"/>
                                      </p:to>
                                    </p:set>
                                    <p:anim calcmode="lin" valueType="num">
                                      <p:cBhvr additive="base">
                                        <p:cTn id="37" dur="500" fill="hold"/>
                                        <p:tgtEl>
                                          <p:spTgt spid="10242"/>
                                        </p:tgtEl>
                                        <p:attrNameLst>
                                          <p:attrName>ppt_x</p:attrName>
                                        </p:attrNameLst>
                                      </p:cBhvr>
                                      <p:tavLst>
                                        <p:tav tm="0">
                                          <p:val>
                                            <p:strVal val="#ppt_x"/>
                                          </p:val>
                                        </p:tav>
                                        <p:tav tm="100000">
                                          <p:val>
                                            <p:strVal val="#ppt_x"/>
                                          </p:val>
                                        </p:tav>
                                      </p:tavLst>
                                    </p:anim>
                                    <p:anim calcmode="lin" valueType="num">
                                      <p:cBhvr additive="base">
                                        <p:cTn id="3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2"/>
          <p:cNvPicPr>
            <a:picLocks noChangeAspect="1"/>
          </p:cNvPicPr>
          <p:nvPr/>
        </p:nvPicPr>
        <p:blipFill>
          <a:blip r:embed="rId1"/>
          <a:srcRect b="2879"/>
          <a:stretch>
            <a:fillRect/>
          </a:stretch>
        </p:blipFill>
        <p:spPr>
          <a:xfrm>
            <a:off x="508000" y="2714625"/>
            <a:ext cx="8102600" cy="4038600"/>
          </a:xfrm>
          <a:prstGeom prst="rect">
            <a:avLst/>
          </a:prstGeom>
          <a:noFill/>
          <a:ln w="9525">
            <a:noFill/>
          </a:ln>
        </p:spPr>
      </p:pic>
      <p:sp>
        <p:nvSpPr>
          <p:cNvPr id="47106" name="Rectangle 4"/>
          <p:cNvSpPr/>
          <p:nvPr/>
        </p:nvSpPr>
        <p:spPr>
          <a:xfrm>
            <a:off x="0" y="3319463"/>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11269" name="Rectangle 5"/>
          <p:cNvSpPr/>
          <p:nvPr/>
        </p:nvSpPr>
        <p:spPr>
          <a:xfrm>
            <a:off x="609600" y="1066800"/>
            <a:ext cx="8382000" cy="1481138"/>
          </a:xfrm>
          <a:prstGeom prst="rect">
            <a:avLst/>
          </a:prstGeom>
          <a:noFill/>
          <a:ln w="9525">
            <a:noFill/>
          </a:ln>
        </p:spPr>
        <p:txBody>
          <a:bodyPr anchor="ctr" anchorCtr="0">
            <a:spAutoFit/>
          </a:bodyPr>
          <a:p>
            <a:pPr eaLnBrk="0" hangingPunct="0">
              <a:lnSpc>
                <a:spcPct val="120000"/>
              </a:lnSpc>
              <a:spcBef>
                <a:spcPct val="20000"/>
              </a:spcBef>
            </a:pPr>
            <a:r>
              <a:rPr lang="en-US" altLang="zh-CN" dirty="0">
                <a:latin typeface="Arial" panose="020B0604020202020204" pitchFamily="34" charset="0"/>
                <a:ea typeface="宋体" panose="02010600030101010101" pitchFamily="2" charset="-122"/>
              </a:rPr>
              <a:t>2.</a:t>
            </a:r>
            <a:r>
              <a:rPr lang="zh-CN" altLang="zh-CN" sz="2400" dirty="0">
                <a:latin typeface="黑体" panose="02010609060101010101" pitchFamily="49" charset="-122"/>
                <a:ea typeface="黑体" panose="02010609060101010101" pitchFamily="49" charset="-122"/>
              </a:rPr>
              <a:t>切削宽度</a:t>
            </a: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w</a:t>
            </a:r>
            <a:r>
              <a:rPr lang="zh-CN" altLang="zh-CN" sz="2400" dirty="0">
                <a:solidFill>
                  <a:srgbClr val="333399"/>
                </a:solidFill>
                <a:latin typeface="黑体" panose="02010609060101010101" pitchFamily="49" charset="-122"/>
                <a:ea typeface="黑体" panose="02010609060101010101" pitchFamily="49" charset="-122"/>
              </a:rPr>
              <a:t>（切削层公称宽度</a:t>
            </a:r>
            <a:r>
              <a:rPr lang="en-US" altLang="zh-CN" sz="2400" i="1" dirty="0">
                <a:solidFill>
                  <a:srgbClr val="333399"/>
                </a:solidFill>
                <a:latin typeface="Times New Roman" panose="02020603050405020304" pitchFamily="18" charset="0"/>
                <a:ea typeface="黑体" panose="02010609060101010101" pitchFamily="49" charset="-122"/>
              </a:rPr>
              <a:t>b</a:t>
            </a:r>
            <a:r>
              <a:rPr lang="en-US" altLang="zh-CN" sz="2400" baseline="-25000" dirty="0">
                <a:solidFill>
                  <a:srgbClr val="333399"/>
                </a:solidFill>
                <a:latin typeface="Times New Roman" panose="02020603050405020304" pitchFamily="18" charset="0"/>
                <a:ea typeface="黑体" panose="02010609060101010101" pitchFamily="49" charset="-122"/>
              </a:rPr>
              <a:t>D</a:t>
            </a:r>
            <a:r>
              <a:rPr lang="zh-CN" altLang="zh-CN" sz="2400" baseline="-25000" dirty="0">
                <a:solidFill>
                  <a:srgbClr val="333399"/>
                </a:solidFill>
                <a:latin typeface="黑体" panose="02010609060101010101" pitchFamily="49" charset="-122"/>
                <a:ea typeface="黑体" panose="02010609060101010101" pitchFamily="49" charset="-122"/>
              </a:rPr>
              <a:t> </a:t>
            </a:r>
            <a:r>
              <a:rPr lang="zh-CN" altLang="zh-CN" sz="2400" dirty="0">
                <a:solidFill>
                  <a:srgbClr val="333399"/>
                </a:solidFill>
                <a:latin typeface="黑体" panose="02010609060101010101" pitchFamily="49" charset="-122"/>
                <a:ea typeface="黑体" panose="02010609060101010101" pitchFamily="49" charset="-122"/>
              </a:rPr>
              <a:t>）</a:t>
            </a:r>
            <a:endParaRPr lang="zh-CN" altLang="zh-CN" sz="2400" dirty="0">
              <a:solidFill>
                <a:srgbClr val="333399"/>
              </a:solidFill>
              <a:latin typeface="黑体" panose="02010609060101010101" pitchFamily="49" charset="-122"/>
              <a:ea typeface="黑体" panose="02010609060101010101" pitchFamily="49" charset="-122"/>
            </a:endParaRPr>
          </a:p>
          <a:p>
            <a:pPr eaLnBrk="0" hangingPunct="0">
              <a:lnSpc>
                <a:spcPct val="120000"/>
              </a:lnSpc>
              <a:spcBef>
                <a:spcPct val="20000"/>
              </a:spcBef>
            </a:pPr>
            <a:r>
              <a:rPr lang="zh-CN" altLang="zh-CN" sz="2400" dirty="0">
                <a:solidFill>
                  <a:schemeClr val="tx2"/>
                </a:solidFill>
                <a:latin typeface="黑体" panose="02010609060101010101" pitchFamily="49" charset="-122"/>
                <a:ea typeface="黑体" panose="02010609060101010101" pitchFamily="49" charset="-122"/>
              </a:rPr>
              <a:t>    过主切削刃上选定点，在基面内测量的</a:t>
            </a:r>
            <a:r>
              <a:rPr lang="zh-CN" altLang="zh-CN" sz="2400" dirty="0">
                <a:solidFill>
                  <a:srgbClr val="FF0000"/>
                </a:solidFill>
                <a:latin typeface="黑体" panose="02010609060101010101" pitchFamily="49" charset="-122"/>
                <a:ea typeface="黑体" panose="02010609060101010101" pitchFamily="49" charset="-122"/>
              </a:rPr>
              <a:t>平行于</a:t>
            </a:r>
            <a:r>
              <a:rPr lang="zh-CN" altLang="zh-CN" sz="2400" dirty="0">
                <a:solidFill>
                  <a:schemeClr val="tx2"/>
                </a:solidFill>
                <a:latin typeface="黑体" panose="02010609060101010101" pitchFamily="49" charset="-122"/>
                <a:ea typeface="黑体" panose="02010609060101010101" pitchFamily="49" charset="-122"/>
              </a:rPr>
              <a:t>加工表面的切削层尺寸，单位为</a:t>
            </a:r>
            <a:r>
              <a:rPr lang="en-US" altLang="zh-CN" sz="2400" dirty="0">
                <a:solidFill>
                  <a:schemeClr val="tx2"/>
                </a:solidFill>
                <a:latin typeface="Times New Roman" panose="02020603050405020304" pitchFamily="18" charset="0"/>
                <a:ea typeface="黑体" panose="02010609060101010101" pitchFamily="49" charset="-122"/>
              </a:rPr>
              <a:t>mm</a:t>
            </a:r>
            <a:r>
              <a:rPr lang="zh-CN" altLang="zh-CN" sz="2400" dirty="0">
                <a:solidFill>
                  <a:schemeClr val="tx2"/>
                </a:solidFill>
                <a:latin typeface="黑体" panose="02010609060101010101" pitchFamily="49" charset="-122"/>
                <a:ea typeface="黑体" panose="02010609060101010101" pitchFamily="49" charset="-122"/>
              </a:rPr>
              <a:t>。</a:t>
            </a:r>
            <a:endParaRPr lang="zh-CN" altLang="zh-CN" sz="2400" dirty="0">
              <a:solidFill>
                <a:schemeClr val="tx2"/>
              </a:solidFill>
              <a:latin typeface="黑体" panose="02010609060101010101" pitchFamily="49" charset="-122"/>
              <a:ea typeface="黑体" panose="02010609060101010101" pitchFamily="49" charset="-122"/>
            </a:endParaRPr>
          </a:p>
        </p:txBody>
      </p:sp>
      <p:sp>
        <p:nvSpPr>
          <p:cNvPr id="47108" name="Rectangle 6"/>
          <p:cNvSpPr/>
          <p:nvPr/>
        </p:nvSpPr>
        <p:spPr>
          <a:xfrm>
            <a:off x="0" y="3309938"/>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271" name="Object 2"/>
          <p:cNvGraphicFramePr>
            <a:graphicFrameLocks noChangeAspect="1"/>
          </p:cNvGraphicFramePr>
          <p:nvPr/>
        </p:nvGraphicFramePr>
        <p:xfrm>
          <a:off x="4500563" y="2000250"/>
          <a:ext cx="2590800" cy="692150"/>
        </p:xfrm>
        <a:graphic>
          <a:graphicData uri="http://schemas.openxmlformats.org/presentationml/2006/ole">
            <mc:AlternateContent xmlns:mc="http://schemas.openxmlformats.org/markup-compatibility/2006">
              <mc:Choice xmlns:v="urn:schemas-microsoft-com:vml" Requires="v">
                <p:oleObj spid="_x0000_s3083" name="" r:id="rId2" imgW="851535" imgH="228600" progId="Equation.3">
                  <p:embed/>
                </p:oleObj>
              </mc:Choice>
              <mc:Fallback>
                <p:oleObj name="" r:id="rId2" imgW="851535" imgH="228600" progId="Equation.3">
                  <p:embed/>
                  <p:pic>
                    <p:nvPicPr>
                      <p:cNvPr id="0" name="图片 3082"/>
                      <p:cNvPicPr/>
                      <p:nvPr/>
                    </p:nvPicPr>
                    <p:blipFill>
                      <a:blip r:embed="rId3"/>
                      <a:stretch>
                        <a:fillRect/>
                      </a:stretch>
                    </p:blipFill>
                    <p:spPr>
                      <a:xfrm>
                        <a:off x="4500563" y="2000250"/>
                        <a:ext cx="2590800" cy="692150"/>
                      </a:xfrm>
                      <a:prstGeom prst="rect">
                        <a:avLst/>
                      </a:prstGeom>
                      <a:noFill/>
                      <a:ln w="38100">
                        <a:noFill/>
                        <a:miter/>
                      </a:ln>
                    </p:spPr>
                  </p:pic>
                </p:oleObj>
              </mc:Fallback>
            </mc:AlternateContent>
          </a:graphicData>
        </a:graphic>
      </p:graphicFrame>
      <p:sp>
        <p:nvSpPr>
          <p:cNvPr id="11273" name="Rectangle 9"/>
          <p:cNvSpPr/>
          <p:nvPr/>
        </p:nvSpPr>
        <p:spPr>
          <a:xfrm>
            <a:off x="3048000" y="228600"/>
            <a:ext cx="3200400" cy="646113"/>
          </a:xfrm>
          <a:prstGeom prst="rect">
            <a:avLst/>
          </a:prstGeom>
          <a:noFill/>
          <a:ln w="9525">
            <a:noFill/>
          </a:ln>
        </p:spPr>
        <p:txBody>
          <a:bodyPr anchor="t" anchorCtr="0">
            <a:spAutoFit/>
          </a:bodyPr>
          <a:p>
            <a:pPr eaLnBrk="0" hangingPunct="0"/>
            <a:r>
              <a:rPr lang="zh-CN" altLang="zh-CN" sz="3600" dirty="0">
                <a:solidFill>
                  <a:srgbClr val="CC0066"/>
                </a:solidFill>
                <a:latin typeface="Arial" panose="020B0604020202020204" pitchFamily="34" charset="0"/>
                <a:ea typeface="黑体" panose="02010609060101010101" pitchFamily="49" charset="-122"/>
              </a:rPr>
              <a:t>切削层参数</a:t>
            </a:r>
            <a:endParaRPr lang="zh-CN" altLang="zh-CN" sz="3600" dirty="0">
              <a:solidFill>
                <a:srgbClr val="CC0066"/>
              </a:solidFill>
              <a:latin typeface="Arial" panose="020B0604020202020204" pitchFamily="34" charset="0"/>
              <a:ea typeface="黑体" panose="02010609060101010101" pitchFamily="49"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73"/>
                                        </p:tgtEl>
                                        <p:attrNameLst>
                                          <p:attrName>style.visibility</p:attrName>
                                        </p:attrNameLst>
                                      </p:cBhvr>
                                      <p:to>
                                        <p:strVal val="visible"/>
                                      </p:to>
                                    </p:set>
                                    <p:anim calcmode="lin" valueType="num">
                                      <p:cBhvr additive="base">
                                        <p:cTn id="7" dur="500" fill="hold"/>
                                        <p:tgtEl>
                                          <p:spTgt spid="11273"/>
                                        </p:tgtEl>
                                        <p:attrNameLst>
                                          <p:attrName>ppt_x</p:attrName>
                                        </p:attrNameLst>
                                      </p:cBhvr>
                                      <p:tavLst>
                                        <p:tav tm="0">
                                          <p:val>
                                            <p:strVal val="#ppt_x"/>
                                          </p:val>
                                        </p:tav>
                                        <p:tav tm="100000">
                                          <p:val>
                                            <p:strVal val="#ppt_x"/>
                                          </p:val>
                                        </p:tav>
                                      </p:tavLst>
                                    </p:anim>
                                    <p:anim calcmode="lin" valueType="num">
                                      <p:cBhvr additive="base">
                                        <p:cTn id="8" dur="500" fill="hold"/>
                                        <p:tgtEl>
                                          <p:spTgt spid="112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9">
                                            <p:txEl>
                                              <p:charRg st="0" end="21"/>
                                            </p:txEl>
                                          </p:spTgt>
                                        </p:tgtEl>
                                        <p:attrNameLst>
                                          <p:attrName>style.visibility</p:attrName>
                                        </p:attrNameLst>
                                      </p:cBhvr>
                                      <p:to>
                                        <p:strVal val="visible"/>
                                      </p:to>
                                    </p:set>
                                    <p:anim calcmode="lin" valueType="num">
                                      <p:cBhvr additive="base">
                                        <p:cTn id="13" dur="500" fill="hold"/>
                                        <p:tgtEl>
                                          <p:spTgt spid="11269">
                                            <p:txEl>
                                              <p:charRg st="0" end="2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9">
                                            <p:txEl>
                                              <p:charRg st="0" end="2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69">
                                            <p:txEl>
                                              <p:charRg st="21" end="63"/>
                                            </p:txEl>
                                          </p:spTgt>
                                        </p:tgtEl>
                                        <p:attrNameLst>
                                          <p:attrName>style.visibility</p:attrName>
                                        </p:attrNameLst>
                                      </p:cBhvr>
                                      <p:to>
                                        <p:strVal val="visible"/>
                                      </p:to>
                                    </p:set>
                                    <p:anim calcmode="lin" valueType="num">
                                      <p:cBhvr additive="base">
                                        <p:cTn id="19" dur="500" fill="hold"/>
                                        <p:tgtEl>
                                          <p:spTgt spid="11269">
                                            <p:txEl>
                                              <p:charRg st="21" end="6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9">
                                            <p:txEl>
                                              <p:charRg st="21" end="6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271"/>
                                        </p:tgtEl>
                                        <p:attrNameLst>
                                          <p:attrName>style.visibility</p:attrName>
                                        </p:attrNameLst>
                                      </p:cBhvr>
                                      <p:to>
                                        <p:strVal val="visible"/>
                                      </p:to>
                                    </p:set>
                                    <p:anim calcmode="lin" valueType="num">
                                      <p:cBhvr additive="base">
                                        <p:cTn id="25" dur="500" fill="hold"/>
                                        <p:tgtEl>
                                          <p:spTgt spid="11271"/>
                                        </p:tgtEl>
                                        <p:attrNameLst>
                                          <p:attrName>ppt_x</p:attrName>
                                        </p:attrNameLst>
                                      </p:cBhvr>
                                      <p:tavLst>
                                        <p:tav tm="0">
                                          <p:val>
                                            <p:strVal val="#ppt_x"/>
                                          </p:val>
                                        </p:tav>
                                        <p:tav tm="100000">
                                          <p:val>
                                            <p:strVal val="#ppt_x"/>
                                          </p:val>
                                        </p:tav>
                                      </p:tavLst>
                                    </p:anim>
                                    <p:anim calcmode="lin" valueType="num">
                                      <p:cBhvr additive="base">
                                        <p:cTn id="26"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266"/>
                                        </p:tgtEl>
                                        <p:attrNameLst>
                                          <p:attrName>style.visibility</p:attrName>
                                        </p:attrNameLst>
                                      </p:cBhvr>
                                      <p:to>
                                        <p:strVal val="visible"/>
                                      </p:to>
                                    </p:set>
                                    <p:anim calcmode="lin" valueType="num">
                                      <p:cBhvr additive="base">
                                        <p:cTn id="31" dur="500" fill="hold"/>
                                        <p:tgtEl>
                                          <p:spTgt spid="11266"/>
                                        </p:tgtEl>
                                        <p:attrNameLst>
                                          <p:attrName>ppt_x</p:attrName>
                                        </p:attrNameLst>
                                      </p:cBhvr>
                                      <p:tavLst>
                                        <p:tav tm="0">
                                          <p:val>
                                            <p:strVal val="#ppt_x"/>
                                          </p:val>
                                        </p:tav>
                                        <p:tav tm="100000">
                                          <p:val>
                                            <p:strVal val="#ppt_x"/>
                                          </p:val>
                                        </p:tav>
                                      </p:tavLst>
                                    </p:anim>
                                    <p:anim calcmode="lin" valueType="num">
                                      <p:cBhvr additive="base">
                                        <p:cTn id="32"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p:nvPr/>
        </p:nvSpPr>
        <p:spPr>
          <a:xfrm>
            <a:off x="214313" y="1143000"/>
            <a:ext cx="8572500" cy="1468438"/>
          </a:xfrm>
          <a:prstGeom prst="rect">
            <a:avLst/>
          </a:prstGeom>
          <a:noFill/>
          <a:ln w="9525">
            <a:noFill/>
          </a:ln>
        </p:spPr>
        <p:txBody>
          <a:bodyPr anchor="ctr" anchorCtr="0">
            <a:spAutoFit/>
          </a:bodyPr>
          <a:p>
            <a:pPr indent="266700" eaLnBrk="0" hangingPunct="0">
              <a:lnSpc>
                <a:spcPct val="120000"/>
              </a:lnSpc>
            </a:pPr>
            <a:r>
              <a:rPr lang="zh-CN" altLang="zh-CN" sz="2400" dirty="0">
                <a:latin typeface="黑体" panose="02010609060101010101" pitchFamily="49" charset="-122"/>
                <a:ea typeface="黑体" panose="02010609060101010101" pitchFamily="49" charset="-122"/>
              </a:rPr>
              <a:t>  </a:t>
            </a:r>
            <a:r>
              <a:rPr lang="zh-CN" altLang="zh-CN" sz="2400" dirty="0">
                <a:solidFill>
                  <a:schemeClr val="tx2"/>
                </a:solidFill>
                <a:latin typeface="黑体" panose="02010609060101010101" pitchFamily="49" charset="-122"/>
                <a:ea typeface="黑体" panose="02010609060101010101" pitchFamily="49" charset="-122"/>
              </a:rPr>
              <a:t>可见，在</a:t>
            </a:r>
            <a:r>
              <a:rPr lang="en-US" altLang="zh-CN" sz="2400" i="1" dirty="0">
                <a:solidFill>
                  <a:schemeClr val="tx2"/>
                </a:solidFill>
                <a:latin typeface="Times New Roman" panose="02020603050405020304" pitchFamily="18" charset="0"/>
                <a:ea typeface="黑体" panose="02010609060101010101" pitchFamily="49" charset="-122"/>
              </a:rPr>
              <a:t>f </a:t>
            </a:r>
            <a:r>
              <a:rPr lang="zh-CN" altLang="zh-CN" sz="2400" dirty="0">
                <a:solidFill>
                  <a:schemeClr val="tx2"/>
                </a:solidFill>
                <a:latin typeface="黑体" panose="02010609060101010101" pitchFamily="49" charset="-122"/>
                <a:ea typeface="黑体" panose="02010609060101010101" pitchFamily="49" charset="-122"/>
              </a:rPr>
              <a:t>和</a:t>
            </a:r>
            <a:r>
              <a:rPr lang="en-US" altLang="zh-CN" sz="2400" i="1" dirty="0">
                <a:solidFill>
                  <a:schemeClr val="tx2"/>
                </a:solidFill>
                <a:latin typeface="Times New Roman" panose="02020603050405020304" pitchFamily="18" charset="0"/>
                <a:ea typeface="黑体" panose="02010609060101010101" pitchFamily="49" charset="-122"/>
              </a:rPr>
              <a:t>α</a:t>
            </a:r>
            <a:r>
              <a:rPr lang="en-US" altLang="zh-CN" sz="2400" baseline="-25000" dirty="0">
                <a:solidFill>
                  <a:schemeClr val="tx2"/>
                </a:solidFill>
                <a:latin typeface="Times New Roman" panose="02020603050405020304" pitchFamily="18" charset="0"/>
                <a:ea typeface="黑体" panose="02010609060101010101" pitchFamily="49" charset="-122"/>
              </a:rPr>
              <a:t>p</a:t>
            </a:r>
            <a:r>
              <a:rPr lang="zh-CN" altLang="zh-CN" sz="2400" dirty="0">
                <a:solidFill>
                  <a:schemeClr val="tx2"/>
                </a:solidFill>
                <a:latin typeface="黑体" panose="02010609060101010101" pitchFamily="49" charset="-122"/>
                <a:ea typeface="黑体" panose="02010609060101010101" pitchFamily="49" charset="-122"/>
              </a:rPr>
              <a:t>一定的条件下，主偏角</a:t>
            </a:r>
            <a:r>
              <a:rPr lang="en-US" altLang="zh-CN" sz="2400" i="1" dirty="0">
                <a:solidFill>
                  <a:schemeClr val="tx2"/>
                </a:solidFill>
                <a:latin typeface="Times New Roman" panose="02020603050405020304" pitchFamily="18" charset="0"/>
                <a:ea typeface="黑体" panose="02010609060101010101" pitchFamily="49" charset="-122"/>
              </a:rPr>
              <a:t>κ</a:t>
            </a:r>
            <a:r>
              <a:rPr lang="en-US" altLang="zh-CN" sz="2400" baseline="-25000" dirty="0">
                <a:solidFill>
                  <a:schemeClr val="tx2"/>
                </a:solidFill>
                <a:latin typeface="Times New Roman" panose="02020603050405020304" pitchFamily="18" charset="0"/>
                <a:ea typeface="黑体" panose="02010609060101010101" pitchFamily="49" charset="-122"/>
              </a:rPr>
              <a:t>r</a:t>
            </a:r>
            <a:r>
              <a:rPr lang="zh-CN" altLang="zh-CN" sz="2400" dirty="0">
                <a:solidFill>
                  <a:schemeClr val="tx2"/>
                </a:solidFill>
                <a:latin typeface="黑体" panose="02010609060101010101" pitchFamily="49" charset="-122"/>
                <a:ea typeface="黑体" panose="02010609060101010101" pitchFamily="49" charset="-122"/>
              </a:rPr>
              <a:t>越大，切削厚度</a:t>
            </a:r>
            <a:r>
              <a:rPr lang="en-US" altLang="zh-CN" sz="2400" i="1" dirty="0">
                <a:solidFill>
                  <a:schemeClr val="tx2"/>
                </a:solidFill>
                <a:latin typeface="Times New Roman" panose="02020603050405020304" pitchFamily="18" charset="0"/>
                <a:ea typeface="宋体" panose="02010600030101010101" pitchFamily="2" charset="-122"/>
              </a:rPr>
              <a:t>a</a:t>
            </a:r>
            <a:r>
              <a:rPr lang="en-US" altLang="zh-CN" sz="2400" baseline="-25000" dirty="0">
                <a:solidFill>
                  <a:schemeClr val="tx2"/>
                </a:solidFill>
                <a:latin typeface="Times New Roman" panose="02020603050405020304" pitchFamily="18" charset="0"/>
                <a:ea typeface="宋体" panose="02010600030101010101" pitchFamily="2" charset="-122"/>
              </a:rPr>
              <a:t>c</a:t>
            </a:r>
            <a:r>
              <a:rPr lang="zh-CN" altLang="zh-CN" sz="2400" dirty="0">
                <a:solidFill>
                  <a:schemeClr val="tx2"/>
                </a:solidFill>
                <a:latin typeface="黑体" panose="02010609060101010101" pitchFamily="49" charset="-122"/>
                <a:ea typeface="黑体" panose="02010609060101010101" pitchFamily="49" charset="-122"/>
              </a:rPr>
              <a:t>越大，切削宽度</a:t>
            </a:r>
            <a:r>
              <a:rPr lang="en-US" altLang="zh-CN" sz="2400" i="1" dirty="0">
                <a:solidFill>
                  <a:schemeClr val="tx2"/>
                </a:solidFill>
                <a:latin typeface="Times New Roman" panose="02020603050405020304" pitchFamily="18" charset="0"/>
                <a:ea typeface="宋体" panose="02010600030101010101" pitchFamily="2" charset="-122"/>
              </a:rPr>
              <a:t>a</a:t>
            </a:r>
            <a:r>
              <a:rPr lang="en-US" altLang="zh-CN" sz="2400" baseline="-25000" dirty="0">
                <a:solidFill>
                  <a:schemeClr val="tx2"/>
                </a:solidFill>
                <a:latin typeface="Times New Roman" panose="02020603050405020304" pitchFamily="18" charset="0"/>
                <a:ea typeface="宋体" panose="02010600030101010101" pitchFamily="2" charset="-122"/>
              </a:rPr>
              <a:t>w</a:t>
            </a:r>
            <a:r>
              <a:rPr lang="zh-CN" altLang="zh-CN" sz="2400" dirty="0">
                <a:solidFill>
                  <a:schemeClr val="tx2"/>
                </a:solidFill>
                <a:latin typeface="黑体" panose="02010609060101010101" pitchFamily="49" charset="-122"/>
                <a:ea typeface="黑体" panose="02010609060101010101" pitchFamily="49" charset="-122"/>
              </a:rPr>
              <a:t>越小，当</a:t>
            </a:r>
            <a:r>
              <a:rPr lang="en-US" altLang="zh-CN" sz="2400" i="1" dirty="0">
                <a:solidFill>
                  <a:schemeClr val="tx2"/>
                </a:solidFill>
                <a:latin typeface="Times New Roman" panose="02020603050405020304" pitchFamily="18" charset="0"/>
                <a:ea typeface="黑体" panose="02010609060101010101" pitchFamily="49" charset="-122"/>
              </a:rPr>
              <a:t>κ</a:t>
            </a:r>
            <a:r>
              <a:rPr lang="en-US" altLang="zh-CN" sz="2400" baseline="-25000" dirty="0">
                <a:solidFill>
                  <a:schemeClr val="tx2"/>
                </a:solidFill>
                <a:latin typeface="Times New Roman" panose="02020603050405020304" pitchFamily="18" charset="0"/>
                <a:ea typeface="黑体" panose="02010609060101010101" pitchFamily="49" charset="-122"/>
              </a:rPr>
              <a:t>r</a:t>
            </a:r>
            <a:r>
              <a:rPr lang="en-US" altLang="zh-CN" sz="2400" dirty="0">
                <a:solidFill>
                  <a:schemeClr val="tx2"/>
                </a:solidFill>
                <a:latin typeface="Times New Roman" panose="02020603050405020304" pitchFamily="18" charset="0"/>
                <a:ea typeface="黑体" panose="02010609060101010101" pitchFamily="49" charset="-122"/>
              </a:rPr>
              <a:t>=90°</a:t>
            </a:r>
            <a:r>
              <a:rPr lang="zh-CN" altLang="zh-CN" sz="2400" dirty="0">
                <a:solidFill>
                  <a:schemeClr val="tx2"/>
                </a:solidFill>
                <a:latin typeface="黑体" panose="02010609060101010101" pitchFamily="49" charset="-122"/>
                <a:ea typeface="黑体" panose="02010609060101010101" pitchFamily="49" charset="-122"/>
              </a:rPr>
              <a:t>时， </a:t>
            </a:r>
            <a:r>
              <a:rPr lang="en-US" altLang="zh-CN" sz="2400" i="1" dirty="0">
                <a:solidFill>
                  <a:schemeClr val="tx2"/>
                </a:solidFill>
                <a:latin typeface="Times New Roman" panose="02020603050405020304" pitchFamily="18" charset="0"/>
                <a:ea typeface="宋体" panose="02010600030101010101" pitchFamily="2" charset="-122"/>
              </a:rPr>
              <a:t>a</a:t>
            </a:r>
            <a:r>
              <a:rPr lang="en-US" altLang="zh-CN" sz="2400" baseline="-25000" dirty="0">
                <a:solidFill>
                  <a:schemeClr val="tx2"/>
                </a:solidFill>
                <a:latin typeface="Times New Roman" panose="02020603050405020304" pitchFamily="18" charset="0"/>
                <a:ea typeface="宋体" panose="02010600030101010101" pitchFamily="2" charset="-122"/>
              </a:rPr>
              <a:t>c</a:t>
            </a:r>
            <a:r>
              <a:rPr lang="zh-CN" altLang="zh-CN"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黑体" panose="02010609060101010101" pitchFamily="49" charset="-122"/>
              </a:rPr>
              <a:t>=</a:t>
            </a:r>
            <a:r>
              <a:rPr lang="en-US" altLang="zh-CN" sz="2400" i="1" dirty="0">
                <a:solidFill>
                  <a:schemeClr val="tx2"/>
                </a:solidFill>
                <a:latin typeface="Times New Roman" panose="02020603050405020304" pitchFamily="18" charset="0"/>
                <a:ea typeface="黑体" panose="02010609060101010101" pitchFamily="49" charset="-122"/>
              </a:rPr>
              <a:t>f</a:t>
            </a:r>
            <a:r>
              <a:rPr lang="zh-CN" altLang="zh-CN" sz="2400" dirty="0">
                <a:solidFill>
                  <a:schemeClr val="tx2"/>
                </a:solidFill>
                <a:latin typeface="黑体" panose="02010609060101010101" pitchFamily="49" charset="-122"/>
                <a:ea typeface="黑体" panose="02010609060101010101" pitchFamily="49" charset="-122"/>
              </a:rPr>
              <a:t>， </a:t>
            </a:r>
            <a:r>
              <a:rPr lang="en-US" altLang="zh-CN" sz="2400" i="1" dirty="0">
                <a:solidFill>
                  <a:schemeClr val="tx2"/>
                </a:solidFill>
                <a:latin typeface="Times New Roman" panose="02020603050405020304" pitchFamily="18" charset="0"/>
                <a:ea typeface="宋体" panose="02010600030101010101" pitchFamily="2" charset="-122"/>
              </a:rPr>
              <a:t>a</a:t>
            </a:r>
            <a:r>
              <a:rPr lang="en-US" altLang="zh-CN" sz="2400" baseline="-25000" dirty="0">
                <a:solidFill>
                  <a:schemeClr val="tx2"/>
                </a:solidFill>
                <a:latin typeface="Times New Roman" panose="02020603050405020304" pitchFamily="18" charset="0"/>
                <a:ea typeface="宋体" panose="02010600030101010101" pitchFamily="2" charset="-122"/>
              </a:rPr>
              <a:t>w</a:t>
            </a:r>
            <a:r>
              <a:rPr lang="en-US" altLang="zh-CN"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黑体" panose="02010609060101010101" pitchFamily="49" charset="-122"/>
              </a:rPr>
              <a:t>=</a:t>
            </a:r>
            <a:r>
              <a:rPr lang="en-US" altLang="zh-CN" sz="2400" i="1" dirty="0">
                <a:solidFill>
                  <a:schemeClr val="tx2"/>
                </a:solidFill>
                <a:latin typeface="Times New Roman" panose="02020603050405020304" pitchFamily="18" charset="0"/>
                <a:ea typeface="黑体" panose="02010609060101010101" pitchFamily="49" charset="-122"/>
              </a:rPr>
              <a:t>α</a:t>
            </a:r>
            <a:r>
              <a:rPr lang="en-US" altLang="zh-CN" sz="2400" baseline="-25000" dirty="0">
                <a:solidFill>
                  <a:schemeClr val="tx2"/>
                </a:solidFill>
                <a:latin typeface="Times New Roman" panose="02020603050405020304" pitchFamily="18" charset="0"/>
                <a:ea typeface="黑体" panose="02010609060101010101" pitchFamily="49" charset="-122"/>
              </a:rPr>
              <a:t>p</a:t>
            </a:r>
            <a:r>
              <a:rPr lang="zh-CN" altLang="zh-CN" sz="2400" dirty="0">
                <a:solidFill>
                  <a:schemeClr val="tx2"/>
                </a:solidFill>
                <a:latin typeface="黑体" panose="02010609060101010101" pitchFamily="49" charset="-122"/>
                <a:ea typeface="黑体" panose="02010609060101010101" pitchFamily="49" charset="-122"/>
              </a:rPr>
              <a:t>，切削层为一矩形。</a:t>
            </a:r>
            <a:endParaRPr lang="zh-CN" altLang="zh-CN" sz="2400" dirty="0">
              <a:solidFill>
                <a:schemeClr val="tx2"/>
              </a:solidFill>
              <a:latin typeface="黑体" panose="02010609060101010101" pitchFamily="49" charset="-122"/>
              <a:ea typeface="黑体" panose="02010609060101010101" pitchFamily="49" charset="-122"/>
            </a:endParaRPr>
          </a:p>
        </p:txBody>
      </p:sp>
      <p:sp>
        <p:nvSpPr>
          <p:cNvPr id="48130" name="Rectangle 3"/>
          <p:cNvSpPr>
            <a:spLocks noRot="1"/>
          </p:cNvSpPr>
          <p:nvPr/>
        </p:nvSpPr>
        <p:spPr>
          <a:xfrm>
            <a:off x="285750" y="2590800"/>
            <a:ext cx="8229600" cy="1600200"/>
          </a:xfrm>
          <a:prstGeom prst="rect">
            <a:avLst/>
          </a:prstGeom>
          <a:solidFill>
            <a:srgbClr val="FFFFFF"/>
          </a:solidFill>
          <a:ln w="9525">
            <a:noFill/>
          </a:ln>
        </p:spPr>
        <p:txBody>
          <a:bodyPr anchor="t" anchorCtr="0"/>
          <a:p>
            <a:pPr marL="342900" indent="-342900" eaLnBrk="0" hangingPunct="0">
              <a:lnSpc>
                <a:spcPct val="120000"/>
              </a:lnSpc>
              <a:spcBef>
                <a:spcPct val="20000"/>
              </a:spcBef>
              <a:buClr>
                <a:schemeClr val="hlink"/>
              </a:buClr>
              <a:buFont typeface="Wingdings" panose="05000000000000000000" pitchFamily="2" charset="2"/>
            </a:pPr>
            <a:r>
              <a:rPr lang="en-US" altLang="zh-CN" sz="2400" dirty="0">
                <a:latin typeface="黑体" panose="02010609060101010101" pitchFamily="49" charset="-122"/>
                <a:ea typeface="黑体" panose="02010609060101010101" pitchFamily="49" charset="-122"/>
              </a:rPr>
              <a:t>3.</a:t>
            </a:r>
            <a:r>
              <a:rPr lang="zh-CN" altLang="zh-CN" sz="2400" dirty="0">
                <a:latin typeface="黑体" panose="02010609060101010101" pitchFamily="49" charset="-122"/>
                <a:ea typeface="黑体" panose="02010609060101010101" pitchFamily="49" charset="-122"/>
              </a:rPr>
              <a:t>切削面积</a:t>
            </a:r>
            <a:r>
              <a:rPr lang="en-US" altLang="zh-CN" sz="2400" i="1" dirty="0">
                <a:latin typeface="Times New Roman" panose="02020603050405020304" pitchFamily="18" charset="0"/>
                <a:ea typeface="黑体" panose="02010609060101010101" pitchFamily="49" charset="-122"/>
              </a:rPr>
              <a:t>A</a:t>
            </a:r>
            <a:r>
              <a:rPr lang="en-US" altLang="zh-CN" sz="2400" baseline="-25000" dirty="0">
                <a:latin typeface="Times New Roman" panose="02020603050405020304" pitchFamily="18" charset="0"/>
                <a:ea typeface="黑体" panose="02010609060101010101" pitchFamily="49" charset="-122"/>
              </a:rPr>
              <a:t>c</a:t>
            </a:r>
            <a:r>
              <a:rPr lang="en-US" altLang="zh-CN" sz="2400" dirty="0">
                <a:latin typeface="黑体" panose="02010609060101010101" pitchFamily="49" charset="-122"/>
                <a:ea typeface="黑体" panose="02010609060101010101" pitchFamily="49" charset="-122"/>
              </a:rPr>
              <a:t>(</a:t>
            </a:r>
            <a:r>
              <a:rPr lang="zh-CN" altLang="zh-CN" sz="2400" dirty="0">
                <a:solidFill>
                  <a:srgbClr val="333399"/>
                </a:solidFill>
                <a:latin typeface="黑体" panose="02010609060101010101" pitchFamily="49" charset="-122"/>
                <a:ea typeface="黑体" panose="02010609060101010101" pitchFamily="49" charset="-122"/>
              </a:rPr>
              <a:t>切削层公称横截面积</a:t>
            </a:r>
            <a:r>
              <a:rPr lang="en-US" altLang="zh-CN" sz="2400" i="1" dirty="0">
                <a:solidFill>
                  <a:srgbClr val="333399"/>
                </a:solidFill>
                <a:latin typeface="Times New Roman" panose="02020603050405020304" pitchFamily="18" charset="0"/>
                <a:ea typeface="黑体" panose="02010609060101010101" pitchFamily="49" charset="-122"/>
              </a:rPr>
              <a:t>A</a:t>
            </a:r>
            <a:r>
              <a:rPr lang="en-US" altLang="zh-CN" sz="2400" baseline="-25000" dirty="0">
                <a:solidFill>
                  <a:srgbClr val="333399"/>
                </a:solidFill>
                <a:latin typeface="Times New Roman" panose="02020603050405020304" pitchFamily="18" charset="0"/>
                <a:ea typeface="黑体" panose="02010609060101010101" pitchFamily="49" charset="-122"/>
              </a:rPr>
              <a:t>D</a:t>
            </a:r>
            <a:r>
              <a:rPr lang="en-US" altLang="zh-CN" sz="2400" dirty="0">
                <a:latin typeface="黑体" panose="02010609060101010101" pitchFamily="49" charset="-122"/>
                <a:ea typeface="黑体" panose="02010609060101010101" pitchFamily="49" charset="-122"/>
              </a:rPr>
              <a:t> )</a:t>
            </a:r>
            <a:endParaRPr lang="en-US" altLang="zh-CN" sz="2400" dirty="0">
              <a:latin typeface="黑体" panose="02010609060101010101" pitchFamily="49" charset="-122"/>
              <a:ea typeface="黑体" panose="02010609060101010101" pitchFamily="49" charset="-122"/>
            </a:endParaRPr>
          </a:p>
          <a:p>
            <a:pPr marL="342900" indent="-342900" eaLnBrk="0" hangingPunct="0">
              <a:lnSpc>
                <a:spcPct val="120000"/>
              </a:lnSpc>
              <a:spcBef>
                <a:spcPct val="20000"/>
              </a:spcBef>
              <a:buClr>
                <a:schemeClr val="hlink"/>
              </a:buClr>
              <a:buFont typeface="Wingdings" panose="05000000000000000000" pitchFamily="2" charset="2"/>
            </a:pPr>
            <a:r>
              <a:rPr lang="zh-CN" altLang="zh-CN" sz="2400" dirty="0">
                <a:latin typeface="黑体" panose="02010609060101010101" pitchFamily="49" charset="-122"/>
                <a:ea typeface="黑体" panose="02010609060101010101" pitchFamily="49" charset="-122"/>
              </a:rPr>
              <a:t>  </a:t>
            </a:r>
            <a:endParaRPr lang="zh-CN" altLang="zh-CN" sz="2400" dirty="0">
              <a:latin typeface="黑体" panose="02010609060101010101" pitchFamily="49" charset="-122"/>
              <a:ea typeface="黑体" panose="02010609060101010101" pitchFamily="49" charset="-122"/>
            </a:endParaRPr>
          </a:p>
        </p:txBody>
      </p:sp>
      <p:sp>
        <p:nvSpPr>
          <p:cNvPr id="48131" name="Rectangle 4"/>
          <p:cNvSpPr/>
          <p:nvPr/>
        </p:nvSpPr>
        <p:spPr>
          <a:xfrm>
            <a:off x="0" y="2971800"/>
            <a:ext cx="9144000" cy="0"/>
          </a:xfrm>
          <a:prstGeom prst="rect">
            <a:avLst/>
          </a:prstGeom>
          <a:noFill/>
          <a:ln w="9525">
            <a:noFill/>
          </a:ln>
        </p:spPr>
        <p:txBody>
          <a:bodyPr wrap="none" anchor="ctr" anchorCtr="0">
            <a:spAutoFit/>
          </a:bodyPr>
          <a:p>
            <a:pPr eaLnBrk="0" hangingPunct="0"/>
            <a:endParaRPr lang="zh-CN" altLang="en-US" dirty="0">
              <a:latin typeface="Arial" panose="020B0604020202020204" pitchFamily="34" charset="0"/>
              <a:ea typeface="宋体" panose="02010600030101010101" pitchFamily="2" charset="-122"/>
            </a:endParaRPr>
          </a:p>
        </p:txBody>
      </p:sp>
      <p:sp>
        <p:nvSpPr>
          <p:cNvPr id="12293" name="Rectangle 3"/>
          <p:cNvSpPr>
            <a:spLocks noRot="1"/>
          </p:cNvSpPr>
          <p:nvPr/>
        </p:nvSpPr>
        <p:spPr>
          <a:xfrm>
            <a:off x="285750" y="3124200"/>
            <a:ext cx="8215313" cy="1524000"/>
          </a:xfrm>
          <a:prstGeom prst="rect">
            <a:avLst/>
          </a:prstGeom>
          <a:solidFill>
            <a:srgbClr val="FFFFFF"/>
          </a:solidFill>
          <a:ln w="9525">
            <a:noFill/>
          </a:ln>
        </p:spPr>
        <p:txBody>
          <a:bodyPr anchor="t" anchorCtr="0"/>
          <a:p>
            <a:pPr marL="342900" indent="-342900" eaLnBrk="0" hangingPunct="0">
              <a:lnSpc>
                <a:spcPct val="120000"/>
              </a:lnSpc>
              <a:spcBef>
                <a:spcPct val="20000"/>
              </a:spcBef>
              <a:buClr>
                <a:schemeClr val="hlink"/>
              </a:buClr>
              <a:buFont typeface="Wingdings" panose="05000000000000000000" pitchFamily="2" charset="2"/>
            </a:pPr>
            <a:r>
              <a:rPr lang="zh-CN" altLang="zh-CN" sz="2400" dirty="0">
                <a:latin typeface="黑体" panose="02010609060101010101" pitchFamily="49" charset="-122"/>
                <a:ea typeface="黑体" panose="02010609060101010101" pitchFamily="49" charset="-122"/>
              </a:rPr>
              <a:t>   </a:t>
            </a:r>
            <a:r>
              <a:rPr lang="zh-CN" altLang="zh-CN" sz="2400" dirty="0">
                <a:solidFill>
                  <a:schemeClr val="tx2"/>
                </a:solidFill>
                <a:latin typeface="黑体" panose="02010609060101010101" pitchFamily="49" charset="-122"/>
                <a:ea typeface="黑体" panose="02010609060101010101" pitchFamily="49" charset="-122"/>
              </a:rPr>
              <a:t>过主切削刃上选定点，在基面内测量的切削层横</a:t>
            </a:r>
            <a:endParaRPr lang="zh-CN" altLang="zh-CN" sz="2400" dirty="0">
              <a:solidFill>
                <a:schemeClr val="tx2"/>
              </a:solidFill>
              <a:latin typeface="黑体" panose="02010609060101010101" pitchFamily="49" charset="-122"/>
              <a:ea typeface="黑体" panose="02010609060101010101" pitchFamily="49" charset="-122"/>
            </a:endParaRPr>
          </a:p>
          <a:p>
            <a:pPr marL="342900" indent="-342900" eaLnBrk="0" hangingPunct="0">
              <a:lnSpc>
                <a:spcPct val="120000"/>
              </a:lnSpc>
              <a:spcBef>
                <a:spcPct val="20000"/>
              </a:spcBef>
              <a:buClr>
                <a:schemeClr val="hlink"/>
              </a:buClr>
              <a:buFont typeface="Wingdings" panose="05000000000000000000" pitchFamily="2" charset="2"/>
            </a:pPr>
            <a:r>
              <a:rPr lang="zh-CN" altLang="zh-CN" sz="2400" dirty="0">
                <a:solidFill>
                  <a:schemeClr val="tx2"/>
                </a:solidFill>
                <a:latin typeface="黑体" panose="02010609060101010101" pitchFamily="49" charset="-122"/>
                <a:ea typeface="黑体" panose="02010609060101010101" pitchFamily="49" charset="-122"/>
              </a:rPr>
              <a:t>截面面积，单位为</a:t>
            </a:r>
            <a:r>
              <a:rPr lang="en-US" altLang="zh-CN" sz="2400" dirty="0">
                <a:solidFill>
                  <a:schemeClr val="tx2"/>
                </a:solidFill>
                <a:latin typeface="Times New Roman" panose="02020603050405020304" pitchFamily="18" charset="0"/>
                <a:ea typeface="黑体" panose="02010609060101010101" pitchFamily="49" charset="-122"/>
              </a:rPr>
              <a:t>mm</a:t>
            </a:r>
            <a:r>
              <a:rPr lang="en-US" altLang="zh-CN" sz="2400" baseline="30000" dirty="0">
                <a:solidFill>
                  <a:schemeClr val="tx2"/>
                </a:solidFill>
                <a:latin typeface="Times New Roman" panose="02020603050405020304" pitchFamily="18" charset="0"/>
                <a:ea typeface="黑体" panose="02010609060101010101" pitchFamily="49" charset="-122"/>
              </a:rPr>
              <a:t>2</a:t>
            </a:r>
            <a:r>
              <a:rPr lang="zh-CN" altLang="zh-CN" sz="2400" dirty="0">
                <a:solidFill>
                  <a:schemeClr val="tx2"/>
                </a:solidFill>
                <a:latin typeface="黑体" panose="02010609060101010101" pitchFamily="49" charset="-122"/>
                <a:ea typeface="黑体" panose="02010609060101010101" pitchFamily="49" charset="-122"/>
              </a:rPr>
              <a:t>。</a:t>
            </a:r>
            <a:endParaRPr lang="zh-CN" altLang="zh-CN" sz="2400" dirty="0">
              <a:solidFill>
                <a:schemeClr val="tx2"/>
              </a:solidFill>
              <a:latin typeface="黑体" panose="02010609060101010101" pitchFamily="49" charset="-122"/>
              <a:ea typeface="黑体" panose="02010609060101010101" pitchFamily="49" charset="-122"/>
            </a:endParaRPr>
          </a:p>
        </p:txBody>
      </p:sp>
      <p:pic>
        <p:nvPicPr>
          <p:cNvPr id="12296" name="Picture 8"/>
          <p:cNvPicPr>
            <a:picLocks noChangeAspect="1"/>
          </p:cNvPicPr>
          <p:nvPr/>
        </p:nvPicPr>
        <p:blipFill>
          <a:blip r:embed="rId1"/>
          <a:srcRect l="49355" t="11032" b="26653"/>
          <a:stretch>
            <a:fillRect/>
          </a:stretch>
        </p:blipFill>
        <p:spPr>
          <a:xfrm>
            <a:off x="4070350" y="3652838"/>
            <a:ext cx="5073650" cy="3205162"/>
          </a:xfrm>
          <a:prstGeom prst="rect">
            <a:avLst/>
          </a:prstGeom>
          <a:noFill/>
          <a:ln w="9525">
            <a:noFill/>
          </a:ln>
        </p:spPr>
      </p:pic>
      <p:graphicFrame>
        <p:nvGraphicFramePr>
          <p:cNvPr id="12297" name="Object 2"/>
          <p:cNvGraphicFramePr>
            <a:graphicFrameLocks noChangeAspect="1"/>
          </p:cNvGraphicFramePr>
          <p:nvPr/>
        </p:nvGraphicFramePr>
        <p:xfrm>
          <a:off x="785813" y="5357813"/>
          <a:ext cx="2546350" cy="612775"/>
        </p:xfrm>
        <a:graphic>
          <a:graphicData uri="http://schemas.openxmlformats.org/presentationml/2006/ole">
            <mc:AlternateContent xmlns:mc="http://schemas.openxmlformats.org/markup-compatibility/2006">
              <mc:Choice xmlns:v="urn:schemas-microsoft-com:vml" Requires="v">
                <p:oleObj spid="_x0000_s3087" name="" r:id="rId2" imgW="940435" imgH="228600" progId="Equation.3">
                  <p:embed/>
                </p:oleObj>
              </mc:Choice>
              <mc:Fallback>
                <p:oleObj name="" r:id="rId2" imgW="940435" imgH="228600" progId="Equation.3">
                  <p:embed/>
                  <p:pic>
                    <p:nvPicPr>
                      <p:cNvPr id="0" name="图片 3086"/>
                      <p:cNvPicPr/>
                      <p:nvPr/>
                    </p:nvPicPr>
                    <p:blipFill>
                      <a:blip r:embed="rId3"/>
                      <a:stretch>
                        <a:fillRect/>
                      </a:stretch>
                    </p:blipFill>
                    <p:spPr>
                      <a:xfrm>
                        <a:off x="785813" y="5357813"/>
                        <a:ext cx="2546350" cy="612775"/>
                      </a:xfrm>
                      <a:prstGeom prst="rect">
                        <a:avLst/>
                      </a:prstGeom>
                      <a:noFill/>
                      <a:ln w="38100">
                        <a:noFill/>
                        <a:miter/>
                      </a:ln>
                    </p:spPr>
                  </p:pic>
                </p:oleObj>
              </mc:Fallback>
            </mc:AlternateContent>
          </a:graphicData>
        </a:graphic>
      </p:graphicFrame>
      <p:sp>
        <p:nvSpPr>
          <p:cNvPr id="48135" name="Line 10"/>
          <p:cNvSpPr/>
          <p:nvPr/>
        </p:nvSpPr>
        <p:spPr>
          <a:xfrm>
            <a:off x="6572250" y="4500563"/>
            <a:ext cx="304800" cy="304800"/>
          </a:xfrm>
          <a:prstGeom prst="line">
            <a:avLst/>
          </a:prstGeom>
          <a:ln w="38100" cap="flat" cmpd="sng">
            <a:solidFill>
              <a:srgbClr val="FF0000"/>
            </a:solidFill>
            <a:prstDash val="solid"/>
            <a:round/>
            <a:headEnd type="none" w="med" len="med"/>
            <a:tailEnd type="none" w="med" len="med"/>
          </a:ln>
        </p:spPr>
      </p:sp>
      <p:sp>
        <p:nvSpPr>
          <p:cNvPr id="12299" name="Rectangle 11"/>
          <p:cNvSpPr/>
          <p:nvPr/>
        </p:nvSpPr>
        <p:spPr>
          <a:xfrm>
            <a:off x="3048000" y="228600"/>
            <a:ext cx="3200400" cy="646113"/>
          </a:xfrm>
          <a:prstGeom prst="rect">
            <a:avLst/>
          </a:prstGeom>
          <a:noFill/>
          <a:ln w="9525">
            <a:noFill/>
          </a:ln>
        </p:spPr>
        <p:txBody>
          <a:bodyPr anchor="t" anchorCtr="0">
            <a:spAutoFit/>
          </a:bodyPr>
          <a:p>
            <a:pPr eaLnBrk="0" hangingPunct="0"/>
            <a:r>
              <a:rPr lang="zh-CN" altLang="zh-CN" sz="3600" dirty="0">
                <a:solidFill>
                  <a:srgbClr val="CC0066"/>
                </a:solidFill>
                <a:latin typeface="Arial" panose="020B0604020202020204" pitchFamily="34" charset="0"/>
                <a:ea typeface="黑体" panose="02010609060101010101" pitchFamily="49" charset="-122"/>
              </a:rPr>
              <a:t>切削层参数</a:t>
            </a:r>
            <a:endParaRPr lang="zh-CN" altLang="zh-CN" sz="3600" dirty="0">
              <a:solidFill>
                <a:srgbClr val="CC0066"/>
              </a:solidFill>
              <a:latin typeface="Arial" panose="020B0604020202020204" pitchFamily="34" charset="0"/>
              <a:ea typeface="黑体" panose="02010609060101010101" pitchFamily="49"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9"/>
                                        </p:tgtEl>
                                        <p:attrNameLst>
                                          <p:attrName>style.visibility</p:attrName>
                                        </p:attrNameLst>
                                      </p:cBhvr>
                                      <p:to>
                                        <p:strVal val="visible"/>
                                      </p:to>
                                    </p:set>
                                    <p:anim calcmode="lin" valueType="num">
                                      <p:cBhvr additive="base">
                                        <p:cTn id="7" dur="500" fill="hold"/>
                                        <p:tgtEl>
                                          <p:spTgt spid="12299"/>
                                        </p:tgtEl>
                                        <p:attrNameLst>
                                          <p:attrName>ppt_x</p:attrName>
                                        </p:attrNameLst>
                                      </p:cBhvr>
                                      <p:tavLst>
                                        <p:tav tm="0">
                                          <p:val>
                                            <p:strVal val="#ppt_x"/>
                                          </p:val>
                                        </p:tav>
                                        <p:tav tm="100000">
                                          <p:val>
                                            <p:strVal val="#ppt_x"/>
                                          </p:val>
                                        </p:tav>
                                      </p:tavLst>
                                    </p:anim>
                                    <p:anim calcmode="lin" valueType="num">
                                      <p:cBhvr additive="base">
                                        <p:cTn id="8" dur="500" fill="hold"/>
                                        <p:tgtEl>
                                          <p:spTgt spid="12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90">
                                            <p:txEl>
                                              <p:charRg st="0" end="77"/>
                                            </p:txEl>
                                          </p:spTgt>
                                        </p:tgtEl>
                                        <p:attrNameLst>
                                          <p:attrName>style.visibility</p:attrName>
                                        </p:attrNameLst>
                                      </p:cBhvr>
                                      <p:to>
                                        <p:strVal val="visible"/>
                                      </p:to>
                                    </p:set>
                                    <p:anim calcmode="lin" valueType="num">
                                      <p:cBhvr additive="base">
                                        <p:cTn id="13" dur="500" fill="hold"/>
                                        <p:tgtEl>
                                          <p:spTgt spid="12290">
                                            <p:txEl>
                                              <p:charRg st="0"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0">
                                            <p:txEl>
                                              <p:charRg st="0" end="7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293">
                                            <p:txEl>
                                              <p:charRg st="0" end="25"/>
                                            </p:txEl>
                                          </p:spTgt>
                                        </p:tgtEl>
                                        <p:attrNameLst>
                                          <p:attrName>style.visibility</p:attrName>
                                        </p:attrNameLst>
                                      </p:cBhvr>
                                      <p:to>
                                        <p:strVal val="visible"/>
                                      </p:to>
                                    </p:set>
                                    <p:anim calcmode="lin" valueType="num">
                                      <p:cBhvr additive="base">
                                        <p:cTn id="19" dur="500" fill="hold"/>
                                        <p:tgtEl>
                                          <p:spTgt spid="12293">
                                            <p:txEl>
                                              <p:charRg st="0" end="2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3">
                                            <p:txEl>
                                              <p:charRg st="0" end="2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293">
                                            <p:txEl>
                                              <p:charRg st="0" end="25"/>
                                            </p:txEl>
                                          </p:spTgt>
                                        </p:tgtEl>
                                        <p:attrNameLst>
                                          <p:attrName>style.visibility</p:attrName>
                                        </p:attrNameLst>
                                      </p:cBhvr>
                                      <p:to>
                                        <p:strVal val="visible"/>
                                      </p:to>
                                    </p:set>
                                    <p:anim calcmode="lin" valueType="num">
                                      <p:cBhvr additive="base">
                                        <p:cTn id="25" dur="500" fill="hold"/>
                                        <p:tgtEl>
                                          <p:spTgt spid="12293">
                                            <p:txEl>
                                              <p:charRg st="0" end="2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3">
                                            <p:txEl>
                                              <p:charRg st="0" end="2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297"/>
                                        </p:tgtEl>
                                        <p:attrNameLst>
                                          <p:attrName>style.visibility</p:attrName>
                                        </p:attrNameLst>
                                      </p:cBhvr>
                                      <p:to>
                                        <p:strVal val="visible"/>
                                      </p:to>
                                    </p:set>
                                    <p:anim calcmode="lin" valueType="num">
                                      <p:cBhvr additive="base">
                                        <p:cTn id="31" dur="500" fill="hold"/>
                                        <p:tgtEl>
                                          <p:spTgt spid="12297"/>
                                        </p:tgtEl>
                                        <p:attrNameLst>
                                          <p:attrName>ppt_x</p:attrName>
                                        </p:attrNameLst>
                                      </p:cBhvr>
                                      <p:tavLst>
                                        <p:tav tm="0">
                                          <p:val>
                                            <p:strVal val="#ppt_x"/>
                                          </p:val>
                                        </p:tav>
                                        <p:tav tm="100000">
                                          <p:val>
                                            <p:strVal val="#ppt_x"/>
                                          </p:val>
                                        </p:tav>
                                      </p:tavLst>
                                    </p:anim>
                                    <p:anim calcmode="lin" valueType="num">
                                      <p:cBhvr additive="base">
                                        <p:cTn id="32" dur="5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296"/>
                                        </p:tgtEl>
                                        <p:attrNameLst>
                                          <p:attrName>style.visibility</p:attrName>
                                        </p:attrNameLst>
                                      </p:cBhvr>
                                      <p:to>
                                        <p:strVal val="visible"/>
                                      </p:to>
                                    </p:set>
                                    <p:anim calcmode="lin" valueType="num">
                                      <p:cBhvr additive="base">
                                        <p:cTn id="37" dur="500" fill="hold"/>
                                        <p:tgtEl>
                                          <p:spTgt spid="12296"/>
                                        </p:tgtEl>
                                        <p:attrNameLst>
                                          <p:attrName>ppt_x</p:attrName>
                                        </p:attrNameLst>
                                      </p:cBhvr>
                                      <p:tavLst>
                                        <p:tav tm="0">
                                          <p:val>
                                            <p:strVal val="#ppt_x"/>
                                          </p:val>
                                        </p:tav>
                                        <p:tav tm="100000">
                                          <p:val>
                                            <p:strVal val="#ppt_x"/>
                                          </p:val>
                                        </p:tav>
                                      </p:tavLst>
                                    </p:anim>
                                    <p:anim calcmode="lin" valueType="num">
                                      <p:cBhvr additive="base">
                                        <p:cTn id="38" dur="500" fill="hold"/>
                                        <p:tgtEl>
                                          <p:spTgt spid="122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3"/>
          <p:cNvSpPr/>
          <p:nvPr/>
        </p:nvSpPr>
        <p:spPr>
          <a:xfrm>
            <a:off x="322263" y="1449388"/>
            <a:ext cx="4537075" cy="4894262"/>
          </a:xfrm>
          <a:prstGeom prst="rect">
            <a:avLst/>
          </a:prstGeom>
          <a:noFill/>
          <a:ln w="9525">
            <a:noFill/>
          </a:ln>
        </p:spPr>
        <p:txBody>
          <a:bodyPr anchor="ctr" anchorCtr="0">
            <a:spAutoFit/>
          </a:bodyPr>
          <a:p>
            <a:pPr indent="259080">
              <a:buFont typeface="Wingdings" panose="05000000000000000000" pitchFamily="2" charset="2"/>
              <a:buChar char="Ø"/>
            </a:pPr>
            <a:r>
              <a:rPr lang="zh-CN" altLang="en-US" sz="2400" b="1" dirty="0">
                <a:solidFill>
                  <a:srgbClr val="00CC00"/>
                </a:solidFill>
                <a:latin typeface="楷体_GB2312"/>
                <a:ea typeface="楷体_GB2312"/>
              </a:rPr>
              <a:t>刀具材料</a:t>
            </a:r>
            <a:endParaRPr lang="zh-CN" altLang="en-US" sz="2400" b="1" dirty="0">
              <a:solidFill>
                <a:srgbClr val="00CC00"/>
              </a:solidFill>
              <a:latin typeface="楷体_GB2312"/>
              <a:ea typeface="楷体_GB2312"/>
            </a:endParaRPr>
          </a:p>
          <a:p>
            <a:pPr indent="259080">
              <a:buFont typeface="Wingdings" panose="05000000000000000000" pitchFamily="2" charset="2"/>
            </a:pPr>
            <a:r>
              <a:rPr lang="zh-CN" altLang="en-US" sz="2400" b="1" dirty="0">
                <a:latin typeface="楷体_GB2312"/>
                <a:ea typeface="楷体_GB2312"/>
              </a:rPr>
              <a:t>  </a:t>
            </a:r>
            <a:r>
              <a:rPr lang="zh-CN" altLang="en-US" sz="2400" b="1" dirty="0">
                <a:solidFill>
                  <a:srgbClr val="000000"/>
                </a:solidFill>
                <a:latin typeface="楷体_GB2312"/>
                <a:ea typeface="楷体_GB2312"/>
              </a:rPr>
              <a:t>刀具材料是指切削部分的材料。它在高温下工作，并要承受较大的压力，摩擦，冲击和振动等，需具备以下基本性能要求。</a:t>
            </a:r>
            <a:r>
              <a:rPr lang="zh-CN" altLang="en-US" sz="2400" b="1" dirty="0">
                <a:latin typeface="楷体_GB2312"/>
                <a:ea typeface="楷体_GB2312"/>
              </a:rPr>
              <a:t> </a:t>
            </a:r>
            <a:endParaRPr lang="zh-CN" altLang="en-US" sz="2400" b="1" dirty="0">
              <a:solidFill>
                <a:srgbClr val="FF0000"/>
              </a:solidFill>
              <a:latin typeface="楷体_GB2312"/>
              <a:ea typeface="楷体_GB2312"/>
            </a:endParaRPr>
          </a:p>
          <a:p>
            <a:pPr indent="259080"/>
            <a:r>
              <a:rPr lang="en-US" altLang="zh-CN" sz="2400" b="1" dirty="0">
                <a:solidFill>
                  <a:srgbClr val="FF3300"/>
                </a:solidFill>
                <a:latin typeface="楷体_GB2312"/>
                <a:ea typeface="楷体_GB2312"/>
              </a:rPr>
              <a:t>1</a:t>
            </a:r>
            <a:r>
              <a:rPr lang="zh-CN" altLang="en-US" sz="2400" b="1" dirty="0">
                <a:solidFill>
                  <a:srgbClr val="FF3300"/>
                </a:solidFill>
                <a:latin typeface="楷体_GB2312"/>
                <a:ea typeface="楷体_GB2312"/>
              </a:rPr>
              <a:t>．对刀具材料的性能要求：</a:t>
            </a:r>
            <a:endParaRPr lang="zh-CN" altLang="en-US" sz="2400" b="1" dirty="0">
              <a:solidFill>
                <a:srgbClr val="FF33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1</a:t>
            </a:r>
            <a:r>
              <a:rPr lang="zh-CN" altLang="en-US" sz="2400" b="1" dirty="0">
                <a:solidFill>
                  <a:srgbClr val="CC3300"/>
                </a:solidFill>
                <a:latin typeface="楷体_GB2312"/>
                <a:ea typeface="楷体_GB2312"/>
              </a:rPr>
              <a:t>）较高的硬度。</a:t>
            </a:r>
            <a:r>
              <a:rPr lang="zh-CN" altLang="en-US" sz="2400" b="1" dirty="0">
                <a:solidFill>
                  <a:srgbClr val="000000"/>
                </a:solidFill>
                <a:latin typeface="楷体_GB2312"/>
                <a:ea typeface="楷体_GB2312"/>
              </a:rPr>
              <a:t>刀具材料的硬度必须高于工件的硬度，常温硬度一般在</a:t>
            </a:r>
            <a:r>
              <a:rPr lang="en-US" altLang="zh-CN" sz="2400" b="1" dirty="0">
                <a:solidFill>
                  <a:srgbClr val="000000"/>
                </a:solidFill>
                <a:latin typeface="楷体_GB2312"/>
                <a:ea typeface="楷体_GB2312"/>
              </a:rPr>
              <a:t>60HRC</a:t>
            </a:r>
            <a:r>
              <a:rPr lang="zh-CN" altLang="en-US" sz="2400" b="1" dirty="0">
                <a:solidFill>
                  <a:srgbClr val="000000"/>
                </a:solidFill>
                <a:latin typeface="楷体_GB2312"/>
                <a:ea typeface="楷体_GB2312"/>
              </a:rPr>
              <a:t>以上。</a:t>
            </a:r>
            <a:endParaRPr lang="zh-CN" altLang="en-US" sz="2400" b="1" dirty="0">
              <a:solidFill>
                <a:srgbClr val="0000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2</a:t>
            </a:r>
            <a:r>
              <a:rPr lang="zh-CN" altLang="en-US" sz="2400" b="1" dirty="0">
                <a:solidFill>
                  <a:srgbClr val="CC3300"/>
                </a:solidFill>
                <a:latin typeface="楷体_GB2312"/>
                <a:ea typeface="楷体_GB2312"/>
              </a:rPr>
              <a:t>）足够的强度和韧性。</a:t>
            </a:r>
            <a:endParaRPr lang="zh-CN" altLang="en-US" sz="2400" b="1" dirty="0">
              <a:solidFill>
                <a:srgbClr val="CC33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3</a:t>
            </a:r>
            <a:r>
              <a:rPr lang="zh-CN" altLang="en-US" sz="2400" b="1" dirty="0">
                <a:solidFill>
                  <a:srgbClr val="CC3300"/>
                </a:solidFill>
                <a:latin typeface="楷体_GB2312"/>
                <a:ea typeface="楷体_GB2312"/>
              </a:rPr>
              <a:t>）良好的耐磨性。</a:t>
            </a:r>
            <a:endParaRPr lang="zh-CN" altLang="en-US" sz="2400" b="1" dirty="0">
              <a:solidFill>
                <a:srgbClr val="CC33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4</a:t>
            </a:r>
            <a:r>
              <a:rPr lang="zh-CN" altLang="en-US" sz="2400" b="1" dirty="0">
                <a:solidFill>
                  <a:srgbClr val="CC3300"/>
                </a:solidFill>
                <a:latin typeface="楷体_GB2312"/>
                <a:ea typeface="楷体_GB2312"/>
              </a:rPr>
              <a:t>）较高的耐热性。</a:t>
            </a:r>
            <a:endParaRPr lang="zh-CN" altLang="en-US" sz="2400" b="1" dirty="0">
              <a:solidFill>
                <a:srgbClr val="CC33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5</a:t>
            </a:r>
            <a:r>
              <a:rPr lang="zh-CN" altLang="en-US" sz="2400" b="1" dirty="0">
                <a:solidFill>
                  <a:srgbClr val="CC3300"/>
                </a:solidFill>
                <a:latin typeface="楷体_GB2312"/>
                <a:ea typeface="楷体_GB2312"/>
              </a:rPr>
              <a:t>）较好的工艺性。</a:t>
            </a:r>
            <a:endParaRPr lang="zh-CN" altLang="en-US" sz="2400" b="1" dirty="0">
              <a:solidFill>
                <a:srgbClr val="CC3300"/>
              </a:solidFill>
              <a:latin typeface="楷体_GB2312"/>
              <a:ea typeface="楷体_GB2312"/>
            </a:endParaRPr>
          </a:p>
        </p:txBody>
      </p:sp>
      <p:pic>
        <p:nvPicPr>
          <p:cNvPr id="1437700" name="Picture 4" descr="Image00522"/>
          <p:cNvPicPr>
            <a:picLocks noChangeAspect="1"/>
          </p:cNvPicPr>
          <p:nvPr/>
        </p:nvPicPr>
        <p:blipFill>
          <a:blip r:embed="rId1">
            <a:lum bright="6000"/>
          </a:blip>
          <a:stretch>
            <a:fillRect/>
          </a:stretch>
        </p:blipFill>
        <p:spPr>
          <a:xfrm>
            <a:off x="5148263" y="4222750"/>
            <a:ext cx="3671887" cy="2446338"/>
          </a:xfrm>
          <a:prstGeom prst="rect">
            <a:avLst/>
          </a:prstGeom>
          <a:noFill/>
          <a:ln w="9525">
            <a:noFill/>
          </a:ln>
        </p:spPr>
      </p:pic>
      <p:pic>
        <p:nvPicPr>
          <p:cNvPr id="1437701" name="Picture 5" descr="照 040921-1 (10)"/>
          <p:cNvPicPr>
            <a:picLocks noChangeAspect="1"/>
          </p:cNvPicPr>
          <p:nvPr/>
        </p:nvPicPr>
        <p:blipFill>
          <a:blip r:embed="rId2"/>
          <a:stretch>
            <a:fillRect/>
          </a:stretch>
        </p:blipFill>
        <p:spPr>
          <a:xfrm>
            <a:off x="5148263" y="1449388"/>
            <a:ext cx="3671887" cy="2754312"/>
          </a:xfrm>
          <a:prstGeom prst="rect">
            <a:avLst/>
          </a:prstGeom>
          <a:noFill/>
          <a:ln w="9525">
            <a:noFill/>
          </a:ln>
        </p:spPr>
      </p:pic>
      <p:sp>
        <p:nvSpPr>
          <p:cNvPr id="49156"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37701"/>
                                        </p:tgtEl>
                                        <p:attrNameLst>
                                          <p:attrName>style.visibility</p:attrName>
                                        </p:attrNameLst>
                                      </p:cBhvr>
                                      <p:to>
                                        <p:strVal val="visible"/>
                                      </p:to>
                                    </p:set>
                                    <p:animEffect transition="in" filter="randombar(horizontal)">
                                      <p:cBhvr>
                                        <p:cTn id="7" dur="500"/>
                                        <p:tgtEl>
                                          <p:spTgt spid="143770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437700"/>
                                        </p:tgtEl>
                                        <p:attrNameLst>
                                          <p:attrName>style.visibility</p:attrName>
                                        </p:attrNameLst>
                                      </p:cBhvr>
                                      <p:to>
                                        <p:strVal val="visible"/>
                                      </p:to>
                                    </p:set>
                                    <p:animEffect transition="in" filter="circle(in)">
                                      <p:cBhvr>
                                        <p:cTn id="12" dur="2000"/>
                                        <p:tgtEl>
                                          <p:spTgt spid="1437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3"/>
          <p:cNvSpPr/>
          <p:nvPr/>
        </p:nvSpPr>
        <p:spPr>
          <a:xfrm>
            <a:off x="107950" y="1196975"/>
            <a:ext cx="8785225" cy="4108450"/>
          </a:xfrm>
          <a:prstGeom prst="rect">
            <a:avLst/>
          </a:prstGeom>
          <a:noFill/>
          <a:ln w="9525">
            <a:noFill/>
          </a:ln>
        </p:spPr>
        <p:txBody>
          <a:bodyPr anchor="ctr" anchorCtr="0">
            <a:spAutoFit/>
          </a:bodyPr>
          <a:p>
            <a:pPr indent="259080">
              <a:buFont typeface="Wingdings" panose="05000000000000000000" pitchFamily="2" charset="2"/>
              <a:buChar char="Ø"/>
            </a:pPr>
            <a:r>
              <a:rPr lang="zh-CN" altLang="en-US" sz="2400" b="1" dirty="0">
                <a:solidFill>
                  <a:srgbClr val="00CC00"/>
                </a:solidFill>
                <a:latin typeface="GreekS" pitchFamily="2" charset="0"/>
                <a:ea typeface="楷体_GB2312"/>
              </a:rPr>
              <a:t>刀具材料</a:t>
            </a:r>
            <a:endParaRPr lang="zh-CN" altLang="en-US" sz="2400" b="1" dirty="0">
              <a:solidFill>
                <a:srgbClr val="00CC00"/>
              </a:solidFill>
              <a:latin typeface="GreekS" pitchFamily="2" charset="0"/>
              <a:ea typeface="楷体_GB2312"/>
            </a:endParaRPr>
          </a:p>
          <a:p>
            <a:pPr indent="259080"/>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．常用刀具材料的性能和用途</a:t>
            </a:r>
            <a:endParaRPr lang="zh-CN" altLang="en-US" sz="2400" b="1" dirty="0">
              <a:solidFill>
                <a:srgbClr val="FF33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1</a:t>
            </a:r>
            <a:r>
              <a:rPr lang="zh-CN" altLang="en-US" sz="2400" b="1" dirty="0">
                <a:solidFill>
                  <a:srgbClr val="CC3300"/>
                </a:solidFill>
                <a:latin typeface="楷体_GB2312"/>
                <a:ea typeface="楷体_GB2312"/>
              </a:rPr>
              <a:t>）碳素工具钢：</a:t>
            </a:r>
            <a:r>
              <a:rPr lang="en-US" altLang="zh-CN" sz="2400" b="1" dirty="0">
                <a:solidFill>
                  <a:srgbClr val="000000"/>
                </a:solidFill>
                <a:latin typeface="楷体_GB2312"/>
                <a:ea typeface="楷体_GB2312"/>
              </a:rPr>
              <a:t>T8</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T10A</a:t>
            </a:r>
            <a:r>
              <a:rPr lang="zh-CN" altLang="en-US" sz="2400" b="1" dirty="0">
                <a:solidFill>
                  <a:srgbClr val="000000"/>
                </a:solidFill>
                <a:latin typeface="楷体_GB2312"/>
                <a:ea typeface="楷体_GB2312"/>
              </a:rPr>
              <a:t>等，用于制造切削速度低的简单手工工具（锉刀、锯条、刮刀）。</a:t>
            </a:r>
            <a:endParaRPr lang="zh-CN" altLang="en-US" sz="2400" b="1" dirty="0">
              <a:solidFill>
                <a:srgbClr val="0000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2</a:t>
            </a:r>
            <a:r>
              <a:rPr lang="zh-CN" altLang="en-US" sz="2400" b="1" dirty="0">
                <a:solidFill>
                  <a:srgbClr val="CC3300"/>
                </a:solidFill>
                <a:latin typeface="楷体_GB2312"/>
                <a:ea typeface="楷体_GB2312"/>
              </a:rPr>
              <a:t>）合金工具钢</a:t>
            </a:r>
            <a:r>
              <a:rPr lang="zh-CN" altLang="en-US" b="1" dirty="0">
                <a:solidFill>
                  <a:srgbClr val="CC3300"/>
                </a:solidFill>
                <a:latin typeface="Arial" panose="020B0604020202020204" pitchFamily="34" charset="0"/>
                <a:ea typeface="宋体" panose="02010600030101010101" pitchFamily="2" charset="-122"/>
              </a:rPr>
              <a:t>： </a:t>
            </a:r>
            <a:r>
              <a:rPr lang="en-US" altLang="zh-CN" sz="2400" b="1" dirty="0">
                <a:solidFill>
                  <a:srgbClr val="000000"/>
                </a:solidFill>
                <a:latin typeface="楷体_GB2312"/>
                <a:ea typeface="楷体_GB2312"/>
              </a:rPr>
              <a:t>9Mn2V</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9SiCr</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CrWMn</a:t>
            </a:r>
            <a:r>
              <a:rPr lang="zh-CN" altLang="en-US" sz="2400" b="1" dirty="0">
                <a:solidFill>
                  <a:srgbClr val="000000"/>
                </a:solidFill>
                <a:latin typeface="楷体_GB2312"/>
                <a:ea typeface="楷体_GB2312"/>
              </a:rPr>
              <a:t>等，常用于制造低速加工和要求热处理变形小的刀具（铰刀，拉刀）。</a:t>
            </a:r>
            <a:endParaRPr lang="zh-CN" altLang="en-US" sz="2400" b="1" dirty="0">
              <a:solidFill>
                <a:srgbClr val="000000"/>
              </a:solidFill>
              <a:latin typeface="楷体_GB2312"/>
              <a:ea typeface="楷体_GB2312"/>
            </a:endParaRPr>
          </a:p>
          <a:p>
            <a:pPr indent="259080"/>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3</a:t>
            </a:r>
            <a:r>
              <a:rPr lang="zh-CN" altLang="en-US" sz="2400" b="1" dirty="0">
                <a:solidFill>
                  <a:srgbClr val="CC3300"/>
                </a:solidFill>
                <a:latin typeface="楷体_GB2312"/>
                <a:ea typeface="楷体_GB2312"/>
              </a:rPr>
              <a:t>）高速钢 </a:t>
            </a:r>
            <a:r>
              <a:rPr lang="en-US" altLang="zh-CN" sz="2400" b="1" dirty="0">
                <a:solidFill>
                  <a:srgbClr val="000000"/>
                </a:solidFill>
                <a:latin typeface="楷体_GB2312"/>
                <a:ea typeface="楷体_GB2312"/>
              </a:rPr>
              <a:t>W18Cr4V </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W6Mo5Cr4V3</a:t>
            </a:r>
            <a:r>
              <a:rPr lang="zh-CN" altLang="en-US" sz="2400" b="1" dirty="0">
                <a:solidFill>
                  <a:srgbClr val="000000"/>
                </a:solidFill>
                <a:latin typeface="楷体_GB2312"/>
                <a:ea typeface="楷体_GB2312"/>
              </a:rPr>
              <a:t>等，用于制造各种复杂的刀具（钻头，铣刀，拉刀和齿轮刀具）。</a:t>
            </a:r>
            <a:endParaRPr lang="zh-CN" altLang="en-US" sz="2400" b="1" dirty="0">
              <a:solidFill>
                <a:srgbClr val="000000"/>
              </a:solidFill>
              <a:latin typeface="楷体_GB2312"/>
              <a:ea typeface="楷体_GB2312"/>
            </a:endParaRPr>
          </a:p>
          <a:p>
            <a:pPr indent="259080"/>
            <a:endParaRPr lang="zh-CN" altLang="en-US" sz="2400" b="1" dirty="0">
              <a:solidFill>
                <a:srgbClr val="000000"/>
              </a:solidFill>
              <a:latin typeface="楷体_GB2312"/>
              <a:ea typeface="楷体_GB2312"/>
            </a:endParaRPr>
          </a:p>
          <a:p>
            <a:pPr indent="259080"/>
            <a:endParaRPr lang="zh-CN" altLang="en-US" sz="2400" b="1" dirty="0">
              <a:solidFill>
                <a:srgbClr val="CC3300"/>
              </a:solidFill>
              <a:latin typeface="楷体_GB2312"/>
              <a:ea typeface="楷体_GB2312"/>
            </a:endParaRPr>
          </a:p>
          <a:p>
            <a:pPr indent="259080"/>
            <a:endParaRPr lang="en-US" altLang="zh-CN" sz="2400" b="1" dirty="0">
              <a:solidFill>
                <a:srgbClr val="CC3300"/>
              </a:solidFill>
              <a:latin typeface="楷体_GB2312"/>
              <a:ea typeface="楷体_GB2312"/>
            </a:endParaRPr>
          </a:p>
        </p:txBody>
      </p:sp>
      <p:sp>
        <p:nvSpPr>
          <p:cNvPr id="51202"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993300"/>
                </a:solidFill>
                <a:ea typeface="楷体_GB2312"/>
              </a:rPr>
              <a:t>金属切削的基础知识</a:t>
            </a:r>
            <a:endParaRPr lang="zh-CN" altLang="en-US" sz="4000" dirty="0">
              <a:solidFill>
                <a:srgbClr val="993300"/>
              </a:solidFill>
              <a:ea typeface="楷体_GB2312"/>
            </a:endParaRPr>
          </a:p>
        </p:txBody>
      </p:sp>
      <p:pic>
        <p:nvPicPr>
          <p:cNvPr id="51203" name="Picture 5" descr="https://timgsa.baidu.com/timg?image&amp;quality=80&amp;size=b9999_10000&amp;sec=1573405833595&amp;di=707923c7f30916f4cfe3039003fe78d2&amp;imgtype=0&amp;src=http%3A%2F%2Fimg004.hc360.cn%2Fm7%2FM06%2F37%2FC7%2FwKhQo1U_wjeEaui3AAAAAPbHFOA787.jpg"/>
          <p:cNvPicPr>
            <a:picLocks noChangeAspect="1"/>
          </p:cNvPicPr>
          <p:nvPr/>
        </p:nvPicPr>
        <p:blipFill>
          <a:blip r:embed="rId1"/>
          <a:stretch>
            <a:fillRect/>
          </a:stretch>
        </p:blipFill>
        <p:spPr>
          <a:xfrm>
            <a:off x="328613" y="4318000"/>
            <a:ext cx="2506662" cy="2506663"/>
          </a:xfrm>
          <a:prstGeom prst="rect">
            <a:avLst/>
          </a:prstGeom>
          <a:noFill/>
          <a:ln w="9525">
            <a:noFill/>
          </a:ln>
        </p:spPr>
      </p:pic>
      <p:pic>
        <p:nvPicPr>
          <p:cNvPr id="51204" name="Picture 7" descr="https://timgsa.baidu.com/timg?image&amp;quality=80&amp;size=b9999_10000&amp;sec=1573405916275&amp;di=4968d78733abcf7893b38871e70cb4e4&amp;imgtype=0&amp;src=http%3A%2F%2Fwww.ca-maimai.com%2FAttachments%2Fuserfiles%2Fluoxuandao.jpg"/>
          <p:cNvPicPr>
            <a:picLocks noChangeAspect="1"/>
          </p:cNvPicPr>
          <p:nvPr/>
        </p:nvPicPr>
        <p:blipFill>
          <a:blip r:embed="rId2"/>
          <a:stretch>
            <a:fillRect/>
          </a:stretch>
        </p:blipFill>
        <p:spPr>
          <a:xfrm>
            <a:off x="3019425" y="4735513"/>
            <a:ext cx="2543175" cy="1541462"/>
          </a:xfrm>
          <a:prstGeom prst="rect">
            <a:avLst/>
          </a:prstGeom>
          <a:noFill/>
          <a:ln w="9525">
            <a:noFill/>
          </a:ln>
        </p:spPr>
      </p:pic>
      <p:pic>
        <p:nvPicPr>
          <p:cNvPr id="51205" name="Picture 9" descr="https://timgsa.baidu.com/timg?image&amp;quality=80&amp;size=b9999_10000&amp;sec=1573405966250&amp;di=f5b691c748a4f606878ed48730993dbc&amp;imgtype=0&amp;src=http%3A%2F%2Fimg000.hc360.cn%2Fy2%2FM06%2FB4%2F3D%2FwKhQdFS2Z7aEGAtQAAAAAE9XvMc835.jpg"/>
          <p:cNvPicPr>
            <a:picLocks noChangeAspect="1"/>
          </p:cNvPicPr>
          <p:nvPr/>
        </p:nvPicPr>
        <p:blipFill>
          <a:blip r:embed="rId3"/>
          <a:stretch>
            <a:fillRect/>
          </a:stretch>
        </p:blipFill>
        <p:spPr>
          <a:xfrm>
            <a:off x="5845175" y="4572000"/>
            <a:ext cx="3048000" cy="1868488"/>
          </a:xfrm>
          <a:prstGeom prst="rect">
            <a:avLst/>
          </a:prstGeom>
          <a:noFill/>
          <a:ln w="9525">
            <a:noFill/>
          </a:ln>
        </p:spPr>
      </p:pic>
    </p:spTree>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p:nvPr/>
        </p:nvSpPr>
        <p:spPr>
          <a:xfrm>
            <a:off x="152400" y="1341438"/>
            <a:ext cx="8839200" cy="5448300"/>
          </a:xfrm>
          <a:prstGeom prst="rect">
            <a:avLst/>
          </a:prstGeom>
          <a:noFill/>
          <a:ln w="9525">
            <a:noFill/>
          </a:ln>
        </p:spPr>
        <p:txBody>
          <a:bodyPr anchor="t" anchorCtr="0">
            <a:spAutoFit/>
          </a:bodyPr>
          <a:p>
            <a:pPr>
              <a:spcBef>
                <a:spcPct val="50000"/>
              </a:spcBef>
            </a:pPr>
            <a:r>
              <a:rPr lang="en-US" altLang="zh-CN" sz="2000" b="1" dirty="0">
                <a:solidFill>
                  <a:srgbClr val="CCFFFF"/>
                </a:solidFill>
                <a:latin typeface="Century" panose="02040604050505020304" pitchFamily="18" charset="0"/>
                <a:ea typeface="宋体" panose="02010600030101010101" pitchFamily="2" charset="-122"/>
              </a:rPr>
              <a:t> </a:t>
            </a:r>
            <a:r>
              <a:rPr lang="zh-CN" altLang="en-US" sz="2400" b="1" dirty="0">
                <a:solidFill>
                  <a:srgbClr val="CC3300"/>
                </a:solidFill>
                <a:latin typeface="楷体_GB2312"/>
                <a:ea typeface="楷体_GB2312"/>
              </a:rPr>
              <a:t>（</a:t>
            </a:r>
            <a:r>
              <a:rPr lang="en-US" altLang="zh-CN" sz="2400" b="1" dirty="0">
                <a:solidFill>
                  <a:srgbClr val="CC3300"/>
                </a:solidFill>
                <a:latin typeface="楷体_GB2312"/>
                <a:ea typeface="楷体_GB2312"/>
              </a:rPr>
              <a:t>4</a:t>
            </a:r>
            <a:r>
              <a:rPr lang="zh-CN" altLang="en-US" sz="2400" b="1" dirty="0">
                <a:solidFill>
                  <a:srgbClr val="CC3300"/>
                </a:solidFill>
                <a:latin typeface="楷体_GB2312"/>
                <a:ea typeface="楷体_GB2312"/>
              </a:rPr>
              <a:t>）硬质合金</a:t>
            </a:r>
            <a:endParaRPr lang="zh-CN" altLang="en-US" sz="2400" b="1" dirty="0">
              <a:solidFill>
                <a:srgbClr val="CC3300"/>
              </a:solidFill>
              <a:latin typeface="楷体_GB2312"/>
              <a:ea typeface="楷体_GB2312"/>
            </a:endParaRPr>
          </a:p>
          <a:p>
            <a:pPr>
              <a:spcBef>
                <a:spcPct val="50000"/>
              </a:spcBef>
            </a:pPr>
            <a:r>
              <a:rPr lang="zh-CN" altLang="en-US" sz="2400" b="1" dirty="0">
                <a:solidFill>
                  <a:srgbClr val="000000"/>
                </a:solidFill>
                <a:latin typeface="楷体_GB2312"/>
                <a:ea typeface="楷体_GB2312"/>
              </a:rPr>
              <a:t>　　硬度可达</a:t>
            </a:r>
            <a:r>
              <a:rPr lang="en-US" altLang="zh-CN" sz="2400" b="1" dirty="0">
                <a:solidFill>
                  <a:srgbClr val="000000"/>
                </a:solidFill>
                <a:latin typeface="楷体_GB2312"/>
                <a:ea typeface="楷体_GB2312"/>
              </a:rPr>
              <a:t>HRC74</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78</a:t>
            </a:r>
            <a:r>
              <a:rPr lang="zh-CN" altLang="en-US" sz="2400" b="1" dirty="0">
                <a:solidFill>
                  <a:srgbClr val="000000"/>
                </a:solidFill>
                <a:latin typeface="楷体_GB2312"/>
                <a:ea typeface="楷体_GB2312"/>
              </a:rPr>
              <a:t>，耐热性可达</a:t>
            </a:r>
            <a:r>
              <a:rPr lang="en-US" altLang="zh-CN" sz="2400" b="1" dirty="0">
                <a:solidFill>
                  <a:srgbClr val="000000"/>
                </a:solidFill>
                <a:latin typeface="楷体_GB2312"/>
                <a:ea typeface="楷体_GB2312"/>
              </a:rPr>
              <a:t>850</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1000℃</a:t>
            </a:r>
            <a:r>
              <a:rPr lang="zh-CN" altLang="en-US" sz="2400" b="1" dirty="0">
                <a:solidFill>
                  <a:srgbClr val="000000"/>
                </a:solidFill>
                <a:latin typeface="楷体_GB2312"/>
                <a:ea typeface="楷体_GB2312"/>
              </a:rPr>
              <a:t>，</a:t>
            </a:r>
            <a:r>
              <a:rPr lang="en-US" altLang="zh-CN" sz="2400" b="1" i="1" dirty="0">
                <a:solidFill>
                  <a:srgbClr val="000000"/>
                </a:solidFill>
                <a:latin typeface="楷体_GB2312"/>
                <a:ea typeface="楷体_GB2312"/>
              </a:rPr>
              <a:t>υ</a:t>
            </a:r>
            <a:r>
              <a:rPr lang="zh-CN" altLang="en-US" sz="2400" b="1" dirty="0">
                <a:solidFill>
                  <a:srgbClr val="000000"/>
                </a:solidFill>
                <a:latin typeface="楷体_GB2312"/>
                <a:ea typeface="楷体_GB2312"/>
              </a:rPr>
              <a:t>达</a:t>
            </a:r>
            <a:r>
              <a:rPr lang="en-US" altLang="zh-CN" sz="2400" b="1" dirty="0">
                <a:solidFill>
                  <a:srgbClr val="000000"/>
                </a:solidFill>
                <a:latin typeface="楷体_GB2312"/>
                <a:ea typeface="楷体_GB2312"/>
              </a:rPr>
              <a:t>100</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300m/min</a:t>
            </a:r>
            <a:r>
              <a:rPr lang="zh-CN" altLang="en-US" sz="2400" b="1" dirty="0">
                <a:solidFill>
                  <a:srgbClr val="000000"/>
                </a:solidFill>
                <a:latin typeface="楷体_GB2312"/>
                <a:ea typeface="楷体_GB2312"/>
              </a:rPr>
              <a:t>，抗弯强度、韧性，冲击韧性差。通常制成各种型式的刀片，将其焊接或夹固在刀体上使用。</a:t>
            </a:r>
            <a:endParaRPr lang="zh-CN" altLang="en-US" sz="2400" b="1" dirty="0">
              <a:solidFill>
                <a:srgbClr val="000000"/>
              </a:solidFill>
              <a:latin typeface="楷体_GB2312"/>
              <a:ea typeface="楷体_GB2312"/>
            </a:endParaRPr>
          </a:p>
          <a:p>
            <a:pPr>
              <a:spcBef>
                <a:spcPct val="50000"/>
              </a:spcBef>
            </a:pPr>
            <a:r>
              <a:rPr lang="zh-CN" altLang="en-US" sz="2400" b="1" dirty="0">
                <a:solidFill>
                  <a:srgbClr val="000000"/>
                </a:solidFill>
                <a:latin typeface="楷体_GB2312"/>
                <a:ea typeface="楷体_GB2312"/>
              </a:rPr>
              <a:t>①钨钴类（</a:t>
            </a:r>
            <a:r>
              <a:rPr lang="en-US" altLang="zh-CN" sz="2400" b="1" dirty="0">
                <a:solidFill>
                  <a:srgbClr val="000000"/>
                </a:solidFill>
                <a:latin typeface="楷体_GB2312"/>
                <a:ea typeface="楷体_GB2312"/>
              </a:rPr>
              <a:t>YG</a:t>
            </a:r>
            <a:r>
              <a:rPr lang="zh-CN" altLang="en-US" sz="2400" b="1" dirty="0">
                <a:solidFill>
                  <a:srgbClr val="000000"/>
                </a:solidFill>
                <a:latin typeface="楷体_GB2312"/>
                <a:ea typeface="楷体_GB2312"/>
              </a:rPr>
              <a:t>类）。</a:t>
            </a:r>
            <a:r>
              <a:rPr lang="en-US" altLang="zh-CN" sz="2400" b="1" dirty="0">
                <a:solidFill>
                  <a:srgbClr val="000000"/>
                </a:solidFill>
                <a:latin typeface="楷体_GB2312"/>
                <a:ea typeface="楷体_GB2312"/>
              </a:rPr>
              <a:t>YG3</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YG6</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YG8</a:t>
            </a:r>
            <a:endParaRPr lang="en-US" altLang="zh-CN" sz="2400" b="1" dirty="0">
              <a:solidFill>
                <a:srgbClr val="000000"/>
              </a:solidFill>
              <a:latin typeface="楷体_GB2312"/>
              <a:ea typeface="楷体_GB2312"/>
            </a:endParaRPr>
          </a:p>
          <a:p>
            <a:pPr>
              <a:spcBef>
                <a:spcPct val="50000"/>
              </a:spcBef>
            </a:pPr>
            <a:r>
              <a:rPr lang="en-US" altLang="zh-CN" sz="2400" b="1" dirty="0">
                <a:solidFill>
                  <a:srgbClr val="000000"/>
                </a:solidFill>
                <a:latin typeface="楷体_GB2312"/>
                <a:ea typeface="楷体_GB2312"/>
              </a:rPr>
              <a:t>②</a:t>
            </a:r>
            <a:r>
              <a:rPr lang="zh-CN" altLang="en-US" sz="2400" b="1" dirty="0">
                <a:solidFill>
                  <a:srgbClr val="000000"/>
                </a:solidFill>
                <a:latin typeface="楷体_GB2312"/>
                <a:ea typeface="楷体_GB2312"/>
              </a:rPr>
              <a:t>钨钛钴类（</a:t>
            </a:r>
            <a:r>
              <a:rPr lang="en-US" altLang="zh-CN" sz="2400" b="1" dirty="0">
                <a:solidFill>
                  <a:srgbClr val="000000"/>
                </a:solidFill>
                <a:latin typeface="楷体_GB2312"/>
                <a:ea typeface="楷体_GB2312"/>
              </a:rPr>
              <a:t>YT</a:t>
            </a:r>
            <a:r>
              <a:rPr lang="zh-CN" altLang="en-US" sz="2400" b="1" dirty="0">
                <a:solidFill>
                  <a:srgbClr val="000000"/>
                </a:solidFill>
                <a:latin typeface="楷体_GB2312"/>
                <a:ea typeface="楷体_GB2312"/>
              </a:rPr>
              <a:t>类）。</a:t>
            </a:r>
            <a:r>
              <a:rPr lang="en-US" altLang="zh-CN" sz="2400" b="1" dirty="0">
                <a:solidFill>
                  <a:srgbClr val="000000"/>
                </a:solidFill>
                <a:latin typeface="楷体_GB2312"/>
                <a:ea typeface="楷体_GB2312"/>
              </a:rPr>
              <a:t>YT5</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YT15</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YT30</a:t>
            </a:r>
            <a:endParaRPr lang="en-US" altLang="zh-CN" sz="2400" b="1" dirty="0">
              <a:solidFill>
                <a:srgbClr val="000000"/>
              </a:solidFill>
              <a:latin typeface="楷体_GB2312"/>
              <a:ea typeface="楷体_GB2312"/>
            </a:endParaRPr>
          </a:p>
          <a:p>
            <a:pPr>
              <a:spcBef>
                <a:spcPct val="50000"/>
              </a:spcBef>
            </a:pPr>
            <a:endParaRPr lang="en-US" altLang="zh-CN" sz="2400" b="1" dirty="0">
              <a:solidFill>
                <a:srgbClr val="000000"/>
              </a:solidFill>
              <a:latin typeface="楷体_GB2312"/>
              <a:ea typeface="楷体_GB2312"/>
            </a:endParaRPr>
          </a:p>
          <a:p>
            <a:r>
              <a:rPr lang="zh-CN" altLang="en-US" sz="2400" b="1" dirty="0">
                <a:solidFill>
                  <a:srgbClr val="CC3300"/>
                </a:solidFill>
                <a:latin typeface="楷体_GB2312"/>
                <a:ea typeface="楷体_GB2312"/>
              </a:rPr>
              <a:t>其他类</a:t>
            </a:r>
            <a:r>
              <a:rPr lang="zh-CN" altLang="en-US" sz="2400" b="1" dirty="0">
                <a:solidFill>
                  <a:srgbClr val="CC3300"/>
                </a:solidFill>
                <a:latin typeface="楷体_GB2312"/>
                <a:ea typeface="楷体_GB2312"/>
                <a:sym typeface="Wingdings" panose="05000000000000000000" pitchFamily="2" charset="2"/>
              </a:rPr>
              <a:t>：</a:t>
            </a:r>
            <a:endParaRPr lang="zh-CN" altLang="en-US" sz="2400" b="1" dirty="0">
              <a:solidFill>
                <a:srgbClr val="000000"/>
              </a:solidFill>
              <a:latin typeface="楷体_GB2312"/>
              <a:ea typeface="楷体_GB2312"/>
              <a:sym typeface="Wingdings" panose="05000000000000000000" pitchFamily="2" charset="2"/>
            </a:endParaRPr>
          </a:p>
          <a:p>
            <a:r>
              <a:rPr lang="zh-CN" altLang="en-US" sz="2400" b="1" dirty="0">
                <a:solidFill>
                  <a:srgbClr val="000000"/>
                </a:solidFill>
                <a:latin typeface="楷体_GB2312"/>
                <a:ea typeface="楷体_GB2312"/>
                <a:sym typeface="Wingdings" panose="05000000000000000000" pitchFamily="2" charset="2"/>
              </a:rPr>
              <a:t>    涂层（</a:t>
            </a:r>
            <a:r>
              <a:rPr lang="en-US" altLang="zh-CN" sz="2400" b="1" dirty="0">
                <a:solidFill>
                  <a:srgbClr val="000000"/>
                </a:solidFill>
                <a:latin typeface="楷体_GB2312"/>
                <a:ea typeface="楷体_GB2312"/>
                <a:sym typeface="Wingdings" panose="05000000000000000000" pitchFamily="2" charset="2"/>
              </a:rPr>
              <a:t>TiC</a:t>
            </a:r>
            <a:r>
              <a:rPr lang="zh-CN" altLang="en-US" sz="2400" b="1" dirty="0">
                <a:solidFill>
                  <a:srgbClr val="000000"/>
                </a:solidFill>
                <a:latin typeface="楷体_GB2312"/>
                <a:ea typeface="楷体_GB2312"/>
                <a:sym typeface="Wingdings" panose="05000000000000000000" pitchFamily="2" charset="2"/>
              </a:rPr>
              <a:t>）刀具；陶瓷（</a:t>
            </a:r>
            <a:r>
              <a:rPr lang="zh-CN" altLang="en-US" dirty="0">
                <a:latin typeface="Arial" panose="020B0604020202020204" pitchFamily="34" charset="0"/>
                <a:ea typeface="宋体" panose="02010600030101010101" pitchFamily="2" charset="-122"/>
              </a:rPr>
              <a:t> </a:t>
            </a:r>
            <a:r>
              <a:rPr lang="en-US" altLang="zh-CN" sz="2400" b="1" dirty="0">
                <a:solidFill>
                  <a:srgbClr val="000000"/>
                </a:solidFill>
                <a:latin typeface="楷体_GB2312"/>
                <a:ea typeface="楷体_GB2312"/>
              </a:rPr>
              <a:t>Al</a:t>
            </a:r>
            <a:r>
              <a:rPr lang="en-US" altLang="zh-CN" sz="2400" b="1" baseline="-25000" dirty="0">
                <a:solidFill>
                  <a:srgbClr val="000000"/>
                </a:solidFill>
                <a:latin typeface="楷体_GB2312"/>
                <a:ea typeface="楷体_GB2312"/>
              </a:rPr>
              <a:t>2</a:t>
            </a:r>
            <a:r>
              <a:rPr lang="en-US" altLang="zh-CN" sz="2400" b="1" dirty="0">
                <a:solidFill>
                  <a:srgbClr val="000000"/>
                </a:solidFill>
                <a:latin typeface="楷体_GB2312"/>
                <a:ea typeface="楷体_GB2312"/>
              </a:rPr>
              <a:t>O</a:t>
            </a:r>
            <a:r>
              <a:rPr lang="en-US" altLang="zh-CN" sz="2400" b="1" baseline="-25000" dirty="0">
                <a:solidFill>
                  <a:srgbClr val="000000"/>
                </a:solidFill>
                <a:latin typeface="楷体_GB2312"/>
                <a:ea typeface="楷体_GB2312"/>
              </a:rPr>
              <a:t>3</a:t>
            </a:r>
            <a:r>
              <a:rPr lang="zh-CN" altLang="en-US" sz="2400" b="1" dirty="0">
                <a:solidFill>
                  <a:srgbClr val="000000"/>
                </a:solidFill>
                <a:latin typeface="楷体_GB2312"/>
                <a:ea typeface="楷体_GB2312"/>
                <a:sym typeface="Wingdings" panose="05000000000000000000" pitchFamily="2" charset="2"/>
              </a:rPr>
              <a:t>）</a:t>
            </a:r>
            <a:endParaRPr lang="en-US" altLang="zh-CN" sz="2400" b="1" dirty="0">
              <a:solidFill>
                <a:srgbClr val="000000"/>
              </a:solidFill>
              <a:latin typeface="楷体_GB2312"/>
              <a:ea typeface="楷体_GB2312"/>
              <a:sym typeface="Wingdings" panose="05000000000000000000" pitchFamily="2" charset="2"/>
            </a:endParaRPr>
          </a:p>
          <a:p>
            <a:r>
              <a:rPr lang="zh-CN" altLang="en-US" sz="2400" b="1" dirty="0">
                <a:solidFill>
                  <a:srgbClr val="000000"/>
                </a:solidFill>
                <a:latin typeface="楷体_GB2312"/>
                <a:ea typeface="楷体_GB2312"/>
                <a:sym typeface="Wingdings" panose="05000000000000000000" pitchFamily="2" charset="2"/>
              </a:rPr>
              <a:t>和</a:t>
            </a:r>
            <a:r>
              <a:rPr lang="zh-CN" altLang="en-US" sz="2400" b="1" dirty="0">
                <a:solidFill>
                  <a:srgbClr val="000000"/>
                </a:solidFill>
                <a:latin typeface="楷体_GB2312"/>
                <a:ea typeface="楷体_GB2312"/>
              </a:rPr>
              <a:t>人造</a:t>
            </a:r>
            <a:r>
              <a:rPr lang="zh-CN" altLang="en-US" sz="2400" b="1" dirty="0">
                <a:solidFill>
                  <a:srgbClr val="000000"/>
                </a:solidFill>
                <a:latin typeface="楷体_GB2312"/>
                <a:ea typeface="楷体_GB2312"/>
                <a:sym typeface="Wingdings" panose="05000000000000000000" pitchFamily="2" charset="2"/>
              </a:rPr>
              <a:t>金刚石刀具等</a:t>
            </a:r>
            <a:r>
              <a:rPr lang="zh-CN" altLang="en-US" b="1" dirty="0">
                <a:solidFill>
                  <a:srgbClr val="000000"/>
                </a:solidFill>
                <a:latin typeface="Arial" panose="020B0604020202020204" pitchFamily="34" charset="0"/>
                <a:ea typeface="宋体" panose="02010600030101010101" pitchFamily="2" charset="-122"/>
                <a:sym typeface="Wingdings" panose="05000000000000000000" pitchFamily="2" charset="2"/>
              </a:rPr>
              <a:t>，</a:t>
            </a:r>
            <a:r>
              <a:rPr lang="zh-CN" altLang="en-US" sz="2400" b="1" dirty="0">
                <a:solidFill>
                  <a:srgbClr val="000000"/>
                </a:solidFill>
                <a:latin typeface="楷体_GB2312"/>
                <a:ea typeface="楷体_GB2312"/>
                <a:sym typeface="Wingdings" panose="05000000000000000000" pitchFamily="2" charset="2"/>
              </a:rPr>
              <a:t>常用于切削难加工</a:t>
            </a:r>
            <a:endParaRPr lang="en-US" altLang="zh-CN" sz="2400" b="1" dirty="0">
              <a:solidFill>
                <a:srgbClr val="000000"/>
              </a:solidFill>
              <a:latin typeface="楷体_GB2312"/>
              <a:ea typeface="楷体_GB2312"/>
              <a:sym typeface="Wingdings" panose="05000000000000000000" pitchFamily="2" charset="2"/>
            </a:endParaRPr>
          </a:p>
          <a:p>
            <a:r>
              <a:rPr lang="zh-CN" altLang="en-US" sz="2400" b="1" dirty="0">
                <a:solidFill>
                  <a:srgbClr val="000000"/>
                </a:solidFill>
                <a:latin typeface="楷体_GB2312"/>
                <a:ea typeface="楷体_GB2312"/>
                <a:sym typeface="Wingdings" panose="05000000000000000000" pitchFamily="2" charset="2"/>
              </a:rPr>
              <a:t>材料 </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a:p>
            <a:pPr>
              <a:spcBef>
                <a:spcPct val="50000"/>
              </a:spcBef>
            </a:pPr>
            <a:endParaRPr lang="en-US" altLang="zh-CN" sz="2400" b="1" dirty="0">
              <a:solidFill>
                <a:srgbClr val="000000"/>
              </a:solidFill>
              <a:latin typeface="楷体_GB2312"/>
              <a:ea typeface="楷体_GB2312"/>
            </a:endParaRPr>
          </a:p>
        </p:txBody>
      </p:sp>
      <p:pic>
        <p:nvPicPr>
          <p:cNvPr id="53250" name="Picture 5" descr="https://timgsa.baidu.com/timg?image&amp;quality=80&amp;size=b9999_10000&amp;sec=1573406032956&amp;di=cca63e5359d706dc0433995df763eac9&amp;imgtype=0&amp;src=http%3A%2F%2Fwww.cnskdj.com%2Fdata%2Fupload%2Fimage%2F20170711%2F1499733260917753.jpg"/>
          <p:cNvPicPr>
            <a:picLocks noChangeAspect="1"/>
          </p:cNvPicPr>
          <p:nvPr/>
        </p:nvPicPr>
        <p:blipFill>
          <a:blip r:embed="rId1"/>
          <a:stretch>
            <a:fillRect/>
          </a:stretch>
        </p:blipFill>
        <p:spPr>
          <a:xfrm>
            <a:off x="5624513" y="2708275"/>
            <a:ext cx="3411537" cy="2287588"/>
          </a:xfrm>
          <a:prstGeom prst="rect">
            <a:avLst/>
          </a:prstGeom>
          <a:noFill/>
          <a:ln w="9525">
            <a:noFill/>
          </a:ln>
        </p:spPr>
      </p:pic>
      <p:pic>
        <p:nvPicPr>
          <p:cNvPr id="53251" name="Picture 7" descr="https://timgsa.baidu.com/timg?image&amp;quality=80&amp;size=b9999_10000&amp;sec=1573406105815&amp;di=50f3702cd96dca3af0081b0cd54e7ba2&amp;imgtype=0&amp;src=http%3A%2F%2Fwww.91dgxb.com%2Fuploads%2F170220%2F1-1F220100935459.jpg"/>
          <p:cNvPicPr>
            <a:picLocks noChangeAspect="1"/>
          </p:cNvPicPr>
          <p:nvPr/>
        </p:nvPicPr>
        <p:blipFill>
          <a:blip r:embed="rId2"/>
          <a:stretch>
            <a:fillRect/>
          </a:stretch>
        </p:blipFill>
        <p:spPr>
          <a:xfrm>
            <a:off x="6107113" y="5113338"/>
            <a:ext cx="2533650" cy="1744662"/>
          </a:xfrm>
          <a:prstGeom prst="rect">
            <a:avLst/>
          </a:prstGeom>
          <a:noFill/>
          <a:ln w="9525">
            <a:noFill/>
          </a:ln>
        </p:spPr>
      </p:pic>
      <p:sp>
        <p:nvSpPr>
          <p:cNvPr id="53252" name="标题 1"/>
          <p:cNvSpPr>
            <a:spLocks noGrp="1"/>
          </p:cNvSpPr>
          <p:nvPr>
            <p:ph type="title"/>
          </p:nvPr>
        </p:nvSpPr>
        <p:spPr>
          <a:ln/>
        </p:spPr>
        <p:txBody>
          <a:bodyPr vert="horz" wrap="square" lIns="91440" tIns="45720" rIns="91440" bIns="45720" anchor="ctr" anchorCtr="0"/>
          <a:p>
            <a:r>
              <a:rPr lang="zh-CN" altLang="en-US" dirty="0">
                <a:solidFill>
                  <a:srgbClr val="993300"/>
                </a:solidFill>
                <a:ea typeface="楷体_GB2312"/>
              </a:rPr>
              <a:t>金属切削的基础知识</a:t>
            </a:r>
            <a:endParaRPr lang="zh-CN" altLang="en-US" dirty="0"/>
          </a:p>
        </p:txBody>
      </p:sp>
    </p:spTree>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Text Box 3"/>
          <p:cNvSpPr txBox="1"/>
          <p:nvPr/>
        </p:nvSpPr>
        <p:spPr>
          <a:xfrm>
            <a:off x="457200" y="1228725"/>
            <a:ext cx="8229600" cy="1552575"/>
          </a:xfrm>
          <a:prstGeom prst="rect">
            <a:avLst/>
          </a:prstGeom>
          <a:noFill/>
          <a:ln w="9525">
            <a:noFill/>
          </a:ln>
        </p:spPr>
        <p:txBody>
          <a:bodyPr anchor="t" anchorCtr="0">
            <a:spAutoFit/>
          </a:bodyPr>
          <a:p>
            <a:r>
              <a:rPr lang="en-US" altLang="zh-CN" dirty="0">
                <a:latin typeface="Century" panose="02040604050505020304" pitchFamily="18" charset="0"/>
                <a:ea typeface="宋体" panose="02010600030101010101" pitchFamily="2" charset="-122"/>
              </a:rPr>
              <a:t>          </a:t>
            </a:r>
            <a:r>
              <a:rPr lang="zh-CN" altLang="en-US" sz="2400" b="1" dirty="0">
                <a:solidFill>
                  <a:srgbClr val="000000"/>
                </a:solidFill>
                <a:latin typeface="Century" panose="02040604050505020304" pitchFamily="18" charset="0"/>
                <a:ea typeface="楷体_GB2312"/>
              </a:rPr>
              <a:t>切削刀具种类繁多，但它们的切削部分的结构要素和几何角度有着许多共同的特征，各种多齿刀具和复杂刀具，</a:t>
            </a:r>
            <a:r>
              <a:rPr lang="zh-CN" altLang="en-US" sz="2400" b="1" dirty="0">
                <a:solidFill>
                  <a:srgbClr val="FF3300"/>
                </a:solidFill>
                <a:latin typeface="Century" panose="02040604050505020304" pitchFamily="18" charset="0"/>
                <a:ea typeface="楷体_GB2312"/>
              </a:rPr>
              <a:t>一个刀齿而言都相当于一把外圆车刀的刀头</a:t>
            </a:r>
            <a:r>
              <a:rPr lang="zh-CN" altLang="en-US" sz="2400" b="1" dirty="0">
                <a:solidFill>
                  <a:srgbClr val="0033CC"/>
                </a:solidFill>
                <a:latin typeface="Century" panose="02040604050505020304" pitchFamily="18" charset="0"/>
                <a:ea typeface="楷体_GB2312"/>
              </a:rPr>
              <a:t>，</a:t>
            </a:r>
            <a:r>
              <a:rPr lang="zh-CN" altLang="en-US" sz="2400" b="1" dirty="0">
                <a:solidFill>
                  <a:srgbClr val="000000"/>
                </a:solidFill>
                <a:latin typeface="Century" panose="02040604050505020304" pitchFamily="18" charset="0"/>
                <a:ea typeface="楷体_GB2312"/>
              </a:rPr>
              <a:t>所以只要分析讨论车刀就行。</a:t>
            </a:r>
            <a:endParaRPr lang="zh-CN" altLang="en-US" sz="2400" b="1" dirty="0">
              <a:solidFill>
                <a:srgbClr val="000000"/>
              </a:solidFill>
              <a:latin typeface="Century" panose="02040604050505020304" pitchFamily="18" charset="0"/>
              <a:ea typeface="楷体_GB2312"/>
            </a:endParaRPr>
          </a:p>
        </p:txBody>
      </p:sp>
      <p:grpSp>
        <p:nvGrpSpPr>
          <p:cNvPr id="55298" name="Group 4"/>
          <p:cNvGrpSpPr/>
          <p:nvPr/>
        </p:nvGrpSpPr>
        <p:grpSpPr>
          <a:xfrm>
            <a:off x="2298700" y="2538413"/>
            <a:ext cx="6408738" cy="4319587"/>
            <a:chOff x="1202" y="1797"/>
            <a:chExt cx="3402" cy="2404"/>
          </a:xfrm>
        </p:grpSpPr>
        <p:grpSp>
          <p:nvGrpSpPr>
            <p:cNvPr id="55299" name="Group 5"/>
            <p:cNvGrpSpPr/>
            <p:nvPr/>
          </p:nvGrpSpPr>
          <p:grpSpPr>
            <a:xfrm>
              <a:off x="1212" y="1797"/>
              <a:ext cx="3392" cy="2404"/>
              <a:chOff x="-567" y="939"/>
              <a:chExt cx="3438" cy="2442"/>
            </a:xfrm>
          </p:grpSpPr>
          <p:pic>
            <p:nvPicPr>
              <p:cNvPr id="55300" name="Picture 6"/>
              <p:cNvPicPr>
                <a:picLocks noChangeAspect="1"/>
              </p:cNvPicPr>
              <p:nvPr/>
            </p:nvPicPr>
            <p:blipFill>
              <a:blip r:embed="rId1"/>
              <a:stretch>
                <a:fillRect/>
              </a:stretch>
            </p:blipFill>
            <p:spPr>
              <a:xfrm>
                <a:off x="-567" y="939"/>
                <a:ext cx="3438" cy="2442"/>
              </a:xfrm>
              <a:prstGeom prst="rect">
                <a:avLst/>
              </a:prstGeom>
              <a:noFill/>
              <a:ln w="9525">
                <a:noFill/>
              </a:ln>
            </p:spPr>
          </p:pic>
          <p:sp>
            <p:nvSpPr>
              <p:cNvPr id="55301" name="Rectangle 7"/>
              <p:cNvSpPr/>
              <p:nvPr/>
            </p:nvSpPr>
            <p:spPr>
              <a:xfrm>
                <a:off x="431" y="3097"/>
                <a:ext cx="1496" cy="254"/>
              </a:xfrm>
              <a:prstGeom prst="rect">
                <a:avLst/>
              </a:prstGeom>
              <a:solidFill>
                <a:srgbClr val="FFFFFF"/>
              </a:solidFill>
              <a:ln w="9525">
                <a:noFill/>
              </a:ln>
            </p:spPr>
            <p:txBody>
              <a:bodyPr wrap="none" anchor="t" anchorCtr="0">
                <a:spAutoFit/>
              </a:bodyPr>
              <a:p>
                <a:r>
                  <a:rPr lang="zh-CN" altLang="en-US" sz="2000" b="1" dirty="0">
                    <a:solidFill>
                      <a:srgbClr val="000000"/>
                    </a:solidFill>
                    <a:latin typeface="楷体_GB2312"/>
                    <a:ea typeface="楷体_GB2312"/>
                  </a:rPr>
                  <a:t>图 刀具的切削部分</a:t>
                </a:r>
                <a:endParaRPr lang="zh-CN" altLang="en-US" sz="2000" b="1" dirty="0">
                  <a:solidFill>
                    <a:srgbClr val="000000"/>
                  </a:solidFill>
                  <a:latin typeface="楷体_GB2312"/>
                  <a:ea typeface="楷体_GB2312"/>
                </a:endParaRPr>
              </a:p>
            </p:txBody>
          </p:sp>
        </p:grpSp>
        <p:sp>
          <p:nvSpPr>
            <p:cNvPr id="55302" name="Rectangle 8"/>
            <p:cNvSpPr/>
            <p:nvPr/>
          </p:nvSpPr>
          <p:spPr>
            <a:xfrm>
              <a:off x="1202" y="1797"/>
              <a:ext cx="3402" cy="2404"/>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55303" name="标题 1"/>
          <p:cNvSpPr>
            <a:spLocks noGrp="1"/>
          </p:cNvSpPr>
          <p:nvPr>
            <p:ph type="title"/>
          </p:nvPr>
        </p:nvSpPr>
        <p:spPr>
          <a:ln/>
        </p:spPr>
        <p:txBody>
          <a:bodyPr vert="horz" wrap="square" lIns="91440" tIns="45720" rIns="91440" bIns="45720" anchor="ctr" anchorCtr="0"/>
          <a:p>
            <a:r>
              <a:rPr lang="zh-CN" altLang="en-US" dirty="0">
                <a:solidFill>
                  <a:srgbClr val="993300"/>
                </a:solidFill>
                <a:ea typeface="楷体_GB2312"/>
              </a:rPr>
              <a:t>金属切削的基础知识</a:t>
            </a:r>
            <a:endParaRPr lang="zh-CN" altLang="en-US" dirty="0"/>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5" name="Picture 2" descr="O12A0200"/>
          <p:cNvPicPr>
            <a:picLocks noChangeAspect="1"/>
          </p:cNvPicPr>
          <p:nvPr/>
        </p:nvPicPr>
        <p:blipFill>
          <a:blip r:embed="rId1"/>
          <a:stretch>
            <a:fillRect/>
          </a:stretch>
        </p:blipFill>
        <p:spPr>
          <a:xfrm>
            <a:off x="685800" y="3060700"/>
            <a:ext cx="7558088" cy="2816225"/>
          </a:xfrm>
          <a:prstGeom prst="rect">
            <a:avLst/>
          </a:prstGeom>
          <a:noFill/>
          <a:ln w="9525" cap="flat" cmpd="sng">
            <a:solidFill>
              <a:srgbClr val="FF3300"/>
            </a:solidFill>
            <a:prstDash val="solid"/>
            <a:miter/>
            <a:headEnd type="none" w="med" len="med"/>
            <a:tailEnd type="none" w="med" len="med"/>
          </a:ln>
        </p:spPr>
      </p:pic>
      <p:sp>
        <p:nvSpPr>
          <p:cNvPr id="57346" name="Rectangle 3"/>
          <p:cNvSpPr>
            <a:spLocks noGrp="1"/>
          </p:cNvSpPr>
          <p:nvPr>
            <p:ph type="title"/>
          </p:nvPr>
        </p:nvSpPr>
        <p:spPr>
          <a:xfrm>
            <a:off x="2590800" y="44450"/>
            <a:ext cx="6019800" cy="1190625"/>
          </a:xfrm>
          <a:ln/>
        </p:spPr>
        <p:txBody>
          <a:bodyPr vert="horz" wrap="square" lIns="91440" tIns="45720" rIns="91440" bIns="45720" anchor="ctr" anchorCtr="0"/>
          <a:p>
            <a:pPr algn="ctr" eaLnBrk="1" hangingPunct="1"/>
            <a:r>
              <a:rPr lang="zh-CN" altLang="en-US" dirty="0">
                <a:solidFill>
                  <a:srgbClr val="993300"/>
                </a:solidFill>
                <a:ea typeface="楷体_GB2312"/>
              </a:rPr>
              <a:t>金属切削的基础知识</a:t>
            </a:r>
            <a:br>
              <a:rPr lang="en-US" altLang="zh-CN" dirty="0">
                <a:solidFill>
                  <a:srgbClr val="993300"/>
                </a:solidFill>
                <a:ea typeface="楷体_GB2312"/>
              </a:rPr>
            </a:br>
            <a:r>
              <a:rPr lang="zh-CN" altLang="en-US" dirty="0">
                <a:solidFill>
                  <a:srgbClr val="990033"/>
                </a:solidFill>
                <a:ea typeface="楷体_GB2312"/>
              </a:rPr>
              <a:t>刀具构造</a:t>
            </a:r>
            <a:endParaRPr lang="zh-CN" altLang="en-US" dirty="0">
              <a:solidFill>
                <a:srgbClr val="990033"/>
              </a:solidFill>
              <a:ea typeface="楷体_GB2312"/>
            </a:endParaRPr>
          </a:p>
        </p:txBody>
      </p:sp>
      <p:sp>
        <p:nvSpPr>
          <p:cNvPr id="57347" name="Rectangle 4"/>
          <p:cNvSpPr>
            <a:spLocks noGrp="1"/>
          </p:cNvSpPr>
          <p:nvPr>
            <p:ph idx="1"/>
          </p:nvPr>
        </p:nvSpPr>
        <p:spPr>
          <a:xfrm>
            <a:off x="0" y="1341438"/>
            <a:ext cx="8604250" cy="1366837"/>
          </a:xfrm>
          <a:ln/>
        </p:spPr>
        <p:txBody>
          <a:bodyPr vert="horz" wrap="square" lIns="91440" tIns="45720" rIns="91440" bIns="45720" anchor="t" anchorCtr="0"/>
          <a:p>
            <a:pPr eaLnBrk="1" hangingPunct="1"/>
            <a:r>
              <a:rPr lang="zh-CN" altLang="en-US" b="1" dirty="0">
                <a:solidFill>
                  <a:srgbClr val="FF3300"/>
                </a:solidFill>
                <a:ea typeface="楷体_GB2312"/>
              </a:rPr>
              <a:t>刀具几何参数</a:t>
            </a:r>
            <a:endParaRPr lang="zh-CN" altLang="en-US" b="1" dirty="0">
              <a:solidFill>
                <a:srgbClr val="FF3300"/>
              </a:solidFill>
              <a:ea typeface="楷体_GB2312"/>
            </a:endParaRPr>
          </a:p>
          <a:p>
            <a:pPr lvl="1" eaLnBrk="1" hangingPunct="1">
              <a:buClr>
                <a:srgbClr val="FF9900"/>
              </a:buClr>
              <a:buNone/>
            </a:pPr>
            <a:r>
              <a:rPr lang="zh-CN" altLang="en-US" b="1" dirty="0">
                <a:solidFill>
                  <a:srgbClr val="000000"/>
                </a:solidFill>
                <a:ea typeface="楷体_GB2312"/>
              </a:rPr>
              <a:t>“</a:t>
            </a:r>
            <a:r>
              <a:rPr lang="zh-CN" altLang="en-US" b="1" dirty="0">
                <a:solidFill>
                  <a:srgbClr val="000000"/>
                </a:solidFill>
                <a:latin typeface="楷体_GB2312"/>
                <a:ea typeface="楷体_GB2312"/>
              </a:rPr>
              <a:t>三面两刃一尖</a:t>
            </a:r>
            <a:r>
              <a:rPr lang="zh-CN" altLang="en-US" b="1" dirty="0">
                <a:solidFill>
                  <a:srgbClr val="000000"/>
                </a:solidFill>
                <a:ea typeface="楷体_GB2312"/>
              </a:rPr>
              <a:t>”</a:t>
            </a:r>
            <a:r>
              <a:rPr lang="en-US" altLang="zh-CN" b="1" dirty="0">
                <a:solidFill>
                  <a:srgbClr val="000000"/>
                </a:solidFill>
                <a:latin typeface="楷体_GB2312"/>
                <a:ea typeface="楷体_GB2312"/>
              </a:rPr>
              <a:t>,</a:t>
            </a:r>
            <a:r>
              <a:rPr lang="zh-CN" altLang="en-US" b="1" dirty="0">
                <a:solidFill>
                  <a:srgbClr val="000000"/>
                </a:solidFill>
                <a:latin typeface="楷体_GB2312"/>
                <a:ea typeface="楷体_GB2312"/>
              </a:rPr>
              <a:t>以车刀为例。</a:t>
            </a:r>
            <a:endParaRPr lang="zh-CN" altLang="en-US" sz="2900" dirty="0">
              <a:solidFill>
                <a:srgbClr val="000000"/>
              </a:solidFill>
            </a:endParaRPr>
          </a:p>
          <a:p>
            <a:pPr lvl="2" eaLnBrk="1" hangingPunct="1"/>
            <a:endParaRPr lang="en-US" altLang="zh-CN" sz="2500" dirty="0"/>
          </a:p>
        </p:txBody>
      </p:sp>
      <p:pic>
        <p:nvPicPr>
          <p:cNvPr id="1445893" name="Picture 5" descr="6-9"/>
          <p:cNvPicPr>
            <a:picLocks noChangeAspect="1"/>
          </p:cNvPicPr>
          <p:nvPr/>
        </p:nvPicPr>
        <p:blipFill>
          <a:blip r:embed="rId2"/>
          <a:stretch>
            <a:fillRect/>
          </a:stretch>
        </p:blipFill>
        <p:spPr>
          <a:xfrm>
            <a:off x="1473200" y="2565400"/>
            <a:ext cx="5762625" cy="3979863"/>
          </a:xfrm>
          <a:prstGeom prst="rect">
            <a:avLst/>
          </a:prstGeom>
          <a:noFill/>
          <a:ln w="9525" cap="flat" cmpd="sng">
            <a:solidFill>
              <a:srgbClr val="FF3300"/>
            </a:solidFill>
            <a:prstDash val="solid"/>
            <a:miter/>
            <a:headEnd type="none" w="med" len="med"/>
            <a:tailEnd type="none" w="med" len="med"/>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445893"/>
                                        </p:tgtEl>
                                        <p:attrNameLst>
                                          <p:attrName>style.visibility</p:attrName>
                                        </p:attrNameLst>
                                      </p:cBhvr>
                                      <p:to>
                                        <p:strVal val="visible"/>
                                      </p:to>
                                    </p:set>
                                    <p:animEffect transition="in" filter="wedge">
                                      <p:cBhvr>
                                        <p:cTn id="7" dur="2000"/>
                                        <p:tgtEl>
                                          <p:spTgt spid="1445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a:ln/>
        </p:spPr>
        <p:txBody>
          <a:bodyPr anchor="ctr" anchorCtr="0"/>
          <a:p>
            <a:r>
              <a:rPr lang="zh-CN" altLang="en-US"/>
              <a:t>上节回顾</a:t>
            </a:r>
            <a:endParaRPr lang="zh-CN" altLang="en-US"/>
          </a:p>
        </p:txBody>
      </p:sp>
      <p:sp>
        <p:nvSpPr>
          <p:cNvPr id="59394" name="内容占位符 2"/>
          <p:cNvSpPr>
            <a:spLocks noGrp="1"/>
          </p:cNvSpPr>
          <p:nvPr>
            <p:ph idx="1"/>
          </p:nvPr>
        </p:nvSpPr>
        <p:spPr>
          <a:ln/>
        </p:spPr>
        <p:txBody>
          <a:bodyPr anchor="t" anchorCtr="0"/>
          <a:p>
            <a:r>
              <a:rPr lang="zh-CN" altLang="en-US"/>
              <a:t>切削加工成形方法</a:t>
            </a:r>
            <a:endParaRPr lang="zh-CN" altLang="en-US"/>
          </a:p>
          <a:p>
            <a:pPr lvl="1"/>
            <a:r>
              <a:rPr lang="zh-CN" altLang="en-US"/>
              <a:t>成型法，轨迹法，相切法，范成法</a:t>
            </a:r>
            <a:endParaRPr lang="zh-CN" altLang="en-US"/>
          </a:p>
          <a:p>
            <a:r>
              <a:rPr lang="zh-CN" altLang="en-US"/>
              <a:t>切削用量三要素</a:t>
            </a:r>
            <a:endParaRPr lang="zh-CN" altLang="en-US"/>
          </a:p>
          <a:p>
            <a:pPr lvl="1"/>
            <a:r>
              <a:rPr lang="zh-CN" altLang="en-US"/>
              <a:t>切削速度，进给量，背吃刀深度</a:t>
            </a:r>
            <a:endParaRPr lang="zh-CN" altLang="en-US"/>
          </a:p>
          <a:p>
            <a:r>
              <a:rPr lang="zh-CN" altLang="en-US"/>
              <a:t>刀具</a:t>
            </a:r>
            <a:endParaRPr lang="zh-CN" altLang="en-US"/>
          </a:p>
          <a:p>
            <a:pPr lvl="1"/>
            <a:r>
              <a:rPr lang="zh-CN" altLang="en-US"/>
              <a:t>基面、切削平面、正交平面</a:t>
            </a:r>
            <a:endParaRPr lang="zh-CN" altLang="en-US"/>
          </a:p>
          <a:p>
            <a:pPr lvl="1"/>
            <a:r>
              <a:rPr lang="zh-CN" altLang="en-US"/>
              <a:t>三面两刃一尖</a:t>
            </a:r>
            <a:endParaRPr lang="zh-CN" altLang="en-US"/>
          </a:p>
          <a:p>
            <a:pPr lvl="1"/>
            <a:r>
              <a:rPr lang="zh-CN" altLang="en-US"/>
              <a:t>视频</a:t>
            </a:r>
            <a:endParaRPr lang="zh-CN" altLang="en-US"/>
          </a:p>
        </p:txBody>
      </p:sp>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a:ln/>
        </p:spPr>
        <p:txBody>
          <a:bodyPr anchor="ctr" anchorCtr="0"/>
          <a:p>
            <a:endParaRPr lang="zh-CN" altLang="en-US"/>
          </a:p>
        </p:txBody>
      </p:sp>
      <p:graphicFrame>
        <p:nvGraphicFramePr>
          <p:cNvPr id="60418" name="内容占位符 3"/>
          <p:cNvGraphicFramePr>
            <a:graphicFrameLocks noGrp="1" noChangeAspect="1"/>
          </p:cNvGraphicFramePr>
          <p:nvPr>
            <p:ph idx="1"/>
          </p:nvPr>
        </p:nvGraphicFramePr>
        <p:xfrm>
          <a:off x="0" y="1897063"/>
          <a:ext cx="9193213" cy="4122737"/>
        </p:xfrm>
        <a:graphic>
          <a:graphicData uri="http://schemas.openxmlformats.org/presentationml/2006/ole">
            <mc:AlternateContent xmlns:mc="http://schemas.openxmlformats.org/markup-compatibility/2006">
              <mc:Choice xmlns:v="urn:schemas-microsoft-com:vml" Requires="v">
                <p:oleObj spid="_x0000_s3086" name="" r:id="rId1" imgW="5226050" imgH="2343150" progId="Paint.Picture">
                  <p:embed/>
                </p:oleObj>
              </mc:Choice>
              <mc:Fallback>
                <p:oleObj name="" r:id="rId1" imgW="5226050" imgH="2343150" progId="Paint.Picture">
                  <p:embed/>
                  <p:pic>
                    <p:nvPicPr>
                      <p:cNvPr id="0" name="图片 3085"/>
                      <p:cNvPicPr/>
                      <p:nvPr/>
                    </p:nvPicPr>
                    <p:blipFill>
                      <a:blip r:embed="rId2"/>
                      <a:stretch>
                        <a:fillRect/>
                      </a:stretch>
                    </p:blipFill>
                    <p:spPr>
                      <a:xfrm>
                        <a:off x="0" y="1897063"/>
                        <a:ext cx="9193213" cy="4122737"/>
                      </a:xfrm>
                      <a:prstGeom prst="rect">
                        <a:avLst/>
                      </a:prstGeom>
                      <a:noFill/>
                      <a:ln w="38100">
                        <a:miter/>
                      </a:ln>
                    </p:spPr>
                  </p:pic>
                </p:oleObj>
              </mc:Fallback>
            </mc:AlternateContent>
          </a:graphicData>
        </a:graphic>
      </p:graphicFrame>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3"/>
          <p:cNvSpPr>
            <a:spLocks noGrp="1"/>
          </p:cNvSpPr>
          <p:nvPr>
            <p:ph idx="1"/>
          </p:nvPr>
        </p:nvSpPr>
        <p:spPr>
          <a:xfrm>
            <a:off x="215900" y="1270000"/>
            <a:ext cx="8604250" cy="3311525"/>
          </a:xfrm>
          <a:ln/>
        </p:spPr>
        <p:txBody>
          <a:bodyPr vert="horz" wrap="square" lIns="91440" tIns="45720" rIns="91440" bIns="45720" anchor="t" anchorCtr="0"/>
          <a:p>
            <a:pPr eaLnBrk="1" hangingPunct="1">
              <a:lnSpc>
                <a:spcPct val="90000"/>
              </a:lnSpc>
            </a:pPr>
            <a:r>
              <a:rPr lang="en-US" altLang="zh-CN" sz="2800" b="1" dirty="0">
                <a:solidFill>
                  <a:srgbClr val="00CC00"/>
                </a:solidFill>
                <a:ea typeface="楷体_GB2312"/>
              </a:rPr>
              <a:t>“</a:t>
            </a:r>
            <a:r>
              <a:rPr lang="zh-CN" altLang="en-US" sz="2800" b="1" dirty="0">
                <a:solidFill>
                  <a:srgbClr val="00CC00"/>
                </a:solidFill>
                <a:ea typeface="楷体_GB2312"/>
              </a:rPr>
              <a:t>三面两刃一尖”</a:t>
            </a:r>
            <a:endParaRPr lang="zh-CN" altLang="en-US" sz="2800" b="1" dirty="0">
              <a:solidFill>
                <a:srgbClr val="00CC00"/>
              </a:solidFill>
              <a:ea typeface="楷体_GB2312"/>
            </a:endParaRPr>
          </a:p>
          <a:p>
            <a:pPr lvl="1" eaLnBrk="1" hangingPunct="1">
              <a:lnSpc>
                <a:spcPct val="90000"/>
              </a:lnSpc>
            </a:pPr>
            <a:r>
              <a:rPr lang="zh-CN" altLang="en-US" sz="2400" b="1" dirty="0">
                <a:solidFill>
                  <a:srgbClr val="CC3300"/>
                </a:solidFill>
                <a:latin typeface="楷体_GB2312"/>
                <a:ea typeface="楷体_GB2312"/>
              </a:rPr>
              <a:t>前刀面</a:t>
            </a:r>
            <a:r>
              <a:rPr lang="zh-CN" altLang="en-US" sz="2400" b="1" dirty="0">
                <a:latin typeface="楷体_GB2312"/>
                <a:ea typeface="楷体_GB2312"/>
              </a:rPr>
              <a:t> </a:t>
            </a:r>
            <a:r>
              <a:rPr lang="zh-CN" altLang="en-US" sz="2400" b="1" dirty="0">
                <a:solidFill>
                  <a:srgbClr val="000000"/>
                </a:solidFill>
                <a:latin typeface="楷体_GB2312"/>
                <a:ea typeface="楷体_GB2312"/>
              </a:rPr>
              <a:t>刀具上切屑流过的表面。</a:t>
            </a:r>
            <a:endParaRPr lang="zh-CN" altLang="en-US" sz="2400" b="1" dirty="0">
              <a:solidFill>
                <a:srgbClr val="000000"/>
              </a:solidFill>
              <a:latin typeface="楷体_GB2312"/>
              <a:ea typeface="楷体_GB2312"/>
            </a:endParaRPr>
          </a:p>
          <a:p>
            <a:pPr lvl="1" eaLnBrk="1" hangingPunct="1">
              <a:lnSpc>
                <a:spcPct val="90000"/>
              </a:lnSpc>
            </a:pPr>
            <a:r>
              <a:rPr lang="zh-CN" altLang="en-US" sz="2400" b="1" dirty="0">
                <a:solidFill>
                  <a:srgbClr val="CC3300"/>
                </a:solidFill>
                <a:latin typeface="楷体_GB2312"/>
                <a:ea typeface="楷体_GB2312"/>
              </a:rPr>
              <a:t>后刀面</a:t>
            </a:r>
            <a:r>
              <a:rPr lang="zh-CN" altLang="en-US" sz="2400" b="1" dirty="0">
                <a:latin typeface="楷体_GB2312"/>
                <a:ea typeface="楷体_GB2312"/>
              </a:rPr>
              <a:t> </a:t>
            </a:r>
            <a:r>
              <a:rPr lang="zh-CN" altLang="en-US" sz="2400" b="1" dirty="0">
                <a:solidFill>
                  <a:srgbClr val="000000"/>
                </a:solidFill>
                <a:latin typeface="楷体_GB2312"/>
                <a:ea typeface="楷体_GB2312"/>
              </a:rPr>
              <a:t>刀具上，与工件上切削中产生的表面相对的表面，有</a:t>
            </a:r>
            <a:r>
              <a:rPr lang="zh-CN" altLang="en-US" sz="2400" b="1" dirty="0">
                <a:latin typeface="楷体_GB2312"/>
                <a:ea typeface="楷体_GB2312"/>
              </a:rPr>
              <a:t>主后刀面</a:t>
            </a:r>
            <a:r>
              <a:rPr lang="zh-CN" altLang="en-US" sz="2400" b="1" dirty="0">
                <a:solidFill>
                  <a:srgbClr val="000000"/>
                </a:solidFill>
                <a:latin typeface="楷体_GB2312"/>
                <a:ea typeface="楷体_GB2312"/>
              </a:rPr>
              <a:t>和</a:t>
            </a:r>
            <a:r>
              <a:rPr lang="zh-CN" altLang="en-US" sz="2400" b="1" dirty="0">
                <a:latin typeface="楷体_GB2312"/>
                <a:ea typeface="楷体_GB2312"/>
              </a:rPr>
              <a:t>副后刀面。</a:t>
            </a:r>
            <a:endParaRPr lang="zh-CN" altLang="en-US" sz="2400" b="1" dirty="0">
              <a:latin typeface="楷体_GB2312"/>
              <a:ea typeface="楷体_GB2312"/>
            </a:endParaRPr>
          </a:p>
          <a:p>
            <a:pPr lvl="1" eaLnBrk="1" hangingPunct="1">
              <a:lnSpc>
                <a:spcPct val="90000"/>
              </a:lnSpc>
            </a:pPr>
            <a:r>
              <a:rPr lang="zh-CN" altLang="en-US" sz="2400" b="1" dirty="0">
                <a:solidFill>
                  <a:srgbClr val="CC3300"/>
                </a:solidFill>
                <a:latin typeface="楷体_GB2312"/>
                <a:ea typeface="楷体_GB2312"/>
              </a:rPr>
              <a:t>切削刃</a:t>
            </a:r>
            <a:r>
              <a:rPr lang="zh-CN" altLang="en-US" sz="2400" b="1" dirty="0">
                <a:latin typeface="楷体_GB2312"/>
                <a:ea typeface="楷体_GB2312"/>
              </a:rPr>
              <a:t> </a:t>
            </a:r>
            <a:r>
              <a:rPr lang="zh-CN" altLang="en-US" sz="2400" b="1" dirty="0">
                <a:solidFill>
                  <a:srgbClr val="000000"/>
                </a:solidFill>
                <a:latin typeface="楷体_GB2312"/>
                <a:ea typeface="楷体_GB2312"/>
              </a:rPr>
              <a:t>刀具前刀面上拟作切削用的刃，有主切削刃和副切削刃。</a:t>
            </a:r>
            <a:endParaRPr lang="zh-CN" altLang="en-US" sz="2400" b="1" dirty="0">
              <a:solidFill>
                <a:srgbClr val="000000"/>
              </a:solidFill>
              <a:latin typeface="楷体_GB2312"/>
              <a:ea typeface="楷体_GB2312"/>
            </a:endParaRPr>
          </a:p>
          <a:p>
            <a:pPr lvl="1" eaLnBrk="1" hangingPunct="1">
              <a:lnSpc>
                <a:spcPct val="90000"/>
              </a:lnSpc>
            </a:pPr>
            <a:r>
              <a:rPr lang="zh-CN" altLang="en-US" sz="2400" b="1" dirty="0">
                <a:solidFill>
                  <a:srgbClr val="CC3300"/>
                </a:solidFill>
                <a:latin typeface="楷体_GB2312"/>
                <a:ea typeface="楷体_GB2312"/>
              </a:rPr>
              <a:t>刀尖</a:t>
            </a:r>
            <a:r>
              <a:rPr lang="zh-CN" altLang="en-US" sz="2400" b="1" dirty="0">
                <a:solidFill>
                  <a:srgbClr val="CC6600"/>
                </a:solidFill>
                <a:latin typeface="楷体_GB2312"/>
                <a:ea typeface="楷体_GB2312"/>
              </a:rPr>
              <a:t> </a:t>
            </a:r>
            <a:r>
              <a:rPr lang="zh-CN" altLang="en-US" sz="2400" b="1" dirty="0">
                <a:solidFill>
                  <a:srgbClr val="000000"/>
                </a:solidFill>
                <a:latin typeface="楷体_GB2312"/>
                <a:ea typeface="楷体_GB2312"/>
              </a:rPr>
              <a:t>主切削刃与副切削刃的连接处相当少的一部分切削刃，称为刀尖。</a:t>
            </a:r>
            <a:r>
              <a:rPr lang="zh-CN" altLang="en-US" sz="2600" dirty="0"/>
              <a:t>   </a:t>
            </a:r>
            <a:endParaRPr lang="zh-CN" altLang="en-US" sz="2600" dirty="0"/>
          </a:p>
        </p:txBody>
      </p:sp>
      <p:pic>
        <p:nvPicPr>
          <p:cNvPr id="61442" name="Picture 4" descr="l2"/>
          <p:cNvPicPr>
            <a:picLocks noChangeAspect="1"/>
          </p:cNvPicPr>
          <p:nvPr/>
        </p:nvPicPr>
        <p:blipFill>
          <a:blip r:embed="rId1"/>
          <a:stretch>
            <a:fillRect/>
          </a:stretch>
        </p:blipFill>
        <p:spPr>
          <a:xfrm>
            <a:off x="3492500" y="4149725"/>
            <a:ext cx="3657600" cy="2576513"/>
          </a:xfrm>
          <a:prstGeom prst="rect">
            <a:avLst/>
          </a:prstGeom>
          <a:solidFill>
            <a:srgbClr val="FF9900"/>
          </a:solidFill>
          <a:ln w="9525" cap="flat" cmpd="sng">
            <a:solidFill>
              <a:srgbClr val="FF0000"/>
            </a:solidFill>
            <a:prstDash val="solid"/>
            <a:miter/>
            <a:headEnd type="none" w="med" len="med"/>
            <a:tailEnd type="none" w="med" len="med"/>
          </a:ln>
        </p:spPr>
      </p:pic>
      <p:sp>
        <p:nvSpPr>
          <p:cNvPr id="61443" name="标题 1"/>
          <p:cNvSpPr>
            <a:spLocks noGrp="1"/>
          </p:cNvSpPr>
          <p:nvPr>
            <p:ph type="title"/>
          </p:nvPr>
        </p:nvSpPr>
        <p:spPr>
          <a:ln/>
        </p:spPr>
        <p:txBody>
          <a:bodyPr vert="horz" wrap="square" lIns="91440" tIns="45720" rIns="91440" bIns="45720" anchor="ctr" anchorCtr="0"/>
          <a:p>
            <a:pPr algn="ctr"/>
            <a:r>
              <a:rPr lang="zh-CN" altLang="en-US" dirty="0">
                <a:solidFill>
                  <a:srgbClr val="990033"/>
                </a:solidFill>
                <a:ea typeface="楷体_GB2312"/>
              </a:rPr>
              <a:t>刀具构造</a:t>
            </a:r>
            <a:endParaRPr lang="zh-CN" altLang="en-US" dirty="0"/>
          </a:p>
        </p:txBody>
      </p:sp>
    </p:spTree>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3"/>
          <p:cNvSpPr>
            <a:spLocks noGrp="1"/>
          </p:cNvSpPr>
          <p:nvPr>
            <p:ph type="body" sz="half" idx="1"/>
          </p:nvPr>
        </p:nvSpPr>
        <p:spPr>
          <a:xfrm>
            <a:off x="152400" y="1268413"/>
            <a:ext cx="8812213" cy="1857375"/>
          </a:xfrm>
          <a:ln/>
        </p:spPr>
        <p:txBody>
          <a:bodyPr vert="horz" wrap="square" lIns="91440" tIns="45720" rIns="91440" bIns="45720" anchor="t" anchorCtr="0"/>
          <a:p>
            <a:pPr eaLnBrk="1" hangingPunct="1">
              <a:buClrTx/>
              <a:buSzTx/>
              <a:buFontTx/>
            </a:pPr>
            <a:r>
              <a:rPr lang="zh-CN" altLang="en-US" sz="2800" b="1" dirty="0">
                <a:solidFill>
                  <a:srgbClr val="00CC00"/>
                </a:solidFill>
                <a:latin typeface="楷体_GB2312"/>
                <a:ea typeface="楷体_GB2312"/>
              </a:rPr>
              <a:t>刀具的静止参考系</a:t>
            </a:r>
            <a:r>
              <a:rPr lang="zh-CN" altLang="en-US" sz="2000" b="1" dirty="0">
                <a:latin typeface="楷体_GB2312"/>
                <a:ea typeface="楷体_GB2312"/>
              </a:rPr>
              <a:t>    </a:t>
            </a:r>
            <a:endParaRPr lang="zh-CN" altLang="en-US" sz="2000" b="1" dirty="0">
              <a:latin typeface="楷体_GB2312"/>
              <a:ea typeface="楷体_GB2312"/>
            </a:endParaRPr>
          </a:p>
          <a:p>
            <a:pPr lvl="1" eaLnBrk="1" hangingPunct="1"/>
            <a:r>
              <a:rPr lang="zh-CN" altLang="en-US" sz="2400" b="1" dirty="0">
                <a:solidFill>
                  <a:srgbClr val="FF3300"/>
                </a:solidFill>
                <a:latin typeface="楷体_GB2312"/>
                <a:ea typeface="楷体_GB2312"/>
              </a:rPr>
              <a:t>运动假设：</a:t>
            </a:r>
            <a:r>
              <a:rPr lang="zh-CN" altLang="en-US" sz="2400" b="1" dirty="0">
                <a:solidFill>
                  <a:srgbClr val="000000"/>
                </a:solidFill>
                <a:latin typeface="楷体_GB2312"/>
                <a:ea typeface="楷体_GB2312"/>
              </a:rPr>
              <a:t>假设刀具的进给运动速度为零；</a:t>
            </a:r>
            <a:endParaRPr lang="zh-CN" altLang="en-US" sz="2400" b="1" dirty="0">
              <a:solidFill>
                <a:srgbClr val="000000"/>
              </a:solidFill>
              <a:latin typeface="楷体_GB2312"/>
              <a:ea typeface="楷体_GB2312"/>
            </a:endParaRPr>
          </a:p>
          <a:p>
            <a:pPr lvl="1" eaLnBrk="1" hangingPunct="1"/>
            <a:r>
              <a:rPr lang="zh-CN" altLang="en-US" sz="2400" b="1" dirty="0">
                <a:solidFill>
                  <a:srgbClr val="FF3300"/>
                </a:solidFill>
                <a:latin typeface="楷体_GB2312"/>
                <a:ea typeface="楷体_GB2312"/>
              </a:rPr>
              <a:t>安装假设：</a:t>
            </a:r>
            <a:r>
              <a:rPr lang="zh-CN" altLang="en-US" sz="2400" b="1" dirty="0">
                <a:solidFill>
                  <a:srgbClr val="000000"/>
                </a:solidFill>
                <a:latin typeface="楷体_GB2312"/>
                <a:ea typeface="楷体_GB2312"/>
              </a:rPr>
              <a:t>假设刀具安装时刀尖与工件的轴线等高；刀杆与工件的轴线垂直。</a:t>
            </a:r>
            <a:endParaRPr lang="zh-CN" altLang="en-US" sz="2400" b="1" dirty="0">
              <a:solidFill>
                <a:srgbClr val="000000"/>
              </a:solidFill>
              <a:latin typeface="楷体_GB2312"/>
              <a:ea typeface="楷体_GB2312"/>
            </a:endParaRPr>
          </a:p>
        </p:txBody>
      </p:sp>
      <p:pic>
        <p:nvPicPr>
          <p:cNvPr id="63490" name="Picture 4" descr="l3"/>
          <p:cNvPicPr>
            <a:picLocks noChangeAspect="1"/>
          </p:cNvPicPr>
          <p:nvPr/>
        </p:nvPicPr>
        <p:blipFill>
          <a:blip r:embed="rId1"/>
          <a:stretch>
            <a:fillRect/>
          </a:stretch>
        </p:blipFill>
        <p:spPr>
          <a:xfrm>
            <a:off x="4932363" y="3478213"/>
            <a:ext cx="3810000" cy="2759075"/>
          </a:xfrm>
          <a:prstGeom prst="rect">
            <a:avLst/>
          </a:prstGeom>
          <a:solidFill>
            <a:srgbClr val="FF0000"/>
          </a:solidFill>
          <a:ln w="12700" cap="flat" cmpd="sng">
            <a:solidFill>
              <a:srgbClr val="FF0000"/>
            </a:solidFill>
            <a:prstDash val="solid"/>
            <a:miter/>
            <a:headEnd type="none" w="med" len="med"/>
            <a:tailEnd type="none" w="med" len="med"/>
          </a:ln>
        </p:spPr>
      </p:pic>
      <p:sp>
        <p:nvSpPr>
          <p:cNvPr id="63491" name="Rectangle 5"/>
          <p:cNvSpPr/>
          <p:nvPr/>
        </p:nvSpPr>
        <p:spPr>
          <a:xfrm>
            <a:off x="395288" y="3290888"/>
            <a:ext cx="4464050" cy="3378200"/>
          </a:xfrm>
          <a:prstGeom prst="rect">
            <a:avLst/>
          </a:prstGeom>
          <a:noFill/>
          <a:ln w="9525">
            <a:noFill/>
          </a:ln>
        </p:spPr>
        <p:txBody>
          <a:bodyPr anchor="t" anchorCtr="0">
            <a:spAutoFit/>
          </a:bodyPr>
          <a:p>
            <a:pPr>
              <a:buFont typeface="宋体" panose="02010600030101010101" pitchFamily="2" charset="-122"/>
              <a:buChar char="–"/>
            </a:pPr>
            <a:r>
              <a:rPr lang="zh-CN" altLang="en-US" sz="2400" b="1" dirty="0">
                <a:solidFill>
                  <a:srgbClr val="0033CC"/>
                </a:solidFill>
                <a:latin typeface="楷体_GB2312"/>
                <a:ea typeface="楷体_GB2312"/>
              </a:rPr>
              <a:t>基面</a:t>
            </a:r>
            <a:r>
              <a:rPr lang="zh-CN" altLang="en-US" sz="2400" b="1" dirty="0">
                <a:solidFill>
                  <a:srgbClr val="0033CC"/>
                </a:solidFill>
                <a:latin typeface="Arial" panose="020B0604020202020204" pitchFamily="34" charset="0"/>
                <a:ea typeface="楷体_GB2312"/>
              </a:rPr>
              <a:t>：</a:t>
            </a:r>
            <a:r>
              <a:rPr lang="zh-CN" altLang="en-US" sz="2400" b="1" dirty="0">
                <a:solidFill>
                  <a:srgbClr val="000000"/>
                </a:solidFill>
                <a:latin typeface="Arial" panose="020B0604020202020204" pitchFamily="34" charset="0"/>
                <a:ea typeface="楷体_GB2312"/>
              </a:rPr>
              <a:t>过主切削刃选定的点的平面，垂直于假定的主运动方向，可视为水平面；</a:t>
            </a:r>
            <a:endParaRPr lang="zh-CN" altLang="en-US" sz="2400" b="1" dirty="0">
              <a:solidFill>
                <a:srgbClr val="000000"/>
              </a:solidFill>
              <a:latin typeface="Arial" panose="020B0604020202020204" pitchFamily="34" charset="0"/>
              <a:ea typeface="楷体_GB2312"/>
            </a:endParaRPr>
          </a:p>
          <a:p>
            <a:pPr>
              <a:buFont typeface="宋体" panose="02010600030101010101" pitchFamily="2" charset="-122"/>
              <a:buChar char="–"/>
            </a:pPr>
            <a:r>
              <a:rPr lang="zh-CN" altLang="en-US" sz="2400" b="1" dirty="0">
                <a:solidFill>
                  <a:srgbClr val="0033CC"/>
                </a:solidFill>
                <a:latin typeface="楷体_GB2312"/>
                <a:ea typeface="楷体_GB2312"/>
              </a:rPr>
              <a:t>主切削平面：</a:t>
            </a:r>
            <a:r>
              <a:rPr lang="zh-CN" altLang="en-US" sz="2400" b="1" dirty="0">
                <a:solidFill>
                  <a:srgbClr val="000000"/>
                </a:solidFill>
                <a:latin typeface="Arial" panose="020B0604020202020204" pitchFamily="34" charset="0"/>
                <a:ea typeface="楷体_GB2312"/>
              </a:rPr>
              <a:t>通过主切削刃选定点与主切削刃相切并垂直于基面的平面；</a:t>
            </a:r>
            <a:endParaRPr lang="zh-CN" altLang="en-US" sz="2400" b="1" dirty="0">
              <a:solidFill>
                <a:srgbClr val="000000"/>
              </a:solidFill>
              <a:latin typeface="Arial" panose="020B0604020202020204" pitchFamily="34" charset="0"/>
              <a:ea typeface="楷体_GB2312"/>
            </a:endParaRPr>
          </a:p>
          <a:p>
            <a:pPr>
              <a:buFont typeface="宋体" panose="02010600030101010101" pitchFamily="2" charset="-122"/>
              <a:buChar char="–"/>
            </a:pPr>
            <a:r>
              <a:rPr lang="zh-CN" altLang="en-US" sz="2400" b="1" dirty="0">
                <a:solidFill>
                  <a:srgbClr val="0033CC"/>
                </a:solidFill>
                <a:latin typeface="Arial" panose="020B0604020202020204" pitchFamily="34" charset="0"/>
                <a:ea typeface="楷体_GB2312"/>
              </a:rPr>
              <a:t>正交平面：</a:t>
            </a:r>
            <a:r>
              <a:rPr lang="zh-CN" altLang="en-US" sz="2400" b="1" dirty="0">
                <a:solidFill>
                  <a:srgbClr val="000000"/>
                </a:solidFill>
                <a:latin typeface="Arial" panose="020B0604020202020204" pitchFamily="34" charset="0"/>
                <a:ea typeface="楷体_GB2312"/>
              </a:rPr>
              <a:t>通过主切削刃选定点并同时垂直于基面和切削平面的面。</a:t>
            </a:r>
            <a:endParaRPr lang="zh-CN" altLang="en-US" sz="2400" b="1" dirty="0">
              <a:solidFill>
                <a:srgbClr val="000000"/>
              </a:solidFill>
              <a:latin typeface="Arial" panose="020B0604020202020204" pitchFamily="34" charset="0"/>
              <a:ea typeface="楷体_GB2312"/>
            </a:endParaRPr>
          </a:p>
        </p:txBody>
      </p:sp>
      <p:sp>
        <p:nvSpPr>
          <p:cNvPr id="63492" name="标题 1"/>
          <p:cNvSpPr>
            <a:spLocks noGrp="1"/>
          </p:cNvSpPr>
          <p:nvPr>
            <p:ph type="title"/>
          </p:nvPr>
        </p:nvSpPr>
        <p:spPr>
          <a:ln/>
        </p:spPr>
        <p:txBody>
          <a:bodyPr vert="horz" wrap="square" lIns="91440" tIns="45720" rIns="91440" bIns="45720" anchor="ctr" anchorCtr="0"/>
          <a:p>
            <a:pPr algn="ctr"/>
            <a:r>
              <a:rPr lang="zh-CN" altLang="en-US" dirty="0">
                <a:solidFill>
                  <a:srgbClr val="990033"/>
                </a:solidFill>
                <a:ea typeface="楷体_GB2312"/>
              </a:rPr>
              <a:t>刀具构造</a:t>
            </a:r>
            <a:endParaRPr lang="zh-CN" altLang="en-US" dirty="0"/>
          </a:p>
        </p:txBody>
      </p:sp>
    </p:spTree>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ln/>
        </p:spPr>
        <p:txBody>
          <a:bodyPr vert="horz" wrap="square" lIns="91440" tIns="45720" rIns="91440" bIns="45720" anchor="ctr" anchorCtr="0"/>
          <a:p>
            <a:pPr algn="ctr"/>
            <a:r>
              <a:rPr lang="zh-CN" altLang="en-US" dirty="0">
                <a:solidFill>
                  <a:srgbClr val="990033"/>
                </a:solidFill>
                <a:ea typeface="楷体_GB2312"/>
              </a:rPr>
              <a:t>刀具构造</a:t>
            </a:r>
            <a:endParaRPr lang="zh-CN" altLang="en-US" dirty="0"/>
          </a:p>
        </p:txBody>
      </p:sp>
      <p:sp>
        <p:nvSpPr>
          <p:cNvPr id="65538" name="内容占位符 2"/>
          <p:cNvSpPr>
            <a:spLocks noGrp="1"/>
          </p:cNvSpPr>
          <p:nvPr>
            <p:ph idx="1"/>
          </p:nvPr>
        </p:nvSpPr>
        <p:spPr>
          <a:ln/>
        </p:spPr>
        <p:txBody>
          <a:bodyPr vert="horz" wrap="square" lIns="91440" tIns="45720" rIns="91440" bIns="45720" anchor="t" anchorCtr="0"/>
          <a:p>
            <a:endParaRPr lang="zh-CN" altLang="en-US" dirty="0"/>
          </a:p>
        </p:txBody>
      </p:sp>
      <p:pic>
        <p:nvPicPr>
          <p:cNvPr id="65539" name="Picture 2" descr="https://timgsa.baidu.com/timg?image&amp;quality=80&amp;size=b9999_10000&amp;sec=1545234075164&amp;di=ac49639a5a83a06517483ab05e3e0ac3&amp;imgtype=0&amp;src=http%3A%2F%2F5b0988e595225.cdn.sohucs.com%2Fimages%2F20181116%2F935989d986494aa985c16204a827160d.jpeg"/>
          <p:cNvPicPr>
            <a:picLocks noChangeAspect="1"/>
          </p:cNvPicPr>
          <p:nvPr/>
        </p:nvPicPr>
        <p:blipFill>
          <a:blip r:embed="rId1"/>
          <a:stretch>
            <a:fillRect/>
          </a:stretch>
        </p:blipFill>
        <p:spPr>
          <a:xfrm>
            <a:off x="-82550" y="1123950"/>
            <a:ext cx="9232900" cy="5708650"/>
          </a:xfrm>
          <a:prstGeom prst="rect">
            <a:avLst/>
          </a:prstGeom>
          <a:noFill/>
          <a:ln w="9525">
            <a:noFill/>
          </a:ln>
        </p:spPr>
      </p:pic>
      <p:sp>
        <p:nvSpPr>
          <p:cNvPr id="2" name="圆角矩形标注 1"/>
          <p:cNvSpPr/>
          <p:nvPr/>
        </p:nvSpPr>
        <p:spPr>
          <a:xfrm>
            <a:off x="5364163" y="981075"/>
            <a:ext cx="3240088" cy="1079500"/>
          </a:xfrm>
          <a:prstGeom prst="wedgeRoundRectCallout">
            <a:avLst>
              <a:gd name="adj1" fmla="val -244"/>
              <a:gd name="adj2" fmla="val 12242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fontAlgn="base">
              <a:buFont typeface="宋体" panose="02010600030101010101" pitchFamily="2" charset="-122"/>
              <a:buChar char="–"/>
            </a:pPr>
            <a:r>
              <a:rPr lang="zh-CN" altLang="en-US" b="1" strike="noStrike" noProof="1" dirty="0">
                <a:solidFill>
                  <a:srgbClr val="0033CC"/>
                </a:solidFill>
                <a:latin typeface="楷体_GB2312"/>
                <a:ea typeface="楷体_GB2312"/>
                <a:sym typeface="+mn-ea"/>
              </a:rPr>
              <a:t>基面</a:t>
            </a:r>
            <a:r>
              <a:rPr lang="zh-CN" altLang="en-US" b="1" strike="noStrike" noProof="1" dirty="0">
                <a:solidFill>
                  <a:srgbClr val="0033CC"/>
                </a:solidFill>
                <a:latin typeface="Arial" panose="020B0604020202020204" pitchFamily="34" charset="0"/>
                <a:ea typeface="楷体_GB2312"/>
                <a:sym typeface="+mn-ea"/>
              </a:rPr>
              <a:t>：</a:t>
            </a:r>
            <a:r>
              <a:rPr lang="zh-CN" altLang="en-US" b="1" strike="noStrike" noProof="1" dirty="0">
                <a:solidFill>
                  <a:srgbClr val="000000"/>
                </a:solidFill>
                <a:latin typeface="Arial" panose="020B0604020202020204" pitchFamily="34" charset="0"/>
                <a:ea typeface="楷体_GB2312"/>
                <a:sym typeface="+mn-ea"/>
              </a:rPr>
              <a:t>过主切削刃选定的点的平面，垂直于假定的主运动方向，可视为水平面；</a:t>
            </a:r>
            <a:endParaRPr lang="zh-CN" altLang="en-US" strike="noStrike" noProof="1"/>
          </a:p>
        </p:txBody>
      </p:sp>
      <p:sp>
        <p:nvSpPr>
          <p:cNvPr id="3" name="圆角矩形标注 2"/>
          <p:cNvSpPr/>
          <p:nvPr/>
        </p:nvSpPr>
        <p:spPr>
          <a:xfrm>
            <a:off x="114300" y="3355975"/>
            <a:ext cx="2730500" cy="1360488"/>
          </a:xfrm>
          <a:prstGeom prst="wedgeRoundRectCallout">
            <a:avLst>
              <a:gd name="adj1" fmla="val 63720"/>
              <a:gd name="adj2" fmla="val -501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fontAlgn="base">
              <a:buFont typeface="宋体" panose="02010600030101010101" pitchFamily="2" charset="-122"/>
              <a:buChar char="–"/>
            </a:pPr>
            <a:r>
              <a:rPr lang="zh-CN" altLang="en-US" b="1" strike="noStrike" noProof="1" dirty="0">
                <a:solidFill>
                  <a:srgbClr val="0033CC"/>
                </a:solidFill>
                <a:latin typeface="楷体_GB2312"/>
                <a:ea typeface="楷体_GB2312"/>
                <a:sym typeface="+mn-ea"/>
              </a:rPr>
              <a:t>主切削平面：</a:t>
            </a:r>
            <a:r>
              <a:rPr lang="zh-CN" altLang="en-US" b="1" strike="noStrike" noProof="1" dirty="0">
                <a:solidFill>
                  <a:srgbClr val="000000"/>
                </a:solidFill>
                <a:latin typeface="Arial" panose="020B0604020202020204" pitchFamily="34" charset="0"/>
                <a:ea typeface="楷体_GB2312"/>
                <a:sym typeface="+mn-ea"/>
              </a:rPr>
              <a:t>通过主切削刃选定点与主切削刃相切并垂直于基面的平面；</a:t>
            </a:r>
            <a:endParaRPr lang="zh-CN" altLang="en-US" strike="noStrike" noProof="1"/>
          </a:p>
        </p:txBody>
      </p:sp>
      <p:sp>
        <p:nvSpPr>
          <p:cNvPr id="4" name="圆角矩形标注 3"/>
          <p:cNvSpPr/>
          <p:nvPr/>
        </p:nvSpPr>
        <p:spPr>
          <a:xfrm>
            <a:off x="6700838" y="5367338"/>
            <a:ext cx="2335213" cy="1230313"/>
          </a:xfrm>
          <a:prstGeom prst="wedgeRoundRectCallout">
            <a:avLst>
              <a:gd name="adj1" fmla="val -63054"/>
              <a:gd name="adj2" fmla="val -613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fontAlgn="base">
              <a:buFont typeface="宋体" panose="02010600030101010101" pitchFamily="2" charset="-122"/>
              <a:buChar char="–"/>
            </a:pPr>
            <a:r>
              <a:rPr lang="zh-CN" altLang="en-US" b="1" strike="noStrike" noProof="1" dirty="0">
                <a:solidFill>
                  <a:srgbClr val="0033CC"/>
                </a:solidFill>
                <a:latin typeface="Arial" panose="020B0604020202020204" pitchFamily="34" charset="0"/>
                <a:ea typeface="楷体_GB2312"/>
                <a:sym typeface="+mn-ea"/>
              </a:rPr>
              <a:t>正交平面：</a:t>
            </a:r>
            <a:r>
              <a:rPr lang="zh-CN" altLang="en-US" b="1" strike="noStrike" noProof="1" dirty="0">
                <a:solidFill>
                  <a:srgbClr val="000000"/>
                </a:solidFill>
                <a:latin typeface="Arial" panose="020B0604020202020204" pitchFamily="34" charset="0"/>
                <a:ea typeface="楷体_GB2312"/>
                <a:sym typeface="+mn-ea"/>
              </a:rPr>
              <a:t>通过主切削刃选定点并同时垂直于基面和切削平面的面。</a:t>
            </a:r>
            <a:endParaRPr lang="zh-CN" altLang="en-US" strike="noStrike" noProof="1"/>
          </a:p>
        </p:txBody>
      </p:sp>
    </p:spTree>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3"/>
          <p:cNvSpPr>
            <a:spLocks noGrp="1"/>
          </p:cNvSpPr>
          <p:nvPr>
            <p:ph idx="1"/>
          </p:nvPr>
        </p:nvSpPr>
        <p:spPr>
          <a:xfrm>
            <a:off x="-107950" y="1277938"/>
            <a:ext cx="3754438" cy="4968875"/>
          </a:xfrm>
          <a:ln/>
        </p:spPr>
        <p:txBody>
          <a:bodyPr vert="horz" wrap="square" lIns="91440" tIns="45720" rIns="91440" bIns="45720" anchor="t" anchorCtr="0"/>
          <a:p>
            <a:pPr eaLnBrk="1" hangingPunct="1"/>
            <a:r>
              <a:rPr lang="zh-CN" altLang="en-US" sz="2400" b="1" dirty="0">
                <a:solidFill>
                  <a:srgbClr val="00CC00"/>
                </a:solidFill>
                <a:ea typeface="楷体_GB2312"/>
              </a:rPr>
              <a:t>车刀切削部分的主要角度</a:t>
            </a:r>
            <a:r>
              <a:rPr lang="zh-CN" altLang="en-US" sz="2400" b="1" dirty="0"/>
              <a:t>    </a:t>
            </a:r>
            <a:endParaRPr lang="zh-CN" altLang="en-US" sz="2400" b="1" dirty="0"/>
          </a:p>
          <a:p>
            <a:pPr lvl="1" eaLnBrk="1" hangingPunct="1"/>
            <a:r>
              <a:rPr lang="zh-CN" altLang="en-US" sz="2200" b="1" dirty="0">
                <a:solidFill>
                  <a:srgbClr val="CC3300"/>
                </a:solidFill>
                <a:latin typeface="楷体_GB2312"/>
                <a:ea typeface="楷体_GB2312"/>
              </a:rPr>
              <a:t>前角</a:t>
            </a:r>
            <a:r>
              <a:rPr lang="en-US" altLang="zh-CN" sz="2200" b="1" dirty="0">
                <a:solidFill>
                  <a:srgbClr val="CC3300"/>
                </a:solidFill>
                <a:latin typeface="楷体_GB2312"/>
                <a:ea typeface="楷体_GB2312"/>
              </a:rPr>
              <a:t>γ</a:t>
            </a:r>
            <a:r>
              <a:rPr lang="en-US" altLang="zh-CN" sz="2200" b="1" baseline="-25000" dirty="0">
                <a:solidFill>
                  <a:srgbClr val="CC3300"/>
                </a:solidFill>
                <a:latin typeface="楷体_GB2312"/>
                <a:ea typeface="楷体_GB2312"/>
              </a:rPr>
              <a:t>0</a:t>
            </a:r>
            <a:r>
              <a:rPr lang="en-US" altLang="zh-CN" sz="2200" b="1" baseline="-25000" dirty="0">
                <a:solidFill>
                  <a:srgbClr val="33CC33"/>
                </a:solidFill>
                <a:latin typeface="楷体_GB2312"/>
                <a:ea typeface="楷体_GB2312"/>
              </a:rPr>
              <a:t> </a:t>
            </a:r>
            <a:r>
              <a:rPr lang="en-US" altLang="zh-CN" sz="2200" b="1" dirty="0">
                <a:solidFill>
                  <a:srgbClr val="000000"/>
                </a:solidFill>
                <a:latin typeface="楷体_GB2312"/>
                <a:ea typeface="楷体_GB2312"/>
              </a:rPr>
              <a:t>:</a:t>
            </a:r>
            <a:r>
              <a:rPr lang="zh-CN" altLang="en-US" sz="2200" b="1" dirty="0">
                <a:solidFill>
                  <a:srgbClr val="000000"/>
                </a:solidFill>
                <a:latin typeface="楷体_GB2312"/>
                <a:ea typeface="楷体_GB2312"/>
              </a:rPr>
              <a:t>前刀面与基面间的夹角；</a:t>
            </a:r>
            <a:endParaRPr lang="zh-CN" altLang="en-US" sz="2200" b="1" dirty="0">
              <a:solidFill>
                <a:srgbClr val="000000"/>
              </a:solidFill>
              <a:latin typeface="楷体_GB2312"/>
              <a:ea typeface="楷体_GB2312"/>
            </a:endParaRPr>
          </a:p>
          <a:p>
            <a:pPr lvl="1" eaLnBrk="1" hangingPunct="1"/>
            <a:r>
              <a:rPr lang="zh-CN" altLang="en-US" sz="2200" b="1" dirty="0">
                <a:solidFill>
                  <a:srgbClr val="CC3300"/>
                </a:solidFill>
                <a:latin typeface="楷体_GB2312"/>
                <a:ea typeface="楷体_GB2312"/>
              </a:rPr>
              <a:t>后角</a:t>
            </a:r>
            <a:r>
              <a:rPr lang="en-US" altLang="zh-CN" sz="2200" b="1" dirty="0">
                <a:solidFill>
                  <a:srgbClr val="CC3300"/>
                </a:solidFill>
                <a:latin typeface="楷体_GB2312"/>
                <a:ea typeface="楷体_GB2312"/>
              </a:rPr>
              <a:t>α</a:t>
            </a:r>
            <a:r>
              <a:rPr lang="en-US" altLang="zh-CN" sz="2200" b="1" baseline="-25000" dirty="0">
                <a:solidFill>
                  <a:srgbClr val="CC3300"/>
                </a:solidFill>
                <a:latin typeface="楷体_GB2312"/>
                <a:ea typeface="楷体_GB2312"/>
              </a:rPr>
              <a:t>0</a:t>
            </a:r>
            <a:r>
              <a:rPr lang="en-US" altLang="zh-CN" sz="2200" b="1" baseline="-25000" dirty="0">
                <a:solidFill>
                  <a:srgbClr val="33CC33"/>
                </a:solidFill>
                <a:latin typeface="楷体_GB2312"/>
                <a:ea typeface="楷体_GB2312"/>
              </a:rPr>
              <a:t> </a:t>
            </a:r>
            <a:r>
              <a:rPr lang="en-US" altLang="zh-CN" sz="2200" b="1" dirty="0">
                <a:solidFill>
                  <a:srgbClr val="000000"/>
                </a:solidFill>
                <a:latin typeface="楷体_GB2312"/>
                <a:ea typeface="楷体_GB2312"/>
              </a:rPr>
              <a:t>:</a:t>
            </a:r>
            <a:r>
              <a:rPr lang="zh-CN" altLang="en-US" sz="2200" b="1" dirty="0">
                <a:solidFill>
                  <a:srgbClr val="000000"/>
                </a:solidFill>
                <a:latin typeface="楷体_GB2312"/>
                <a:ea typeface="楷体_GB2312"/>
              </a:rPr>
              <a:t>后刀面与切削平面间的夹角；</a:t>
            </a:r>
            <a:endParaRPr lang="zh-CN" altLang="en-US" sz="2200" b="1" dirty="0">
              <a:solidFill>
                <a:srgbClr val="000000"/>
              </a:solidFill>
              <a:latin typeface="楷体_GB2312"/>
              <a:ea typeface="楷体_GB2312"/>
            </a:endParaRPr>
          </a:p>
          <a:p>
            <a:pPr lvl="1" eaLnBrk="1" hangingPunct="1"/>
            <a:r>
              <a:rPr lang="zh-CN" altLang="en-US" sz="2200" b="1" dirty="0">
                <a:solidFill>
                  <a:srgbClr val="CC3300"/>
                </a:solidFill>
                <a:latin typeface="楷体_GB2312"/>
                <a:ea typeface="楷体_GB2312"/>
              </a:rPr>
              <a:t>主偏角</a:t>
            </a:r>
            <a:r>
              <a:rPr lang="en-US" altLang="zh-CN" sz="2200" b="1" i="1" dirty="0">
                <a:solidFill>
                  <a:srgbClr val="CC3300"/>
                </a:solidFill>
                <a:latin typeface="Times New Roman" panose="02020603050405020304" pitchFamily="18" charset="0"/>
                <a:ea typeface="楷体_GB2312"/>
              </a:rPr>
              <a:t>K</a:t>
            </a:r>
            <a:r>
              <a:rPr lang="en-US" altLang="zh-CN" sz="2200" b="1" i="1" baseline="-25000" dirty="0">
                <a:solidFill>
                  <a:srgbClr val="CC3300"/>
                </a:solidFill>
                <a:latin typeface="Times New Roman" panose="02020603050405020304" pitchFamily="18" charset="0"/>
                <a:ea typeface="楷体_GB2312"/>
              </a:rPr>
              <a:t>r</a:t>
            </a:r>
            <a:r>
              <a:rPr lang="en-US" altLang="zh-CN" sz="2200" b="1" i="1" baseline="-25000" dirty="0">
                <a:solidFill>
                  <a:srgbClr val="33CC33"/>
                </a:solidFill>
                <a:latin typeface="Times New Roman" panose="02020603050405020304" pitchFamily="18" charset="0"/>
                <a:ea typeface="楷体_GB2312"/>
              </a:rPr>
              <a:t> </a:t>
            </a:r>
            <a:r>
              <a:rPr lang="en-US" altLang="zh-CN" sz="2200" b="1" dirty="0">
                <a:solidFill>
                  <a:srgbClr val="000000"/>
                </a:solidFill>
                <a:latin typeface="楷体_GB2312"/>
                <a:ea typeface="楷体_GB2312"/>
              </a:rPr>
              <a:t>:</a:t>
            </a:r>
            <a:r>
              <a:rPr lang="zh-CN" altLang="en-US" sz="2200" b="1" dirty="0">
                <a:solidFill>
                  <a:srgbClr val="000000"/>
                </a:solidFill>
                <a:latin typeface="楷体_GB2312"/>
                <a:ea typeface="楷体_GB2312"/>
              </a:rPr>
              <a:t>主切削刃与假定进给方向的夹角；</a:t>
            </a:r>
            <a:endParaRPr lang="zh-CN" altLang="en-US" sz="2200" b="1" dirty="0">
              <a:solidFill>
                <a:srgbClr val="000000"/>
              </a:solidFill>
              <a:latin typeface="楷体_GB2312"/>
              <a:ea typeface="楷体_GB2312"/>
            </a:endParaRPr>
          </a:p>
          <a:p>
            <a:pPr lvl="1" eaLnBrk="1" hangingPunct="1"/>
            <a:r>
              <a:rPr lang="zh-CN" altLang="en-US" sz="2200" b="1" dirty="0">
                <a:solidFill>
                  <a:srgbClr val="CC3300"/>
                </a:solidFill>
                <a:latin typeface="楷体_GB2312"/>
                <a:ea typeface="楷体_GB2312"/>
              </a:rPr>
              <a:t>副偏角</a:t>
            </a:r>
            <a:r>
              <a:rPr lang="en-US" altLang="zh-CN" sz="2200" b="1" i="1" dirty="0">
                <a:solidFill>
                  <a:srgbClr val="CC3300"/>
                </a:solidFill>
                <a:latin typeface="Times New Roman" panose="02020603050405020304" pitchFamily="18" charset="0"/>
                <a:ea typeface="楷体_GB2312"/>
              </a:rPr>
              <a:t>K’</a:t>
            </a:r>
            <a:r>
              <a:rPr lang="en-US" altLang="zh-CN" sz="2200" b="1" i="1" baseline="-25000" dirty="0">
                <a:solidFill>
                  <a:srgbClr val="CC3300"/>
                </a:solidFill>
                <a:latin typeface="Times New Roman" panose="02020603050405020304" pitchFamily="18" charset="0"/>
                <a:ea typeface="楷体_GB2312"/>
              </a:rPr>
              <a:t>r</a:t>
            </a:r>
            <a:r>
              <a:rPr lang="en-US" altLang="zh-CN" sz="2200" b="1" dirty="0">
                <a:latin typeface="楷体_GB2312"/>
                <a:ea typeface="楷体_GB2312"/>
              </a:rPr>
              <a:t> </a:t>
            </a:r>
            <a:r>
              <a:rPr lang="en-US" altLang="zh-CN" sz="2200" b="1" dirty="0">
                <a:solidFill>
                  <a:srgbClr val="000000"/>
                </a:solidFill>
                <a:latin typeface="楷体_GB2312"/>
                <a:ea typeface="楷体_GB2312"/>
              </a:rPr>
              <a:t>:</a:t>
            </a:r>
            <a:r>
              <a:rPr lang="zh-CN" altLang="en-US" sz="2200" b="1" dirty="0">
                <a:solidFill>
                  <a:srgbClr val="000000"/>
                </a:solidFill>
                <a:latin typeface="楷体_GB2312"/>
                <a:ea typeface="楷体_GB2312"/>
              </a:rPr>
              <a:t>副切削刃与假定进给方向反向的夹角；</a:t>
            </a:r>
            <a:endParaRPr lang="zh-CN" altLang="en-US" sz="2200" b="1" dirty="0">
              <a:solidFill>
                <a:srgbClr val="000000"/>
              </a:solidFill>
              <a:latin typeface="楷体_GB2312"/>
              <a:ea typeface="楷体_GB2312"/>
            </a:endParaRPr>
          </a:p>
          <a:p>
            <a:pPr lvl="1" eaLnBrk="1" hangingPunct="1"/>
            <a:r>
              <a:rPr lang="zh-CN" altLang="en-US" sz="2200" b="1" dirty="0">
                <a:solidFill>
                  <a:srgbClr val="CC3300"/>
                </a:solidFill>
                <a:latin typeface="楷体_GB2312"/>
                <a:ea typeface="楷体_GB2312"/>
              </a:rPr>
              <a:t>刃倾角</a:t>
            </a:r>
            <a:r>
              <a:rPr lang="en-US" altLang="zh-CN" sz="2200" b="1" dirty="0">
                <a:solidFill>
                  <a:srgbClr val="CC3300"/>
                </a:solidFill>
                <a:latin typeface="楷体_GB2312"/>
                <a:ea typeface="楷体_GB2312"/>
              </a:rPr>
              <a:t>λ</a:t>
            </a:r>
            <a:r>
              <a:rPr lang="en-US" altLang="zh-CN" sz="2200" b="1" i="1" baseline="-25000" dirty="0">
                <a:solidFill>
                  <a:srgbClr val="CC3300"/>
                </a:solidFill>
                <a:latin typeface="楷体_GB2312"/>
                <a:ea typeface="楷体_GB2312"/>
              </a:rPr>
              <a:t>s</a:t>
            </a:r>
            <a:r>
              <a:rPr lang="en-US" altLang="zh-CN" sz="2200" b="1" dirty="0">
                <a:latin typeface="楷体_GB2312"/>
                <a:ea typeface="楷体_GB2312"/>
              </a:rPr>
              <a:t> </a:t>
            </a:r>
            <a:r>
              <a:rPr lang="en-US" altLang="zh-CN" sz="2200" b="1" dirty="0">
                <a:solidFill>
                  <a:srgbClr val="000000"/>
                </a:solidFill>
                <a:latin typeface="楷体_GB2312"/>
                <a:ea typeface="楷体_GB2312"/>
              </a:rPr>
              <a:t>:</a:t>
            </a:r>
            <a:r>
              <a:rPr lang="zh-CN" altLang="en-US" sz="2200" b="1" dirty="0">
                <a:solidFill>
                  <a:srgbClr val="000000"/>
                </a:solidFill>
                <a:latin typeface="楷体_GB2312"/>
                <a:ea typeface="楷体_GB2312"/>
              </a:rPr>
              <a:t>主切削刃与基面间的夹角，刀尖高于主切削刃时为正值，反之为负值。</a:t>
            </a:r>
            <a:endParaRPr lang="zh-CN" altLang="en-US" sz="2200" b="1" dirty="0">
              <a:solidFill>
                <a:srgbClr val="000000"/>
              </a:solidFill>
              <a:latin typeface="楷体_GB2312"/>
              <a:ea typeface="楷体_GB2312"/>
            </a:endParaRPr>
          </a:p>
          <a:p>
            <a:pPr eaLnBrk="1" hangingPunct="1"/>
            <a:endParaRPr lang="en-US" altLang="zh-CN" sz="2400" b="1" dirty="0"/>
          </a:p>
        </p:txBody>
      </p:sp>
      <p:sp>
        <p:nvSpPr>
          <p:cNvPr id="66562" name="标题 1"/>
          <p:cNvSpPr>
            <a:spLocks noGrp="1"/>
          </p:cNvSpPr>
          <p:nvPr>
            <p:ph type="title"/>
          </p:nvPr>
        </p:nvSpPr>
        <p:spPr>
          <a:ln/>
        </p:spPr>
        <p:txBody>
          <a:bodyPr vert="horz" wrap="square" lIns="91440" tIns="45720" rIns="91440" bIns="45720" anchor="ctr" anchorCtr="0"/>
          <a:p>
            <a:pPr algn="ctr"/>
            <a:r>
              <a:rPr lang="zh-CN" altLang="en-US" dirty="0">
                <a:solidFill>
                  <a:srgbClr val="990033"/>
                </a:solidFill>
                <a:ea typeface="楷体_GB2312"/>
              </a:rPr>
              <a:t>刀具构造</a:t>
            </a:r>
            <a:endParaRPr lang="zh-CN" altLang="en-US" dirty="0"/>
          </a:p>
        </p:txBody>
      </p:sp>
      <p:pic>
        <p:nvPicPr>
          <p:cNvPr id="66563" name="图片 2"/>
          <p:cNvPicPr>
            <a:picLocks noChangeAspect="1"/>
          </p:cNvPicPr>
          <p:nvPr/>
        </p:nvPicPr>
        <p:blipFill>
          <a:blip r:embed="rId1"/>
          <a:stretch>
            <a:fillRect/>
          </a:stretch>
        </p:blipFill>
        <p:spPr>
          <a:xfrm>
            <a:off x="3924300" y="1844675"/>
            <a:ext cx="5051425" cy="5072063"/>
          </a:xfrm>
          <a:prstGeom prst="rect">
            <a:avLst/>
          </a:prstGeom>
          <a:noFill/>
          <a:ln w="9525">
            <a:noFill/>
          </a:ln>
        </p:spPr>
      </p:pic>
    </p:spTree>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ln/>
        </p:spPr>
        <p:txBody>
          <a:bodyPr anchor="ctr" anchorCtr="0"/>
          <a:p>
            <a:endParaRPr lang="zh-CN" altLang="en-US"/>
          </a:p>
        </p:txBody>
      </p:sp>
      <p:sp>
        <p:nvSpPr>
          <p:cNvPr id="68610" name="内容占位符 2"/>
          <p:cNvSpPr>
            <a:spLocks noGrp="1"/>
          </p:cNvSpPr>
          <p:nvPr>
            <p:ph idx="1"/>
          </p:nvPr>
        </p:nvSpPr>
        <p:spPr>
          <a:ln/>
        </p:spPr>
        <p:txBody>
          <a:bodyPr anchor="t" anchorCtr="0"/>
          <a:p>
            <a:endParaRPr lang="zh-CN" altLang="en-US"/>
          </a:p>
        </p:txBody>
      </p:sp>
      <p:pic>
        <p:nvPicPr>
          <p:cNvPr id="68611" name="图片 2"/>
          <p:cNvPicPr>
            <a:picLocks noChangeAspect="1"/>
          </p:cNvPicPr>
          <p:nvPr/>
        </p:nvPicPr>
        <p:blipFill>
          <a:blip r:embed="rId1"/>
          <a:stretch>
            <a:fillRect/>
          </a:stretch>
        </p:blipFill>
        <p:spPr>
          <a:xfrm>
            <a:off x="1323975" y="-61912"/>
            <a:ext cx="7820025" cy="6946900"/>
          </a:xfrm>
          <a:prstGeom prst="rect">
            <a:avLst/>
          </a:prstGeom>
          <a:noFill/>
          <a:ln w="9525">
            <a:noFill/>
          </a:ln>
        </p:spPr>
      </p:pic>
    </p:spTree>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1"/>
          <p:cNvSpPr>
            <a:spLocks noGrp="1"/>
          </p:cNvSpPr>
          <p:nvPr>
            <p:ph type="title"/>
          </p:nvPr>
        </p:nvSpPr>
        <p:spPr>
          <a:ln/>
        </p:spPr>
        <p:txBody>
          <a:bodyPr anchor="ctr" anchorCtr="0"/>
          <a:p>
            <a:r>
              <a:rPr lang="zh-CN" altLang="en-US"/>
              <a:t>车刀的角度</a:t>
            </a:r>
            <a:endParaRPr lang="zh-CN" altLang="en-US"/>
          </a:p>
        </p:txBody>
      </p:sp>
      <p:pic>
        <p:nvPicPr>
          <p:cNvPr id="69634" name="内容占位符 3"/>
          <p:cNvPicPr>
            <a:picLocks noGrp="1" noChangeAspect="1"/>
          </p:cNvPicPr>
          <p:nvPr>
            <p:ph idx="1"/>
          </p:nvPr>
        </p:nvPicPr>
        <p:blipFill>
          <a:blip r:embed="rId1"/>
          <a:stretch>
            <a:fillRect/>
          </a:stretch>
        </p:blipFill>
        <p:spPr>
          <a:xfrm>
            <a:off x="-107950" y="1006475"/>
            <a:ext cx="9702800" cy="6042025"/>
          </a:xfrm>
          <a:ln/>
        </p:spPr>
      </p:pic>
    </p:spTree>
  </p:cSld>
  <p:clrMapOvr>
    <a:masterClrMapping/>
  </p:clrMapOvr>
  <p:transition spd="slow">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ln/>
        </p:spPr>
        <p:txBody>
          <a:bodyPr anchor="ctr" anchorCtr="0"/>
          <a:p>
            <a:endParaRPr lang="zh-CN" altLang="en-US"/>
          </a:p>
        </p:txBody>
      </p:sp>
      <p:graphicFrame>
        <p:nvGraphicFramePr>
          <p:cNvPr id="70658" name="内容占位符 3"/>
          <p:cNvGraphicFramePr>
            <a:graphicFrameLocks noGrp="1" noChangeAspect="1"/>
          </p:cNvGraphicFramePr>
          <p:nvPr>
            <p:ph idx="1"/>
          </p:nvPr>
        </p:nvGraphicFramePr>
        <p:xfrm>
          <a:off x="127000" y="723900"/>
          <a:ext cx="8621713" cy="6203950"/>
        </p:xfrm>
        <a:graphic>
          <a:graphicData uri="http://schemas.openxmlformats.org/presentationml/2006/ole">
            <mc:AlternateContent xmlns:mc="http://schemas.openxmlformats.org/markup-compatibility/2006">
              <mc:Choice xmlns:v="urn:schemas-microsoft-com:vml" Requires="v">
                <p:oleObj spid="_x0000_s3088" name="" r:id="rId1" imgW="6769100" imgH="4870450" progId="Paint.Picture">
                  <p:embed/>
                </p:oleObj>
              </mc:Choice>
              <mc:Fallback>
                <p:oleObj name="" r:id="rId1" imgW="6769100" imgH="4870450" progId="Paint.Picture">
                  <p:embed/>
                  <p:pic>
                    <p:nvPicPr>
                      <p:cNvPr id="0" name="图片 3087"/>
                      <p:cNvPicPr/>
                      <p:nvPr/>
                    </p:nvPicPr>
                    <p:blipFill>
                      <a:blip r:embed="rId2"/>
                      <a:stretch>
                        <a:fillRect/>
                      </a:stretch>
                    </p:blipFill>
                    <p:spPr>
                      <a:xfrm>
                        <a:off x="127000" y="723900"/>
                        <a:ext cx="8621713" cy="6203950"/>
                      </a:xfrm>
                      <a:prstGeom prst="rect">
                        <a:avLst/>
                      </a:prstGeom>
                      <a:noFill/>
                      <a:ln w="38100">
                        <a:miter/>
                      </a:ln>
                    </p:spPr>
                  </p:pic>
                </p:oleObj>
              </mc:Fallback>
            </mc:AlternateContent>
          </a:graphicData>
        </a:graphic>
      </p:graphicFrame>
    </p:spTree>
  </p:cSld>
  <p:clrMapOvr>
    <a:masterClrMapping/>
  </p:clrMapOvr>
  <p:transition spd="slow">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a:ln/>
        </p:spPr>
        <p:txBody>
          <a:bodyPr anchor="ctr" anchorCtr="0"/>
          <a:p>
            <a:endParaRPr lang="zh-CN" altLang="en-US"/>
          </a:p>
        </p:txBody>
      </p:sp>
      <p:pic>
        <p:nvPicPr>
          <p:cNvPr id="71682" name="内容占位符 3"/>
          <p:cNvPicPr>
            <a:picLocks noGrp="1" noChangeAspect="1"/>
          </p:cNvPicPr>
          <p:nvPr>
            <p:ph idx="1"/>
          </p:nvPr>
        </p:nvPicPr>
        <p:blipFill>
          <a:blip r:embed="rId1"/>
          <a:stretch>
            <a:fillRect/>
          </a:stretch>
        </p:blipFill>
        <p:spPr>
          <a:xfrm>
            <a:off x="52388" y="1366838"/>
            <a:ext cx="6808787" cy="5392737"/>
          </a:xfrm>
          <a:ln/>
        </p:spPr>
      </p:pic>
      <p:pic>
        <p:nvPicPr>
          <p:cNvPr id="71683" name="图片 4"/>
          <p:cNvPicPr>
            <a:picLocks noChangeAspect="1"/>
          </p:cNvPicPr>
          <p:nvPr/>
        </p:nvPicPr>
        <p:blipFill>
          <a:blip r:embed="rId2"/>
          <a:stretch>
            <a:fillRect/>
          </a:stretch>
        </p:blipFill>
        <p:spPr>
          <a:xfrm>
            <a:off x="6011863" y="333375"/>
            <a:ext cx="2905125" cy="4191000"/>
          </a:xfrm>
          <a:prstGeom prst="rect">
            <a:avLst/>
          </a:prstGeom>
          <a:noFill/>
          <a:ln w="9525">
            <a:noFill/>
          </a:ln>
        </p:spPr>
      </p:pic>
      <p:sp>
        <p:nvSpPr>
          <p:cNvPr id="7" name="圆角矩形标注 6"/>
          <p:cNvSpPr/>
          <p:nvPr/>
        </p:nvSpPr>
        <p:spPr>
          <a:xfrm>
            <a:off x="4498975" y="290513"/>
            <a:ext cx="1584325" cy="792163"/>
          </a:xfrm>
          <a:prstGeom prst="wedgeRoundRectCallout">
            <a:avLst>
              <a:gd name="adj1" fmla="val 104148"/>
              <a:gd name="adj2" fmla="val 499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strike="noStrike" noProof="1">
                <a:sym typeface="+mn-ea"/>
              </a:rPr>
              <a:t>虚线：切削平面</a:t>
            </a:r>
            <a:endParaRPr lang="zh-CN" altLang="en-US" strike="noStrike" noProof="1"/>
          </a:p>
        </p:txBody>
      </p:sp>
    </p:spTree>
  </p:cSld>
  <p:clrMapOvr>
    <a:masterClrMapping/>
  </p:clrMapOvr>
  <p:transition spd="slow">
    <p:randomBar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a:ln/>
        </p:spPr>
        <p:txBody>
          <a:bodyPr anchor="ctr" anchorCtr="0"/>
          <a:p>
            <a:endParaRPr lang="zh-CN" altLang="en-US"/>
          </a:p>
        </p:txBody>
      </p:sp>
      <p:pic>
        <p:nvPicPr>
          <p:cNvPr id="72706" name="图片 4"/>
          <p:cNvPicPr>
            <a:picLocks noChangeAspect="1"/>
          </p:cNvPicPr>
          <p:nvPr/>
        </p:nvPicPr>
        <p:blipFill>
          <a:blip r:embed="rId1"/>
          <a:stretch>
            <a:fillRect/>
          </a:stretch>
        </p:blipFill>
        <p:spPr>
          <a:xfrm>
            <a:off x="4140200" y="188913"/>
            <a:ext cx="4943475" cy="3819525"/>
          </a:xfrm>
          <a:prstGeom prst="rect">
            <a:avLst/>
          </a:prstGeom>
          <a:noFill/>
          <a:ln w="9525">
            <a:noFill/>
          </a:ln>
        </p:spPr>
      </p:pic>
      <p:pic>
        <p:nvPicPr>
          <p:cNvPr id="72707" name="内容占位符 3"/>
          <p:cNvPicPr>
            <a:picLocks noGrp="1" noChangeAspect="1"/>
          </p:cNvPicPr>
          <p:nvPr>
            <p:ph idx="1"/>
          </p:nvPr>
        </p:nvPicPr>
        <p:blipFill>
          <a:blip r:embed="rId2"/>
          <a:stretch>
            <a:fillRect/>
          </a:stretch>
        </p:blipFill>
        <p:spPr>
          <a:xfrm>
            <a:off x="-180975" y="2276475"/>
            <a:ext cx="5360988" cy="4572000"/>
          </a:xfrm>
          <a:ln/>
        </p:spPr>
      </p:pic>
    </p:spTree>
  </p:cSld>
  <p:clrMapOvr>
    <a:masterClrMapping/>
  </p:clrMapOvr>
  <p:transition spd="slow">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a:ln/>
        </p:spPr>
        <p:txBody>
          <a:bodyPr vert="horz" wrap="square" lIns="91440" tIns="45720" rIns="91440" bIns="45720" anchor="ctr" anchorCtr="0"/>
          <a:p>
            <a:endParaRPr lang="zh-CN" altLang="en-US" dirty="0"/>
          </a:p>
        </p:txBody>
      </p:sp>
      <p:sp>
        <p:nvSpPr>
          <p:cNvPr id="73730" name="内容占位符 2"/>
          <p:cNvSpPr>
            <a:spLocks noGrp="1"/>
          </p:cNvSpPr>
          <p:nvPr>
            <p:ph idx="1"/>
          </p:nvPr>
        </p:nvSpPr>
        <p:spPr>
          <a:ln/>
        </p:spPr>
        <p:txBody>
          <a:bodyPr vert="horz" wrap="square" lIns="91440" tIns="45720" rIns="91440" bIns="45720" anchor="t" anchorCtr="0"/>
          <a:p>
            <a:endParaRPr lang="zh-CN" altLang="en-US" dirty="0"/>
          </a:p>
        </p:txBody>
      </p:sp>
      <p:pic>
        <p:nvPicPr>
          <p:cNvPr id="73731" name="Picture 2" descr="https://timgsa.baidu.com/timg?image&amp;quality=80&amp;size=b9999_10000&amp;sec=1545235010414&amp;di=b04018186013885afae5d19a6787b992&amp;imgtype=jpg&amp;src=http%3A%2F%2Fimg1.imgtn.bdimg.com%2Fit%2Fu%3D1839776376%2C1753927826%26fm%3D214%26gp%3D0.jpg"/>
          <p:cNvPicPr>
            <a:picLocks noChangeAspect="1"/>
          </p:cNvPicPr>
          <p:nvPr/>
        </p:nvPicPr>
        <p:blipFill>
          <a:blip r:embed="rId1"/>
          <a:stretch>
            <a:fillRect/>
          </a:stretch>
        </p:blipFill>
        <p:spPr>
          <a:xfrm>
            <a:off x="250825" y="279400"/>
            <a:ext cx="8743950" cy="6553200"/>
          </a:xfrm>
          <a:prstGeom prst="rect">
            <a:avLst/>
          </a:prstGeom>
          <a:noFill/>
          <a:ln w="9525">
            <a:noFill/>
          </a:ln>
        </p:spPr>
      </p:pic>
    </p:spTree>
  </p:cSld>
  <p:clrMapOvr>
    <a:masterClrMapping/>
  </p:clrMapOvr>
  <p:transition spd="slow">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ln/>
        </p:spPr>
        <p:txBody>
          <a:bodyPr anchor="ctr" anchorCtr="0"/>
          <a:p>
            <a:endParaRPr lang="zh-CN" altLang="en-US"/>
          </a:p>
        </p:txBody>
      </p:sp>
      <p:pic>
        <p:nvPicPr>
          <p:cNvPr id="74754" name="内容占位符 3"/>
          <p:cNvPicPr>
            <a:picLocks noGrp="1" noChangeAspect="1"/>
          </p:cNvPicPr>
          <p:nvPr>
            <p:ph idx="1"/>
          </p:nvPr>
        </p:nvPicPr>
        <p:blipFill>
          <a:blip r:embed="rId1"/>
          <a:stretch>
            <a:fillRect/>
          </a:stretch>
        </p:blipFill>
        <p:spPr>
          <a:xfrm>
            <a:off x="755650" y="1196975"/>
            <a:ext cx="7659688" cy="5535613"/>
          </a:xfrm>
          <a:ln/>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5829298" y="4013198"/>
              <a:ext cx="1600200" cy="514350"/>
            </p14:xfrm>
          </p:contentPart>
        </mc:Choice>
        <mc:Fallback xmlns="">
          <p:pic>
            <p:nvPicPr>
              <p:cNvPr id="2" name="墨迹 1"/>
            </p:nvPicPr>
            <p:blipFill>
              <a:blip r:embed="rId3"/>
            </p:blipFill>
            <p:spPr>
              <a:xfrm>
                <a:off x="5829298" y="4013198"/>
                <a:ext cx="1600200" cy="5143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6292848" y="3905248"/>
              <a:ext cx="1149350" cy="628650"/>
            </p14:xfrm>
          </p:contentPart>
        </mc:Choice>
        <mc:Fallback xmlns="">
          <p:pic>
            <p:nvPicPr>
              <p:cNvPr id="3" name="墨迹 2"/>
            </p:nvPicPr>
            <p:blipFill>
              <a:blip r:embed="rId5"/>
            </p:blipFill>
            <p:spPr>
              <a:xfrm>
                <a:off x="6292848" y="3905248"/>
                <a:ext cx="1149350" cy="6286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7473949" y="4533898"/>
              <a:ext cx="25400" cy="95250"/>
            </p14:xfrm>
          </p:contentPart>
        </mc:Choice>
        <mc:Fallback xmlns="">
          <p:pic>
            <p:nvPicPr>
              <p:cNvPr id="4" name="墨迹 3"/>
            </p:nvPicPr>
            <p:blipFill>
              <a:blip r:embed="rId7"/>
            </p:blipFill>
            <p:spPr>
              <a:xfrm>
                <a:off x="7473949" y="4533898"/>
                <a:ext cx="25400" cy="952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7289798" y="4571998"/>
              <a:ext cx="184150" cy="1149350"/>
            </p14:xfrm>
          </p:contentPart>
        </mc:Choice>
        <mc:Fallback xmlns="">
          <p:pic>
            <p:nvPicPr>
              <p:cNvPr id="5" name="墨迹 4"/>
            </p:nvPicPr>
            <p:blipFill>
              <a:blip r:embed="rId9"/>
            </p:blipFill>
            <p:spPr>
              <a:xfrm>
                <a:off x="7289798" y="4571998"/>
                <a:ext cx="184150" cy="11493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7105648" y="4565648"/>
              <a:ext cx="374650" cy="806450"/>
            </p14:xfrm>
          </p:contentPart>
        </mc:Choice>
        <mc:Fallback xmlns="">
          <p:pic>
            <p:nvPicPr>
              <p:cNvPr id="6" name="墨迹 5"/>
            </p:nvPicPr>
            <p:blipFill>
              <a:blip r:embed="rId11"/>
            </p:blipFill>
            <p:spPr>
              <a:xfrm>
                <a:off x="7105648" y="4565648"/>
                <a:ext cx="374650" cy="8064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7" name="墨迹 6"/>
              <p14:cNvContentPartPr/>
              <p14:nvPr/>
            </p14:nvContentPartPr>
            <p14:xfrm>
              <a:off x="6896098" y="4546598"/>
              <a:ext cx="603250" cy="1200150"/>
            </p14:xfrm>
          </p:contentPart>
        </mc:Choice>
        <mc:Fallback xmlns="">
          <p:pic>
            <p:nvPicPr>
              <p:cNvPr id="7" name="墨迹 6"/>
            </p:nvPicPr>
            <p:blipFill>
              <a:blip r:embed="rId13"/>
            </p:blipFill>
            <p:spPr>
              <a:xfrm>
                <a:off x="6896098" y="4546598"/>
                <a:ext cx="603250" cy="12001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8" name="墨迹 7"/>
              <p14:cNvContentPartPr/>
              <p14:nvPr/>
            </p14:nvContentPartPr>
            <p14:xfrm>
              <a:off x="6242048" y="3892548"/>
              <a:ext cx="31750" cy="190500"/>
            </p14:xfrm>
          </p:contentPart>
        </mc:Choice>
        <mc:Fallback xmlns="">
          <p:pic>
            <p:nvPicPr>
              <p:cNvPr id="8" name="墨迹 7"/>
            </p:nvPicPr>
            <p:blipFill>
              <a:blip r:embed="rId15"/>
            </p:blipFill>
            <p:spPr>
              <a:xfrm>
                <a:off x="6242048" y="3892548"/>
                <a:ext cx="31750" cy="1905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9" name="墨迹 8"/>
              <p14:cNvContentPartPr/>
              <p14:nvPr/>
            </p14:nvContentPartPr>
            <p14:xfrm>
              <a:off x="7016748" y="5524498"/>
              <a:ext cx="273050" cy="184150"/>
            </p14:xfrm>
          </p:contentPart>
        </mc:Choice>
        <mc:Fallback xmlns="">
          <p:pic>
            <p:nvPicPr>
              <p:cNvPr id="9" name="墨迹 8"/>
            </p:nvPicPr>
            <p:blipFill>
              <a:blip r:embed="rId17"/>
            </p:blipFill>
            <p:spPr>
              <a:xfrm>
                <a:off x="7016748" y="5524498"/>
                <a:ext cx="273050" cy="184150"/>
              </a:xfrm>
              <a:prstGeom prst="rect"/>
            </p:spPr>
          </p:pic>
        </mc:Fallback>
      </mc:AlternateContent>
    </p:spTree>
  </p:cSld>
  <p:clrMapOvr>
    <a:masterClrMapping/>
  </p:clrMapOvr>
  <p:transition spd="slow">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a:ln/>
        </p:spPr>
        <p:txBody>
          <a:bodyPr anchor="ctr" anchorCtr="0"/>
          <a:p>
            <a:endParaRPr lang="zh-CN" altLang="en-US"/>
          </a:p>
        </p:txBody>
      </p:sp>
      <p:pic>
        <p:nvPicPr>
          <p:cNvPr id="75778" name="内容占位符 3"/>
          <p:cNvPicPr>
            <a:picLocks noGrp="1" noChangeAspect="1"/>
          </p:cNvPicPr>
          <p:nvPr>
            <p:ph idx="1"/>
          </p:nvPr>
        </p:nvPicPr>
        <p:blipFill>
          <a:blip r:embed="rId1"/>
          <a:stretch>
            <a:fillRect/>
          </a:stretch>
        </p:blipFill>
        <p:spPr>
          <a:xfrm>
            <a:off x="323850" y="836613"/>
            <a:ext cx="8412163" cy="6091237"/>
          </a:xfrm>
          <a:ln/>
        </p:spPr>
      </p:pic>
    </p:spTree>
  </p:cSld>
  <p:clrMapOvr>
    <a:masterClrMapping/>
  </p:clrMapOvr>
  <p:transition spd="slow">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solidFill>
                  <a:srgbClr val="CC3300"/>
                </a:solidFill>
                <a:ea typeface="楷体_GB2312"/>
              </a:rPr>
              <a:t>刀具材料及刀具构造</a:t>
            </a:r>
            <a:endParaRPr lang="zh-CN" altLang="en-US" sz="4000" dirty="0">
              <a:solidFill>
                <a:srgbClr val="CC3300"/>
              </a:solidFill>
              <a:ea typeface="楷体_GB2312"/>
            </a:endParaRPr>
          </a:p>
        </p:txBody>
      </p:sp>
      <p:grpSp>
        <p:nvGrpSpPr>
          <p:cNvPr id="76802" name="Group 3"/>
          <p:cNvGrpSpPr/>
          <p:nvPr/>
        </p:nvGrpSpPr>
        <p:grpSpPr>
          <a:xfrm>
            <a:off x="5219700" y="4005263"/>
            <a:ext cx="3529013" cy="2519362"/>
            <a:chOff x="567" y="2341"/>
            <a:chExt cx="2086" cy="1513"/>
          </a:xfrm>
        </p:grpSpPr>
        <p:pic>
          <p:nvPicPr>
            <p:cNvPr id="76803" name="Picture 4" descr="Image041"/>
            <p:cNvPicPr>
              <a:picLocks noChangeAspect="1"/>
            </p:cNvPicPr>
            <p:nvPr/>
          </p:nvPicPr>
          <p:blipFill>
            <a:blip r:embed="rId1"/>
            <a:stretch>
              <a:fillRect/>
            </a:stretch>
          </p:blipFill>
          <p:spPr>
            <a:xfrm>
              <a:off x="567" y="2341"/>
              <a:ext cx="2086" cy="1513"/>
            </a:xfrm>
            <a:prstGeom prst="rect">
              <a:avLst/>
            </a:prstGeom>
            <a:solidFill>
              <a:srgbClr val="CCFFCC"/>
            </a:solidFill>
            <a:ln w="9525" cap="flat" cmpd="sng">
              <a:solidFill>
                <a:srgbClr val="FF6600"/>
              </a:solidFill>
              <a:prstDash val="solid"/>
              <a:miter/>
              <a:headEnd type="none" w="med" len="med"/>
              <a:tailEnd type="none" w="med" len="med"/>
            </a:ln>
          </p:spPr>
        </p:pic>
        <p:sp>
          <p:nvSpPr>
            <p:cNvPr id="76804" name="Text Box 5"/>
            <p:cNvSpPr txBox="1"/>
            <p:nvPr/>
          </p:nvSpPr>
          <p:spPr>
            <a:xfrm>
              <a:off x="1111" y="3612"/>
              <a:ext cx="1168" cy="220"/>
            </a:xfrm>
            <a:prstGeom prst="rect">
              <a:avLst/>
            </a:prstGeom>
            <a:solidFill>
              <a:srgbClr val="FFFFFF"/>
            </a:solidFill>
            <a:ln w="9525">
              <a:noFill/>
            </a:ln>
          </p:spPr>
          <p:txBody>
            <a:bodyPr wrap="none" anchor="t" anchorCtr="0">
              <a:spAutoFit/>
            </a:bodyPr>
            <a:p>
              <a:r>
                <a:rPr lang="zh-CN" altLang="en-US" b="1" dirty="0">
                  <a:solidFill>
                    <a:srgbClr val="000000"/>
                  </a:solidFill>
                  <a:latin typeface="楷体_GB2312"/>
                  <a:ea typeface="楷体_GB2312"/>
                </a:rPr>
                <a:t>图 前角的正与负</a:t>
              </a:r>
              <a:r>
                <a:rPr lang="zh-CN" altLang="en-US" dirty="0">
                  <a:latin typeface="GreekS" pitchFamily="2" charset="0"/>
                  <a:ea typeface="宋体" panose="02010600030101010101" pitchFamily="2" charset="-122"/>
                </a:rPr>
                <a:t> </a:t>
              </a:r>
              <a:endParaRPr lang="zh-CN" altLang="en-US" dirty="0">
                <a:latin typeface="GreekS" pitchFamily="2" charset="0"/>
                <a:ea typeface="宋体" panose="02010600030101010101" pitchFamily="2" charset="-122"/>
              </a:endParaRPr>
            </a:p>
          </p:txBody>
        </p:sp>
      </p:grpSp>
      <p:sp>
        <p:nvSpPr>
          <p:cNvPr id="76805" name="Rectangle 6"/>
          <p:cNvSpPr/>
          <p:nvPr/>
        </p:nvSpPr>
        <p:spPr>
          <a:xfrm>
            <a:off x="273050" y="1487488"/>
            <a:ext cx="8740775" cy="3074987"/>
          </a:xfrm>
          <a:prstGeom prst="rect">
            <a:avLst/>
          </a:prstGeom>
          <a:noFill/>
          <a:ln w="9525">
            <a:noFill/>
          </a:ln>
        </p:spPr>
        <p:txBody>
          <a:bodyPr anchor="t" anchorCtr="0">
            <a:spAutoFit/>
          </a:bodyPr>
          <a:p>
            <a:pPr>
              <a:spcBef>
                <a:spcPct val="50000"/>
              </a:spcBef>
              <a:buChar char="•"/>
            </a:pPr>
            <a:r>
              <a:rPr lang="en-US" altLang="zh-CN" sz="2400" b="1" dirty="0">
                <a:solidFill>
                  <a:srgbClr val="E71909"/>
                </a:solidFill>
                <a:latin typeface="Arial" panose="020B0604020202020204" pitchFamily="34" charset="0"/>
                <a:ea typeface="宋体" panose="02010600030101010101" pitchFamily="2" charset="-122"/>
              </a:rPr>
              <a:t> </a:t>
            </a:r>
            <a:r>
              <a:rPr lang="zh-CN" altLang="en-US" sz="2800" b="1" dirty="0">
                <a:solidFill>
                  <a:srgbClr val="00CC00"/>
                </a:solidFill>
                <a:latin typeface="Arial" panose="020B0604020202020204" pitchFamily="34" charset="0"/>
                <a:ea typeface="楷体_GB2312"/>
              </a:rPr>
              <a:t>外圆车刀角度的作用</a:t>
            </a:r>
            <a:endParaRPr lang="zh-CN" altLang="en-US" sz="2800" b="1" dirty="0">
              <a:solidFill>
                <a:srgbClr val="00CC00"/>
              </a:solidFill>
              <a:latin typeface="Century" panose="02040604050505020304" pitchFamily="18" charset="0"/>
              <a:ea typeface="楷体_GB2312"/>
            </a:endParaRPr>
          </a:p>
          <a:p>
            <a:pPr>
              <a:spcBef>
                <a:spcPct val="50000"/>
              </a:spcBef>
            </a:pPr>
            <a:r>
              <a:rPr lang="zh-CN" altLang="en-US" sz="2000" b="1" dirty="0">
                <a:solidFill>
                  <a:srgbClr val="33CC33"/>
                </a:solidFill>
                <a:latin typeface="楷体_GB2312"/>
                <a:ea typeface="楷体_GB2312"/>
              </a:rPr>
              <a:t>    </a:t>
            </a:r>
            <a:r>
              <a:rPr lang="zh-CN" altLang="en-US" sz="2400" b="1" dirty="0">
                <a:solidFill>
                  <a:srgbClr val="CC3300"/>
                </a:solidFill>
                <a:latin typeface="楷体_GB2312"/>
                <a:ea typeface="楷体_GB2312"/>
              </a:rPr>
              <a:t>前角</a:t>
            </a:r>
            <a:r>
              <a:rPr lang="en-US" altLang="zh-CN" sz="2400" b="1" dirty="0">
                <a:solidFill>
                  <a:srgbClr val="CC3300"/>
                </a:solidFill>
                <a:latin typeface="楷体_GB2312"/>
                <a:ea typeface="楷体_GB2312"/>
              </a:rPr>
              <a:t>γ</a:t>
            </a:r>
            <a:r>
              <a:rPr lang="en-US" altLang="zh-CN" sz="2400" b="1" baseline="-25000" dirty="0">
                <a:solidFill>
                  <a:srgbClr val="CC3300"/>
                </a:solidFill>
                <a:latin typeface="楷体_GB2312"/>
                <a:ea typeface="楷体_GB2312"/>
              </a:rPr>
              <a:t>0</a:t>
            </a:r>
            <a:r>
              <a:rPr lang="en-US" altLang="zh-CN" sz="2400" b="1" baseline="-25000" dirty="0">
                <a:solidFill>
                  <a:srgbClr val="33CC33"/>
                </a:solidFill>
                <a:latin typeface="楷体_GB2312"/>
                <a:ea typeface="楷体_GB2312"/>
              </a:rPr>
              <a:t> </a:t>
            </a:r>
            <a:r>
              <a:rPr lang="en-US" altLang="zh-CN" sz="2400" b="1" dirty="0">
                <a:solidFill>
                  <a:srgbClr val="33CC33"/>
                </a:solidFill>
                <a:latin typeface="楷体_GB2312"/>
                <a:ea typeface="楷体_GB2312"/>
              </a:rPr>
              <a:t> </a:t>
            </a:r>
            <a:r>
              <a:rPr lang="zh-CN" altLang="en-US" sz="2400" b="1" dirty="0">
                <a:latin typeface="楷体_GB2312"/>
                <a:ea typeface="楷体_GB2312"/>
              </a:rPr>
              <a:t>前刀面在基面之下为正前角；前刀面与基面重合，前角为零；前刀面在基面之上为负前角。</a:t>
            </a:r>
            <a:r>
              <a:rPr lang="zh-CN" altLang="en-US" sz="2400" b="1" dirty="0">
                <a:solidFill>
                  <a:srgbClr val="000000"/>
                </a:solidFill>
                <a:latin typeface="楷体_GB2312"/>
                <a:ea typeface="楷体_GB2312"/>
              </a:rPr>
              <a:t>正前角的值越大，切屑流出越容易，切削力越小，但刃口强度减弱。负前角能加强刀口强度、提高刃口抗冲击能力．但会增大切削抗力。为使切削省力，车刀的前角一般为</a:t>
            </a:r>
            <a:r>
              <a:rPr lang="en-US" altLang="zh-CN" sz="2400" b="1" dirty="0">
                <a:solidFill>
                  <a:srgbClr val="000000"/>
                </a:solidFill>
                <a:latin typeface="楷体_GB2312"/>
                <a:ea typeface="楷体_GB2312"/>
              </a:rPr>
              <a:t>15</a:t>
            </a:r>
            <a:r>
              <a:rPr lang="en-US" altLang="zh-CN" sz="2400" b="1" baseline="30000" dirty="0">
                <a:solidFill>
                  <a:srgbClr val="000000"/>
                </a:solidFill>
                <a:latin typeface="楷体_GB2312"/>
                <a:ea typeface="楷体_GB2312"/>
              </a:rPr>
              <a:t>0</a:t>
            </a:r>
            <a:r>
              <a:rPr lang="en-US" altLang="zh-CN" sz="2400" b="1" baseline="30000" dirty="0">
                <a:solidFill>
                  <a:srgbClr val="000000"/>
                </a:solidFill>
                <a:latin typeface="Century" panose="02040604050505020304" pitchFamily="18" charset="0"/>
                <a:ea typeface="楷体_GB2312"/>
              </a:rPr>
              <a:t>—</a:t>
            </a:r>
            <a:r>
              <a:rPr lang="en-US" altLang="zh-CN" sz="2400" b="1" dirty="0">
                <a:solidFill>
                  <a:srgbClr val="000000"/>
                </a:solidFill>
                <a:latin typeface="楷体_GB2312"/>
                <a:ea typeface="楷体_GB2312"/>
              </a:rPr>
              <a:t>25</a:t>
            </a:r>
            <a:r>
              <a:rPr lang="en-US" altLang="zh-CN" sz="2400" b="1" baseline="30000" dirty="0">
                <a:solidFill>
                  <a:srgbClr val="000000"/>
                </a:solidFill>
                <a:latin typeface="楷体_GB2312"/>
                <a:ea typeface="楷体_GB2312"/>
              </a:rPr>
              <a:t>0</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a:p>
            <a:pPr>
              <a:spcBef>
                <a:spcPct val="50000"/>
              </a:spcBef>
            </a:pPr>
            <a:endParaRPr lang="en-US" altLang="zh-CN" sz="2400" b="1" dirty="0">
              <a:solidFill>
                <a:srgbClr val="000000"/>
              </a:solidFill>
              <a:latin typeface="楷体_GB2312"/>
              <a:ea typeface="楷体_GB2312"/>
            </a:endParaRPr>
          </a:p>
        </p:txBody>
      </p:sp>
      <p:sp>
        <p:nvSpPr>
          <p:cNvPr id="76806" name="Rectangle 7"/>
          <p:cNvSpPr/>
          <p:nvPr/>
        </p:nvSpPr>
        <p:spPr>
          <a:xfrm>
            <a:off x="214313" y="4076700"/>
            <a:ext cx="4392612" cy="1917700"/>
          </a:xfrm>
          <a:prstGeom prst="rect">
            <a:avLst/>
          </a:prstGeom>
          <a:noFill/>
          <a:ln w="9525">
            <a:noFill/>
          </a:ln>
        </p:spPr>
        <p:txBody>
          <a:bodyPr anchor="t" anchorCtr="0">
            <a:spAutoFit/>
          </a:bodyPr>
          <a:p>
            <a:pPr>
              <a:spcBef>
                <a:spcPct val="50000"/>
              </a:spcBef>
            </a:pPr>
            <a:r>
              <a:rPr lang="en-US" altLang="zh-CN" sz="2400" b="1" dirty="0">
                <a:solidFill>
                  <a:srgbClr val="CC3300"/>
                </a:solidFill>
                <a:latin typeface="楷体_GB2312"/>
                <a:ea typeface="楷体_GB2312"/>
              </a:rPr>
              <a:t>    </a:t>
            </a:r>
            <a:r>
              <a:rPr lang="zh-CN" altLang="en-US" sz="2400" b="1" dirty="0">
                <a:solidFill>
                  <a:srgbClr val="CC3300"/>
                </a:solidFill>
                <a:latin typeface="楷体_GB2312"/>
                <a:ea typeface="楷体_GB2312"/>
              </a:rPr>
              <a:t>后角</a:t>
            </a:r>
            <a:r>
              <a:rPr lang="en-US" altLang="zh-CN" sz="2400" b="1" dirty="0">
                <a:solidFill>
                  <a:srgbClr val="CC3300"/>
                </a:solidFill>
                <a:latin typeface="楷体_GB2312"/>
                <a:ea typeface="楷体_GB2312"/>
              </a:rPr>
              <a:t>α</a:t>
            </a:r>
            <a:r>
              <a:rPr lang="en-US" altLang="zh-CN" sz="2400" b="1" baseline="-25000" dirty="0">
                <a:solidFill>
                  <a:srgbClr val="CC3300"/>
                </a:solidFill>
                <a:latin typeface="楷体_GB2312"/>
                <a:ea typeface="楷体_GB2312"/>
              </a:rPr>
              <a:t>0</a:t>
            </a:r>
            <a:r>
              <a:rPr lang="en-US" altLang="zh-CN" sz="2400" b="1" dirty="0">
                <a:solidFill>
                  <a:srgbClr val="000000"/>
                </a:solidFill>
                <a:latin typeface="楷体_GB2312"/>
                <a:ea typeface="楷体_GB2312"/>
              </a:rPr>
              <a:t> </a:t>
            </a:r>
            <a:r>
              <a:rPr lang="zh-CN" altLang="en-US" sz="2400" b="1" dirty="0">
                <a:solidFill>
                  <a:srgbClr val="000000"/>
                </a:solidFill>
                <a:latin typeface="楷体_GB2312"/>
                <a:ea typeface="楷体_GB2312"/>
              </a:rPr>
              <a:t>主后刀面与切削平面之间的夹角。后角的主要作用是</a:t>
            </a:r>
            <a:r>
              <a:rPr lang="zh-CN" altLang="en-US" sz="2400" b="1" dirty="0">
                <a:solidFill>
                  <a:srgbClr val="0033CC"/>
                </a:solidFill>
                <a:latin typeface="楷体_GB2312"/>
                <a:ea typeface="楷体_GB2312"/>
              </a:rPr>
              <a:t>减小刀具主后刀面与工件的加工表面之间的</a:t>
            </a:r>
            <a:r>
              <a:rPr lang="zh-CN" altLang="en-US" sz="2400" b="1" dirty="0">
                <a:solidFill>
                  <a:srgbClr val="FF3300"/>
                </a:solidFill>
                <a:latin typeface="楷体_GB2312"/>
                <a:ea typeface="楷体_GB2312"/>
              </a:rPr>
              <a:t>摩擦</a:t>
            </a:r>
            <a:r>
              <a:rPr lang="zh-CN" altLang="en-US" sz="2400" b="1" dirty="0">
                <a:solidFill>
                  <a:srgbClr val="000000"/>
                </a:solidFill>
                <a:latin typeface="楷体_GB2312"/>
                <a:ea typeface="楷体_GB2312"/>
              </a:rPr>
              <a:t>。车刀后角一般取</a:t>
            </a:r>
            <a:r>
              <a:rPr lang="en-US" altLang="zh-CN" sz="2400" b="1" dirty="0">
                <a:solidFill>
                  <a:srgbClr val="000000"/>
                </a:solidFill>
                <a:latin typeface="楷体_GB2312"/>
                <a:ea typeface="楷体_GB2312"/>
              </a:rPr>
              <a:t>6</a:t>
            </a:r>
            <a:r>
              <a:rPr lang="en-US" altLang="zh-CN" sz="2400" b="1" baseline="30000" dirty="0">
                <a:solidFill>
                  <a:srgbClr val="000000"/>
                </a:solidFill>
                <a:latin typeface="楷体_GB2312"/>
                <a:ea typeface="楷体_GB2312"/>
              </a:rPr>
              <a:t>0</a:t>
            </a:r>
            <a:r>
              <a:rPr lang="zh-CN" altLang="en-US" sz="2400" b="1" dirty="0">
                <a:solidFill>
                  <a:srgbClr val="000000"/>
                </a:solidFill>
                <a:latin typeface="楷体_GB2312"/>
                <a:ea typeface="楷体_GB2312"/>
              </a:rPr>
              <a:t>一</a:t>
            </a:r>
            <a:r>
              <a:rPr lang="en-US" altLang="zh-CN" sz="2400" b="1" dirty="0">
                <a:solidFill>
                  <a:srgbClr val="000000"/>
                </a:solidFill>
                <a:latin typeface="楷体_GB2312"/>
                <a:ea typeface="楷体_GB2312"/>
              </a:rPr>
              <a:t>15</a:t>
            </a:r>
            <a:r>
              <a:rPr lang="en-US" altLang="zh-CN" sz="2400" b="1" baseline="30000" dirty="0">
                <a:solidFill>
                  <a:srgbClr val="000000"/>
                </a:solidFill>
                <a:latin typeface="楷体_GB2312"/>
                <a:ea typeface="楷体_GB2312"/>
              </a:rPr>
              <a:t>0</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p:txBody>
      </p:sp>
      <p:sp>
        <p:nvSpPr>
          <p:cNvPr id="76807" name="文本框 1"/>
          <p:cNvSpPr txBox="1"/>
          <p:nvPr/>
        </p:nvSpPr>
        <p:spPr>
          <a:xfrm>
            <a:off x="4291013" y="1450975"/>
            <a:ext cx="4319587" cy="584200"/>
          </a:xfrm>
          <a:prstGeom prst="rect">
            <a:avLst/>
          </a:prstGeom>
          <a:solidFill>
            <a:schemeClr val="accent2"/>
          </a:solidFill>
          <a:ln w="9525">
            <a:noFill/>
          </a:ln>
        </p:spPr>
        <p:txBody>
          <a:bodyPr anchor="t" anchorCtr="0">
            <a:spAutoFit/>
          </a:bodyPr>
          <a:p>
            <a:pPr eaLnBrk="0" hangingPunct="0"/>
            <a:r>
              <a:rPr lang="zh-CN" altLang="en-US" sz="3200" dirty="0">
                <a:latin typeface="Arial" panose="020B0604020202020204" pitchFamily="34" charset="0"/>
                <a:ea typeface="宋体" panose="02010600030101010101" pitchFamily="2" charset="-122"/>
              </a:rPr>
              <a:t>观看刀具角度作用视频</a:t>
            </a:r>
            <a:endParaRPr lang="zh-CN" altLang="en-US" sz="3200" dirty="0">
              <a:latin typeface="Arial" panose="020B0604020202020204" pitchFamily="34" charset="0"/>
              <a:ea typeface="宋体" panose="02010600030101010101" pitchFamily="2" charset="-122"/>
            </a:endParaRPr>
          </a:p>
        </p:txBody>
      </p:sp>
      <p:sp>
        <p:nvSpPr>
          <p:cNvPr id="9" name="五角星 8"/>
          <p:cNvSpPr/>
          <p:nvPr/>
        </p:nvSpPr>
        <p:spPr>
          <a:xfrm>
            <a:off x="214313" y="1143000"/>
            <a:ext cx="571500" cy="428625"/>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6809" name="Picture 4" descr="http://s2.sinaimg.cn/middle/a93e4796gcbeb5901bba1&amp;690"/>
          <p:cNvPicPr>
            <a:picLocks noChangeAspect="1"/>
          </p:cNvPicPr>
          <p:nvPr/>
        </p:nvPicPr>
        <p:blipFill>
          <a:blip r:embed="rId2"/>
          <a:stretch>
            <a:fillRect/>
          </a:stretch>
        </p:blipFill>
        <p:spPr>
          <a:xfrm>
            <a:off x="3276600" y="5589588"/>
            <a:ext cx="2225675" cy="1246187"/>
          </a:xfrm>
          <a:prstGeom prst="rect">
            <a:avLst/>
          </a:prstGeom>
          <a:noFill/>
          <a:ln w="9525">
            <a:noFill/>
          </a:ln>
        </p:spPr>
      </p:pic>
    </p:spTree>
  </p:cSld>
  <p:clrMapOvr>
    <a:masterClrMapping/>
  </p:clrMapOvr>
  <p:transition spd="slow">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刀具材料及刀具构造</a:t>
            </a:r>
            <a:endParaRPr lang="zh-CN" altLang="en-US" sz="4000" dirty="0">
              <a:ea typeface="楷体_GB2312"/>
            </a:endParaRPr>
          </a:p>
        </p:txBody>
      </p:sp>
      <p:sp>
        <p:nvSpPr>
          <p:cNvPr id="78850" name="Rectangle 3"/>
          <p:cNvSpPr/>
          <p:nvPr/>
        </p:nvSpPr>
        <p:spPr>
          <a:xfrm>
            <a:off x="395288" y="1219200"/>
            <a:ext cx="5472112" cy="3200400"/>
          </a:xfrm>
          <a:prstGeom prst="rect">
            <a:avLst/>
          </a:prstGeom>
          <a:noFill/>
          <a:ln w="9525">
            <a:noFill/>
          </a:ln>
        </p:spPr>
        <p:txBody>
          <a:bodyPr anchor="ctr" anchorCtr="0">
            <a:spAutoFit/>
          </a:bodyPr>
          <a:p>
            <a:pPr>
              <a:buClr>
                <a:srgbClr val="FF0000"/>
              </a:buClr>
              <a:buFont typeface="Wingdings" panose="05000000000000000000" pitchFamily="2" charset="2"/>
              <a:buChar char="Ø"/>
            </a:pPr>
            <a:r>
              <a:rPr lang="zh-CN" altLang="en-US" sz="2400" b="1" dirty="0">
                <a:solidFill>
                  <a:srgbClr val="008000"/>
                </a:solidFill>
                <a:latin typeface="楷体_GB2312"/>
                <a:ea typeface="楷体_GB2312"/>
              </a:rPr>
              <a:t>主偏角</a:t>
            </a:r>
            <a:r>
              <a:rPr lang="en-US" altLang="zh-CN" sz="2400" b="1" i="1" dirty="0">
                <a:solidFill>
                  <a:srgbClr val="008000"/>
                </a:solidFill>
                <a:latin typeface="Times New Roman" panose="02020603050405020304" pitchFamily="18" charset="0"/>
                <a:ea typeface="楷体_GB2312"/>
              </a:rPr>
              <a:t>k</a:t>
            </a:r>
            <a:r>
              <a:rPr lang="en-US" altLang="zh-CN" sz="2400" b="1" i="1" baseline="-25000" dirty="0">
                <a:solidFill>
                  <a:srgbClr val="008000"/>
                </a:solidFill>
                <a:latin typeface="Times New Roman" panose="02020603050405020304" pitchFamily="18" charset="0"/>
                <a:ea typeface="楷体_GB2312"/>
              </a:rPr>
              <a:t>r</a:t>
            </a:r>
            <a:r>
              <a:rPr lang="zh-CN" altLang="en-US" sz="2400" b="1" dirty="0">
                <a:solidFill>
                  <a:srgbClr val="008000"/>
                </a:solidFill>
                <a:latin typeface="楷体_GB2312"/>
                <a:ea typeface="楷体_GB2312"/>
              </a:rPr>
              <a:t>副偏角</a:t>
            </a:r>
            <a:r>
              <a:rPr lang="en-US" altLang="zh-CN" sz="2400" b="1" i="1" dirty="0">
                <a:solidFill>
                  <a:srgbClr val="008000"/>
                </a:solidFill>
                <a:latin typeface="楷体_GB2312"/>
                <a:ea typeface="楷体_GB2312"/>
              </a:rPr>
              <a:t>k</a:t>
            </a:r>
            <a:r>
              <a:rPr lang="en-US" altLang="zh-CN" sz="2400" b="1" i="1" baseline="-25000" dirty="0">
                <a:solidFill>
                  <a:srgbClr val="008000"/>
                </a:solidFill>
                <a:latin typeface="楷体_GB2312"/>
                <a:ea typeface="楷体_GB2312"/>
              </a:rPr>
              <a:t>r</a:t>
            </a:r>
            <a:r>
              <a:rPr lang="en-US" altLang="zh-CN" sz="2400" b="1" i="1" dirty="0">
                <a:solidFill>
                  <a:srgbClr val="008000"/>
                </a:solidFill>
                <a:latin typeface="Century" panose="02040604050505020304" pitchFamily="18" charset="0"/>
                <a:ea typeface="楷体_GB2312"/>
              </a:rPr>
              <a:t>’</a:t>
            </a:r>
            <a:r>
              <a:rPr lang="zh-CN" altLang="en-US" sz="2400" b="1" dirty="0">
                <a:solidFill>
                  <a:srgbClr val="008000"/>
                </a:solidFill>
                <a:latin typeface="楷体_GB2312"/>
                <a:ea typeface="楷体_GB2312"/>
              </a:rPr>
              <a:t>：</a:t>
            </a:r>
            <a:endParaRPr lang="ja-JP" altLang="en-US" sz="2400" b="1" dirty="0">
              <a:solidFill>
                <a:srgbClr val="008000"/>
              </a:solidFill>
              <a:latin typeface="楷体_GB2312"/>
              <a:ea typeface="楷体_GB2312"/>
            </a:endParaRPr>
          </a:p>
          <a:p>
            <a:r>
              <a:rPr lang="zh-CN" altLang="en-US" sz="2000" b="1" dirty="0">
                <a:latin typeface="楷体_GB2312"/>
                <a:ea typeface="楷体_GB2312"/>
              </a:rPr>
              <a:t>    </a:t>
            </a:r>
            <a:r>
              <a:rPr lang="zh-CN" altLang="en-US" sz="2200" b="1" dirty="0">
                <a:solidFill>
                  <a:srgbClr val="FF3300"/>
                </a:solidFill>
                <a:latin typeface="楷体_GB2312"/>
                <a:ea typeface="楷体_GB2312"/>
              </a:rPr>
              <a:t>主偏角影响切削层截面的形状和几何参数，影响切削分力的变化，并和副偏角一起影响已加工表面粗糙度。</a:t>
            </a:r>
            <a:endParaRPr lang="zh-CN" altLang="en-US" sz="2200" b="1" dirty="0">
              <a:solidFill>
                <a:srgbClr val="FF3300"/>
              </a:solidFill>
              <a:latin typeface="楷体_GB2312"/>
              <a:ea typeface="楷体_GB2312"/>
            </a:endParaRPr>
          </a:p>
          <a:p>
            <a:r>
              <a:rPr lang="zh-CN" altLang="en-US" sz="2200" b="1" dirty="0">
                <a:latin typeface="楷体_GB2312"/>
                <a:ea typeface="楷体_GB2312"/>
              </a:rPr>
              <a:t>    如图，当</a:t>
            </a:r>
            <a:r>
              <a:rPr lang="en-US" altLang="zh-CN" sz="2200" b="1" i="1" dirty="0">
                <a:latin typeface="Times New Roman" panose="02020603050405020304" pitchFamily="18" charset="0"/>
                <a:ea typeface="楷体_GB2312"/>
              </a:rPr>
              <a:t>a</a:t>
            </a:r>
            <a:r>
              <a:rPr lang="en-US" altLang="zh-CN" sz="2200" b="1" i="1" baseline="-25000" dirty="0">
                <a:latin typeface="Times New Roman" panose="02020603050405020304" pitchFamily="18" charset="0"/>
                <a:ea typeface="楷体_GB2312"/>
              </a:rPr>
              <a:t>p</a:t>
            </a:r>
            <a:r>
              <a:rPr lang="zh-CN" altLang="en-US" sz="2200" b="1" dirty="0">
                <a:latin typeface="楷体_GB2312"/>
                <a:ea typeface="楷体_GB2312"/>
              </a:rPr>
              <a:t>和</a:t>
            </a:r>
            <a:r>
              <a:rPr lang="en-US" altLang="zh-CN" sz="2200" b="1" i="1" dirty="0">
                <a:latin typeface="Times New Roman" panose="02020603050405020304" pitchFamily="18" charset="0"/>
                <a:ea typeface="楷体_GB2312"/>
              </a:rPr>
              <a:t>f</a:t>
            </a:r>
            <a:r>
              <a:rPr lang="zh-CN" altLang="en-US" sz="2200" b="1" dirty="0">
                <a:latin typeface="楷体_GB2312"/>
                <a:ea typeface="楷体_GB2312"/>
              </a:rPr>
              <a:t>一定时，</a:t>
            </a:r>
            <a:r>
              <a:rPr lang="en-US" altLang="zh-CN" sz="2200" b="1" i="1" dirty="0">
                <a:latin typeface="Times New Roman" panose="02020603050405020304" pitchFamily="18" charset="0"/>
                <a:ea typeface="楷体_GB2312"/>
              </a:rPr>
              <a:t>k</a:t>
            </a:r>
            <a:r>
              <a:rPr lang="en-US" altLang="zh-CN" sz="2200" b="1" i="1" baseline="-25000" dirty="0">
                <a:latin typeface="Times New Roman" panose="02020603050405020304" pitchFamily="18" charset="0"/>
                <a:ea typeface="楷体_GB2312"/>
              </a:rPr>
              <a:t>r</a:t>
            </a:r>
            <a:r>
              <a:rPr lang="zh-CN" altLang="en-US" sz="2200" b="1" dirty="0">
                <a:latin typeface="楷体_GB2312"/>
                <a:ea typeface="楷体_GB2312"/>
              </a:rPr>
              <a:t>愈小，切下薄而宽的切屑。主切削刃单位长度上的负荷较轻，且散热条件较好，有利于刀具耐用度的提高。</a:t>
            </a:r>
            <a:endParaRPr lang="zh-CN" altLang="en-US" sz="2200" b="1" dirty="0">
              <a:latin typeface="楷体_GB2312"/>
              <a:ea typeface="楷体_GB2312"/>
            </a:endParaRPr>
          </a:p>
          <a:p>
            <a:r>
              <a:rPr lang="zh-CN" altLang="en-US" sz="2400" b="1" dirty="0">
                <a:latin typeface="楷体_GB2312"/>
                <a:ea typeface="楷体_GB2312"/>
              </a:rPr>
              <a:t>    </a:t>
            </a:r>
            <a:endParaRPr lang="zh-CN" altLang="en-US" sz="2400" b="1" dirty="0">
              <a:solidFill>
                <a:srgbClr val="FF0000"/>
              </a:solidFill>
              <a:latin typeface="楷体_GB2312"/>
              <a:ea typeface="楷体_GB2312"/>
            </a:endParaRPr>
          </a:p>
        </p:txBody>
      </p:sp>
      <p:pic>
        <p:nvPicPr>
          <p:cNvPr id="78851" name="Picture 4" descr="퓨=}"/>
          <p:cNvPicPr>
            <a:picLocks noChangeAspect="1"/>
          </p:cNvPicPr>
          <p:nvPr/>
        </p:nvPicPr>
        <p:blipFill>
          <a:blip r:embed="rId1"/>
          <a:srcRect l="52846" t="25200" r="6216" b="60776"/>
          <a:stretch>
            <a:fillRect/>
          </a:stretch>
        </p:blipFill>
        <p:spPr>
          <a:xfrm>
            <a:off x="6011863" y="1854200"/>
            <a:ext cx="3024187" cy="2079625"/>
          </a:xfrm>
          <a:prstGeom prst="rect">
            <a:avLst/>
          </a:prstGeom>
          <a:noFill/>
          <a:ln w="9525" cap="flat" cmpd="sng">
            <a:solidFill>
              <a:srgbClr val="FF3300"/>
            </a:solidFill>
            <a:prstDash val="solid"/>
            <a:miter/>
            <a:headEnd type="none" w="med" len="med"/>
            <a:tailEnd type="none" w="med" len="med"/>
          </a:ln>
        </p:spPr>
      </p:pic>
      <p:grpSp>
        <p:nvGrpSpPr>
          <p:cNvPr id="78852" name="Group 5"/>
          <p:cNvGrpSpPr/>
          <p:nvPr/>
        </p:nvGrpSpPr>
        <p:grpSpPr>
          <a:xfrm>
            <a:off x="900113" y="4033838"/>
            <a:ext cx="7254875" cy="2708275"/>
            <a:chOff x="567" y="2659"/>
            <a:chExt cx="4320" cy="1588"/>
          </a:xfrm>
        </p:grpSpPr>
        <p:grpSp>
          <p:nvGrpSpPr>
            <p:cNvPr id="78853" name="Group 6"/>
            <p:cNvGrpSpPr/>
            <p:nvPr/>
          </p:nvGrpSpPr>
          <p:grpSpPr>
            <a:xfrm>
              <a:off x="567" y="2659"/>
              <a:ext cx="4320" cy="1572"/>
              <a:chOff x="567" y="2750"/>
              <a:chExt cx="4320" cy="1572"/>
            </a:xfrm>
          </p:grpSpPr>
          <p:pic>
            <p:nvPicPr>
              <p:cNvPr id="78854" name="Picture 7" descr="6-13"/>
              <p:cNvPicPr>
                <a:picLocks noChangeAspect="1"/>
              </p:cNvPicPr>
              <p:nvPr/>
            </p:nvPicPr>
            <p:blipFill>
              <a:blip r:embed="rId2"/>
              <a:stretch>
                <a:fillRect/>
              </a:stretch>
            </p:blipFill>
            <p:spPr>
              <a:xfrm>
                <a:off x="567" y="2750"/>
                <a:ext cx="4320" cy="1377"/>
              </a:xfrm>
              <a:prstGeom prst="rect">
                <a:avLst/>
              </a:prstGeom>
              <a:noFill/>
              <a:ln w="9525">
                <a:noFill/>
              </a:ln>
            </p:spPr>
          </p:pic>
          <p:sp>
            <p:nvSpPr>
              <p:cNvPr id="78855" name="Rectangle 8"/>
              <p:cNvSpPr/>
              <p:nvPr/>
            </p:nvSpPr>
            <p:spPr>
              <a:xfrm>
                <a:off x="567" y="4106"/>
                <a:ext cx="4309" cy="216"/>
              </a:xfrm>
              <a:prstGeom prst="rect">
                <a:avLst/>
              </a:prstGeom>
              <a:solidFill>
                <a:srgbClr val="FFFFFF"/>
              </a:solidFill>
              <a:ln w="9525">
                <a:noFill/>
              </a:ln>
            </p:spPr>
            <p:txBody>
              <a:bodyPr anchor="t" anchorCtr="0">
                <a:spAutoFit/>
              </a:bodyPr>
              <a:p>
                <a:r>
                  <a:rPr lang="en-US" altLang="zh-CN" b="1" dirty="0">
                    <a:solidFill>
                      <a:srgbClr val="000000"/>
                    </a:solidFill>
                    <a:latin typeface="楷体_GB2312"/>
                    <a:ea typeface="楷体_GB2312"/>
                  </a:rPr>
                  <a:t>                </a:t>
                </a:r>
                <a:r>
                  <a:rPr lang="zh-CN" altLang="en-US" b="1" dirty="0">
                    <a:solidFill>
                      <a:srgbClr val="000000"/>
                    </a:solidFill>
                    <a:latin typeface="楷体_GB2312"/>
                    <a:ea typeface="楷体_GB2312"/>
                  </a:rPr>
                  <a:t>图 副偏角</a:t>
                </a:r>
                <a:r>
                  <a:rPr lang="en-US" altLang="zh-CN" b="1" i="1" dirty="0">
                    <a:solidFill>
                      <a:srgbClr val="000000"/>
                    </a:solidFill>
                    <a:latin typeface="Times New Roman" panose="02020603050405020304" pitchFamily="18" charset="0"/>
                    <a:ea typeface="楷体_GB2312"/>
                  </a:rPr>
                  <a:t>k</a:t>
                </a:r>
                <a:r>
                  <a:rPr lang="en-US" altLang="zh-CN" b="1" i="1" baseline="-25000" dirty="0">
                    <a:solidFill>
                      <a:srgbClr val="000000"/>
                    </a:solidFill>
                    <a:latin typeface="Times New Roman" panose="02020603050405020304" pitchFamily="18" charset="0"/>
                    <a:ea typeface="楷体_GB2312"/>
                  </a:rPr>
                  <a:t>r</a:t>
                </a:r>
                <a:r>
                  <a:rPr lang="en-US" altLang="zh-CN" b="1" i="1" dirty="0">
                    <a:solidFill>
                      <a:srgbClr val="000000"/>
                    </a:solidFill>
                    <a:latin typeface="Times New Roman" panose="02020603050405020304" pitchFamily="18" charset="0"/>
                    <a:ea typeface="楷体_GB2312"/>
                  </a:rPr>
                  <a:t>’</a:t>
                </a:r>
                <a:r>
                  <a:rPr lang="zh-CN" altLang="en-US" b="1" dirty="0">
                    <a:solidFill>
                      <a:srgbClr val="000000"/>
                    </a:solidFill>
                    <a:latin typeface="楷体_GB2312"/>
                    <a:ea typeface="楷体_GB2312"/>
                  </a:rPr>
                  <a:t>对残留面积的影响</a:t>
                </a:r>
                <a:endParaRPr lang="zh-CN" altLang="en-US" b="1" dirty="0">
                  <a:solidFill>
                    <a:srgbClr val="000000"/>
                  </a:solidFill>
                  <a:latin typeface="楷体_GB2312"/>
                  <a:ea typeface="楷体_GB2312"/>
                </a:endParaRPr>
              </a:p>
            </p:txBody>
          </p:sp>
        </p:grpSp>
        <p:sp>
          <p:nvSpPr>
            <p:cNvPr id="78856" name="Rectangle 9"/>
            <p:cNvSpPr/>
            <p:nvPr/>
          </p:nvSpPr>
          <p:spPr>
            <a:xfrm>
              <a:off x="567" y="2659"/>
              <a:ext cx="4309" cy="1588"/>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0" name="六角星 9"/>
          <p:cNvSpPr/>
          <p:nvPr/>
        </p:nvSpPr>
        <p:spPr>
          <a:xfrm>
            <a:off x="3429000" y="1214438"/>
            <a:ext cx="571500" cy="500063"/>
          </a:xfrm>
          <a:prstGeom prst="star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xfrm>
            <a:off x="2905125" y="0"/>
            <a:ext cx="5051425" cy="1139825"/>
          </a:xfrm>
          <a:ln/>
        </p:spPr>
        <p:txBody>
          <a:bodyPr vert="horz" wrap="square" lIns="91440" tIns="45720" rIns="91440" bIns="45720" anchor="ctr" anchorCtr="0"/>
          <a:p>
            <a:pPr eaLnBrk="1" hangingPunct="1"/>
            <a:r>
              <a:rPr lang="zh-CN" altLang="en-US" sz="4000" dirty="0">
                <a:ea typeface="楷体_GB2312"/>
              </a:rPr>
              <a:t>刀具材料及刀具构造</a:t>
            </a:r>
            <a:endParaRPr lang="zh-CN" altLang="en-US" sz="4000" dirty="0">
              <a:ea typeface="楷体_GB2312"/>
            </a:endParaRPr>
          </a:p>
        </p:txBody>
      </p:sp>
      <p:sp>
        <p:nvSpPr>
          <p:cNvPr id="80898" name="Rectangle 3"/>
          <p:cNvSpPr/>
          <p:nvPr/>
        </p:nvSpPr>
        <p:spPr>
          <a:xfrm>
            <a:off x="107950" y="1433513"/>
            <a:ext cx="8915400" cy="2308225"/>
          </a:xfrm>
          <a:prstGeom prst="rect">
            <a:avLst/>
          </a:prstGeom>
          <a:noFill/>
          <a:ln w="9525">
            <a:noFill/>
          </a:ln>
        </p:spPr>
        <p:txBody>
          <a:bodyPr anchor="ctr" anchorCtr="0">
            <a:spAutoFit/>
          </a:bodyPr>
          <a:p>
            <a:pPr>
              <a:buClr>
                <a:srgbClr val="FF0000"/>
              </a:buClr>
              <a:buFont typeface="Wingdings" panose="05000000000000000000" pitchFamily="2" charset="2"/>
              <a:buChar char="Ø"/>
            </a:pPr>
            <a:r>
              <a:rPr lang="zh-CN" altLang="en-US" sz="2400" b="1" dirty="0">
                <a:solidFill>
                  <a:srgbClr val="008000"/>
                </a:solidFill>
                <a:latin typeface="楷体_GB2312"/>
                <a:ea typeface="楷体_GB2312"/>
              </a:rPr>
              <a:t>主偏角</a:t>
            </a:r>
            <a:r>
              <a:rPr lang="en-US" altLang="zh-CN" sz="2400" b="1" i="1" dirty="0">
                <a:solidFill>
                  <a:srgbClr val="008000"/>
                </a:solidFill>
                <a:latin typeface="楷体_GB2312"/>
                <a:ea typeface="楷体_GB2312"/>
              </a:rPr>
              <a:t>k</a:t>
            </a:r>
            <a:r>
              <a:rPr lang="en-US" altLang="zh-CN" b="1" i="1" dirty="0">
                <a:solidFill>
                  <a:srgbClr val="008000"/>
                </a:solidFill>
                <a:latin typeface="楷体_GB2312"/>
                <a:ea typeface="楷体_GB2312"/>
              </a:rPr>
              <a:t>r</a:t>
            </a:r>
            <a:r>
              <a:rPr lang="zh-CN" altLang="en-US" sz="2400" b="1" dirty="0">
                <a:solidFill>
                  <a:srgbClr val="008000"/>
                </a:solidFill>
                <a:latin typeface="楷体_GB2312"/>
                <a:ea typeface="楷体_GB2312"/>
              </a:rPr>
              <a:t>对切削力的影响</a:t>
            </a:r>
            <a:endParaRPr lang="zh-CN" altLang="en-US" sz="2400" b="1" dirty="0">
              <a:solidFill>
                <a:srgbClr val="008000"/>
              </a:solidFill>
              <a:latin typeface="楷体_GB2312"/>
              <a:ea typeface="楷体_GB2312"/>
            </a:endParaRPr>
          </a:p>
          <a:p>
            <a:r>
              <a:rPr lang="zh-CN" altLang="en-US" sz="2400" b="1" dirty="0">
                <a:latin typeface="楷体_GB2312"/>
                <a:ea typeface="楷体_GB2312"/>
              </a:rPr>
              <a:t>     </a:t>
            </a:r>
            <a:r>
              <a:rPr lang="zh-CN" altLang="en-US" sz="2400" b="1" dirty="0">
                <a:solidFill>
                  <a:srgbClr val="FF3300"/>
                </a:solidFill>
                <a:latin typeface="楷体_GB2312"/>
                <a:ea typeface="楷体_GB2312"/>
              </a:rPr>
              <a:t>当主偏角减小时，背向力将增大，若加工刚性差的工件（细长轴），就可能产生弯曲变形，引起振动。</a:t>
            </a:r>
            <a:endParaRPr lang="zh-CN" altLang="en-US" sz="2400" b="1" dirty="0">
              <a:solidFill>
                <a:srgbClr val="FF3300"/>
              </a:solidFill>
              <a:latin typeface="楷体_GB2312"/>
              <a:ea typeface="楷体_GB2312"/>
            </a:endParaRPr>
          </a:p>
          <a:p>
            <a:endParaRPr lang="zh-CN" altLang="en-US" sz="2400" b="1" dirty="0">
              <a:latin typeface="楷体_GB2312"/>
              <a:ea typeface="楷体_GB2312"/>
            </a:endParaRPr>
          </a:p>
          <a:p>
            <a:r>
              <a:rPr lang="zh-CN" altLang="en-US" sz="2400" b="1" dirty="0">
                <a:solidFill>
                  <a:srgbClr val="F19BFD"/>
                </a:solidFill>
                <a:latin typeface="楷体_GB2312"/>
                <a:ea typeface="楷体_GB2312"/>
              </a:rPr>
              <a:t>    </a:t>
            </a:r>
            <a:r>
              <a:rPr lang="zh-CN" altLang="en-US" sz="2400" b="1" dirty="0">
                <a:latin typeface="楷体_GB2312"/>
                <a:ea typeface="楷体_GB2312"/>
              </a:rPr>
              <a:t>主、副偏角的选择原则应为在不产生振动的条件下，取小值。</a:t>
            </a:r>
            <a:endParaRPr lang="zh-CN" altLang="en-US" sz="2400" b="1" dirty="0">
              <a:latin typeface="楷体_GB2312"/>
              <a:ea typeface="楷体_GB2312"/>
            </a:endParaRPr>
          </a:p>
          <a:p>
            <a:pPr>
              <a:buClr>
                <a:srgbClr val="FF0000"/>
              </a:buClr>
              <a:buFont typeface="Wingdings" panose="05000000000000000000" pitchFamily="2" charset="2"/>
            </a:pPr>
            <a:endParaRPr lang="en-US" altLang="zh-CN" sz="2400" b="1" dirty="0">
              <a:solidFill>
                <a:srgbClr val="FF0000"/>
              </a:solidFill>
              <a:latin typeface="楷体_GB2312"/>
              <a:ea typeface="楷体_GB2312"/>
            </a:endParaRPr>
          </a:p>
        </p:txBody>
      </p:sp>
      <p:pic>
        <p:nvPicPr>
          <p:cNvPr id="80899" name="Picture 4" descr="6-100"/>
          <p:cNvPicPr>
            <a:picLocks noChangeAspect="1"/>
          </p:cNvPicPr>
          <p:nvPr/>
        </p:nvPicPr>
        <p:blipFill>
          <a:blip r:embed="rId1"/>
          <a:stretch>
            <a:fillRect/>
          </a:stretch>
        </p:blipFill>
        <p:spPr>
          <a:xfrm>
            <a:off x="641350" y="3470275"/>
            <a:ext cx="7848600" cy="3352800"/>
          </a:xfrm>
          <a:prstGeom prst="rect">
            <a:avLst/>
          </a:prstGeom>
          <a:noFill/>
          <a:ln w="9525" cap="flat" cmpd="sng">
            <a:solidFill>
              <a:srgbClr val="FF3300"/>
            </a:solidFill>
            <a:prstDash val="solid"/>
            <a:miter/>
            <a:headEnd type="none" w="med" len="med"/>
            <a:tailEnd type="none" w="med" len="med"/>
          </a:ln>
        </p:spPr>
      </p:pic>
      <p:sp>
        <p:nvSpPr>
          <p:cNvPr id="5" name="六角星 4"/>
          <p:cNvSpPr/>
          <p:nvPr/>
        </p:nvSpPr>
        <p:spPr>
          <a:xfrm>
            <a:off x="428625" y="3357563"/>
            <a:ext cx="571500" cy="500063"/>
          </a:xfrm>
          <a:prstGeom prst="star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p:nvPr>
        </p:nvSpPr>
        <p:spPr>
          <a:xfrm>
            <a:off x="3311525" y="90488"/>
            <a:ext cx="4213225" cy="11906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sp>
        <p:nvSpPr>
          <p:cNvPr id="82946" name="Rectangle 3"/>
          <p:cNvSpPr/>
          <p:nvPr/>
        </p:nvSpPr>
        <p:spPr>
          <a:xfrm>
            <a:off x="323850" y="1684338"/>
            <a:ext cx="4051300" cy="3257550"/>
          </a:xfrm>
          <a:prstGeom prst="rect">
            <a:avLst/>
          </a:prstGeom>
          <a:noFill/>
          <a:ln w="9525">
            <a:noFill/>
          </a:ln>
        </p:spPr>
        <p:txBody>
          <a:bodyPr anchor="t" anchorCtr="0">
            <a:spAutoFit/>
          </a:bodyPr>
          <a:p>
            <a:pPr marL="342900" indent="-342900">
              <a:spcBef>
                <a:spcPct val="50000"/>
              </a:spcBef>
              <a:buNone/>
            </a:pPr>
            <a:r>
              <a:rPr lang="zh-CN" altLang="en-US" sz="2800" b="1" dirty="0">
                <a:solidFill>
                  <a:srgbClr val="FF0000"/>
                </a:solidFill>
                <a:latin typeface="楷体_GB2312"/>
                <a:ea typeface="楷体_GB2312"/>
              </a:rPr>
              <a:t>三、 切削力与切削功率</a:t>
            </a:r>
            <a:endParaRPr lang="zh-CN" altLang="en-US" sz="2800" dirty="0">
              <a:solidFill>
                <a:srgbClr val="FF0000"/>
              </a:solidFill>
              <a:latin typeface="楷体_GB2312"/>
              <a:ea typeface="楷体_GB2312"/>
            </a:endParaRPr>
          </a:p>
          <a:p>
            <a:pPr marL="342900" indent="-342900">
              <a:spcBef>
                <a:spcPct val="50000"/>
              </a:spcBef>
              <a:buAutoNum type="arabicPeriod"/>
            </a:pPr>
            <a:r>
              <a:rPr lang="zh-CN" altLang="en-US" sz="2400" b="1" dirty="0">
                <a:solidFill>
                  <a:srgbClr val="008000"/>
                </a:solidFill>
                <a:latin typeface="楷体_GB2312"/>
                <a:ea typeface="楷体_GB2312"/>
              </a:rPr>
              <a:t>切削力</a:t>
            </a:r>
            <a:r>
              <a:rPr lang="zh-CN" altLang="en-US" sz="2400" dirty="0">
                <a:solidFill>
                  <a:srgbClr val="008000"/>
                </a:solidFill>
                <a:latin typeface="楷体_GB2312"/>
                <a:ea typeface="楷体_GB2312"/>
              </a:rPr>
              <a:t> </a:t>
            </a:r>
            <a:r>
              <a:rPr lang="zh-CN" altLang="en-US" sz="2400" b="1" dirty="0">
                <a:solidFill>
                  <a:srgbClr val="000000"/>
                </a:solidFill>
                <a:latin typeface="楷体_GB2312"/>
                <a:ea typeface="楷体_GB2312"/>
              </a:rPr>
              <a:t>切削过程中，材料产生变形到变成切屑所产生的</a:t>
            </a:r>
            <a:r>
              <a:rPr lang="zh-CN" altLang="en-US" sz="2400" b="1" dirty="0">
                <a:solidFill>
                  <a:srgbClr val="0033CC"/>
                </a:solidFill>
                <a:latin typeface="楷体_GB2312"/>
                <a:ea typeface="楷体_GB2312"/>
              </a:rPr>
              <a:t>抗力和切屑与前刀面之间及副后面与已加工表面之间发生的摩擦，</a:t>
            </a:r>
            <a:r>
              <a:rPr lang="zh-CN" altLang="en-US" sz="2400" b="1" dirty="0">
                <a:solidFill>
                  <a:srgbClr val="000000"/>
                </a:solidFill>
                <a:latin typeface="楷体_GB2312"/>
                <a:ea typeface="楷体_GB2312"/>
              </a:rPr>
              <a:t>共同作用于刀具上的合力称为切削力。</a:t>
            </a:r>
            <a:endParaRPr lang="zh-CN" altLang="en-US" sz="2400" b="1" dirty="0">
              <a:solidFill>
                <a:srgbClr val="FB9E97"/>
              </a:solidFill>
              <a:latin typeface="楷体_GB2312"/>
              <a:ea typeface="楷体_GB2312"/>
            </a:endParaRPr>
          </a:p>
        </p:txBody>
      </p:sp>
      <p:grpSp>
        <p:nvGrpSpPr>
          <p:cNvPr id="82947" name="Group 4"/>
          <p:cNvGrpSpPr/>
          <p:nvPr/>
        </p:nvGrpSpPr>
        <p:grpSpPr>
          <a:xfrm>
            <a:off x="4427538" y="1844675"/>
            <a:ext cx="4248150" cy="3276600"/>
            <a:chOff x="2789" y="1162"/>
            <a:chExt cx="2676" cy="2064"/>
          </a:xfrm>
        </p:grpSpPr>
        <p:grpSp>
          <p:nvGrpSpPr>
            <p:cNvPr id="82948" name="Group 5"/>
            <p:cNvGrpSpPr/>
            <p:nvPr/>
          </p:nvGrpSpPr>
          <p:grpSpPr>
            <a:xfrm>
              <a:off x="2789" y="1162"/>
              <a:ext cx="2676" cy="2064"/>
              <a:chOff x="2789" y="1162"/>
              <a:chExt cx="2676" cy="2064"/>
            </a:xfrm>
          </p:grpSpPr>
          <p:pic>
            <p:nvPicPr>
              <p:cNvPr id="82949" name="Picture 6" descr="切削力1"/>
              <p:cNvPicPr>
                <a:picLocks noChangeAspect="1"/>
              </p:cNvPicPr>
              <p:nvPr/>
            </p:nvPicPr>
            <p:blipFill>
              <a:blip r:embed="rId1">
                <a:clrChange>
                  <a:clrFrom>
                    <a:srgbClr val="FFFFFF"/>
                  </a:clrFrom>
                  <a:clrTo>
                    <a:srgbClr val="FFFFFF">
                      <a:alpha val="0"/>
                    </a:srgbClr>
                  </a:clrTo>
                </a:clrChange>
              </a:blip>
              <a:stretch>
                <a:fillRect/>
              </a:stretch>
            </p:blipFill>
            <p:spPr>
              <a:xfrm>
                <a:off x="2789" y="1162"/>
                <a:ext cx="2676" cy="1848"/>
              </a:xfrm>
              <a:prstGeom prst="rect">
                <a:avLst/>
              </a:prstGeom>
              <a:solidFill>
                <a:srgbClr val="CCFFFF"/>
              </a:solidFill>
              <a:ln w="9525">
                <a:noFill/>
              </a:ln>
            </p:spPr>
          </p:pic>
          <p:sp>
            <p:nvSpPr>
              <p:cNvPr id="82950" name="Rectangle 7"/>
              <p:cNvSpPr/>
              <p:nvPr/>
            </p:nvSpPr>
            <p:spPr>
              <a:xfrm>
                <a:off x="2789" y="2976"/>
                <a:ext cx="2676" cy="250"/>
              </a:xfrm>
              <a:prstGeom prst="rect">
                <a:avLst/>
              </a:prstGeom>
              <a:solidFill>
                <a:srgbClr val="CC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   切削力分解</a:t>
                </a:r>
                <a:endParaRPr lang="zh-CN" altLang="en-US" sz="2000" b="1" dirty="0">
                  <a:solidFill>
                    <a:srgbClr val="000000"/>
                  </a:solidFill>
                  <a:latin typeface="楷体_GB2312"/>
                  <a:ea typeface="楷体_GB2312"/>
                </a:endParaRPr>
              </a:p>
            </p:txBody>
          </p:sp>
        </p:grpSp>
        <p:sp>
          <p:nvSpPr>
            <p:cNvPr id="82951" name="Rectangle 8"/>
            <p:cNvSpPr/>
            <p:nvPr/>
          </p:nvSpPr>
          <p:spPr>
            <a:xfrm>
              <a:off x="2789" y="1162"/>
              <a:ext cx="2676" cy="2041"/>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Grp="1"/>
          </p:cNvSpPr>
          <p:nvPr>
            <p:ph type="title" sz="quarter"/>
          </p:nvPr>
        </p:nvSpPr>
        <p:spPr>
          <a:ln/>
        </p:spPr>
        <p:txBody>
          <a:bodyPr vert="horz" wrap="square" lIns="91440" tIns="45720" rIns="91440" bIns="45720" anchor="ctr" anchorCtr="0"/>
          <a:p>
            <a:pPr algn="ctr" eaLnBrk="1" hangingPunct="1"/>
            <a:r>
              <a:rPr lang="zh-CN" altLang="en-US" sz="4000" dirty="0">
                <a:ea typeface="楷体_GB2312"/>
              </a:rPr>
              <a:t>刀具材料及刀具构造</a:t>
            </a:r>
            <a:endParaRPr lang="zh-CN" altLang="en-US" sz="4000" dirty="0">
              <a:ea typeface="楷体_GB2312"/>
            </a:endParaRPr>
          </a:p>
        </p:txBody>
      </p:sp>
      <p:sp>
        <p:nvSpPr>
          <p:cNvPr id="84994" name="Rectangle 3"/>
          <p:cNvSpPr/>
          <p:nvPr/>
        </p:nvSpPr>
        <p:spPr>
          <a:xfrm>
            <a:off x="107950" y="1577975"/>
            <a:ext cx="3916363" cy="2282825"/>
          </a:xfrm>
          <a:prstGeom prst="rect">
            <a:avLst/>
          </a:prstGeom>
          <a:noFill/>
          <a:ln w="9525">
            <a:noFill/>
          </a:ln>
        </p:spPr>
        <p:txBody>
          <a:bodyPr anchor="t" anchorCtr="0">
            <a:spAutoFit/>
          </a:bodyPr>
          <a:p>
            <a:pPr>
              <a:spcBef>
                <a:spcPct val="50000"/>
              </a:spcBef>
            </a:pPr>
            <a:r>
              <a:rPr lang="en-US" altLang="zh-CN" b="1" dirty="0">
                <a:solidFill>
                  <a:srgbClr val="FFFF00"/>
                </a:solidFill>
                <a:latin typeface="Century" panose="02040604050505020304" pitchFamily="18" charset="0"/>
                <a:ea typeface="宋体" panose="02010600030101010101" pitchFamily="2" charset="-122"/>
              </a:rPr>
              <a:t>       </a:t>
            </a:r>
            <a:r>
              <a:rPr lang="zh-CN" altLang="en-US" sz="2400" b="1" dirty="0">
                <a:solidFill>
                  <a:srgbClr val="FF3300"/>
                </a:solidFill>
                <a:latin typeface="楷体_GB2312"/>
                <a:ea typeface="楷体_GB2312"/>
              </a:rPr>
              <a:t>刃倾角</a:t>
            </a:r>
            <a:r>
              <a:rPr lang="en-US" altLang="zh-CN" sz="2400" b="1" dirty="0">
                <a:solidFill>
                  <a:srgbClr val="FF3300"/>
                </a:solidFill>
                <a:latin typeface="楷体_GB2312"/>
                <a:ea typeface="楷体_GB2312"/>
              </a:rPr>
              <a:t>λ</a:t>
            </a:r>
            <a:r>
              <a:rPr lang="en-US" altLang="zh-CN" sz="2400" b="1" baseline="-25000" dirty="0">
                <a:solidFill>
                  <a:srgbClr val="FF3300"/>
                </a:solidFill>
                <a:latin typeface="楷体_GB2312"/>
                <a:ea typeface="楷体_GB2312"/>
              </a:rPr>
              <a:t>s</a:t>
            </a:r>
            <a:r>
              <a:rPr lang="en-US" altLang="zh-CN" sz="2400" b="1" dirty="0">
                <a:latin typeface="Century" panose="02040604050505020304" pitchFamily="18" charset="0"/>
                <a:ea typeface="楷体_GB2312"/>
              </a:rPr>
              <a:t>—</a:t>
            </a:r>
            <a:r>
              <a:rPr lang="zh-CN" altLang="en-US" sz="2400" b="1" dirty="0">
                <a:solidFill>
                  <a:srgbClr val="0033CC"/>
                </a:solidFill>
                <a:latin typeface="楷体_GB2312"/>
                <a:ea typeface="楷体_GB2312"/>
              </a:rPr>
              <a:t>主切削刃与基面之间的夹角。</a:t>
            </a:r>
            <a:r>
              <a:rPr lang="zh-CN" altLang="en-US" sz="2400" b="1" dirty="0">
                <a:solidFill>
                  <a:srgbClr val="000000"/>
                </a:solidFill>
                <a:latin typeface="楷体_GB2312"/>
                <a:ea typeface="楷体_GB2312"/>
              </a:rPr>
              <a:t>当刀尖为主切削刃的最高点时，刃倾角为正值；当刀尖为最低点时，刃倾角为负值；当切削刃成水平时，刃倾角为零。</a:t>
            </a:r>
            <a:endParaRPr lang="zh-CN" altLang="en-US" sz="2400" b="1" dirty="0">
              <a:solidFill>
                <a:srgbClr val="000000"/>
              </a:solidFill>
              <a:latin typeface="楷体_GB2312"/>
              <a:ea typeface="楷体_GB2312"/>
            </a:endParaRPr>
          </a:p>
        </p:txBody>
      </p:sp>
      <p:sp>
        <p:nvSpPr>
          <p:cNvPr id="84995" name="Rectangle 4"/>
          <p:cNvSpPr/>
          <p:nvPr/>
        </p:nvSpPr>
        <p:spPr>
          <a:xfrm>
            <a:off x="179388" y="4797425"/>
            <a:ext cx="8785225" cy="1552575"/>
          </a:xfrm>
          <a:prstGeom prst="rect">
            <a:avLst/>
          </a:prstGeom>
          <a:noFill/>
          <a:ln w="9525">
            <a:noFill/>
          </a:ln>
        </p:spPr>
        <p:txBody>
          <a:bodyPr anchor="t" anchorCtr="0">
            <a:spAutoFit/>
          </a:bodyPr>
          <a:p>
            <a:pPr>
              <a:spcBef>
                <a:spcPct val="50000"/>
              </a:spcBef>
            </a:pPr>
            <a:r>
              <a:rPr lang="en-US" altLang="zh-CN" dirty="0">
                <a:latin typeface="Century" panose="02040604050505020304" pitchFamily="18" charset="0"/>
                <a:ea typeface="宋体" panose="02010600030101010101" pitchFamily="2" charset="-122"/>
              </a:rPr>
              <a:t>       </a:t>
            </a:r>
            <a:r>
              <a:rPr lang="zh-CN" altLang="en-US" dirty="0">
                <a:latin typeface="Century" panose="02040604050505020304" pitchFamily="18" charset="0"/>
                <a:ea typeface="宋体" panose="02010600030101010101" pitchFamily="2" charset="-122"/>
              </a:rPr>
              <a:t>　</a:t>
            </a:r>
            <a:r>
              <a:rPr lang="zh-CN" altLang="en-US" sz="2400" b="1" dirty="0">
                <a:solidFill>
                  <a:srgbClr val="008000"/>
                </a:solidFill>
                <a:latin typeface="Century" panose="02040604050505020304" pitchFamily="18" charset="0"/>
                <a:ea typeface="楷体_GB2312"/>
              </a:rPr>
              <a:t>刃倾角的正负将决定切屑</a:t>
            </a:r>
            <a:r>
              <a:rPr lang="zh-CN" altLang="en-US" sz="2400" b="1" dirty="0">
                <a:solidFill>
                  <a:srgbClr val="FF3300"/>
                </a:solidFill>
                <a:latin typeface="Century" panose="02040604050505020304" pitchFamily="18" charset="0"/>
                <a:ea typeface="楷体_GB2312"/>
              </a:rPr>
              <a:t>流出的方向</a:t>
            </a:r>
            <a:r>
              <a:rPr lang="zh-CN" altLang="en-US" sz="2400" b="1" dirty="0">
                <a:solidFill>
                  <a:srgbClr val="008000"/>
                </a:solidFill>
                <a:latin typeface="Century" panose="02040604050505020304" pitchFamily="18" charset="0"/>
                <a:ea typeface="楷体_GB2312"/>
              </a:rPr>
              <a:t>，影响刀尖</a:t>
            </a:r>
            <a:r>
              <a:rPr lang="zh-CN" altLang="en-US" sz="2400" b="1" dirty="0">
                <a:solidFill>
                  <a:srgbClr val="FF3300"/>
                </a:solidFill>
                <a:latin typeface="Century" panose="02040604050505020304" pitchFamily="18" charset="0"/>
                <a:ea typeface="楷体_GB2312"/>
              </a:rPr>
              <a:t>强度</a:t>
            </a:r>
            <a:r>
              <a:rPr lang="zh-CN" altLang="en-US" sz="2400" b="1" dirty="0">
                <a:solidFill>
                  <a:srgbClr val="008000"/>
                </a:solidFill>
                <a:latin typeface="Century" panose="02040604050505020304" pitchFamily="18" charset="0"/>
                <a:ea typeface="楷体_GB2312"/>
              </a:rPr>
              <a:t>：</a:t>
            </a:r>
            <a:r>
              <a:rPr lang="zh-CN" altLang="en-US" sz="2400" b="1" dirty="0">
                <a:latin typeface="Century" panose="02040604050505020304" pitchFamily="18" charset="0"/>
                <a:ea typeface="楷体_GB2312"/>
              </a:rPr>
              <a:t>正刃倾角车刀的切屑流向待加工表面，不会擦伤工件已加工表面，但刀尖不耐冲击；负刃倾角车刀的刀尖抗冲击能力强，但切屑将流向工件已加工表面，会影响工件表面质量。</a:t>
            </a:r>
            <a:endParaRPr lang="zh-CN" altLang="en-US" sz="2400" b="1" dirty="0">
              <a:latin typeface="Century" panose="02040604050505020304" pitchFamily="18" charset="0"/>
              <a:ea typeface="楷体_GB2312"/>
            </a:endParaRPr>
          </a:p>
        </p:txBody>
      </p:sp>
      <p:grpSp>
        <p:nvGrpSpPr>
          <p:cNvPr id="84996" name="Group 5"/>
          <p:cNvGrpSpPr/>
          <p:nvPr/>
        </p:nvGrpSpPr>
        <p:grpSpPr>
          <a:xfrm>
            <a:off x="4140200" y="1268413"/>
            <a:ext cx="4824413" cy="3313112"/>
            <a:chOff x="2608" y="799"/>
            <a:chExt cx="3039" cy="2087"/>
          </a:xfrm>
        </p:grpSpPr>
        <p:grpSp>
          <p:nvGrpSpPr>
            <p:cNvPr id="84997" name="Group 6"/>
            <p:cNvGrpSpPr/>
            <p:nvPr/>
          </p:nvGrpSpPr>
          <p:grpSpPr>
            <a:xfrm>
              <a:off x="2608" y="799"/>
              <a:ext cx="3039" cy="2087"/>
              <a:chOff x="1474" y="1298"/>
              <a:chExt cx="3061" cy="2087"/>
            </a:xfrm>
          </p:grpSpPr>
          <p:sp>
            <p:nvSpPr>
              <p:cNvPr id="84998" name="Rectangle 7"/>
              <p:cNvSpPr/>
              <p:nvPr/>
            </p:nvSpPr>
            <p:spPr>
              <a:xfrm>
                <a:off x="1474" y="3067"/>
                <a:ext cx="3039" cy="91"/>
              </a:xfrm>
              <a:prstGeom prst="rect">
                <a:avLst/>
              </a:prstGeom>
              <a:solidFill>
                <a:srgbClr val="FFFFFF"/>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pic>
            <p:nvPicPr>
              <p:cNvPr id="84999" name="Picture 8" descr="t1-14"/>
              <p:cNvPicPr>
                <a:picLocks noChangeAspect="1"/>
              </p:cNvPicPr>
              <p:nvPr/>
            </p:nvPicPr>
            <p:blipFill>
              <a:blip r:embed="rId1"/>
              <a:stretch>
                <a:fillRect/>
              </a:stretch>
            </p:blipFill>
            <p:spPr>
              <a:xfrm>
                <a:off x="1474" y="1298"/>
                <a:ext cx="3061" cy="1802"/>
              </a:xfrm>
              <a:prstGeom prst="rect">
                <a:avLst/>
              </a:prstGeom>
              <a:noFill/>
              <a:ln w="9525">
                <a:noFill/>
              </a:ln>
            </p:spPr>
          </p:pic>
          <p:grpSp>
            <p:nvGrpSpPr>
              <p:cNvPr id="85000" name="Group 9"/>
              <p:cNvGrpSpPr/>
              <p:nvPr/>
            </p:nvGrpSpPr>
            <p:grpSpPr>
              <a:xfrm>
                <a:off x="1474" y="2990"/>
                <a:ext cx="3045" cy="395"/>
                <a:chOff x="1474" y="3035"/>
                <a:chExt cx="3045" cy="395"/>
              </a:xfrm>
            </p:grpSpPr>
            <p:sp>
              <p:nvSpPr>
                <p:cNvPr id="85001" name="Text Box 10"/>
                <p:cNvSpPr txBox="1"/>
                <p:nvPr/>
              </p:nvSpPr>
              <p:spPr>
                <a:xfrm>
                  <a:off x="1857" y="3035"/>
                  <a:ext cx="405" cy="178"/>
                </a:xfrm>
                <a:prstGeom prst="rect">
                  <a:avLst/>
                </a:prstGeom>
                <a:noFill/>
                <a:ln w="9525">
                  <a:noFill/>
                </a:ln>
              </p:spPr>
              <p:txBody>
                <a:bodyPr anchor="t" anchorCtr="0"/>
                <a:p>
                  <a:pPr algn="ctr" eaLnBrk="0" hangingPunct="0"/>
                  <a:r>
                    <a:rPr lang="en-US" altLang="zh-CN" sz="1600" b="1" i="1" dirty="0">
                      <a:latin typeface="Times New Roman" panose="02020603050405020304" pitchFamily="18" charset="0"/>
                      <a:ea typeface="宋体" panose="02010600030101010101" pitchFamily="2" charset="-122"/>
                    </a:rPr>
                    <a:t>a</a:t>
                  </a:r>
                  <a:r>
                    <a:rPr lang="zh-CN" altLang="en-US" sz="1600" b="1" dirty="0">
                      <a:latin typeface="Times New Roman" panose="02020603050405020304" pitchFamily="18" charset="0"/>
                      <a:ea typeface="宋体" panose="02010600030101010101" pitchFamily="2" charset="-122"/>
                    </a:rPr>
                    <a:t>）</a:t>
                  </a:r>
                  <a:endParaRPr lang="zh-CN" altLang="en-US" sz="4000" b="1" dirty="0">
                    <a:latin typeface="Times New Roman" panose="02020603050405020304" pitchFamily="18" charset="0"/>
                    <a:ea typeface="宋体" panose="02010600030101010101" pitchFamily="2" charset="-122"/>
                  </a:endParaRPr>
                </a:p>
              </p:txBody>
            </p:sp>
            <p:sp>
              <p:nvSpPr>
                <p:cNvPr id="85002" name="Text Box 11"/>
                <p:cNvSpPr txBox="1"/>
                <p:nvPr/>
              </p:nvSpPr>
              <p:spPr>
                <a:xfrm>
                  <a:off x="2848" y="3045"/>
                  <a:ext cx="380" cy="198"/>
                </a:xfrm>
                <a:prstGeom prst="rect">
                  <a:avLst/>
                </a:prstGeom>
                <a:noFill/>
                <a:ln w="9525">
                  <a:noFill/>
                </a:ln>
              </p:spPr>
              <p:txBody>
                <a:bodyPr anchor="t" anchorCtr="0"/>
                <a:p>
                  <a:pPr algn="ctr" eaLnBrk="0" hangingPunct="0"/>
                  <a:r>
                    <a:rPr lang="en-US" altLang="zh-CN" sz="1600" b="1" i="1" dirty="0">
                      <a:latin typeface="Times New Roman" panose="02020603050405020304" pitchFamily="18" charset="0"/>
                      <a:ea typeface="宋体" panose="02010600030101010101" pitchFamily="2" charset="-122"/>
                    </a:rPr>
                    <a:t>b</a:t>
                  </a:r>
                  <a:r>
                    <a:rPr lang="zh-CN" altLang="en-US" sz="1600" b="1" dirty="0">
                      <a:latin typeface="Times New Roman" panose="02020603050405020304" pitchFamily="18" charset="0"/>
                      <a:ea typeface="宋体" panose="02010600030101010101" pitchFamily="2" charset="-122"/>
                    </a:rPr>
                    <a:t>）</a:t>
                  </a:r>
                  <a:endParaRPr lang="zh-CN" altLang="en-US" sz="4000" b="1" dirty="0">
                    <a:latin typeface="Times New Roman" panose="02020603050405020304" pitchFamily="18" charset="0"/>
                    <a:ea typeface="宋体" panose="02010600030101010101" pitchFamily="2" charset="-122"/>
                  </a:endParaRPr>
                </a:p>
              </p:txBody>
            </p:sp>
            <p:sp>
              <p:nvSpPr>
                <p:cNvPr id="85003" name="Text Box 12"/>
                <p:cNvSpPr txBox="1"/>
                <p:nvPr/>
              </p:nvSpPr>
              <p:spPr>
                <a:xfrm>
                  <a:off x="3813" y="3035"/>
                  <a:ext cx="384" cy="188"/>
                </a:xfrm>
                <a:prstGeom prst="rect">
                  <a:avLst/>
                </a:prstGeom>
                <a:noFill/>
                <a:ln w="9525">
                  <a:noFill/>
                </a:ln>
              </p:spPr>
              <p:txBody>
                <a:bodyPr anchor="t" anchorCtr="0"/>
                <a:p>
                  <a:pPr algn="ctr" eaLnBrk="0" hangingPunct="0"/>
                  <a:r>
                    <a:rPr lang="en-US" altLang="zh-CN" sz="1600" b="1" i="1" dirty="0">
                      <a:latin typeface="Times New Roman" panose="02020603050405020304" pitchFamily="18" charset="0"/>
                      <a:ea typeface="宋体" panose="02010600030101010101" pitchFamily="2" charset="-122"/>
                    </a:rPr>
                    <a:t>c</a:t>
                  </a:r>
                  <a:r>
                    <a:rPr lang="zh-CN" altLang="en-US" sz="1600" b="1" dirty="0">
                      <a:latin typeface="Times New Roman" panose="02020603050405020304" pitchFamily="18" charset="0"/>
                      <a:ea typeface="宋体" panose="02010600030101010101" pitchFamily="2" charset="-122"/>
                    </a:rPr>
                    <a:t>）</a:t>
                  </a:r>
                  <a:endParaRPr lang="zh-CN" altLang="en-US" sz="4000" b="1" dirty="0">
                    <a:latin typeface="Times New Roman" panose="02020603050405020304" pitchFamily="18" charset="0"/>
                    <a:ea typeface="宋体" panose="02010600030101010101" pitchFamily="2" charset="-122"/>
                  </a:endParaRPr>
                </a:p>
              </p:txBody>
            </p:sp>
            <p:sp>
              <p:nvSpPr>
                <p:cNvPr id="85004" name="Text Box 13"/>
                <p:cNvSpPr txBox="1"/>
                <p:nvPr/>
              </p:nvSpPr>
              <p:spPr>
                <a:xfrm>
                  <a:off x="1474" y="3199"/>
                  <a:ext cx="3045" cy="231"/>
                </a:xfrm>
                <a:prstGeom prst="rect">
                  <a:avLst/>
                </a:prstGeom>
                <a:solidFill>
                  <a:srgbClr val="FFFFFF"/>
                </a:solidFill>
                <a:ln w="9525">
                  <a:noFill/>
                </a:ln>
              </p:spPr>
              <p:txBody>
                <a:bodyPr anchor="t" anchorCtr="0"/>
                <a:p>
                  <a:pPr algn="ctr" eaLnBrk="0" hangingPunct="0"/>
                  <a:r>
                    <a:rPr lang="zh-CN" altLang="en-US" b="1" dirty="0">
                      <a:solidFill>
                        <a:srgbClr val="000000"/>
                      </a:solidFill>
                      <a:latin typeface="楷体_GB2312"/>
                      <a:ea typeface="楷体_GB2312"/>
                    </a:rPr>
                    <a:t>图   刃倾角对排屑方向的影响</a:t>
                  </a:r>
                  <a:endParaRPr lang="zh-CN" altLang="en-US" b="1" dirty="0">
                    <a:solidFill>
                      <a:srgbClr val="000000"/>
                    </a:solidFill>
                    <a:latin typeface="楷体_GB2312"/>
                    <a:ea typeface="楷体_GB2312"/>
                  </a:endParaRPr>
                </a:p>
              </p:txBody>
            </p:sp>
          </p:grpSp>
        </p:grpSp>
        <p:sp>
          <p:nvSpPr>
            <p:cNvPr id="85005" name="Rectangle 14"/>
            <p:cNvSpPr/>
            <p:nvPr/>
          </p:nvSpPr>
          <p:spPr>
            <a:xfrm>
              <a:off x="2608" y="799"/>
              <a:ext cx="3039" cy="2087"/>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a:xfrm>
            <a:off x="2689225" y="0"/>
            <a:ext cx="5051425" cy="1139825"/>
          </a:xfrm>
          <a:ln/>
        </p:spPr>
        <p:txBody>
          <a:bodyPr vert="horz" wrap="square" lIns="91440" tIns="45720" rIns="91440" bIns="45720" anchor="ctr" anchorCtr="0"/>
          <a:p>
            <a:pPr eaLnBrk="1" hangingPunct="1"/>
            <a:r>
              <a:rPr lang="zh-CN" altLang="en-US" sz="4000" dirty="0">
                <a:ea typeface="楷体_GB2312"/>
              </a:rPr>
              <a:t>刀具材料及刀具构造</a:t>
            </a:r>
            <a:endParaRPr lang="zh-CN" altLang="en-US" sz="4000" dirty="0">
              <a:ea typeface="楷体_GB2312"/>
            </a:endParaRPr>
          </a:p>
        </p:txBody>
      </p:sp>
      <p:sp>
        <p:nvSpPr>
          <p:cNvPr id="87042" name="Rectangle 3"/>
          <p:cNvSpPr/>
          <p:nvPr/>
        </p:nvSpPr>
        <p:spPr>
          <a:xfrm>
            <a:off x="457200" y="1143000"/>
            <a:ext cx="8382000" cy="1187450"/>
          </a:xfrm>
          <a:prstGeom prst="rect">
            <a:avLst/>
          </a:prstGeom>
          <a:noFill/>
          <a:ln w="9525">
            <a:noFill/>
          </a:ln>
        </p:spPr>
        <p:txBody>
          <a:bodyPr anchor="t" anchorCtr="0">
            <a:spAutoFit/>
          </a:bodyPr>
          <a:p>
            <a:pPr>
              <a:spcBef>
                <a:spcPct val="50000"/>
              </a:spcBef>
            </a:pPr>
            <a:r>
              <a:rPr lang="en-US" altLang="zh-CN" sz="2400" b="1" dirty="0">
                <a:solidFill>
                  <a:srgbClr val="FF0066"/>
                </a:solidFill>
                <a:latin typeface="楷体_GB2312"/>
                <a:ea typeface="楷体_GB2312"/>
              </a:rPr>
              <a:t>(3)</a:t>
            </a:r>
            <a:r>
              <a:rPr lang="zh-CN" altLang="en-US" sz="2400" b="1" dirty="0">
                <a:solidFill>
                  <a:srgbClr val="FF0066"/>
                </a:solidFill>
                <a:latin typeface="楷体_GB2312"/>
                <a:ea typeface="楷体_GB2312"/>
              </a:rPr>
              <a:t>工作角度</a:t>
            </a:r>
            <a:r>
              <a:rPr lang="zh-CN" altLang="en-US" sz="2400" b="1" dirty="0">
                <a:latin typeface="楷体_GB2312"/>
                <a:ea typeface="楷体_GB2312"/>
              </a:rPr>
              <a:t>  在实际切削时，理想条件下的标注角度可能被改变，刀具的实际角度不同于标注角度。刀具在切削过程中的实际切削角度，称为工作角度。</a:t>
            </a:r>
            <a:endParaRPr lang="zh-CN" altLang="en-US" sz="2400" b="1" dirty="0">
              <a:latin typeface="楷体_GB2312"/>
              <a:ea typeface="楷体_GB2312"/>
            </a:endParaRPr>
          </a:p>
        </p:txBody>
      </p:sp>
      <p:sp>
        <p:nvSpPr>
          <p:cNvPr id="87043" name="Rectangle 4"/>
          <p:cNvSpPr/>
          <p:nvPr/>
        </p:nvSpPr>
        <p:spPr>
          <a:xfrm>
            <a:off x="315913" y="5732463"/>
            <a:ext cx="8435975" cy="1187450"/>
          </a:xfrm>
          <a:prstGeom prst="rect">
            <a:avLst/>
          </a:prstGeom>
          <a:solidFill>
            <a:srgbClr val="CCFFFF"/>
          </a:solidFill>
          <a:ln w="9525">
            <a:noFill/>
          </a:ln>
        </p:spPr>
        <p:txBody>
          <a:bodyPr anchor="t" anchorCtr="0">
            <a:spAutoFit/>
          </a:bodyPr>
          <a:p>
            <a:r>
              <a:rPr lang="en-US" altLang="zh-CN" b="1" dirty="0">
                <a:latin typeface="Century" panose="02040604050505020304" pitchFamily="18" charset="0"/>
                <a:ea typeface="宋体" panose="02010600030101010101" pitchFamily="2" charset="-122"/>
              </a:rPr>
              <a:t>      </a:t>
            </a:r>
            <a:r>
              <a:rPr lang="zh-CN" altLang="en-US" b="1" dirty="0">
                <a:latin typeface="Century" panose="02040604050505020304" pitchFamily="18" charset="0"/>
                <a:ea typeface="宋体" panose="02010600030101010101" pitchFamily="2" charset="-122"/>
              </a:rPr>
              <a:t>　 </a:t>
            </a:r>
            <a:r>
              <a:rPr lang="zh-CN" altLang="en-US" sz="2400" b="1" dirty="0">
                <a:latin typeface="楷体_GB2312"/>
                <a:ea typeface="楷体_GB2312"/>
              </a:rPr>
              <a:t>如图，车外圆时，若</a:t>
            </a:r>
            <a:r>
              <a:rPr lang="zh-CN" altLang="en-US" sz="2400" b="1" dirty="0">
                <a:solidFill>
                  <a:srgbClr val="FF3300"/>
                </a:solidFill>
                <a:latin typeface="楷体_GB2312"/>
                <a:ea typeface="楷体_GB2312"/>
              </a:rPr>
              <a:t>刀尖高于工件</a:t>
            </a:r>
            <a:r>
              <a:rPr lang="zh-CN" altLang="en-US" sz="2400" b="1" dirty="0">
                <a:latin typeface="楷体_GB2312"/>
                <a:ea typeface="楷体_GB2312"/>
              </a:rPr>
              <a:t>的回转轴线，则工作前角</a:t>
            </a:r>
            <a:r>
              <a:rPr lang="en-US" altLang="zh-CN" sz="2400" b="1" dirty="0">
                <a:solidFill>
                  <a:srgbClr val="FF3300"/>
                </a:solidFill>
                <a:latin typeface="楷体_GB2312"/>
                <a:ea typeface="楷体_GB2312"/>
              </a:rPr>
              <a:t>γ</a:t>
            </a:r>
            <a:r>
              <a:rPr lang="en-US" altLang="zh-CN" sz="2400" b="1" baseline="-25000" dirty="0">
                <a:solidFill>
                  <a:srgbClr val="FF3300"/>
                </a:solidFill>
                <a:latin typeface="楷体_GB2312"/>
                <a:ea typeface="楷体_GB2312"/>
              </a:rPr>
              <a:t>0e</a:t>
            </a:r>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γ</a:t>
            </a:r>
            <a:r>
              <a:rPr lang="en-US" altLang="zh-CN" sz="2400" b="1" baseline="-25000" dirty="0">
                <a:solidFill>
                  <a:srgbClr val="FF3300"/>
                </a:solidFill>
                <a:latin typeface="楷体_GB2312"/>
                <a:ea typeface="楷体_GB2312"/>
              </a:rPr>
              <a:t>0</a:t>
            </a:r>
            <a:r>
              <a:rPr lang="zh-CN" altLang="en-US" sz="2400" b="1" baseline="-25000" dirty="0">
                <a:solidFill>
                  <a:srgbClr val="FF3300"/>
                </a:solidFill>
                <a:latin typeface="楷体_GB2312"/>
                <a:ea typeface="楷体_GB2312"/>
              </a:rPr>
              <a:t>，</a:t>
            </a:r>
            <a:r>
              <a:rPr lang="zh-CN" altLang="en-US" sz="2400" b="1" dirty="0">
                <a:latin typeface="楷体_GB2312"/>
                <a:ea typeface="楷体_GB2312"/>
              </a:rPr>
              <a:t>而工作后角</a:t>
            </a:r>
            <a:r>
              <a:rPr lang="en-US" altLang="zh-CN" sz="2400" b="1" dirty="0">
                <a:solidFill>
                  <a:srgbClr val="FF3300"/>
                </a:solidFill>
                <a:latin typeface="楷体_GB2312"/>
                <a:ea typeface="楷体_GB2312"/>
              </a:rPr>
              <a:t>α</a:t>
            </a:r>
            <a:r>
              <a:rPr lang="en-US" altLang="zh-CN" sz="2400" b="1" baseline="-25000" dirty="0">
                <a:solidFill>
                  <a:srgbClr val="FF3300"/>
                </a:solidFill>
                <a:latin typeface="楷体_GB2312"/>
                <a:ea typeface="楷体_GB2312"/>
              </a:rPr>
              <a:t>0e</a:t>
            </a:r>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α</a:t>
            </a:r>
            <a:r>
              <a:rPr lang="en-US" altLang="zh-CN" sz="2400" b="1" baseline="-25000" dirty="0">
                <a:solidFill>
                  <a:srgbClr val="FF3300"/>
                </a:solidFill>
                <a:latin typeface="楷体_GB2312"/>
                <a:ea typeface="楷体_GB2312"/>
              </a:rPr>
              <a:t>0</a:t>
            </a:r>
            <a:r>
              <a:rPr lang="zh-CN" altLang="en-US" sz="2400" b="1" dirty="0">
                <a:latin typeface="楷体_GB2312"/>
                <a:ea typeface="楷体_GB2312"/>
              </a:rPr>
              <a:t>；若</a:t>
            </a:r>
            <a:r>
              <a:rPr lang="zh-CN" altLang="en-US" sz="2400" b="1" dirty="0">
                <a:solidFill>
                  <a:srgbClr val="FF3300"/>
                </a:solidFill>
                <a:latin typeface="楷体_GB2312"/>
                <a:ea typeface="楷体_GB2312"/>
              </a:rPr>
              <a:t>刀尖低于工件</a:t>
            </a:r>
            <a:r>
              <a:rPr lang="zh-CN" altLang="en-US" sz="2400" b="1" dirty="0">
                <a:latin typeface="楷体_GB2312"/>
                <a:ea typeface="楷体_GB2312"/>
              </a:rPr>
              <a:t>的回转轴线．则</a:t>
            </a:r>
            <a:r>
              <a:rPr lang="en-US" altLang="zh-CN" sz="2400" b="1" dirty="0">
                <a:solidFill>
                  <a:srgbClr val="FF3300"/>
                </a:solidFill>
                <a:latin typeface="楷体_GB2312"/>
                <a:ea typeface="楷体_GB2312"/>
              </a:rPr>
              <a:t>γ</a:t>
            </a:r>
            <a:r>
              <a:rPr lang="en-US" altLang="zh-CN" sz="2400" b="1" baseline="-25000" dirty="0">
                <a:solidFill>
                  <a:srgbClr val="FF3300"/>
                </a:solidFill>
                <a:latin typeface="楷体_GB2312"/>
                <a:ea typeface="楷体_GB2312"/>
              </a:rPr>
              <a:t>0e</a:t>
            </a:r>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γ</a:t>
            </a:r>
            <a:r>
              <a:rPr lang="en-US" altLang="zh-CN" sz="2400" b="1" baseline="-25000" dirty="0">
                <a:solidFill>
                  <a:srgbClr val="FF3300"/>
                </a:solidFill>
                <a:latin typeface="楷体_GB2312"/>
                <a:ea typeface="楷体_GB2312"/>
              </a:rPr>
              <a:t>0</a:t>
            </a:r>
            <a:r>
              <a:rPr lang="en-US" altLang="zh-CN" sz="2400" b="1" dirty="0">
                <a:solidFill>
                  <a:srgbClr val="FF0066"/>
                </a:solidFill>
                <a:latin typeface="楷体_GB2312"/>
                <a:ea typeface="楷体_GB2312"/>
              </a:rPr>
              <a:t> </a:t>
            </a:r>
            <a:r>
              <a:rPr lang="zh-CN" altLang="en-US" sz="2400" b="1" dirty="0">
                <a:solidFill>
                  <a:srgbClr val="FF0066"/>
                </a:solidFill>
                <a:latin typeface="楷体_GB2312"/>
                <a:ea typeface="楷体_GB2312"/>
              </a:rPr>
              <a:t>， </a:t>
            </a:r>
            <a:r>
              <a:rPr lang="en-US" altLang="zh-CN" sz="2400" b="1" dirty="0">
                <a:solidFill>
                  <a:srgbClr val="FF3300"/>
                </a:solidFill>
                <a:latin typeface="楷体_GB2312"/>
                <a:ea typeface="楷体_GB2312"/>
              </a:rPr>
              <a:t>α</a:t>
            </a:r>
            <a:r>
              <a:rPr lang="en-US" altLang="zh-CN" sz="2400" b="1" baseline="-25000" dirty="0">
                <a:solidFill>
                  <a:srgbClr val="FF3300"/>
                </a:solidFill>
                <a:latin typeface="楷体_GB2312"/>
                <a:ea typeface="楷体_GB2312"/>
              </a:rPr>
              <a:t>0e</a:t>
            </a:r>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α</a:t>
            </a:r>
            <a:r>
              <a:rPr lang="en-US" altLang="zh-CN" sz="2400" b="1" baseline="-25000" dirty="0">
                <a:solidFill>
                  <a:srgbClr val="FF3300"/>
                </a:solidFill>
                <a:latin typeface="楷体_GB2312"/>
                <a:ea typeface="楷体_GB2312"/>
              </a:rPr>
              <a:t>0</a:t>
            </a:r>
            <a:r>
              <a:rPr lang="zh-CN" altLang="en-US" sz="2400" b="1" dirty="0">
                <a:latin typeface="楷体_GB2312"/>
                <a:ea typeface="楷体_GB2312"/>
              </a:rPr>
              <a:t>，镗孔时的情况正好相反。</a:t>
            </a:r>
            <a:endParaRPr lang="zh-CN" altLang="en-US" sz="2400" b="1" dirty="0">
              <a:latin typeface="楷体_GB2312"/>
              <a:ea typeface="楷体_GB2312"/>
            </a:endParaRPr>
          </a:p>
        </p:txBody>
      </p:sp>
      <p:grpSp>
        <p:nvGrpSpPr>
          <p:cNvPr id="87044" name="Group 5"/>
          <p:cNvGrpSpPr/>
          <p:nvPr/>
        </p:nvGrpSpPr>
        <p:grpSpPr>
          <a:xfrm>
            <a:off x="119063" y="2276475"/>
            <a:ext cx="8828087" cy="3529013"/>
            <a:chOff x="657" y="1434"/>
            <a:chExt cx="4627" cy="1724"/>
          </a:xfrm>
        </p:grpSpPr>
        <p:sp>
          <p:nvSpPr>
            <p:cNvPr id="87045" name="Rectangle 6"/>
            <p:cNvSpPr/>
            <p:nvPr/>
          </p:nvSpPr>
          <p:spPr>
            <a:xfrm>
              <a:off x="657" y="1434"/>
              <a:ext cx="4627" cy="1724"/>
            </a:xfrm>
            <a:prstGeom prst="rect">
              <a:avLst/>
            </a:prstGeom>
            <a:solidFill>
              <a:srgbClr val="FFFFFF"/>
            </a:solid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87046" name="Group 7"/>
            <p:cNvGrpSpPr/>
            <p:nvPr/>
          </p:nvGrpSpPr>
          <p:grpSpPr>
            <a:xfrm>
              <a:off x="720" y="1525"/>
              <a:ext cx="4512" cy="1592"/>
              <a:chOff x="720" y="1525"/>
              <a:chExt cx="4512" cy="1592"/>
            </a:xfrm>
          </p:grpSpPr>
          <p:grpSp>
            <p:nvGrpSpPr>
              <p:cNvPr id="87047" name="Group 8"/>
              <p:cNvGrpSpPr/>
              <p:nvPr/>
            </p:nvGrpSpPr>
            <p:grpSpPr>
              <a:xfrm>
                <a:off x="720" y="1525"/>
                <a:ext cx="4512" cy="1402"/>
                <a:chOff x="720" y="1864"/>
                <a:chExt cx="4512" cy="1402"/>
              </a:xfrm>
            </p:grpSpPr>
            <p:sp>
              <p:nvSpPr>
                <p:cNvPr id="87048" name="Text Box 9"/>
                <p:cNvSpPr txBox="1"/>
                <p:nvPr/>
              </p:nvSpPr>
              <p:spPr>
                <a:xfrm>
                  <a:off x="1200" y="3016"/>
                  <a:ext cx="3168" cy="250"/>
                </a:xfrm>
                <a:prstGeom prst="rect">
                  <a:avLst/>
                </a:prstGeom>
                <a:noFill/>
                <a:ln w="9525">
                  <a:noFill/>
                </a:ln>
              </p:spPr>
              <p:txBody>
                <a:bodyPr anchor="t" anchorCtr="0">
                  <a:spAutoFit/>
                </a:bodyPr>
                <a:p>
                  <a:pPr algn="ctr" eaLnBrk="0" hangingPunct="0">
                    <a:spcBef>
                      <a:spcPct val="50000"/>
                    </a:spcBef>
                  </a:pPr>
                  <a:r>
                    <a:rPr lang="zh-CN" altLang="en-US" sz="2000" b="1" dirty="0">
                      <a:solidFill>
                        <a:srgbClr val="000000"/>
                      </a:solidFill>
                      <a:latin typeface="楷体_GB2312"/>
                      <a:ea typeface="楷体_GB2312"/>
                    </a:rPr>
                    <a:t>图　 车刀安装高度对工作角度的影响</a:t>
                  </a:r>
                  <a:endParaRPr lang="zh-CN" altLang="en-US" sz="2000" b="1" dirty="0">
                    <a:solidFill>
                      <a:srgbClr val="000000"/>
                    </a:solidFill>
                    <a:latin typeface="楷体_GB2312"/>
                    <a:ea typeface="楷体_GB2312"/>
                  </a:endParaRPr>
                </a:p>
              </p:txBody>
            </p:sp>
            <p:grpSp>
              <p:nvGrpSpPr>
                <p:cNvPr id="87049" name="Group 10"/>
                <p:cNvGrpSpPr/>
                <p:nvPr/>
              </p:nvGrpSpPr>
              <p:grpSpPr>
                <a:xfrm>
                  <a:off x="1488" y="2014"/>
                  <a:ext cx="672" cy="546"/>
                  <a:chOff x="1488" y="1344"/>
                  <a:chExt cx="672" cy="546"/>
                </a:xfrm>
              </p:grpSpPr>
              <p:grpSp>
                <p:nvGrpSpPr>
                  <p:cNvPr id="87050" name="Group 11"/>
                  <p:cNvGrpSpPr/>
                  <p:nvPr/>
                </p:nvGrpSpPr>
                <p:grpSpPr>
                  <a:xfrm>
                    <a:off x="1488" y="1492"/>
                    <a:ext cx="494" cy="398"/>
                    <a:chOff x="1488" y="1492"/>
                    <a:chExt cx="494" cy="398"/>
                  </a:xfrm>
                </p:grpSpPr>
                <p:sp>
                  <p:nvSpPr>
                    <p:cNvPr id="87051" name="Freeform 12"/>
                    <p:cNvSpPr/>
                    <p:nvPr/>
                  </p:nvSpPr>
                  <p:spPr>
                    <a:xfrm>
                      <a:off x="1528" y="1632"/>
                      <a:ext cx="454" cy="1"/>
                    </a:xfrm>
                    <a:custGeom>
                      <a:avLst/>
                      <a:gdLst/>
                      <a:ahLst/>
                      <a:cxnLst>
                        <a:cxn ang="0">
                          <a:pos x="0" y="0"/>
                        </a:cxn>
                        <a:cxn ang="0">
                          <a:pos x="454" y="0"/>
                        </a:cxn>
                      </a:cxnLst>
                      <a:pathLst>
                        <a:path w="454" h="1">
                          <a:moveTo>
                            <a:pt x="0" y="0"/>
                          </a:moveTo>
                          <a:lnTo>
                            <a:pt x="454" y="0"/>
                          </a:ln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052" name="Line 13"/>
                    <p:cNvSpPr/>
                    <p:nvPr/>
                  </p:nvSpPr>
                  <p:spPr>
                    <a:xfrm>
                      <a:off x="1488" y="1632"/>
                      <a:ext cx="480" cy="122"/>
                    </a:xfrm>
                    <a:prstGeom prst="line">
                      <a:avLst/>
                    </a:prstGeom>
                    <a:ln w="9525" cap="flat" cmpd="sng">
                      <a:solidFill>
                        <a:schemeClr val="tx1"/>
                      </a:solidFill>
                      <a:prstDash val="solid"/>
                      <a:round/>
                      <a:headEnd type="none" w="med" len="med"/>
                      <a:tailEnd type="none" w="med" len="med"/>
                    </a:ln>
                  </p:spPr>
                </p:sp>
                <p:grpSp>
                  <p:nvGrpSpPr>
                    <p:cNvPr id="87053" name="Group 14"/>
                    <p:cNvGrpSpPr/>
                    <p:nvPr/>
                  </p:nvGrpSpPr>
                  <p:grpSpPr>
                    <a:xfrm>
                      <a:off x="1888" y="1492"/>
                      <a:ext cx="64" cy="398"/>
                      <a:chOff x="2128" y="1492"/>
                      <a:chExt cx="64" cy="398"/>
                    </a:xfrm>
                  </p:grpSpPr>
                  <p:sp>
                    <p:nvSpPr>
                      <p:cNvPr id="87054" name="Freeform 15"/>
                      <p:cNvSpPr/>
                      <p:nvPr/>
                    </p:nvSpPr>
                    <p:spPr>
                      <a:xfrm>
                        <a:off x="2180" y="1492"/>
                        <a:ext cx="10" cy="140"/>
                      </a:xfrm>
                      <a:custGeom>
                        <a:avLst/>
                        <a:gdLst/>
                        <a:ahLst/>
                        <a:cxnLst>
                          <a:cxn ang="0">
                            <a:pos x="0" y="0"/>
                          </a:cxn>
                          <a:cxn ang="0">
                            <a:pos x="8" y="60"/>
                          </a:cxn>
                          <a:cxn ang="0">
                            <a:pos x="10" y="140"/>
                          </a:cxn>
                        </a:cxnLst>
                        <a:pathLst>
                          <a:path w="10" h="140">
                            <a:moveTo>
                              <a:pt x="0" y="0"/>
                            </a:moveTo>
                            <a:cubicBezTo>
                              <a:pt x="2" y="10"/>
                              <a:pt x="6" y="37"/>
                              <a:pt x="8" y="60"/>
                            </a:cubicBezTo>
                            <a:cubicBezTo>
                              <a:pt x="10" y="83"/>
                              <a:pt x="10" y="123"/>
                              <a:pt x="10" y="14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055" name="Freeform 16"/>
                      <p:cNvSpPr/>
                      <p:nvPr/>
                    </p:nvSpPr>
                    <p:spPr>
                      <a:xfrm>
                        <a:off x="2180" y="1632"/>
                        <a:ext cx="12" cy="114"/>
                      </a:xfrm>
                      <a:custGeom>
                        <a:avLst/>
                        <a:gdLst/>
                        <a:ahLst/>
                        <a:cxnLst>
                          <a:cxn ang="0">
                            <a:pos x="12" y="0"/>
                          </a:cxn>
                          <a:cxn ang="0">
                            <a:pos x="8" y="66"/>
                          </a:cxn>
                          <a:cxn ang="0">
                            <a:pos x="0" y="114"/>
                          </a:cxn>
                        </a:cxnLst>
                        <a:pathLst>
                          <a:path w="12" h="114">
                            <a:moveTo>
                              <a:pt x="12" y="0"/>
                            </a:moveTo>
                            <a:cubicBezTo>
                              <a:pt x="11" y="11"/>
                              <a:pt x="10" y="47"/>
                              <a:pt x="8" y="66"/>
                            </a:cubicBezTo>
                            <a:cubicBezTo>
                              <a:pt x="6" y="85"/>
                              <a:pt x="2" y="104"/>
                              <a:pt x="0" y="11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056" name="Freeform 17"/>
                      <p:cNvSpPr/>
                      <p:nvPr/>
                    </p:nvSpPr>
                    <p:spPr>
                      <a:xfrm>
                        <a:off x="2128" y="1746"/>
                        <a:ext cx="52" cy="144"/>
                      </a:xfrm>
                      <a:custGeom>
                        <a:avLst/>
                        <a:gdLst/>
                        <a:ahLst/>
                        <a:cxnLst>
                          <a:cxn ang="0">
                            <a:pos x="0" y="144"/>
                          </a:cxn>
                          <a:cxn ang="0">
                            <a:pos x="26" y="96"/>
                          </a:cxn>
                          <a:cxn ang="0">
                            <a:pos x="52" y="0"/>
                          </a:cxn>
                        </a:cxnLst>
                        <a:pathLst>
                          <a:path w="52" h="144">
                            <a:moveTo>
                              <a:pt x="0" y="144"/>
                            </a:moveTo>
                            <a:cubicBezTo>
                              <a:pt x="4" y="136"/>
                              <a:pt x="17" y="120"/>
                              <a:pt x="26" y="96"/>
                            </a:cubicBezTo>
                            <a:cubicBezTo>
                              <a:pt x="35" y="72"/>
                              <a:pt x="47" y="20"/>
                              <a:pt x="52" y="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grpSp>
              </p:grpSp>
              <p:sp>
                <p:nvSpPr>
                  <p:cNvPr id="87057" name="Text Box 18"/>
                  <p:cNvSpPr txBox="1"/>
                  <p:nvPr/>
                </p:nvSpPr>
                <p:spPr>
                  <a:xfrm>
                    <a:off x="1680" y="1344"/>
                    <a:ext cx="480" cy="172"/>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re</a:t>
                    </a: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r</a:t>
                    </a:r>
                    <a:endParaRPr lang="en-US" altLang="zh-CN" sz="1400" i="1" dirty="0">
                      <a:latin typeface="Times New Roman" panose="02020603050405020304" pitchFamily="18" charset="0"/>
                      <a:ea typeface="宋体" panose="02010600030101010101" pitchFamily="2" charset="-122"/>
                    </a:endParaRPr>
                  </a:p>
                </p:txBody>
              </p:sp>
            </p:grpSp>
            <p:grpSp>
              <p:nvGrpSpPr>
                <p:cNvPr id="87058" name="Group 19"/>
                <p:cNvGrpSpPr/>
                <p:nvPr/>
              </p:nvGrpSpPr>
              <p:grpSpPr>
                <a:xfrm>
                  <a:off x="1296" y="2302"/>
                  <a:ext cx="480" cy="584"/>
                  <a:chOff x="1536" y="1632"/>
                  <a:chExt cx="480" cy="584"/>
                </a:xfrm>
              </p:grpSpPr>
              <p:sp>
                <p:nvSpPr>
                  <p:cNvPr id="87059" name="Line 20"/>
                  <p:cNvSpPr/>
                  <p:nvPr/>
                </p:nvSpPr>
                <p:spPr>
                  <a:xfrm>
                    <a:off x="1728" y="1632"/>
                    <a:ext cx="0" cy="432"/>
                  </a:xfrm>
                  <a:prstGeom prst="line">
                    <a:avLst/>
                  </a:prstGeom>
                  <a:ln w="9525" cap="flat" cmpd="sng">
                    <a:solidFill>
                      <a:schemeClr val="tx1"/>
                    </a:solidFill>
                    <a:prstDash val="solid"/>
                    <a:round/>
                    <a:headEnd type="none" w="med" len="med"/>
                    <a:tailEnd type="none" w="med" len="med"/>
                  </a:ln>
                </p:spPr>
              </p:sp>
              <p:sp>
                <p:nvSpPr>
                  <p:cNvPr id="87060" name="Line 21"/>
                  <p:cNvSpPr/>
                  <p:nvPr/>
                </p:nvSpPr>
                <p:spPr>
                  <a:xfrm>
                    <a:off x="1728" y="1632"/>
                    <a:ext cx="91" cy="432"/>
                  </a:xfrm>
                  <a:prstGeom prst="line">
                    <a:avLst/>
                  </a:prstGeom>
                  <a:ln w="9525" cap="flat" cmpd="sng">
                    <a:solidFill>
                      <a:schemeClr val="tx1"/>
                    </a:solidFill>
                    <a:prstDash val="solid"/>
                    <a:round/>
                    <a:headEnd type="none" w="med" len="med"/>
                    <a:tailEnd type="none" w="med" len="med"/>
                  </a:ln>
                </p:spPr>
              </p:sp>
              <p:sp>
                <p:nvSpPr>
                  <p:cNvPr id="87061" name="Freeform 22"/>
                  <p:cNvSpPr/>
                  <p:nvPr/>
                </p:nvSpPr>
                <p:spPr>
                  <a:xfrm rot="4599205">
                    <a:off x="1871" y="1920"/>
                    <a:ext cx="10" cy="140"/>
                  </a:xfrm>
                  <a:custGeom>
                    <a:avLst/>
                    <a:gdLst/>
                    <a:ahLst/>
                    <a:cxnLst>
                      <a:cxn ang="0">
                        <a:pos x="0" y="0"/>
                      </a:cxn>
                      <a:cxn ang="0">
                        <a:pos x="8" y="60"/>
                      </a:cxn>
                      <a:cxn ang="0">
                        <a:pos x="10" y="140"/>
                      </a:cxn>
                    </a:cxnLst>
                    <a:pathLst>
                      <a:path w="10" h="140">
                        <a:moveTo>
                          <a:pt x="0" y="0"/>
                        </a:moveTo>
                        <a:cubicBezTo>
                          <a:pt x="2" y="10"/>
                          <a:pt x="6" y="37"/>
                          <a:pt x="8" y="60"/>
                        </a:cubicBezTo>
                        <a:cubicBezTo>
                          <a:pt x="10" y="83"/>
                          <a:pt x="10" y="123"/>
                          <a:pt x="10" y="14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062" name="Freeform 23"/>
                  <p:cNvSpPr/>
                  <p:nvPr/>
                </p:nvSpPr>
                <p:spPr>
                  <a:xfrm rot="4599205">
                    <a:off x="1778" y="1959"/>
                    <a:ext cx="12" cy="114"/>
                  </a:xfrm>
                  <a:custGeom>
                    <a:avLst/>
                    <a:gdLst/>
                    <a:ahLst/>
                    <a:cxnLst>
                      <a:cxn ang="0">
                        <a:pos x="12" y="0"/>
                      </a:cxn>
                      <a:cxn ang="0">
                        <a:pos x="8" y="66"/>
                      </a:cxn>
                      <a:cxn ang="0">
                        <a:pos x="0" y="114"/>
                      </a:cxn>
                    </a:cxnLst>
                    <a:pathLst>
                      <a:path w="12" h="114">
                        <a:moveTo>
                          <a:pt x="12" y="0"/>
                        </a:moveTo>
                        <a:cubicBezTo>
                          <a:pt x="11" y="11"/>
                          <a:pt x="10" y="47"/>
                          <a:pt x="8" y="66"/>
                        </a:cubicBezTo>
                        <a:cubicBezTo>
                          <a:pt x="6" y="85"/>
                          <a:pt x="2" y="104"/>
                          <a:pt x="0" y="114"/>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063" name="Freeform 24"/>
                  <p:cNvSpPr/>
                  <p:nvPr/>
                </p:nvSpPr>
                <p:spPr>
                  <a:xfrm rot="4599205">
                    <a:off x="1626" y="1943"/>
                    <a:ext cx="52" cy="144"/>
                  </a:xfrm>
                  <a:custGeom>
                    <a:avLst/>
                    <a:gdLst/>
                    <a:ahLst/>
                    <a:cxnLst>
                      <a:cxn ang="0">
                        <a:pos x="0" y="144"/>
                      </a:cxn>
                      <a:cxn ang="0">
                        <a:pos x="26" y="96"/>
                      </a:cxn>
                      <a:cxn ang="0">
                        <a:pos x="52" y="0"/>
                      </a:cxn>
                    </a:cxnLst>
                    <a:pathLst>
                      <a:path w="52" h="144">
                        <a:moveTo>
                          <a:pt x="0" y="144"/>
                        </a:moveTo>
                        <a:cubicBezTo>
                          <a:pt x="4" y="136"/>
                          <a:pt x="17" y="120"/>
                          <a:pt x="26" y="96"/>
                        </a:cubicBezTo>
                        <a:cubicBezTo>
                          <a:pt x="35" y="72"/>
                          <a:pt x="47" y="20"/>
                          <a:pt x="52" y="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064" name="Text Box 25"/>
                  <p:cNvSpPr txBox="1"/>
                  <p:nvPr/>
                </p:nvSpPr>
                <p:spPr>
                  <a:xfrm>
                    <a:off x="1536" y="2035"/>
                    <a:ext cx="480" cy="181"/>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α</a:t>
                    </a:r>
                    <a:r>
                      <a:rPr lang="en-US" altLang="zh-CN" sz="1400" baseline="-25000" dirty="0">
                        <a:latin typeface="Times New Roman" panose="02020603050405020304" pitchFamily="18" charset="0"/>
                        <a:ea typeface="宋体" panose="02010600030101010101" pitchFamily="2" charset="-122"/>
                      </a:rPr>
                      <a:t>0</a:t>
                    </a:r>
                    <a:r>
                      <a:rPr lang="en-US" altLang="zh-CN" sz="1400" i="1" baseline="-25000" dirty="0">
                        <a:latin typeface="Times New Roman" panose="02020603050405020304" pitchFamily="18" charset="0"/>
                        <a:ea typeface="宋体" panose="02010600030101010101" pitchFamily="2" charset="-122"/>
                      </a:rPr>
                      <a:t>e</a:t>
                    </a:r>
                    <a:r>
                      <a:rPr lang="en-US" altLang="zh-CN" sz="1400" i="1" dirty="0">
                        <a:latin typeface="Times New Roman" panose="02020603050405020304" pitchFamily="18" charset="0"/>
                        <a:ea typeface="宋体" panose="02010600030101010101" pitchFamily="2" charset="-122"/>
                      </a:rPr>
                      <a:t>=α</a:t>
                    </a:r>
                    <a:r>
                      <a:rPr lang="en-US" altLang="zh-CN" sz="1400" baseline="-25000" dirty="0">
                        <a:latin typeface="Times New Roman" panose="02020603050405020304" pitchFamily="18" charset="0"/>
                        <a:ea typeface="宋体" panose="02010600030101010101" pitchFamily="2" charset="-122"/>
                      </a:rPr>
                      <a:t>0</a:t>
                    </a:r>
                    <a:endParaRPr lang="en-US" altLang="zh-CN" sz="1400" dirty="0">
                      <a:latin typeface="Times New Roman" panose="02020603050405020304" pitchFamily="18" charset="0"/>
                      <a:ea typeface="宋体" panose="02010600030101010101" pitchFamily="2" charset="-122"/>
                    </a:endParaRPr>
                  </a:p>
                </p:txBody>
              </p:sp>
            </p:grpSp>
            <p:grpSp>
              <p:nvGrpSpPr>
                <p:cNvPr id="87065" name="Group 26"/>
                <p:cNvGrpSpPr/>
                <p:nvPr/>
              </p:nvGrpSpPr>
              <p:grpSpPr>
                <a:xfrm>
                  <a:off x="1485" y="2302"/>
                  <a:ext cx="397" cy="240"/>
                  <a:chOff x="1485" y="1632"/>
                  <a:chExt cx="397" cy="240"/>
                </a:xfrm>
              </p:grpSpPr>
              <p:grpSp>
                <p:nvGrpSpPr>
                  <p:cNvPr id="87066" name="Group 27"/>
                  <p:cNvGrpSpPr/>
                  <p:nvPr/>
                </p:nvGrpSpPr>
                <p:grpSpPr>
                  <a:xfrm>
                    <a:off x="1485" y="1632"/>
                    <a:ext cx="397" cy="240"/>
                    <a:chOff x="1725" y="1632"/>
                    <a:chExt cx="397" cy="240"/>
                  </a:xfrm>
                </p:grpSpPr>
                <p:grpSp>
                  <p:nvGrpSpPr>
                    <p:cNvPr id="87067" name="Group 28"/>
                    <p:cNvGrpSpPr/>
                    <p:nvPr/>
                  </p:nvGrpSpPr>
                  <p:grpSpPr>
                    <a:xfrm>
                      <a:off x="1725" y="1640"/>
                      <a:ext cx="162" cy="66"/>
                      <a:chOff x="1725" y="1638"/>
                      <a:chExt cx="162" cy="66"/>
                    </a:xfrm>
                  </p:grpSpPr>
                  <p:sp>
                    <p:nvSpPr>
                      <p:cNvPr id="87068" name="Rectangle 29"/>
                      <p:cNvSpPr/>
                      <p:nvPr/>
                    </p:nvSpPr>
                    <p:spPr>
                      <a:xfrm rot="914563">
                        <a:off x="1743" y="1656"/>
                        <a:ext cx="144" cy="48"/>
                      </a:xfrm>
                      <a:prstGeom prst="rect">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069" name="AutoShape 30"/>
                      <p:cNvSpPr/>
                      <p:nvPr/>
                    </p:nvSpPr>
                    <p:spPr>
                      <a:xfrm rot="-9900000">
                        <a:off x="1725" y="1638"/>
                        <a:ext cx="23" cy="32"/>
                      </a:xfrm>
                      <a:prstGeom prst="rtTriangle">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87070" name="Line 31"/>
                    <p:cNvSpPr/>
                    <p:nvPr/>
                  </p:nvSpPr>
                  <p:spPr>
                    <a:xfrm>
                      <a:off x="1728" y="1632"/>
                      <a:ext cx="192" cy="48"/>
                    </a:xfrm>
                    <a:prstGeom prst="line">
                      <a:avLst/>
                    </a:prstGeom>
                    <a:ln w="12700" cap="flat" cmpd="sng">
                      <a:solidFill>
                        <a:schemeClr val="tx1"/>
                      </a:solidFill>
                      <a:prstDash val="solid"/>
                      <a:round/>
                      <a:headEnd type="none" w="med" len="med"/>
                      <a:tailEnd type="none" w="med" len="med"/>
                    </a:ln>
                  </p:spPr>
                </p:sp>
                <p:sp>
                  <p:nvSpPr>
                    <p:cNvPr id="87071" name="Line 32"/>
                    <p:cNvSpPr/>
                    <p:nvPr/>
                  </p:nvSpPr>
                  <p:spPr>
                    <a:xfrm flipV="1">
                      <a:off x="1920" y="1632"/>
                      <a:ext cx="48" cy="48"/>
                    </a:xfrm>
                    <a:prstGeom prst="line">
                      <a:avLst/>
                    </a:prstGeom>
                    <a:ln w="12700" cap="flat" cmpd="sng">
                      <a:solidFill>
                        <a:schemeClr val="tx1"/>
                      </a:solidFill>
                      <a:prstDash val="solid"/>
                      <a:round/>
                      <a:headEnd type="none" w="med" len="med"/>
                      <a:tailEnd type="none" w="med" len="med"/>
                    </a:ln>
                  </p:spPr>
                </p:sp>
                <p:sp>
                  <p:nvSpPr>
                    <p:cNvPr id="87072" name="Line 33"/>
                    <p:cNvSpPr/>
                    <p:nvPr/>
                  </p:nvSpPr>
                  <p:spPr>
                    <a:xfrm flipV="1">
                      <a:off x="1968" y="1632"/>
                      <a:ext cx="144" cy="0"/>
                    </a:xfrm>
                    <a:prstGeom prst="line">
                      <a:avLst/>
                    </a:prstGeom>
                    <a:ln w="12700" cap="flat" cmpd="sng">
                      <a:solidFill>
                        <a:schemeClr val="tx1"/>
                      </a:solidFill>
                      <a:prstDash val="solid"/>
                      <a:round/>
                      <a:headEnd type="none" w="med" len="med"/>
                      <a:tailEnd type="none" w="med" len="med"/>
                    </a:ln>
                  </p:spPr>
                </p:sp>
                <p:sp>
                  <p:nvSpPr>
                    <p:cNvPr id="87073" name="Line 34"/>
                    <p:cNvSpPr/>
                    <p:nvPr/>
                  </p:nvSpPr>
                  <p:spPr>
                    <a:xfrm>
                      <a:off x="1728" y="1632"/>
                      <a:ext cx="48" cy="240"/>
                    </a:xfrm>
                    <a:prstGeom prst="line">
                      <a:avLst/>
                    </a:prstGeom>
                    <a:ln w="12700" cap="flat" cmpd="sng">
                      <a:solidFill>
                        <a:schemeClr val="tx1"/>
                      </a:solidFill>
                      <a:prstDash val="solid"/>
                      <a:round/>
                      <a:headEnd type="none" w="med" len="med"/>
                      <a:tailEnd type="none" w="med" len="med"/>
                    </a:ln>
                  </p:spPr>
                </p:sp>
                <p:sp>
                  <p:nvSpPr>
                    <p:cNvPr id="87074" name="Line 35"/>
                    <p:cNvSpPr/>
                    <p:nvPr/>
                  </p:nvSpPr>
                  <p:spPr>
                    <a:xfrm>
                      <a:off x="1776" y="1872"/>
                      <a:ext cx="336" cy="0"/>
                    </a:xfrm>
                    <a:prstGeom prst="line">
                      <a:avLst/>
                    </a:prstGeom>
                    <a:ln w="12700" cap="flat" cmpd="sng">
                      <a:solidFill>
                        <a:schemeClr val="tx1"/>
                      </a:solidFill>
                      <a:prstDash val="solid"/>
                      <a:round/>
                      <a:headEnd type="none" w="med" len="med"/>
                      <a:tailEnd type="none" w="med" len="med"/>
                    </a:ln>
                  </p:spPr>
                </p:sp>
                <p:sp>
                  <p:nvSpPr>
                    <p:cNvPr id="87075" name="Line 36"/>
                    <p:cNvSpPr/>
                    <p:nvPr/>
                  </p:nvSpPr>
                  <p:spPr>
                    <a:xfrm>
                      <a:off x="1740" y="1691"/>
                      <a:ext cx="141" cy="39"/>
                    </a:xfrm>
                    <a:prstGeom prst="line">
                      <a:avLst/>
                    </a:prstGeom>
                    <a:ln w="12700" cap="flat" cmpd="sng">
                      <a:solidFill>
                        <a:schemeClr val="tx1"/>
                      </a:solidFill>
                      <a:prstDash val="solid"/>
                      <a:round/>
                      <a:headEnd type="none" w="med" len="med"/>
                      <a:tailEnd type="none" w="med" len="med"/>
                    </a:ln>
                  </p:spPr>
                </p:sp>
                <p:sp>
                  <p:nvSpPr>
                    <p:cNvPr id="87076" name="Freeform 37"/>
                    <p:cNvSpPr/>
                    <p:nvPr/>
                  </p:nvSpPr>
                  <p:spPr>
                    <a:xfrm>
                      <a:off x="2084" y="1632"/>
                      <a:ext cx="38" cy="240"/>
                    </a:xfrm>
                    <a:custGeom>
                      <a:avLst/>
                      <a:gdLst/>
                      <a:ahLst/>
                      <a:cxnLst>
                        <a:cxn ang="0">
                          <a:pos x="28" y="0"/>
                        </a:cxn>
                        <a:cxn ang="0">
                          <a:pos x="1" y="90"/>
                        </a:cxn>
                        <a:cxn ang="0">
                          <a:pos x="34" y="168"/>
                        </a:cxn>
                        <a:cxn ang="0">
                          <a:pos x="28" y="240"/>
                        </a:cxn>
                      </a:cxnLst>
                      <a:pathLst>
                        <a:path w="38" h="240">
                          <a:moveTo>
                            <a:pt x="28" y="0"/>
                          </a:moveTo>
                          <a:cubicBezTo>
                            <a:pt x="24" y="15"/>
                            <a:pt x="0" y="62"/>
                            <a:pt x="1" y="90"/>
                          </a:cubicBezTo>
                          <a:cubicBezTo>
                            <a:pt x="2" y="118"/>
                            <a:pt x="30" y="143"/>
                            <a:pt x="34" y="168"/>
                          </a:cubicBezTo>
                          <a:cubicBezTo>
                            <a:pt x="38" y="193"/>
                            <a:pt x="29" y="225"/>
                            <a:pt x="28" y="240"/>
                          </a:cubicBez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077" name="Line 38"/>
                  <p:cNvSpPr/>
                  <p:nvPr/>
                </p:nvSpPr>
                <p:spPr>
                  <a:xfrm flipV="1">
                    <a:off x="1641" y="1671"/>
                    <a:ext cx="16" cy="57"/>
                  </a:xfrm>
                  <a:prstGeom prst="line">
                    <a:avLst/>
                  </a:prstGeom>
                  <a:ln w="12700" cap="flat" cmpd="sng">
                    <a:solidFill>
                      <a:schemeClr val="tx1"/>
                    </a:solidFill>
                    <a:prstDash val="solid"/>
                    <a:round/>
                    <a:headEnd type="none" w="med" len="med"/>
                    <a:tailEnd type="none" w="med" len="med"/>
                  </a:ln>
                </p:spPr>
              </p:sp>
            </p:grpSp>
            <p:grpSp>
              <p:nvGrpSpPr>
                <p:cNvPr id="87078" name="Group 39"/>
                <p:cNvGrpSpPr/>
                <p:nvPr/>
              </p:nvGrpSpPr>
              <p:grpSpPr>
                <a:xfrm>
                  <a:off x="720" y="1870"/>
                  <a:ext cx="816" cy="1141"/>
                  <a:chOff x="720" y="1200"/>
                  <a:chExt cx="816" cy="1141"/>
                </a:xfrm>
              </p:grpSpPr>
              <p:grpSp>
                <p:nvGrpSpPr>
                  <p:cNvPr id="87079" name="Group 40"/>
                  <p:cNvGrpSpPr/>
                  <p:nvPr/>
                </p:nvGrpSpPr>
                <p:grpSpPr>
                  <a:xfrm>
                    <a:off x="720" y="1200"/>
                    <a:ext cx="816" cy="864"/>
                    <a:chOff x="720" y="1200"/>
                    <a:chExt cx="816" cy="864"/>
                  </a:xfrm>
                </p:grpSpPr>
                <p:sp>
                  <p:nvSpPr>
                    <p:cNvPr id="87080" name="Oval 41"/>
                    <p:cNvSpPr/>
                    <p:nvPr/>
                  </p:nvSpPr>
                  <p:spPr>
                    <a:xfrm>
                      <a:off x="816" y="1296"/>
                      <a:ext cx="672" cy="672"/>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081" name="Line 42"/>
                    <p:cNvSpPr/>
                    <p:nvPr/>
                  </p:nvSpPr>
                  <p:spPr>
                    <a:xfrm>
                      <a:off x="720" y="1632"/>
                      <a:ext cx="816" cy="0"/>
                    </a:xfrm>
                    <a:prstGeom prst="line">
                      <a:avLst/>
                    </a:prstGeom>
                    <a:ln w="9525" cap="flat" cmpd="sng">
                      <a:solidFill>
                        <a:schemeClr val="tx1"/>
                      </a:solidFill>
                      <a:prstDash val="lgDashDot"/>
                      <a:round/>
                      <a:headEnd type="none" w="med" len="med"/>
                      <a:tailEnd type="none" w="med" len="med"/>
                    </a:ln>
                  </p:spPr>
                </p:sp>
                <p:sp>
                  <p:nvSpPr>
                    <p:cNvPr id="87082" name="Line 43"/>
                    <p:cNvSpPr/>
                    <p:nvPr/>
                  </p:nvSpPr>
                  <p:spPr>
                    <a:xfrm>
                      <a:off x="1152" y="1200"/>
                      <a:ext cx="0" cy="864"/>
                    </a:xfrm>
                    <a:prstGeom prst="line">
                      <a:avLst/>
                    </a:prstGeom>
                    <a:ln w="9525" cap="flat" cmpd="sng">
                      <a:solidFill>
                        <a:schemeClr val="tx1"/>
                      </a:solidFill>
                      <a:prstDash val="lgDashDot"/>
                      <a:round/>
                      <a:headEnd type="none" w="med" len="med"/>
                      <a:tailEnd type="none" w="med" len="med"/>
                    </a:ln>
                  </p:spPr>
                </p:sp>
              </p:grpSp>
              <p:sp>
                <p:nvSpPr>
                  <p:cNvPr id="87083" name="Text Box 44"/>
                  <p:cNvSpPr txBox="1"/>
                  <p:nvPr/>
                </p:nvSpPr>
                <p:spPr>
                  <a:xfrm>
                    <a:off x="1008" y="2160"/>
                    <a:ext cx="336" cy="181"/>
                  </a:xfrm>
                  <a:prstGeom prst="rect">
                    <a:avLst/>
                  </a:prstGeom>
                  <a:noFill/>
                  <a:ln w="9525">
                    <a:noFill/>
                  </a:ln>
                </p:spPr>
                <p:txBody>
                  <a:bodyPr lIns="0" tIns="0" rIns="0" bIns="0" anchor="t" anchorCtr="0"/>
                  <a:p>
                    <a:pPr algn="ctr" eaLnBrk="0" hangingPunct="0">
                      <a:spcBef>
                        <a:spcPct val="50000"/>
                      </a:spcBef>
                    </a:pPr>
                    <a:r>
                      <a:rPr lang="en-US" altLang="zh-CN" sz="1600" b="1" dirty="0">
                        <a:latin typeface="Times New Roman" panose="02020603050405020304" pitchFamily="18" charset="0"/>
                        <a:ea typeface="宋体" panose="02010600030101010101" pitchFamily="2" charset="-122"/>
                      </a:rPr>
                      <a:t>a</a:t>
                    </a:r>
                    <a:r>
                      <a:rPr lang="zh-CN" altLang="en-US" sz="1600" b="1" dirty="0">
                        <a:latin typeface="Times New Roman" panose="02020603050405020304" pitchFamily="18" charset="0"/>
                        <a:ea typeface="宋体" panose="02010600030101010101" pitchFamily="2" charset="-122"/>
                      </a:rPr>
                      <a:t>）</a:t>
                    </a:r>
                    <a:endParaRPr lang="zh-CN" altLang="en-US" sz="1600" b="1" baseline="-25000" dirty="0">
                      <a:latin typeface="Times New Roman" panose="02020603050405020304" pitchFamily="18" charset="0"/>
                      <a:ea typeface="宋体" panose="02010600030101010101" pitchFamily="2" charset="-122"/>
                    </a:endParaRPr>
                  </a:p>
                </p:txBody>
              </p:sp>
            </p:grpSp>
            <p:grpSp>
              <p:nvGrpSpPr>
                <p:cNvPr id="87084" name="Group 45"/>
                <p:cNvGrpSpPr/>
                <p:nvPr/>
              </p:nvGrpSpPr>
              <p:grpSpPr>
                <a:xfrm>
                  <a:off x="2928" y="2248"/>
                  <a:ext cx="576" cy="592"/>
                  <a:chOff x="2928" y="1584"/>
                  <a:chExt cx="576" cy="592"/>
                </a:xfrm>
              </p:grpSpPr>
              <p:grpSp>
                <p:nvGrpSpPr>
                  <p:cNvPr id="87085" name="Group 46"/>
                  <p:cNvGrpSpPr/>
                  <p:nvPr/>
                </p:nvGrpSpPr>
                <p:grpSpPr>
                  <a:xfrm>
                    <a:off x="3000" y="1584"/>
                    <a:ext cx="338" cy="432"/>
                    <a:chOff x="3000" y="1584"/>
                    <a:chExt cx="338" cy="432"/>
                  </a:xfrm>
                </p:grpSpPr>
                <p:sp>
                  <p:nvSpPr>
                    <p:cNvPr id="87086" name="Line 47"/>
                    <p:cNvSpPr/>
                    <p:nvPr/>
                  </p:nvSpPr>
                  <p:spPr>
                    <a:xfrm>
                      <a:off x="3120" y="1584"/>
                      <a:ext cx="48" cy="432"/>
                    </a:xfrm>
                    <a:prstGeom prst="line">
                      <a:avLst/>
                    </a:prstGeom>
                    <a:ln w="9525" cap="flat" cmpd="sng">
                      <a:solidFill>
                        <a:schemeClr val="tx1"/>
                      </a:solidFill>
                      <a:prstDash val="solid"/>
                      <a:round/>
                      <a:headEnd type="none" w="med" len="med"/>
                      <a:tailEnd type="none" w="med" len="med"/>
                    </a:ln>
                  </p:spPr>
                </p:sp>
                <p:grpSp>
                  <p:nvGrpSpPr>
                    <p:cNvPr id="87087" name="Group 48"/>
                    <p:cNvGrpSpPr/>
                    <p:nvPr/>
                  </p:nvGrpSpPr>
                  <p:grpSpPr>
                    <a:xfrm>
                      <a:off x="3119" y="1584"/>
                      <a:ext cx="219" cy="432"/>
                      <a:chOff x="3119" y="1584"/>
                      <a:chExt cx="219" cy="432"/>
                    </a:xfrm>
                  </p:grpSpPr>
                  <p:sp>
                    <p:nvSpPr>
                      <p:cNvPr id="87088" name="Line 49"/>
                      <p:cNvSpPr/>
                      <p:nvPr/>
                    </p:nvSpPr>
                    <p:spPr>
                      <a:xfrm>
                        <a:off x="3120" y="1584"/>
                        <a:ext cx="91" cy="432"/>
                      </a:xfrm>
                      <a:prstGeom prst="line">
                        <a:avLst/>
                      </a:prstGeom>
                      <a:ln w="9525" cap="flat" cmpd="sng">
                        <a:solidFill>
                          <a:schemeClr val="tx1"/>
                        </a:solidFill>
                        <a:prstDash val="solid"/>
                        <a:round/>
                        <a:headEnd type="none" w="med" len="med"/>
                        <a:tailEnd type="none" w="med" len="med"/>
                      </a:ln>
                    </p:spPr>
                  </p:sp>
                  <p:sp>
                    <p:nvSpPr>
                      <p:cNvPr id="87089" name="Freeform 50"/>
                      <p:cNvSpPr/>
                      <p:nvPr/>
                    </p:nvSpPr>
                    <p:spPr>
                      <a:xfrm rot="4599205">
                        <a:off x="3263" y="1872"/>
                        <a:ext cx="10" cy="140"/>
                      </a:xfrm>
                      <a:custGeom>
                        <a:avLst/>
                        <a:gdLst/>
                        <a:ahLst/>
                        <a:cxnLst>
                          <a:cxn ang="0">
                            <a:pos x="0" y="0"/>
                          </a:cxn>
                          <a:cxn ang="0">
                            <a:pos x="8" y="60"/>
                          </a:cxn>
                          <a:cxn ang="0">
                            <a:pos x="10" y="140"/>
                          </a:cxn>
                        </a:cxnLst>
                        <a:pathLst>
                          <a:path w="10" h="140">
                            <a:moveTo>
                              <a:pt x="0" y="0"/>
                            </a:moveTo>
                            <a:cubicBezTo>
                              <a:pt x="2" y="10"/>
                              <a:pt x="6" y="37"/>
                              <a:pt x="8" y="60"/>
                            </a:cubicBezTo>
                            <a:cubicBezTo>
                              <a:pt x="10" y="83"/>
                              <a:pt x="10" y="123"/>
                              <a:pt x="10" y="14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090" name="Freeform 51"/>
                      <p:cNvSpPr/>
                      <p:nvPr/>
                    </p:nvSpPr>
                    <p:spPr>
                      <a:xfrm rot="4599205">
                        <a:off x="3170" y="1911"/>
                        <a:ext cx="12" cy="114"/>
                      </a:xfrm>
                      <a:custGeom>
                        <a:avLst/>
                        <a:gdLst/>
                        <a:ahLst/>
                        <a:cxnLst>
                          <a:cxn ang="0">
                            <a:pos x="12" y="0"/>
                          </a:cxn>
                          <a:cxn ang="0">
                            <a:pos x="8" y="66"/>
                          </a:cxn>
                          <a:cxn ang="0">
                            <a:pos x="0" y="114"/>
                          </a:cxn>
                        </a:cxnLst>
                        <a:pathLst>
                          <a:path w="12" h="114">
                            <a:moveTo>
                              <a:pt x="12" y="0"/>
                            </a:moveTo>
                            <a:cubicBezTo>
                              <a:pt x="11" y="11"/>
                              <a:pt x="10" y="47"/>
                              <a:pt x="8" y="66"/>
                            </a:cubicBezTo>
                            <a:cubicBezTo>
                              <a:pt x="6" y="85"/>
                              <a:pt x="2" y="104"/>
                              <a:pt x="0" y="114"/>
                            </a:cubicBez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091" name="Freeform 52"/>
                    <p:cNvSpPr/>
                    <p:nvPr/>
                  </p:nvSpPr>
                  <p:spPr>
                    <a:xfrm>
                      <a:off x="3000" y="1962"/>
                      <a:ext cx="160" cy="15"/>
                    </a:xfrm>
                    <a:custGeom>
                      <a:avLst/>
                      <a:gdLst/>
                      <a:ahLst/>
                      <a:cxnLst>
                        <a:cxn ang="0">
                          <a:pos x="0" y="0"/>
                        </a:cxn>
                        <a:cxn ang="0">
                          <a:pos x="60" y="12"/>
                        </a:cxn>
                        <a:cxn ang="0">
                          <a:pos x="160" y="15"/>
                        </a:cxn>
                      </a:cxnLst>
                      <a:pathLst>
                        <a:path w="160" h="15">
                          <a:moveTo>
                            <a:pt x="0" y="0"/>
                          </a:moveTo>
                          <a:cubicBezTo>
                            <a:pt x="10" y="3"/>
                            <a:pt x="33" y="10"/>
                            <a:pt x="60" y="12"/>
                          </a:cubicBezTo>
                          <a:cubicBezTo>
                            <a:pt x="87" y="14"/>
                            <a:pt x="139" y="15"/>
                            <a:pt x="160" y="15"/>
                          </a:cubicBezTo>
                        </a:path>
                      </a:pathLst>
                    </a:custGeom>
                    <a:noFill/>
                    <a:ln w="9525" cap="flat" cmpd="sng">
                      <a:solidFill>
                        <a:schemeClr val="tx1"/>
                      </a:solidFill>
                      <a:prstDash val="solid"/>
                      <a:round/>
                      <a:headEnd type="none" w="med" len="med"/>
                      <a:tailEnd type="triangle" w="sm" len="med"/>
                    </a:ln>
                  </p:spPr>
                  <p:txBody>
                    <a:bodyPr/>
                    <a:p>
                      <a:endParaRPr lang="zh-CN" altLang="en-US"/>
                    </a:p>
                  </p:txBody>
                </p:sp>
              </p:grpSp>
              <p:sp>
                <p:nvSpPr>
                  <p:cNvPr id="87092" name="Text Box 53"/>
                  <p:cNvSpPr txBox="1"/>
                  <p:nvPr/>
                </p:nvSpPr>
                <p:spPr>
                  <a:xfrm>
                    <a:off x="2928" y="1995"/>
                    <a:ext cx="576" cy="181"/>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α</a:t>
                    </a:r>
                    <a:r>
                      <a:rPr lang="en-US" altLang="zh-CN" sz="1400" i="1" baseline="-25000" dirty="0">
                        <a:latin typeface="Times New Roman" panose="02020603050405020304" pitchFamily="18" charset="0"/>
                        <a:ea typeface="宋体" panose="02010600030101010101" pitchFamily="2" charset="-122"/>
                      </a:rPr>
                      <a:t> </a:t>
                    </a:r>
                    <a:r>
                      <a:rPr lang="en-US" altLang="zh-CN" sz="1400" baseline="-25000" dirty="0">
                        <a:latin typeface="Times New Roman" panose="02020603050405020304" pitchFamily="18" charset="0"/>
                        <a:ea typeface="宋体" panose="02010600030101010101" pitchFamily="2" charset="-122"/>
                      </a:rPr>
                      <a:t>0</a:t>
                    </a:r>
                    <a:r>
                      <a:rPr lang="en-US" altLang="zh-CN" sz="1400" i="1" baseline="-25000" dirty="0">
                        <a:latin typeface="Times New Roman" panose="02020603050405020304" pitchFamily="18" charset="0"/>
                        <a:ea typeface="宋体" panose="02010600030101010101" pitchFamily="2" charset="-122"/>
                      </a:rPr>
                      <a:t>e</a:t>
                    </a:r>
                    <a:r>
                      <a:rPr lang="zh-CN" altLang="en-US" sz="1400" i="1"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α</a:t>
                    </a:r>
                    <a:r>
                      <a:rPr lang="en-US" altLang="zh-CN" sz="1400" baseline="-25000" dirty="0">
                        <a:latin typeface="Times New Roman" panose="02020603050405020304" pitchFamily="18" charset="0"/>
                        <a:ea typeface="宋体" panose="02010600030101010101" pitchFamily="2" charset="-122"/>
                      </a:rPr>
                      <a:t>0</a:t>
                    </a:r>
                    <a:endParaRPr lang="en-US" altLang="zh-CN" sz="1400" baseline="-25000" dirty="0">
                      <a:latin typeface="Times New Roman" panose="02020603050405020304" pitchFamily="18" charset="0"/>
                      <a:ea typeface="宋体" panose="02010600030101010101" pitchFamily="2" charset="-122"/>
                    </a:endParaRPr>
                  </a:p>
                </p:txBody>
              </p:sp>
            </p:grpSp>
            <p:grpSp>
              <p:nvGrpSpPr>
                <p:cNvPr id="87093" name="Group 54"/>
                <p:cNvGrpSpPr/>
                <p:nvPr/>
              </p:nvGrpSpPr>
              <p:grpSpPr>
                <a:xfrm>
                  <a:off x="3117" y="2254"/>
                  <a:ext cx="397" cy="240"/>
                  <a:chOff x="3117" y="1584"/>
                  <a:chExt cx="397" cy="240"/>
                </a:xfrm>
              </p:grpSpPr>
              <p:grpSp>
                <p:nvGrpSpPr>
                  <p:cNvPr id="87094" name="Group 55"/>
                  <p:cNvGrpSpPr/>
                  <p:nvPr/>
                </p:nvGrpSpPr>
                <p:grpSpPr>
                  <a:xfrm>
                    <a:off x="3117" y="1584"/>
                    <a:ext cx="397" cy="240"/>
                    <a:chOff x="1725" y="1632"/>
                    <a:chExt cx="397" cy="240"/>
                  </a:xfrm>
                </p:grpSpPr>
                <p:grpSp>
                  <p:nvGrpSpPr>
                    <p:cNvPr id="87095" name="Group 56"/>
                    <p:cNvGrpSpPr/>
                    <p:nvPr/>
                  </p:nvGrpSpPr>
                  <p:grpSpPr>
                    <a:xfrm>
                      <a:off x="1725" y="1640"/>
                      <a:ext cx="162" cy="66"/>
                      <a:chOff x="1725" y="1638"/>
                      <a:chExt cx="162" cy="66"/>
                    </a:xfrm>
                  </p:grpSpPr>
                  <p:sp>
                    <p:nvSpPr>
                      <p:cNvPr id="87096" name="Rectangle 57"/>
                      <p:cNvSpPr/>
                      <p:nvPr/>
                    </p:nvSpPr>
                    <p:spPr>
                      <a:xfrm rot="914563">
                        <a:off x="1743" y="1656"/>
                        <a:ext cx="144" cy="48"/>
                      </a:xfrm>
                      <a:prstGeom prst="rect">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097" name="AutoShape 58"/>
                      <p:cNvSpPr/>
                      <p:nvPr/>
                    </p:nvSpPr>
                    <p:spPr>
                      <a:xfrm rot="-9900000">
                        <a:off x="1725" y="1638"/>
                        <a:ext cx="23" cy="32"/>
                      </a:xfrm>
                      <a:prstGeom prst="rtTriangle">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87098" name="Line 59"/>
                    <p:cNvSpPr/>
                    <p:nvPr/>
                  </p:nvSpPr>
                  <p:spPr>
                    <a:xfrm>
                      <a:off x="1728" y="1632"/>
                      <a:ext cx="192" cy="48"/>
                    </a:xfrm>
                    <a:prstGeom prst="line">
                      <a:avLst/>
                    </a:prstGeom>
                    <a:ln w="12700" cap="flat" cmpd="sng">
                      <a:solidFill>
                        <a:schemeClr val="tx1"/>
                      </a:solidFill>
                      <a:prstDash val="solid"/>
                      <a:round/>
                      <a:headEnd type="none" w="med" len="med"/>
                      <a:tailEnd type="none" w="med" len="med"/>
                    </a:ln>
                  </p:spPr>
                </p:sp>
                <p:sp>
                  <p:nvSpPr>
                    <p:cNvPr id="87099" name="Line 60"/>
                    <p:cNvSpPr/>
                    <p:nvPr/>
                  </p:nvSpPr>
                  <p:spPr>
                    <a:xfrm flipV="1">
                      <a:off x="1920" y="1632"/>
                      <a:ext cx="48" cy="48"/>
                    </a:xfrm>
                    <a:prstGeom prst="line">
                      <a:avLst/>
                    </a:prstGeom>
                    <a:ln w="12700" cap="flat" cmpd="sng">
                      <a:solidFill>
                        <a:schemeClr val="tx1"/>
                      </a:solidFill>
                      <a:prstDash val="solid"/>
                      <a:round/>
                      <a:headEnd type="none" w="med" len="med"/>
                      <a:tailEnd type="none" w="med" len="med"/>
                    </a:ln>
                  </p:spPr>
                </p:sp>
                <p:sp>
                  <p:nvSpPr>
                    <p:cNvPr id="87100" name="Line 61"/>
                    <p:cNvSpPr/>
                    <p:nvPr/>
                  </p:nvSpPr>
                  <p:spPr>
                    <a:xfrm flipV="1">
                      <a:off x="1968" y="1632"/>
                      <a:ext cx="144" cy="0"/>
                    </a:xfrm>
                    <a:prstGeom prst="line">
                      <a:avLst/>
                    </a:prstGeom>
                    <a:ln w="12700" cap="flat" cmpd="sng">
                      <a:solidFill>
                        <a:schemeClr val="tx1"/>
                      </a:solidFill>
                      <a:prstDash val="solid"/>
                      <a:round/>
                      <a:headEnd type="none" w="med" len="med"/>
                      <a:tailEnd type="none" w="med" len="med"/>
                    </a:ln>
                  </p:spPr>
                </p:sp>
                <p:sp>
                  <p:nvSpPr>
                    <p:cNvPr id="87101" name="Line 62"/>
                    <p:cNvSpPr/>
                    <p:nvPr/>
                  </p:nvSpPr>
                  <p:spPr>
                    <a:xfrm>
                      <a:off x="1728" y="1632"/>
                      <a:ext cx="48" cy="240"/>
                    </a:xfrm>
                    <a:prstGeom prst="line">
                      <a:avLst/>
                    </a:prstGeom>
                    <a:ln w="12700" cap="flat" cmpd="sng">
                      <a:solidFill>
                        <a:schemeClr val="tx1"/>
                      </a:solidFill>
                      <a:prstDash val="solid"/>
                      <a:round/>
                      <a:headEnd type="none" w="med" len="med"/>
                      <a:tailEnd type="none" w="med" len="med"/>
                    </a:ln>
                  </p:spPr>
                </p:sp>
                <p:sp>
                  <p:nvSpPr>
                    <p:cNvPr id="87102" name="Line 63"/>
                    <p:cNvSpPr/>
                    <p:nvPr/>
                  </p:nvSpPr>
                  <p:spPr>
                    <a:xfrm>
                      <a:off x="1776" y="1872"/>
                      <a:ext cx="336" cy="0"/>
                    </a:xfrm>
                    <a:prstGeom prst="line">
                      <a:avLst/>
                    </a:prstGeom>
                    <a:ln w="12700" cap="flat" cmpd="sng">
                      <a:solidFill>
                        <a:schemeClr val="tx1"/>
                      </a:solidFill>
                      <a:prstDash val="solid"/>
                      <a:round/>
                      <a:headEnd type="none" w="med" len="med"/>
                      <a:tailEnd type="none" w="med" len="med"/>
                    </a:ln>
                  </p:spPr>
                </p:sp>
                <p:sp>
                  <p:nvSpPr>
                    <p:cNvPr id="87103" name="Line 64"/>
                    <p:cNvSpPr/>
                    <p:nvPr/>
                  </p:nvSpPr>
                  <p:spPr>
                    <a:xfrm>
                      <a:off x="1740" y="1691"/>
                      <a:ext cx="141" cy="39"/>
                    </a:xfrm>
                    <a:prstGeom prst="line">
                      <a:avLst/>
                    </a:prstGeom>
                    <a:ln w="12700" cap="flat" cmpd="sng">
                      <a:solidFill>
                        <a:schemeClr val="tx1"/>
                      </a:solidFill>
                      <a:prstDash val="solid"/>
                      <a:round/>
                      <a:headEnd type="none" w="med" len="med"/>
                      <a:tailEnd type="none" w="med" len="med"/>
                    </a:ln>
                  </p:spPr>
                </p:sp>
                <p:sp>
                  <p:nvSpPr>
                    <p:cNvPr id="87104" name="Freeform 65"/>
                    <p:cNvSpPr/>
                    <p:nvPr/>
                  </p:nvSpPr>
                  <p:spPr>
                    <a:xfrm>
                      <a:off x="2084" y="1632"/>
                      <a:ext cx="38" cy="240"/>
                    </a:xfrm>
                    <a:custGeom>
                      <a:avLst/>
                      <a:gdLst/>
                      <a:ahLst/>
                      <a:cxnLst>
                        <a:cxn ang="0">
                          <a:pos x="28" y="0"/>
                        </a:cxn>
                        <a:cxn ang="0">
                          <a:pos x="1" y="90"/>
                        </a:cxn>
                        <a:cxn ang="0">
                          <a:pos x="34" y="168"/>
                        </a:cxn>
                        <a:cxn ang="0">
                          <a:pos x="28" y="240"/>
                        </a:cxn>
                      </a:cxnLst>
                      <a:pathLst>
                        <a:path w="38" h="240">
                          <a:moveTo>
                            <a:pt x="28" y="0"/>
                          </a:moveTo>
                          <a:cubicBezTo>
                            <a:pt x="24" y="15"/>
                            <a:pt x="0" y="62"/>
                            <a:pt x="1" y="90"/>
                          </a:cubicBezTo>
                          <a:cubicBezTo>
                            <a:pt x="2" y="118"/>
                            <a:pt x="30" y="143"/>
                            <a:pt x="34" y="168"/>
                          </a:cubicBezTo>
                          <a:cubicBezTo>
                            <a:pt x="38" y="193"/>
                            <a:pt x="29" y="225"/>
                            <a:pt x="28" y="240"/>
                          </a:cubicBez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105" name="Line 66"/>
                  <p:cNvSpPr/>
                  <p:nvPr/>
                </p:nvSpPr>
                <p:spPr>
                  <a:xfrm flipH="1">
                    <a:off x="3270" y="1623"/>
                    <a:ext cx="16" cy="57"/>
                  </a:xfrm>
                  <a:prstGeom prst="line">
                    <a:avLst/>
                  </a:prstGeom>
                  <a:ln w="12700" cap="flat" cmpd="sng">
                    <a:solidFill>
                      <a:schemeClr val="tx1"/>
                    </a:solidFill>
                    <a:prstDash val="solid"/>
                    <a:round/>
                    <a:headEnd type="none" w="med" len="med"/>
                    <a:tailEnd type="none" w="med" len="med"/>
                  </a:ln>
                </p:spPr>
              </p:sp>
            </p:grpSp>
            <p:grpSp>
              <p:nvGrpSpPr>
                <p:cNvPr id="87106" name="Group 67"/>
                <p:cNvGrpSpPr/>
                <p:nvPr/>
              </p:nvGrpSpPr>
              <p:grpSpPr>
                <a:xfrm>
                  <a:off x="2352" y="1870"/>
                  <a:ext cx="816" cy="1141"/>
                  <a:chOff x="2352" y="1200"/>
                  <a:chExt cx="816" cy="1141"/>
                </a:xfrm>
              </p:grpSpPr>
              <p:grpSp>
                <p:nvGrpSpPr>
                  <p:cNvPr id="87107" name="Group 68"/>
                  <p:cNvGrpSpPr/>
                  <p:nvPr/>
                </p:nvGrpSpPr>
                <p:grpSpPr>
                  <a:xfrm>
                    <a:off x="2352" y="1200"/>
                    <a:ext cx="816" cy="864"/>
                    <a:chOff x="2352" y="1200"/>
                    <a:chExt cx="816" cy="864"/>
                  </a:xfrm>
                </p:grpSpPr>
                <p:sp>
                  <p:nvSpPr>
                    <p:cNvPr id="87108" name="Oval 69"/>
                    <p:cNvSpPr/>
                    <p:nvPr/>
                  </p:nvSpPr>
                  <p:spPr>
                    <a:xfrm>
                      <a:off x="2448" y="1296"/>
                      <a:ext cx="672" cy="672"/>
                    </a:xfrm>
                    <a:prstGeom prst="ellipse">
                      <a:avLst/>
                    </a:prstGeom>
                    <a:noFill/>
                    <a:ln w="19050"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109" name="Line 70"/>
                    <p:cNvSpPr/>
                    <p:nvPr/>
                  </p:nvSpPr>
                  <p:spPr>
                    <a:xfrm>
                      <a:off x="2352" y="1632"/>
                      <a:ext cx="816" cy="0"/>
                    </a:xfrm>
                    <a:prstGeom prst="line">
                      <a:avLst/>
                    </a:prstGeom>
                    <a:ln w="9525" cap="flat" cmpd="sng">
                      <a:solidFill>
                        <a:schemeClr val="tx1"/>
                      </a:solidFill>
                      <a:prstDash val="lgDashDot"/>
                      <a:round/>
                      <a:headEnd type="none" w="med" len="med"/>
                      <a:tailEnd type="none" w="med" len="med"/>
                    </a:ln>
                  </p:spPr>
                </p:sp>
                <p:sp>
                  <p:nvSpPr>
                    <p:cNvPr id="87110" name="Line 71"/>
                    <p:cNvSpPr/>
                    <p:nvPr/>
                  </p:nvSpPr>
                  <p:spPr>
                    <a:xfrm>
                      <a:off x="2784" y="1200"/>
                      <a:ext cx="0" cy="864"/>
                    </a:xfrm>
                    <a:prstGeom prst="line">
                      <a:avLst/>
                    </a:prstGeom>
                    <a:ln w="9525" cap="flat" cmpd="sng">
                      <a:solidFill>
                        <a:schemeClr val="tx1"/>
                      </a:solidFill>
                      <a:prstDash val="lgDashDot"/>
                      <a:round/>
                      <a:headEnd type="none" w="med" len="med"/>
                      <a:tailEnd type="none" w="med" len="med"/>
                    </a:ln>
                  </p:spPr>
                </p:sp>
              </p:grpSp>
              <p:sp>
                <p:nvSpPr>
                  <p:cNvPr id="87111" name="Text Box 72"/>
                  <p:cNvSpPr txBox="1"/>
                  <p:nvPr/>
                </p:nvSpPr>
                <p:spPr>
                  <a:xfrm>
                    <a:off x="2688" y="2160"/>
                    <a:ext cx="336" cy="181"/>
                  </a:xfrm>
                  <a:prstGeom prst="rect">
                    <a:avLst/>
                  </a:prstGeom>
                  <a:noFill/>
                  <a:ln w="9525">
                    <a:noFill/>
                  </a:ln>
                </p:spPr>
                <p:txBody>
                  <a:bodyPr lIns="0" tIns="0" rIns="0" bIns="0" anchor="t" anchorCtr="0"/>
                  <a:p>
                    <a:pPr algn="ctr" eaLnBrk="0" hangingPunct="0">
                      <a:spcBef>
                        <a:spcPct val="50000"/>
                      </a:spcBef>
                    </a:pPr>
                    <a:r>
                      <a:rPr lang="en-US" altLang="zh-CN" sz="1600" b="1" dirty="0">
                        <a:latin typeface="Times New Roman" panose="02020603050405020304" pitchFamily="18" charset="0"/>
                        <a:ea typeface="宋体" panose="02010600030101010101" pitchFamily="2" charset="-122"/>
                      </a:rPr>
                      <a:t>b</a:t>
                    </a:r>
                    <a:r>
                      <a:rPr lang="zh-CN" altLang="en-US" sz="1600" b="1" dirty="0">
                        <a:latin typeface="Times New Roman" panose="02020603050405020304" pitchFamily="18" charset="0"/>
                        <a:ea typeface="宋体" panose="02010600030101010101" pitchFamily="2" charset="-122"/>
                      </a:rPr>
                      <a:t>）</a:t>
                    </a:r>
                    <a:endParaRPr lang="zh-CN" altLang="en-US" sz="1600" b="1" baseline="-25000" dirty="0">
                      <a:latin typeface="Times New Roman" panose="02020603050405020304" pitchFamily="18" charset="0"/>
                      <a:ea typeface="宋体" panose="02010600030101010101" pitchFamily="2" charset="-122"/>
                    </a:endParaRPr>
                  </a:p>
                </p:txBody>
              </p:sp>
            </p:grpSp>
            <p:grpSp>
              <p:nvGrpSpPr>
                <p:cNvPr id="87112" name="Group 73"/>
                <p:cNvGrpSpPr/>
                <p:nvPr/>
              </p:nvGrpSpPr>
              <p:grpSpPr>
                <a:xfrm>
                  <a:off x="4392" y="2334"/>
                  <a:ext cx="576" cy="600"/>
                  <a:chOff x="4392" y="1664"/>
                  <a:chExt cx="576" cy="600"/>
                </a:xfrm>
              </p:grpSpPr>
              <p:sp>
                <p:nvSpPr>
                  <p:cNvPr id="87113" name="Line 74"/>
                  <p:cNvSpPr/>
                  <p:nvPr/>
                </p:nvSpPr>
                <p:spPr>
                  <a:xfrm flipH="1">
                    <a:off x="4608" y="1664"/>
                    <a:ext cx="48" cy="448"/>
                  </a:xfrm>
                  <a:prstGeom prst="line">
                    <a:avLst/>
                  </a:prstGeom>
                  <a:ln w="9525" cap="flat" cmpd="sng">
                    <a:solidFill>
                      <a:schemeClr val="tx1"/>
                    </a:solidFill>
                    <a:prstDash val="solid"/>
                    <a:round/>
                    <a:headEnd type="none" w="med" len="med"/>
                    <a:tailEnd type="none" w="med" len="med"/>
                  </a:ln>
                </p:spPr>
              </p:sp>
              <p:sp>
                <p:nvSpPr>
                  <p:cNvPr id="87114" name="Line 75"/>
                  <p:cNvSpPr/>
                  <p:nvPr/>
                </p:nvSpPr>
                <p:spPr>
                  <a:xfrm>
                    <a:off x="4656" y="1664"/>
                    <a:ext cx="91" cy="432"/>
                  </a:xfrm>
                  <a:prstGeom prst="line">
                    <a:avLst/>
                  </a:prstGeom>
                  <a:ln w="9525" cap="flat" cmpd="sng">
                    <a:solidFill>
                      <a:schemeClr val="tx1"/>
                    </a:solidFill>
                    <a:prstDash val="solid"/>
                    <a:round/>
                    <a:headEnd type="none" w="med" len="med"/>
                    <a:tailEnd type="none" w="med" len="med"/>
                  </a:ln>
                </p:spPr>
              </p:sp>
              <p:sp>
                <p:nvSpPr>
                  <p:cNvPr id="87115" name="Freeform 76"/>
                  <p:cNvSpPr/>
                  <p:nvPr/>
                </p:nvSpPr>
                <p:spPr>
                  <a:xfrm rot="4599205">
                    <a:off x="4799" y="1952"/>
                    <a:ext cx="10" cy="140"/>
                  </a:xfrm>
                  <a:custGeom>
                    <a:avLst/>
                    <a:gdLst/>
                    <a:ahLst/>
                    <a:cxnLst>
                      <a:cxn ang="0">
                        <a:pos x="0" y="0"/>
                      </a:cxn>
                      <a:cxn ang="0">
                        <a:pos x="8" y="60"/>
                      </a:cxn>
                      <a:cxn ang="0">
                        <a:pos x="10" y="140"/>
                      </a:cxn>
                    </a:cxnLst>
                    <a:pathLst>
                      <a:path w="10" h="140">
                        <a:moveTo>
                          <a:pt x="0" y="0"/>
                        </a:moveTo>
                        <a:cubicBezTo>
                          <a:pt x="2" y="10"/>
                          <a:pt x="6" y="37"/>
                          <a:pt x="8" y="60"/>
                        </a:cubicBezTo>
                        <a:cubicBezTo>
                          <a:pt x="10" y="83"/>
                          <a:pt x="10" y="123"/>
                          <a:pt x="10" y="14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16" name="Freeform 77"/>
                  <p:cNvSpPr/>
                  <p:nvPr/>
                </p:nvSpPr>
                <p:spPr>
                  <a:xfrm>
                    <a:off x="4620" y="2043"/>
                    <a:ext cx="123" cy="14"/>
                  </a:xfrm>
                  <a:custGeom>
                    <a:avLst/>
                    <a:gdLst/>
                    <a:ahLst/>
                    <a:cxnLst>
                      <a:cxn ang="0">
                        <a:pos x="123" y="0"/>
                      </a:cxn>
                      <a:cxn ang="0">
                        <a:pos x="63" y="12"/>
                      </a:cxn>
                      <a:cxn ang="0">
                        <a:pos x="0" y="12"/>
                      </a:cxn>
                    </a:cxnLst>
                    <a:pathLst>
                      <a:path w="123" h="14">
                        <a:moveTo>
                          <a:pt x="123" y="0"/>
                        </a:moveTo>
                        <a:cubicBezTo>
                          <a:pt x="113" y="2"/>
                          <a:pt x="83" y="10"/>
                          <a:pt x="63" y="12"/>
                        </a:cubicBezTo>
                        <a:cubicBezTo>
                          <a:pt x="43" y="14"/>
                          <a:pt x="13" y="12"/>
                          <a:pt x="0" y="12"/>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17" name="Freeform 78"/>
                  <p:cNvSpPr/>
                  <p:nvPr/>
                </p:nvSpPr>
                <p:spPr>
                  <a:xfrm>
                    <a:off x="4458" y="2030"/>
                    <a:ext cx="165" cy="28"/>
                  </a:xfrm>
                  <a:custGeom>
                    <a:avLst/>
                    <a:gdLst/>
                    <a:ahLst/>
                    <a:cxnLst>
                      <a:cxn ang="0">
                        <a:pos x="0" y="0"/>
                      </a:cxn>
                      <a:cxn ang="0">
                        <a:pos x="60" y="12"/>
                      </a:cxn>
                      <a:cxn ang="0">
                        <a:pos x="165" y="28"/>
                      </a:cxn>
                    </a:cxnLst>
                    <a:pathLst>
                      <a:path w="165" h="28">
                        <a:moveTo>
                          <a:pt x="0" y="0"/>
                        </a:moveTo>
                        <a:cubicBezTo>
                          <a:pt x="10" y="3"/>
                          <a:pt x="33" y="7"/>
                          <a:pt x="60" y="12"/>
                        </a:cubicBezTo>
                        <a:cubicBezTo>
                          <a:pt x="87" y="17"/>
                          <a:pt x="143" y="25"/>
                          <a:pt x="165" y="28"/>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18" name="Text Box 79"/>
                  <p:cNvSpPr txBox="1"/>
                  <p:nvPr/>
                </p:nvSpPr>
                <p:spPr>
                  <a:xfrm>
                    <a:off x="4392" y="2083"/>
                    <a:ext cx="576" cy="181"/>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α</a:t>
                    </a:r>
                    <a:r>
                      <a:rPr lang="en-US" altLang="zh-CN" sz="1400" i="1" baseline="-25000" dirty="0">
                        <a:latin typeface="Times New Roman" panose="02020603050405020304" pitchFamily="18" charset="0"/>
                        <a:ea typeface="宋体" panose="02010600030101010101" pitchFamily="2" charset="-122"/>
                      </a:rPr>
                      <a:t> </a:t>
                    </a:r>
                    <a:r>
                      <a:rPr lang="en-US" altLang="zh-CN" sz="1400" baseline="-25000" dirty="0">
                        <a:latin typeface="Times New Roman" panose="02020603050405020304" pitchFamily="18" charset="0"/>
                        <a:ea typeface="宋体" panose="02010600030101010101" pitchFamily="2" charset="-122"/>
                      </a:rPr>
                      <a:t>0</a:t>
                    </a:r>
                    <a:r>
                      <a:rPr lang="en-US" altLang="zh-CN" sz="1400" i="1" baseline="-25000" dirty="0">
                        <a:latin typeface="Times New Roman" panose="02020603050405020304" pitchFamily="18" charset="0"/>
                        <a:ea typeface="宋体" panose="02010600030101010101" pitchFamily="2" charset="-122"/>
                      </a:rPr>
                      <a:t>e</a:t>
                    </a:r>
                    <a:r>
                      <a:rPr lang="zh-CN" altLang="en-US" sz="1400" i="1"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α</a:t>
                    </a:r>
                    <a:r>
                      <a:rPr lang="en-US" altLang="zh-CN" sz="1400" baseline="-25000" dirty="0">
                        <a:latin typeface="Times New Roman" panose="02020603050405020304" pitchFamily="18" charset="0"/>
                        <a:ea typeface="宋体" panose="02010600030101010101" pitchFamily="2" charset="-122"/>
                      </a:rPr>
                      <a:t>0</a:t>
                    </a:r>
                    <a:endParaRPr lang="en-US" altLang="zh-CN" sz="1400" baseline="-25000" dirty="0">
                      <a:latin typeface="Times New Roman" panose="02020603050405020304" pitchFamily="18" charset="0"/>
                      <a:ea typeface="宋体" panose="02010600030101010101" pitchFamily="2" charset="-122"/>
                    </a:endParaRPr>
                  </a:p>
                </p:txBody>
              </p:sp>
            </p:grpSp>
            <p:grpSp>
              <p:nvGrpSpPr>
                <p:cNvPr id="87119" name="Group 80"/>
                <p:cNvGrpSpPr/>
                <p:nvPr/>
              </p:nvGrpSpPr>
              <p:grpSpPr>
                <a:xfrm>
                  <a:off x="4653" y="2350"/>
                  <a:ext cx="397" cy="240"/>
                  <a:chOff x="3117" y="1584"/>
                  <a:chExt cx="397" cy="240"/>
                </a:xfrm>
              </p:grpSpPr>
              <p:grpSp>
                <p:nvGrpSpPr>
                  <p:cNvPr id="87120" name="Group 81"/>
                  <p:cNvGrpSpPr/>
                  <p:nvPr/>
                </p:nvGrpSpPr>
                <p:grpSpPr>
                  <a:xfrm>
                    <a:off x="3117" y="1584"/>
                    <a:ext cx="397" cy="240"/>
                    <a:chOff x="1725" y="1632"/>
                    <a:chExt cx="397" cy="240"/>
                  </a:xfrm>
                </p:grpSpPr>
                <p:grpSp>
                  <p:nvGrpSpPr>
                    <p:cNvPr id="87121" name="Group 82"/>
                    <p:cNvGrpSpPr/>
                    <p:nvPr/>
                  </p:nvGrpSpPr>
                  <p:grpSpPr>
                    <a:xfrm>
                      <a:off x="1725" y="1640"/>
                      <a:ext cx="162" cy="66"/>
                      <a:chOff x="1725" y="1638"/>
                      <a:chExt cx="162" cy="66"/>
                    </a:xfrm>
                  </p:grpSpPr>
                  <p:sp>
                    <p:nvSpPr>
                      <p:cNvPr id="87122" name="Rectangle 83"/>
                      <p:cNvSpPr/>
                      <p:nvPr/>
                    </p:nvSpPr>
                    <p:spPr>
                      <a:xfrm rot="914563">
                        <a:off x="1743" y="1656"/>
                        <a:ext cx="144" cy="48"/>
                      </a:xfrm>
                      <a:prstGeom prst="rect">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123" name="AutoShape 84"/>
                      <p:cNvSpPr/>
                      <p:nvPr/>
                    </p:nvSpPr>
                    <p:spPr>
                      <a:xfrm rot="-9900000">
                        <a:off x="1725" y="1638"/>
                        <a:ext cx="23" cy="32"/>
                      </a:xfrm>
                      <a:prstGeom prst="rtTriangle">
                        <a:avLst/>
                      </a:prstGeom>
                      <a:no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87124" name="Line 85"/>
                    <p:cNvSpPr/>
                    <p:nvPr/>
                  </p:nvSpPr>
                  <p:spPr>
                    <a:xfrm>
                      <a:off x="1728" y="1632"/>
                      <a:ext cx="192" cy="48"/>
                    </a:xfrm>
                    <a:prstGeom prst="line">
                      <a:avLst/>
                    </a:prstGeom>
                    <a:ln w="12700" cap="flat" cmpd="sng">
                      <a:solidFill>
                        <a:schemeClr val="tx1"/>
                      </a:solidFill>
                      <a:prstDash val="solid"/>
                      <a:round/>
                      <a:headEnd type="none" w="med" len="med"/>
                      <a:tailEnd type="none" w="med" len="med"/>
                    </a:ln>
                  </p:spPr>
                </p:sp>
                <p:sp>
                  <p:nvSpPr>
                    <p:cNvPr id="87125" name="Line 86"/>
                    <p:cNvSpPr/>
                    <p:nvPr/>
                  </p:nvSpPr>
                  <p:spPr>
                    <a:xfrm flipV="1">
                      <a:off x="1920" y="1632"/>
                      <a:ext cx="48" cy="48"/>
                    </a:xfrm>
                    <a:prstGeom prst="line">
                      <a:avLst/>
                    </a:prstGeom>
                    <a:ln w="12700" cap="flat" cmpd="sng">
                      <a:solidFill>
                        <a:schemeClr val="tx1"/>
                      </a:solidFill>
                      <a:prstDash val="solid"/>
                      <a:round/>
                      <a:headEnd type="none" w="med" len="med"/>
                      <a:tailEnd type="none" w="med" len="med"/>
                    </a:ln>
                  </p:spPr>
                </p:sp>
                <p:sp>
                  <p:nvSpPr>
                    <p:cNvPr id="87126" name="Line 87"/>
                    <p:cNvSpPr/>
                    <p:nvPr/>
                  </p:nvSpPr>
                  <p:spPr>
                    <a:xfrm flipV="1">
                      <a:off x="1968" y="1632"/>
                      <a:ext cx="144" cy="0"/>
                    </a:xfrm>
                    <a:prstGeom prst="line">
                      <a:avLst/>
                    </a:prstGeom>
                    <a:ln w="12700" cap="flat" cmpd="sng">
                      <a:solidFill>
                        <a:schemeClr val="tx1"/>
                      </a:solidFill>
                      <a:prstDash val="solid"/>
                      <a:round/>
                      <a:headEnd type="none" w="med" len="med"/>
                      <a:tailEnd type="none" w="med" len="med"/>
                    </a:ln>
                  </p:spPr>
                </p:sp>
                <p:sp>
                  <p:nvSpPr>
                    <p:cNvPr id="87127" name="Line 88"/>
                    <p:cNvSpPr/>
                    <p:nvPr/>
                  </p:nvSpPr>
                  <p:spPr>
                    <a:xfrm>
                      <a:off x="1728" y="1632"/>
                      <a:ext cx="48" cy="240"/>
                    </a:xfrm>
                    <a:prstGeom prst="line">
                      <a:avLst/>
                    </a:prstGeom>
                    <a:ln w="12700" cap="flat" cmpd="sng">
                      <a:solidFill>
                        <a:schemeClr val="tx1"/>
                      </a:solidFill>
                      <a:prstDash val="solid"/>
                      <a:round/>
                      <a:headEnd type="none" w="med" len="med"/>
                      <a:tailEnd type="none" w="med" len="med"/>
                    </a:ln>
                  </p:spPr>
                </p:sp>
                <p:sp>
                  <p:nvSpPr>
                    <p:cNvPr id="87128" name="Line 89"/>
                    <p:cNvSpPr/>
                    <p:nvPr/>
                  </p:nvSpPr>
                  <p:spPr>
                    <a:xfrm>
                      <a:off x="1776" y="1872"/>
                      <a:ext cx="336" cy="0"/>
                    </a:xfrm>
                    <a:prstGeom prst="line">
                      <a:avLst/>
                    </a:prstGeom>
                    <a:ln w="12700" cap="flat" cmpd="sng">
                      <a:solidFill>
                        <a:schemeClr val="tx1"/>
                      </a:solidFill>
                      <a:prstDash val="solid"/>
                      <a:round/>
                      <a:headEnd type="none" w="med" len="med"/>
                      <a:tailEnd type="none" w="med" len="med"/>
                    </a:ln>
                  </p:spPr>
                </p:sp>
                <p:sp>
                  <p:nvSpPr>
                    <p:cNvPr id="87129" name="Line 90"/>
                    <p:cNvSpPr/>
                    <p:nvPr/>
                  </p:nvSpPr>
                  <p:spPr>
                    <a:xfrm>
                      <a:off x="1740" y="1691"/>
                      <a:ext cx="141" cy="39"/>
                    </a:xfrm>
                    <a:prstGeom prst="line">
                      <a:avLst/>
                    </a:prstGeom>
                    <a:ln w="12700" cap="flat" cmpd="sng">
                      <a:solidFill>
                        <a:schemeClr val="tx1"/>
                      </a:solidFill>
                      <a:prstDash val="solid"/>
                      <a:round/>
                      <a:headEnd type="none" w="med" len="med"/>
                      <a:tailEnd type="none" w="med" len="med"/>
                    </a:ln>
                  </p:spPr>
                </p:sp>
                <p:sp>
                  <p:nvSpPr>
                    <p:cNvPr id="87130" name="Freeform 91"/>
                    <p:cNvSpPr/>
                    <p:nvPr/>
                  </p:nvSpPr>
                  <p:spPr>
                    <a:xfrm>
                      <a:off x="2084" y="1632"/>
                      <a:ext cx="38" cy="240"/>
                    </a:xfrm>
                    <a:custGeom>
                      <a:avLst/>
                      <a:gdLst/>
                      <a:ahLst/>
                      <a:cxnLst>
                        <a:cxn ang="0">
                          <a:pos x="28" y="0"/>
                        </a:cxn>
                        <a:cxn ang="0">
                          <a:pos x="1" y="90"/>
                        </a:cxn>
                        <a:cxn ang="0">
                          <a:pos x="34" y="168"/>
                        </a:cxn>
                        <a:cxn ang="0">
                          <a:pos x="28" y="240"/>
                        </a:cxn>
                      </a:cxnLst>
                      <a:pathLst>
                        <a:path w="38" h="240">
                          <a:moveTo>
                            <a:pt x="28" y="0"/>
                          </a:moveTo>
                          <a:cubicBezTo>
                            <a:pt x="24" y="15"/>
                            <a:pt x="0" y="62"/>
                            <a:pt x="1" y="90"/>
                          </a:cubicBezTo>
                          <a:cubicBezTo>
                            <a:pt x="2" y="118"/>
                            <a:pt x="30" y="143"/>
                            <a:pt x="34" y="168"/>
                          </a:cubicBezTo>
                          <a:cubicBezTo>
                            <a:pt x="38" y="193"/>
                            <a:pt x="29" y="225"/>
                            <a:pt x="28" y="240"/>
                          </a:cubicBezTo>
                        </a:path>
                      </a:pathLst>
                    </a:custGeom>
                    <a:noFill/>
                    <a:ln w="9525" cap="flat" cmpd="sng">
                      <a:solidFill>
                        <a:schemeClr val="tx1"/>
                      </a:solidFill>
                      <a:prstDash val="solid"/>
                      <a:round/>
                      <a:headEnd type="none" w="med" len="med"/>
                      <a:tailEnd type="none" w="med" len="med"/>
                    </a:ln>
                  </p:spPr>
                  <p:txBody>
                    <a:bodyPr/>
                    <a:p>
                      <a:endParaRPr lang="zh-CN" altLang="en-US"/>
                    </a:p>
                  </p:txBody>
                </p:sp>
              </p:grpSp>
              <p:sp>
                <p:nvSpPr>
                  <p:cNvPr id="87131" name="Line 92"/>
                  <p:cNvSpPr/>
                  <p:nvPr/>
                </p:nvSpPr>
                <p:spPr>
                  <a:xfrm flipH="1">
                    <a:off x="3270" y="1623"/>
                    <a:ext cx="16" cy="57"/>
                  </a:xfrm>
                  <a:prstGeom prst="line">
                    <a:avLst/>
                  </a:prstGeom>
                  <a:ln w="12700" cap="flat" cmpd="sng">
                    <a:solidFill>
                      <a:schemeClr val="tx1"/>
                    </a:solidFill>
                    <a:prstDash val="solid"/>
                    <a:round/>
                    <a:headEnd type="none" w="med" len="med"/>
                    <a:tailEnd type="none" w="med" len="med"/>
                  </a:ln>
                </p:spPr>
              </p:sp>
            </p:grpSp>
            <p:grpSp>
              <p:nvGrpSpPr>
                <p:cNvPr id="87132" name="Group 93"/>
                <p:cNvGrpSpPr/>
                <p:nvPr/>
              </p:nvGrpSpPr>
              <p:grpSpPr>
                <a:xfrm>
                  <a:off x="3888" y="1870"/>
                  <a:ext cx="816" cy="1141"/>
                  <a:chOff x="3888" y="1200"/>
                  <a:chExt cx="816" cy="1141"/>
                </a:xfrm>
              </p:grpSpPr>
              <p:grpSp>
                <p:nvGrpSpPr>
                  <p:cNvPr id="87133" name="Group 94"/>
                  <p:cNvGrpSpPr/>
                  <p:nvPr/>
                </p:nvGrpSpPr>
                <p:grpSpPr>
                  <a:xfrm>
                    <a:off x="3888" y="1200"/>
                    <a:ext cx="816" cy="864"/>
                    <a:chOff x="2352" y="1200"/>
                    <a:chExt cx="816" cy="864"/>
                  </a:xfrm>
                </p:grpSpPr>
                <p:sp>
                  <p:nvSpPr>
                    <p:cNvPr id="87134" name="Oval 95"/>
                    <p:cNvSpPr/>
                    <p:nvPr/>
                  </p:nvSpPr>
                  <p:spPr>
                    <a:xfrm>
                      <a:off x="2448" y="1296"/>
                      <a:ext cx="672" cy="672"/>
                    </a:xfrm>
                    <a:prstGeom prst="ellipse">
                      <a:avLst/>
                    </a:prstGeom>
                    <a:noFill/>
                    <a:ln w="12700"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87135" name="Line 96"/>
                    <p:cNvSpPr/>
                    <p:nvPr/>
                  </p:nvSpPr>
                  <p:spPr>
                    <a:xfrm>
                      <a:off x="2352" y="1632"/>
                      <a:ext cx="816" cy="0"/>
                    </a:xfrm>
                    <a:prstGeom prst="line">
                      <a:avLst/>
                    </a:prstGeom>
                    <a:ln w="9525" cap="flat" cmpd="sng">
                      <a:solidFill>
                        <a:schemeClr val="tx1"/>
                      </a:solidFill>
                      <a:prstDash val="lgDashDot"/>
                      <a:round/>
                      <a:headEnd type="none" w="med" len="med"/>
                      <a:tailEnd type="none" w="med" len="med"/>
                    </a:ln>
                  </p:spPr>
                </p:sp>
                <p:sp>
                  <p:nvSpPr>
                    <p:cNvPr id="87136" name="Line 97"/>
                    <p:cNvSpPr/>
                    <p:nvPr/>
                  </p:nvSpPr>
                  <p:spPr>
                    <a:xfrm>
                      <a:off x="2784" y="1200"/>
                      <a:ext cx="0" cy="864"/>
                    </a:xfrm>
                    <a:prstGeom prst="line">
                      <a:avLst/>
                    </a:prstGeom>
                    <a:ln w="9525" cap="flat" cmpd="sng">
                      <a:solidFill>
                        <a:schemeClr val="tx1"/>
                      </a:solidFill>
                      <a:prstDash val="lgDashDot"/>
                      <a:round/>
                      <a:headEnd type="none" w="med" len="med"/>
                      <a:tailEnd type="none" w="med" len="med"/>
                    </a:ln>
                  </p:spPr>
                </p:sp>
              </p:grpSp>
              <p:sp>
                <p:nvSpPr>
                  <p:cNvPr id="87137" name="Text Box 98"/>
                  <p:cNvSpPr txBox="1"/>
                  <p:nvPr/>
                </p:nvSpPr>
                <p:spPr>
                  <a:xfrm>
                    <a:off x="4128" y="2160"/>
                    <a:ext cx="336" cy="181"/>
                  </a:xfrm>
                  <a:prstGeom prst="rect">
                    <a:avLst/>
                  </a:prstGeom>
                  <a:noFill/>
                  <a:ln w="9525">
                    <a:noFill/>
                  </a:ln>
                </p:spPr>
                <p:txBody>
                  <a:bodyPr lIns="0" tIns="0" rIns="0" bIns="0" anchor="t" anchorCtr="0"/>
                  <a:p>
                    <a:pPr algn="ctr" eaLnBrk="0" hangingPunct="0">
                      <a:spcBef>
                        <a:spcPct val="50000"/>
                      </a:spcBef>
                    </a:pPr>
                    <a:r>
                      <a:rPr lang="en-US" altLang="zh-CN" sz="1600" b="1" dirty="0">
                        <a:latin typeface="Times New Roman" panose="02020603050405020304" pitchFamily="18" charset="0"/>
                        <a:ea typeface="宋体" panose="02010600030101010101" pitchFamily="2" charset="-122"/>
                      </a:rPr>
                      <a:t>c</a:t>
                    </a:r>
                    <a:r>
                      <a:rPr lang="zh-CN" altLang="en-US" sz="1600" b="1" dirty="0">
                        <a:latin typeface="Times New Roman" panose="02020603050405020304" pitchFamily="18" charset="0"/>
                        <a:ea typeface="宋体" panose="02010600030101010101" pitchFamily="2" charset="-122"/>
                      </a:rPr>
                      <a:t>）</a:t>
                    </a:r>
                    <a:endParaRPr lang="zh-CN" altLang="en-US" sz="1600" b="1" baseline="-25000" dirty="0">
                      <a:latin typeface="Times New Roman" panose="02020603050405020304" pitchFamily="18" charset="0"/>
                      <a:ea typeface="宋体" panose="02010600030101010101" pitchFamily="2" charset="-122"/>
                    </a:endParaRPr>
                  </a:p>
                </p:txBody>
              </p:sp>
            </p:grpSp>
            <p:grpSp>
              <p:nvGrpSpPr>
                <p:cNvPr id="87138" name="Group 99"/>
                <p:cNvGrpSpPr/>
                <p:nvPr/>
              </p:nvGrpSpPr>
              <p:grpSpPr>
                <a:xfrm>
                  <a:off x="4317" y="2062"/>
                  <a:ext cx="915" cy="570"/>
                  <a:chOff x="4317" y="1392"/>
                  <a:chExt cx="915" cy="570"/>
                </a:xfrm>
              </p:grpSpPr>
              <p:grpSp>
                <p:nvGrpSpPr>
                  <p:cNvPr id="87139" name="Group 100"/>
                  <p:cNvGrpSpPr/>
                  <p:nvPr/>
                </p:nvGrpSpPr>
                <p:grpSpPr>
                  <a:xfrm>
                    <a:off x="4656" y="1392"/>
                    <a:ext cx="576" cy="570"/>
                    <a:chOff x="4656" y="1392"/>
                    <a:chExt cx="576" cy="570"/>
                  </a:xfrm>
                </p:grpSpPr>
                <p:sp>
                  <p:nvSpPr>
                    <p:cNvPr id="87140" name="Line 101"/>
                    <p:cNvSpPr/>
                    <p:nvPr/>
                  </p:nvSpPr>
                  <p:spPr>
                    <a:xfrm>
                      <a:off x="4656" y="1682"/>
                      <a:ext cx="480" cy="122"/>
                    </a:xfrm>
                    <a:prstGeom prst="line">
                      <a:avLst/>
                    </a:prstGeom>
                    <a:ln w="9525" cap="flat" cmpd="sng">
                      <a:solidFill>
                        <a:schemeClr val="tx1"/>
                      </a:solidFill>
                      <a:prstDash val="solid"/>
                      <a:round/>
                      <a:headEnd type="none" w="med" len="med"/>
                      <a:tailEnd type="none" w="med" len="med"/>
                    </a:ln>
                  </p:spPr>
                </p:sp>
                <p:sp>
                  <p:nvSpPr>
                    <p:cNvPr id="87141" name="Freeform 102"/>
                    <p:cNvSpPr/>
                    <p:nvPr/>
                  </p:nvSpPr>
                  <p:spPr>
                    <a:xfrm>
                      <a:off x="5115" y="1581"/>
                      <a:ext cx="10" cy="156"/>
                    </a:xfrm>
                    <a:custGeom>
                      <a:avLst/>
                      <a:gdLst/>
                      <a:ahLst/>
                      <a:cxnLst>
                        <a:cxn ang="0">
                          <a:pos x="6" y="0"/>
                        </a:cxn>
                        <a:cxn ang="0">
                          <a:pos x="9" y="84"/>
                        </a:cxn>
                        <a:cxn ang="0">
                          <a:pos x="0" y="156"/>
                        </a:cxn>
                      </a:cxnLst>
                      <a:pathLst>
                        <a:path w="10" h="156">
                          <a:moveTo>
                            <a:pt x="6" y="0"/>
                          </a:moveTo>
                          <a:cubicBezTo>
                            <a:pt x="7" y="14"/>
                            <a:pt x="10" y="58"/>
                            <a:pt x="9" y="84"/>
                          </a:cubicBezTo>
                          <a:cubicBezTo>
                            <a:pt x="8" y="110"/>
                            <a:pt x="2" y="141"/>
                            <a:pt x="0" y="156"/>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42" name="Freeform 103"/>
                    <p:cNvSpPr/>
                    <p:nvPr/>
                  </p:nvSpPr>
                  <p:spPr>
                    <a:xfrm>
                      <a:off x="5109" y="1692"/>
                      <a:ext cx="18" cy="111"/>
                    </a:xfrm>
                    <a:custGeom>
                      <a:avLst/>
                      <a:gdLst/>
                      <a:ahLst/>
                      <a:cxnLst>
                        <a:cxn ang="0">
                          <a:pos x="18" y="0"/>
                        </a:cxn>
                        <a:cxn ang="0">
                          <a:pos x="12" y="51"/>
                        </a:cxn>
                        <a:cxn ang="0">
                          <a:pos x="0" y="111"/>
                        </a:cxn>
                      </a:cxnLst>
                      <a:pathLst>
                        <a:path w="18" h="111">
                          <a:moveTo>
                            <a:pt x="18" y="0"/>
                          </a:moveTo>
                          <a:cubicBezTo>
                            <a:pt x="18" y="8"/>
                            <a:pt x="15" y="33"/>
                            <a:pt x="12" y="51"/>
                          </a:cubicBezTo>
                          <a:cubicBezTo>
                            <a:pt x="9" y="69"/>
                            <a:pt x="2" y="99"/>
                            <a:pt x="0" y="111"/>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43" name="Freeform 104"/>
                    <p:cNvSpPr/>
                    <p:nvPr/>
                  </p:nvSpPr>
                  <p:spPr>
                    <a:xfrm>
                      <a:off x="5055" y="1796"/>
                      <a:ext cx="53" cy="166"/>
                    </a:xfrm>
                    <a:custGeom>
                      <a:avLst/>
                      <a:gdLst/>
                      <a:ahLst/>
                      <a:cxnLst>
                        <a:cxn ang="0">
                          <a:pos x="0" y="166"/>
                        </a:cxn>
                        <a:cxn ang="0">
                          <a:pos x="27" y="96"/>
                        </a:cxn>
                        <a:cxn ang="0">
                          <a:pos x="53" y="0"/>
                        </a:cxn>
                      </a:cxnLst>
                      <a:pathLst>
                        <a:path w="53" h="166">
                          <a:moveTo>
                            <a:pt x="0" y="166"/>
                          </a:moveTo>
                          <a:cubicBezTo>
                            <a:pt x="4" y="155"/>
                            <a:pt x="18" y="124"/>
                            <a:pt x="27" y="96"/>
                          </a:cubicBezTo>
                          <a:cubicBezTo>
                            <a:pt x="36" y="68"/>
                            <a:pt x="48" y="20"/>
                            <a:pt x="53" y="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44" name="Text Box 105"/>
                    <p:cNvSpPr txBox="1"/>
                    <p:nvPr/>
                  </p:nvSpPr>
                  <p:spPr>
                    <a:xfrm>
                      <a:off x="4704" y="1392"/>
                      <a:ext cx="528" cy="181"/>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 re</a:t>
                      </a:r>
                      <a:r>
                        <a:rPr lang="zh-CN" altLang="en-US" sz="1400" i="1"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r</a:t>
                      </a:r>
                      <a:endParaRPr lang="en-US" altLang="zh-CN" sz="1400" i="1" baseline="-25000" dirty="0">
                        <a:latin typeface="Times New Roman" panose="02020603050405020304" pitchFamily="18" charset="0"/>
                        <a:ea typeface="宋体" panose="02010600030101010101" pitchFamily="2" charset="-122"/>
                      </a:endParaRPr>
                    </a:p>
                  </p:txBody>
                </p:sp>
              </p:grpSp>
              <p:sp>
                <p:nvSpPr>
                  <p:cNvPr id="87145" name="Freeform 106"/>
                  <p:cNvSpPr/>
                  <p:nvPr/>
                </p:nvSpPr>
                <p:spPr>
                  <a:xfrm flipV="1">
                    <a:off x="4317" y="1632"/>
                    <a:ext cx="819" cy="107"/>
                  </a:xfrm>
                  <a:custGeom>
                    <a:avLst/>
                    <a:gdLst/>
                    <a:ahLst/>
                    <a:cxnLst>
                      <a:cxn ang="0">
                        <a:pos x="0" y="20"/>
                      </a:cxn>
                      <a:cxn ang="0">
                        <a:pos x="819" y="0"/>
                      </a:cxn>
                    </a:cxnLst>
                    <a:pathLst>
                      <a:path w="819" h="123">
                        <a:moveTo>
                          <a:pt x="0" y="123"/>
                        </a:moveTo>
                        <a:lnTo>
                          <a:pt x="819"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grpSp>
              <p:nvGrpSpPr>
                <p:cNvPr id="87146" name="Group 107"/>
                <p:cNvGrpSpPr/>
                <p:nvPr/>
              </p:nvGrpSpPr>
              <p:grpSpPr>
                <a:xfrm>
                  <a:off x="2781" y="1864"/>
                  <a:ext cx="915" cy="666"/>
                  <a:chOff x="2781" y="1194"/>
                  <a:chExt cx="915" cy="666"/>
                </a:xfrm>
              </p:grpSpPr>
              <p:grpSp>
                <p:nvGrpSpPr>
                  <p:cNvPr id="87147" name="Group 108"/>
                  <p:cNvGrpSpPr/>
                  <p:nvPr/>
                </p:nvGrpSpPr>
                <p:grpSpPr>
                  <a:xfrm>
                    <a:off x="3120" y="1194"/>
                    <a:ext cx="576" cy="666"/>
                    <a:chOff x="3120" y="1194"/>
                    <a:chExt cx="576" cy="666"/>
                  </a:xfrm>
                </p:grpSpPr>
                <p:sp>
                  <p:nvSpPr>
                    <p:cNvPr id="87148" name="Line 109"/>
                    <p:cNvSpPr/>
                    <p:nvPr/>
                  </p:nvSpPr>
                  <p:spPr>
                    <a:xfrm>
                      <a:off x="3120" y="1580"/>
                      <a:ext cx="480" cy="122"/>
                    </a:xfrm>
                    <a:prstGeom prst="line">
                      <a:avLst/>
                    </a:prstGeom>
                    <a:ln w="9525" cap="flat" cmpd="sng">
                      <a:solidFill>
                        <a:schemeClr val="tx1"/>
                      </a:solidFill>
                      <a:prstDash val="solid"/>
                      <a:round/>
                      <a:headEnd type="none" w="med" len="med"/>
                      <a:tailEnd type="none" w="med" len="med"/>
                    </a:ln>
                  </p:spPr>
                </p:sp>
                <p:sp>
                  <p:nvSpPr>
                    <p:cNvPr id="87149" name="Freeform 110"/>
                    <p:cNvSpPr/>
                    <p:nvPr/>
                  </p:nvSpPr>
                  <p:spPr>
                    <a:xfrm>
                      <a:off x="3552" y="1344"/>
                      <a:ext cx="24" cy="168"/>
                    </a:xfrm>
                    <a:custGeom>
                      <a:avLst/>
                      <a:gdLst/>
                      <a:ahLst/>
                      <a:cxnLst>
                        <a:cxn ang="0">
                          <a:pos x="0" y="0"/>
                        </a:cxn>
                        <a:cxn ang="0">
                          <a:pos x="8" y="60"/>
                        </a:cxn>
                        <a:cxn ang="0">
                          <a:pos x="24" y="168"/>
                        </a:cxn>
                      </a:cxnLst>
                      <a:pathLst>
                        <a:path w="24" h="168">
                          <a:moveTo>
                            <a:pt x="0" y="0"/>
                          </a:moveTo>
                          <a:cubicBezTo>
                            <a:pt x="2" y="10"/>
                            <a:pt x="4" y="32"/>
                            <a:pt x="8" y="60"/>
                          </a:cubicBezTo>
                          <a:cubicBezTo>
                            <a:pt x="12" y="88"/>
                            <a:pt x="21" y="146"/>
                            <a:pt x="24" y="168"/>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50" name="Freeform 111"/>
                    <p:cNvSpPr/>
                    <p:nvPr/>
                  </p:nvSpPr>
                  <p:spPr>
                    <a:xfrm>
                      <a:off x="3572" y="1512"/>
                      <a:ext cx="11" cy="182"/>
                    </a:xfrm>
                    <a:custGeom>
                      <a:avLst/>
                      <a:gdLst/>
                      <a:ahLst/>
                      <a:cxnLst>
                        <a:cxn ang="0">
                          <a:pos x="4" y="0"/>
                        </a:cxn>
                        <a:cxn ang="0">
                          <a:pos x="10" y="90"/>
                        </a:cxn>
                        <a:cxn ang="0">
                          <a:pos x="0" y="182"/>
                        </a:cxn>
                      </a:cxnLst>
                      <a:pathLst>
                        <a:path w="11" h="182">
                          <a:moveTo>
                            <a:pt x="4" y="0"/>
                          </a:moveTo>
                          <a:cubicBezTo>
                            <a:pt x="5" y="15"/>
                            <a:pt x="11" y="60"/>
                            <a:pt x="10" y="90"/>
                          </a:cubicBezTo>
                          <a:cubicBezTo>
                            <a:pt x="9" y="120"/>
                            <a:pt x="2" y="163"/>
                            <a:pt x="0" y="182"/>
                          </a:cubicBezTo>
                        </a:path>
                      </a:pathLst>
                    </a:custGeom>
                    <a:noFill/>
                    <a:ln w="9525" cap="flat" cmpd="sng">
                      <a:solidFill>
                        <a:schemeClr val="tx1"/>
                      </a:solidFill>
                      <a:prstDash val="solid"/>
                      <a:round/>
                      <a:headEnd type="none" w="med" len="med"/>
                      <a:tailEnd type="none" w="med" len="med"/>
                    </a:ln>
                  </p:spPr>
                  <p:txBody>
                    <a:bodyPr/>
                    <a:p>
                      <a:endParaRPr lang="zh-CN" altLang="en-US"/>
                    </a:p>
                  </p:txBody>
                </p:sp>
                <p:sp>
                  <p:nvSpPr>
                    <p:cNvPr id="87151" name="Freeform 112"/>
                    <p:cNvSpPr/>
                    <p:nvPr/>
                  </p:nvSpPr>
                  <p:spPr>
                    <a:xfrm>
                      <a:off x="3519" y="1694"/>
                      <a:ext cx="53" cy="166"/>
                    </a:xfrm>
                    <a:custGeom>
                      <a:avLst/>
                      <a:gdLst/>
                      <a:ahLst/>
                      <a:cxnLst>
                        <a:cxn ang="0">
                          <a:pos x="0" y="166"/>
                        </a:cxn>
                        <a:cxn ang="0">
                          <a:pos x="27" y="96"/>
                        </a:cxn>
                        <a:cxn ang="0">
                          <a:pos x="53" y="0"/>
                        </a:cxn>
                      </a:cxnLst>
                      <a:pathLst>
                        <a:path w="53" h="166">
                          <a:moveTo>
                            <a:pt x="0" y="166"/>
                          </a:moveTo>
                          <a:cubicBezTo>
                            <a:pt x="4" y="155"/>
                            <a:pt x="18" y="124"/>
                            <a:pt x="27" y="96"/>
                          </a:cubicBezTo>
                          <a:cubicBezTo>
                            <a:pt x="36" y="68"/>
                            <a:pt x="48" y="20"/>
                            <a:pt x="53" y="0"/>
                          </a:cubicBezTo>
                        </a:path>
                      </a:pathLst>
                    </a:custGeom>
                    <a:noFill/>
                    <a:ln w="9525" cap="flat" cmpd="sng">
                      <a:solidFill>
                        <a:schemeClr val="tx1"/>
                      </a:solidFill>
                      <a:prstDash val="solid"/>
                      <a:round/>
                      <a:headEnd type="none" w="med" len="med"/>
                      <a:tailEnd type="triangle" w="sm" len="med"/>
                    </a:ln>
                  </p:spPr>
                  <p:txBody>
                    <a:bodyPr/>
                    <a:p>
                      <a:endParaRPr lang="zh-CN" altLang="en-US"/>
                    </a:p>
                  </p:txBody>
                </p:sp>
                <p:sp>
                  <p:nvSpPr>
                    <p:cNvPr id="87152" name="Text Box 113"/>
                    <p:cNvSpPr txBox="1"/>
                    <p:nvPr/>
                  </p:nvSpPr>
                  <p:spPr>
                    <a:xfrm>
                      <a:off x="3168" y="1194"/>
                      <a:ext cx="528" cy="181"/>
                    </a:xfrm>
                    <a:prstGeom prst="rect">
                      <a:avLst/>
                    </a:prstGeom>
                    <a:noFill/>
                    <a:ln w="9525">
                      <a:noFill/>
                    </a:ln>
                  </p:spPr>
                  <p:txBody>
                    <a:bodyPr lIns="0" tIns="0" rIns="0" bIns="0" anchor="t" anchorCtr="0"/>
                    <a:p>
                      <a:pPr algn="ctr" eaLnBrk="0" hangingPunct="0">
                        <a:spcBef>
                          <a:spcPct val="50000"/>
                        </a:spcBef>
                      </a:pP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 re</a:t>
                      </a:r>
                      <a:r>
                        <a:rPr lang="zh-CN" altLang="en-US" sz="1400" i="1"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γ</a:t>
                      </a:r>
                      <a:r>
                        <a:rPr lang="en-US" altLang="zh-CN" sz="1400" i="1" baseline="-25000" dirty="0">
                          <a:latin typeface="Times New Roman" panose="02020603050405020304" pitchFamily="18" charset="0"/>
                          <a:ea typeface="宋体" panose="02010600030101010101" pitchFamily="2" charset="-122"/>
                        </a:rPr>
                        <a:t>r</a:t>
                      </a:r>
                      <a:endParaRPr lang="en-US" altLang="zh-CN" sz="1400" i="1" baseline="-25000" dirty="0">
                        <a:latin typeface="Times New Roman" panose="02020603050405020304" pitchFamily="18" charset="0"/>
                        <a:ea typeface="宋体" panose="02010600030101010101" pitchFamily="2" charset="-122"/>
                      </a:endParaRPr>
                    </a:p>
                  </p:txBody>
                </p:sp>
              </p:grpSp>
              <p:sp>
                <p:nvSpPr>
                  <p:cNvPr id="87153" name="Freeform 114"/>
                  <p:cNvSpPr/>
                  <p:nvPr/>
                </p:nvSpPr>
                <p:spPr>
                  <a:xfrm>
                    <a:off x="2781" y="1509"/>
                    <a:ext cx="819" cy="123"/>
                  </a:xfrm>
                  <a:custGeom>
                    <a:avLst/>
                    <a:gdLst/>
                    <a:ahLst/>
                    <a:cxnLst>
                      <a:cxn ang="0">
                        <a:pos x="0" y="123"/>
                      </a:cxn>
                      <a:cxn ang="0">
                        <a:pos x="819" y="0"/>
                      </a:cxn>
                    </a:cxnLst>
                    <a:pathLst>
                      <a:path w="819" h="123">
                        <a:moveTo>
                          <a:pt x="0" y="123"/>
                        </a:moveTo>
                        <a:lnTo>
                          <a:pt x="819" y="0"/>
                        </a:lnTo>
                      </a:path>
                    </a:pathLst>
                  </a:custGeom>
                  <a:noFill/>
                  <a:ln w="9525" cap="flat" cmpd="sng">
                    <a:solidFill>
                      <a:schemeClr val="tx1"/>
                    </a:solidFill>
                    <a:prstDash val="solid"/>
                    <a:round/>
                    <a:headEnd type="none" w="med" len="med"/>
                    <a:tailEnd type="none" w="med" len="med"/>
                  </a:ln>
                </p:spPr>
                <p:txBody>
                  <a:bodyPr/>
                  <a:p>
                    <a:endParaRPr lang="zh-CN" altLang="en-US"/>
                  </a:p>
                </p:txBody>
              </p:sp>
            </p:grpSp>
          </p:grpSp>
          <p:sp>
            <p:nvSpPr>
              <p:cNvPr id="87154" name="Text Box 115"/>
              <p:cNvSpPr txBox="1"/>
              <p:nvPr/>
            </p:nvSpPr>
            <p:spPr>
              <a:xfrm>
                <a:off x="1655" y="2886"/>
                <a:ext cx="2223" cy="231"/>
              </a:xfrm>
              <a:prstGeom prst="rect">
                <a:avLst/>
              </a:prstGeom>
              <a:noFill/>
              <a:ln w="9525">
                <a:noFill/>
              </a:ln>
            </p:spPr>
            <p:txBody>
              <a:bodyPr wrap="none" anchor="t" anchorCtr="0">
                <a:spAutoFit/>
              </a:bodyPr>
              <a:p>
                <a:r>
                  <a:rPr lang="en-US" altLang="zh-CN" b="1" dirty="0">
                    <a:latin typeface="楷体_GB2312"/>
                    <a:ea typeface="楷体_GB2312"/>
                  </a:rPr>
                  <a:t>a) </a:t>
                </a:r>
                <a:r>
                  <a:rPr lang="zh-CN" altLang="en-US" b="1" dirty="0">
                    <a:latin typeface="楷体_GB2312"/>
                    <a:ea typeface="楷体_GB2312"/>
                  </a:rPr>
                  <a:t>等高　　</a:t>
                </a:r>
                <a:r>
                  <a:rPr lang="en-US" altLang="zh-CN" b="1" dirty="0">
                    <a:latin typeface="楷体_GB2312"/>
                    <a:ea typeface="楷体_GB2312"/>
                  </a:rPr>
                  <a:t>b) </a:t>
                </a:r>
                <a:r>
                  <a:rPr lang="zh-CN" altLang="en-US" b="1" dirty="0">
                    <a:latin typeface="楷体_GB2312"/>
                    <a:ea typeface="楷体_GB2312"/>
                  </a:rPr>
                  <a:t>偏高　　</a:t>
                </a:r>
                <a:r>
                  <a:rPr lang="en-US" altLang="zh-CN" b="1" dirty="0">
                    <a:latin typeface="楷体_GB2312"/>
                    <a:ea typeface="楷体_GB2312"/>
                  </a:rPr>
                  <a:t>c) </a:t>
                </a:r>
                <a:r>
                  <a:rPr lang="zh-CN" altLang="en-US" b="1" dirty="0">
                    <a:latin typeface="楷体_GB2312"/>
                    <a:ea typeface="楷体_GB2312"/>
                  </a:rPr>
                  <a:t>偏低</a:t>
                </a:r>
                <a:endParaRPr lang="zh-CN" altLang="en-US" b="1" dirty="0">
                  <a:latin typeface="楷体_GB2312"/>
                  <a:ea typeface="楷体_GB2312"/>
                </a:endParaRPr>
              </a:p>
            </p:txBody>
          </p:sp>
        </p:grpSp>
      </p:grpSp>
      <p:sp>
        <p:nvSpPr>
          <p:cNvPr id="116" name="五角星 115"/>
          <p:cNvSpPr/>
          <p:nvPr/>
        </p:nvSpPr>
        <p:spPr>
          <a:xfrm>
            <a:off x="214313" y="1214438"/>
            <a:ext cx="357188" cy="428625"/>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p:randomBar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刀具材料及刀具构造</a:t>
            </a:r>
            <a:endParaRPr lang="zh-CN" altLang="en-US" sz="4000" dirty="0">
              <a:ea typeface="楷体_GB2312"/>
            </a:endParaRPr>
          </a:p>
        </p:txBody>
      </p:sp>
      <p:sp>
        <p:nvSpPr>
          <p:cNvPr id="89090" name="Rectangle 3"/>
          <p:cNvSpPr/>
          <p:nvPr/>
        </p:nvSpPr>
        <p:spPr>
          <a:xfrm>
            <a:off x="533400" y="1600200"/>
            <a:ext cx="8077200" cy="830263"/>
          </a:xfrm>
          <a:prstGeom prst="rect">
            <a:avLst/>
          </a:prstGeom>
          <a:noFill/>
          <a:ln w="9525">
            <a:noFill/>
          </a:ln>
        </p:spPr>
        <p:txBody>
          <a:bodyPr anchor="t" anchorCtr="0">
            <a:spAutoFit/>
          </a:bodyPr>
          <a:p>
            <a:r>
              <a:rPr lang="en-US" altLang="zh-CN" sz="2000" b="1" dirty="0">
                <a:latin typeface="Century" panose="02040604050505020304" pitchFamily="18" charset="0"/>
                <a:ea typeface="宋体" panose="02010600030101010101" pitchFamily="2" charset="-122"/>
              </a:rPr>
              <a:t>       </a:t>
            </a:r>
            <a:r>
              <a:rPr lang="zh-CN" altLang="en-US" sz="2000" b="1" dirty="0">
                <a:latin typeface="Century" panose="02040604050505020304" pitchFamily="18" charset="0"/>
                <a:ea typeface="宋体" panose="02010600030101010101" pitchFamily="2" charset="-122"/>
              </a:rPr>
              <a:t>  </a:t>
            </a:r>
            <a:r>
              <a:rPr lang="zh-CN" altLang="en-US" sz="2400" b="1" dirty="0">
                <a:latin typeface="Century" panose="02040604050505020304" pitchFamily="18" charset="0"/>
                <a:ea typeface="楷体_GB2312"/>
              </a:rPr>
              <a:t>当车刀刀杆的纵向轴线与进给方向不垂直时，将会引起</a:t>
            </a:r>
            <a:r>
              <a:rPr lang="zh-CN" altLang="en-US" sz="2400" b="1" dirty="0">
                <a:solidFill>
                  <a:srgbClr val="FF3300"/>
                </a:solidFill>
                <a:latin typeface="Century" panose="02040604050505020304" pitchFamily="18" charset="0"/>
                <a:ea typeface="楷体_GB2312"/>
              </a:rPr>
              <a:t>主偏角和副偏角</a:t>
            </a:r>
            <a:r>
              <a:rPr lang="zh-CN" altLang="en-US" sz="2400" b="1" dirty="0">
                <a:latin typeface="Century" panose="02040604050505020304" pitchFamily="18" charset="0"/>
                <a:ea typeface="楷体_GB2312"/>
              </a:rPr>
              <a:t>的变化。</a:t>
            </a:r>
            <a:endParaRPr lang="zh-CN" altLang="en-US" sz="2400" b="1" dirty="0">
              <a:latin typeface="Century" panose="02040604050505020304" pitchFamily="18" charset="0"/>
              <a:ea typeface="楷体_GB2312"/>
            </a:endParaRPr>
          </a:p>
        </p:txBody>
      </p:sp>
      <p:pic>
        <p:nvPicPr>
          <p:cNvPr id="89091" name="Picture 4" descr="Image002"/>
          <p:cNvPicPr>
            <a:picLocks noChangeAspect="1"/>
          </p:cNvPicPr>
          <p:nvPr/>
        </p:nvPicPr>
        <p:blipFill>
          <a:blip r:embed="rId1"/>
          <a:stretch>
            <a:fillRect/>
          </a:stretch>
        </p:blipFill>
        <p:spPr>
          <a:xfrm>
            <a:off x="0" y="2752725"/>
            <a:ext cx="9036050" cy="3838575"/>
          </a:xfrm>
          <a:prstGeom prst="rect">
            <a:avLst/>
          </a:prstGeom>
          <a:noFill/>
          <a:ln w="9525" cap="flat" cmpd="sng">
            <a:solidFill>
              <a:srgbClr val="FF6600"/>
            </a:solidFill>
            <a:prstDash val="solid"/>
            <a:miter/>
            <a:headEnd type="none" w="med" len="med"/>
            <a:tailEnd type="none" w="med" len="med"/>
          </a:ln>
        </p:spPr>
      </p:pic>
    </p:spTree>
  </p:cSld>
  <p:clrMapOvr>
    <a:masterClrMapping/>
  </p:clrMapOvr>
  <p:transition spd="slow">
    <p:randomBa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xfrm>
            <a:off x="2806700" y="90488"/>
            <a:ext cx="4502150" cy="11906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91138" name="Rectangle 3"/>
          <p:cNvSpPr/>
          <p:nvPr/>
        </p:nvSpPr>
        <p:spPr>
          <a:xfrm>
            <a:off x="468313" y="1412875"/>
            <a:ext cx="8207375" cy="1552575"/>
          </a:xfrm>
          <a:prstGeom prst="rect">
            <a:avLst/>
          </a:prstGeom>
          <a:noFill/>
          <a:ln w="9525">
            <a:noFill/>
          </a:ln>
        </p:spPr>
        <p:txBody>
          <a:bodyPr anchor="t" anchorCtr="0">
            <a:spAutoFit/>
          </a:bodyPr>
          <a:p>
            <a:pPr>
              <a:spcBef>
                <a:spcPct val="50000"/>
              </a:spcBef>
            </a:pPr>
            <a:r>
              <a:rPr lang="en-US" altLang="zh-CN"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楷体_GB2312"/>
              </a:rPr>
              <a:t>金属在切削过程中，会出现一系列物理现象，如金属变形、切削力、切削热、刀具磨损等，这些都是以切屑形成过程为基础而出现的问题，如积屑瘤、振动、卷屑、断屑等，与切削过程密切相关。</a:t>
            </a:r>
            <a:endParaRPr lang="zh-CN" altLang="en-US" sz="2400" b="1" dirty="0">
              <a:latin typeface="Arial" panose="020B0604020202020204" pitchFamily="34" charset="0"/>
              <a:ea typeface="楷体_GB2312"/>
            </a:endParaRPr>
          </a:p>
        </p:txBody>
      </p:sp>
      <p:pic>
        <p:nvPicPr>
          <p:cNvPr id="2" name="切屑的形成">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188085" y="2965450"/>
            <a:ext cx="6311900" cy="3873500"/>
          </a:xfrm>
          <a:prstGeom prst="rect">
            <a:avLst/>
          </a:prstGeom>
        </p:spPr>
      </p:pic>
    </p:spTree>
  </p:cSld>
  <p:clrMapOvr>
    <a:masterClrMapping/>
  </p:clrMapOvr>
  <p:transition spd="slow">
    <p:randomBar dir="vert"/>
  </p:transition>
  <p:timing>
    <p:tnLst>
      <p:par>
        <p:cTn id="1" dur="indefinite" restart="never" nodeType="tmRoot">
          <p:childTnLst>
            <p:video fullScrn="0">
              <p:cMediaNode>
                <p:cTn id="2" fill="hold" display="1">
                  <p:stCondLst>
                    <p:cond delay="indefinite"/>
                  </p:stCondLst>
                </p:cTn>
                <p:tgtEl>
                  <p:spTgt spid="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ln/>
        </p:spPr>
        <p:txBody>
          <a:bodyPr anchor="ctr" anchorCtr="0"/>
          <a:p>
            <a:endParaRPr lang="zh-CN" altLang="en-US"/>
          </a:p>
        </p:txBody>
      </p:sp>
      <p:sp>
        <p:nvSpPr>
          <p:cNvPr id="93186" name="内容占位符 2"/>
          <p:cNvSpPr>
            <a:spLocks noGrp="1"/>
          </p:cNvSpPr>
          <p:nvPr>
            <p:ph idx="1"/>
          </p:nvPr>
        </p:nvSpPr>
        <p:spPr>
          <a:ln/>
        </p:spPr>
        <p:txBody>
          <a:bodyPr anchor="t" anchorCtr="0"/>
          <a:p>
            <a:r>
              <a:rPr lang="zh-CN" altLang="en-US"/>
              <a:t>https://v.youku.com/v_show/id_XMjczMjA1NTYyNA==.html</a:t>
            </a:r>
            <a:r>
              <a:rPr lang="en-US" altLang="zh-CN"/>
              <a:t> </a:t>
            </a:r>
            <a:r>
              <a:rPr lang="zh-CN" altLang="en-US"/>
              <a:t>切削的过程</a:t>
            </a:r>
            <a:r>
              <a:rPr lang="en-US" altLang="zh-CN"/>
              <a:t>-</a:t>
            </a:r>
            <a:r>
              <a:rPr lang="zh-CN" altLang="en-US"/>
              <a:t>切屑的形成过程，第</a:t>
            </a:r>
            <a:r>
              <a:rPr lang="en-US" altLang="zh-CN"/>
              <a:t>3</a:t>
            </a:r>
            <a:r>
              <a:rPr lang="zh-CN" altLang="en-US"/>
              <a:t>分钟开始，</a:t>
            </a:r>
            <a:r>
              <a:rPr lang="en-US" altLang="zh-CN"/>
              <a:t>4</a:t>
            </a:r>
            <a:r>
              <a:rPr lang="zh-CN" altLang="en-US"/>
              <a:t>分</a:t>
            </a:r>
            <a:r>
              <a:rPr lang="en-US" altLang="zh-CN"/>
              <a:t>45</a:t>
            </a:r>
            <a:r>
              <a:rPr lang="zh-CN" altLang="en-US"/>
              <a:t>结束</a:t>
            </a:r>
            <a:endParaRPr lang="zh-CN" altLang="en-US"/>
          </a:p>
          <a:p>
            <a:r>
              <a:rPr lang="zh-CN" altLang="en-US"/>
              <a:t>https://tv.sohu.com/v/dXMvNjMzMzgwOTUvMjc0OTM5NjAuc2h0bWw=.html</a:t>
            </a:r>
            <a:r>
              <a:rPr lang="en-US" altLang="zh-CN"/>
              <a:t> </a:t>
            </a:r>
            <a:r>
              <a:rPr lang="zh-CN" altLang="en-US"/>
              <a:t>切削温度高导致燃烧</a:t>
            </a:r>
            <a:endParaRPr lang="zh-CN" altLang="en-US"/>
          </a:p>
          <a:p>
            <a:r>
              <a:rPr lang="zh-CN" altLang="en-US"/>
              <a:t>https://v.youku.com/v_show/id_XMjczMjA1MzA1Mg==.html?spm=a2hbt.13141534.0.13141534车刀角度</a:t>
            </a:r>
            <a:endParaRPr lang="zh-CN" altLang="en-US"/>
          </a:p>
          <a:p>
            <a:endParaRPr lang="zh-CN" altLang="en-US"/>
          </a:p>
        </p:txBody>
      </p:sp>
    </p:spTree>
  </p:cSld>
  <p:clrMapOvr>
    <a:masterClrMapping/>
  </p:clrMapOvr>
  <p:transition spd="slow">
    <p:randomBar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xfrm>
            <a:off x="2951163" y="90488"/>
            <a:ext cx="4357687" cy="11906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grpSp>
        <p:nvGrpSpPr>
          <p:cNvPr id="94210" name="Group 3"/>
          <p:cNvGrpSpPr/>
          <p:nvPr/>
        </p:nvGrpSpPr>
        <p:grpSpPr>
          <a:xfrm>
            <a:off x="323850" y="1516063"/>
            <a:ext cx="8713788" cy="4505325"/>
            <a:chOff x="204" y="955"/>
            <a:chExt cx="5489" cy="2838"/>
          </a:xfrm>
        </p:grpSpPr>
        <p:sp>
          <p:nvSpPr>
            <p:cNvPr id="94211" name="Text Box 4"/>
            <p:cNvSpPr txBox="1"/>
            <p:nvPr/>
          </p:nvSpPr>
          <p:spPr>
            <a:xfrm>
              <a:off x="5103" y="2205"/>
              <a:ext cx="590"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CC00"/>
                  </a:solidFill>
                  <a:latin typeface="Arial" panose="020B0604020202020204" pitchFamily="34" charset="0"/>
                  <a:ea typeface="楷体_GB2312"/>
                </a:rPr>
                <a:t>切屑</a:t>
              </a:r>
              <a:endParaRPr lang="zh-CN" altLang="en-US" sz="2400" b="1" dirty="0">
                <a:solidFill>
                  <a:srgbClr val="00CC00"/>
                </a:solidFill>
                <a:latin typeface="Arial" panose="020B0604020202020204" pitchFamily="34" charset="0"/>
                <a:ea typeface="楷体_GB2312"/>
              </a:endParaRPr>
            </a:p>
          </p:txBody>
        </p:sp>
        <p:grpSp>
          <p:nvGrpSpPr>
            <p:cNvPr id="94212" name="Group 5"/>
            <p:cNvGrpSpPr/>
            <p:nvPr/>
          </p:nvGrpSpPr>
          <p:grpSpPr>
            <a:xfrm>
              <a:off x="204" y="955"/>
              <a:ext cx="5261" cy="2838"/>
              <a:chOff x="204" y="799"/>
              <a:chExt cx="5261" cy="2838"/>
            </a:xfrm>
          </p:grpSpPr>
          <p:sp>
            <p:nvSpPr>
              <p:cNvPr id="94213" name="Text Box 6"/>
              <p:cNvSpPr txBox="1"/>
              <p:nvPr/>
            </p:nvSpPr>
            <p:spPr>
              <a:xfrm>
                <a:off x="521" y="935"/>
                <a:ext cx="1996" cy="327"/>
              </a:xfrm>
              <a:prstGeom prst="rect">
                <a:avLst/>
              </a:prstGeom>
              <a:noFill/>
              <a:ln w="9525">
                <a:noFill/>
              </a:ln>
            </p:spPr>
            <p:txBody>
              <a:bodyPr lIns="91430" tIns="45715" rIns="91430" bIns="45715" anchor="t" anchorCtr="0">
                <a:spAutoFit/>
              </a:bodyPr>
              <a:p>
                <a:pPr>
                  <a:spcBef>
                    <a:spcPct val="50000"/>
                  </a:spcBef>
                </a:pPr>
                <a:r>
                  <a:rPr lang="en-US" altLang="zh-CN" sz="2800" b="1" dirty="0">
                    <a:solidFill>
                      <a:srgbClr val="000000"/>
                    </a:solidFill>
                    <a:latin typeface="楷体_GB2312"/>
                    <a:ea typeface="楷体_GB2312"/>
                  </a:rPr>
                  <a:t>1.</a:t>
                </a:r>
                <a:r>
                  <a:rPr lang="zh-CN" altLang="en-US" sz="2800" b="1" dirty="0">
                    <a:solidFill>
                      <a:srgbClr val="000000"/>
                    </a:solidFill>
                    <a:latin typeface="楷体_GB2312"/>
                    <a:ea typeface="楷体_GB2312"/>
                  </a:rPr>
                  <a:t>切屑形成过程</a:t>
                </a:r>
                <a:endParaRPr lang="zh-CN" altLang="en-US" sz="2800" b="1" dirty="0">
                  <a:solidFill>
                    <a:srgbClr val="000000"/>
                  </a:solidFill>
                  <a:latin typeface="楷体_GB2312"/>
                  <a:ea typeface="楷体_GB2312"/>
                </a:endParaRPr>
              </a:p>
            </p:txBody>
          </p:sp>
          <p:sp>
            <p:nvSpPr>
              <p:cNvPr id="94214" name="Text Box 7"/>
              <p:cNvSpPr txBox="1"/>
              <p:nvPr/>
            </p:nvSpPr>
            <p:spPr>
              <a:xfrm>
                <a:off x="340" y="1842"/>
                <a:ext cx="1044" cy="633"/>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切削层</a:t>
                </a:r>
                <a:endParaRPr lang="zh-CN" altLang="en-US" sz="2400" b="1" dirty="0">
                  <a:latin typeface="Arial" panose="020B0604020202020204" pitchFamily="34" charset="0"/>
                  <a:ea typeface="楷体_GB2312"/>
                </a:endParaRPr>
              </a:p>
              <a:p>
                <a:pPr>
                  <a:spcBef>
                    <a:spcPct val="50000"/>
                  </a:spcBef>
                </a:pPr>
                <a:r>
                  <a:rPr lang="zh-CN" altLang="en-US" sz="2400" b="1" dirty="0">
                    <a:latin typeface="Arial" panose="020B0604020202020204" pitchFamily="34" charset="0"/>
                    <a:ea typeface="楷体_GB2312"/>
                  </a:rPr>
                  <a:t>的金属</a:t>
                </a:r>
                <a:endParaRPr lang="zh-CN" altLang="en-US" sz="2400" b="1" dirty="0">
                  <a:latin typeface="Arial" panose="020B0604020202020204" pitchFamily="34" charset="0"/>
                  <a:ea typeface="楷体_GB2312"/>
                </a:endParaRPr>
              </a:p>
            </p:txBody>
          </p:sp>
          <p:sp>
            <p:nvSpPr>
              <p:cNvPr id="94215" name="Text Box 8"/>
              <p:cNvSpPr txBox="1"/>
              <p:nvPr/>
            </p:nvSpPr>
            <p:spPr>
              <a:xfrm>
                <a:off x="1338" y="2024"/>
                <a:ext cx="1134"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弹性变形</a:t>
                </a:r>
                <a:endParaRPr lang="zh-CN" altLang="en-US" sz="2400" b="1" dirty="0">
                  <a:solidFill>
                    <a:srgbClr val="FF0000"/>
                  </a:solidFill>
                  <a:latin typeface="Arial" panose="020B0604020202020204" pitchFamily="34" charset="0"/>
                  <a:ea typeface="楷体_GB2312"/>
                </a:endParaRPr>
              </a:p>
            </p:txBody>
          </p:sp>
          <p:sp>
            <p:nvSpPr>
              <p:cNvPr id="94216" name="Text Box 9"/>
              <p:cNvSpPr txBox="1"/>
              <p:nvPr/>
            </p:nvSpPr>
            <p:spPr>
              <a:xfrm>
                <a:off x="2426" y="2024"/>
                <a:ext cx="1315"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塑性变形</a:t>
                </a:r>
                <a:endParaRPr lang="zh-CN" altLang="en-US" sz="2400" b="1" dirty="0">
                  <a:solidFill>
                    <a:srgbClr val="FF0000"/>
                  </a:solidFill>
                  <a:latin typeface="Arial" panose="020B0604020202020204" pitchFamily="34" charset="0"/>
                  <a:ea typeface="楷体_GB2312"/>
                </a:endParaRPr>
              </a:p>
            </p:txBody>
          </p:sp>
          <p:sp>
            <p:nvSpPr>
              <p:cNvPr id="94217" name="Text Box 10"/>
              <p:cNvSpPr txBox="1"/>
              <p:nvPr/>
            </p:nvSpPr>
            <p:spPr>
              <a:xfrm>
                <a:off x="3515" y="2024"/>
                <a:ext cx="635"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挤裂</a:t>
                </a:r>
                <a:endParaRPr lang="zh-CN" altLang="en-US" sz="2400" b="1" dirty="0">
                  <a:solidFill>
                    <a:srgbClr val="FF0000"/>
                  </a:solidFill>
                  <a:latin typeface="Arial" panose="020B0604020202020204" pitchFamily="34" charset="0"/>
                  <a:ea typeface="楷体_GB2312"/>
                </a:endParaRPr>
              </a:p>
            </p:txBody>
          </p:sp>
          <p:sp>
            <p:nvSpPr>
              <p:cNvPr id="94218" name="Text Box 11"/>
              <p:cNvSpPr txBox="1"/>
              <p:nvPr/>
            </p:nvSpPr>
            <p:spPr>
              <a:xfrm>
                <a:off x="4241" y="2024"/>
                <a:ext cx="725"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切离</a:t>
                </a:r>
                <a:endParaRPr lang="zh-CN" altLang="en-US" sz="2400" b="1" dirty="0">
                  <a:solidFill>
                    <a:srgbClr val="FF0000"/>
                  </a:solidFill>
                  <a:latin typeface="Arial" panose="020B0604020202020204" pitchFamily="34" charset="0"/>
                  <a:ea typeface="楷体_GB2312"/>
                </a:endParaRPr>
              </a:p>
            </p:txBody>
          </p:sp>
          <p:sp>
            <p:nvSpPr>
              <p:cNvPr id="94219" name="Text Box 12"/>
              <p:cNvSpPr txBox="1"/>
              <p:nvPr/>
            </p:nvSpPr>
            <p:spPr>
              <a:xfrm>
                <a:off x="204" y="2795"/>
                <a:ext cx="1678" cy="74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切削层的金属受到刀具前刀面的推挤后产生弹性变形</a:t>
                </a:r>
                <a:endParaRPr lang="zh-CN" altLang="en-US" sz="2400" b="1" dirty="0">
                  <a:latin typeface="Arial" panose="020B0604020202020204" pitchFamily="34" charset="0"/>
                  <a:ea typeface="楷体_GB2312"/>
                </a:endParaRPr>
              </a:p>
            </p:txBody>
          </p:sp>
          <p:sp>
            <p:nvSpPr>
              <p:cNvPr id="94220" name="Text Box 13"/>
              <p:cNvSpPr txBox="1"/>
              <p:nvPr/>
            </p:nvSpPr>
            <p:spPr>
              <a:xfrm>
                <a:off x="2699" y="799"/>
                <a:ext cx="1860" cy="97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随着切应力、切应变逐渐增大，达到其屈服强度时，产生塑性变形而滑移</a:t>
                </a:r>
                <a:endParaRPr lang="zh-CN" altLang="en-US" sz="2400" b="1" dirty="0">
                  <a:solidFill>
                    <a:srgbClr val="000000"/>
                  </a:solidFill>
                  <a:latin typeface="Arial" panose="020B0604020202020204" pitchFamily="34" charset="0"/>
                  <a:ea typeface="楷体_GB2312"/>
                </a:endParaRPr>
              </a:p>
            </p:txBody>
          </p:sp>
          <p:sp>
            <p:nvSpPr>
              <p:cNvPr id="94221" name="Text Box 14"/>
              <p:cNvSpPr txBox="1"/>
              <p:nvPr/>
            </p:nvSpPr>
            <p:spPr>
              <a:xfrm>
                <a:off x="2109" y="2659"/>
                <a:ext cx="2313" cy="97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刀具继续切入时，材料内部的应力、应变继续增大，当切应力达到其断裂强度时，金属材料被挤裂</a:t>
                </a:r>
                <a:endParaRPr lang="zh-CN" altLang="en-US" sz="2400" b="1" dirty="0">
                  <a:latin typeface="Arial" panose="020B0604020202020204" pitchFamily="34" charset="0"/>
                  <a:ea typeface="楷体_GB2312"/>
                </a:endParaRPr>
              </a:p>
            </p:txBody>
          </p:sp>
          <p:sp>
            <p:nvSpPr>
              <p:cNvPr id="94222" name="Line 15"/>
              <p:cNvSpPr/>
              <p:nvPr/>
            </p:nvSpPr>
            <p:spPr>
              <a:xfrm flipV="1">
                <a:off x="1292" y="2341"/>
                <a:ext cx="318" cy="454"/>
              </a:xfrm>
              <a:prstGeom prst="line">
                <a:avLst/>
              </a:prstGeom>
              <a:ln w="9525" cap="flat" cmpd="sng">
                <a:solidFill>
                  <a:schemeClr val="tx1"/>
                </a:solidFill>
                <a:prstDash val="solid"/>
                <a:round/>
                <a:headEnd type="none" w="med" len="med"/>
                <a:tailEnd type="triangle" w="med" len="med"/>
              </a:ln>
            </p:spPr>
          </p:sp>
          <p:sp>
            <p:nvSpPr>
              <p:cNvPr id="94223" name="Line 16"/>
              <p:cNvSpPr/>
              <p:nvPr/>
            </p:nvSpPr>
            <p:spPr>
              <a:xfrm flipH="1">
                <a:off x="2835" y="1797"/>
                <a:ext cx="136" cy="182"/>
              </a:xfrm>
              <a:prstGeom prst="line">
                <a:avLst/>
              </a:prstGeom>
              <a:ln w="9525" cap="flat" cmpd="sng">
                <a:solidFill>
                  <a:schemeClr val="tx1"/>
                </a:solidFill>
                <a:prstDash val="solid"/>
                <a:round/>
                <a:headEnd type="none" w="med" len="med"/>
                <a:tailEnd type="triangle" w="med" len="med"/>
              </a:ln>
            </p:spPr>
          </p:sp>
          <p:sp>
            <p:nvSpPr>
              <p:cNvPr id="94224" name="Line 17"/>
              <p:cNvSpPr/>
              <p:nvPr/>
            </p:nvSpPr>
            <p:spPr>
              <a:xfrm flipV="1">
                <a:off x="3606" y="2341"/>
                <a:ext cx="136" cy="273"/>
              </a:xfrm>
              <a:prstGeom prst="line">
                <a:avLst/>
              </a:prstGeom>
              <a:ln w="9525" cap="flat" cmpd="sng">
                <a:solidFill>
                  <a:schemeClr val="tx1"/>
                </a:solidFill>
                <a:prstDash val="solid"/>
                <a:round/>
                <a:headEnd type="none" w="med" len="med"/>
                <a:tailEnd type="triangle" w="med" len="med"/>
              </a:ln>
            </p:spPr>
          </p:sp>
          <p:sp>
            <p:nvSpPr>
              <p:cNvPr id="94225" name="Line 18"/>
              <p:cNvSpPr/>
              <p:nvPr/>
            </p:nvSpPr>
            <p:spPr>
              <a:xfrm flipH="1" flipV="1">
                <a:off x="4513" y="2296"/>
                <a:ext cx="318" cy="499"/>
              </a:xfrm>
              <a:prstGeom prst="line">
                <a:avLst/>
              </a:prstGeom>
              <a:ln w="9525" cap="flat" cmpd="sng">
                <a:solidFill>
                  <a:schemeClr val="tx1"/>
                </a:solidFill>
                <a:prstDash val="solid"/>
                <a:round/>
                <a:headEnd type="none" w="med" len="med"/>
                <a:tailEnd type="triangle" w="med" len="med"/>
              </a:ln>
            </p:spPr>
          </p:sp>
          <p:sp>
            <p:nvSpPr>
              <p:cNvPr id="1468435" name="AutoShape 19"/>
              <p:cNvSpPr>
                <a:spLocks noChangeArrowheads="1"/>
              </p:cNvSpPr>
              <p:nvPr/>
            </p:nvSpPr>
            <p:spPr bwMode="auto">
              <a:xfrm>
                <a:off x="975" y="2115"/>
                <a:ext cx="317" cy="90"/>
              </a:xfrm>
              <a:prstGeom prst="rightArrow">
                <a:avLst>
                  <a:gd name="adj1" fmla="val 50000"/>
                  <a:gd name="adj2" fmla="val 88056"/>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68436" name="AutoShape 20"/>
              <p:cNvSpPr>
                <a:spLocks noChangeArrowheads="1"/>
              </p:cNvSpPr>
              <p:nvPr/>
            </p:nvSpPr>
            <p:spPr bwMode="auto">
              <a:xfrm>
                <a:off x="2200" y="2115"/>
                <a:ext cx="181" cy="90"/>
              </a:xfrm>
              <a:prstGeom prst="rightArrow">
                <a:avLst>
                  <a:gd name="adj1" fmla="val 50000"/>
                  <a:gd name="adj2" fmla="val 50278"/>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68437" name="AutoShape 21"/>
              <p:cNvSpPr>
                <a:spLocks noChangeArrowheads="1"/>
              </p:cNvSpPr>
              <p:nvPr/>
            </p:nvSpPr>
            <p:spPr bwMode="auto">
              <a:xfrm>
                <a:off x="3288" y="2115"/>
                <a:ext cx="227" cy="90"/>
              </a:xfrm>
              <a:prstGeom prst="rightArrow">
                <a:avLst>
                  <a:gd name="adj1" fmla="val 50000"/>
                  <a:gd name="adj2" fmla="val 63056"/>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68438" name="AutoShape 22"/>
              <p:cNvSpPr>
                <a:spLocks noChangeArrowheads="1"/>
              </p:cNvSpPr>
              <p:nvPr/>
            </p:nvSpPr>
            <p:spPr bwMode="auto">
              <a:xfrm>
                <a:off x="4014" y="2115"/>
                <a:ext cx="227" cy="136"/>
              </a:xfrm>
              <a:prstGeom prst="rightArrow">
                <a:avLst>
                  <a:gd name="adj1" fmla="val 50000"/>
                  <a:gd name="adj2" fmla="val 41728"/>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68439" name="AutoShape 23"/>
              <p:cNvSpPr>
                <a:spLocks noChangeArrowheads="1"/>
              </p:cNvSpPr>
              <p:nvPr/>
            </p:nvSpPr>
            <p:spPr bwMode="auto">
              <a:xfrm>
                <a:off x="4694" y="2161"/>
                <a:ext cx="408" cy="90"/>
              </a:xfrm>
              <a:prstGeom prst="rightArrow">
                <a:avLst>
                  <a:gd name="adj1" fmla="val 50000"/>
                  <a:gd name="adj2" fmla="val 113333"/>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31" name="Rectangle 24"/>
              <p:cNvSpPr/>
              <p:nvPr/>
            </p:nvSpPr>
            <p:spPr>
              <a:xfrm>
                <a:off x="1111" y="1567"/>
                <a:ext cx="888" cy="288"/>
              </a:xfrm>
              <a:prstGeom prst="rect">
                <a:avLst/>
              </a:prstGeom>
              <a:noFill/>
              <a:ln w="9525">
                <a:noFill/>
              </a:ln>
            </p:spPr>
            <p:txBody>
              <a:bodyPr wrap="none" anchor="t" anchorCtr="0">
                <a:spAutoFit/>
              </a:bodyPr>
              <a:p>
                <a:r>
                  <a:rPr lang="zh-CN" altLang="en-US" sz="2400" b="1" dirty="0">
                    <a:solidFill>
                      <a:srgbClr val="FF0000"/>
                    </a:solidFill>
                    <a:latin typeface="Arial" panose="020B0604020202020204" pitchFamily="34" charset="0"/>
                    <a:ea typeface="楷体_GB2312"/>
                  </a:rPr>
                  <a:t>四个阶段</a:t>
                </a:r>
                <a:endParaRPr lang="zh-CN" altLang="en-US" sz="2400" b="1" dirty="0">
                  <a:solidFill>
                    <a:srgbClr val="FF0000"/>
                  </a:solidFill>
                  <a:latin typeface="Arial" panose="020B0604020202020204" pitchFamily="34" charset="0"/>
                  <a:ea typeface="楷体_GB2312"/>
                </a:endParaRPr>
              </a:p>
            </p:txBody>
          </p:sp>
          <p:sp>
            <p:nvSpPr>
              <p:cNvPr id="94232" name="Line 25"/>
              <p:cNvSpPr/>
              <p:nvPr/>
            </p:nvSpPr>
            <p:spPr>
              <a:xfrm flipH="1">
                <a:off x="1111" y="1933"/>
                <a:ext cx="136" cy="136"/>
              </a:xfrm>
              <a:prstGeom prst="line">
                <a:avLst/>
              </a:prstGeom>
              <a:ln w="9525" cap="flat" cmpd="sng">
                <a:solidFill>
                  <a:schemeClr val="tx1"/>
                </a:solidFill>
                <a:prstDash val="solid"/>
                <a:round/>
                <a:headEnd type="none" w="med" len="med"/>
                <a:tailEnd type="triangle" w="med" len="med"/>
              </a:ln>
            </p:spPr>
          </p:sp>
          <p:sp>
            <p:nvSpPr>
              <p:cNvPr id="94233" name="Text Box 26"/>
              <p:cNvSpPr txBox="1"/>
              <p:nvPr/>
            </p:nvSpPr>
            <p:spPr>
              <a:xfrm>
                <a:off x="4513" y="2795"/>
                <a:ext cx="952" cy="51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沿刀具前刀面流出</a:t>
                </a:r>
                <a:endParaRPr lang="zh-CN" altLang="en-US" sz="2400" b="1" dirty="0">
                  <a:latin typeface="Arial" panose="020B0604020202020204" pitchFamily="34" charset="0"/>
                  <a:ea typeface="楷体_GB2312"/>
                </a:endParaRPr>
              </a:p>
            </p:txBody>
          </p:sp>
        </p:grpSp>
      </p:grpSp>
      <p:sp>
        <p:nvSpPr>
          <p:cNvPr id="94234" name="文本框 3"/>
          <p:cNvSpPr txBox="1"/>
          <p:nvPr/>
        </p:nvSpPr>
        <p:spPr>
          <a:xfrm>
            <a:off x="1131888" y="1196975"/>
            <a:ext cx="7446962" cy="368300"/>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https://www.bilibili.com/video/av97832736?p=4切屑的种类形成过程</a:t>
            </a:r>
            <a:endParaRPr lang="zh-CN" altLang="en-US">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96258" name="Rectangle 3"/>
          <p:cNvSpPr/>
          <p:nvPr/>
        </p:nvSpPr>
        <p:spPr>
          <a:xfrm>
            <a:off x="-76200" y="1431925"/>
            <a:ext cx="8686800" cy="396875"/>
          </a:xfrm>
          <a:prstGeom prst="rect">
            <a:avLst/>
          </a:prstGeom>
          <a:noFill/>
          <a:ln w="9525">
            <a:noFill/>
          </a:ln>
        </p:spPr>
        <p:txBody>
          <a:bodyPr anchor="t" anchorCtr="0">
            <a:spAutoFit/>
          </a:bodyPr>
          <a:p>
            <a:pPr marL="457200" indent="-457200">
              <a:spcBef>
                <a:spcPct val="50000"/>
              </a:spcBef>
            </a:pPr>
            <a:r>
              <a:rPr lang="en-US" altLang="zh-CN" sz="2000" b="1" dirty="0">
                <a:latin typeface="Century" panose="02040604050505020304" pitchFamily="18" charset="0"/>
                <a:ea typeface="宋体" panose="02010600030101010101" pitchFamily="2" charset="-122"/>
              </a:rPr>
              <a:t>             </a:t>
            </a:r>
            <a:endParaRPr lang="en-US" altLang="zh-CN" sz="2000" b="1" dirty="0">
              <a:solidFill>
                <a:srgbClr val="FB9E97"/>
              </a:solidFill>
              <a:latin typeface="Century" panose="02040604050505020304" pitchFamily="18" charset="0"/>
              <a:ea typeface="宋体" panose="02010600030101010101" pitchFamily="2" charset="-122"/>
            </a:endParaRPr>
          </a:p>
        </p:txBody>
      </p:sp>
      <p:sp>
        <p:nvSpPr>
          <p:cNvPr id="96259" name="Rectangle 4"/>
          <p:cNvSpPr/>
          <p:nvPr/>
        </p:nvSpPr>
        <p:spPr>
          <a:xfrm>
            <a:off x="323850" y="1268413"/>
            <a:ext cx="8229600" cy="647700"/>
          </a:xfrm>
          <a:prstGeom prst="rect">
            <a:avLst/>
          </a:prstGeom>
          <a:noFill/>
          <a:ln w="9525">
            <a:noFill/>
          </a:ln>
        </p:spPr>
        <p:txBody>
          <a:bodyPr anchor="t" anchorCtr="0"/>
          <a:p>
            <a:pPr marL="342900" indent="-342900">
              <a:spcBef>
                <a:spcPct val="20000"/>
              </a:spcBef>
            </a:pPr>
            <a:r>
              <a:rPr lang="en-US" altLang="zh-CN" sz="2800" b="1" dirty="0">
                <a:latin typeface="Arial" panose="020B0604020202020204" pitchFamily="34" charset="0"/>
                <a:ea typeface="宋体" panose="02010600030101010101" pitchFamily="2" charset="-122"/>
              </a:rPr>
              <a:t> </a:t>
            </a:r>
            <a:r>
              <a:rPr lang="en-US" altLang="zh-CN" sz="2800" b="1" dirty="0">
                <a:solidFill>
                  <a:srgbClr val="00CC00"/>
                </a:solidFill>
                <a:latin typeface="楷体_GB2312"/>
                <a:ea typeface="楷体_GB2312"/>
              </a:rPr>
              <a:t>2.  </a:t>
            </a:r>
            <a:r>
              <a:rPr lang="zh-CN" altLang="en-US" sz="2800" b="1" dirty="0">
                <a:solidFill>
                  <a:srgbClr val="00CC00"/>
                </a:solidFill>
                <a:latin typeface="楷体_GB2312"/>
                <a:ea typeface="楷体_GB2312"/>
              </a:rPr>
              <a:t>切屑的种类</a:t>
            </a:r>
            <a:endParaRPr lang="zh-CN" altLang="en-US" sz="2800" b="1" dirty="0">
              <a:solidFill>
                <a:srgbClr val="00CC00"/>
              </a:solidFill>
              <a:latin typeface="楷体_GB2312"/>
              <a:ea typeface="楷体_GB2312"/>
            </a:endParaRPr>
          </a:p>
        </p:txBody>
      </p:sp>
      <p:grpSp>
        <p:nvGrpSpPr>
          <p:cNvPr id="96260" name="Group 5"/>
          <p:cNvGrpSpPr/>
          <p:nvPr/>
        </p:nvGrpSpPr>
        <p:grpSpPr>
          <a:xfrm>
            <a:off x="611188" y="4824413"/>
            <a:ext cx="7773987" cy="1627187"/>
            <a:chOff x="385" y="3039"/>
            <a:chExt cx="4897" cy="1025"/>
          </a:xfrm>
        </p:grpSpPr>
        <p:sp>
          <p:nvSpPr>
            <p:cNvPr id="96261" name="Text Box 6"/>
            <p:cNvSpPr txBox="1"/>
            <p:nvPr/>
          </p:nvSpPr>
          <p:spPr>
            <a:xfrm>
              <a:off x="2471" y="3429"/>
              <a:ext cx="725" cy="327"/>
            </a:xfrm>
            <a:prstGeom prst="rect">
              <a:avLst/>
            </a:prstGeom>
            <a:no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切屑</a:t>
              </a:r>
              <a:endParaRPr lang="zh-CN" altLang="en-US" sz="2800" b="1" dirty="0">
                <a:latin typeface="Arial" panose="020B0604020202020204" pitchFamily="34" charset="0"/>
                <a:ea typeface="楷体_GB2312"/>
              </a:endParaRPr>
            </a:p>
          </p:txBody>
        </p:sp>
        <p:sp>
          <p:nvSpPr>
            <p:cNvPr id="96262" name="Line 7"/>
            <p:cNvSpPr/>
            <p:nvPr/>
          </p:nvSpPr>
          <p:spPr>
            <a:xfrm flipV="1">
              <a:off x="3106" y="3203"/>
              <a:ext cx="726" cy="272"/>
            </a:xfrm>
            <a:prstGeom prst="line">
              <a:avLst/>
            </a:prstGeom>
            <a:ln w="9525" cap="flat" cmpd="sng">
              <a:solidFill>
                <a:schemeClr val="tx1"/>
              </a:solidFill>
              <a:prstDash val="solid"/>
              <a:round/>
              <a:headEnd type="none" w="med" len="med"/>
              <a:tailEnd type="triangle" w="med" len="med"/>
            </a:ln>
          </p:spPr>
        </p:sp>
        <p:sp>
          <p:nvSpPr>
            <p:cNvPr id="96263" name="Line 8"/>
            <p:cNvSpPr/>
            <p:nvPr/>
          </p:nvSpPr>
          <p:spPr>
            <a:xfrm flipH="1" flipV="1">
              <a:off x="1882" y="3248"/>
              <a:ext cx="499" cy="272"/>
            </a:xfrm>
            <a:prstGeom prst="line">
              <a:avLst/>
            </a:prstGeom>
            <a:ln w="9525" cap="flat" cmpd="sng">
              <a:solidFill>
                <a:schemeClr val="tx1"/>
              </a:solidFill>
              <a:prstDash val="solid"/>
              <a:round/>
              <a:headEnd type="none" w="med" len="med"/>
              <a:tailEnd type="triangle" w="med" len="med"/>
            </a:ln>
          </p:spPr>
        </p:sp>
        <p:sp>
          <p:nvSpPr>
            <p:cNvPr id="96264" name="Line 9"/>
            <p:cNvSpPr/>
            <p:nvPr/>
          </p:nvSpPr>
          <p:spPr>
            <a:xfrm flipH="1">
              <a:off x="1564" y="3702"/>
              <a:ext cx="771" cy="226"/>
            </a:xfrm>
            <a:prstGeom prst="line">
              <a:avLst/>
            </a:prstGeom>
            <a:ln w="9525" cap="flat" cmpd="sng">
              <a:solidFill>
                <a:schemeClr val="tx1"/>
              </a:solidFill>
              <a:prstDash val="solid"/>
              <a:round/>
              <a:headEnd type="none" w="med" len="med"/>
              <a:tailEnd type="triangle" w="med" len="med"/>
            </a:ln>
          </p:spPr>
        </p:sp>
        <p:sp>
          <p:nvSpPr>
            <p:cNvPr id="96265" name="Line 10"/>
            <p:cNvSpPr/>
            <p:nvPr/>
          </p:nvSpPr>
          <p:spPr>
            <a:xfrm>
              <a:off x="3061" y="3747"/>
              <a:ext cx="454" cy="91"/>
            </a:xfrm>
            <a:prstGeom prst="line">
              <a:avLst/>
            </a:prstGeom>
            <a:ln w="9525" cap="flat" cmpd="sng">
              <a:solidFill>
                <a:schemeClr val="tx1"/>
              </a:solidFill>
              <a:prstDash val="solid"/>
              <a:round/>
              <a:headEnd type="none" w="med" len="med"/>
              <a:tailEnd type="triangle" w="med" len="med"/>
            </a:ln>
          </p:spPr>
        </p:sp>
        <p:sp>
          <p:nvSpPr>
            <p:cNvPr id="96266" name="Text Box 11"/>
            <p:cNvSpPr txBox="1"/>
            <p:nvPr/>
          </p:nvSpPr>
          <p:spPr>
            <a:xfrm>
              <a:off x="608" y="3084"/>
              <a:ext cx="1270"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带状切屑</a:t>
              </a:r>
              <a:endParaRPr lang="zh-CN" altLang="en-US" sz="2800" b="1" dirty="0">
                <a:solidFill>
                  <a:srgbClr val="FF0000"/>
                </a:solidFill>
                <a:latin typeface="Arial" panose="020B0604020202020204" pitchFamily="34" charset="0"/>
                <a:ea typeface="楷体_GB2312"/>
              </a:endParaRPr>
            </a:p>
          </p:txBody>
        </p:sp>
        <p:sp>
          <p:nvSpPr>
            <p:cNvPr id="96267" name="Text Box 12"/>
            <p:cNvSpPr txBox="1"/>
            <p:nvPr/>
          </p:nvSpPr>
          <p:spPr>
            <a:xfrm>
              <a:off x="3966" y="3039"/>
              <a:ext cx="1316"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挤裂切屑</a:t>
              </a:r>
              <a:endParaRPr lang="zh-CN" altLang="en-US" sz="2800" b="1" dirty="0">
                <a:solidFill>
                  <a:srgbClr val="FF0000"/>
                </a:solidFill>
                <a:latin typeface="Arial" panose="020B0604020202020204" pitchFamily="34" charset="0"/>
                <a:ea typeface="楷体_GB2312"/>
              </a:endParaRPr>
            </a:p>
          </p:txBody>
        </p:sp>
        <p:sp>
          <p:nvSpPr>
            <p:cNvPr id="96268" name="Text Box 13"/>
            <p:cNvSpPr txBox="1"/>
            <p:nvPr/>
          </p:nvSpPr>
          <p:spPr>
            <a:xfrm>
              <a:off x="385" y="3702"/>
              <a:ext cx="1134"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单元切屑</a:t>
              </a:r>
              <a:endParaRPr lang="zh-CN" altLang="en-US" sz="2800" b="1" dirty="0">
                <a:solidFill>
                  <a:srgbClr val="FF0000"/>
                </a:solidFill>
                <a:latin typeface="Arial" panose="020B0604020202020204" pitchFamily="34" charset="0"/>
                <a:ea typeface="楷体_GB2312"/>
              </a:endParaRPr>
            </a:p>
          </p:txBody>
        </p:sp>
        <p:sp>
          <p:nvSpPr>
            <p:cNvPr id="96269" name="Text Box 14"/>
            <p:cNvSpPr txBox="1"/>
            <p:nvPr/>
          </p:nvSpPr>
          <p:spPr>
            <a:xfrm>
              <a:off x="3786" y="3737"/>
              <a:ext cx="1179"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崩碎切屑</a:t>
              </a:r>
              <a:endParaRPr lang="zh-CN" altLang="en-US" sz="2800" b="1" dirty="0">
                <a:solidFill>
                  <a:srgbClr val="FF0000"/>
                </a:solidFill>
                <a:latin typeface="Arial" panose="020B0604020202020204" pitchFamily="34" charset="0"/>
                <a:ea typeface="楷体_GB2312"/>
              </a:endParaRPr>
            </a:p>
          </p:txBody>
        </p:sp>
      </p:grpSp>
      <p:pic>
        <p:nvPicPr>
          <p:cNvPr id="96270" name="Picture 15" descr="Image043"/>
          <p:cNvPicPr>
            <a:picLocks noChangeAspect="1"/>
          </p:cNvPicPr>
          <p:nvPr/>
        </p:nvPicPr>
        <p:blipFill>
          <a:blip r:embed="rId1"/>
          <a:stretch>
            <a:fillRect/>
          </a:stretch>
        </p:blipFill>
        <p:spPr>
          <a:xfrm>
            <a:off x="971550" y="1916113"/>
            <a:ext cx="6985000" cy="2752725"/>
          </a:xfrm>
          <a:prstGeom prst="rect">
            <a:avLst/>
          </a:prstGeom>
          <a:noFill/>
          <a:ln w="9525" cap="flat" cmpd="sng">
            <a:solidFill>
              <a:srgbClr val="FF6600"/>
            </a:solidFill>
            <a:prstDash val="solid"/>
            <a:miter/>
            <a:headEnd type="none" w="med" len="med"/>
            <a:tailEnd type="none" w="med" len="med"/>
          </a:ln>
        </p:spPr>
      </p:pic>
      <p:sp>
        <p:nvSpPr>
          <p:cNvPr id="3" name="圆角矩形标注 2"/>
          <p:cNvSpPr/>
          <p:nvPr/>
        </p:nvSpPr>
        <p:spPr>
          <a:xfrm>
            <a:off x="6372225" y="1196975"/>
            <a:ext cx="1223963" cy="576263"/>
          </a:xfrm>
          <a:prstGeom prst="wedgeRoundRectCallout">
            <a:avLst>
              <a:gd name="adj1" fmla="val -20850"/>
              <a:gd name="adj2" fmla="val 2058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en-US" altLang="zh-CN" strike="noStrike" noProof="1"/>
              <a:t>45</a:t>
            </a:r>
            <a:r>
              <a:rPr lang="zh-CN" altLang="en-US" strike="noStrike" noProof="1"/>
              <a:t>度剪切？</a:t>
            </a:r>
            <a:endParaRPr lang="zh-CN" altLang="en-US" strike="noStrike" noProof="1"/>
          </a:p>
        </p:txBody>
      </p:sp>
      <p:sp>
        <p:nvSpPr>
          <p:cNvPr id="96272" name="文本框 1"/>
          <p:cNvSpPr txBox="1"/>
          <p:nvPr/>
        </p:nvSpPr>
        <p:spPr>
          <a:xfrm>
            <a:off x="3348038" y="993775"/>
            <a:ext cx="25400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https://www.bilibili.com/video/BV1FJ411G7EX?p=31天大实验切屑</a:t>
            </a:r>
            <a:endParaRPr lang="zh-CN" altLang="en-US">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a:spLocks noGrp="1"/>
          </p:cNvSpPr>
          <p:nvPr>
            <p:ph type="title"/>
          </p:nvPr>
        </p:nvSpPr>
        <p:spPr>
          <a:xfrm>
            <a:off x="3275013" y="115888"/>
            <a:ext cx="4321175" cy="11398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grpSp>
        <p:nvGrpSpPr>
          <p:cNvPr id="98306" name="Group 3"/>
          <p:cNvGrpSpPr/>
          <p:nvPr/>
        </p:nvGrpSpPr>
        <p:grpSpPr>
          <a:xfrm>
            <a:off x="539750" y="1589088"/>
            <a:ext cx="8208963" cy="4184650"/>
            <a:chOff x="431" y="1001"/>
            <a:chExt cx="5171" cy="2636"/>
          </a:xfrm>
        </p:grpSpPr>
        <p:sp>
          <p:nvSpPr>
            <p:cNvPr id="98307" name="Text Box 4"/>
            <p:cNvSpPr txBox="1"/>
            <p:nvPr/>
          </p:nvSpPr>
          <p:spPr>
            <a:xfrm>
              <a:off x="1247" y="1026"/>
              <a:ext cx="2404" cy="74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3333FF"/>
                  </a:solidFill>
                  <a:latin typeface="楷体_GB2312"/>
                  <a:ea typeface="楷体_GB2312"/>
                </a:rPr>
                <a:t>呈连绵不断的带状或螺旋状</a:t>
              </a:r>
              <a:r>
                <a:rPr lang="en-US" altLang="zh-CN" sz="2400" b="1" dirty="0">
                  <a:solidFill>
                    <a:srgbClr val="3333FF"/>
                  </a:solidFill>
                  <a:latin typeface="楷体_GB2312"/>
                  <a:ea typeface="楷体_GB2312"/>
                </a:rPr>
                <a:t>,</a:t>
              </a:r>
              <a:r>
                <a:rPr lang="zh-CN" altLang="en-US" sz="2400" b="1" dirty="0">
                  <a:solidFill>
                    <a:srgbClr val="3333FF"/>
                  </a:solidFill>
                  <a:latin typeface="楷体_GB2312"/>
                  <a:ea typeface="楷体_GB2312"/>
                </a:rPr>
                <a:t>与刀具接触的底层光滑，背面呈毛绒状</a:t>
              </a:r>
              <a:endParaRPr lang="zh-CN" altLang="en-US" sz="2400" b="1" dirty="0">
                <a:solidFill>
                  <a:srgbClr val="3333FF"/>
                </a:solidFill>
                <a:latin typeface="楷体_GB2312"/>
                <a:ea typeface="楷体_GB2312"/>
              </a:endParaRPr>
            </a:p>
          </p:txBody>
        </p:sp>
        <p:sp>
          <p:nvSpPr>
            <p:cNvPr id="98308" name="Text Box 5"/>
            <p:cNvSpPr txBox="1"/>
            <p:nvPr/>
          </p:nvSpPr>
          <p:spPr>
            <a:xfrm>
              <a:off x="431" y="1071"/>
              <a:ext cx="771" cy="596"/>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带状切屑</a:t>
              </a:r>
              <a:endParaRPr lang="zh-CN" altLang="en-US" sz="2800" b="1" dirty="0">
                <a:solidFill>
                  <a:srgbClr val="FF0000"/>
                </a:solidFill>
                <a:latin typeface="Arial" panose="020B0604020202020204" pitchFamily="34" charset="0"/>
                <a:ea typeface="楷体_GB2312"/>
              </a:endParaRPr>
            </a:p>
          </p:txBody>
        </p:sp>
        <p:sp>
          <p:nvSpPr>
            <p:cNvPr id="98309" name="Text Box 6"/>
            <p:cNvSpPr txBox="1"/>
            <p:nvPr/>
          </p:nvSpPr>
          <p:spPr>
            <a:xfrm>
              <a:off x="3651" y="1001"/>
              <a:ext cx="1814" cy="97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楷体_GB2312"/>
                  <a:ea typeface="楷体_GB2312"/>
                </a:rPr>
                <a:t>切削过程平稳，切削力变化小，工件表面光洁</a:t>
              </a:r>
              <a:r>
                <a:rPr lang="en-US" altLang="zh-CN" sz="2400" b="1" dirty="0">
                  <a:solidFill>
                    <a:srgbClr val="000000"/>
                  </a:solidFill>
                  <a:latin typeface="楷体_GB2312"/>
                  <a:ea typeface="楷体_GB2312"/>
                </a:rPr>
                <a:t>; </a:t>
              </a:r>
              <a:r>
                <a:rPr lang="zh-CN" altLang="en-US" sz="2400" b="1" dirty="0">
                  <a:solidFill>
                    <a:srgbClr val="000000"/>
                  </a:solidFill>
                  <a:latin typeface="楷体_GB2312"/>
                  <a:ea typeface="楷体_GB2312"/>
                </a:rPr>
                <a:t>必须采取断屑措施</a:t>
              </a:r>
              <a:endParaRPr lang="zh-CN" altLang="en-US" sz="2400" b="1" dirty="0">
                <a:solidFill>
                  <a:srgbClr val="000000"/>
                </a:solidFill>
                <a:latin typeface="楷体_GB2312"/>
                <a:ea typeface="楷体_GB2312"/>
              </a:endParaRPr>
            </a:p>
          </p:txBody>
        </p:sp>
        <p:sp>
          <p:nvSpPr>
            <p:cNvPr id="98310" name="Text Box 7"/>
            <p:cNvSpPr txBox="1"/>
            <p:nvPr/>
          </p:nvSpPr>
          <p:spPr>
            <a:xfrm>
              <a:off x="476" y="2795"/>
              <a:ext cx="590" cy="596"/>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挤裂切屑</a:t>
              </a:r>
              <a:endParaRPr lang="zh-CN" altLang="en-US" sz="2800" b="1" dirty="0">
                <a:solidFill>
                  <a:srgbClr val="FF0000"/>
                </a:solidFill>
                <a:latin typeface="Arial" panose="020B0604020202020204" pitchFamily="34" charset="0"/>
                <a:ea typeface="楷体_GB2312"/>
              </a:endParaRPr>
            </a:p>
          </p:txBody>
        </p:sp>
        <p:sp>
          <p:nvSpPr>
            <p:cNvPr id="98311" name="Text Box 8"/>
            <p:cNvSpPr txBox="1"/>
            <p:nvPr/>
          </p:nvSpPr>
          <p:spPr>
            <a:xfrm>
              <a:off x="1247" y="2840"/>
              <a:ext cx="2268"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3333FF"/>
                  </a:solidFill>
                  <a:latin typeface="Arial" panose="020B0604020202020204" pitchFamily="34" charset="0"/>
                  <a:ea typeface="楷体_GB2312"/>
                </a:rPr>
                <a:t>切屑背面呈较大的锯齿状，底面有不贯穿的裂纹</a:t>
              </a:r>
              <a:endParaRPr lang="zh-CN" altLang="en-US" sz="2400" b="1" dirty="0">
                <a:solidFill>
                  <a:srgbClr val="3333FF"/>
                </a:solidFill>
                <a:latin typeface="Arial" panose="020B0604020202020204" pitchFamily="34" charset="0"/>
                <a:ea typeface="楷体_GB2312"/>
              </a:endParaRPr>
            </a:p>
          </p:txBody>
        </p:sp>
        <p:sp>
          <p:nvSpPr>
            <p:cNvPr id="98312" name="Text Box 9"/>
            <p:cNvSpPr txBox="1"/>
            <p:nvPr/>
          </p:nvSpPr>
          <p:spPr>
            <a:xfrm>
              <a:off x="3833" y="2659"/>
              <a:ext cx="1769" cy="97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一般加工中等硬度钢材时，切削速度较低，切削深度和进给量较大时产生</a:t>
              </a:r>
              <a:endParaRPr lang="zh-CN" altLang="en-US" sz="2400" b="1" dirty="0">
                <a:latin typeface="Arial" panose="020B0604020202020204" pitchFamily="34" charset="0"/>
                <a:ea typeface="楷体_GB2312"/>
              </a:endParaRPr>
            </a:p>
          </p:txBody>
        </p:sp>
      </p:grpSp>
    </p:spTree>
  </p:cSld>
  <p:clrMapOvr>
    <a:masterClrMapping/>
  </p:clrMapOvr>
  <p:transition spd="slow">
    <p:randomBar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a:xfrm>
            <a:off x="3275013" y="115888"/>
            <a:ext cx="4321175" cy="11398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grpSp>
        <p:nvGrpSpPr>
          <p:cNvPr id="100354" name="Group 3"/>
          <p:cNvGrpSpPr/>
          <p:nvPr/>
        </p:nvGrpSpPr>
        <p:grpSpPr>
          <a:xfrm>
            <a:off x="323850" y="1506538"/>
            <a:ext cx="8496300" cy="4483100"/>
            <a:chOff x="204" y="949"/>
            <a:chExt cx="5352" cy="2824"/>
          </a:xfrm>
        </p:grpSpPr>
        <p:sp>
          <p:nvSpPr>
            <p:cNvPr id="100355" name="Text Box 4"/>
            <p:cNvSpPr txBox="1"/>
            <p:nvPr/>
          </p:nvSpPr>
          <p:spPr>
            <a:xfrm>
              <a:off x="204" y="1298"/>
              <a:ext cx="726" cy="596"/>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单元切屑</a:t>
              </a:r>
              <a:endParaRPr lang="zh-CN" altLang="en-US" sz="2800" b="1" dirty="0">
                <a:solidFill>
                  <a:srgbClr val="FF0000"/>
                </a:solidFill>
                <a:latin typeface="Arial" panose="020B0604020202020204" pitchFamily="34" charset="0"/>
                <a:ea typeface="楷体_GB2312"/>
              </a:endParaRPr>
            </a:p>
          </p:txBody>
        </p:sp>
        <p:sp>
          <p:nvSpPr>
            <p:cNvPr id="100356" name="Text Box 5"/>
            <p:cNvSpPr txBox="1"/>
            <p:nvPr/>
          </p:nvSpPr>
          <p:spPr>
            <a:xfrm>
              <a:off x="1020" y="1162"/>
              <a:ext cx="2359" cy="97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3333FF"/>
                  </a:solidFill>
                  <a:latin typeface="Arial" panose="020B0604020202020204" pitchFamily="34" charset="0"/>
                  <a:ea typeface="楷体_GB2312"/>
                </a:rPr>
                <a:t>在节状切屑的整个剪切面上，切应力超过了材料的破裂强度时，整个单元被切离形成粒状切屑</a:t>
              </a:r>
              <a:endParaRPr lang="zh-CN" altLang="en-US" sz="2400" b="1" dirty="0">
                <a:solidFill>
                  <a:srgbClr val="3333FF"/>
                </a:solidFill>
                <a:latin typeface="Arial" panose="020B0604020202020204" pitchFamily="34" charset="0"/>
                <a:ea typeface="楷体_GB2312"/>
              </a:endParaRPr>
            </a:p>
          </p:txBody>
        </p:sp>
        <p:sp>
          <p:nvSpPr>
            <p:cNvPr id="100357" name="Text Box 6"/>
            <p:cNvSpPr txBox="1"/>
            <p:nvPr/>
          </p:nvSpPr>
          <p:spPr>
            <a:xfrm>
              <a:off x="3425" y="949"/>
              <a:ext cx="2131" cy="143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在加工塑性较差的材料时，采用较小的前角或负前角的刀具并以极低的切削速度、大的切削深度和进给量进行切削时形成</a:t>
              </a:r>
              <a:endParaRPr lang="zh-CN" altLang="en-US" sz="2400" b="1" dirty="0">
                <a:latin typeface="Arial" panose="020B0604020202020204" pitchFamily="34" charset="0"/>
                <a:ea typeface="楷体_GB2312"/>
              </a:endParaRPr>
            </a:p>
          </p:txBody>
        </p:sp>
        <p:sp>
          <p:nvSpPr>
            <p:cNvPr id="100358" name="Text Box 7"/>
            <p:cNvSpPr txBox="1"/>
            <p:nvPr/>
          </p:nvSpPr>
          <p:spPr>
            <a:xfrm>
              <a:off x="204" y="2976"/>
              <a:ext cx="680" cy="596"/>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崩碎切屑</a:t>
              </a:r>
              <a:endParaRPr lang="zh-CN" altLang="en-US" sz="2800" b="1" dirty="0">
                <a:solidFill>
                  <a:srgbClr val="FF0000"/>
                </a:solidFill>
                <a:latin typeface="Arial" panose="020B0604020202020204" pitchFamily="34" charset="0"/>
                <a:ea typeface="楷体_GB2312"/>
              </a:endParaRPr>
            </a:p>
          </p:txBody>
        </p:sp>
        <p:sp>
          <p:nvSpPr>
            <p:cNvPr id="100359" name="Text Box 8"/>
            <p:cNvSpPr txBox="1"/>
            <p:nvPr/>
          </p:nvSpPr>
          <p:spPr>
            <a:xfrm>
              <a:off x="884" y="2795"/>
              <a:ext cx="2404" cy="97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3333FF"/>
                  </a:solidFill>
                  <a:latin typeface="Arial" panose="020B0604020202020204" pitchFamily="34" charset="0"/>
                  <a:ea typeface="楷体_GB2312"/>
                </a:rPr>
                <a:t>切削层金属发生弹性变形后，一般不经过塑性变形就突然崩裂而形成形状不规则的崩碎切屑</a:t>
              </a:r>
              <a:endParaRPr lang="zh-CN" altLang="en-US" sz="2400" b="1" dirty="0">
                <a:solidFill>
                  <a:srgbClr val="3333FF"/>
                </a:solidFill>
                <a:latin typeface="Arial" panose="020B0604020202020204" pitchFamily="34" charset="0"/>
                <a:ea typeface="楷体_GB2312"/>
              </a:endParaRPr>
            </a:p>
          </p:txBody>
        </p:sp>
        <p:sp>
          <p:nvSpPr>
            <p:cNvPr id="100360" name="Text Box 9"/>
            <p:cNvSpPr txBox="1"/>
            <p:nvPr/>
          </p:nvSpPr>
          <p:spPr>
            <a:xfrm>
              <a:off x="3424" y="2795"/>
              <a:ext cx="2132" cy="97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工件材料脆性越大，刀具前角越小，切削深度和进给量越大，越易产生此类切屑</a:t>
              </a:r>
              <a:endParaRPr lang="zh-CN" altLang="en-US" sz="2400" b="1" dirty="0">
                <a:solidFill>
                  <a:srgbClr val="000000"/>
                </a:solidFill>
                <a:latin typeface="Arial" panose="020B0604020202020204" pitchFamily="34" charset="0"/>
                <a:ea typeface="楷体_GB2312"/>
              </a:endParaRPr>
            </a:p>
          </p:txBody>
        </p:sp>
      </p:grpSp>
    </p:spTree>
  </p:cSld>
  <p:clrMapOvr>
    <a:masterClrMapping/>
  </p:clrMapOvr>
  <p:transition spd="slow">
    <p:randomBa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title"/>
          </p:nvPr>
        </p:nvSpPr>
        <p:spPr>
          <a:xfrm>
            <a:off x="3275013" y="115888"/>
            <a:ext cx="4321175" cy="11398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sp>
        <p:nvSpPr>
          <p:cNvPr id="102402" name="Text Box 3"/>
          <p:cNvSpPr txBox="1"/>
          <p:nvPr/>
        </p:nvSpPr>
        <p:spPr>
          <a:xfrm>
            <a:off x="395288" y="1258888"/>
            <a:ext cx="6985000" cy="519112"/>
          </a:xfrm>
          <a:prstGeom prst="rect">
            <a:avLst/>
          </a:prstGeom>
          <a:noFill/>
          <a:ln w="9525">
            <a:noFill/>
          </a:ln>
        </p:spPr>
        <p:txBody>
          <a:bodyPr lIns="91430" tIns="45715" rIns="91430" bIns="45715" anchor="t" anchorCtr="0">
            <a:spAutoFit/>
          </a:bodyPr>
          <a:p>
            <a:pPr>
              <a:spcBef>
                <a:spcPct val="50000"/>
              </a:spcBef>
            </a:pPr>
            <a:r>
              <a:rPr lang="en-US" altLang="zh-CN" sz="2800" b="1" dirty="0">
                <a:solidFill>
                  <a:srgbClr val="00CC00"/>
                </a:solidFill>
                <a:latin typeface="楷体_GB2312"/>
                <a:ea typeface="楷体_GB2312"/>
              </a:rPr>
              <a:t>(1)</a:t>
            </a:r>
            <a:r>
              <a:rPr lang="zh-CN" altLang="en-US" sz="2800" b="1" dirty="0">
                <a:solidFill>
                  <a:srgbClr val="00CC00"/>
                </a:solidFill>
                <a:latin typeface="楷体_GB2312"/>
                <a:ea typeface="楷体_GB2312"/>
              </a:rPr>
              <a:t>切屑的形态可随切削条件不同而改变</a:t>
            </a:r>
            <a:endParaRPr lang="zh-CN" altLang="en-US" sz="2800" b="1" dirty="0">
              <a:solidFill>
                <a:srgbClr val="00CC00"/>
              </a:solidFill>
              <a:latin typeface="楷体_GB2312"/>
              <a:ea typeface="楷体_GB2312"/>
            </a:endParaRPr>
          </a:p>
        </p:txBody>
      </p:sp>
      <p:sp>
        <p:nvSpPr>
          <p:cNvPr id="102403" name="Text Box 4"/>
          <p:cNvSpPr txBox="1"/>
          <p:nvPr/>
        </p:nvSpPr>
        <p:spPr>
          <a:xfrm>
            <a:off x="323850" y="1773238"/>
            <a:ext cx="8459788" cy="946150"/>
          </a:xfrm>
          <a:prstGeom prst="rect">
            <a:avLst/>
          </a:prstGeom>
          <a:noFill/>
          <a:ln w="9525">
            <a:noFill/>
          </a:ln>
        </p:spPr>
        <p:txBody>
          <a:bodyPr lIns="91430" tIns="45715" rIns="91430" bIns="45715" anchor="t" anchorCtr="0">
            <a:spAutoFit/>
          </a:bodyPr>
          <a:p>
            <a:pPr>
              <a:spcBef>
                <a:spcPct val="50000"/>
              </a:spcBef>
            </a:pPr>
            <a:r>
              <a:rPr lang="en-US" altLang="zh-CN" sz="2800" b="1" dirty="0">
                <a:latin typeface="楷体_GB2312"/>
                <a:ea typeface="楷体_GB2312"/>
              </a:rPr>
              <a:t>(2)</a:t>
            </a:r>
            <a:r>
              <a:rPr lang="zh-CN" altLang="en-US" sz="2800" b="1" dirty="0">
                <a:solidFill>
                  <a:srgbClr val="3333FF"/>
                </a:solidFill>
                <a:latin typeface="楷体_GB2312"/>
                <a:ea typeface="楷体_GB2312"/>
              </a:rPr>
              <a:t>控制切削条件</a:t>
            </a:r>
            <a:r>
              <a:rPr lang="zh-CN" altLang="en-US" sz="2800" b="1" dirty="0">
                <a:latin typeface="楷体_GB2312"/>
                <a:ea typeface="楷体_GB2312"/>
              </a:rPr>
              <a:t>，使切屑形态向有利于生产的方面转化，保证切削加工的顺利进行和工件的加工质量</a:t>
            </a:r>
            <a:endParaRPr lang="zh-CN" altLang="en-US" sz="2800" b="1" dirty="0">
              <a:latin typeface="楷体_GB2312"/>
              <a:ea typeface="楷体_GB2312"/>
            </a:endParaRPr>
          </a:p>
        </p:txBody>
      </p:sp>
      <p:grpSp>
        <p:nvGrpSpPr>
          <p:cNvPr id="102404" name="Group 5"/>
          <p:cNvGrpSpPr/>
          <p:nvPr/>
        </p:nvGrpSpPr>
        <p:grpSpPr>
          <a:xfrm>
            <a:off x="468313" y="2916238"/>
            <a:ext cx="8207375" cy="3465512"/>
            <a:chOff x="295" y="1752"/>
            <a:chExt cx="5170" cy="2183"/>
          </a:xfrm>
        </p:grpSpPr>
        <p:sp>
          <p:nvSpPr>
            <p:cNvPr id="102405" name="Text Box 6"/>
            <p:cNvSpPr txBox="1"/>
            <p:nvPr/>
          </p:nvSpPr>
          <p:spPr>
            <a:xfrm>
              <a:off x="431" y="2115"/>
              <a:ext cx="1089"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增大前角</a:t>
              </a:r>
              <a:endParaRPr lang="zh-CN" altLang="en-US" sz="2800" b="1" dirty="0">
                <a:solidFill>
                  <a:srgbClr val="FF0000"/>
                </a:solidFill>
                <a:latin typeface="Arial" panose="020B0604020202020204" pitchFamily="34" charset="0"/>
                <a:ea typeface="楷体_GB2312"/>
              </a:endParaRPr>
            </a:p>
          </p:txBody>
        </p:sp>
        <p:sp>
          <p:nvSpPr>
            <p:cNvPr id="102406" name="Text Box 7"/>
            <p:cNvSpPr txBox="1"/>
            <p:nvPr/>
          </p:nvSpPr>
          <p:spPr>
            <a:xfrm>
              <a:off x="522" y="2614"/>
              <a:ext cx="907" cy="596"/>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提高切削速度</a:t>
              </a:r>
              <a:endParaRPr lang="zh-CN" altLang="en-US" sz="2800" b="1" dirty="0">
                <a:solidFill>
                  <a:srgbClr val="FF0000"/>
                </a:solidFill>
                <a:latin typeface="Arial" panose="020B0604020202020204" pitchFamily="34" charset="0"/>
                <a:ea typeface="楷体_GB2312"/>
              </a:endParaRPr>
            </a:p>
          </p:txBody>
        </p:sp>
        <p:sp>
          <p:nvSpPr>
            <p:cNvPr id="102407" name="Text Box 8"/>
            <p:cNvSpPr txBox="1"/>
            <p:nvPr/>
          </p:nvSpPr>
          <p:spPr>
            <a:xfrm>
              <a:off x="295" y="3385"/>
              <a:ext cx="1361"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减小进给量</a:t>
              </a:r>
              <a:endParaRPr lang="zh-CN" altLang="en-US" sz="2800" b="1" dirty="0">
                <a:solidFill>
                  <a:srgbClr val="FF0000"/>
                </a:solidFill>
                <a:latin typeface="Arial" panose="020B0604020202020204" pitchFamily="34" charset="0"/>
                <a:ea typeface="楷体_GB2312"/>
              </a:endParaRPr>
            </a:p>
          </p:txBody>
        </p:sp>
        <p:sp>
          <p:nvSpPr>
            <p:cNvPr id="102408" name="AutoShape 9"/>
            <p:cNvSpPr/>
            <p:nvPr/>
          </p:nvSpPr>
          <p:spPr>
            <a:xfrm>
              <a:off x="1701" y="2161"/>
              <a:ext cx="273" cy="1406"/>
            </a:xfrm>
            <a:prstGeom prst="rightBrace">
              <a:avLst>
                <a:gd name="adj1" fmla="val 42751"/>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02409" name="Text Box 10"/>
            <p:cNvSpPr txBox="1"/>
            <p:nvPr/>
          </p:nvSpPr>
          <p:spPr>
            <a:xfrm>
              <a:off x="2064" y="2695"/>
              <a:ext cx="1089"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000000"/>
                  </a:solidFill>
                  <a:latin typeface="Arial" panose="020B0604020202020204" pitchFamily="34" charset="0"/>
                  <a:ea typeface="楷体_GB2312"/>
                </a:rPr>
                <a:t>有利于</a:t>
              </a:r>
              <a:endParaRPr lang="zh-CN" altLang="en-US" sz="2800" b="1" dirty="0">
                <a:solidFill>
                  <a:srgbClr val="000000"/>
                </a:solidFill>
                <a:latin typeface="Arial" panose="020B0604020202020204" pitchFamily="34" charset="0"/>
                <a:ea typeface="楷体_GB2312"/>
              </a:endParaRPr>
            </a:p>
          </p:txBody>
        </p:sp>
        <p:sp>
          <p:nvSpPr>
            <p:cNvPr id="1476619" name="AutoShape 11"/>
            <p:cNvSpPr>
              <a:spLocks noChangeArrowheads="1"/>
            </p:cNvSpPr>
            <p:nvPr/>
          </p:nvSpPr>
          <p:spPr bwMode="auto">
            <a:xfrm rot="-2129385">
              <a:off x="2744" y="2478"/>
              <a:ext cx="952" cy="91"/>
            </a:xfrm>
            <a:prstGeom prst="rightArrow">
              <a:avLst>
                <a:gd name="adj1" fmla="val 50000"/>
                <a:gd name="adj2" fmla="val 261538"/>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11" name="Text Box 12"/>
            <p:cNvSpPr txBox="1"/>
            <p:nvPr/>
          </p:nvSpPr>
          <p:spPr>
            <a:xfrm>
              <a:off x="3742" y="1752"/>
              <a:ext cx="1723" cy="865"/>
            </a:xfrm>
            <a:prstGeom prst="rect">
              <a:avLst/>
            </a:prstGeom>
            <a:solidFill>
              <a:srgbClr val="CCFFFF"/>
            </a:solid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使粒状切屑、节状切屑向带状切屑转化</a:t>
              </a:r>
              <a:endParaRPr lang="zh-CN" altLang="en-US" sz="2800" b="1" dirty="0">
                <a:latin typeface="Arial" panose="020B0604020202020204" pitchFamily="34" charset="0"/>
                <a:ea typeface="楷体_GB2312"/>
              </a:endParaRPr>
            </a:p>
          </p:txBody>
        </p:sp>
        <p:sp>
          <p:nvSpPr>
            <p:cNvPr id="1476621" name="AutoShape 13"/>
            <p:cNvSpPr>
              <a:spLocks noChangeArrowheads="1"/>
            </p:cNvSpPr>
            <p:nvPr/>
          </p:nvSpPr>
          <p:spPr bwMode="auto">
            <a:xfrm>
              <a:off x="2835" y="2840"/>
              <a:ext cx="817" cy="91"/>
            </a:xfrm>
            <a:prstGeom prst="rightArrow">
              <a:avLst>
                <a:gd name="adj1" fmla="val 50000"/>
                <a:gd name="adj2" fmla="val 224451"/>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13" name="Text Box 14"/>
            <p:cNvSpPr txBox="1"/>
            <p:nvPr/>
          </p:nvSpPr>
          <p:spPr>
            <a:xfrm>
              <a:off x="3742" y="2653"/>
              <a:ext cx="1134" cy="596"/>
            </a:xfrm>
            <a:prstGeom prst="rect">
              <a:avLst/>
            </a:prstGeom>
            <a:solidFill>
              <a:srgbClr val="CCFFCC"/>
            </a:solid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使切削过程平稳</a:t>
              </a:r>
              <a:endParaRPr lang="zh-CN" altLang="en-US" sz="2800" b="1" dirty="0">
                <a:latin typeface="Arial" panose="020B0604020202020204" pitchFamily="34" charset="0"/>
                <a:ea typeface="楷体_GB2312"/>
              </a:endParaRPr>
            </a:p>
          </p:txBody>
        </p:sp>
        <p:sp>
          <p:nvSpPr>
            <p:cNvPr id="1476623" name="AutoShape 15"/>
            <p:cNvSpPr>
              <a:spLocks noChangeArrowheads="1"/>
            </p:cNvSpPr>
            <p:nvPr/>
          </p:nvSpPr>
          <p:spPr bwMode="auto">
            <a:xfrm rot="2248835">
              <a:off x="2744" y="3158"/>
              <a:ext cx="772" cy="136"/>
            </a:xfrm>
            <a:prstGeom prst="rightArrow">
              <a:avLst>
                <a:gd name="adj1" fmla="val 50000"/>
                <a:gd name="adj2" fmla="val 141912"/>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15" name="Text Box 16"/>
            <p:cNvSpPr txBox="1"/>
            <p:nvPr/>
          </p:nvSpPr>
          <p:spPr>
            <a:xfrm>
              <a:off x="3742" y="3339"/>
              <a:ext cx="1497" cy="596"/>
            </a:xfrm>
            <a:prstGeom prst="rect">
              <a:avLst/>
            </a:prstGeom>
            <a:solidFill>
              <a:srgbClr val="CCFF33"/>
            </a:solid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降低加工表面粗造度数值</a:t>
              </a:r>
              <a:endParaRPr lang="zh-CN" altLang="en-US" sz="2800" b="1" dirty="0">
                <a:latin typeface="Arial" panose="020B0604020202020204" pitchFamily="34" charset="0"/>
                <a:ea typeface="楷体_GB2312"/>
              </a:endParaRPr>
            </a:p>
          </p:txBody>
        </p:sp>
      </p:grpSp>
    </p:spTree>
  </p:cSld>
  <p:clrMapOvr>
    <a:masterClrMapping/>
  </p:clrMapOvr>
  <p:transition spd="slow">
    <p:randomBar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p:nvPr>
        </p:nvSpPr>
        <p:spPr>
          <a:xfrm>
            <a:off x="2555875" y="0"/>
            <a:ext cx="6019800" cy="11906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104450" name="Rectangle 3"/>
          <p:cNvSpPr>
            <a:spLocks noGrp="1"/>
          </p:cNvSpPr>
          <p:nvPr>
            <p:ph type="body" sz="half" idx="1"/>
          </p:nvPr>
        </p:nvSpPr>
        <p:spPr>
          <a:xfrm>
            <a:off x="107950" y="1554163"/>
            <a:ext cx="8885238" cy="4106862"/>
          </a:xfrm>
          <a:ln/>
        </p:spPr>
        <p:txBody>
          <a:bodyPr vert="horz" wrap="square" lIns="91440" tIns="45720" rIns="91440" bIns="45720" anchor="t" anchorCtr="0"/>
          <a:p>
            <a:pPr eaLnBrk="1" hangingPunct="1">
              <a:buClrTx/>
              <a:buSzTx/>
              <a:buFontTx/>
            </a:pPr>
            <a:r>
              <a:rPr lang="zh-CN" altLang="en-US" sz="2800" b="1" dirty="0">
                <a:solidFill>
                  <a:srgbClr val="FF0000"/>
                </a:solidFill>
                <a:ea typeface="楷体_GB2312"/>
              </a:rPr>
              <a:t>积屑瘤</a:t>
            </a:r>
            <a:r>
              <a:rPr lang="zh-CN" altLang="en-US" sz="2800" b="1" dirty="0"/>
              <a:t>    </a:t>
            </a:r>
            <a:endParaRPr lang="zh-CN" altLang="en-US" sz="2800" b="1" dirty="0"/>
          </a:p>
          <a:p>
            <a:pPr lvl="1" eaLnBrk="1" hangingPunct="1"/>
            <a:r>
              <a:rPr lang="zh-CN" altLang="en-US" sz="2400" b="1" dirty="0">
                <a:latin typeface="楷体_GB2312"/>
                <a:ea typeface="楷体_GB2312"/>
              </a:rPr>
              <a:t>切削钢、球墨铸铁，铝合金等塑性金属时，</a:t>
            </a:r>
            <a:r>
              <a:rPr lang="zh-CN" altLang="en-US" sz="2400" b="1" dirty="0">
                <a:solidFill>
                  <a:srgbClr val="0000FF"/>
                </a:solidFill>
                <a:latin typeface="楷体_GB2312"/>
                <a:ea typeface="楷体_GB2312"/>
              </a:rPr>
              <a:t>在切削速度不高，而又能形成带状切屑的情况下，</a:t>
            </a:r>
            <a:r>
              <a:rPr lang="zh-CN" altLang="en-US" sz="2400" b="1" dirty="0">
                <a:latin typeface="楷体_GB2312"/>
                <a:ea typeface="楷体_GB2312"/>
              </a:rPr>
              <a:t>常常有一些金属冷焊（粘结）沉积在前面上，形成硬度很高的楔块，它能代替切削刃进行切削，这个小硬块称为积屑瘤。 </a:t>
            </a:r>
            <a:endParaRPr lang="zh-CN" altLang="en-US" sz="2400" b="1" dirty="0">
              <a:latin typeface="楷体_GB2312"/>
              <a:ea typeface="楷体_GB2312"/>
            </a:endParaRPr>
          </a:p>
        </p:txBody>
      </p:sp>
      <p:sp>
        <p:nvSpPr>
          <p:cNvPr id="7" name="六角星 6"/>
          <p:cNvSpPr/>
          <p:nvPr/>
        </p:nvSpPr>
        <p:spPr>
          <a:xfrm>
            <a:off x="428625" y="1143000"/>
            <a:ext cx="500063" cy="428625"/>
          </a:xfrm>
          <a:prstGeom prst="star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4452" name="文本框 1"/>
          <p:cNvSpPr txBox="1"/>
          <p:nvPr/>
        </p:nvSpPr>
        <p:spPr>
          <a:xfrm>
            <a:off x="3348038" y="1190625"/>
            <a:ext cx="5518150"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https://v.qq.com/x/page/n079007y83p.html</a:t>
            </a:r>
            <a:r>
              <a:rPr lang="en-US" altLang="zh-CN">
                <a:latin typeface="Arial" panose="020B0604020202020204" pitchFamily="34" charset="0"/>
                <a:ea typeface="宋体" panose="02010600030101010101" pitchFamily="2" charset="-122"/>
              </a:rPr>
              <a:t> </a:t>
            </a:r>
            <a:r>
              <a:rPr lang="zh-CN" altLang="en-US">
                <a:latin typeface="Arial" panose="020B0604020202020204" pitchFamily="34" charset="0"/>
                <a:ea typeface="宋体" panose="02010600030101010101" pitchFamily="2" charset="-122"/>
              </a:rPr>
              <a:t>电镜下看切削过程积屑瘤的影响</a:t>
            </a:r>
            <a:endParaRPr lang="zh-CN" altLang="en-US">
              <a:latin typeface="Arial" panose="020B0604020202020204" pitchFamily="34" charset="0"/>
              <a:ea typeface="宋体" panose="02010600030101010101" pitchFamily="2" charset="-122"/>
            </a:endParaRPr>
          </a:p>
        </p:txBody>
      </p:sp>
      <p:graphicFrame>
        <p:nvGraphicFramePr>
          <p:cNvPr id="104453" name="对象 2"/>
          <p:cNvGraphicFramePr/>
          <p:nvPr/>
        </p:nvGraphicFramePr>
        <p:xfrm>
          <a:off x="466725" y="3573463"/>
          <a:ext cx="8226425" cy="3074987"/>
        </p:xfrm>
        <a:graphic>
          <a:graphicData uri="http://schemas.openxmlformats.org/presentationml/2006/ole">
            <mc:AlternateContent xmlns:mc="http://schemas.openxmlformats.org/markup-compatibility/2006">
              <mc:Choice xmlns:v="urn:schemas-microsoft-com:vml" Requires="v">
                <p:oleObj spid="_x0000_s3089" name="" r:id="rId1" imgW="4730750" imgH="2057400" progId="Paint.Picture">
                  <p:embed/>
                </p:oleObj>
              </mc:Choice>
              <mc:Fallback>
                <p:oleObj name="" r:id="rId1" imgW="4730750" imgH="2057400" progId="Paint.Picture">
                  <p:embed/>
                  <p:pic>
                    <p:nvPicPr>
                      <p:cNvPr id="0" name="图片 3088"/>
                      <p:cNvPicPr/>
                      <p:nvPr/>
                    </p:nvPicPr>
                    <p:blipFill>
                      <a:blip r:embed="rId2"/>
                      <a:stretch>
                        <a:fillRect/>
                      </a:stretch>
                    </p:blipFill>
                    <p:spPr>
                      <a:xfrm>
                        <a:off x="466725" y="3573463"/>
                        <a:ext cx="8226425" cy="3074987"/>
                      </a:xfrm>
                      <a:prstGeom prst="rect">
                        <a:avLst/>
                      </a:prstGeom>
                      <a:noFill/>
                      <a:ln w="38100">
                        <a:noFill/>
                        <a:miter/>
                      </a:ln>
                    </p:spPr>
                  </p:pic>
                </p:oleObj>
              </mc:Fallback>
            </mc:AlternateContent>
          </a:graphicData>
        </a:graphic>
      </p:graphicFrame>
    </p:spTree>
  </p:cSld>
  <p:clrMapOvr>
    <a:masterClrMapping/>
  </p:clrMapOvr>
  <p:transition spd="slow">
    <p:randomBar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grpSp>
        <p:nvGrpSpPr>
          <p:cNvPr id="106498" name="Group 3"/>
          <p:cNvGrpSpPr/>
          <p:nvPr/>
        </p:nvGrpSpPr>
        <p:grpSpPr>
          <a:xfrm>
            <a:off x="227013" y="1244600"/>
            <a:ext cx="8402637" cy="5637213"/>
            <a:chOff x="158" y="482"/>
            <a:chExt cx="5293" cy="3551"/>
          </a:xfrm>
        </p:grpSpPr>
        <p:sp>
          <p:nvSpPr>
            <p:cNvPr id="106499" name="Text Box 4"/>
            <p:cNvSpPr txBox="1"/>
            <p:nvPr/>
          </p:nvSpPr>
          <p:spPr>
            <a:xfrm>
              <a:off x="158" y="1072"/>
              <a:ext cx="1089"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0000FF"/>
                  </a:solidFill>
                  <a:latin typeface="Arial" panose="020B0604020202020204" pitchFamily="34" charset="0"/>
                  <a:ea typeface="楷体_GB2312"/>
                </a:rPr>
                <a:t>有利方面</a:t>
              </a:r>
              <a:endParaRPr lang="zh-CN" altLang="en-US" sz="2800" b="1" dirty="0">
                <a:solidFill>
                  <a:srgbClr val="0000FF"/>
                </a:solidFill>
                <a:latin typeface="Arial" panose="020B0604020202020204" pitchFamily="34" charset="0"/>
                <a:ea typeface="楷体_GB2312"/>
              </a:endParaRPr>
            </a:p>
          </p:txBody>
        </p:sp>
        <p:sp>
          <p:nvSpPr>
            <p:cNvPr id="106500" name="Text Box 5"/>
            <p:cNvSpPr txBox="1"/>
            <p:nvPr/>
          </p:nvSpPr>
          <p:spPr>
            <a:xfrm>
              <a:off x="1519" y="663"/>
              <a:ext cx="1134" cy="28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保护刀具</a:t>
              </a:r>
              <a:endParaRPr lang="zh-CN" altLang="en-US" sz="2400" b="1" dirty="0">
                <a:solidFill>
                  <a:srgbClr val="FF0000"/>
                </a:solidFill>
                <a:latin typeface="Arial" panose="020B0604020202020204" pitchFamily="34" charset="0"/>
                <a:ea typeface="楷体_GB2312"/>
              </a:endParaRPr>
            </a:p>
          </p:txBody>
        </p:sp>
        <p:sp>
          <p:nvSpPr>
            <p:cNvPr id="106501" name="Text Box 6"/>
            <p:cNvSpPr txBox="1"/>
            <p:nvPr/>
          </p:nvSpPr>
          <p:spPr>
            <a:xfrm>
              <a:off x="1519" y="1525"/>
              <a:ext cx="816"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增加工作前角</a:t>
              </a:r>
              <a:endParaRPr lang="zh-CN" altLang="en-US" sz="2400" b="1" dirty="0">
                <a:solidFill>
                  <a:srgbClr val="FF0000"/>
                </a:solidFill>
                <a:latin typeface="Arial" panose="020B0604020202020204" pitchFamily="34" charset="0"/>
                <a:ea typeface="楷体_GB2312"/>
              </a:endParaRPr>
            </a:p>
          </p:txBody>
        </p:sp>
        <p:sp>
          <p:nvSpPr>
            <p:cNvPr id="106502" name="Text Box 7"/>
            <p:cNvSpPr txBox="1"/>
            <p:nvPr/>
          </p:nvSpPr>
          <p:spPr>
            <a:xfrm>
              <a:off x="2653" y="572"/>
              <a:ext cx="952"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积屑瘤硬度很高</a:t>
              </a:r>
              <a:endParaRPr lang="zh-CN" altLang="en-US" sz="2400" b="1" dirty="0">
                <a:solidFill>
                  <a:srgbClr val="000000"/>
                </a:solidFill>
                <a:latin typeface="Arial" panose="020B0604020202020204" pitchFamily="34" charset="0"/>
                <a:ea typeface="楷体_GB2312"/>
              </a:endParaRPr>
            </a:p>
          </p:txBody>
        </p:sp>
        <p:sp>
          <p:nvSpPr>
            <p:cNvPr id="106503" name="Text Box 8"/>
            <p:cNvSpPr txBox="1"/>
            <p:nvPr/>
          </p:nvSpPr>
          <p:spPr>
            <a:xfrm>
              <a:off x="3968" y="482"/>
              <a:ext cx="1451" cy="74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可代替切削刃进行切屑，减少刀具的磨损</a:t>
              </a:r>
              <a:endParaRPr lang="zh-CN" altLang="en-US" sz="2400" b="1" dirty="0">
                <a:solidFill>
                  <a:srgbClr val="000000"/>
                </a:solidFill>
                <a:latin typeface="Arial" panose="020B0604020202020204" pitchFamily="34" charset="0"/>
                <a:ea typeface="楷体_GB2312"/>
              </a:endParaRPr>
            </a:p>
          </p:txBody>
        </p:sp>
        <p:sp>
          <p:nvSpPr>
            <p:cNvPr id="106504" name="Text Box 9"/>
            <p:cNvSpPr txBox="1"/>
            <p:nvPr/>
          </p:nvSpPr>
          <p:spPr>
            <a:xfrm>
              <a:off x="2471" y="1298"/>
              <a:ext cx="1542" cy="74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积屑瘤的存在，使刀具的实际工作前角增大</a:t>
              </a:r>
              <a:endParaRPr lang="zh-CN" altLang="en-US" sz="2400" b="1" dirty="0">
                <a:solidFill>
                  <a:srgbClr val="000000"/>
                </a:solidFill>
                <a:latin typeface="Arial" panose="020B0604020202020204" pitchFamily="34" charset="0"/>
                <a:ea typeface="楷体_GB2312"/>
              </a:endParaRPr>
            </a:p>
          </p:txBody>
        </p:sp>
        <p:sp>
          <p:nvSpPr>
            <p:cNvPr id="106505" name="Text Box 10"/>
            <p:cNvSpPr txBox="1"/>
            <p:nvPr/>
          </p:nvSpPr>
          <p:spPr>
            <a:xfrm>
              <a:off x="4059" y="1343"/>
              <a:ext cx="1315" cy="74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可减小切削变形和切削力，使切削轻快</a:t>
              </a:r>
              <a:endParaRPr lang="zh-CN" altLang="en-US" sz="2400" b="1" dirty="0">
                <a:solidFill>
                  <a:srgbClr val="000000"/>
                </a:solidFill>
                <a:latin typeface="Arial" panose="020B0604020202020204" pitchFamily="34" charset="0"/>
                <a:ea typeface="楷体_GB2312"/>
              </a:endParaRPr>
            </a:p>
          </p:txBody>
        </p:sp>
        <p:sp>
          <p:nvSpPr>
            <p:cNvPr id="1480715" name="AutoShape 11"/>
            <p:cNvSpPr>
              <a:spLocks noChangeArrowheads="1"/>
            </p:cNvSpPr>
            <p:nvPr/>
          </p:nvSpPr>
          <p:spPr bwMode="auto">
            <a:xfrm rot="-1772327">
              <a:off x="1292" y="1071"/>
              <a:ext cx="544" cy="136"/>
            </a:xfrm>
            <a:prstGeom prst="rightArrow">
              <a:avLst>
                <a:gd name="adj1" fmla="val 50000"/>
                <a:gd name="adj2" fmla="val 100000"/>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80716" name="AutoShape 12"/>
            <p:cNvSpPr>
              <a:spLocks noChangeArrowheads="1"/>
            </p:cNvSpPr>
            <p:nvPr/>
          </p:nvSpPr>
          <p:spPr bwMode="auto">
            <a:xfrm rot="1280211">
              <a:off x="1156" y="1434"/>
              <a:ext cx="408" cy="137"/>
            </a:xfrm>
            <a:prstGeom prst="rightArrow">
              <a:avLst>
                <a:gd name="adj1" fmla="val 50000"/>
                <a:gd name="adj2" fmla="val 74453"/>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508" name="Line 13"/>
            <p:cNvSpPr/>
            <p:nvPr/>
          </p:nvSpPr>
          <p:spPr>
            <a:xfrm>
              <a:off x="3515" y="799"/>
              <a:ext cx="453" cy="0"/>
            </a:xfrm>
            <a:prstGeom prst="line">
              <a:avLst/>
            </a:prstGeom>
            <a:ln w="9525" cap="flat" cmpd="sng">
              <a:solidFill>
                <a:schemeClr val="tx1"/>
              </a:solidFill>
              <a:prstDash val="solid"/>
              <a:round/>
              <a:headEnd type="none" w="med" len="med"/>
              <a:tailEnd type="triangle" w="med" len="med"/>
            </a:ln>
          </p:spPr>
        </p:sp>
        <p:sp>
          <p:nvSpPr>
            <p:cNvPr id="106509" name="Line 14"/>
            <p:cNvSpPr/>
            <p:nvPr/>
          </p:nvSpPr>
          <p:spPr>
            <a:xfrm>
              <a:off x="3878" y="1616"/>
              <a:ext cx="272" cy="0"/>
            </a:xfrm>
            <a:prstGeom prst="line">
              <a:avLst/>
            </a:prstGeom>
            <a:ln w="9525" cap="flat" cmpd="sng">
              <a:solidFill>
                <a:schemeClr val="tx1"/>
              </a:solidFill>
              <a:prstDash val="solid"/>
              <a:round/>
              <a:headEnd type="none" w="med" len="med"/>
              <a:tailEnd type="triangle" w="med" len="med"/>
            </a:ln>
          </p:spPr>
        </p:sp>
        <p:sp>
          <p:nvSpPr>
            <p:cNvPr id="106510" name="Line 15"/>
            <p:cNvSpPr/>
            <p:nvPr/>
          </p:nvSpPr>
          <p:spPr>
            <a:xfrm>
              <a:off x="2516" y="1253"/>
              <a:ext cx="2858" cy="0"/>
            </a:xfrm>
            <a:prstGeom prst="line">
              <a:avLst/>
            </a:prstGeom>
            <a:ln w="9525" cap="flat" cmpd="sng">
              <a:solidFill>
                <a:schemeClr val="tx1"/>
              </a:solidFill>
              <a:prstDash val="solid"/>
              <a:round/>
              <a:headEnd type="none" w="med" len="med"/>
              <a:tailEnd type="none" w="med" len="med"/>
            </a:ln>
          </p:spPr>
        </p:sp>
        <p:pic>
          <p:nvPicPr>
            <p:cNvPr id="106511" name="Picture 16" descr="Image005"/>
            <p:cNvPicPr>
              <a:picLocks noChangeAspect="1"/>
            </p:cNvPicPr>
            <p:nvPr/>
          </p:nvPicPr>
          <p:blipFill>
            <a:blip r:embed="rId1"/>
            <a:stretch>
              <a:fillRect/>
            </a:stretch>
          </p:blipFill>
          <p:spPr>
            <a:xfrm>
              <a:off x="400" y="2039"/>
              <a:ext cx="5051" cy="1994"/>
            </a:xfrm>
            <a:prstGeom prst="rect">
              <a:avLst/>
            </a:prstGeom>
            <a:noFill/>
            <a:ln w="28575" cap="flat" cmpd="sng">
              <a:solidFill>
                <a:srgbClr val="FF6600"/>
              </a:solidFill>
              <a:prstDash val="solid"/>
              <a:miter/>
              <a:headEnd type="none" w="med" len="med"/>
              <a:tailEnd type="none" w="med" len="med"/>
            </a:ln>
          </p:spPr>
        </p:pic>
      </p:grpSp>
    </p:spTree>
  </p:cSld>
  <p:clrMapOvr>
    <a:masterClrMapping/>
  </p:clrMapOvr>
  <p:transition spd="slow">
    <p:randomBar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grpSp>
        <p:nvGrpSpPr>
          <p:cNvPr id="108546" name="Group 3"/>
          <p:cNvGrpSpPr/>
          <p:nvPr/>
        </p:nvGrpSpPr>
        <p:grpSpPr>
          <a:xfrm>
            <a:off x="34925" y="1701800"/>
            <a:ext cx="8569325" cy="3559175"/>
            <a:chOff x="159" y="1072"/>
            <a:chExt cx="5398" cy="2242"/>
          </a:xfrm>
        </p:grpSpPr>
        <p:sp>
          <p:nvSpPr>
            <p:cNvPr id="108547" name="Text Box 4"/>
            <p:cNvSpPr txBox="1"/>
            <p:nvPr/>
          </p:nvSpPr>
          <p:spPr>
            <a:xfrm>
              <a:off x="159" y="1480"/>
              <a:ext cx="1180" cy="327"/>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0000FF"/>
                  </a:solidFill>
                  <a:latin typeface="Arial" panose="020B0604020202020204" pitchFamily="34" charset="0"/>
                  <a:ea typeface="楷体_GB2312"/>
                </a:rPr>
                <a:t>不利方面</a:t>
              </a:r>
              <a:endParaRPr lang="zh-CN" altLang="en-US" sz="2800" b="1" dirty="0">
                <a:solidFill>
                  <a:srgbClr val="0000FF"/>
                </a:solidFill>
                <a:latin typeface="Arial" panose="020B0604020202020204" pitchFamily="34" charset="0"/>
                <a:ea typeface="楷体_GB2312"/>
              </a:endParaRPr>
            </a:p>
          </p:txBody>
        </p:sp>
        <p:sp>
          <p:nvSpPr>
            <p:cNvPr id="108548" name="Text Box 5"/>
            <p:cNvSpPr txBox="1"/>
            <p:nvPr/>
          </p:nvSpPr>
          <p:spPr>
            <a:xfrm>
              <a:off x="1339" y="1072"/>
              <a:ext cx="1088"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影响工件尺寸精度</a:t>
              </a:r>
              <a:endParaRPr lang="zh-CN" altLang="en-US" sz="2400" b="1" dirty="0">
                <a:solidFill>
                  <a:srgbClr val="FF0000"/>
                </a:solidFill>
                <a:latin typeface="Arial" panose="020B0604020202020204" pitchFamily="34" charset="0"/>
                <a:ea typeface="楷体_GB2312"/>
              </a:endParaRPr>
            </a:p>
          </p:txBody>
        </p:sp>
        <p:sp>
          <p:nvSpPr>
            <p:cNvPr id="108549" name="Text Box 6"/>
            <p:cNvSpPr txBox="1"/>
            <p:nvPr/>
          </p:nvSpPr>
          <p:spPr>
            <a:xfrm>
              <a:off x="1338" y="2569"/>
              <a:ext cx="1134"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影响工件表面粗造度</a:t>
              </a:r>
              <a:endParaRPr lang="zh-CN" altLang="en-US" sz="2400" b="1" dirty="0">
                <a:solidFill>
                  <a:srgbClr val="FF0000"/>
                </a:solidFill>
                <a:latin typeface="Arial" panose="020B0604020202020204" pitchFamily="34" charset="0"/>
                <a:ea typeface="楷体_GB2312"/>
              </a:endParaRPr>
            </a:p>
          </p:txBody>
        </p:sp>
        <p:sp>
          <p:nvSpPr>
            <p:cNvPr id="1482759" name="AutoShape 7"/>
            <p:cNvSpPr>
              <a:spLocks noChangeArrowheads="1"/>
            </p:cNvSpPr>
            <p:nvPr/>
          </p:nvSpPr>
          <p:spPr bwMode="auto">
            <a:xfrm rot="-1326567">
              <a:off x="1066" y="1344"/>
              <a:ext cx="272" cy="136"/>
            </a:xfrm>
            <a:prstGeom prst="rightArrow">
              <a:avLst>
                <a:gd name="adj1" fmla="val 50000"/>
                <a:gd name="adj2" fmla="val 50000"/>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82760" name="AutoShape 8"/>
            <p:cNvSpPr>
              <a:spLocks noChangeArrowheads="1"/>
            </p:cNvSpPr>
            <p:nvPr/>
          </p:nvSpPr>
          <p:spPr bwMode="auto">
            <a:xfrm rot="15366907" flipH="1">
              <a:off x="889" y="2161"/>
              <a:ext cx="454" cy="113"/>
            </a:xfrm>
            <a:prstGeom prst="rightArrow">
              <a:avLst>
                <a:gd name="adj1" fmla="val 50000"/>
                <a:gd name="adj2" fmla="val 100442"/>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52" name="Text Box 9"/>
            <p:cNvSpPr txBox="1"/>
            <p:nvPr/>
          </p:nvSpPr>
          <p:spPr>
            <a:xfrm>
              <a:off x="2880" y="2206"/>
              <a:ext cx="2631"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积屑瘤破裂后会划伤表面，加快刀具磨损</a:t>
              </a:r>
              <a:endParaRPr lang="zh-CN" altLang="en-US" sz="2400" b="1" dirty="0">
                <a:solidFill>
                  <a:srgbClr val="000000"/>
                </a:solidFill>
                <a:latin typeface="Arial" panose="020B0604020202020204" pitchFamily="34" charset="0"/>
                <a:ea typeface="楷体_GB2312"/>
              </a:endParaRPr>
            </a:p>
          </p:txBody>
        </p:sp>
        <p:sp>
          <p:nvSpPr>
            <p:cNvPr id="108553" name="Text Box 10"/>
            <p:cNvSpPr txBox="1"/>
            <p:nvPr/>
          </p:nvSpPr>
          <p:spPr>
            <a:xfrm>
              <a:off x="2472" y="2796"/>
              <a:ext cx="3085" cy="51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会形成硬点和毛刺，使工件表面粗造度值增大</a:t>
              </a:r>
              <a:endParaRPr lang="zh-CN" altLang="en-US" sz="2400" b="1" dirty="0">
                <a:latin typeface="Arial" panose="020B0604020202020204" pitchFamily="34" charset="0"/>
                <a:ea typeface="楷体_GB2312"/>
              </a:endParaRPr>
            </a:p>
          </p:txBody>
        </p:sp>
        <p:sp>
          <p:nvSpPr>
            <p:cNvPr id="108554" name="Text Box 11"/>
            <p:cNvSpPr txBox="1"/>
            <p:nvPr/>
          </p:nvSpPr>
          <p:spPr>
            <a:xfrm>
              <a:off x="2835" y="1117"/>
              <a:ext cx="2631"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时大时小，时有时无，使切削力产生波动而引起振动</a:t>
              </a:r>
              <a:endParaRPr lang="zh-CN" altLang="en-US" sz="2400" b="1" dirty="0">
                <a:solidFill>
                  <a:srgbClr val="000000"/>
                </a:solidFill>
                <a:latin typeface="Arial" panose="020B0604020202020204" pitchFamily="34" charset="0"/>
                <a:ea typeface="楷体_GB2312"/>
              </a:endParaRPr>
            </a:p>
          </p:txBody>
        </p:sp>
        <p:sp>
          <p:nvSpPr>
            <p:cNvPr id="108555" name="Text Box 12"/>
            <p:cNvSpPr txBox="1"/>
            <p:nvPr/>
          </p:nvSpPr>
          <p:spPr>
            <a:xfrm>
              <a:off x="2427" y="1662"/>
              <a:ext cx="2994"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积屑瘤的顶端突出于切削刃之外，使实际的切削深度不断变化</a:t>
              </a:r>
              <a:endParaRPr lang="zh-CN" altLang="en-US" sz="2400" b="1" dirty="0">
                <a:solidFill>
                  <a:srgbClr val="000000"/>
                </a:solidFill>
                <a:latin typeface="Arial" panose="020B0604020202020204" pitchFamily="34" charset="0"/>
                <a:ea typeface="楷体_GB2312"/>
              </a:endParaRPr>
            </a:p>
          </p:txBody>
        </p:sp>
        <p:sp>
          <p:nvSpPr>
            <p:cNvPr id="108556" name="Line 13"/>
            <p:cNvSpPr/>
            <p:nvPr/>
          </p:nvSpPr>
          <p:spPr>
            <a:xfrm flipH="1">
              <a:off x="2381" y="1299"/>
              <a:ext cx="363" cy="0"/>
            </a:xfrm>
            <a:prstGeom prst="line">
              <a:avLst/>
            </a:prstGeom>
            <a:ln w="9525" cap="flat" cmpd="sng">
              <a:solidFill>
                <a:schemeClr val="tx1"/>
              </a:solidFill>
              <a:prstDash val="solid"/>
              <a:round/>
              <a:headEnd type="none" w="med" len="med"/>
              <a:tailEnd type="triangle" w="med" len="med"/>
            </a:ln>
          </p:spPr>
        </p:sp>
        <p:sp>
          <p:nvSpPr>
            <p:cNvPr id="108557" name="Line 14"/>
            <p:cNvSpPr/>
            <p:nvPr/>
          </p:nvSpPr>
          <p:spPr>
            <a:xfrm flipH="1" flipV="1">
              <a:off x="2109" y="1480"/>
              <a:ext cx="318" cy="408"/>
            </a:xfrm>
            <a:prstGeom prst="line">
              <a:avLst/>
            </a:prstGeom>
            <a:ln w="9525" cap="flat" cmpd="sng">
              <a:solidFill>
                <a:schemeClr val="tx1"/>
              </a:solidFill>
              <a:prstDash val="solid"/>
              <a:round/>
              <a:headEnd type="none" w="med" len="med"/>
              <a:tailEnd type="triangle" w="med" len="med"/>
            </a:ln>
          </p:spPr>
        </p:sp>
        <p:sp>
          <p:nvSpPr>
            <p:cNvPr id="108558" name="Line 15"/>
            <p:cNvSpPr/>
            <p:nvPr/>
          </p:nvSpPr>
          <p:spPr>
            <a:xfrm flipH="1">
              <a:off x="2472" y="2433"/>
              <a:ext cx="318" cy="181"/>
            </a:xfrm>
            <a:prstGeom prst="line">
              <a:avLst/>
            </a:prstGeom>
            <a:ln w="9525" cap="flat" cmpd="sng">
              <a:solidFill>
                <a:schemeClr val="tx1"/>
              </a:solidFill>
              <a:prstDash val="solid"/>
              <a:round/>
              <a:headEnd type="none" w="med" len="med"/>
              <a:tailEnd type="triangle" w="med" len="med"/>
            </a:ln>
          </p:spPr>
        </p:sp>
        <p:sp>
          <p:nvSpPr>
            <p:cNvPr id="108559" name="Line 16"/>
            <p:cNvSpPr/>
            <p:nvPr/>
          </p:nvSpPr>
          <p:spPr>
            <a:xfrm flipH="1" flipV="1">
              <a:off x="2291" y="2932"/>
              <a:ext cx="181" cy="181"/>
            </a:xfrm>
            <a:prstGeom prst="line">
              <a:avLst/>
            </a:prstGeom>
            <a:ln w="9525" cap="flat" cmpd="sng">
              <a:solidFill>
                <a:schemeClr val="tx1"/>
              </a:solidFill>
              <a:prstDash val="solid"/>
              <a:round/>
              <a:headEnd type="none" w="med" len="med"/>
              <a:tailEnd type="triangle" w="med" len="med"/>
            </a:ln>
          </p:spPr>
        </p:sp>
        <p:sp>
          <p:nvSpPr>
            <p:cNvPr id="108560" name="Line 17"/>
            <p:cNvSpPr/>
            <p:nvPr/>
          </p:nvSpPr>
          <p:spPr>
            <a:xfrm>
              <a:off x="2381" y="2206"/>
              <a:ext cx="3176" cy="0"/>
            </a:xfrm>
            <a:prstGeom prst="line">
              <a:avLst/>
            </a:prstGeom>
            <a:ln w="9525" cap="flat" cmpd="sng">
              <a:solidFill>
                <a:schemeClr val="tx1"/>
              </a:solidFill>
              <a:prstDash val="solid"/>
              <a:round/>
              <a:headEnd type="none" w="med" len="med"/>
              <a:tailEnd type="none" w="med" len="med"/>
            </a:ln>
          </p:spPr>
        </p:sp>
      </p:grpSp>
      <p:sp>
        <p:nvSpPr>
          <p:cNvPr id="1482770" name="Rectangle 18"/>
          <p:cNvSpPr/>
          <p:nvPr/>
        </p:nvSpPr>
        <p:spPr>
          <a:xfrm>
            <a:off x="830263" y="5753100"/>
            <a:ext cx="6257925" cy="519113"/>
          </a:xfrm>
          <a:prstGeom prst="rect">
            <a:avLst/>
          </a:prstGeom>
          <a:noFill/>
          <a:ln w="9525">
            <a:noFill/>
          </a:ln>
        </p:spPr>
        <p:txBody>
          <a:bodyPr wrap="none" anchor="t" anchorCtr="0">
            <a:spAutoFit/>
          </a:bodyPr>
          <a:p>
            <a:r>
              <a:rPr lang="zh-CN" altLang="en-US" sz="2800" b="1" dirty="0">
                <a:solidFill>
                  <a:srgbClr val="008000"/>
                </a:solidFill>
                <a:latin typeface="Arial" panose="020B0604020202020204" pitchFamily="34" charset="0"/>
                <a:ea typeface="楷体_GB2312"/>
              </a:rPr>
              <a:t>积屑瘤对粗加工有利，对精加工不利。</a:t>
            </a:r>
            <a:endParaRPr lang="zh-CN" altLang="en-US" sz="2800" b="1" dirty="0">
              <a:solidFill>
                <a:srgbClr val="008000"/>
              </a:solidFill>
              <a:latin typeface="Arial" panose="020B0604020202020204" pitchFamily="34" charset="0"/>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82770"/>
                                        </p:tgtEl>
                                        <p:attrNameLst>
                                          <p:attrName>style.visibility</p:attrName>
                                        </p:attrNameLst>
                                      </p:cBhvr>
                                      <p:to>
                                        <p:strVal val="visible"/>
                                      </p:to>
                                    </p:set>
                                    <p:animEffect transition="in" filter="circle(in)">
                                      <p:cBhvr>
                                        <p:cTn id="7" dur="2000"/>
                                        <p:tgtEl>
                                          <p:spTgt spid="148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277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110594" name="Rectangle 3"/>
          <p:cNvSpPr>
            <a:spLocks noGrp="1"/>
          </p:cNvSpPr>
          <p:nvPr>
            <p:ph type="body" sz="half" idx="1"/>
          </p:nvPr>
        </p:nvSpPr>
        <p:spPr>
          <a:xfrm>
            <a:off x="395288" y="1231900"/>
            <a:ext cx="8218487" cy="5472113"/>
          </a:xfrm>
          <a:ln/>
        </p:spPr>
        <p:txBody>
          <a:bodyPr vert="horz" wrap="square" lIns="91440" tIns="45720" rIns="91440" bIns="45720" anchor="t" anchorCtr="0"/>
          <a:p>
            <a:pPr algn="just" eaLnBrk="1" hangingPunct="1">
              <a:spcBef>
                <a:spcPct val="50000"/>
              </a:spcBef>
              <a:buClrTx/>
              <a:buSzTx/>
              <a:buFontTx/>
              <a:buNone/>
            </a:pPr>
            <a:r>
              <a:rPr lang="en-US" altLang="zh-CN" dirty="0"/>
              <a:t> </a:t>
            </a:r>
            <a:r>
              <a:rPr lang="en-US" altLang="zh-CN" sz="2800" b="1" dirty="0">
                <a:latin typeface="楷体_GB2312"/>
                <a:ea typeface="楷体_GB2312"/>
              </a:rPr>
              <a:t>3.  </a:t>
            </a:r>
            <a:r>
              <a:rPr lang="zh-CN" altLang="en-US" sz="2800" b="1" dirty="0">
                <a:latin typeface="楷体_GB2312"/>
                <a:ea typeface="楷体_GB2312"/>
              </a:rPr>
              <a:t>积屑瘤的控制</a:t>
            </a:r>
            <a:endParaRPr lang="zh-CN" altLang="en-US" sz="2800" b="1" dirty="0">
              <a:latin typeface="楷体_GB2312"/>
              <a:ea typeface="楷体_GB2312"/>
            </a:endParaRPr>
          </a:p>
          <a:p>
            <a:pPr eaLnBrk="1" hangingPunct="1">
              <a:buClrTx/>
              <a:buSzTx/>
              <a:buFontTx/>
            </a:pPr>
            <a:endParaRPr lang="en-US" altLang="zh-CN" sz="2800" b="1" dirty="0"/>
          </a:p>
        </p:txBody>
      </p:sp>
      <p:sp>
        <p:nvSpPr>
          <p:cNvPr id="110595" name="Text Box 4"/>
          <p:cNvSpPr txBox="1"/>
          <p:nvPr/>
        </p:nvSpPr>
        <p:spPr>
          <a:xfrm>
            <a:off x="1331913" y="2205038"/>
            <a:ext cx="1439862" cy="822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8000"/>
                </a:solidFill>
                <a:latin typeface="Arial" panose="020B0604020202020204" pitchFamily="34" charset="0"/>
                <a:ea typeface="楷体_GB2312"/>
              </a:rPr>
              <a:t>影响积屑瘤的因素</a:t>
            </a:r>
            <a:endParaRPr lang="zh-CN" altLang="en-US" sz="2400" b="1" dirty="0">
              <a:solidFill>
                <a:srgbClr val="008000"/>
              </a:solidFill>
              <a:latin typeface="Arial" panose="020B0604020202020204" pitchFamily="34" charset="0"/>
              <a:ea typeface="楷体_GB2312"/>
            </a:endParaRPr>
          </a:p>
        </p:txBody>
      </p:sp>
      <p:sp>
        <p:nvSpPr>
          <p:cNvPr id="110596" name="AutoShape 5"/>
          <p:cNvSpPr/>
          <p:nvPr/>
        </p:nvSpPr>
        <p:spPr>
          <a:xfrm>
            <a:off x="3132138" y="1906588"/>
            <a:ext cx="71437" cy="1450975"/>
          </a:xfrm>
          <a:prstGeom prst="leftBrace">
            <a:avLst>
              <a:gd name="adj1" fmla="val 168602"/>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10597" name="Text Box 6"/>
          <p:cNvSpPr txBox="1"/>
          <p:nvPr/>
        </p:nvSpPr>
        <p:spPr>
          <a:xfrm>
            <a:off x="3276600" y="1701800"/>
            <a:ext cx="1868488" cy="457200"/>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工件材料</a:t>
            </a:r>
            <a:endParaRPr lang="zh-CN" altLang="en-US" sz="2400" b="1" dirty="0">
              <a:solidFill>
                <a:srgbClr val="FF0000"/>
              </a:solidFill>
              <a:latin typeface="Arial" panose="020B0604020202020204" pitchFamily="34" charset="0"/>
              <a:ea typeface="楷体_GB2312"/>
            </a:endParaRPr>
          </a:p>
        </p:txBody>
      </p:sp>
      <p:sp>
        <p:nvSpPr>
          <p:cNvPr id="110598" name="Text Box 7"/>
          <p:cNvSpPr txBox="1"/>
          <p:nvPr/>
        </p:nvSpPr>
        <p:spPr>
          <a:xfrm>
            <a:off x="3276600" y="2135188"/>
            <a:ext cx="1941513" cy="457200"/>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切削用量</a:t>
            </a:r>
            <a:endParaRPr lang="zh-CN" altLang="en-US" sz="2400" b="1" dirty="0">
              <a:solidFill>
                <a:srgbClr val="FF0000"/>
              </a:solidFill>
              <a:latin typeface="Arial" panose="020B0604020202020204" pitchFamily="34" charset="0"/>
              <a:ea typeface="楷体_GB2312"/>
            </a:endParaRPr>
          </a:p>
        </p:txBody>
      </p:sp>
      <p:sp>
        <p:nvSpPr>
          <p:cNvPr id="110599" name="Text Box 8"/>
          <p:cNvSpPr txBox="1"/>
          <p:nvPr/>
        </p:nvSpPr>
        <p:spPr>
          <a:xfrm>
            <a:off x="3278188" y="2565400"/>
            <a:ext cx="1870075" cy="457200"/>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刀具角度</a:t>
            </a:r>
            <a:endParaRPr lang="zh-CN" altLang="en-US" sz="2400" b="1" dirty="0">
              <a:solidFill>
                <a:srgbClr val="FF0000"/>
              </a:solidFill>
              <a:latin typeface="Arial" panose="020B0604020202020204" pitchFamily="34" charset="0"/>
              <a:ea typeface="楷体_GB2312"/>
            </a:endParaRPr>
          </a:p>
        </p:txBody>
      </p:sp>
      <p:sp>
        <p:nvSpPr>
          <p:cNvPr id="110600" name="Text Box 9"/>
          <p:cNvSpPr txBox="1"/>
          <p:nvPr/>
        </p:nvSpPr>
        <p:spPr>
          <a:xfrm>
            <a:off x="3276600" y="2997200"/>
            <a:ext cx="1870075" cy="457200"/>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切削液等</a:t>
            </a:r>
            <a:endParaRPr lang="zh-CN" altLang="en-US" sz="2400" b="1" dirty="0">
              <a:solidFill>
                <a:srgbClr val="FF0000"/>
              </a:solidFill>
              <a:latin typeface="Arial" panose="020B0604020202020204" pitchFamily="34" charset="0"/>
              <a:ea typeface="楷体_GB2312"/>
            </a:endParaRPr>
          </a:p>
        </p:txBody>
      </p:sp>
      <p:sp>
        <p:nvSpPr>
          <p:cNvPr id="110601" name="Text Box 10"/>
          <p:cNvSpPr txBox="1"/>
          <p:nvPr/>
        </p:nvSpPr>
        <p:spPr>
          <a:xfrm>
            <a:off x="1192213" y="4916488"/>
            <a:ext cx="1508125" cy="457200"/>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8000"/>
                </a:solidFill>
                <a:latin typeface="Arial" panose="020B0604020202020204" pitchFamily="34" charset="0"/>
                <a:ea typeface="楷体_GB2312"/>
              </a:rPr>
              <a:t>控制措施</a:t>
            </a:r>
            <a:endParaRPr lang="zh-CN" altLang="en-US" sz="2400" b="1" dirty="0">
              <a:solidFill>
                <a:srgbClr val="008000"/>
              </a:solidFill>
              <a:latin typeface="Arial" panose="020B0604020202020204" pitchFamily="34" charset="0"/>
              <a:ea typeface="楷体_GB2312"/>
            </a:endParaRPr>
          </a:p>
        </p:txBody>
      </p:sp>
      <p:sp>
        <p:nvSpPr>
          <p:cNvPr id="110602" name="AutoShape 11"/>
          <p:cNvSpPr/>
          <p:nvPr/>
        </p:nvSpPr>
        <p:spPr>
          <a:xfrm>
            <a:off x="2987675" y="4000500"/>
            <a:ext cx="215900" cy="2308225"/>
          </a:xfrm>
          <a:prstGeom prst="leftBrace">
            <a:avLst>
              <a:gd name="adj1" fmla="val 88746"/>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10603" name="Text Box 12"/>
          <p:cNvSpPr txBox="1"/>
          <p:nvPr/>
        </p:nvSpPr>
        <p:spPr>
          <a:xfrm>
            <a:off x="3348038" y="4622800"/>
            <a:ext cx="5249862" cy="822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FF"/>
                </a:solidFill>
                <a:latin typeface="Arial" panose="020B0604020202020204" pitchFamily="34" charset="0"/>
                <a:ea typeface="楷体_GB2312"/>
              </a:rPr>
              <a:t>增大前角</a:t>
            </a:r>
            <a:r>
              <a:rPr lang="zh-CN" altLang="en-US" sz="2400" b="1" dirty="0">
                <a:solidFill>
                  <a:srgbClr val="000000"/>
                </a:solidFill>
                <a:latin typeface="Arial" panose="020B0604020202020204" pitchFamily="34" charset="0"/>
                <a:ea typeface="楷体_GB2312"/>
              </a:rPr>
              <a:t>可减小切削变形，降低切削温度，减小积屑瘤的高度</a:t>
            </a:r>
            <a:endParaRPr lang="zh-CN" altLang="en-US" sz="2400" b="1" dirty="0">
              <a:solidFill>
                <a:srgbClr val="000000"/>
              </a:solidFill>
              <a:latin typeface="Arial" panose="020B0604020202020204" pitchFamily="34" charset="0"/>
              <a:ea typeface="楷体_GB2312"/>
            </a:endParaRPr>
          </a:p>
        </p:txBody>
      </p:sp>
      <p:sp>
        <p:nvSpPr>
          <p:cNvPr id="110604" name="Text Box 13"/>
          <p:cNvSpPr txBox="1"/>
          <p:nvPr/>
        </p:nvSpPr>
        <p:spPr>
          <a:xfrm>
            <a:off x="3352800" y="5630863"/>
            <a:ext cx="4964113" cy="822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000000"/>
                </a:solidFill>
                <a:latin typeface="Arial" panose="020B0604020202020204" pitchFamily="34" charset="0"/>
                <a:ea typeface="楷体_GB2312"/>
              </a:rPr>
              <a:t>采用</a:t>
            </a:r>
            <a:r>
              <a:rPr lang="zh-CN" altLang="en-US" sz="2400" b="1" dirty="0">
                <a:solidFill>
                  <a:srgbClr val="0000FF"/>
                </a:solidFill>
                <a:latin typeface="Arial" panose="020B0604020202020204" pitchFamily="34" charset="0"/>
                <a:ea typeface="楷体_GB2312"/>
              </a:rPr>
              <a:t>润滑</a:t>
            </a:r>
            <a:r>
              <a:rPr lang="zh-CN" altLang="en-US" sz="2400" b="1" dirty="0">
                <a:solidFill>
                  <a:srgbClr val="000000"/>
                </a:solidFill>
                <a:latin typeface="Arial" panose="020B0604020202020204" pitchFamily="34" charset="0"/>
                <a:ea typeface="楷体_GB2312"/>
              </a:rPr>
              <a:t>性能优良的切削液可减少甚至消除积屑瘤</a:t>
            </a:r>
            <a:endParaRPr lang="zh-CN" altLang="en-US" sz="2400" b="1" dirty="0">
              <a:solidFill>
                <a:srgbClr val="000000"/>
              </a:solidFill>
              <a:latin typeface="Arial" panose="020B0604020202020204" pitchFamily="34" charset="0"/>
              <a:ea typeface="楷体_GB2312"/>
            </a:endParaRPr>
          </a:p>
        </p:txBody>
      </p:sp>
      <p:sp>
        <p:nvSpPr>
          <p:cNvPr id="110605" name="Text Box 14"/>
          <p:cNvSpPr txBox="1"/>
          <p:nvPr/>
        </p:nvSpPr>
        <p:spPr>
          <a:xfrm>
            <a:off x="3419475" y="3835400"/>
            <a:ext cx="5724525" cy="457200"/>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要</a:t>
            </a:r>
            <a:r>
              <a:rPr lang="zh-CN" altLang="en-US" sz="2400" b="1" dirty="0">
                <a:solidFill>
                  <a:srgbClr val="0000FF"/>
                </a:solidFill>
                <a:latin typeface="Arial" panose="020B0604020202020204" pitchFamily="34" charset="0"/>
                <a:ea typeface="楷体_GB2312"/>
              </a:rPr>
              <a:t>避免在中温、中速</a:t>
            </a:r>
            <a:r>
              <a:rPr lang="zh-CN" altLang="en-US" sz="2400" b="1" dirty="0">
                <a:latin typeface="Arial" panose="020B0604020202020204" pitchFamily="34" charset="0"/>
                <a:ea typeface="楷体_GB2312"/>
              </a:rPr>
              <a:t>加工塑性材料</a:t>
            </a:r>
            <a:endParaRPr lang="zh-CN" altLang="en-US" sz="2400" b="1" dirty="0">
              <a:latin typeface="Arial" panose="020B0604020202020204" pitchFamily="34" charset="0"/>
              <a:ea typeface="楷体_GB2312"/>
            </a:endParaRPr>
          </a:p>
        </p:txBody>
      </p:sp>
    </p:spTree>
  </p:cSld>
  <p:clrMapOvr>
    <a:masterClrMapping/>
  </p:clrMapOvr>
  <p:transition spd="slow">
    <p:randomBar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title"/>
          </p:nvPr>
        </p:nvSpPr>
        <p:spPr>
          <a:xfrm>
            <a:off x="3311525" y="90488"/>
            <a:ext cx="4213225" cy="11906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sp>
        <p:nvSpPr>
          <p:cNvPr id="112642" name="Rectangle 3"/>
          <p:cNvSpPr/>
          <p:nvPr/>
        </p:nvSpPr>
        <p:spPr>
          <a:xfrm>
            <a:off x="323850" y="1684338"/>
            <a:ext cx="4051300" cy="3257550"/>
          </a:xfrm>
          <a:prstGeom prst="rect">
            <a:avLst/>
          </a:prstGeom>
          <a:noFill/>
          <a:ln w="9525">
            <a:noFill/>
          </a:ln>
        </p:spPr>
        <p:txBody>
          <a:bodyPr anchor="t" anchorCtr="0">
            <a:spAutoFit/>
          </a:bodyPr>
          <a:p>
            <a:pPr marL="342900" indent="-342900">
              <a:spcBef>
                <a:spcPct val="50000"/>
              </a:spcBef>
              <a:buNone/>
            </a:pPr>
            <a:r>
              <a:rPr lang="zh-CN" altLang="en-US" sz="2800" b="1" dirty="0">
                <a:solidFill>
                  <a:srgbClr val="FF0000"/>
                </a:solidFill>
                <a:latin typeface="楷体_GB2312"/>
                <a:ea typeface="楷体_GB2312"/>
              </a:rPr>
              <a:t>三、 切削力与切削功率</a:t>
            </a:r>
            <a:endParaRPr lang="zh-CN" altLang="en-US" sz="2800" dirty="0">
              <a:solidFill>
                <a:srgbClr val="FF0000"/>
              </a:solidFill>
              <a:latin typeface="楷体_GB2312"/>
              <a:ea typeface="楷体_GB2312"/>
            </a:endParaRPr>
          </a:p>
          <a:p>
            <a:pPr marL="342900" indent="-342900">
              <a:spcBef>
                <a:spcPct val="50000"/>
              </a:spcBef>
              <a:buAutoNum type="arabicPeriod"/>
            </a:pPr>
            <a:r>
              <a:rPr lang="zh-CN" altLang="en-US" sz="2400" b="1" dirty="0">
                <a:solidFill>
                  <a:srgbClr val="008000"/>
                </a:solidFill>
                <a:latin typeface="楷体_GB2312"/>
                <a:ea typeface="楷体_GB2312"/>
              </a:rPr>
              <a:t>切削力</a:t>
            </a:r>
            <a:r>
              <a:rPr lang="zh-CN" altLang="en-US" sz="2400" dirty="0">
                <a:solidFill>
                  <a:srgbClr val="008000"/>
                </a:solidFill>
                <a:latin typeface="楷体_GB2312"/>
                <a:ea typeface="楷体_GB2312"/>
              </a:rPr>
              <a:t> </a:t>
            </a:r>
            <a:r>
              <a:rPr lang="zh-CN" altLang="en-US" sz="2400" b="1" dirty="0">
                <a:solidFill>
                  <a:srgbClr val="000000"/>
                </a:solidFill>
                <a:latin typeface="楷体_GB2312"/>
                <a:ea typeface="楷体_GB2312"/>
              </a:rPr>
              <a:t>切削过程中，材料产生变形到变成切屑所产生的</a:t>
            </a:r>
            <a:r>
              <a:rPr lang="zh-CN" altLang="en-US" sz="2400" b="1" dirty="0">
                <a:solidFill>
                  <a:srgbClr val="0033CC"/>
                </a:solidFill>
                <a:latin typeface="楷体_GB2312"/>
                <a:ea typeface="楷体_GB2312"/>
              </a:rPr>
              <a:t>抗力和切屑与前刀面之间及副后面与已加工表面之间发生的摩擦，</a:t>
            </a:r>
            <a:r>
              <a:rPr lang="zh-CN" altLang="en-US" sz="2400" b="1" dirty="0">
                <a:solidFill>
                  <a:srgbClr val="000000"/>
                </a:solidFill>
                <a:latin typeface="楷体_GB2312"/>
                <a:ea typeface="楷体_GB2312"/>
              </a:rPr>
              <a:t>共同作用于刀具上的合力称为切削力。</a:t>
            </a:r>
            <a:endParaRPr lang="zh-CN" altLang="en-US" sz="2400" b="1" dirty="0">
              <a:solidFill>
                <a:srgbClr val="FB9E97"/>
              </a:solidFill>
              <a:latin typeface="楷体_GB2312"/>
              <a:ea typeface="楷体_GB2312"/>
            </a:endParaRPr>
          </a:p>
        </p:txBody>
      </p:sp>
      <p:grpSp>
        <p:nvGrpSpPr>
          <p:cNvPr id="112643" name="Group 4"/>
          <p:cNvGrpSpPr/>
          <p:nvPr/>
        </p:nvGrpSpPr>
        <p:grpSpPr>
          <a:xfrm>
            <a:off x="4427538" y="1844675"/>
            <a:ext cx="4248150" cy="3276600"/>
            <a:chOff x="2789" y="1162"/>
            <a:chExt cx="2676" cy="2064"/>
          </a:xfrm>
        </p:grpSpPr>
        <p:grpSp>
          <p:nvGrpSpPr>
            <p:cNvPr id="112644" name="Group 5"/>
            <p:cNvGrpSpPr/>
            <p:nvPr/>
          </p:nvGrpSpPr>
          <p:grpSpPr>
            <a:xfrm>
              <a:off x="2789" y="1162"/>
              <a:ext cx="2676" cy="2064"/>
              <a:chOff x="2789" y="1162"/>
              <a:chExt cx="2676" cy="2064"/>
            </a:xfrm>
          </p:grpSpPr>
          <p:pic>
            <p:nvPicPr>
              <p:cNvPr id="112645" name="Picture 6" descr="切削力1"/>
              <p:cNvPicPr>
                <a:picLocks noChangeAspect="1"/>
              </p:cNvPicPr>
              <p:nvPr/>
            </p:nvPicPr>
            <p:blipFill>
              <a:blip r:embed="rId1">
                <a:clrChange>
                  <a:clrFrom>
                    <a:srgbClr val="FFFFFF"/>
                  </a:clrFrom>
                  <a:clrTo>
                    <a:srgbClr val="FFFFFF">
                      <a:alpha val="0"/>
                    </a:srgbClr>
                  </a:clrTo>
                </a:clrChange>
              </a:blip>
              <a:stretch>
                <a:fillRect/>
              </a:stretch>
            </p:blipFill>
            <p:spPr>
              <a:xfrm>
                <a:off x="2789" y="1162"/>
                <a:ext cx="2676" cy="1848"/>
              </a:xfrm>
              <a:prstGeom prst="rect">
                <a:avLst/>
              </a:prstGeom>
              <a:solidFill>
                <a:srgbClr val="CCFFFF"/>
              </a:solidFill>
              <a:ln w="9525">
                <a:noFill/>
              </a:ln>
            </p:spPr>
          </p:pic>
          <p:sp>
            <p:nvSpPr>
              <p:cNvPr id="112646" name="Rectangle 7"/>
              <p:cNvSpPr/>
              <p:nvPr/>
            </p:nvSpPr>
            <p:spPr>
              <a:xfrm>
                <a:off x="2789" y="2976"/>
                <a:ext cx="2676" cy="250"/>
              </a:xfrm>
              <a:prstGeom prst="rect">
                <a:avLst/>
              </a:prstGeom>
              <a:solidFill>
                <a:srgbClr val="CC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   切削力分解</a:t>
                </a:r>
                <a:endParaRPr lang="zh-CN" altLang="en-US" sz="2000" b="1" dirty="0">
                  <a:solidFill>
                    <a:srgbClr val="000000"/>
                  </a:solidFill>
                  <a:latin typeface="楷体_GB2312"/>
                  <a:ea typeface="楷体_GB2312"/>
                </a:endParaRPr>
              </a:p>
            </p:txBody>
          </p:sp>
        </p:grpSp>
        <p:sp>
          <p:nvSpPr>
            <p:cNvPr id="112647" name="Rectangle 8"/>
            <p:cNvSpPr/>
            <p:nvPr/>
          </p:nvSpPr>
          <p:spPr>
            <a:xfrm>
              <a:off x="2789" y="1162"/>
              <a:ext cx="2676" cy="2041"/>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12648" name="文本框 1"/>
          <p:cNvSpPr txBox="1"/>
          <p:nvPr/>
        </p:nvSpPr>
        <p:spPr>
          <a:xfrm>
            <a:off x="971550" y="5805488"/>
            <a:ext cx="5613400" cy="368300"/>
          </a:xfrm>
          <a:prstGeom prst="rect">
            <a:avLst/>
          </a:prstGeom>
          <a:noFill/>
          <a:ln w="9525">
            <a:noFill/>
          </a:ln>
        </p:spPr>
        <p:txBody>
          <a:bodyPr wrap="none" anchor="t" anchorCtr="0">
            <a:spAutoFit/>
          </a:bodyPr>
          <a:p>
            <a:r>
              <a:rPr lang="en-US" altLang="zh-CN" dirty="0">
                <a:latin typeface="Arial" panose="020B0604020202020204" pitchFamily="34" charset="0"/>
                <a:ea typeface="宋体" panose="02010600030101010101" pitchFamily="2" charset="-122"/>
                <a:hlinkClick r:id="rId2"/>
              </a:rPr>
              <a:t>https://v.qq.com/x/page/b0387084hoj.html</a:t>
            </a:r>
            <a:r>
              <a:rPr lang="en-US" altLang="zh-CN"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切削力讲解</a:t>
            </a:r>
            <a:endParaRPr lang="zh-CN" altLang="en-US">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3311525" y="90488"/>
            <a:ext cx="4213225" cy="11906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grpSp>
        <p:nvGrpSpPr>
          <p:cNvPr id="114690" name="Group 3"/>
          <p:cNvGrpSpPr/>
          <p:nvPr/>
        </p:nvGrpSpPr>
        <p:grpSpPr>
          <a:xfrm>
            <a:off x="611188" y="1484313"/>
            <a:ext cx="7632700" cy="2697162"/>
            <a:chOff x="748" y="1071"/>
            <a:chExt cx="4672" cy="1925"/>
          </a:xfrm>
        </p:grpSpPr>
        <p:sp>
          <p:nvSpPr>
            <p:cNvPr id="114691" name="AutoShape 4"/>
            <p:cNvSpPr/>
            <p:nvPr/>
          </p:nvSpPr>
          <p:spPr>
            <a:xfrm>
              <a:off x="748" y="1117"/>
              <a:ext cx="314" cy="1879"/>
            </a:xfrm>
            <a:prstGeom prst="leftBrace">
              <a:avLst>
                <a:gd name="adj1" fmla="val 140265"/>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14692" name="Text Box 5"/>
            <p:cNvSpPr txBox="1"/>
            <p:nvPr/>
          </p:nvSpPr>
          <p:spPr>
            <a:xfrm>
              <a:off x="1111" y="1209"/>
              <a:ext cx="1089" cy="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楷体_GB2312"/>
                  <a:ea typeface="楷体_GB2312"/>
                </a:rPr>
                <a:t>主切削力</a:t>
              </a:r>
              <a:r>
                <a:rPr lang="en-US" altLang="zh-CN" sz="2400" b="1" i="1" dirty="0">
                  <a:solidFill>
                    <a:srgbClr val="FF0000"/>
                  </a:solidFill>
                  <a:latin typeface="Times New Roman" panose="02020603050405020304" pitchFamily="18" charset="0"/>
                  <a:ea typeface="楷体_GB2312"/>
                </a:rPr>
                <a:t>F</a:t>
              </a:r>
              <a:r>
                <a:rPr lang="en-US" altLang="zh-CN" b="1" i="1" baseline="-25000" dirty="0">
                  <a:solidFill>
                    <a:srgbClr val="FF0000"/>
                  </a:solidFill>
                  <a:latin typeface="Arial" panose="020B0604020202020204" pitchFamily="34" charset="0"/>
                  <a:ea typeface="宋体" panose="02010600030101010101" pitchFamily="2" charset="-122"/>
                </a:rPr>
                <a:t>x</a:t>
              </a:r>
              <a:r>
                <a:rPr lang="en-US" altLang="zh-CN" dirty="0">
                  <a:latin typeface="Arial" panose="020B0604020202020204" pitchFamily="34" charset="0"/>
                  <a:ea typeface="宋体" panose="02010600030101010101" pitchFamily="2" charset="-122"/>
                </a:rPr>
                <a:t> </a:t>
              </a:r>
              <a:r>
                <a:rPr lang="en-US" altLang="zh-CN" sz="2400" b="1" dirty="0">
                  <a:solidFill>
                    <a:srgbClr val="FF0000"/>
                  </a:solidFill>
                  <a:latin typeface="楷体_GB2312"/>
                  <a:ea typeface="楷体_GB2312"/>
                </a:rPr>
                <a:t>:</a:t>
              </a:r>
              <a:endParaRPr lang="en-US" altLang="zh-CN" sz="2400" b="1" dirty="0">
                <a:solidFill>
                  <a:srgbClr val="FF0000"/>
                </a:solidFill>
                <a:latin typeface="楷体_GB2312"/>
                <a:ea typeface="楷体_GB2312"/>
              </a:endParaRPr>
            </a:p>
          </p:txBody>
        </p:sp>
        <p:sp>
          <p:nvSpPr>
            <p:cNvPr id="114693" name="Text Box 6"/>
            <p:cNvSpPr txBox="1"/>
            <p:nvPr/>
          </p:nvSpPr>
          <p:spPr>
            <a:xfrm>
              <a:off x="2336" y="1071"/>
              <a:ext cx="2812" cy="369"/>
            </a:xfrm>
            <a:prstGeom prst="rect">
              <a:avLst/>
            </a:prstGeom>
            <a:noFill/>
            <a:ln w="9525">
              <a:noFill/>
            </a:ln>
          </p:spPr>
          <p:txBody>
            <a:bodyPr lIns="91430" tIns="45715" rIns="91430" bIns="45715" anchor="t" anchorCtr="0">
              <a:spAutoFit/>
            </a:bodyPr>
            <a:p>
              <a:pPr>
                <a:spcBef>
                  <a:spcPct val="50000"/>
                </a:spcBef>
              </a:pPr>
              <a:endParaRPr lang="zh-CN" altLang="zh-CN" sz="2800" b="1" dirty="0">
                <a:latin typeface="Arial" panose="020B0604020202020204" pitchFamily="34" charset="0"/>
                <a:ea typeface="宋体" panose="02010600030101010101" pitchFamily="2" charset="-122"/>
              </a:endParaRPr>
            </a:p>
          </p:txBody>
        </p:sp>
        <p:sp>
          <p:nvSpPr>
            <p:cNvPr id="114694" name="Text Box 7"/>
            <p:cNvSpPr txBox="1"/>
            <p:nvPr/>
          </p:nvSpPr>
          <p:spPr>
            <a:xfrm>
              <a:off x="2381" y="1071"/>
              <a:ext cx="2995" cy="718"/>
            </a:xfrm>
            <a:prstGeom prst="rect">
              <a:avLst/>
            </a:prstGeom>
            <a:noFill/>
            <a:ln w="9525">
              <a:noFill/>
            </a:ln>
          </p:spPr>
          <p:txBody>
            <a:bodyPr lIns="91430" tIns="45715" rIns="91430" bIns="45715" anchor="t" anchorCtr="0">
              <a:spAutoFit/>
            </a:bodyPr>
            <a:p>
              <a:pPr>
                <a:spcBef>
                  <a:spcPct val="50000"/>
                </a:spcBef>
              </a:pPr>
              <a:r>
                <a:rPr lang="zh-CN" altLang="en-US" sz="2000" b="1" dirty="0">
                  <a:latin typeface="Arial" panose="020B0604020202020204" pitchFamily="34" charset="0"/>
                  <a:ea typeface="楷体_GB2312"/>
                </a:rPr>
                <a:t>切削合力在切削速度方向上的分力，垂直于基面，其大小约占总的切削合力的８５％～９０％</a:t>
              </a:r>
              <a:endParaRPr lang="zh-CN" altLang="en-US" sz="2000" b="1" dirty="0">
                <a:latin typeface="Arial" panose="020B0604020202020204" pitchFamily="34" charset="0"/>
                <a:ea typeface="楷体_GB2312"/>
              </a:endParaRPr>
            </a:p>
          </p:txBody>
        </p:sp>
        <p:sp>
          <p:nvSpPr>
            <p:cNvPr id="114695" name="Text Box 8"/>
            <p:cNvSpPr txBox="1"/>
            <p:nvPr/>
          </p:nvSpPr>
          <p:spPr>
            <a:xfrm>
              <a:off x="1202" y="1842"/>
              <a:ext cx="1043" cy="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楷体_GB2312"/>
                  <a:ea typeface="楷体_GB2312"/>
                </a:rPr>
                <a:t>背向力</a:t>
              </a:r>
              <a:r>
                <a:rPr lang="en-US" altLang="zh-CN" sz="2400" b="1" i="1" dirty="0">
                  <a:solidFill>
                    <a:srgbClr val="FF0000"/>
                  </a:solidFill>
                  <a:latin typeface="Times New Roman" panose="02020603050405020304" pitchFamily="18" charset="0"/>
                  <a:ea typeface="楷体_GB2312"/>
                </a:rPr>
                <a:t>F</a:t>
              </a:r>
              <a:r>
                <a:rPr lang="en-US" altLang="zh-CN" b="1" i="1" baseline="-25000" dirty="0">
                  <a:solidFill>
                    <a:srgbClr val="FF0000"/>
                  </a:solidFill>
                  <a:latin typeface="Arial" panose="020B0604020202020204" pitchFamily="34" charset="0"/>
                  <a:ea typeface="宋体" panose="02010600030101010101" pitchFamily="2" charset="-122"/>
                </a:rPr>
                <a:t>y</a:t>
              </a:r>
              <a:r>
                <a:rPr lang="en-US" altLang="zh-CN" dirty="0">
                  <a:latin typeface="Arial" panose="020B0604020202020204" pitchFamily="34" charset="0"/>
                  <a:ea typeface="宋体" panose="02010600030101010101" pitchFamily="2" charset="-122"/>
                </a:rPr>
                <a:t> </a:t>
              </a:r>
              <a:r>
                <a:rPr lang="en-US" altLang="zh-CN" sz="2400" b="1" dirty="0">
                  <a:solidFill>
                    <a:srgbClr val="FF0000"/>
                  </a:solidFill>
                  <a:latin typeface="楷体_GB2312"/>
                  <a:ea typeface="楷体_GB2312"/>
                </a:rPr>
                <a:t>:</a:t>
              </a:r>
              <a:endParaRPr lang="en-US" altLang="zh-CN" sz="2400" b="1" dirty="0">
                <a:solidFill>
                  <a:srgbClr val="FF0000"/>
                </a:solidFill>
                <a:latin typeface="楷体_GB2312"/>
                <a:ea typeface="楷体_GB2312"/>
              </a:endParaRPr>
            </a:p>
          </p:txBody>
        </p:sp>
        <p:sp>
          <p:nvSpPr>
            <p:cNvPr id="114696" name="Text Box 9"/>
            <p:cNvSpPr txBox="1"/>
            <p:nvPr/>
          </p:nvSpPr>
          <p:spPr>
            <a:xfrm>
              <a:off x="2381" y="1842"/>
              <a:ext cx="3039" cy="499"/>
            </a:xfrm>
            <a:prstGeom prst="rect">
              <a:avLst/>
            </a:prstGeom>
            <a:noFill/>
            <a:ln w="9525">
              <a:noFill/>
            </a:ln>
          </p:spPr>
          <p:txBody>
            <a:bodyPr lIns="91430" tIns="45715" rIns="91430" bIns="45715" anchor="t" anchorCtr="0">
              <a:spAutoFit/>
            </a:bodyPr>
            <a:p>
              <a:pPr>
                <a:spcBef>
                  <a:spcPct val="50000"/>
                </a:spcBef>
              </a:pPr>
              <a:r>
                <a:rPr lang="zh-CN" altLang="en-US" sz="2000" b="1" dirty="0">
                  <a:latin typeface="楷体_GB2312"/>
                  <a:ea typeface="楷体_GB2312"/>
                </a:rPr>
                <a:t>切削合力在切削深度方向上的分力</a:t>
              </a:r>
              <a:r>
                <a:rPr lang="en-US" altLang="zh-CN" sz="2000" b="1" dirty="0">
                  <a:latin typeface="楷体_GB2312"/>
                  <a:ea typeface="楷体_GB2312"/>
                </a:rPr>
                <a:t>;</a:t>
              </a:r>
              <a:r>
                <a:rPr lang="zh-CN" altLang="en-US" sz="2000" b="1" dirty="0">
                  <a:latin typeface="楷体_GB2312"/>
                  <a:ea typeface="楷体_GB2312"/>
                </a:rPr>
                <a:t>它在基面内，与切深方向相反</a:t>
              </a:r>
              <a:endParaRPr lang="zh-CN" altLang="en-US" sz="2000" b="1" dirty="0">
                <a:latin typeface="楷体_GB2312"/>
                <a:ea typeface="楷体_GB2312"/>
              </a:endParaRPr>
            </a:p>
          </p:txBody>
        </p:sp>
        <p:sp>
          <p:nvSpPr>
            <p:cNvPr id="114697" name="Text Box 10"/>
            <p:cNvSpPr txBox="1"/>
            <p:nvPr/>
          </p:nvSpPr>
          <p:spPr>
            <a:xfrm>
              <a:off x="1145" y="2341"/>
              <a:ext cx="1134" cy="325"/>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进给力</a:t>
              </a:r>
              <a:r>
                <a:rPr lang="en-US" altLang="zh-CN" sz="2400" b="1" i="1" dirty="0">
                  <a:solidFill>
                    <a:srgbClr val="FF0000"/>
                  </a:solidFill>
                  <a:latin typeface="Times New Roman" panose="02020603050405020304" pitchFamily="18" charset="0"/>
                  <a:ea typeface="楷体_GB2312"/>
                </a:rPr>
                <a:t>F</a:t>
              </a:r>
              <a:r>
                <a:rPr lang="en-US" altLang="zh-CN" b="1" i="1" baseline="-25000" dirty="0">
                  <a:solidFill>
                    <a:srgbClr val="FF0000"/>
                  </a:solidFill>
                  <a:latin typeface="Arial" panose="020B0604020202020204" pitchFamily="34" charset="0"/>
                  <a:ea typeface="宋体" panose="02010600030101010101" pitchFamily="2" charset="-122"/>
                </a:rPr>
                <a:t>z</a:t>
              </a:r>
              <a:r>
                <a:rPr lang="en-US" altLang="zh-CN" baseline="-25000" dirty="0">
                  <a:latin typeface="Arial" panose="020B0604020202020204" pitchFamily="34" charset="0"/>
                  <a:ea typeface="宋体" panose="02010600030101010101" pitchFamily="2" charset="-122"/>
                </a:rPr>
                <a:t> </a:t>
              </a:r>
              <a:r>
                <a:rPr lang="zh-CN" altLang="en-US" sz="2400" b="1" dirty="0">
                  <a:solidFill>
                    <a:srgbClr val="FF0000"/>
                  </a:solidFill>
                  <a:latin typeface="Arial" panose="020B0604020202020204" pitchFamily="34" charset="0"/>
                  <a:ea typeface="楷体_GB2312"/>
                </a:rPr>
                <a:t>：</a:t>
              </a:r>
              <a:endParaRPr lang="zh-CN" altLang="en-US" sz="2400" b="1" dirty="0">
                <a:solidFill>
                  <a:srgbClr val="FF0000"/>
                </a:solidFill>
                <a:latin typeface="Arial" panose="020B0604020202020204" pitchFamily="34" charset="0"/>
                <a:ea typeface="楷体_GB2312"/>
              </a:endParaRPr>
            </a:p>
          </p:txBody>
        </p:sp>
        <p:sp>
          <p:nvSpPr>
            <p:cNvPr id="114698" name="Text Box 11"/>
            <p:cNvSpPr txBox="1"/>
            <p:nvPr/>
          </p:nvSpPr>
          <p:spPr>
            <a:xfrm>
              <a:off x="2379" y="2356"/>
              <a:ext cx="2722" cy="501"/>
            </a:xfrm>
            <a:prstGeom prst="rect">
              <a:avLst/>
            </a:prstGeom>
            <a:noFill/>
            <a:ln w="9525">
              <a:noFill/>
            </a:ln>
          </p:spPr>
          <p:txBody>
            <a:bodyPr lIns="91430" tIns="45715" rIns="91430" bIns="45715" anchor="t" anchorCtr="0">
              <a:spAutoFit/>
            </a:bodyPr>
            <a:p>
              <a:pPr>
                <a:spcBef>
                  <a:spcPct val="50000"/>
                </a:spcBef>
              </a:pPr>
              <a:r>
                <a:rPr lang="zh-CN" altLang="en-US" sz="2000" b="1" dirty="0">
                  <a:latin typeface="楷体_GB2312"/>
                  <a:ea typeface="楷体_GB2312"/>
                </a:rPr>
                <a:t>切削合力在进给方向上的分力</a:t>
              </a:r>
              <a:r>
                <a:rPr lang="en-US" altLang="zh-CN" sz="2000" b="1" dirty="0">
                  <a:latin typeface="楷体_GB2312"/>
                  <a:ea typeface="楷体_GB2312"/>
                </a:rPr>
                <a:t>;</a:t>
              </a:r>
              <a:r>
                <a:rPr lang="zh-CN" altLang="en-US" sz="2000" b="1" dirty="0">
                  <a:latin typeface="楷体_GB2312"/>
                  <a:ea typeface="楷体_GB2312"/>
                </a:rPr>
                <a:t>它在基面内，与进给方向平行，但方向相反</a:t>
              </a:r>
              <a:endParaRPr lang="zh-CN" altLang="en-US" sz="2000" b="1" dirty="0">
                <a:latin typeface="楷体_GB2312"/>
                <a:ea typeface="楷体_GB2312"/>
              </a:endParaRPr>
            </a:p>
          </p:txBody>
        </p:sp>
      </p:grpSp>
      <p:grpSp>
        <p:nvGrpSpPr>
          <p:cNvPr id="3" name="Group 12"/>
          <p:cNvGrpSpPr/>
          <p:nvPr/>
        </p:nvGrpSpPr>
        <p:grpSpPr>
          <a:xfrm>
            <a:off x="179388" y="4365625"/>
            <a:ext cx="4398962" cy="1866900"/>
            <a:chOff x="404" y="3518"/>
            <a:chExt cx="4395" cy="1177"/>
          </a:xfrm>
        </p:grpSpPr>
        <p:graphicFrame>
          <p:nvGraphicFramePr>
            <p:cNvPr id="114700" name="Object 13"/>
            <p:cNvGraphicFramePr>
              <a:graphicFrameLocks noChangeAspect="1"/>
            </p:cNvGraphicFramePr>
            <p:nvPr/>
          </p:nvGraphicFramePr>
          <p:xfrm>
            <a:off x="404" y="4244"/>
            <a:ext cx="4238" cy="451"/>
          </p:xfrm>
          <a:graphic>
            <a:graphicData uri="http://schemas.openxmlformats.org/presentationml/2006/ole">
              <mc:AlternateContent xmlns:mc="http://schemas.openxmlformats.org/markup-compatibility/2006">
                <mc:Choice xmlns:v="urn:schemas-microsoft-com:vml" Requires="v">
                  <p:oleObj spid="_x0000_s3090" name="" r:id="rId1" imgW="2654300" imgH="330200" progId="Equation.3">
                    <p:embed/>
                  </p:oleObj>
                </mc:Choice>
                <mc:Fallback>
                  <p:oleObj name="" r:id="rId1" imgW="2654300" imgH="330200" progId="Equation.3">
                    <p:embed/>
                    <p:pic>
                      <p:nvPicPr>
                        <p:cNvPr id="0" name="图片 3089"/>
                        <p:cNvPicPr/>
                        <p:nvPr/>
                      </p:nvPicPr>
                      <p:blipFill>
                        <a:blip r:embed="rId2">
                          <a:clrChange>
                            <a:clrFrom>
                              <a:srgbClr val="000000"/>
                            </a:clrFrom>
                            <a:clrTo>
                              <a:srgbClr val="000000"/>
                            </a:clrTo>
                          </a:clrChange>
                        </a:blip>
                        <a:stretch>
                          <a:fillRect/>
                        </a:stretch>
                      </p:blipFill>
                      <p:spPr>
                        <a:xfrm>
                          <a:off x="404" y="4244"/>
                          <a:ext cx="4238" cy="451"/>
                        </a:xfrm>
                        <a:prstGeom prst="rect">
                          <a:avLst/>
                        </a:prstGeom>
                        <a:solidFill>
                          <a:srgbClr val="CCECFF"/>
                        </a:solidFill>
                        <a:ln w="38100">
                          <a:noFill/>
                          <a:miter/>
                        </a:ln>
                      </p:spPr>
                    </p:pic>
                  </p:oleObj>
                </mc:Fallback>
              </mc:AlternateContent>
            </a:graphicData>
          </a:graphic>
        </p:graphicFrame>
        <p:sp>
          <p:nvSpPr>
            <p:cNvPr id="114701" name="Rectangle 14"/>
            <p:cNvSpPr/>
            <p:nvPr/>
          </p:nvSpPr>
          <p:spPr>
            <a:xfrm>
              <a:off x="476" y="3518"/>
              <a:ext cx="4323" cy="290"/>
            </a:xfrm>
            <a:prstGeom prst="rect">
              <a:avLst/>
            </a:prstGeom>
            <a:noFill/>
            <a:ln w="9525">
              <a:noFill/>
            </a:ln>
          </p:spPr>
          <p:txBody>
            <a:bodyPr wrap="square" anchor="t" anchorCtr="0">
              <a:spAutoFit/>
            </a:bodyPr>
            <a:p>
              <a:r>
                <a:rPr lang="zh-CN" altLang="en-US" sz="2400" b="1" dirty="0">
                  <a:solidFill>
                    <a:srgbClr val="FF0000"/>
                  </a:solidFill>
                  <a:latin typeface="楷体_GB2312"/>
                  <a:ea typeface="楷体_GB2312"/>
                </a:rPr>
                <a:t>总切削力</a:t>
              </a:r>
              <a:r>
                <a:rPr lang="en-US" altLang="zh-CN" sz="2400" b="1" i="1" dirty="0">
                  <a:solidFill>
                    <a:srgbClr val="FF0000"/>
                  </a:solidFill>
                  <a:latin typeface="Times New Roman" panose="02020603050405020304" pitchFamily="18" charset="0"/>
                  <a:ea typeface="楷体_GB2312"/>
                </a:rPr>
                <a:t>F</a:t>
              </a:r>
              <a:r>
                <a:rPr lang="en-US" altLang="zh-CN" sz="2400" b="1" i="1" baseline="-25000" dirty="0">
                  <a:solidFill>
                    <a:srgbClr val="FF0000"/>
                  </a:solidFill>
                  <a:latin typeface="Times New Roman" panose="02020603050405020304" pitchFamily="18" charset="0"/>
                  <a:ea typeface="楷体_GB2312"/>
                </a:rPr>
                <a:t>r</a:t>
              </a:r>
              <a:r>
                <a:rPr lang="zh-CN" altLang="en-US" sz="2400" b="1" dirty="0">
                  <a:solidFill>
                    <a:srgbClr val="FF0000"/>
                  </a:solidFill>
                  <a:latin typeface="楷体_GB2312"/>
                  <a:ea typeface="楷体_GB2312"/>
                </a:rPr>
                <a:t>与三个分力</a:t>
              </a:r>
              <a:r>
                <a:rPr lang="en-US" altLang="zh-CN" sz="2400" b="1" i="1" dirty="0">
                  <a:solidFill>
                    <a:srgbClr val="FF0000"/>
                  </a:solidFill>
                  <a:latin typeface="Times New Roman" panose="02020603050405020304" pitchFamily="18" charset="0"/>
                  <a:ea typeface="楷体_GB2312"/>
                </a:rPr>
                <a:t>F</a:t>
              </a:r>
              <a:r>
                <a:rPr lang="en-US" altLang="zh-CN" sz="2400" b="1" i="1" baseline="-25000" dirty="0">
                  <a:solidFill>
                    <a:srgbClr val="FF0000"/>
                  </a:solidFill>
                  <a:latin typeface="Times New Roman" panose="02020603050405020304" pitchFamily="18" charset="0"/>
                  <a:ea typeface="楷体_GB2312"/>
                </a:rPr>
                <a:t>x</a:t>
              </a:r>
              <a:r>
                <a:rPr lang="en-US" altLang="zh-CN" sz="2400" b="1" dirty="0">
                  <a:solidFill>
                    <a:srgbClr val="FF0000"/>
                  </a:solidFill>
                  <a:latin typeface="Times New Roman" panose="02020603050405020304" pitchFamily="18" charset="0"/>
                  <a:ea typeface="楷体_GB2312"/>
                </a:rPr>
                <a:t> </a:t>
              </a:r>
              <a:r>
                <a:rPr lang="zh-CN" altLang="en-US"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F</a:t>
              </a:r>
              <a:r>
                <a:rPr lang="en-US" altLang="zh-CN" sz="2400" b="1" i="1" baseline="-25000" dirty="0">
                  <a:solidFill>
                    <a:srgbClr val="FF0000"/>
                  </a:solidFill>
                  <a:latin typeface="Times New Roman" panose="02020603050405020304" pitchFamily="18" charset="0"/>
                  <a:ea typeface="楷体_GB2312"/>
                </a:rPr>
                <a:t>y</a:t>
              </a:r>
              <a:r>
                <a:rPr lang="zh-CN" altLang="en-US"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F</a:t>
              </a:r>
              <a:r>
                <a:rPr lang="en-US" altLang="zh-CN" sz="2400" b="1" i="1" baseline="-25000" dirty="0">
                  <a:solidFill>
                    <a:srgbClr val="FF0000"/>
                  </a:solidFill>
                  <a:latin typeface="Times New Roman" panose="02020603050405020304" pitchFamily="18" charset="0"/>
                  <a:ea typeface="楷体_GB2312"/>
                </a:rPr>
                <a:t>z</a:t>
              </a:r>
              <a:r>
                <a:rPr lang="en-US" altLang="zh-CN" sz="2400" b="1" dirty="0">
                  <a:solidFill>
                    <a:srgbClr val="FF0000"/>
                  </a:solidFill>
                  <a:latin typeface="楷体_GB2312"/>
                  <a:ea typeface="楷体_GB2312"/>
                </a:rPr>
                <a:t> </a:t>
              </a:r>
              <a:r>
                <a:rPr lang="zh-CN" altLang="en-US" sz="2400" b="1" dirty="0">
                  <a:solidFill>
                    <a:srgbClr val="FF0000"/>
                  </a:solidFill>
                  <a:latin typeface="楷体_GB2312"/>
                  <a:ea typeface="楷体_GB2312"/>
                </a:rPr>
                <a:t>的关系如下：</a:t>
              </a:r>
              <a:endParaRPr lang="zh-CN" altLang="en-US" sz="2400" b="1" dirty="0">
                <a:solidFill>
                  <a:srgbClr val="FF0000"/>
                </a:solidFill>
                <a:latin typeface="楷体_GB2312"/>
                <a:ea typeface="楷体_GB2312"/>
              </a:endParaRPr>
            </a:p>
          </p:txBody>
        </p:sp>
      </p:grpSp>
      <p:grpSp>
        <p:nvGrpSpPr>
          <p:cNvPr id="114702" name="Group 4"/>
          <p:cNvGrpSpPr/>
          <p:nvPr/>
        </p:nvGrpSpPr>
        <p:grpSpPr>
          <a:xfrm>
            <a:off x="5075238" y="4084638"/>
            <a:ext cx="3889375" cy="2828925"/>
            <a:chOff x="2789" y="1162"/>
            <a:chExt cx="2676" cy="2112"/>
          </a:xfrm>
        </p:grpSpPr>
        <p:grpSp>
          <p:nvGrpSpPr>
            <p:cNvPr id="114703" name="Group 5"/>
            <p:cNvGrpSpPr/>
            <p:nvPr/>
          </p:nvGrpSpPr>
          <p:grpSpPr>
            <a:xfrm>
              <a:off x="2789" y="1162"/>
              <a:ext cx="2676" cy="2112"/>
              <a:chOff x="2789" y="1162"/>
              <a:chExt cx="2676" cy="2112"/>
            </a:xfrm>
          </p:grpSpPr>
          <p:pic>
            <p:nvPicPr>
              <p:cNvPr id="114704" name="Picture 6" descr="切削力1"/>
              <p:cNvPicPr>
                <a:picLocks noChangeAspect="1"/>
              </p:cNvPicPr>
              <p:nvPr/>
            </p:nvPicPr>
            <p:blipFill>
              <a:blip r:embed="rId3">
                <a:clrChange>
                  <a:clrFrom>
                    <a:srgbClr val="FFFFFF"/>
                  </a:clrFrom>
                  <a:clrTo>
                    <a:srgbClr val="FFFFFF">
                      <a:alpha val="0"/>
                    </a:srgbClr>
                  </a:clrTo>
                </a:clrChange>
              </a:blip>
              <a:stretch>
                <a:fillRect/>
              </a:stretch>
            </p:blipFill>
            <p:spPr>
              <a:xfrm>
                <a:off x="2789" y="1162"/>
                <a:ext cx="2676" cy="1848"/>
              </a:xfrm>
              <a:prstGeom prst="rect">
                <a:avLst/>
              </a:prstGeom>
              <a:solidFill>
                <a:srgbClr val="CCFFFF"/>
              </a:solidFill>
              <a:ln w="9525">
                <a:noFill/>
              </a:ln>
            </p:spPr>
          </p:pic>
          <p:sp>
            <p:nvSpPr>
              <p:cNvPr id="114705" name="Rectangle 7"/>
              <p:cNvSpPr/>
              <p:nvPr/>
            </p:nvSpPr>
            <p:spPr>
              <a:xfrm>
                <a:off x="2789" y="2976"/>
                <a:ext cx="2676" cy="298"/>
              </a:xfrm>
              <a:prstGeom prst="rect">
                <a:avLst/>
              </a:prstGeom>
              <a:solidFill>
                <a:srgbClr val="CC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   切削力分解</a:t>
                </a:r>
                <a:endParaRPr lang="zh-CN" altLang="en-US" sz="2000" b="1" dirty="0">
                  <a:solidFill>
                    <a:srgbClr val="000000"/>
                  </a:solidFill>
                  <a:latin typeface="楷体_GB2312"/>
                  <a:ea typeface="楷体_GB2312"/>
                </a:endParaRPr>
              </a:p>
            </p:txBody>
          </p:sp>
        </p:grpSp>
        <p:sp>
          <p:nvSpPr>
            <p:cNvPr id="114706" name="Rectangle 8"/>
            <p:cNvSpPr/>
            <p:nvPr/>
          </p:nvSpPr>
          <p:spPr>
            <a:xfrm>
              <a:off x="2789" y="1162"/>
              <a:ext cx="2676" cy="2041"/>
            </a:xfrm>
            <a:prstGeom prst="rect">
              <a:avLst/>
            </a:prstGeom>
            <a:no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2"/>
          <p:cNvSpPr>
            <a:spLocks noGrp="1"/>
          </p:cNvSpPr>
          <p:nvPr>
            <p:ph type="title"/>
          </p:nvPr>
        </p:nvSpPr>
        <p:spPr>
          <a:xfrm>
            <a:off x="3409950" y="115888"/>
            <a:ext cx="3970338" cy="1139825"/>
          </a:xfrm>
          <a:ln/>
        </p:spPr>
        <p:txBody>
          <a:bodyPr vert="horz" wrap="square" lIns="91440" tIns="45720" rIns="91440" bIns="45720" anchor="ctr" anchorCtr="0"/>
          <a:p>
            <a:pPr eaLnBrk="1" hangingPunct="1"/>
            <a:r>
              <a:rPr lang="zh-CN" altLang="en-US" sz="4000" dirty="0">
                <a:ea typeface="楷体_GB2312"/>
              </a:rPr>
              <a:t>金属的切削过程</a:t>
            </a:r>
            <a:endParaRPr lang="zh-CN" altLang="en-US" sz="4000" dirty="0">
              <a:ea typeface="楷体_GB2312"/>
            </a:endParaRPr>
          </a:p>
        </p:txBody>
      </p:sp>
      <p:sp>
        <p:nvSpPr>
          <p:cNvPr id="116738" name="Rectangle 3"/>
          <p:cNvSpPr/>
          <p:nvPr/>
        </p:nvSpPr>
        <p:spPr>
          <a:xfrm>
            <a:off x="73025" y="1341438"/>
            <a:ext cx="8675688" cy="519112"/>
          </a:xfrm>
          <a:prstGeom prst="rect">
            <a:avLst/>
          </a:prstGeom>
          <a:noFill/>
          <a:ln w="9525">
            <a:noFill/>
          </a:ln>
        </p:spPr>
        <p:txBody>
          <a:bodyPr anchor="ctr" anchorCtr="0">
            <a:spAutoFit/>
          </a:bodyPr>
          <a:p>
            <a:pPr indent="259080"/>
            <a:r>
              <a:rPr lang="en-US" altLang="zh-CN" sz="2800" b="1" dirty="0">
                <a:solidFill>
                  <a:srgbClr val="008000"/>
                </a:solidFill>
                <a:latin typeface="楷体_GB2312"/>
                <a:ea typeface="楷体_GB2312"/>
              </a:rPr>
              <a:t>2</a:t>
            </a:r>
            <a:r>
              <a:rPr lang="zh-CN" altLang="en-US" sz="2800" b="1" dirty="0">
                <a:solidFill>
                  <a:srgbClr val="008000"/>
                </a:solidFill>
                <a:latin typeface="楷体_GB2312"/>
                <a:ea typeface="楷体_GB2312"/>
              </a:rPr>
              <a:t>．</a:t>
            </a:r>
            <a:r>
              <a:rPr lang="zh-CN" altLang="en-US" sz="2800" b="1" dirty="0">
                <a:solidFill>
                  <a:srgbClr val="008000"/>
                </a:solidFill>
                <a:latin typeface="Arial" panose="020B0604020202020204" pitchFamily="34" charset="0"/>
                <a:ea typeface="楷体_GB2312"/>
              </a:rPr>
              <a:t>影响切削合力的因素</a:t>
            </a:r>
            <a:endParaRPr lang="zh-CN" altLang="en-US" sz="2800" b="1" dirty="0">
              <a:solidFill>
                <a:srgbClr val="008000"/>
              </a:solidFill>
              <a:latin typeface="Arial" panose="020B0604020202020204" pitchFamily="34" charset="0"/>
              <a:ea typeface="楷体_GB2312"/>
            </a:endParaRPr>
          </a:p>
        </p:txBody>
      </p:sp>
      <p:sp>
        <p:nvSpPr>
          <p:cNvPr id="116739" name="AutoShape 4"/>
          <p:cNvSpPr/>
          <p:nvPr/>
        </p:nvSpPr>
        <p:spPr>
          <a:xfrm>
            <a:off x="395288" y="2276475"/>
            <a:ext cx="215900" cy="2881313"/>
          </a:xfrm>
          <a:prstGeom prst="leftBrace">
            <a:avLst>
              <a:gd name="adj1" fmla="val 110780"/>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16740" name="Text Box 5"/>
          <p:cNvSpPr txBox="1"/>
          <p:nvPr/>
        </p:nvSpPr>
        <p:spPr>
          <a:xfrm>
            <a:off x="969963" y="2349500"/>
            <a:ext cx="1944687" cy="519113"/>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工件材料</a:t>
            </a:r>
            <a:endParaRPr lang="zh-CN" altLang="en-US" sz="2800" b="1" dirty="0">
              <a:solidFill>
                <a:srgbClr val="FF0000"/>
              </a:solidFill>
              <a:latin typeface="Arial" panose="020B0604020202020204" pitchFamily="34" charset="0"/>
              <a:ea typeface="楷体_GB2312"/>
            </a:endParaRPr>
          </a:p>
        </p:txBody>
      </p:sp>
      <p:sp>
        <p:nvSpPr>
          <p:cNvPr id="116741" name="Text Box 6"/>
          <p:cNvSpPr txBox="1"/>
          <p:nvPr/>
        </p:nvSpPr>
        <p:spPr>
          <a:xfrm>
            <a:off x="1042988" y="3429000"/>
            <a:ext cx="1871662" cy="519113"/>
          </a:xfrm>
          <a:prstGeom prst="rect">
            <a:avLst/>
          </a:prstGeom>
          <a:noFill/>
          <a:ln w="9525">
            <a:noFill/>
          </a:ln>
        </p:spPr>
        <p:txBody>
          <a:bodyPr lIns="91430" tIns="45715" rIns="91430" bIns="45715" anchor="t" anchorCtr="0">
            <a:spAutoFit/>
          </a:bodyPr>
          <a:p>
            <a:pPr>
              <a:spcBef>
                <a:spcPct val="50000"/>
              </a:spcBef>
            </a:pPr>
            <a:r>
              <a:rPr lang="zh-CN" altLang="en-US" sz="2800" b="1" dirty="0">
                <a:solidFill>
                  <a:srgbClr val="FF0000"/>
                </a:solidFill>
                <a:latin typeface="Arial" panose="020B0604020202020204" pitchFamily="34" charset="0"/>
                <a:ea typeface="楷体_GB2312"/>
              </a:rPr>
              <a:t>切削用量</a:t>
            </a:r>
            <a:endParaRPr lang="zh-CN" altLang="en-US" sz="2800" b="1" dirty="0">
              <a:solidFill>
                <a:srgbClr val="FF0000"/>
              </a:solidFill>
              <a:latin typeface="Arial" panose="020B0604020202020204" pitchFamily="34" charset="0"/>
              <a:ea typeface="楷体_GB2312"/>
            </a:endParaRPr>
          </a:p>
        </p:txBody>
      </p:sp>
      <p:sp>
        <p:nvSpPr>
          <p:cNvPr id="116742" name="Text Box 7"/>
          <p:cNvSpPr txBox="1"/>
          <p:nvPr/>
        </p:nvSpPr>
        <p:spPr>
          <a:xfrm>
            <a:off x="969963" y="4581525"/>
            <a:ext cx="2324100" cy="519113"/>
          </a:xfrm>
          <a:prstGeom prst="rect">
            <a:avLst/>
          </a:prstGeom>
          <a:noFill/>
          <a:ln w="9525">
            <a:noFill/>
          </a:ln>
        </p:spPr>
        <p:txBody>
          <a:bodyPr lIns="91430" tIns="45715" rIns="91430" bIns="45715" anchor="t" anchorCtr="0">
            <a:spAutoFit/>
          </a:bodyPr>
          <a:p>
            <a:r>
              <a:rPr lang="zh-CN" altLang="en-US" sz="2800" b="1" dirty="0">
                <a:solidFill>
                  <a:srgbClr val="FF0000"/>
                </a:solidFill>
                <a:latin typeface="Arial" panose="020B0604020202020204" pitchFamily="34" charset="0"/>
                <a:ea typeface="楷体_GB2312"/>
              </a:rPr>
              <a:t>刀具角度</a:t>
            </a:r>
            <a:endParaRPr lang="zh-CN" altLang="en-US" sz="2800" b="1" dirty="0">
              <a:solidFill>
                <a:srgbClr val="FF0000"/>
              </a:solidFill>
              <a:latin typeface="Arial" panose="020B0604020202020204" pitchFamily="34" charset="0"/>
              <a:ea typeface="楷体_GB2312"/>
            </a:endParaRPr>
          </a:p>
        </p:txBody>
      </p:sp>
      <p:sp>
        <p:nvSpPr>
          <p:cNvPr id="116743" name="Text Box 8"/>
          <p:cNvSpPr txBox="1"/>
          <p:nvPr/>
        </p:nvSpPr>
        <p:spPr>
          <a:xfrm>
            <a:off x="3059113" y="2133600"/>
            <a:ext cx="5184775" cy="946150"/>
          </a:xfrm>
          <a:prstGeom prst="rect">
            <a:avLst/>
          </a:prstGeom>
          <a:no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强度、硬度高、塑性、韧性大，合力大</a:t>
            </a:r>
            <a:endParaRPr lang="zh-CN" altLang="en-US" sz="2800" b="1" dirty="0">
              <a:latin typeface="Arial" panose="020B0604020202020204" pitchFamily="34" charset="0"/>
              <a:ea typeface="楷体_GB2312"/>
            </a:endParaRPr>
          </a:p>
        </p:txBody>
      </p:sp>
      <p:sp>
        <p:nvSpPr>
          <p:cNvPr id="116744" name="Text Box 9"/>
          <p:cNvSpPr txBox="1"/>
          <p:nvPr/>
        </p:nvSpPr>
        <p:spPr>
          <a:xfrm>
            <a:off x="3203575" y="3500438"/>
            <a:ext cx="4175125" cy="519112"/>
          </a:xfrm>
          <a:prstGeom prst="rect">
            <a:avLst/>
          </a:prstGeom>
          <a:noFill/>
          <a:ln w="9525">
            <a:noFill/>
          </a:ln>
        </p:spPr>
        <p:txBody>
          <a:bodyPr lIns="91430" tIns="45715" rIns="91430" bIns="45715" anchor="t" anchorCtr="0">
            <a:spAutoFit/>
          </a:bodyPr>
          <a:p>
            <a:endParaRPr lang="zh-CN" altLang="zh-CN" sz="2800" b="1" dirty="0">
              <a:latin typeface="Arial" panose="020B0604020202020204" pitchFamily="34" charset="0"/>
              <a:ea typeface="宋体" panose="02010600030101010101" pitchFamily="2" charset="-122"/>
            </a:endParaRPr>
          </a:p>
        </p:txBody>
      </p:sp>
      <p:sp>
        <p:nvSpPr>
          <p:cNvPr id="116745" name="Text Box 10"/>
          <p:cNvSpPr txBox="1"/>
          <p:nvPr/>
        </p:nvSpPr>
        <p:spPr>
          <a:xfrm>
            <a:off x="2770188" y="3429000"/>
            <a:ext cx="4859337" cy="519113"/>
          </a:xfrm>
          <a:prstGeom prst="rect">
            <a:avLst/>
          </a:prstGeom>
          <a:no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切削深度、进给量、切削速度</a:t>
            </a:r>
            <a:endParaRPr lang="zh-CN" altLang="en-US" sz="2800" b="1" dirty="0">
              <a:latin typeface="Arial" panose="020B0604020202020204" pitchFamily="34" charset="0"/>
              <a:ea typeface="楷体_GB2312"/>
            </a:endParaRPr>
          </a:p>
        </p:txBody>
      </p:sp>
      <p:sp>
        <p:nvSpPr>
          <p:cNvPr id="116746" name="Text Box 11"/>
          <p:cNvSpPr txBox="1"/>
          <p:nvPr/>
        </p:nvSpPr>
        <p:spPr>
          <a:xfrm>
            <a:off x="2914650" y="4581525"/>
            <a:ext cx="4537075" cy="946150"/>
          </a:xfrm>
          <a:prstGeom prst="rect">
            <a:avLst/>
          </a:prstGeom>
          <a:noFill/>
          <a:ln w="9525">
            <a:noFill/>
          </a:ln>
        </p:spPr>
        <p:txBody>
          <a:bodyPr lIns="91430" tIns="45715" rIns="91430" bIns="45715" anchor="t" anchorCtr="0">
            <a:spAutoFit/>
          </a:bodyPr>
          <a:p>
            <a:pPr>
              <a:spcBef>
                <a:spcPct val="50000"/>
              </a:spcBef>
            </a:pPr>
            <a:r>
              <a:rPr lang="zh-CN" altLang="en-US" sz="2800" b="1" dirty="0">
                <a:latin typeface="Arial" panose="020B0604020202020204" pitchFamily="34" charset="0"/>
                <a:ea typeface="楷体_GB2312"/>
              </a:rPr>
              <a:t>前角越大，切屑变形越小，切削合力越小</a:t>
            </a:r>
            <a:endParaRPr lang="zh-CN" altLang="en-US" sz="2800" b="1" dirty="0">
              <a:latin typeface="Arial" panose="020B0604020202020204" pitchFamily="34" charset="0"/>
              <a:ea typeface="楷体_GB2312"/>
            </a:endParaRPr>
          </a:p>
        </p:txBody>
      </p:sp>
    </p:spTree>
  </p:cSld>
  <p:clrMapOvr>
    <a:masterClrMapping/>
  </p:clrMapOvr>
  <p:transition spd="slow">
    <p:randomBar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2"/>
          <p:cNvSpPr>
            <a:spLocks noGrp="1"/>
          </p:cNvSpPr>
          <p:nvPr>
            <p:ph type="title"/>
          </p:nvPr>
        </p:nvSpPr>
        <p:spPr>
          <a:xfrm>
            <a:off x="2978150" y="0"/>
            <a:ext cx="4402138" cy="11398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118786" name="Rectangle 3"/>
          <p:cNvSpPr>
            <a:spLocks noGrp="1"/>
          </p:cNvSpPr>
          <p:nvPr>
            <p:ph idx="1"/>
          </p:nvPr>
        </p:nvSpPr>
        <p:spPr>
          <a:xfrm>
            <a:off x="34925" y="1219200"/>
            <a:ext cx="8713788" cy="3217863"/>
          </a:xfrm>
          <a:ln/>
        </p:spPr>
        <p:txBody>
          <a:bodyPr vert="horz" wrap="square" lIns="91440" tIns="45720" rIns="91440" bIns="45720" anchor="t" anchorCtr="0"/>
          <a:p>
            <a:pPr eaLnBrk="1" hangingPunct="1"/>
            <a:r>
              <a:rPr lang="zh-CN" altLang="en-US" b="1" dirty="0">
                <a:solidFill>
                  <a:srgbClr val="FF0000"/>
                </a:solidFill>
                <a:latin typeface="楷体_GB2312"/>
                <a:ea typeface="楷体_GB2312"/>
              </a:rPr>
              <a:t>切削功率</a:t>
            </a:r>
            <a:r>
              <a:rPr lang="en-US" altLang="zh-CN" b="1" i="1" dirty="0">
                <a:solidFill>
                  <a:srgbClr val="FF0000"/>
                </a:solidFill>
                <a:latin typeface="楷体_GB2312"/>
                <a:ea typeface="楷体_GB2312"/>
              </a:rPr>
              <a:t>P</a:t>
            </a:r>
            <a:r>
              <a:rPr lang="en-US" altLang="zh-CN" b="1" baseline="-25000" dirty="0">
                <a:solidFill>
                  <a:srgbClr val="FF0000"/>
                </a:solidFill>
                <a:latin typeface="楷体_GB2312"/>
                <a:ea typeface="楷体_GB2312"/>
              </a:rPr>
              <a:t>m</a:t>
            </a:r>
            <a:r>
              <a:rPr lang="en-US" altLang="zh-CN" b="1" dirty="0">
                <a:latin typeface="楷体_GB2312"/>
                <a:ea typeface="楷体_GB2312"/>
              </a:rPr>
              <a:t>  </a:t>
            </a:r>
            <a:r>
              <a:rPr lang="zh-CN" altLang="en-US" b="1" dirty="0">
                <a:latin typeface="楷体_GB2312"/>
                <a:ea typeface="楷体_GB2312"/>
              </a:rPr>
              <a:t>三个切削分力消耗功率的总和。</a:t>
            </a:r>
            <a:endParaRPr lang="zh-CN" altLang="en-US" b="1" dirty="0">
              <a:latin typeface="楷体_GB2312"/>
              <a:ea typeface="楷体_GB2312"/>
            </a:endParaRPr>
          </a:p>
          <a:p>
            <a:pPr lvl="1" eaLnBrk="1" hangingPunct="1"/>
            <a:r>
              <a:rPr lang="zh-CN" altLang="en-US" b="1" dirty="0">
                <a:solidFill>
                  <a:srgbClr val="008000"/>
                </a:solidFill>
                <a:latin typeface="楷体_GB2312"/>
                <a:ea typeface="楷体_GB2312"/>
              </a:rPr>
              <a:t>切削功率</a:t>
            </a:r>
            <a:r>
              <a:rPr lang="en-US" altLang="zh-CN" b="1" i="1" dirty="0">
                <a:solidFill>
                  <a:srgbClr val="008000"/>
                </a:solidFill>
                <a:latin typeface="楷体_GB2312"/>
                <a:ea typeface="楷体_GB2312"/>
              </a:rPr>
              <a:t>P</a:t>
            </a:r>
            <a:r>
              <a:rPr lang="en-US" altLang="zh-CN" b="1" baseline="-25000" dirty="0">
                <a:solidFill>
                  <a:srgbClr val="008000"/>
                </a:solidFill>
                <a:latin typeface="楷体_GB2312"/>
                <a:ea typeface="楷体_GB2312"/>
              </a:rPr>
              <a:t>c</a:t>
            </a:r>
            <a:r>
              <a:rPr lang="en-US" altLang="zh-CN" b="1" dirty="0">
                <a:latin typeface="楷体_GB2312"/>
                <a:ea typeface="楷体_GB2312"/>
              </a:rPr>
              <a:t>  </a:t>
            </a:r>
            <a:r>
              <a:rPr lang="zh-CN" altLang="en-US" b="1" dirty="0">
                <a:latin typeface="楷体_GB2312"/>
                <a:ea typeface="楷体_GB2312"/>
              </a:rPr>
              <a:t>同一瞬间切削切削刃基点的切削力与切削速度的乘积称为切削功率；</a:t>
            </a:r>
            <a:endParaRPr lang="zh-CN" altLang="en-US" b="1" dirty="0">
              <a:latin typeface="楷体_GB2312"/>
              <a:ea typeface="楷体_GB2312"/>
            </a:endParaRPr>
          </a:p>
          <a:p>
            <a:pPr lvl="1" eaLnBrk="1" hangingPunct="1"/>
            <a:r>
              <a:rPr lang="zh-CN" altLang="en-US" b="1" dirty="0">
                <a:solidFill>
                  <a:srgbClr val="008000"/>
                </a:solidFill>
                <a:latin typeface="楷体_GB2312"/>
                <a:ea typeface="楷体_GB2312"/>
              </a:rPr>
              <a:t>进给功率</a:t>
            </a:r>
            <a:r>
              <a:rPr lang="en-US" altLang="zh-CN" b="1" i="1" dirty="0">
                <a:solidFill>
                  <a:srgbClr val="008000"/>
                </a:solidFill>
                <a:latin typeface="楷体_GB2312"/>
                <a:ea typeface="楷体_GB2312"/>
              </a:rPr>
              <a:t>P</a:t>
            </a:r>
            <a:r>
              <a:rPr lang="en-US" altLang="zh-CN" b="1" i="1" baseline="-25000" dirty="0">
                <a:solidFill>
                  <a:srgbClr val="008000"/>
                </a:solidFill>
                <a:latin typeface="楷体_GB2312"/>
                <a:ea typeface="楷体_GB2312"/>
              </a:rPr>
              <a:t>f</a:t>
            </a:r>
            <a:r>
              <a:rPr lang="en-US" altLang="zh-CN" b="1" i="1" baseline="-25000" dirty="0">
                <a:latin typeface="楷体_GB2312"/>
                <a:ea typeface="楷体_GB2312"/>
              </a:rPr>
              <a:t> </a:t>
            </a:r>
            <a:r>
              <a:rPr lang="en-US" altLang="zh-CN" b="1" baseline="-25000" dirty="0">
                <a:latin typeface="楷体_GB2312"/>
                <a:ea typeface="楷体_GB2312"/>
              </a:rPr>
              <a:t>  </a:t>
            </a:r>
            <a:r>
              <a:rPr lang="zh-CN" altLang="en-US" b="1" dirty="0">
                <a:latin typeface="楷体_GB2312"/>
                <a:ea typeface="楷体_GB2312"/>
              </a:rPr>
              <a:t>进给力与进给速度的乘积称为进给功率；</a:t>
            </a:r>
            <a:endParaRPr lang="zh-CN" altLang="en-US" b="1" dirty="0">
              <a:latin typeface="楷体_GB2312"/>
              <a:ea typeface="楷体_GB2312"/>
            </a:endParaRPr>
          </a:p>
          <a:p>
            <a:pPr lvl="1" eaLnBrk="1" hangingPunct="1"/>
            <a:r>
              <a:rPr lang="zh-CN" altLang="en-US" b="1" dirty="0">
                <a:solidFill>
                  <a:srgbClr val="008000"/>
                </a:solidFill>
                <a:latin typeface="楷体_GB2312"/>
                <a:ea typeface="楷体_GB2312"/>
              </a:rPr>
              <a:t>背向力</a:t>
            </a:r>
            <a:r>
              <a:rPr lang="en-US" altLang="zh-CN" b="1" i="1" dirty="0">
                <a:solidFill>
                  <a:srgbClr val="008000"/>
                </a:solidFill>
                <a:latin typeface="楷体_GB2312"/>
                <a:ea typeface="楷体_GB2312"/>
              </a:rPr>
              <a:t>F</a:t>
            </a:r>
            <a:r>
              <a:rPr lang="en-US" altLang="zh-CN" b="1" i="1" baseline="-25000" dirty="0">
                <a:solidFill>
                  <a:srgbClr val="008000"/>
                </a:solidFill>
                <a:latin typeface="楷体_GB2312"/>
                <a:ea typeface="楷体_GB2312"/>
              </a:rPr>
              <a:t>p</a:t>
            </a:r>
            <a:r>
              <a:rPr lang="en-US" altLang="zh-CN" b="1" i="1" baseline="-25000" dirty="0">
                <a:solidFill>
                  <a:srgbClr val="FFFF99"/>
                </a:solidFill>
                <a:latin typeface="楷体_GB2312"/>
                <a:ea typeface="楷体_GB2312"/>
              </a:rPr>
              <a:t>  </a:t>
            </a:r>
            <a:r>
              <a:rPr lang="en-US" altLang="zh-CN" b="1" baseline="-25000" dirty="0">
                <a:solidFill>
                  <a:srgbClr val="FFFF99"/>
                </a:solidFill>
                <a:latin typeface="楷体_GB2312"/>
                <a:ea typeface="楷体_GB2312"/>
              </a:rPr>
              <a:t> </a:t>
            </a:r>
            <a:r>
              <a:rPr lang="zh-CN" altLang="en-US" b="1" dirty="0">
                <a:latin typeface="楷体_GB2312"/>
                <a:ea typeface="楷体_GB2312"/>
              </a:rPr>
              <a:t>方向的运动速度为零，不消耗功率。</a:t>
            </a:r>
            <a:endParaRPr lang="zh-CN" altLang="en-US" b="1" dirty="0">
              <a:latin typeface="楷体_GB2312"/>
              <a:ea typeface="楷体_GB2312"/>
            </a:endParaRPr>
          </a:p>
          <a:p>
            <a:pPr lvl="1" eaLnBrk="1" hangingPunct="1">
              <a:buNone/>
            </a:pPr>
            <a:endParaRPr lang="zh-CN" altLang="en-US" b="1" dirty="0"/>
          </a:p>
          <a:p>
            <a:pPr lvl="1" eaLnBrk="1" hangingPunct="1"/>
            <a:endParaRPr lang="zh-CN" altLang="en-US" b="1" dirty="0"/>
          </a:p>
          <a:p>
            <a:pPr eaLnBrk="1" hangingPunct="1"/>
            <a:endParaRPr lang="en-US" altLang="zh-CN" dirty="0"/>
          </a:p>
        </p:txBody>
      </p:sp>
      <p:grpSp>
        <p:nvGrpSpPr>
          <p:cNvPr id="118787" name="Group 4"/>
          <p:cNvGrpSpPr/>
          <p:nvPr/>
        </p:nvGrpSpPr>
        <p:grpSpPr>
          <a:xfrm>
            <a:off x="827088" y="4751388"/>
            <a:ext cx="4419600" cy="1270000"/>
            <a:chOff x="521" y="2993"/>
            <a:chExt cx="2784" cy="800"/>
          </a:xfrm>
        </p:grpSpPr>
        <p:graphicFrame>
          <p:nvGraphicFramePr>
            <p:cNvPr id="118788" name="Object 5"/>
            <p:cNvGraphicFramePr>
              <a:graphicFrameLocks noChangeAspect="1"/>
            </p:cNvGraphicFramePr>
            <p:nvPr/>
          </p:nvGraphicFramePr>
          <p:xfrm>
            <a:off x="521" y="2993"/>
            <a:ext cx="2784" cy="496"/>
          </p:xfrm>
          <a:graphic>
            <a:graphicData uri="http://schemas.openxmlformats.org/presentationml/2006/ole">
              <mc:AlternateContent xmlns:mc="http://schemas.openxmlformats.org/markup-compatibility/2006">
                <mc:Choice xmlns:v="urn:schemas-microsoft-com:vml" Requires="v">
                  <p:oleObj spid="_x0000_s3091" name="" r:id="rId1" imgW="2209800" imgH="393700" progId="Equation.3">
                    <p:embed/>
                  </p:oleObj>
                </mc:Choice>
                <mc:Fallback>
                  <p:oleObj name="" r:id="rId1" imgW="2209800" imgH="393700" progId="Equation.3">
                    <p:embed/>
                    <p:pic>
                      <p:nvPicPr>
                        <p:cNvPr id="0" name="图片 3090"/>
                        <p:cNvPicPr/>
                        <p:nvPr/>
                      </p:nvPicPr>
                      <p:blipFill>
                        <a:blip r:embed="rId2"/>
                        <a:stretch>
                          <a:fillRect/>
                        </a:stretch>
                      </p:blipFill>
                      <p:spPr>
                        <a:xfrm>
                          <a:off x="521" y="2993"/>
                          <a:ext cx="2784" cy="496"/>
                        </a:xfrm>
                        <a:prstGeom prst="rect">
                          <a:avLst/>
                        </a:prstGeom>
                        <a:solidFill>
                          <a:srgbClr val="CCFFFF"/>
                        </a:solidFill>
                        <a:ln w="38100">
                          <a:noFill/>
                          <a:miter/>
                        </a:ln>
                      </p:spPr>
                    </p:pic>
                  </p:oleObj>
                </mc:Fallback>
              </mc:AlternateContent>
            </a:graphicData>
          </a:graphic>
        </p:graphicFrame>
        <p:graphicFrame>
          <p:nvGraphicFramePr>
            <p:cNvPr id="118789" name="Object 6"/>
            <p:cNvGraphicFramePr>
              <a:graphicFrameLocks noChangeAspect="1"/>
            </p:cNvGraphicFramePr>
            <p:nvPr/>
          </p:nvGraphicFramePr>
          <p:xfrm>
            <a:off x="521" y="3489"/>
            <a:ext cx="2767" cy="304"/>
          </p:xfrm>
          <a:graphic>
            <a:graphicData uri="http://schemas.openxmlformats.org/presentationml/2006/ole">
              <mc:AlternateContent xmlns:mc="http://schemas.openxmlformats.org/markup-compatibility/2006">
                <mc:Choice xmlns:v="urn:schemas-microsoft-com:vml" Requires="v">
                  <p:oleObj spid="_x0000_s3092" name="" r:id="rId3" imgW="1524000" imgH="241300" progId="Equation.3">
                    <p:embed/>
                  </p:oleObj>
                </mc:Choice>
                <mc:Fallback>
                  <p:oleObj name="" r:id="rId3" imgW="1524000" imgH="241300" progId="Equation.3">
                    <p:embed/>
                    <p:pic>
                      <p:nvPicPr>
                        <p:cNvPr id="0" name="图片 3091"/>
                        <p:cNvPicPr/>
                        <p:nvPr/>
                      </p:nvPicPr>
                      <p:blipFill>
                        <a:blip r:embed="rId4"/>
                        <a:stretch>
                          <a:fillRect/>
                        </a:stretch>
                      </p:blipFill>
                      <p:spPr>
                        <a:xfrm>
                          <a:off x="521" y="3489"/>
                          <a:ext cx="2767" cy="304"/>
                        </a:xfrm>
                        <a:prstGeom prst="rect">
                          <a:avLst/>
                        </a:prstGeom>
                        <a:solidFill>
                          <a:srgbClr val="CCFFFF"/>
                        </a:solidFill>
                        <a:ln w="38100">
                          <a:noFill/>
                          <a:miter/>
                        </a:ln>
                      </p:spPr>
                    </p:pic>
                  </p:oleObj>
                </mc:Fallback>
              </mc:AlternateContent>
            </a:graphicData>
          </a:graphic>
        </p:graphicFrame>
      </p:grpSp>
      <p:pic>
        <p:nvPicPr>
          <p:cNvPr id="118790" name="Picture 7" descr="车"/>
          <p:cNvPicPr>
            <a:picLocks noChangeAspect="1"/>
          </p:cNvPicPr>
          <p:nvPr/>
        </p:nvPicPr>
        <p:blipFill>
          <a:blip r:embed="rId5"/>
          <a:stretch>
            <a:fillRect/>
          </a:stretch>
        </p:blipFill>
        <p:spPr>
          <a:xfrm>
            <a:off x="5716588" y="4365625"/>
            <a:ext cx="2527300" cy="2058988"/>
          </a:xfrm>
          <a:prstGeom prst="rect">
            <a:avLst/>
          </a:prstGeom>
          <a:noFill/>
          <a:ln w="9525">
            <a:noFill/>
          </a:ln>
        </p:spPr>
      </p:pic>
    </p:spTree>
  </p:cSld>
  <p:clrMapOvr>
    <a:masterClrMapping/>
  </p:clrMapOvr>
  <p:transition spd="slow">
    <p:randomBa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Rectangle 2"/>
          <p:cNvSpPr>
            <a:spLocks noGrp="1"/>
          </p:cNvSpPr>
          <p:nvPr>
            <p:ph type="title"/>
          </p:nvPr>
        </p:nvSpPr>
        <p:spPr>
          <a:xfrm>
            <a:off x="3454400" y="90488"/>
            <a:ext cx="4213225" cy="11906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
        <p:nvSpPr>
          <p:cNvPr id="120834" name="Rectangle 3"/>
          <p:cNvSpPr>
            <a:spLocks noGrp="1"/>
          </p:cNvSpPr>
          <p:nvPr>
            <p:ph idx="1"/>
          </p:nvPr>
        </p:nvSpPr>
        <p:spPr>
          <a:xfrm>
            <a:off x="250825" y="1490663"/>
            <a:ext cx="5473700" cy="498475"/>
          </a:xfrm>
          <a:ln/>
        </p:spPr>
        <p:txBody>
          <a:bodyPr vert="horz" wrap="square" lIns="91440" tIns="45720" rIns="91440" bIns="45720" anchor="t" anchorCtr="0"/>
          <a:p>
            <a:pPr eaLnBrk="1" hangingPunct="1">
              <a:lnSpc>
                <a:spcPct val="90000"/>
              </a:lnSpc>
            </a:pPr>
            <a:r>
              <a:rPr lang="zh-CN" altLang="en-US" sz="2900" b="1" dirty="0">
                <a:solidFill>
                  <a:srgbClr val="FF0000"/>
                </a:solidFill>
                <a:latin typeface="楷体_GB2312"/>
                <a:ea typeface="楷体_GB2312"/>
              </a:rPr>
              <a:t>切削热和切削温度</a:t>
            </a:r>
            <a:endParaRPr lang="zh-CN" altLang="en-US" sz="2900" b="1" dirty="0">
              <a:solidFill>
                <a:srgbClr val="FF0000"/>
              </a:solidFill>
              <a:latin typeface="楷体_GB2312"/>
              <a:ea typeface="楷体_GB2312"/>
            </a:endParaRPr>
          </a:p>
        </p:txBody>
      </p:sp>
      <p:grpSp>
        <p:nvGrpSpPr>
          <p:cNvPr id="120835" name="Group 4"/>
          <p:cNvGrpSpPr/>
          <p:nvPr/>
        </p:nvGrpSpPr>
        <p:grpSpPr>
          <a:xfrm>
            <a:off x="466725" y="1989138"/>
            <a:ext cx="5184775" cy="3744912"/>
            <a:chOff x="295" y="1253"/>
            <a:chExt cx="3266" cy="2359"/>
          </a:xfrm>
        </p:grpSpPr>
        <p:sp>
          <p:nvSpPr>
            <p:cNvPr id="120836" name="Text Box 5"/>
            <p:cNvSpPr txBox="1"/>
            <p:nvPr/>
          </p:nvSpPr>
          <p:spPr>
            <a:xfrm>
              <a:off x="476" y="1645"/>
              <a:ext cx="2087" cy="288"/>
            </a:xfrm>
            <a:prstGeom prst="rect">
              <a:avLst/>
            </a:prstGeom>
            <a:noFill/>
            <a:ln w="9525">
              <a:noFill/>
            </a:ln>
          </p:spPr>
          <p:txBody>
            <a:bodyPr lIns="91430" tIns="45715" rIns="91430" bIns="45715" anchor="t" anchorCtr="0">
              <a:spAutoFit/>
            </a:bodyPr>
            <a:p>
              <a:r>
                <a:rPr lang="zh-CN" altLang="en-US" sz="2400" b="1" dirty="0">
                  <a:solidFill>
                    <a:srgbClr val="CC3300"/>
                  </a:solidFill>
                  <a:latin typeface="Arial" panose="020B0604020202020204" pitchFamily="34" charset="0"/>
                  <a:ea typeface="楷体_GB2312"/>
                </a:rPr>
                <a:t>ａ．切削热的来源</a:t>
              </a:r>
              <a:endParaRPr lang="zh-CN" altLang="en-US" sz="2400" b="1" dirty="0">
                <a:solidFill>
                  <a:srgbClr val="CC3300"/>
                </a:solidFill>
                <a:latin typeface="Arial" panose="020B0604020202020204" pitchFamily="34" charset="0"/>
                <a:ea typeface="楷体_GB2312"/>
              </a:endParaRPr>
            </a:p>
          </p:txBody>
        </p:sp>
        <p:grpSp>
          <p:nvGrpSpPr>
            <p:cNvPr id="120837" name="Group 6"/>
            <p:cNvGrpSpPr/>
            <p:nvPr/>
          </p:nvGrpSpPr>
          <p:grpSpPr>
            <a:xfrm>
              <a:off x="567" y="1958"/>
              <a:ext cx="2994" cy="1654"/>
              <a:chOff x="567" y="2114"/>
              <a:chExt cx="2449" cy="1429"/>
            </a:xfrm>
          </p:grpSpPr>
          <p:sp>
            <p:nvSpPr>
              <p:cNvPr id="120838" name="Text Box 7"/>
              <p:cNvSpPr txBox="1"/>
              <p:nvPr/>
            </p:nvSpPr>
            <p:spPr>
              <a:xfrm>
                <a:off x="794" y="2114"/>
                <a:ext cx="2222" cy="447"/>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切屑层的金属发生弹性变形、塑性变形而产生大量的热</a:t>
                </a:r>
                <a:endParaRPr lang="zh-CN" altLang="en-US" sz="2400" b="1" dirty="0">
                  <a:latin typeface="Arial" panose="020B0604020202020204" pitchFamily="34" charset="0"/>
                  <a:ea typeface="楷体_GB2312"/>
                </a:endParaRPr>
              </a:p>
            </p:txBody>
          </p:sp>
          <p:sp>
            <p:nvSpPr>
              <p:cNvPr id="120839" name="Text Box 8"/>
              <p:cNvSpPr txBox="1"/>
              <p:nvPr/>
            </p:nvSpPr>
            <p:spPr>
              <a:xfrm>
                <a:off x="839" y="2659"/>
                <a:ext cx="1633" cy="448"/>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切屑与刀具前刀面产生的摩擦</a:t>
                </a:r>
                <a:endParaRPr lang="zh-CN" altLang="en-US" sz="2400" b="1" dirty="0">
                  <a:latin typeface="Arial" panose="020B0604020202020204" pitchFamily="34" charset="0"/>
                  <a:ea typeface="楷体_GB2312"/>
                </a:endParaRPr>
              </a:p>
            </p:txBody>
          </p:sp>
          <p:sp>
            <p:nvSpPr>
              <p:cNvPr id="120840" name="Text Box 9"/>
              <p:cNvSpPr txBox="1"/>
              <p:nvPr/>
            </p:nvSpPr>
            <p:spPr>
              <a:xfrm>
                <a:off x="748" y="3294"/>
                <a:ext cx="2223" cy="249"/>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工件与刀具后刀面产生的摩擦</a:t>
                </a:r>
                <a:endParaRPr lang="zh-CN" altLang="en-US" sz="2400" b="1" dirty="0">
                  <a:latin typeface="Arial" panose="020B0604020202020204" pitchFamily="34" charset="0"/>
                  <a:ea typeface="楷体_GB2312"/>
                </a:endParaRPr>
              </a:p>
            </p:txBody>
          </p:sp>
          <p:sp>
            <p:nvSpPr>
              <p:cNvPr id="120841" name="AutoShape 10"/>
              <p:cNvSpPr/>
              <p:nvPr/>
            </p:nvSpPr>
            <p:spPr>
              <a:xfrm>
                <a:off x="567" y="2296"/>
                <a:ext cx="91" cy="1089"/>
              </a:xfrm>
              <a:prstGeom prst="leftBrace">
                <a:avLst>
                  <a:gd name="adj1" fmla="val 99337"/>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grpSp>
        <p:sp>
          <p:nvSpPr>
            <p:cNvPr id="120842" name="Rectangle 11"/>
            <p:cNvSpPr/>
            <p:nvPr/>
          </p:nvSpPr>
          <p:spPr>
            <a:xfrm>
              <a:off x="295" y="1253"/>
              <a:ext cx="2817" cy="327"/>
            </a:xfrm>
            <a:prstGeom prst="rect">
              <a:avLst/>
            </a:prstGeom>
            <a:noFill/>
            <a:ln w="9525">
              <a:noFill/>
            </a:ln>
          </p:spPr>
          <p:txBody>
            <a:bodyPr wrap="none" anchor="t" anchorCtr="0">
              <a:spAutoFit/>
            </a:bodyPr>
            <a:p>
              <a:r>
                <a:rPr lang="en-US" altLang="zh-CN" sz="2800" b="1" dirty="0">
                  <a:latin typeface="楷体_GB2312"/>
                  <a:ea typeface="楷体_GB2312"/>
                </a:rPr>
                <a:t>1.</a:t>
              </a:r>
              <a:r>
                <a:rPr lang="zh-CN" altLang="en-US" sz="2800" b="1" dirty="0">
                  <a:latin typeface="楷体_GB2312"/>
                  <a:ea typeface="楷体_GB2312"/>
                </a:rPr>
                <a:t>切削热的产生传出及影响</a:t>
              </a:r>
              <a:endParaRPr lang="zh-CN" altLang="en-US" sz="2800" b="1" dirty="0">
                <a:latin typeface="楷体_GB2312"/>
                <a:ea typeface="楷体_GB2312"/>
              </a:endParaRPr>
            </a:p>
          </p:txBody>
        </p:sp>
      </p:grpSp>
      <p:pic>
        <p:nvPicPr>
          <p:cNvPr id="120843" name="Picture 12" descr="Image039"/>
          <p:cNvPicPr preferRelativeResize="0">
            <a:picLocks noChangeAspect="1"/>
          </p:cNvPicPr>
          <p:nvPr/>
        </p:nvPicPr>
        <p:blipFill>
          <a:blip r:embed="rId1"/>
          <a:stretch>
            <a:fillRect/>
          </a:stretch>
        </p:blipFill>
        <p:spPr>
          <a:xfrm>
            <a:off x="5507038" y="2406650"/>
            <a:ext cx="3457575" cy="3109913"/>
          </a:xfrm>
          <a:prstGeom prst="rect">
            <a:avLst/>
          </a:prstGeom>
          <a:solidFill>
            <a:schemeClr val="bg1"/>
          </a:solidFill>
          <a:ln w="9525" cap="flat" cmpd="sng">
            <a:solidFill>
              <a:srgbClr val="FF6600"/>
            </a:solidFill>
            <a:prstDash val="solid"/>
            <a:miter/>
            <a:headEnd type="none" w="med" len="med"/>
            <a:tailEnd type="none" w="med" len="med"/>
          </a:ln>
        </p:spPr>
      </p:pic>
    </p:spTree>
  </p:cSld>
  <p:clrMapOvr>
    <a:masterClrMapping/>
  </p:clrMapOvr>
  <p:transition spd="slow">
    <p:randomBar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Rectangle 2"/>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2882" name="Rectangle 3"/>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2883" name="Rectangle 4"/>
          <p:cNvSpPr/>
          <p:nvPr/>
        </p:nvSpPr>
        <p:spPr>
          <a:xfrm>
            <a:off x="611188" y="1211263"/>
            <a:ext cx="2438400" cy="561975"/>
          </a:xfrm>
          <a:prstGeom prst="rect">
            <a:avLst/>
          </a:prstGeom>
          <a:noFill/>
          <a:ln w="9525">
            <a:noFill/>
          </a:ln>
        </p:spPr>
        <p:txBody>
          <a:bodyPr anchor="t" anchorCtr="0">
            <a:spAutoFit/>
          </a:bodyPr>
          <a:p>
            <a:pPr algn="just" eaLnBrk="0" hangingPunct="0">
              <a:lnSpc>
                <a:spcPct val="110000"/>
              </a:lnSpc>
            </a:pPr>
            <a:r>
              <a:rPr lang="zh-CN" altLang="en-US" sz="2800" b="1" dirty="0">
                <a:solidFill>
                  <a:srgbClr val="CC3300"/>
                </a:solidFill>
                <a:latin typeface="Times New Roman" panose="02020603050405020304" pitchFamily="18" charset="0"/>
                <a:ea typeface="楷体_GB2312"/>
              </a:rPr>
              <a:t>切削温度分布</a:t>
            </a:r>
            <a:endParaRPr lang="zh-CN" altLang="en-US" sz="2800" b="1" dirty="0">
              <a:latin typeface="Times New Roman" panose="02020603050405020304" pitchFamily="18" charset="0"/>
              <a:ea typeface="楷体_GB2312"/>
            </a:endParaRPr>
          </a:p>
        </p:txBody>
      </p:sp>
      <p:sp>
        <p:nvSpPr>
          <p:cNvPr id="1497093" name="Text Box 5"/>
          <p:cNvSpPr txBox="1">
            <a:spLocks noChangeArrowheads="1"/>
          </p:cNvSpPr>
          <p:nvPr/>
        </p:nvSpPr>
        <p:spPr bwMode="auto">
          <a:xfrm>
            <a:off x="179388" y="1773238"/>
            <a:ext cx="3562350" cy="1881188"/>
          </a:xfrm>
          <a:prstGeom prst="rect">
            <a:avLst/>
          </a:prstGeom>
          <a:noFill/>
          <a:ln w="9525">
            <a:noFill/>
            <a:miter lim="800000"/>
          </a:ln>
          <a:effectLst/>
        </p:spPr>
        <p:txBody>
          <a:bodyPr>
            <a:spAutoFit/>
          </a:bodyPr>
          <a:lstStyle/>
          <a:p>
            <a:pPr marR="0" defTabSz="914400" eaLnBrk="0" hangingPunct="0">
              <a:lnSpc>
                <a:spcPct val="110000"/>
              </a:lnSpc>
              <a:spcBef>
                <a:spcPct val="50000"/>
              </a:spcBef>
              <a:buClrTx/>
              <a:buSzTx/>
              <a:buFontTx/>
              <a:buNone/>
              <a:defRPr/>
            </a:pPr>
            <a:r>
              <a:rPr kumimoji="0" lang="en-US" altLang="zh-CN" sz="2400" kern="1200" cap="none" spc="0" normalizeH="0" baseline="0" noProof="0">
                <a:solidFill>
                  <a:srgbClr val="FF99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a:t>
            </a:r>
            <a:r>
              <a:rPr kumimoji="0" lang="en-US" altLang="zh-CN" sz="2400" kern="1200" cap="none" spc="0" normalizeH="0" baseline="0" noProof="0">
                <a:latin typeface="Times New Roman" panose="02020603050405020304" pitchFamily="18" charset="0"/>
                <a:ea typeface="黑体" panose="02010609060101010101" pitchFamily="49" charset="-122"/>
                <a:cs typeface="+mn-cs"/>
              </a:rPr>
              <a:t> </a:t>
            </a:r>
            <a:r>
              <a:rPr kumimoji="0" lang="zh-CN" altLang="en-US" sz="2400" b="1" kern="1200" cap="none" spc="0" normalizeH="0" baseline="0" noProof="0">
                <a:solidFill>
                  <a:srgbClr val="008000"/>
                </a:solidFill>
                <a:latin typeface="楷体_GB2312" pitchFamily="49" charset="-122"/>
                <a:ea typeface="楷体_GB2312" pitchFamily="49" charset="-122"/>
                <a:cs typeface="+mn-cs"/>
              </a:rPr>
              <a:t>切削塑性材料</a:t>
            </a:r>
            <a:r>
              <a:rPr kumimoji="0" lang="zh-CN" altLang="en-US" sz="2400" b="1" kern="1200" cap="none" spc="0" normalizeH="0" baseline="0" noProof="0">
                <a:latin typeface="楷体_GB2312" pitchFamily="49" charset="-122"/>
                <a:ea typeface="楷体_GB2312" pitchFamily="49" charset="-122"/>
                <a:cs typeface="+mn-cs"/>
              </a:rPr>
              <a:t>  前刀面靠近刀尖处温度最高。</a:t>
            </a:r>
            <a:endParaRPr kumimoji="0" lang="zh-CN" altLang="en-US" sz="2400" b="1" kern="1200" cap="none" spc="0" normalizeH="0" baseline="0" noProof="0">
              <a:latin typeface="楷体_GB2312" pitchFamily="49" charset="-122"/>
              <a:ea typeface="楷体_GB2312" pitchFamily="49" charset="-122"/>
              <a:cs typeface="+mn-cs"/>
            </a:endParaRPr>
          </a:p>
          <a:p>
            <a:pPr marR="0" defTabSz="914400" eaLnBrk="0" hangingPunct="0">
              <a:lnSpc>
                <a:spcPct val="110000"/>
              </a:lnSpc>
              <a:spcBef>
                <a:spcPct val="50000"/>
              </a:spcBef>
              <a:buClrTx/>
              <a:buSzTx/>
              <a:buFontTx/>
              <a:buNone/>
              <a:defRPr/>
            </a:pPr>
            <a:r>
              <a:rPr kumimoji="0" lang="zh-CN" altLang="en-US" sz="2400" kern="1200" cap="none" spc="0" normalizeH="0" baseline="0" noProof="0">
                <a:solidFill>
                  <a:srgbClr val="FF99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a:t>
            </a:r>
            <a:r>
              <a:rPr kumimoji="0" lang="zh-CN" altLang="en-US" sz="2400" kern="1200" cap="none" spc="0" normalizeH="0" baseline="0" noProof="0">
                <a:solidFill>
                  <a:schemeClr val="accent2"/>
                </a:solidFill>
                <a:latin typeface="Times New Roman" panose="02020603050405020304" pitchFamily="18" charset="0"/>
                <a:ea typeface="黑体" panose="02010609060101010101" pitchFamily="49" charset="-122"/>
                <a:cs typeface="+mn-cs"/>
              </a:rPr>
              <a:t> </a:t>
            </a:r>
            <a:r>
              <a:rPr kumimoji="0" lang="zh-CN" altLang="en-US" sz="2400" b="1" kern="1200" cap="none" spc="0" normalizeH="0" baseline="0" noProof="0">
                <a:solidFill>
                  <a:srgbClr val="008000"/>
                </a:solidFill>
                <a:latin typeface="楷体_GB2312" pitchFamily="49" charset="-122"/>
                <a:ea typeface="楷体_GB2312" pitchFamily="49" charset="-122"/>
                <a:cs typeface="+mn-cs"/>
              </a:rPr>
              <a:t>切削脆性材料</a:t>
            </a:r>
            <a:r>
              <a:rPr kumimoji="0" lang="zh-CN" altLang="en-US" sz="2400" b="1" kern="1200" cap="none" spc="0" normalizeH="0" baseline="0" noProof="0">
                <a:latin typeface="楷体_GB2312" pitchFamily="49" charset="-122"/>
                <a:ea typeface="楷体_GB2312" pitchFamily="49" charset="-122"/>
                <a:cs typeface="+mn-cs"/>
              </a:rPr>
              <a:t>  后刀面靠近刀尖处温度最高。</a:t>
            </a:r>
            <a:endParaRPr kumimoji="0" lang="zh-CN" altLang="en-US" sz="2400" b="1" kern="1200" cap="none" spc="0" normalizeH="0" baseline="0" noProof="0">
              <a:latin typeface="楷体_GB2312" pitchFamily="49" charset="-122"/>
              <a:ea typeface="楷体_GB2312" pitchFamily="49" charset="-122"/>
              <a:cs typeface="+mn-cs"/>
            </a:endParaRPr>
          </a:p>
        </p:txBody>
      </p:sp>
      <p:grpSp>
        <p:nvGrpSpPr>
          <p:cNvPr id="122885" name="Group 6"/>
          <p:cNvGrpSpPr/>
          <p:nvPr/>
        </p:nvGrpSpPr>
        <p:grpSpPr>
          <a:xfrm>
            <a:off x="611188" y="1196975"/>
            <a:ext cx="8121650" cy="5575300"/>
            <a:chOff x="385" y="754"/>
            <a:chExt cx="5116" cy="3512"/>
          </a:xfrm>
        </p:grpSpPr>
        <p:grpSp>
          <p:nvGrpSpPr>
            <p:cNvPr id="122886" name="Group 7"/>
            <p:cNvGrpSpPr/>
            <p:nvPr/>
          </p:nvGrpSpPr>
          <p:grpSpPr>
            <a:xfrm>
              <a:off x="2518" y="754"/>
              <a:ext cx="2983" cy="3512"/>
              <a:chOff x="2496" y="628"/>
              <a:chExt cx="3264" cy="3692"/>
            </a:xfrm>
          </p:grpSpPr>
          <p:pic>
            <p:nvPicPr>
              <p:cNvPr id="122887" name="Picture 8"/>
              <p:cNvPicPr>
                <a:picLocks noChangeAspect="1"/>
              </p:cNvPicPr>
              <p:nvPr/>
            </p:nvPicPr>
            <p:blipFill>
              <a:blip r:embed="rId1"/>
              <a:srcRect t="2621"/>
              <a:stretch>
                <a:fillRect/>
              </a:stretch>
            </p:blipFill>
            <p:spPr>
              <a:xfrm>
                <a:off x="2496" y="628"/>
                <a:ext cx="3264" cy="3692"/>
              </a:xfrm>
              <a:prstGeom prst="rect">
                <a:avLst/>
              </a:prstGeom>
              <a:noFill/>
              <a:ln w="9525" cap="flat" cmpd="sng">
                <a:solidFill>
                  <a:srgbClr val="FF3300"/>
                </a:solidFill>
                <a:prstDash val="solid"/>
                <a:miter/>
                <a:headEnd type="none" w="med" len="med"/>
                <a:tailEnd type="none" w="med" len="med"/>
              </a:ln>
            </p:spPr>
          </p:pic>
          <p:sp>
            <p:nvSpPr>
              <p:cNvPr id="122888" name="Rectangle 9"/>
              <p:cNvSpPr/>
              <p:nvPr/>
            </p:nvSpPr>
            <p:spPr>
              <a:xfrm rot="1001244">
                <a:off x="4590" y="2274"/>
                <a:ext cx="144" cy="336"/>
              </a:xfrm>
              <a:prstGeom prst="rect">
                <a:avLst/>
              </a:prstGeom>
              <a:solidFill>
                <a:srgbClr val="FFFFFF"/>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122889" name="Group 10"/>
              <p:cNvGrpSpPr/>
              <p:nvPr/>
            </p:nvGrpSpPr>
            <p:grpSpPr>
              <a:xfrm>
                <a:off x="4053" y="1239"/>
                <a:ext cx="1491" cy="2648"/>
                <a:chOff x="4053" y="1239"/>
                <a:chExt cx="1491" cy="2648"/>
              </a:xfrm>
            </p:grpSpPr>
            <p:grpSp>
              <p:nvGrpSpPr>
                <p:cNvPr id="122890" name="Group 11"/>
                <p:cNvGrpSpPr/>
                <p:nvPr/>
              </p:nvGrpSpPr>
              <p:grpSpPr>
                <a:xfrm>
                  <a:off x="4053" y="1239"/>
                  <a:ext cx="1491" cy="2648"/>
                  <a:chOff x="4053" y="1239"/>
                  <a:chExt cx="1491" cy="2648"/>
                </a:xfrm>
              </p:grpSpPr>
              <p:grpSp>
                <p:nvGrpSpPr>
                  <p:cNvPr id="122891" name="Group 12"/>
                  <p:cNvGrpSpPr/>
                  <p:nvPr/>
                </p:nvGrpSpPr>
                <p:grpSpPr>
                  <a:xfrm>
                    <a:off x="4053" y="1343"/>
                    <a:ext cx="1418" cy="2544"/>
                    <a:chOff x="4053" y="1343"/>
                    <a:chExt cx="1418" cy="2544"/>
                  </a:xfrm>
                </p:grpSpPr>
                <p:sp>
                  <p:nvSpPr>
                    <p:cNvPr id="122892" name="AutoShape 13"/>
                    <p:cNvSpPr/>
                    <p:nvPr/>
                  </p:nvSpPr>
                  <p:spPr>
                    <a:xfrm rot="-5412330">
                      <a:off x="3638" y="1861"/>
                      <a:ext cx="2351" cy="1301"/>
                    </a:xfrm>
                    <a:prstGeom prst="rtTriangle">
                      <a:avLst/>
                    </a:prstGeom>
                    <a:solidFill>
                      <a:srgbClr val="CCECFF">
                        <a:alpha val="30196"/>
                      </a:srgbClr>
                    </a:solid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2893" name="AutoShape 14"/>
                    <p:cNvSpPr/>
                    <p:nvPr/>
                  </p:nvSpPr>
                  <p:spPr>
                    <a:xfrm rot="-18686" flipV="1">
                      <a:off x="4174" y="3693"/>
                      <a:ext cx="1295" cy="194"/>
                    </a:xfrm>
                    <a:prstGeom prst="rtTriangle">
                      <a:avLst/>
                    </a:prstGeom>
                    <a:solidFill>
                      <a:srgbClr val="CCECFF">
                        <a:alpha val="30196"/>
                      </a:srgbClr>
                    </a:solid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2894" name="AutoShape 15"/>
                    <p:cNvSpPr/>
                    <p:nvPr/>
                  </p:nvSpPr>
                  <p:spPr>
                    <a:xfrm rot="4549622" flipH="1" flipV="1">
                      <a:off x="4042" y="3659"/>
                      <a:ext cx="189" cy="182"/>
                    </a:xfrm>
                    <a:prstGeom prst="rtTriangle">
                      <a:avLst/>
                    </a:prstGeom>
                    <a:solidFill>
                      <a:srgbClr val="CCECFF">
                        <a:alpha val="10196"/>
                      </a:srgbClr>
                    </a:solid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22895" name="Line 16"/>
                  <p:cNvSpPr/>
                  <p:nvPr/>
                </p:nvSpPr>
                <p:spPr>
                  <a:xfrm flipH="1">
                    <a:off x="4104" y="1239"/>
                    <a:ext cx="1440" cy="2625"/>
                  </a:xfrm>
                  <a:prstGeom prst="line">
                    <a:avLst/>
                  </a:prstGeom>
                  <a:ln w="38100" cap="flat" cmpd="sng">
                    <a:solidFill>
                      <a:srgbClr val="FF3300"/>
                    </a:solidFill>
                    <a:prstDash val="solid"/>
                    <a:round/>
                    <a:headEnd type="none" w="med" len="med"/>
                    <a:tailEnd type="none" w="med" len="med"/>
                  </a:ln>
                </p:spPr>
              </p:sp>
              <p:sp>
                <p:nvSpPr>
                  <p:cNvPr id="122896" name="Line 17"/>
                  <p:cNvSpPr/>
                  <p:nvPr/>
                </p:nvSpPr>
                <p:spPr>
                  <a:xfrm flipH="1">
                    <a:off x="4104" y="3711"/>
                    <a:ext cx="1392" cy="166"/>
                  </a:xfrm>
                  <a:prstGeom prst="line">
                    <a:avLst/>
                  </a:prstGeom>
                  <a:ln w="38100" cap="flat" cmpd="sng">
                    <a:solidFill>
                      <a:srgbClr val="FF3300"/>
                    </a:solidFill>
                    <a:prstDash val="solid"/>
                    <a:round/>
                    <a:headEnd type="none" w="med" len="med"/>
                    <a:tailEnd type="none" w="med" len="med"/>
                  </a:ln>
                </p:spPr>
              </p:sp>
            </p:grpSp>
            <p:sp>
              <p:nvSpPr>
                <p:cNvPr id="122897" name="Oval 18"/>
                <p:cNvSpPr/>
                <p:nvPr/>
              </p:nvSpPr>
              <p:spPr>
                <a:xfrm rot="600000">
                  <a:off x="4387" y="2630"/>
                  <a:ext cx="224" cy="827"/>
                </a:xfrm>
                <a:prstGeom prst="ellipse">
                  <a:avLst/>
                </a:prstGeom>
                <a:solidFill>
                  <a:srgbClr val="FFCC99">
                    <a:alpha val="50195"/>
                  </a:srgbClr>
                </a:solidFill>
                <a:ln w="28575" cap="flat" cmpd="sng">
                  <a:solidFill>
                    <a:srgbClr val="FF33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2898" name="Text Box 19"/>
                <p:cNvSpPr txBox="1"/>
                <p:nvPr/>
              </p:nvSpPr>
              <p:spPr>
                <a:xfrm>
                  <a:off x="4524" y="2345"/>
                  <a:ext cx="431" cy="404"/>
                </a:xfrm>
                <a:prstGeom prst="rect">
                  <a:avLst/>
                </a:prstGeom>
                <a:noFill/>
                <a:ln w="9525">
                  <a:noFill/>
                </a:ln>
              </p:spPr>
              <p:txBody>
                <a:bodyPr lIns="0" tIns="0" rIns="0" bIns="0" anchor="ctr" anchorCtr="0">
                  <a:spAutoFit/>
                </a:bodyPr>
                <a:p>
                  <a:pPr algn="ctr" eaLnBrk="0" hangingPunct="0">
                    <a:spcBef>
                      <a:spcPct val="50000"/>
                    </a:spcBef>
                  </a:pPr>
                  <a:r>
                    <a:rPr lang="en-US" altLang="zh-CN" sz="2000" b="1" dirty="0">
                      <a:solidFill>
                        <a:srgbClr val="CC3300"/>
                      </a:solidFill>
                      <a:latin typeface="Times New Roman" panose="02020603050405020304" pitchFamily="18" charset="0"/>
                      <a:ea typeface="宋体" panose="02010600030101010101" pitchFamily="2" charset="-122"/>
                    </a:rPr>
                    <a:t>750℃</a:t>
                  </a:r>
                  <a:endParaRPr lang="en-US" altLang="zh-CN" sz="2000" b="1" dirty="0">
                    <a:solidFill>
                      <a:srgbClr val="CC3300"/>
                    </a:solidFill>
                    <a:latin typeface="Times New Roman" panose="02020603050405020304" pitchFamily="18" charset="0"/>
                    <a:ea typeface="宋体" panose="02010600030101010101" pitchFamily="2" charset="-122"/>
                  </a:endParaRPr>
                </a:p>
              </p:txBody>
            </p:sp>
            <p:sp>
              <p:nvSpPr>
                <p:cNvPr id="122899" name="Text Box 20"/>
                <p:cNvSpPr txBox="1"/>
                <p:nvPr/>
              </p:nvSpPr>
              <p:spPr>
                <a:xfrm>
                  <a:off x="5136" y="2703"/>
                  <a:ext cx="336" cy="404"/>
                </a:xfrm>
                <a:prstGeom prst="rect">
                  <a:avLst/>
                </a:prstGeom>
                <a:solidFill>
                  <a:srgbClr val="FFFFFF"/>
                </a:solidFill>
                <a:ln w="9525">
                  <a:noFill/>
                </a:ln>
              </p:spPr>
              <p:txBody>
                <a:bodyPr lIns="0" tIns="0" rIns="0" bIns="0" anchor="ctr" anchorCtr="0">
                  <a:spAutoFit/>
                </a:bodyPr>
                <a:p>
                  <a:pPr algn="ctr" eaLnBrk="0" hangingPunct="0">
                    <a:spcBef>
                      <a:spcPct val="50000"/>
                    </a:spcBef>
                  </a:pPr>
                  <a:r>
                    <a:rPr lang="zh-CN" altLang="en-US" sz="2000" dirty="0">
                      <a:solidFill>
                        <a:schemeClr val="accent2"/>
                      </a:solidFill>
                      <a:latin typeface="Times New Roman" panose="02020603050405020304" pitchFamily="18" charset="0"/>
                      <a:ea typeface="黑体" panose="02010609060101010101" pitchFamily="49" charset="-122"/>
                    </a:rPr>
                    <a:t>刀具</a:t>
                  </a:r>
                  <a:endParaRPr lang="zh-CN" altLang="en-US" sz="2000" dirty="0">
                    <a:solidFill>
                      <a:schemeClr val="accent2"/>
                    </a:solidFill>
                    <a:latin typeface="Times New Roman" panose="02020603050405020304" pitchFamily="18" charset="0"/>
                    <a:ea typeface="黑体" panose="02010609060101010101" pitchFamily="49" charset="-122"/>
                  </a:endParaRPr>
                </a:p>
              </p:txBody>
            </p:sp>
          </p:grpSp>
        </p:grpSp>
        <p:sp>
          <p:nvSpPr>
            <p:cNvPr id="122900" name="Text Box 21"/>
            <p:cNvSpPr txBox="1"/>
            <p:nvPr/>
          </p:nvSpPr>
          <p:spPr>
            <a:xfrm>
              <a:off x="385" y="2847"/>
              <a:ext cx="1824" cy="1324"/>
            </a:xfrm>
            <a:prstGeom prst="rect">
              <a:avLst/>
            </a:prstGeom>
            <a:noFill/>
            <a:ln w="9525">
              <a:noFill/>
            </a:ln>
          </p:spPr>
          <p:txBody>
            <a:bodyPr lIns="0" rIns="0" anchor="t" anchorCtr="0"/>
            <a:p>
              <a:pPr eaLnBrk="0" hangingPunct="0">
                <a:lnSpc>
                  <a:spcPct val="90000"/>
                </a:lnSpc>
              </a:pPr>
              <a:r>
                <a:rPr lang="zh-CN" altLang="en-US" b="1" dirty="0">
                  <a:latin typeface="楷体_GB2312"/>
                  <a:ea typeface="楷体_GB2312"/>
                </a:rPr>
                <a:t>图 二维切削中的温度分布</a:t>
              </a:r>
              <a:endParaRPr lang="zh-CN" altLang="en-US" b="1" dirty="0">
                <a:latin typeface="楷体_GB2312"/>
                <a:ea typeface="楷体_GB2312"/>
              </a:endParaRPr>
            </a:p>
            <a:p>
              <a:pPr eaLnBrk="0" hangingPunct="0">
                <a:spcBef>
                  <a:spcPct val="15000"/>
                </a:spcBef>
              </a:pPr>
              <a:r>
                <a:rPr lang="zh-CN" altLang="en-US" sz="1600" b="1" dirty="0">
                  <a:latin typeface="楷体_GB2312"/>
                  <a:ea typeface="楷体_GB2312"/>
                </a:rPr>
                <a:t> 工件材料：低碳易切钢；</a:t>
              </a:r>
              <a:endParaRPr lang="zh-CN" altLang="en-US" sz="1600" b="1" dirty="0">
                <a:latin typeface="楷体_GB2312"/>
                <a:ea typeface="楷体_GB2312"/>
              </a:endParaRPr>
            </a:p>
            <a:p>
              <a:pPr eaLnBrk="0" hangingPunct="0"/>
              <a:r>
                <a:rPr lang="zh-CN" altLang="en-US" sz="1600" dirty="0">
                  <a:latin typeface="Times New Roman" panose="02020603050405020304" pitchFamily="18" charset="0"/>
                  <a:ea typeface="黑体" panose="02010609060101010101" pitchFamily="49" charset="-122"/>
                </a:rPr>
                <a:t>  </a:t>
              </a:r>
              <a:r>
                <a:rPr lang="zh-CN" altLang="en-US" sz="1600" b="1" dirty="0">
                  <a:latin typeface="Times New Roman" panose="02020603050405020304" pitchFamily="18" charset="0"/>
                  <a:ea typeface="楷体_GB2312"/>
                </a:rPr>
                <a:t>刀具：</a:t>
              </a:r>
              <a:r>
                <a:rPr lang="zh-CN" altLang="en-US" sz="1600" i="1" dirty="0">
                  <a:latin typeface="Times New Roman" panose="02020603050405020304" pitchFamily="18" charset="0"/>
                  <a:ea typeface="黑体" panose="02010609060101010101" pitchFamily="49" charset="-122"/>
                  <a:sym typeface="Symbol" panose="05050102010706020507" pitchFamily="18" charset="2"/>
                </a:rPr>
                <a:t></a:t>
              </a:r>
              <a:r>
                <a:rPr lang="en-US" altLang="zh-CN" sz="1600" baseline="-25000" dirty="0">
                  <a:latin typeface="Times New Roman" panose="02020603050405020304" pitchFamily="18" charset="0"/>
                  <a:ea typeface="黑体" panose="02010609060101010101" pitchFamily="49" charset="-122"/>
                </a:rPr>
                <a:t>o</a:t>
              </a:r>
              <a:r>
                <a:rPr lang="en-US" altLang="zh-CN" sz="1600" dirty="0">
                  <a:latin typeface="Times New Roman" panose="02020603050405020304" pitchFamily="18" charset="0"/>
                  <a:ea typeface="黑体" panose="02010609060101010101" pitchFamily="49" charset="-122"/>
                </a:rPr>
                <a:t>=30</a:t>
              </a:r>
              <a:r>
                <a:rPr lang="en-US" altLang="zh-CN" sz="1600" dirty="0">
                  <a:latin typeface="Times New Roman" panose="02020603050405020304" pitchFamily="18" charset="0"/>
                  <a:ea typeface="黑体" panose="02010609060101010101" pitchFamily="49" charset="-122"/>
                  <a:sym typeface="Symbol" panose="05050102010706020507" pitchFamily="18" charset="2"/>
                </a:rPr>
                <a:t></a:t>
              </a:r>
              <a:r>
                <a:rPr lang="zh-CN" altLang="en-US" sz="1600" dirty="0">
                  <a:latin typeface="Times New Roman" panose="02020603050405020304" pitchFamily="18" charset="0"/>
                  <a:ea typeface="黑体" panose="02010609060101010101" pitchFamily="49" charset="-122"/>
                </a:rPr>
                <a:t>，</a:t>
              </a:r>
              <a:r>
                <a:rPr lang="zh-CN" altLang="en-US" sz="1600" i="1" dirty="0">
                  <a:latin typeface="Times New Roman" panose="02020603050405020304" pitchFamily="18" charset="0"/>
                  <a:ea typeface="黑体" panose="02010609060101010101" pitchFamily="49" charset="-122"/>
                  <a:sym typeface="Symbol" panose="05050102010706020507" pitchFamily="18" charset="2"/>
                </a:rPr>
                <a:t></a:t>
              </a:r>
              <a:r>
                <a:rPr lang="en-US" altLang="zh-CN" sz="1600" baseline="-25000" dirty="0">
                  <a:latin typeface="Times New Roman" panose="02020603050405020304" pitchFamily="18" charset="0"/>
                  <a:ea typeface="黑体" panose="02010609060101010101" pitchFamily="49" charset="-122"/>
                </a:rPr>
                <a:t>o</a:t>
              </a:r>
              <a:r>
                <a:rPr lang="en-US" altLang="zh-CN" sz="1600" dirty="0">
                  <a:latin typeface="Times New Roman" panose="02020603050405020304" pitchFamily="18" charset="0"/>
                  <a:ea typeface="黑体" panose="02010609060101010101" pitchFamily="49" charset="-122"/>
                </a:rPr>
                <a:t>=7</a:t>
              </a:r>
              <a:r>
                <a:rPr lang="en-US" altLang="zh-CN" sz="1600" dirty="0">
                  <a:latin typeface="Times New Roman" panose="02020603050405020304" pitchFamily="18" charset="0"/>
                  <a:ea typeface="黑体" panose="02010609060101010101" pitchFamily="49" charset="-122"/>
                  <a:sym typeface="Symbol" panose="05050102010706020507" pitchFamily="18" charset="2"/>
                </a:rPr>
                <a:t></a:t>
              </a:r>
              <a:r>
                <a:rPr lang="zh-CN" altLang="en-US" sz="1600" dirty="0">
                  <a:latin typeface="Times New Roman" panose="02020603050405020304" pitchFamily="18" charset="0"/>
                  <a:ea typeface="黑体" panose="02010609060101010101" pitchFamily="49" charset="-122"/>
                </a:rPr>
                <a:t>；</a:t>
              </a:r>
              <a:endParaRPr lang="zh-CN" altLang="en-US" sz="1600" dirty="0">
                <a:latin typeface="Times New Roman" panose="02020603050405020304" pitchFamily="18" charset="0"/>
                <a:ea typeface="黑体" panose="02010609060101010101" pitchFamily="49" charset="-122"/>
              </a:endParaRPr>
            </a:p>
            <a:p>
              <a:pPr eaLnBrk="0" hangingPunct="0"/>
              <a:r>
                <a:rPr lang="zh-CN" altLang="en-US" sz="1600" dirty="0">
                  <a:latin typeface="Times New Roman" panose="02020603050405020304" pitchFamily="18" charset="0"/>
                  <a:ea typeface="黑体" panose="02010609060101010101" pitchFamily="49" charset="-122"/>
                </a:rPr>
                <a:t>  </a:t>
              </a:r>
              <a:r>
                <a:rPr lang="zh-CN" altLang="en-US" sz="1600" b="1" dirty="0">
                  <a:latin typeface="Times New Roman" panose="02020603050405020304" pitchFamily="18" charset="0"/>
                  <a:ea typeface="楷体_GB2312"/>
                </a:rPr>
                <a:t>切削用量：</a:t>
              </a:r>
              <a:r>
                <a:rPr lang="en-US" altLang="zh-CN" sz="1600" i="1" dirty="0">
                  <a:latin typeface="Times New Roman" panose="02020603050405020304" pitchFamily="18" charset="0"/>
                  <a:ea typeface="黑体" panose="02010609060101010101" pitchFamily="49" charset="-122"/>
                </a:rPr>
                <a:t>a</a:t>
              </a:r>
              <a:r>
                <a:rPr lang="en-US" altLang="zh-CN" sz="1600" i="1" baseline="-25000" dirty="0">
                  <a:latin typeface="Times New Roman" panose="02020603050405020304" pitchFamily="18" charset="0"/>
                  <a:ea typeface="黑体" panose="02010609060101010101" pitchFamily="49" charset="-122"/>
                </a:rPr>
                <a:t>p</a:t>
              </a:r>
              <a:r>
                <a:rPr lang="en-US" altLang="zh-CN" sz="1600" dirty="0">
                  <a:latin typeface="Times New Roman" panose="02020603050405020304" pitchFamily="18" charset="0"/>
                  <a:ea typeface="黑体" panose="02010609060101010101" pitchFamily="49" charset="-122"/>
                </a:rPr>
                <a:t>=0.6mm</a:t>
              </a:r>
              <a:r>
                <a:rPr lang="zh-CN" altLang="en-US" sz="1600" dirty="0">
                  <a:latin typeface="Times New Roman" panose="02020603050405020304" pitchFamily="18" charset="0"/>
                  <a:ea typeface="黑体" panose="02010609060101010101" pitchFamily="49" charset="-122"/>
                </a:rPr>
                <a:t>，</a:t>
              </a:r>
              <a:endParaRPr lang="zh-CN" altLang="en-US" sz="1600" dirty="0">
                <a:latin typeface="Times New Roman" panose="02020603050405020304" pitchFamily="18" charset="0"/>
                <a:ea typeface="黑体" panose="02010609060101010101" pitchFamily="49" charset="-122"/>
              </a:endParaRPr>
            </a:p>
            <a:p>
              <a:pPr eaLnBrk="0" hangingPunct="0"/>
              <a:r>
                <a:rPr lang="zh-CN" altLang="en-US" sz="1600" dirty="0">
                  <a:latin typeface="Times New Roman" panose="02020603050405020304" pitchFamily="18" charset="0"/>
                  <a:ea typeface="黑体" panose="02010609060101010101" pitchFamily="49" charset="-122"/>
                </a:rPr>
                <a:t>                       </a:t>
              </a:r>
              <a:r>
                <a:rPr lang="en-US" altLang="zh-CN" sz="1600" i="1" dirty="0">
                  <a:latin typeface="Times New Roman" panose="02020603050405020304" pitchFamily="18" charset="0"/>
                  <a:ea typeface="黑体" panose="02010609060101010101" pitchFamily="49" charset="-122"/>
                </a:rPr>
                <a:t>v</a:t>
              </a:r>
              <a:r>
                <a:rPr lang="en-US" altLang="zh-CN" sz="1600" i="1" baseline="-25000" dirty="0">
                  <a:latin typeface="Times New Roman" panose="02020603050405020304" pitchFamily="18" charset="0"/>
                  <a:ea typeface="黑体" panose="02010609060101010101" pitchFamily="49" charset="-122"/>
                </a:rPr>
                <a:t>c</a:t>
              </a:r>
              <a:r>
                <a:rPr lang="en-US" altLang="zh-CN" sz="1600" baseline="-25000" dirty="0">
                  <a:latin typeface="Times New Roman" panose="02020603050405020304" pitchFamily="18" charset="0"/>
                  <a:ea typeface="黑体" panose="02010609060101010101" pitchFamily="49" charset="-122"/>
                </a:rPr>
                <a:t> </a:t>
              </a:r>
              <a:r>
                <a:rPr lang="en-US" altLang="zh-CN" sz="1600" dirty="0">
                  <a:latin typeface="Times New Roman" panose="02020603050405020304" pitchFamily="18" charset="0"/>
                  <a:ea typeface="黑体" panose="02010609060101010101" pitchFamily="49" charset="-122"/>
                </a:rPr>
                <a:t>=0.38m/s</a:t>
              </a:r>
              <a:r>
                <a:rPr lang="zh-CN" altLang="en-US" sz="1600" dirty="0">
                  <a:latin typeface="Times New Roman" panose="02020603050405020304" pitchFamily="18" charset="0"/>
                  <a:ea typeface="黑体" panose="02010609060101010101" pitchFamily="49" charset="-122"/>
                </a:rPr>
                <a:t>；</a:t>
              </a:r>
              <a:endParaRPr lang="zh-CN" altLang="en-US" sz="1600" dirty="0">
                <a:latin typeface="Times New Roman" panose="02020603050405020304" pitchFamily="18" charset="0"/>
                <a:ea typeface="黑体" panose="02010609060101010101" pitchFamily="49" charset="-122"/>
              </a:endParaRPr>
            </a:p>
            <a:p>
              <a:pPr eaLnBrk="0" hangingPunct="0"/>
              <a:r>
                <a:rPr lang="zh-CN" altLang="en-US" sz="1600" dirty="0">
                  <a:latin typeface="Times New Roman" panose="02020603050405020304" pitchFamily="18" charset="0"/>
                  <a:ea typeface="黑体" panose="02010609060101010101" pitchFamily="49" charset="-122"/>
                </a:rPr>
                <a:t>  </a:t>
              </a:r>
              <a:r>
                <a:rPr lang="zh-CN" altLang="en-US" sz="1600" b="1" dirty="0">
                  <a:latin typeface="Times New Roman" panose="02020603050405020304" pitchFamily="18" charset="0"/>
                  <a:ea typeface="楷体_GB2312"/>
                </a:rPr>
                <a:t>切削条件：干切削，</a:t>
              </a:r>
              <a:r>
                <a:rPr lang="zh-CN" altLang="en-US" sz="1600" dirty="0">
                  <a:latin typeface="Times New Roman" panose="02020603050405020304" pitchFamily="18" charset="0"/>
                  <a:ea typeface="黑体" panose="02010609060101010101" pitchFamily="49" charset="-122"/>
                </a:rPr>
                <a:t> </a:t>
              </a:r>
              <a:endParaRPr lang="zh-CN" altLang="en-US" sz="1600" dirty="0">
                <a:latin typeface="Times New Roman" panose="02020603050405020304" pitchFamily="18" charset="0"/>
                <a:ea typeface="黑体" panose="02010609060101010101" pitchFamily="49" charset="-122"/>
              </a:endParaRPr>
            </a:p>
            <a:p>
              <a:pPr eaLnBrk="0" hangingPunct="0"/>
              <a:r>
                <a:rPr lang="zh-CN" altLang="en-US" sz="1600" dirty="0">
                  <a:latin typeface="Times New Roman" panose="02020603050405020304" pitchFamily="18" charset="0"/>
                  <a:ea typeface="黑体" panose="02010609060101010101" pitchFamily="49" charset="-122"/>
                </a:rPr>
                <a:t>                       </a:t>
              </a:r>
              <a:r>
                <a:rPr lang="zh-CN" altLang="en-US" sz="1600" b="1" dirty="0">
                  <a:latin typeface="Times New Roman" panose="02020603050405020304" pitchFamily="18" charset="0"/>
                  <a:ea typeface="楷体_GB2312"/>
                </a:rPr>
                <a:t>预热</a:t>
              </a:r>
              <a:r>
                <a:rPr lang="en-US" altLang="zh-CN" sz="1600" dirty="0">
                  <a:latin typeface="Times New Roman" panose="02020603050405020304" pitchFamily="18" charset="0"/>
                  <a:ea typeface="黑体" panose="02010609060101010101" pitchFamily="49" charset="-122"/>
                </a:rPr>
                <a:t>611</a:t>
              </a:r>
              <a:r>
                <a:rPr lang="en-US" altLang="zh-CN" sz="1600" dirty="0">
                  <a:latin typeface="Times New Roman" panose="02020603050405020304" pitchFamily="18" charset="0"/>
                  <a:ea typeface="黑体" panose="02010609060101010101" pitchFamily="49" charset="-122"/>
                  <a:sym typeface="Symbol" panose="05050102010706020507" pitchFamily="18" charset="2"/>
                </a:rPr>
                <a:t></a:t>
              </a:r>
              <a:r>
                <a:rPr lang="en-US" altLang="zh-CN" sz="1600" dirty="0">
                  <a:latin typeface="Times New Roman" panose="02020603050405020304" pitchFamily="18" charset="0"/>
                  <a:ea typeface="黑体" panose="02010609060101010101" pitchFamily="49" charset="-122"/>
                </a:rPr>
                <a:t>C</a:t>
              </a:r>
              <a:endParaRPr lang="en-US" altLang="zh-CN" sz="1600" dirty="0">
                <a:latin typeface="Times New Roman" panose="02020603050405020304" pitchFamily="18" charset="0"/>
                <a:ea typeface="黑体" panose="02010609060101010101" pitchFamily="49" charset="-122"/>
              </a:endParaRPr>
            </a:p>
          </p:txBody>
        </p:sp>
      </p:grpSp>
      <p:sp>
        <p:nvSpPr>
          <p:cNvPr id="122901" name="Oval 22"/>
          <p:cNvSpPr>
            <a:spLocks noChangeAspect="1"/>
          </p:cNvSpPr>
          <p:nvPr/>
        </p:nvSpPr>
        <p:spPr>
          <a:xfrm>
            <a:off x="250825" y="1390650"/>
            <a:ext cx="309563" cy="309563"/>
          </a:xfrm>
          <a:prstGeom prst="ellipse">
            <a:avLst/>
          </a:prstGeom>
          <a:gradFill rotWithShape="0">
            <a:gsLst>
              <a:gs pos="0">
                <a:srgbClr val="FF9933"/>
              </a:gs>
              <a:gs pos="100000">
                <a:srgbClr val="A96522"/>
              </a:gs>
            </a:gsLst>
            <a:path path="shape">
              <a:fillToRect l="50000" t="50000" r="50000" b="50000"/>
            </a:path>
            <a:tileRect/>
          </a:gradFill>
          <a:ln w="9525">
            <a:noFill/>
          </a:ln>
        </p:spPr>
        <p:txBody>
          <a:bodyPr anchor="t" anchorCtr="0"/>
          <a:p>
            <a:pPr marL="342900" indent="-342900">
              <a:spcBef>
                <a:spcPct val="20000"/>
              </a:spcBef>
            </a:pPr>
            <a:endParaRPr lang="zh-CN" altLang="zh-CN" sz="2800" dirty="0">
              <a:latin typeface="Arial" panose="020B0604020202020204" pitchFamily="34" charset="0"/>
              <a:ea typeface="宋体" panose="02010600030101010101" pitchFamily="2" charset="-122"/>
            </a:endParaRPr>
          </a:p>
        </p:txBody>
      </p:sp>
      <p:sp>
        <p:nvSpPr>
          <p:cNvPr id="122902" name="Rectangle 23"/>
          <p:cNvSpPr>
            <a:spLocks noGrp="1"/>
          </p:cNvSpPr>
          <p:nvPr>
            <p:ph type="title"/>
          </p:nvPr>
        </p:nvSpPr>
        <p:spPr>
          <a:xfrm>
            <a:off x="2728913" y="90488"/>
            <a:ext cx="6019800" cy="11906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spTree>
  </p:cSld>
  <p:clrMapOvr>
    <a:masterClrMapping/>
  </p:clrMapOvr>
  <p:transition spd="slow">
    <p:randomBar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Rectangle 2"/>
          <p:cNvSpPr>
            <a:spLocks noGrp="1"/>
          </p:cNvSpPr>
          <p:nvPr>
            <p:ph type="title"/>
          </p:nvPr>
        </p:nvSpPr>
        <p:spPr>
          <a:xfrm>
            <a:off x="3454400" y="90488"/>
            <a:ext cx="4213225" cy="1190625"/>
          </a:xfrm>
          <a:ln/>
        </p:spPr>
        <p:txBody>
          <a:bodyPr vert="horz" wrap="square" lIns="91440" tIns="45720" rIns="91440" bIns="45720" anchor="ctr" anchorCtr="0"/>
          <a:p>
            <a:pPr algn="ctr" eaLnBrk="1" hangingPunct="1"/>
            <a:r>
              <a:rPr lang="zh-CN" altLang="en-US" sz="4000" dirty="0">
                <a:ea typeface="楷体_GB2312"/>
              </a:rPr>
              <a:t>金属的切削过程</a:t>
            </a:r>
            <a:endParaRPr lang="zh-CN" altLang="en-US" sz="4000" dirty="0">
              <a:ea typeface="楷体_GB2312"/>
            </a:endParaRPr>
          </a:p>
        </p:txBody>
      </p:sp>
      <p:grpSp>
        <p:nvGrpSpPr>
          <p:cNvPr id="124930" name="Group 3"/>
          <p:cNvGrpSpPr/>
          <p:nvPr/>
        </p:nvGrpSpPr>
        <p:grpSpPr>
          <a:xfrm>
            <a:off x="539750" y="1481138"/>
            <a:ext cx="7451725" cy="4930775"/>
            <a:chOff x="340" y="933"/>
            <a:chExt cx="4694" cy="3106"/>
          </a:xfrm>
        </p:grpSpPr>
        <p:sp>
          <p:nvSpPr>
            <p:cNvPr id="124931" name="Text Box 4"/>
            <p:cNvSpPr txBox="1"/>
            <p:nvPr/>
          </p:nvSpPr>
          <p:spPr>
            <a:xfrm>
              <a:off x="567" y="933"/>
              <a:ext cx="2313" cy="365"/>
            </a:xfrm>
            <a:prstGeom prst="rect">
              <a:avLst/>
            </a:prstGeom>
            <a:noFill/>
            <a:ln w="9525">
              <a:noFill/>
            </a:ln>
          </p:spPr>
          <p:txBody>
            <a:bodyPr lIns="91430" tIns="45715" rIns="91430" bIns="45715" anchor="t" anchorCtr="0">
              <a:spAutoFit/>
            </a:bodyPr>
            <a:p>
              <a:pPr>
                <a:spcBef>
                  <a:spcPct val="50000"/>
                </a:spcBef>
              </a:pPr>
              <a:r>
                <a:rPr lang="zh-CN" altLang="en-US" sz="3200" b="1" dirty="0">
                  <a:solidFill>
                    <a:srgbClr val="CC3300"/>
                  </a:solidFill>
                  <a:latin typeface="Arial" panose="020B0604020202020204" pitchFamily="34" charset="0"/>
                  <a:ea typeface="楷体_GB2312"/>
                </a:rPr>
                <a:t>ｂ．切削热的传导</a:t>
              </a:r>
              <a:endParaRPr lang="zh-CN" altLang="en-US" sz="3200" b="1" dirty="0">
                <a:solidFill>
                  <a:srgbClr val="CC3300"/>
                </a:solidFill>
                <a:latin typeface="Arial" panose="020B0604020202020204" pitchFamily="34" charset="0"/>
                <a:ea typeface="楷体_GB2312"/>
              </a:endParaRPr>
            </a:p>
          </p:txBody>
        </p:sp>
        <p:sp>
          <p:nvSpPr>
            <p:cNvPr id="124932" name="AutoShape 5"/>
            <p:cNvSpPr/>
            <p:nvPr/>
          </p:nvSpPr>
          <p:spPr>
            <a:xfrm>
              <a:off x="340" y="1479"/>
              <a:ext cx="182" cy="2541"/>
            </a:xfrm>
            <a:prstGeom prst="leftBrace">
              <a:avLst>
                <a:gd name="adj1" fmla="val 115893"/>
                <a:gd name="adj2" fmla="val 50000"/>
              </a:avLst>
            </a:prstGeom>
            <a:noFill/>
            <a:ln w="9525" cap="flat" cmpd="sng">
              <a:solidFill>
                <a:schemeClr val="tx1"/>
              </a:solidFill>
              <a:prstDash val="solid"/>
              <a:round/>
              <a:headEnd type="none" w="med" len="med"/>
              <a:tailEnd type="none" w="med" len="med"/>
            </a:ln>
          </p:spPr>
          <p:txBody>
            <a:bodyPr wrap="none" lIns="91430" tIns="45715" rIns="91430" bIns="45715" anchor="ctr" anchorCtr="0"/>
            <a:p>
              <a:endParaRPr lang="zh-CN" altLang="en-US" dirty="0">
                <a:latin typeface="Arial" panose="020B0604020202020204" pitchFamily="34" charset="0"/>
                <a:ea typeface="宋体" panose="02010600030101010101" pitchFamily="2" charset="-122"/>
              </a:endParaRPr>
            </a:p>
          </p:txBody>
        </p:sp>
        <p:sp>
          <p:nvSpPr>
            <p:cNvPr id="124933" name="Text Box 6"/>
            <p:cNvSpPr txBox="1"/>
            <p:nvPr/>
          </p:nvSpPr>
          <p:spPr>
            <a:xfrm>
              <a:off x="885" y="1389"/>
              <a:ext cx="3900"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传入切屑</a:t>
              </a:r>
              <a:r>
                <a:rPr lang="zh-CN" altLang="en-US" sz="2400" b="1" dirty="0">
                  <a:latin typeface="Arial" panose="020B0604020202020204" pitchFamily="34" charset="0"/>
                  <a:ea typeface="楷体_GB2312"/>
                </a:rPr>
                <a:t>，约占总热量的５０％～８６％，对切削加工无不利影响</a:t>
              </a:r>
              <a:endParaRPr lang="zh-CN" altLang="en-US" sz="2400" b="1" dirty="0">
                <a:latin typeface="Arial" panose="020B0604020202020204" pitchFamily="34" charset="0"/>
                <a:ea typeface="楷体_GB2312"/>
              </a:endParaRPr>
            </a:p>
          </p:txBody>
        </p:sp>
        <p:sp>
          <p:nvSpPr>
            <p:cNvPr id="124934" name="Text Box 7"/>
            <p:cNvSpPr txBox="1"/>
            <p:nvPr/>
          </p:nvSpPr>
          <p:spPr>
            <a:xfrm>
              <a:off x="885" y="1978"/>
              <a:ext cx="3809" cy="74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传入工件</a:t>
              </a:r>
              <a:r>
                <a:rPr lang="zh-CN" altLang="en-US" sz="2400" b="1" dirty="0">
                  <a:latin typeface="Arial" panose="020B0604020202020204" pitchFamily="34" charset="0"/>
                  <a:ea typeface="楷体_GB2312"/>
                </a:rPr>
                <a:t>，约占总热量的４０％～１０％，会使工件膨胀或伸长，产生尺寸和形状误差，影响加工精度</a:t>
              </a:r>
              <a:endParaRPr lang="zh-CN" altLang="en-US" sz="2400" b="1" dirty="0">
                <a:latin typeface="Arial" panose="020B0604020202020204" pitchFamily="34" charset="0"/>
                <a:ea typeface="楷体_GB2312"/>
              </a:endParaRPr>
            </a:p>
          </p:txBody>
        </p:sp>
        <p:sp>
          <p:nvSpPr>
            <p:cNvPr id="124935" name="Text Box 8"/>
            <p:cNvSpPr txBox="1"/>
            <p:nvPr/>
          </p:nvSpPr>
          <p:spPr>
            <a:xfrm>
              <a:off x="885" y="3521"/>
              <a:ext cx="3810"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传入周围介质</a:t>
              </a:r>
              <a:r>
                <a:rPr lang="zh-CN" altLang="en-US" sz="2400" b="1" dirty="0">
                  <a:latin typeface="Arial" panose="020B0604020202020204" pitchFamily="34" charset="0"/>
                  <a:ea typeface="楷体_GB2312"/>
                </a:rPr>
                <a:t>，约占总热量的１％，对切削加工无不利影响</a:t>
              </a:r>
              <a:endParaRPr lang="zh-CN" altLang="en-US" sz="2400" b="1" dirty="0">
                <a:latin typeface="Arial" panose="020B0604020202020204" pitchFamily="34" charset="0"/>
                <a:ea typeface="楷体_GB2312"/>
              </a:endParaRPr>
            </a:p>
          </p:txBody>
        </p:sp>
        <p:sp>
          <p:nvSpPr>
            <p:cNvPr id="124936" name="Text Box 9"/>
            <p:cNvSpPr txBox="1"/>
            <p:nvPr/>
          </p:nvSpPr>
          <p:spPr>
            <a:xfrm>
              <a:off x="884" y="2867"/>
              <a:ext cx="4150" cy="518"/>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传入刀具</a:t>
              </a:r>
              <a:r>
                <a:rPr lang="zh-CN" altLang="en-US" sz="2400" b="1" dirty="0">
                  <a:latin typeface="Arial" panose="020B0604020202020204" pitchFamily="34" charset="0"/>
                  <a:ea typeface="楷体_GB2312"/>
                </a:rPr>
                <a:t>，约占总热量的９％～３％，使刀具温度升高，硬度下降，磨损加快，耐用度下降</a:t>
              </a:r>
              <a:endParaRPr lang="zh-CN" altLang="en-US" sz="2400" b="1" dirty="0">
                <a:latin typeface="Arial" panose="020B0604020202020204" pitchFamily="34" charset="0"/>
                <a:ea typeface="楷体_GB2312"/>
              </a:endParaRPr>
            </a:p>
          </p:txBody>
        </p:sp>
      </p:grpSp>
    </p:spTree>
  </p:cSld>
  <p:clrMapOvr>
    <a:masterClrMapping/>
  </p:clrMapOvr>
  <p:transition spd="slow">
    <p:randomBar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a:spLocks noGrp="1"/>
          </p:cNvSpPr>
          <p:nvPr>
            <p:ph type="title"/>
          </p:nvPr>
        </p:nvSpPr>
        <p:spPr>
          <a:xfrm>
            <a:off x="3238500" y="90488"/>
            <a:ext cx="4286250" cy="1190625"/>
          </a:xfrm>
          <a:ln/>
        </p:spPr>
        <p:txBody>
          <a:bodyPr vert="horz" wrap="square" lIns="91440" tIns="45720" rIns="91440" bIns="45720" anchor="ctr" anchorCtr="0"/>
          <a:p>
            <a:pPr eaLnBrk="1" hangingPunct="1"/>
            <a:r>
              <a:rPr lang="zh-CN" altLang="en-US" sz="4000" dirty="0">
                <a:latin typeface="Times New Roman" panose="02020603050405020304" pitchFamily="18" charset="0"/>
                <a:ea typeface="楷体_GB2312"/>
              </a:rPr>
              <a:t>金属的切削过程</a:t>
            </a:r>
            <a:endParaRPr lang="zh-CN" altLang="en-US" sz="4000" dirty="0">
              <a:latin typeface="Times New Roman" panose="02020603050405020304" pitchFamily="18" charset="0"/>
              <a:ea typeface="楷体_GB2312"/>
            </a:endParaRPr>
          </a:p>
        </p:txBody>
      </p:sp>
      <p:sp>
        <p:nvSpPr>
          <p:cNvPr id="126978" name="Rectangle 3"/>
          <p:cNvSpPr>
            <a:spLocks noGrp="1"/>
          </p:cNvSpPr>
          <p:nvPr>
            <p:ph idx="1"/>
          </p:nvPr>
        </p:nvSpPr>
        <p:spPr>
          <a:xfrm>
            <a:off x="179388" y="1600200"/>
            <a:ext cx="8686800" cy="3916363"/>
          </a:xfrm>
          <a:ln/>
        </p:spPr>
        <p:txBody>
          <a:bodyPr vert="horz" wrap="square" lIns="91440" tIns="45720" rIns="91440" bIns="45720" anchor="t" anchorCtr="0"/>
          <a:p>
            <a:pPr eaLnBrk="1" hangingPunct="1"/>
            <a:r>
              <a:rPr lang="zh-CN" altLang="en-US" sz="2400" b="1" dirty="0">
                <a:solidFill>
                  <a:srgbClr val="FF0000"/>
                </a:solidFill>
                <a:latin typeface="楷体_GB2312"/>
                <a:ea typeface="楷体_GB2312"/>
              </a:rPr>
              <a:t>切削温度</a:t>
            </a:r>
            <a:r>
              <a:rPr lang="zh-CN" altLang="en-US" sz="2400" b="1" dirty="0">
                <a:latin typeface="楷体_GB2312"/>
                <a:ea typeface="楷体_GB2312"/>
              </a:rPr>
              <a:t> 切削区的平均温度，切削温度的高低是切削热量生成多少与散失快慢综合影响的结果。</a:t>
            </a:r>
            <a:endParaRPr lang="zh-CN" altLang="en-US" sz="2400" b="1" dirty="0">
              <a:latin typeface="楷体_GB2312"/>
              <a:ea typeface="楷体_GB2312"/>
            </a:endParaRPr>
          </a:p>
          <a:p>
            <a:pPr lvl="1" eaLnBrk="1" hangingPunct="1"/>
            <a:r>
              <a:rPr lang="zh-CN" altLang="en-US" sz="2400" b="1" dirty="0">
                <a:solidFill>
                  <a:srgbClr val="008000"/>
                </a:solidFill>
                <a:latin typeface="楷体_GB2312"/>
                <a:ea typeface="楷体_GB2312"/>
              </a:rPr>
              <a:t>影响因素</a:t>
            </a:r>
            <a:endParaRPr lang="zh-CN" altLang="en-US" sz="2400" b="1" dirty="0">
              <a:solidFill>
                <a:srgbClr val="008000"/>
              </a:solidFill>
              <a:latin typeface="楷体_GB2312"/>
              <a:ea typeface="楷体_GB2312"/>
            </a:endParaRPr>
          </a:p>
          <a:p>
            <a:pPr lvl="2" eaLnBrk="1" hangingPunct="1"/>
            <a:r>
              <a:rPr lang="zh-CN" altLang="en-US" b="1" dirty="0">
                <a:solidFill>
                  <a:srgbClr val="0033CC"/>
                </a:solidFill>
                <a:latin typeface="楷体_GB2312"/>
                <a:ea typeface="楷体_GB2312"/>
              </a:rPr>
              <a:t>工件材料</a:t>
            </a:r>
            <a:r>
              <a:rPr lang="zh-CN" altLang="en-US" b="1" dirty="0">
                <a:latin typeface="楷体_GB2312"/>
                <a:ea typeface="楷体_GB2312"/>
              </a:rPr>
              <a:t> 强度、硬度大，切削热生成多；导热性好对温度下降有利。</a:t>
            </a:r>
            <a:endParaRPr lang="zh-CN" altLang="en-US" b="1" dirty="0">
              <a:latin typeface="楷体_GB2312"/>
              <a:ea typeface="楷体_GB2312"/>
            </a:endParaRPr>
          </a:p>
          <a:p>
            <a:pPr lvl="2" eaLnBrk="1" hangingPunct="1"/>
            <a:r>
              <a:rPr lang="zh-CN" altLang="en-US" b="1" dirty="0">
                <a:solidFill>
                  <a:srgbClr val="FF3300"/>
                </a:solidFill>
                <a:latin typeface="楷体_GB2312"/>
                <a:ea typeface="楷体_GB2312"/>
              </a:rPr>
              <a:t>切削用量 增大会使切削热增大，</a:t>
            </a:r>
            <a:r>
              <a:rPr lang="en-US" altLang="zh-CN" b="1" i="1" dirty="0">
                <a:solidFill>
                  <a:srgbClr val="FF3300"/>
                </a:solidFill>
                <a:latin typeface="Times New Roman" panose="02020603050405020304" pitchFamily="18" charset="0"/>
                <a:ea typeface="楷体_GB2312"/>
              </a:rPr>
              <a:t>v</a:t>
            </a:r>
            <a:r>
              <a:rPr lang="en-US" altLang="zh-CN" b="1" baseline="-25000" dirty="0">
                <a:solidFill>
                  <a:srgbClr val="FF3300"/>
                </a:solidFill>
                <a:latin typeface="Times New Roman" panose="02020603050405020304" pitchFamily="18" charset="0"/>
                <a:ea typeface="楷体_GB2312"/>
              </a:rPr>
              <a:t>c</a:t>
            </a:r>
            <a:r>
              <a:rPr lang="zh-CN" altLang="en-US" b="1" dirty="0">
                <a:solidFill>
                  <a:srgbClr val="FF3300"/>
                </a:solidFill>
                <a:latin typeface="楷体_GB2312"/>
                <a:ea typeface="楷体_GB2312"/>
              </a:rPr>
              <a:t>影响最大，</a:t>
            </a:r>
            <a:r>
              <a:rPr lang="en-US" altLang="zh-CN" b="1" i="1" dirty="0">
                <a:solidFill>
                  <a:srgbClr val="FF3300"/>
                </a:solidFill>
                <a:latin typeface="Times New Roman" panose="02020603050405020304" pitchFamily="18" charset="0"/>
                <a:ea typeface="楷体_GB2312"/>
              </a:rPr>
              <a:t>f</a:t>
            </a:r>
            <a:r>
              <a:rPr lang="zh-CN" altLang="en-US" b="1" dirty="0">
                <a:solidFill>
                  <a:srgbClr val="FF3300"/>
                </a:solidFill>
                <a:latin typeface="楷体_GB2312"/>
                <a:ea typeface="楷体_GB2312"/>
              </a:rPr>
              <a:t>次之， </a:t>
            </a:r>
            <a:r>
              <a:rPr lang="en-US" altLang="zh-CN" b="1" i="1" dirty="0">
                <a:solidFill>
                  <a:srgbClr val="FF3300"/>
                </a:solidFill>
                <a:latin typeface="Times New Roman" panose="02020603050405020304" pitchFamily="18" charset="0"/>
                <a:ea typeface="楷体_GB2312"/>
              </a:rPr>
              <a:t>a</a:t>
            </a:r>
            <a:r>
              <a:rPr lang="en-US" altLang="zh-CN" b="1" baseline="-25000" dirty="0">
                <a:solidFill>
                  <a:srgbClr val="FF3300"/>
                </a:solidFill>
                <a:latin typeface="Times New Roman" panose="02020603050405020304" pitchFamily="18" charset="0"/>
                <a:ea typeface="楷体_GB2312"/>
              </a:rPr>
              <a:t>p</a:t>
            </a:r>
            <a:r>
              <a:rPr lang="zh-CN" altLang="en-US" b="1" dirty="0">
                <a:solidFill>
                  <a:srgbClr val="FF3300"/>
                </a:solidFill>
                <a:latin typeface="楷体_GB2312"/>
                <a:ea typeface="楷体_GB2312"/>
              </a:rPr>
              <a:t>最小。</a:t>
            </a:r>
            <a:endParaRPr lang="zh-CN" altLang="en-US" b="1" dirty="0">
              <a:solidFill>
                <a:srgbClr val="FF3300"/>
              </a:solidFill>
              <a:latin typeface="楷体_GB2312"/>
              <a:ea typeface="楷体_GB2312"/>
            </a:endParaRPr>
          </a:p>
          <a:p>
            <a:pPr lvl="2" eaLnBrk="1" hangingPunct="1"/>
            <a:r>
              <a:rPr lang="zh-CN" altLang="en-US" b="1" dirty="0">
                <a:solidFill>
                  <a:srgbClr val="0033CC"/>
                </a:solidFill>
                <a:latin typeface="楷体_GB2312"/>
                <a:ea typeface="楷体_GB2312"/>
              </a:rPr>
              <a:t>适当增大刀具前角</a:t>
            </a:r>
            <a:r>
              <a:rPr lang="zh-CN" altLang="en-US" b="1" dirty="0">
                <a:solidFill>
                  <a:srgbClr val="CCFFFF"/>
                </a:solidFill>
                <a:latin typeface="楷体_GB2312"/>
                <a:ea typeface="楷体_GB2312"/>
              </a:rPr>
              <a:t> </a:t>
            </a:r>
            <a:r>
              <a:rPr lang="zh-CN" altLang="en-US" b="1" dirty="0">
                <a:latin typeface="楷体_GB2312"/>
                <a:ea typeface="楷体_GB2312"/>
              </a:rPr>
              <a:t>可减少切削热，有利于降低温度。</a:t>
            </a:r>
            <a:endParaRPr lang="zh-CN" altLang="en-US" b="1" dirty="0">
              <a:latin typeface="楷体_GB2312"/>
              <a:ea typeface="楷体_GB2312"/>
            </a:endParaRPr>
          </a:p>
          <a:p>
            <a:pPr lvl="2" eaLnBrk="1" hangingPunct="1"/>
            <a:r>
              <a:rPr lang="zh-CN" altLang="en-US" b="1" dirty="0">
                <a:solidFill>
                  <a:srgbClr val="0033CC"/>
                </a:solidFill>
                <a:latin typeface="楷体_GB2312"/>
                <a:ea typeface="楷体_GB2312"/>
              </a:rPr>
              <a:t>使用切削液 </a:t>
            </a:r>
            <a:r>
              <a:rPr lang="zh-CN" altLang="en-US" b="1" dirty="0">
                <a:latin typeface="楷体_GB2312"/>
                <a:ea typeface="楷体_GB2312"/>
              </a:rPr>
              <a:t>降低切削温度的有效措施。</a:t>
            </a:r>
            <a:endParaRPr lang="zh-CN" altLang="en-US" b="1" i="1" dirty="0">
              <a:latin typeface="楷体_GB2312"/>
              <a:ea typeface="楷体_GB2312"/>
            </a:endParaRPr>
          </a:p>
        </p:txBody>
      </p:sp>
      <p:sp>
        <p:nvSpPr>
          <p:cNvPr id="4" name="五角星 3"/>
          <p:cNvSpPr/>
          <p:nvPr/>
        </p:nvSpPr>
        <p:spPr>
          <a:xfrm>
            <a:off x="500063" y="3786188"/>
            <a:ext cx="500063" cy="500063"/>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randomBar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Rectangle 2"/>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9026" name="Rectangle 3"/>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9027" name="Rectangle 4"/>
          <p:cNvSpPr/>
          <p:nvPr/>
        </p:nvSpPr>
        <p:spPr>
          <a:xfrm>
            <a:off x="539750" y="1125538"/>
            <a:ext cx="2667000" cy="561975"/>
          </a:xfrm>
          <a:prstGeom prst="rect">
            <a:avLst/>
          </a:prstGeom>
          <a:noFill/>
          <a:ln w="9525">
            <a:noFill/>
          </a:ln>
        </p:spPr>
        <p:txBody>
          <a:bodyPr anchor="t" anchorCtr="0">
            <a:spAutoFit/>
          </a:bodyPr>
          <a:p>
            <a:pPr algn="just" eaLnBrk="0" hangingPunct="0">
              <a:lnSpc>
                <a:spcPct val="110000"/>
              </a:lnSpc>
            </a:pPr>
            <a:r>
              <a:rPr lang="zh-CN" altLang="en-US" sz="2800" b="1" dirty="0">
                <a:solidFill>
                  <a:srgbClr val="CC3300"/>
                </a:solidFill>
                <a:latin typeface="Times New Roman" panose="02020603050405020304" pitchFamily="18" charset="0"/>
                <a:ea typeface="楷体_GB2312"/>
              </a:rPr>
              <a:t>刀具磨损形态</a:t>
            </a:r>
            <a:endParaRPr lang="zh-CN" altLang="en-US" sz="2800" b="1" dirty="0">
              <a:latin typeface="Times New Roman" panose="02020603050405020304" pitchFamily="18" charset="0"/>
              <a:ea typeface="楷体_GB2312"/>
            </a:endParaRPr>
          </a:p>
        </p:txBody>
      </p:sp>
      <p:sp>
        <p:nvSpPr>
          <p:cNvPr id="1503237" name="Text Box 5"/>
          <p:cNvSpPr txBox="1">
            <a:spLocks noChangeArrowheads="1"/>
          </p:cNvSpPr>
          <p:nvPr/>
        </p:nvSpPr>
        <p:spPr bwMode="auto">
          <a:xfrm>
            <a:off x="395288" y="1538288"/>
            <a:ext cx="1828800" cy="457200"/>
          </a:xfrm>
          <a:prstGeom prst="rect">
            <a:avLst/>
          </a:prstGeom>
          <a:noFill/>
          <a:ln w="9525">
            <a:noFill/>
            <a:miter lim="800000"/>
          </a:ln>
          <a:effectLst/>
        </p:spPr>
        <p:txBody>
          <a:bodyPr>
            <a:spAutoFit/>
          </a:bodyPr>
          <a:lstStyle/>
          <a:p>
            <a:pPr marR="0" defTabSz="914400" eaLnBrk="0" hangingPunct="0">
              <a:spcBef>
                <a:spcPct val="50000"/>
              </a:spcBef>
              <a:buClrTx/>
              <a:buSzTx/>
              <a:buFontTx/>
              <a:buNone/>
              <a:defRPr/>
            </a:pPr>
            <a:r>
              <a:rPr kumimoji="0" lang="en-US" altLang="zh-CN" sz="2400" kern="1200" cap="none" spc="0" normalizeH="0" baseline="0" noProof="0">
                <a:solidFill>
                  <a:srgbClr val="FF99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 </a:t>
            </a:r>
            <a:r>
              <a:rPr kumimoji="0" lang="zh-CN" altLang="en-US" sz="2400" b="1" kern="1200" cap="none" spc="0" normalizeH="0" baseline="0" noProof="0">
                <a:solidFill>
                  <a:srgbClr val="0000CC"/>
                </a:solidFill>
                <a:latin typeface="Times New Roman" panose="02020603050405020304" pitchFamily="18" charset="0"/>
                <a:ea typeface="楷体_GB2312" pitchFamily="49" charset="-122"/>
                <a:cs typeface="+mn-cs"/>
              </a:rPr>
              <a:t>正常磨损</a:t>
            </a:r>
            <a:endParaRPr kumimoji="0" lang="zh-CN" altLang="en-US" sz="2400" b="1" kern="1200" cap="none" spc="0" normalizeH="0" baseline="0" noProof="0">
              <a:solidFill>
                <a:srgbClr val="0000CC"/>
              </a:solidFill>
              <a:latin typeface="Times New Roman" panose="02020603050405020304" pitchFamily="18" charset="0"/>
              <a:ea typeface="楷体_GB2312" pitchFamily="49" charset="-122"/>
              <a:cs typeface="+mn-cs"/>
            </a:endParaRPr>
          </a:p>
        </p:txBody>
      </p:sp>
      <p:sp>
        <p:nvSpPr>
          <p:cNvPr id="129029" name="Text Box 6"/>
          <p:cNvSpPr txBox="1"/>
          <p:nvPr/>
        </p:nvSpPr>
        <p:spPr>
          <a:xfrm>
            <a:off x="539750" y="1981200"/>
            <a:ext cx="2062163" cy="365125"/>
          </a:xfrm>
          <a:prstGeom prst="rect">
            <a:avLst/>
          </a:prstGeom>
          <a:noFill/>
          <a:ln w="9525">
            <a:noFill/>
          </a:ln>
        </p:spPr>
        <p:txBody>
          <a:bodyPr lIns="0" tIns="0" rIns="0" bIns="0" anchor="t" anchorCtr="0">
            <a:spAutoFit/>
          </a:bodyPr>
          <a:p>
            <a:pPr eaLnBrk="0" hangingPunct="0">
              <a:spcBef>
                <a:spcPct val="50000"/>
              </a:spcBef>
              <a:buClr>
                <a:srgbClr val="FF9900"/>
              </a:buClr>
              <a:buFont typeface="Wingdings" panose="05000000000000000000" pitchFamily="2" charset="2"/>
              <a:buChar char="Ø"/>
            </a:pPr>
            <a:r>
              <a:rPr lang="zh-CN" altLang="en-US" sz="2400" b="1" dirty="0">
                <a:solidFill>
                  <a:srgbClr val="008000"/>
                </a:solidFill>
                <a:latin typeface="Times New Roman" panose="02020603050405020304" pitchFamily="18" charset="0"/>
                <a:ea typeface="楷体_GB2312"/>
              </a:rPr>
              <a:t>前刀面磨损</a:t>
            </a:r>
            <a:endParaRPr lang="zh-CN" altLang="en-US" sz="2400" b="1" dirty="0">
              <a:solidFill>
                <a:srgbClr val="008000"/>
              </a:solidFill>
              <a:latin typeface="Times New Roman" panose="02020603050405020304" pitchFamily="18" charset="0"/>
              <a:ea typeface="楷体_GB2312"/>
            </a:endParaRPr>
          </a:p>
        </p:txBody>
      </p:sp>
      <p:sp>
        <p:nvSpPr>
          <p:cNvPr id="129030" name="Text Box 7"/>
          <p:cNvSpPr txBox="1"/>
          <p:nvPr/>
        </p:nvSpPr>
        <p:spPr>
          <a:xfrm>
            <a:off x="395288" y="2362200"/>
            <a:ext cx="2811462" cy="1976438"/>
          </a:xfrm>
          <a:prstGeom prst="rect">
            <a:avLst/>
          </a:prstGeom>
          <a:noFill/>
          <a:ln w="9525">
            <a:noFill/>
          </a:ln>
        </p:spPr>
        <p:txBody>
          <a:bodyPr anchor="t" anchorCtr="0">
            <a:spAutoFit/>
          </a:bodyPr>
          <a:p>
            <a:pPr eaLnBrk="0" hangingPunct="0">
              <a:lnSpc>
                <a:spcPct val="95000"/>
              </a:lnSpc>
              <a:spcBef>
                <a:spcPct val="10000"/>
              </a:spcBef>
            </a:pPr>
            <a:r>
              <a:rPr lang="zh-CN" altLang="en-US" sz="2400" b="1" dirty="0">
                <a:latin typeface="楷体_GB2312"/>
                <a:ea typeface="楷体_GB2312"/>
              </a:rPr>
              <a:t>形式：月牙洼</a:t>
            </a:r>
            <a:endParaRPr lang="zh-CN" altLang="en-US" sz="2400" b="1" dirty="0">
              <a:latin typeface="楷体_GB2312"/>
              <a:ea typeface="楷体_GB2312"/>
            </a:endParaRPr>
          </a:p>
          <a:p>
            <a:pPr eaLnBrk="0" hangingPunct="0">
              <a:lnSpc>
                <a:spcPct val="95000"/>
              </a:lnSpc>
              <a:spcBef>
                <a:spcPct val="10000"/>
              </a:spcBef>
            </a:pPr>
            <a:r>
              <a:rPr lang="zh-CN" altLang="en-US" sz="2400" b="1" dirty="0">
                <a:latin typeface="楷体_GB2312"/>
                <a:ea typeface="楷体_GB2312"/>
              </a:rPr>
              <a:t>形成条件：加工塑性材料，</a:t>
            </a:r>
            <a:r>
              <a:rPr lang="en-US" altLang="zh-CN" sz="2400" b="1" i="1" dirty="0">
                <a:latin typeface="Times New Roman" panose="02020603050405020304" pitchFamily="18" charset="0"/>
                <a:ea typeface="楷体_GB2312"/>
              </a:rPr>
              <a:t>v</a:t>
            </a:r>
            <a:r>
              <a:rPr lang="zh-CN" altLang="en-US" sz="2400" b="1" dirty="0">
                <a:latin typeface="楷体_GB2312"/>
                <a:ea typeface="楷体_GB2312"/>
              </a:rPr>
              <a:t>大，</a:t>
            </a:r>
            <a:r>
              <a:rPr lang="en-US" altLang="zh-CN" sz="2400" b="1" i="1" dirty="0">
                <a:latin typeface="Times New Roman" panose="02020603050405020304" pitchFamily="18" charset="0"/>
                <a:ea typeface="楷体_GB2312"/>
              </a:rPr>
              <a:t>a</a:t>
            </a:r>
            <a:r>
              <a:rPr lang="en-US" altLang="zh-CN" sz="2400" b="1" i="1" baseline="-25000" dirty="0">
                <a:latin typeface="Times New Roman" panose="02020603050405020304" pitchFamily="18" charset="0"/>
                <a:ea typeface="楷体_GB2312"/>
              </a:rPr>
              <a:t>p</a:t>
            </a:r>
            <a:r>
              <a:rPr lang="zh-CN" altLang="en-US" sz="2400" b="1" dirty="0">
                <a:latin typeface="楷体_GB2312"/>
                <a:ea typeface="楷体_GB2312"/>
              </a:rPr>
              <a:t>大</a:t>
            </a:r>
            <a:endParaRPr lang="zh-CN" altLang="en-US" sz="2400" b="1" dirty="0">
              <a:latin typeface="楷体_GB2312"/>
              <a:ea typeface="楷体_GB2312"/>
            </a:endParaRPr>
          </a:p>
          <a:p>
            <a:pPr eaLnBrk="0" hangingPunct="0">
              <a:spcBef>
                <a:spcPct val="15000"/>
              </a:spcBef>
            </a:pPr>
            <a:r>
              <a:rPr lang="zh-CN" altLang="en-US" sz="2400" b="1" dirty="0">
                <a:latin typeface="楷体_GB2312"/>
                <a:ea typeface="楷体_GB2312"/>
              </a:rPr>
              <a:t>影响：削弱刀刃强度，降低加工质量</a:t>
            </a:r>
            <a:endParaRPr lang="zh-CN" altLang="en-US" sz="2400" b="1" dirty="0">
              <a:latin typeface="楷体_GB2312"/>
              <a:ea typeface="楷体_GB2312"/>
            </a:endParaRPr>
          </a:p>
        </p:txBody>
      </p:sp>
      <p:sp>
        <p:nvSpPr>
          <p:cNvPr id="1503240" name="Text Box 8"/>
          <p:cNvSpPr txBox="1">
            <a:spLocks noChangeArrowheads="1"/>
          </p:cNvSpPr>
          <p:nvPr/>
        </p:nvSpPr>
        <p:spPr bwMode="auto">
          <a:xfrm>
            <a:off x="323850" y="4446588"/>
            <a:ext cx="2062163" cy="365125"/>
          </a:xfrm>
          <a:prstGeom prst="rect">
            <a:avLst/>
          </a:prstGeom>
          <a:noFill/>
          <a:ln w="9525">
            <a:noFill/>
            <a:miter lim="800000"/>
          </a:ln>
          <a:effectLst/>
        </p:spPr>
        <p:txBody>
          <a:bodyPr lIns="0" tIns="0" rIns="0" bIns="0">
            <a:spAutoFit/>
          </a:bodyPr>
          <a:lstStyle/>
          <a:p>
            <a:pPr marR="0" defTabSz="914400" eaLnBrk="0" hangingPunct="0">
              <a:spcBef>
                <a:spcPct val="50000"/>
              </a:spcBef>
              <a:buClr>
                <a:srgbClr val="FF9900"/>
              </a:buClr>
              <a:buSzTx/>
              <a:buFont typeface="Wingdings" panose="05000000000000000000" pitchFamily="2" charset="2"/>
              <a:buChar char="Ø"/>
              <a:defRPr/>
            </a:pPr>
            <a:r>
              <a:rPr kumimoji="0" lang="en-US" altLang="zh-CN" sz="2400" kern="1200" cap="none" spc="0" normalizeH="0" baseline="0" noProof="0" dirty="0">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 </a:t>
            </a:r>
            <a:r>
              <a:rPr kumimoji="0" lang="zh-CN" altLang="en-US" sz="2400" b="1" kern="1200" cap="none" spc="0" normalizeH="0" baseline="0" noProof="0" dirty="0">
                <a:solidFill>
                  <a:srgbClr val="008000"/>
                </a:solidFill>
                <a:latin typeface="Times New Roman" panose="02020603050405020304" pitchFamily="18" charset="0"/>
                <a:ea typeface="楷体_GB2312" pitchFamily="49" charset="-122"/>
                <a:cs typeface="+mn-cs"/>
              </a:rPr>
              <a:t>后刀面磨损</a:t>
            </a:r>
            <a:endParaRPr kumimoji="0" lang="zh-CN" altLang="en-US" sz="2400" b="1" kern="1200" cap="none" spc="0" normalizeH="0" baseline="0" noProof="0" dirty="0">
              <a:solidFill>
                <a:srgbClr val="008000"/>
              </a:solidFill>
              <a:latin typeface="Times New Roman" panose="02020603050405020304" pitchFamily="18" charset="0"/>
              <a:ea typeface="楷体_GB2312" pitchFamily="49" charset="-122"/>
              <a:cs typeface="+mn-cs"/>
            </a:endParaRPr>
          </a:p>
        </p:txBody>
      </p:sp>
      <p:sp>
        <p:nvSpPr>
          <p:cNvPr id="129032" name="Text Box 9"/>
          <p:cNvSpPr txBox="1"/>
          <p:nvPr/>
        </p:nvSpPr>
        <p:spPr>
          <a:xfrm>
            <a:off x="395288" y="4832350"/>
            <a:ext cx="8353425" cy="1263650"/>
          </a:xfrm>
          <a:prstGeom prst="rect">
            <a:avLst/>
          </a:prstGeom>
          <a:noFill/>
          <a:ln w="9525">
            <a:noFill/>
          </a:ln>
        </p:spPr>
        <p:txBody>
          <a:bodyPr anchor="t" anchorCtr="0">
            <a:spAutoFit/>
          </a:bodyPr>
          <a:p>
            <a:pPr eaLnBrk="0" hangingPunct="0">
              <a:spcBef>
                <a:spcPct val="15000"/>
              </a:spcBef>
            </a:pPr>
            <a:r>
              <a:rPr lang="zh-CN" altLang="en-US" sz="2400" b="1" dirty="0">
                <a:latin typeface="楷体_GB2312"/>
                <a:ea typeface="楷体_GB2312"/>
              </a:rPr>
              <a:t>形式：后角</a:t>
            </a:r>
            <a:r>
              <a:rPr lang="en-US" altLang="zh-CN" sz="2400" b="1" dirty="0">
                <a:latin typeface="楷体_GB2312"/>
                <a:ea typeface="楷体_GB2312"/>
              </a:rPr>
              <a:t>=0</a:t>
            </a:r>
            <a:r>
              <a:rPr lang="zh-CN" altLang="en-US" sz="2400" b="1" dirty="0">
                <a:latin typeface="楷体_GB2312"/>
                <a:ea typeface="楷体_GB2312"/>
              </a:rPr>
              <a:t>的磨损面（参数</a:t>
            </a:r>
            <a:r>
              <a:rPr lang="en-US" altLang="zh-CN" sz="2400" b="1" dirty="0">
                <a:latin typeface="楷体_GB2312"/>
                <a:ea typeface="楷体_GB2312"/>
              </a:rPr>
              <a:t>-</a:t>
            </a:r>
            <a:r>
              <a:rPr lang="en-US" altLang="zh-CN" sz="2400" b="1" i="1" dirty="0">
                <a:latin typeface="楷体_GB2312"/>
                <a:ea typeface="楷体_GB2312"/>
              </a:rPr>
              <a:t>VB</a:t>
            </a:r>
            <a:r>
              <a:rPr lang="zh-CN" altLang="en-US" sz="2400" b="1" dirty="0">
                <a:latin typeface="楷体_GB2312"/>
                <a:ea typeface="楷体_GB2312"/>
              </a:rPr>
              <a:t>，</a:t>
            </a:r>
            <a:r>
              <a:rPr lang="en-US" altLang="zh-CN" sz="2400" b="1" i="1" dirty="0">
                <a:latin typeface="楷体_GB2312"/>
                <a:ea typeface="楷体_GB2312"/>
              </a:rPr>
              <a:t>VB</a:t>
            </a:r>
            <a:r>
              <a:rPr lang="en-US" altLang="zh-CN" sz="2400" b="1" i="1" baseline="-25000" dirty="0">
                <a:latin typeface="楷体_GB2312"/>
                <a:ea typeface="楷体_GB2312"/>
              </a:rPr>
              <a:t>max</a:t>
            </a:r>
            <a:r>
              <a:rPr lang="zh-CN" altLang="en-US" sz="2400" b="1" dirty="0">
                <a:latin typeface="楷体_GB2312"/>
                <a:ea typeface="楷体_GB2312"/>
              </a:rPr>
              <a:t>）</a:t>
            </a:r>
            <a:endParaRPr lang="zh-CN" altLang="en-US" sz="2400" b="1" dirty="0">
              <a:latin typeface="楷体_GB2312"/>
              <a:ea typeface="楷体_GB2312"/>
            </a:endParaRPr>
          </a:p>
          <a:p>
            <a:pPr eaLnBrk="0" hangingPunct="0">
              <a:lnSpc>
                <a:spcPct val="95000"/>
              </a:lnSpc>
              <a:spcBef>
                <a:spcPct val="15000"/>
              </a:spcBef>
            </a:pPr>
            <a:r>
              <a:rPr lang="zh-CN" altLang="en-US" sz="2400" b="1" dirty="0">
                <a:latin typeface="楷体_GB2312"/>
                <a:ea typeface="楷体_GB2312"/>
              </a:rPr>
              <a:t>形成条件：加工塑性材料</a:t>
            </a:r>
            <a:r>
              <a:rPr lang="en-US" altLang="zh-CN" sz="2400" b="1" dirty="0">
                <a:latin typeface="楷体_GB2312"/>
                <a:ea typeface="楷体_GB2312"/>
              </a:rPr>
              <a:t>, </a:t>
            </a:r>
            <a:r>
              <a:rPr lang="en-US" altLang="zh-CN" sz="2400" b="1" i="1" dirty="0">
                <a:latin typeface="Times New Roman" panose="02020603050405020304" pitchFamily="18" charset="0"/>
                <a:ea typeface="楷体_GB2312"/>
              </a:rPr>
              <a:t>v</a:t>
            </a:r>
            <a:r>
              <a:rPr lang="en-US" altLang="zh-CN" sz="2400" b="1" dirty="0">
                <a:latin typeface="楷体_GB2312"/>
                <a:ea typeface="楷体_GB2312"/>
              </a:rPr>
              <a:t> </a:t>
            </a:r>
            <a:r>
              <a:rPr lang="zh-CN" altLang="en-US" sz="2400" b="1" dirty="0">
                <a:latin typeface="楷体_GB2312"/>
                <a:ea typeface="楷体_GB2312"/>
              </a:rPr>
              <a:t>较小</a:t>
            </a:r>
            <a:r>
              <a:rPr lang="en-US" altLang="zh-CN" sz="2400" b="1" dirty="0">
                <a:latin typeface="楷体_GB2312"/>
                <a:ea typeface="楷体_GB2312"/>
              </a:rPr>
              <a:t>, </a:t>
            </a:r>
            <a:r>
              <a:rPr lang="en-US" altLang="zh-CN" sz="2400" b="1" i="1" dirty="0">
                <a:latin typeface="Times New Roman" panose="02020603050405020304" pitchFamily="18" charset="0"/>
                <a:ea typeface="宋体" panose="02010600030101010101" pitchFamily="2" charset="-122"/>
              </a:rPr>
              <a:t>a</a:t>
            </a:r>
            <a:r>
              <a:rPr lang="en-US" altLang="zh-CN" sz="2400" b="1" i="1" baseline="-25000" dirty="0">
                <a:latin typeface="Times New Roman" panose="02020603050405020304" pitchFamily="18" charset="0"/>
                <a:ea typeface="宋体" panose="02010600030101010101" pitchFamily="2" charset="-122"/>
              </a:rPr>
              <a:t>p</a:t>
            </a:r>
            <a:r>
              <a:rPr lang="en-US" altLang="zh-CN" sz="2400" b="1" baseline="-25000" dirty="0">
                <a:latin typeface="楷体_GB2312"/>
                <a:ea typeface="楷体_GB2312"/>
              </a:rPr>
              <a:t> </a:t>
            </a:r>
            <a:r>
              <a:rPr lang="zh-CN" altLang="en-US" sz="2400" b="1" dirty="0">
                <a:latin typeface="楷体_GB2312"/>
                <a:ea typeface="楷体_GB2312"/>
              </a:rPr>
              <a:t>较小；加工脆性材料</a:t>
            </a:r>
            <a:endParaRPr lang="zh-CN" altLang="en-US" sz="2400" b="1" dirty="0">
              <a:latin typeface="楷体_GB2312"/>
              <a:ea typeface="楷体_GB2312"/>
            </a:endParaRPr>
          </a:p>
          <a:p>
            <a:pPr eaLnBrk="0" hangingPunct="0">
              <a:lnSpc>
                <a:spcPct val="95000"/>
              </a:lnSpc>
              <a:spcBef>
                <a:spcPct val="15000"/>
              </a:spcBef>
            </a:pPr>
            <a:r>
              <a:rPr lang="zh-CN" altLang="en-US" sz="2400" b="1" dirty="0">
                <a:latin typeface="楷体_GB2312"/>
                <a:ea typeface="楷体_GB2312"/>
              </a:rPr>
              <a:t>影响：切削力↑</a:t>
            </a:r>
            <a:r>
              <a:rPr lang="en-US" altLang="zh-CN" sz="2400" b="1" dirty="0">
                <a:latin typeface="楷体_GB2312"/>
                <a:ea typeface="楷体_GB2312"/>
              </a:rPr>
              <a:t>, </a:t>
            </a:r>
            <a:r>
              <a:rPr lang="zh-CN" altLang="en-US" sz="2400" b="1" dirty="0">
                <a:latin typeface="楷体_GB2312"/>
                <a:ea typeface="楷体_GB2312"/>
              </a:rPr>
              <a:t>切削温度↑</a:t>
            </a:r>
            <a:r>
              <a:rPr lang="en-US" altLang="zh-CN" sz="2400" b="1" dirty="0">
                <a:latin typeface="楷体_GB2312"/>
                <a:ea typeface="楷体_GB2312"/>
              </a:rPr>
              <a:t>, </a:t>
            </a:r>
            <a:r>
              <a:rPr lang="zh-CN" altLang="en-US" sz="2400" b="1" dirty="0">
                <a:latin typeface="楷体_GB2312"/>
                <a:ea typeface="楷体_GB2312"/>
              </a:rPr>
              <a:t>产生振动，降低加工质量</a:t>
            </a:r>
            <a:endParaRPr lang="zh-CN" altLang="en-US" sz="2400" b="1" dirty="0">
              <a:latin typeface="楷体_GB2312"/>
              <a:ea typeface="楷体_GB2312"/>
            </a:endParaRPr>
          </a:p>
        </p:txBody>
      </p:sp>
      <p:sp>
        <p:nvSpPr>
          <p:cNvPr id="129033" name="Oval 110"/>
          <p:cNvSpPr>
            <a:spLocks noChangeAspect="1"/>
          </p:cNvSpPr>
          <p:nvPr/>
        </p:nvSpPr>
        <p:spPr>
          <a:xfrm>
            <a:off x="250825" y="1247775"/>
            <a:ext cx="309563" cy="309563"/>
          </a:xfrm>
          <a:prstGeom prst="ellipse">
            <a:avLst/>
          </a:prstGeom>
          <a:gradFill rotWithShape="0">
            <a:gsLst>
              <a:gs pos="0">
                <a:srgbClr val="FF9933"/>
              </a:gs>
              <a:gs pos="100000">
                <a:srgbClr val="A96522"/>
              </a:gs>
            </a:gsLst>
            <a:path path="shape">
              <a:fillToRect l="50000" t="50000" r="50000" b="50000"/>
            </a:path>
            <a:tileRect/>
          </a:gradFill>
          <a:ln w="9525">
            <a:noFill/>
          </a:ln>
        </p:spPr>
        <p:txBody>
          <a:bodyPr anchor="t" anchorCtr="0"/>
          <a:p>
            <a:pPr marL="342900" indent="-342900">
              <a:spcBef>
                <a:spcPct val="20000"/>
              </a:spcBef>
              <a:buChar char="•"/>
            </a:pPr>
            <a:endParaRPr lang="zh-CN" altLang="zh-CN" sz="2800" dirty="0">
              <a:latin typeface="Arial" panose="020B0604020202020204" pitchFamily="34" charset="0"/>
              <a:ea typeface="宋体" panose="02010600030101010101" pitchFamily="2" charset="-122"/>
            </a:endParaRPr>
          </a:p>
        </p:txBody>
      </p:sp>
      <p:sp>
        <p:nvSpPr>
          <p:cNvPr id="129034" name="Text Box 111"/>
          <p:cNvSpPr txBox="1"/>
          <p:nvPr/>
        </p:nvSpPr>
        <p:spPr>
          <a:xfrm>
            <a:off x="179388" y="6188075"/>
            <a:ext cx="2743200" cy="365125"/>
          </a:xfrm>
          <a:prstGeom prst="rect">
            <a:avLst/>
          </a:prstGeom>
          <a:noFill/>
          <a:ln w="9525">
            <a:noFill/>
          </a:ln>
        </p:spPr>
        <p:txBody>
          <a:bodyPr lIns="0" tIns="0" rIns="0" bIns="0" anchor="t" anchorCtr="0">
            <a:spAutoFit/>
          </a:bodyPr>
          <a:p>
            <a:pPr eaLnBrk="0" hangingPunct="0">
              <a:spcBef>
                <a:spcPct val="50000"/>
              </a:spcBef>
              <a:buClr>
                <a:srgbClr val="FF9900"/>
              </a:buClr>
              <a:buFont typeface="Wingdings" panose="05000000000000000000" pitchFamily="2" charset="2"/>
              <a:buChar char="Ø"/>
            </a:pPr>
            <a:r>
              <a:rPr lang="zh-CN" altLang="en-US" sz="2400" b="1" dirty="0">
                <a:solidFill>
                  <a:srgbClr val="008000"/>
                </a:solidFill>
                <a:latin typeface="Times New Roman" panose="02020603050405020304" pitchFamily="18" charset="0"/>
                <a:ea typeface="楷体_GB2312"/>
              </a:rPr>
              <a:t>前、后刀面磨损</a:t>
            </a:r>
            <a:endParaRPr lang="zh-CN" altLang="en-US" sz="2400" b="1" dirty="0">
              <a:solidFill>
                <a:srgbClr val="008000"/>
              </a:solidFill>
              <a:latin typeface="Times New Roman" panose="02020603050405020304" pitchFamily="18" charset="0"/>
              <a:ea typeface="楷体_GB2312"/>
            </a:endParaRPr>
          </a:p>
        </p:txBody>
      </p:sp>
      <p:sp>
        <p:nvSpPr>
          <p:cNvPr id="129035" name="Rectangle 112"/>
          <p:cNvSpPr>
            <a:spLocks noGrp="1"/>
          </p:cNvSpPr>
          <p:nvPr>
            <p:ph type="title"/>
          </p:nvPr>
        </p:nvSpPr>
        <p:spPr>
          <a:xfrm>
            <a:off x="2590800" y="44450"/>
            <a:ext cx="6565900" cy="1190625"/>
          </a:xfrm>
          <a:ln/>
        </p:spPr>
        <p:txBody>
          <a:bodyPr vert="horz" wrap="square" lIns="91440" tIns="45720" rIns="91440" bIns="45720" anchor="ctr" anchorCtr="0"/>
          <a:p>
            <a:pPr eaLnBrk="1" hangingPunct="1">
              <a:spcBef>
                <a:spcPct val="20000"/>
              </a:spcBef>
            </a:pPr>
            <a:r>
              <a:rPr lang="zh-CN" altLang="en-US" sz="4000" dirty="0">
                <a:ea typeface="楷体_GB2312"/>
              </a:rPr>
              <a:t>刀具的磨损及刀具的耐用度</a:t>
            </a:r>
            <a:endParaRPr lang="zh-CN" altLang="en-US" sz="4000" dirty="0">
              <a:ea typeface="楷体_GB2312"/>
            </a:endParaRPr>
          </a:p>
        </p:txBody>
      </p:sp>
      <p:pic>
        <p:nvPicPr>
          <p:cNvPr id="129036" name="Picture 3" descr="Image025"/>
          <p:cNvPicPr>
            <a:picLocks noChangeAspect="1"/>
          </p:cNvPicPr>
          <p:nvPr/>
        </p:nvPicPr>
        <p:blipFill>
          <a:blip r:embed="rId1"/>
          <a:stretch>
            <a:fillRect/>
          </a:stretch>
        </p:blipFill>
        <p:spPr>
          <a:xfrm>
            <a:off x="3043238" y="1195388"/>
            <a:ext cx="6069012" cy="3408362"/>
          </a:xfrm>
          <a:prstGeom prst="rect">
            <a:avLst/>
          </a:prstGeom>
          <a:noFill/>
          <a:ln w="9525" cap="flat" cmpd="sng">
            <a:solidFill>
              <a:srgbClr val="FF6600"/>
            </a:solidFill>
            <a:prstDash val="solid"/>
            <a:miter/>
            <a:headEnd type="none" w="med" len="med"/>
            <a:tailEnd type="none" w="med" len="med"/>
          </a:ln>
        </p:spPr>
      </p:pic>
    </p:spTree>
  </p:cSld>
  <p:clrMapOvr>
    <a:masterClrMapping/>
  </p:clrMapOvr>
  <p:transition spd="slow">
    <p:randomBar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1073" name="Group 2"/>
          <p:cNvGrpSpPr/>
          <p:nvPr/>
        </p:nvGrpSpPr>
        <p:grpSpPr>
          <a:xfrm>
            <a:off x="611188" y="1484313"/>
            <a:ext cx="8064500" cy="4846637"/>
            <a:chOff x="521" y="1071"/>
            <a:chExt cx="5081" cy="3005"/>
          </a:xfrm>
        </p:grpSpPr>
        <p:sp>
          <p:nvSpPr>
            <p:cNvPr id="131074" name="Text Box 3"/>
            <p:cNvSpPr txBox="1"/>
            <p:nvPr/>
          </p:nvSpPr>
          <p:spPr>
            <a:xfrm>
              <a:off x="521" y="1071"/>
              <a:ext cx="1814" cy="322"/>
            </a:xfrm>
            <a:prstGeom prst="rect">
              <a:avLst/>
            </a:prstGeom>
            <a:noFill/>
            <a:ln w="9525">
              <a:noFill/>
            </a:ln>
          </p:spPr>
          <p:txBody>
            <a:bodyPr lIns="91430" tIns="45715" rIns="91430" bIns="45715" anchor="t" anchorCtr="0">
              <a:spAutoFit/>
            </a:bodyPr>
            <a:p>
              <a:pPr>
                <a:spcBef>
                  <a:spcPct val="50000"/>
                </a:spcBef>
              </a:pPr>
              <a:r>
                <a:rPr lang="zh-CN" altLang="en-US" sz="2800" b="1" dirty="0">
                  <a:latin typeface="楷体_GB2312"/>
                  <a:ea typeface="楷体_GB2312"/>
                </a:rPr>
                <a:t>刀具的磨损过程</a:t>
              </a:r>
              <a:r>
                <a:rPr lang="en-US" altLang="zh-CN" sz="2800" b="1" dirty="0">
                  <a:latin typeface="楷体_GB2312"/>
                  <a:ea typeface="楷体_GB2312"/>
                </a:rPr>
                <a:t>:</a:t>
              </a:r>
              <a:endParaRPr lang="en-US" altLang="zh-CN" sz="2800" b="1" dirty="0">
                <a:latin typeface="楷体_GB2312"/>
                <a:ea typeface="楷体_GB2312"/>
              </a:endParaRPr>
            </a:p>
          </p:txBody>
        </p:sp>
        <p:sp>
          <p:nvSpPr>
            <p:cNvPr id="131075" name="Text Box 4"/>
            <p:cNvSpPr txBox="1"/>
            <p:nvPr/>
          </p:nvSpPr>
          <p:spPr>
            <a:xfrm>
              <a:off x="930" y="1752"/>
              <a:ext cx="1542" cy="283"/>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初期磨损阶段</a:t>
              </a:r>
              <a:endParaRPr lang="zh-CN" altLang="en-US" sz="2400" b="1" dirty="0">
                <a:solidFill>
                  <a:srgbClr val="FF0000"/>
                </a:solidFill>
                <a:latin typeface="Arial" panose="020B0604020202020204" pitchFamily="34" charset="0"/>
                <a:ea typeface="楷体_GB2312"/>
              </a:endParaRPr>
            </a:p>
          </p:txBody>
        </p:sp>
        <p:sp>
          <p:nvSpPr>
            <p:cNvPr id="131076" name="Text Box 5"/>
            <p:cNvSpPr txBox="1"/>
            <p:nvPr/>
          </p:nvSpPr>
          <p:spPr>
            <a:xfrm>
              <a:off x="885" y="2478"/>
              <a:ext cx="1497" cy="284"/>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正常磨损阶段</a:t>
              </a:r>
              <a:endParaRPr lang="zh-CN" altLang="en-US" sz="2400" b="1" dirty="0">
                <a:solidFill>
                  <a:srgbClr val="FF0000"/>
                </a:solidFill>
                <a:latin typeface="Arial" panose="020B0604020202020204" pitchFamily="34" charset="0"/>
                <a:ea typeface="楷体_GB2312"/>
              </a:endParaRPr>
            </a:p>
          </p:txBody>
        </p:sp>
        <p:sp>
          <p:nvSpPr>
            <p:cNvPr id="131077" name="Text Box 6"/>
            <p:cNvSpPr txBox="1"/>
            <p:nvPr/>
          </p:nvSpPr>
          <p:spPr>
            <a:xfrm>
              <a:off x="885" y="3203"/>
              <a:ext cx="1497" cy="283"/>
            </a:xfrm>
            <a:prstGeom prst="rect">
              <a:avLst/>
            </a:prstGeom>
            <a:noFill/>
            <a:ln w="9525">
              <a:noFill/>
            </a:ln>
          </p:spPr>
          <p:txBody>
            <a:bodyPr lIns="91430" tIns="45715" rIns="91430" bIns="45715" anchor="t" anchorCtr="0">
              <a:spAutoFit/>
            </a:bodyPr>
            <a:p>
              <a:pPr>
                <a:spcBef>
                  <a:spcPct val="50000"/>
                </a:spcBef>
              </a:pPr>
              <a:r>
                <a:rPr lang="zh-CN" altLang="en-US" sz="2400" b="1" dirty="0">
                  <a:solidFill>
                    <a:srgbClr val="FF0000"/>
                  </a:solidFill>
                  <a:latin typeface="Arial" panose="020B0604020202020204" pitchFamily="34" charset="0"/>
                  <a:ea typeface="楷体_GB2312"/>
                </a:rPr>
                <a:t>急剧磨损阶段</a:t>
              </a:r>
              <a:endParaRPr lang="zh-CN" altLang="en-US" sz="2400" b="1" dirty="0">
                <a:solidFill>
                  <a:srgbClr val="FF0000"/>
                </a:solidFill>
                <a:latin typeface="Arial" panose="020B0604020202020204" pitchFamily="34" charset="0"/>
                <a:ea typeface="楷体_GB2312"/>
              </a:endParaRPr>
            </a:p>
          </p:txBody>
        </p:sp>
        <p:sp>
          <p:nvSpPr>
            <p:cNvPr id="1505287" name="AutoShape 7"/>
            <p:cNvSpPr>
              <a:spLocks noChangeArrowheads="1"/>
            </p:cNvSpPr>
            <p:nvPr/>
          </p:nvSpPr>
          <p:spPr bwMode="auto">
            <a:xfrm>
              <a:off x="1520" y="2115"/>
              <a:ext cx="181" cy="318"/>
            </a:xfrm>
            <a:prstGeom prst="downArrow">
              <a:avLst>
                <a:gd name="adj1" fmla="val 50000"/>
                <a:gd name="adj2" fmla="val 43923"/>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05288" name="AutoShape 8"/>
            <p:cNvSpPr>
              <a:spLocks noChangeArrowheads="1"/>
            </p:cNvSpPr>
            <p:nvPr/>
          </p:nvSpPr>
          <p:spPr bwMode="auto">
            <a:xfrm>
              <a:off x="1520" y="2840"/>
              <a:ext cx="182" cy="363"/>
            </a:xfrm>
            <a:prstGeom prst="downArrow">
              <a:avLst>
                <a:gd name="adj1" fmla="val 50000"/>
                <a:gd name="adj2" fmla="val 49863"/>
              </a:avLst>
            </a:prstGeom>
            <a:gradFill rotWithShape="0">
              <a:gsLst>
                <a:gs pos="0">
                  <a:schemeClr val="bg1"/>
                </a:gs>
                <a:gs pos="50000">
                  <a:schemeClr val="accent1"/>
                </a:gs>
                <a:gs pos="100000">
                  <a:schemeClr val="bg1"/>
                </a:gs>
              </a:gsLst>
              <a:lin ang="5400000" scaled="1"/>
            </a:gradFill>
            <a:ln w="9525">
              <a:solidFill>
                <a:schemeClr val="tx1"/>
              </a:solidFill>
              <a:miter lim="800000"/>
            </a:ln>
            <a:effectLst/>
          </p:spPr>
          <p:txBody>
            <a:bodyPr wrap="none" lIns="91430" tIns="45715" rIns="91430" bIns="45715"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1080" name="Text Box 9"/>
            <p:cNvSpPr txBox="1"/>
            <p:nvPr/>
          </p:nvSpPr>
          <p:spPr>
            <a:xfrm>
              <a:off x="3016" y="1253"/>
              <a:ext cx="2540" cy="963"/>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刃磨后的刀具起前、后刀面上的高低不平，受到切屑的冲击和摩擦时，将“凸峰”很快磨去，时间很短</a:t>
              </a:r>
              <a:endParaRPr lang="zh-CN" altLang="en-US" sz="2400" b="1" dirty="0">
                <a:latin typeface="Arial" panose="020B0604020202020204" pitchFamily="34" charset="0"/>
                <a:ea typeface="楷体_GB2312"/>
              </a:endParaRPr>
            </a:p>
          </p:txBody>
        </p:sp>
        <p:sp>
          <p:nvSpPr>
            <p:cNvPr id="131081" name="Text Box 10"/>
            <p:cNvSpPr txBox="1"/>
            <p:nvPr/>
          </p:nvSpPr>
          <p:spPr>
            <a:xfrm>
              <a:off x="2925" y="2387"/>
              <a:ext cx="2653" cy="510"/>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刀具上的高低不平已被磨去，磨损量增加缓慢且比较稳定</a:t>
              </a:r>
              <a:endParaRPr lang="zh-CN" altLang="en-US" sz="2400" b="1" dirty="0">
                <a:latin typeface="Arial" panose="020B0604020202020204" pitchFamily="34" charset="0"/>
                <a:ea typeface="楷体_GB2312"/>
              </a:endParaRPr>
            </a:p>
          </p:txBody>
        </p:sp>
        <p:sp>
          <p:nvSpPr>
            <p:cNvPr id="131082" name="Text Box 11"/>
            <p:cNvSpPr txBox="1"/>
            <p:nvPr/>
          </p:nvSpPr>
          <p:spPr>
            <a:xfrm>
              <a:off x="2880" y="3113"/>
              <a:ext cx="2722" cy="963"/>
            </a:xfrm>
            <a:prstGeom prst="rect">
              <a:avLst/>
            </a:prstGeom>
            <a:noFill/>
            <a:ln w="9525">
              <a:noFill/>
            </a:ln>
          </p:spPr>
          <p:txBody>
            <a:bodyPr lIns="91430" tIns="45715" rIns="91430" bIns="45715" anchor="t" anchorCtr="0">
              <a:spAutoFit/>
            </a:bodyPr>
            <a:p>
              <a:pPr>
                <a:spcBef>
                  <a:spcPct val="50000"/>
                </a:spcBef>
              </a:pPr>
              <a:r>
                <a:rPr lang="zh-CN" altLang="en-US" sz="2400" b="1" dirty="0">
                  <a:latin typeface="Arial" panose="020B0604020202020204" pitchFamily="34" charset="0"/>
                  <a:ea typeface="楷体_GB2312"/>
                </a:rPr>
                <a:t>切削刃变钝，刀具与工件之间的摩擦变大，切削力增大，切削温度上升，磨损加剧，刀具失去正常的切削能力</a:t>
              </a:r>
              <a:endParaRPr lang="zh-CN" altLang="en-US" sz="2400" b="1" dirty="0">
                <a:latin typeface="Arial" panose="020B0604020202020204" pitchFamily="34" charset="0"/>
                <a:ea typeface="楷体_GB2312"/>
              </a:endParaRPr>
            </a:p>
          </p:txBody>
        </p:sp>
        <p:sp>
          <p:nvSpPr>
            <p:cNvPr id="131083" name="Line 12"/>
            <p:cNvSpPr/>
            <p:nvPr/>
          </p:nvSpPr>
          <p:spPr>
            <a:xfrm flipH="1">
              <a:off x="2517" y="1797"/>
              <a:ext cx="454" cy="91"/>
            </a:xfrm>
            <a:prstGeom prst="line">
              <a:avLst/>
            </a:prstGeom>
            <a:ln w="9525" cap="flat" cmpd="sng">
              <a:solidFill>
                <a:schemeClr val="tx1"/>
              </a:solidFill>
              <a:prstDash val="solid"/>
              <a:round/>
              <a:headEnd type="none" w="med" len="med"/>
              <a:tailEnd type="triangle" w="med" len="med"/>
            </a:ln>
          </p:spPr>
        </p:sp>
        <p:sp>
          <p:nvSpPr>
            <p:cNvPr id="131084" name="Line 13"/>
            <p:cNvSpPr/>
            <p:nvPr/>
          </p:nvSpPr>
          <p:spPr>
            <a:xfrm flipH="1" flipV="1">
              <a:off x="2426" y="2614"/>
              <a:ext cx="409" cy="45"/>
            </a:xfrm>
            <a:prstGeom prst="line">
              <a:avLst/>
            </a:prstGeom>
            <a:ln w="9525" cap="flat" cmpd="sng">
              <a:solidFill>
                <a:schemeClr val="tx1"/>
              </a:solidFill>
              <a:prstDash val="solid"/>
              <a:round/>
              <a:headEnd type="none" w="med" len="med"/>
              <a:tailEnd type="triangle" w="med" len="med"/>
            </a:ln>
          </p:spPr>
        </p:sp>
        <p:sp>
          <p:nvSpPr>
            <p:cNvPr id="131085" name="Line 14"/>
            <p:cNvSpPr/>
            <p:nvPr/>
          </p:nvSpPr>
          <p:spPr>
            <a:xfrm flipH="1" flipV="1">
              <a:off x="2426" y="3430"/>
              <a:ext cx="454" cy="136"/>
            </a:xfrm>
            <a:prstGeom prst="line">
              <a:avLst/>
            </a:prstGeom>
            <a:ln w="9525" cap="flat" cmpd="sng">
              <a:solidFill>
                <a:schemeClr val="tx1"/>
              </a:solidFill>
              <a:prstDash val="solid"/>
              <a:round/>
              <a:headEnd type="none" w="med" len="med"/>
              <a:tailEnd type="triangle" w="med" len="med"/>
            </a:ln>
          </p:spPr>
        </p:sp>
      </p:grpSp>
      <p:sp>
        <p:nvSpPr>
          <p:cNvPr id="131086" name="Rectangle 15"/>
          <p:cNvSpPr/>
          <p:nvPr/>
        </p:nvSpPr>
        <p:spPr>
          <a:xfrm>
            <a:off x="2520950" y="261938"/>
            <a:ext cx="6299200" cy="701675"/>
          </a:xfrm>
          <a:prstGeom prst="rect">
            <a:avLst/>
          </a:prstGeom>
          <a:noFill/>
          <a:ln w="9525">
            <a:noFill/>
          </a:ln>
        </p:spPr>
        <p:txBody>
          <a:bodyPr wrap="none" anchor="t" anchorCtr="0">
            <a:spAutoFit/>
          </a:bodyPr>
          <a:p>
            <a:r>
              <a:rPr lang="zh-CN" altLang="en-US" sz="4000" b="1" dirty="0">
                <a:latin typeface="Arial" panose="020B0604020202020204" pitchFamily="34" charset="0"/>
                <a:ea typeface="楷体_GB2312"/>
              </a:rPr>
              <a:t>刀具的磨损及刀具的耐用度</a:t>
            </a:r>
            <a:endParaRPr lang="zh-CN" altLang="en-US" sz="4000" b="1" dirty="0">
              <a:latin typeface="Arial" panose="020B0604020202020204" pitchFamily="34" charset="0"/>
              <a:ea typeface="楷体_GB2312"/>
            </a:endParaRPr>
          </a:p>
        </p:txBody>
      </p:sp>
      <p:grpSp>
        <p:nvGrpSpPr>
          <p:cNvPr id="3" name="Group 16"/>
          <p:cNvGrpSpPr/>
          <p:nvPr/>
        </p:nvGrpSpPr>
        <p:grpSpPr>
          <a:xfrm>
            <a:off x="5148263" y="1196975"/>
            <a:ext cx="3187700" cy="3275013"/>
            <a:chOff x="3548" y="1390"/>
            <a:chExt cx="2008" cy="2063"/>
          </a:xfrm>
        </p:grpSpPr>
        <p:pic>
          <p:nvPicPr>
            <p:cNvPr id="131088" name="Picture 17" descr="刀具磨损阶段"/>
            <p:cNvPicPr>
              <a:picLocks noChangeAspect="1"/>
            </p:cNvPicPr>
            <p:nvPr/>
          </p:nvPicPr>
          <p:blipFill>
            <a:blip r:embed="rId1">
              <a:lum bright="-12000" contrast="35999"/>
            </a:blip>
            <a:stretch>
              <a:fillRect/>
            </a:stretch>
          </p:blipFill>
          <p:spPr>
            <a:xfrm>
              <a:off x="3548" y="1390"/>
              <a:ext cx="2008" cy="1813"/>
            </a:xfrm>
            <a:prstGeom prst="rect">
              <a:avLst/>
            </a:prstGeom>
            <a:noFill/>
            <a:ln w="9525">
              <a:noFill/>
            </a:ln>
          </p:spPr>
        </p:pic>
        <p:sp>
          <p:nvSpPr>
            <p:cNvPr id="131089" name="Rectangle 18"/>
            <p:cNvSpPr/>
            <p:nvPr/>
          </p:nvSpPr>
          <p:spPr>
            <a:xfrm>
              <a:off x="3560" y="3203"/>
              <a:ext cx="1996" cy="250"/>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  刀具磨损过程</a:t>
              </a:r>
              <a:endParaRPr lang="zh-CN" altLang="en-US" sz="2000" b="1" dirty="0">
                <a:solidFill>
                  <a:srgbClr val="000000"/>
                </a:solidFill>
                <a:latin typeface="楷体_GB2312"/>
                <a:ea typeface="楷体_GB2312"/>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000000"/>
                                          </p:val>
                                        </p:tav>
                                        <p:tav tm="100000">
                                          <p:val>
                                            <p:strVal val="#ppt_w"/>
                                          </p:val>
                                        </p:tav>
                                      </p:tavLst>
                                    </p:anim>
                                    <p:anim calcmode="lin" valueType="num">
                                      <p:cBhvr>
                                        <p:cTn id="8" dur="500" fill="hold"/>
                                        <p:tgtEl>
                                          <p:spTgt spid="3"/>
                                        </p:tgtEl>
                                        <p:attrNameLst>
                                          <p:attrName>ppt_h</p:attrName>
                                        </p:attrNameLst>
                                      </p:cBhvr>
                                      <p:tavLst>
                                        <p:tav tm="0">
                                          <p:val>
                                            <p:fltVal val="0.00000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7330" name="Rectangle 2"/>
          <p:cNvSpPr>
            <a:spLocks noGrp="1"/>
          </p:cNvSpPr>
          <p:nvPr>
            <p:ph idx="1"/>
          </p:nvPr>
        </p:nvSpPr>
        <p:spPr>
          <a:xfrm>
            <a:off x="107950" y="1268413"/>
            <a:ext cx="8785225" cy="2376487"/>
          </a:xfrm>
          <a:ln/>
        </p:spPr>
        <p:txBody>
          <a:bodyPr vert="horz" wrap="square" lIns="91440" tIns="45720" rIns="91440" bIns="45720" anchor="t" anchorCtr="0"/>
          <a:p>
            <a:pPr eaLnBrk="1" hangingPunct="1">
              <a:lnSpc>
                <a:spcPct val="80000"/>
              </a:lnSpc>
              <a:buNone/>
            </a:pPr>
            <a:r>
              <a:rPr lang="en-US" altLang="zh-CN" sz="2800" b="1" dirty="0"/>
              <a:t>   </a:t>
            </a:r>
            <a:r>
              <a:rPr lang="zh-CN" altLang="en-US" sz="2800" b="1" dirty="0">
                <a:solidFill>
                  <a:srgbClr val="008000"/>
                </a:solidFill>
                <a:latin typeface="楷体_GB2312"/>
                <a:ea typeface="楷体_GB2312"/>
              </a:rPr>
              <a:t>２．刀具耐用度</a:t>
            </a:r>
            <a:endParaRPr lang="zh-CN" altLang="en-US" sz="2800" b="1" dirty="0">
              <a:solidFill>
                <a:srgbClr val="008000"/>
              </a:solidFill>
              <a:latin typeface="楷体_GB2312"/>
              <a:ea typeface="楷体_GB2312"/>
            </a:endParaRPr>
          </a:p>
          <a:p>
            <a:pPr eaLnBrk="1" hangingPunct="1">
              <a:lnSpc>
                <a:spcPct val="80000"/>
              </a:lnSpc>
              <a:buNone/>
            </a:pPr>
            <a:r>
              <a:rPr lang="zh-CN" altLang="en-US" sz="2400" b="1" dirty="0">
                <a:latin typeface="楷体_GB2312"/>
                <a:ea typeface="楷体_GB2312"/>
              </a:rPr>
              <a:t>      刀具允许的磨损限度通常用后刀面的磨损高度</a:t>
            </a:r>
            <a:r>
              <a:rPr lang="en-US" altLang="zh-CN" sz="2400" b="1" i="1" dirty="0">
                <a:latin typeface="Times New Roman" panose="02020603050405020304" pitchFamily="18" charset="0"/>
                <a:ea typeface="楷体_GB2312"/>
              </a:rPr>
              <a:t>VB</a:t>
            </a:r>
            <a:r>
              <a:rPr lang="zh-CN" altLang="en-US" sz="2400" b="1" dirty="0">
                <a:latin typeface="楷体_GB2312"/>
                <a:ea typeface="楷体_GB2312"/>
              </a:rPr>
              <a:t>表示。但这种磨损标准很难掌握</a:t>
            </a:r>
            <a:r>
              <a:rPr lang="en-US" altLang="zh-CN" sz="2400" b="1" dirty="0">
                <a:latin typeface="楷体_GB2312"/>
                <a:ea typeface="楷体_GB2312"/>
              </a:rPr>
              <a:t>,</a:t>
            </a:r>
            <a:r>
              <a:rPr lang="zh-CN" altLang="en-US" sz="2400" b="1" dirty="0">
                <a:latin typeface="楷体_GB2312"/>
                <a:ea typeface="楷体_GB2312"/>
              </a:rPr>
              <a:t>而引入</a:t>
            </a:r>
            <a:r>
              <a:rPr lang="zh-CN" altLang="en-US" sz="2400" b="1" dirty="0">
                <a:solidFill>
                  <a:srgbClr val="FF0000"/>
                </a:solidFill>
                <a:latin typeface="楷体_GB2312"/>
                <a:ea typeface="楷体_GB2312"/>
              </a:rPr>
              <a:t>刀具耐用度</a:t>
            </a:r>
            <a:r>
              <a:rPr lang="zh-CN" altLang="en-US" sz="2400" b="1" dirty="0">
                <a:latin typeface="楷体_GB2312"/>
                <a:ea typeface="楷体_GB2312"/>
              </a:rPr>
              <a:t>的概念。</a:t>
            </a:r>
            <a:r>
              <a:rPr lang="zh-CN" altLang="en-US" sz="2400" b="1" dirty="0">
                <a:solidFill>
                  <a:srgbClr val="FF3300"/>
                </a:solidFill>
                <a:latin typeface="楷体_GB2312"/>
                <a:ea typeface="楷体_GB2312"/>
              </a:rPr>
              <a:t>指刀具刃磨后从开始切削直到磨损量达到磨损标准为止的切削时间用Ｔ表示。</a:t>
            </a:r>
            <a:r>
              <a:rPr lang="zh-CN" altLang="en-US" sz="2400" b="1" dirty="0">
                <a:latin typeface="楷体_GB2312"/>
                <a:ea typeface="楷体_GB2312"/>
              </a:rPr>
              <a:t>另外，一把新刀从第一次切削开始，经多次刃磨切削到不能再刃磨使用为止，实际刀削工作时间的总和，称为</a:t>
            </a:r>
            <a:r>
              <a:rPr lang="zh-CN" altLang="en-US" sz="2400" b="1" dirty="0">
                <a:solidFill>
                  <a:srgbClr val="FF0000"/>
                </a:solidFill>
                <a:latin typeface="楷体_GB2312"/>
                <a:ea typeface="楷体_GB2312"/>
              </a:rPr>
              <a:t>刀具寿命</a:t>
            </a:r>
            <a:r>
              <a:rPr lang="zh-CN" altLang="en-US" sz="2400" b="1" dirty="0">
                <a:latin typeface="楷体_GB2312"/>
                <a:ea typeface="楷体_GB2312"/>
              </a:rPr>
              <a:t>。</a:t>
            </a:r>
            <a:endParaRPr lang="zh-CN" altLang="en-US" sz="2400" b="1" dirty="0">
              <a:latin typeface="楷体_GB2312"/>
              <a:ea typeface="楷体_GB2312"/>
            </a:endParaRPr>
          </a:p>
          <a:p>
            <a:pPr eaLnBrk="1" hangingPunct="1">
              <a:lnSpc>
                <a:spcPct val="80000"/>
              </a:lnSpc>
              <a:buNone/>
            </a:pPr>
            <a:endParaRPr lang="en-US" altLang="zh-CN" sz="2400" b="1" dirty="0">
              <a:latin typeface="楷体_GB2312"/>
              <a:ea typeface="楷体_GB2312"/>
            </a:endParaRPr>
          </a:p>
        </p:txBody>
      </p:sp>
      <p:pic>
        <p:nvPicPr>
          <p:cNvPr id="133122" name="Picture 3" descr="Image025"/>
          <p:cNvPicPr>
            <a:picLocks noChangeAspect="1"/>
          </p:cNvPicPr>
          <p:nvPr/>
        </p:nvPicPr>
        <p:blipFill>
          <a:blip r:embed="rId1"/>
          <a:stretch>
            <a:fillRect/>
          </a:stretch>
        </p:blipFill>
        <p:spPr>
          <a:xfrm>
            <a:off x="2411413" y="3355975"/>
            <a:ext cx="6411912" cy="3416300"/>
          </a:xfrm>
          <a:prstGeom prst="rect">
            <a:avLst/>
          </a:prstGeom>
          <a:noFill/>
          <a:ln w="9525" cap="flat" cmpd="sng">
            <a:solidFill>
              <a:srgbClr val="FF6600"/>
            </a:solidFill>
            <a:prstDash val="solid"/>
            <a:miter/>
            <a:headEnd type="none" w="med" len="med"/>
            <a:tailEnd type="none" w="med" len="med"/>
          </a:ln>
        </p:spPr>
      </p:pic>
      <p:sp>
        <p:nvSpPr>
          <p:cNvPr id="133123" name="Rectangle 4"/>
          <p:cNvSpPr/>
          <p:nvPr/>
        </p:nvSpPr>
        <p:spPr>
          <a:xfrm>
            <a:off x="2627313" y="260350"/>
            <a:ext cx="6299200" cy="701675"/>
          </a:xfrm>
          <a:prstGeom prst="rect">
            <a:avLst/>
          </a:prstGeom>
          <a:noFill/>
          <a:ln w="9525">
            <a:noFill/>
          </a:ln>
        </p:spPr>
        <p:txBody>
          <a:bodyPr wrap="none" anchor="t" anchorCtr="0">
            <a:spAutoFit/>
          </a:bodyPr>
          <a:p>
            <a:r>
              <a:rPr lang="zh-CN" altLang="en-US" sz="4000" b="1" dirty="0">
                <a:latin typeface="Arial" panose="020B0604020202020204" pitchFamily="34" charset="0"/>
                <a:ea typeface="楷体_GB2312"/>
              </a:rPr>
              <a:t>刀具的磨损及刀具的耐用度</a:t>
            </a:r>
            <a:endParaRPr lang="zh-CN" altLang="en-US" sz="4000" b="1" dirty="0">
              <a:latin typeface="Arial" panose="020B0604020202020204" pitchFamily="34" charset="0"/>
              <a:ea typeface="楷体_GB231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7330">
                                            <p:txEl>
                                              <p:charRg st="0" end="11"/>
                                            </p:txEl>
                                          </p:spTgt>
                                        </p:tgtEl>
                                        <p:attrNameLst>
                                          <p:attrName>style.visibility</p:attrName>
                                        </p:attrNameLst>
                                      </p:cBhvr>
                                      <p:to>
                                        <p:strVal val="visible"/>
                                      </p:to>
                                    </p:set>
                                    <p:anim calcmode="lin" valueType="num">
                                      <p:cBhvr additive="base">
                                        <p:cTn id="7" dur="500" fill="hold"/>
                                        <p:tgtEl>
                                          <p:spTgt spid="1507330">
                                            <p:txEl>
                                              <p:charRg st="0"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7330">
                                            <p:txEl>
                                              <p:charRg st="0"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07330">
                                            <p:txEl>
                                              <p:charRg st="11" end="154"/>
                                            </p:txEl>
                                          </p:spTgt>
                                        </p:tgtEl>
                                        <p:attrNameLst>
                                          <p:attrName>style.visibility</p:attrName>
                                        </p:attrNameLst>
                                      </p:cBhvr>
                                      <p:to>
                                        <p:strVal val="visible"/>
                                      </p:to>
                                    </p:set>
                                    <p:anim calcmode="lin" valueType="num">
                                      <p:cBhvr additive="base">
                                        <p:cTn id="11" dur="500" fill="hold"/>
                                        <p:tgtEl>
                                          <p:spTgt spid="1507330">
                                            <p:txEl>
                                              <p:charRg st="11" end="15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07330">
                                            <p:txEl>
                                              <p:charRg st="11" end="15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2"/>
          <p:cNvSpPr>
            <a:spLocks noGrp="1"/>
          </p:cNvSpPr>
          <p:nvPr>
            <p:ph type="title"/>
          </p:nvPr>
        </p:nvSpPr>
        <p:spPr>
          <a:xfrm>
            <a:off x="2690813" y="44450"/>
            <a:ext cx="5410200" cy="1139825"/>
          </a:xfrm>
          <a:ln/>
        </p:spPr>
        <p:txBody>
          <a:bodyPr vert="horz" wrap="square" lIns="91440" tIns="45720" rIns="91440" bIns="45720" anchor="ctr" anchorCtr="0"/>
          <a:p>
            <a:pPr eaLnBrk="1" hangingPunct="1"/>
            <a:r>
              <a:rPr lang="zh-CN" altLang="en-US" sz="4000" dirty="0">
                <a:ea typeface="楷体_GB2312"/>
              </a:rPr>
              <a:t>切削加工技术经济指标</a:t>
            </a:r>
            <a:endParaRPr lang="zh-CN" altLang="en-US" sz="4000" dirty="0">
              <a:ea typeface="楷体_GB2312"/>
            </a:endParaRPr>
          </a:p>
        </p:txBody>
      </p:sp>
      <p:sp>
        <p:nvSpPr>
          <p:cNvPr id="135170" name="Rectangle 3"/>
          <p:cNvSpPr/>
          <p:nvPr/>
        </p:nvSpPr>
        <p:spPr>
          <a:xfrm>
            <a:off x="250825" y="1187450"/>
            <a:ext cx="8543925" cy="3476625"/>
          </a:xfrm>
          <a:prstGeom prst="rect">
            <a:avLst/>
          </a:prstGeom>
          <a:noFill/>
          <a:ln w="9525">
            <a:noFill/>
          </a:ln>
        </p:spPr>
        <p:txBody>
          <a:bodyPr wrap="square" anchor="t" anchorCtr="0">
            <a:spAutoFit/>
          </a:bodyPr>
          <a:p>
            <a:r>
              <a:rPr lang="zh-CN" altLang="en-US" sz="2000" b="1" dirty="0">
                <a:solidFill>
                  <a:srgbClr val="FF0000"/>
                </a:solidFill>
                <a:latin typeface="楷体_GB2312"/>
                <a:ea typeface="楷体_GB2312"/>
              </a:rPr>
              <a:t>１．产品质量 </a:t>
            </a:r>
            <a:r>
              <a:rPr lang="zh-CN" altLang="en-US" sz="2000" b="1" dirty="0">
                <a:latin typeface="楷体_GB2312"/>
                <a:ea typeface="楷体_GB2312"/>
              </a:rPr>
              <a:t>零件经切削加工后的质量包括精度和表面质量。</a:t>
            </a:r>
            <a:endParaRPr lang="zh-CN" altLang="en-US" sz="2000" b="1" dirty="0">
              <a:latin typeface="楷体_GB2312"/>
              <a:ea typeface="楷体_GB2312"/>
            </a:endParaRPr>
          </a:p>
          <a:p>
            <a:r>
              <a:rPr lang="zh-CN" altLang="en-US" sz="2000" b="1" dirty="0">
                <a:latin typeface="楷体_GB2312"/>
                <a:ea typeface="楷体_GB2312"/>
              </a:rPr>
              <a:t>  </a:t>
            </a:r>
            <a:r>
              <a:rPr lang="zh-CN" altLang="en-US" sz="2000" b="1" dirty="0">
                <a:solidFill>
                  <a:srgbClr val="008000"/>
                </a:solidFill>
                <a:latin typeface="楷体_GB2312"/>
                <a:ea typeface="楷体_GB2312"/>
              </a:rPr>
              <a:t>（１）精度</a:t>
            </a:r>
            <a:r>
              <a:rPr lang="zh-CN" altLang="en-US" sz="2000" b="1" dirty="0">
                <a:latin typeface="楷体_GB2312"/>
                <a:ea typeface="楷体_GB2312"/>
              </a:rPr>
              <a:t> 零件在加工后，其尺寸、形状等参数的实际数值与理论参数相符合的程度。</a:t>
            </a:r>
            <a:endParaRPr lang="zh-CN" altLang="en-US" sz="2000" b="1" dirty="0">
              <a:latin typeface="楷体_GB2312"/>
              <a:ea typeface="楷体_GB2312"/>
            </a:endParaRPr>
          </a:p>
          <a:p>
            <a:r>
              <a:rPr lang="zh-CN" altLang="en-US" sz="2000" b="1" dirty="0">
                <a:latin typeface="楷体_GB2312"/>
                <a:ea typeface="楷体_GB2312"/>
              </a:rPr>
              <a:t>　　</a:t>
            </a:r>
            <a:r>
              <a:rPr lang="en-US" altLang="zh-CN" sz="2000" b="1" dirty="0">
                <a:solidFill>
                  <a:srgbClr val="0033CC"/>
                </a:solidFill>
                <a:latin typeface="楷体_GB2312"/>
                <a:ea typeface="楷体_GB2312"/>
              </a:rPr>
              <a:t>a</a:t>
            </a:r>
            <a:r>
              <a:rPr lang="zh-CN" altLang="en-US" sz="2000" b="1" dirty="0">
                <a:solidFill>
                  <a:srgbClr val="0033CC"/>
                </a:solidFill>
                <a:latin typeface="楷体_GB2312"/>
                <a:ea typeface="楷体_GB2312"/>
              </a:rPr>
              <a:t>．尺寸精度</a:t>
            </a:r>
            <a:r>
              <a:rPr lang="en-US" altLang="zh-CN" sz="2000" b="1" dirty="0">
                <a:solidFill>
                  <a:srgbClr val="0033CC"/>
                </a:solidFill>
                <a:latin typeface="楷体_GB2312"/>
                <a:ea typeface="楷体_GB2312"/>
              </a:rPr>
              <a:t> </a:t>
            </a:r>
            <a:r>
              <a:rPr lang="zh-CN" altLang="en-US" sz="2000" b="1" dirty="0">
                <a:latin typeface="楷体_GB2312"/>
                <a:ea typeface="楷体_GB2312"/>
              </a:rPr>
              <a:t>表面本身的尺寸精度和表面间的尺寸精度。精度的高低，用尺寸公差的大小表示。</a:t>
            </a:r>
            <a:endParaRPr lang="zh-CN" altLang="en-US" sz="2000" b="1" dirty="0">
              <a:latin typeface="楷体_GB2312"/>
              <a:ea typeface="楷体_GB2312"/>
            </a:endParaRPr>
          </a:p>
          <a:p>
            <a:r>
              <a:rPr lang="zh-CN" altLang="en-US" sz="2000" b="1" dirty="0">
                <a:latin typeface="楷体_GB2312"/>
                <a:ea typeface="楷体_GB2312"/>
              </a:rPr>
              <a:t>    国家标准规定，标准公差分成</a:t>
            </a:r>
            <a:r>
              <a:rPr lang="en-US" altLang="zh-CN" sz="2000" b="1" dirty="0">
                <a:latin typeface="楷体_GB2312"/>
                <a:ea typeface="楷体_GB2312"/>
              </a:rPr>
              <a:t>20</a:t>
            </a:r>
            <a:r>
              <a:rPr lang="zh-CN" altLang="en-US" sz="2000" b="1" dirty="0">
                <a:latin typeface="楷体_GB2312"/>
                <a:ea typeface="楷体_GB2312"/>
              </a:rPr>
              <a:t>级，即</a:t>
            </a:r>
            <a:r>
              <a:rPr lang="en-US" altLang="zh-CN" sz="2000" b="1" dirty="0">
                <a:latin typeface="楷体_GB2312"/>
                <a:ea typeface="楷体_GB2312"/>
              </a:rPr>
              <a:t>IT01</a:t>
            </a:r>
            <a:r>
              <a:rPr lang="zh-CN" altLang="en-US" sz="2000" b="1" dirty="0">
                <a:latin typeface="楷体_GB2312"/>
                <a:ea typeface="楷体_GB2312"/>
              </a:rPr>
              <a:t>、</a:t>
            </a:r>
            <a:r>
              <a:rPr lang="en-US" altLang="zh-CN" sz="2000" b="1" dirty="0">
                <a:latin typeface="楷体_GB2312"/>
                <a:ea typeface="楷体_GB2312"/>
              </a:rPr>
              <a:t>IT0</a:t>
            </a:r>
            <a:r>
              <a:rPr lang="zh-CN" altLang="en-US" sz="2000" b="1" dirty="0">
                <a:latin typeface="楷体_GB2312"/>
                <a:ea typeface="楷体_GB2312"/>
              </a:rPr>
              <a:t>和</a:t>
            </a:r>
            <a:r>
              <a:rPr lang="en-US" altLang="zh-CN" sz="2000" b="1" dirty="0">
                <a:latin typeface="楷体_GB2312"/>
                <a:ea typeface="楷体_GB2312"/>
              </a:rPr>
              <a:t>IT</a:t>
            </a:r>
            <a:r>
              <a:rPr lang="zh-CN" altLang="en-US" sz="2000" b="1" dirty="0">
                <a:latin typeface="楷体_GB2312"/>
                <a:ea typeface="楷体_GB2312"/>
              </a:rPr>
              <a:t>１～</a:t>
            </a:r>
            <a:r>
              <a:rPr lang="en-US" altLang="zh-CN" sz="2000" b="1" dirty="0">
                <a:latin typeface="楷体_GB2312"/>
                <a:ea typeface="楷体_GB2312"/>
              </a:rPr>
              <a:t>IT18</a:t>
            </a:r>
            <a:r>
              <a:rPr lang="zh-CN" altLang="en-US" sz="2000" b="1" dirty="0">
                <a:latin typeface="楷体_GB2312"/>
                <a:ea typeface="楷体_GB2312"/>
              </a:rPr>
              <a:t>，</a:t>
            </a:r>
            <a:r>
              <a:rPr lang="en-US" altLang="zh-CN" sz="2000" b="1" dirty="0">
                <a:latin typeface="楷体_GB2312"/>
                <a:ea typeface="楷体_GB2312"/>
              </a:rPr>
              <a:t>IT</a:t>
            </a:r>
            <a:r>
              <a:rPr lang="zh-CN" altLang="en-US" sz="2000" b="1" dirty="0">
                <a:latin typeface="楷体_GB2312"/>
                <a:ea typeface="楷体_GB2312"/>
              </a:rPr>
              <a:t>表示标准公差。数字越大，精度越低。</a:t>
            </a:r>
            <a:endParaRPr lang="zh-CN" altLang="en-US" sz="2000" b="1" dirty="0">
              <a:latin typeface="楷体_GB2312"/>
              <a:ea typeface="楷体_GB2312"/>
            </a:endParaRPr>
          </a:p>
          <a:p>
            <a:r>
              <a:rPr lang="zh-CN" altLang="en-US" sz="2000" b="1" dirty="0">
                <a:latin typeface="楷体_GB2312"/>
                <a:ea typeface="楷体_GB2312"/>
              </a:rPr>
              <a:t>    </a:t>
            </a:r>
            <a:r>
              <a:rPr lang="en-US" altLang="zh-CN" sz="2000" b="1" dirty="0">
                <a:solidFill>
                  <a:srgbClr val="0033CC"/>
                </a:solidFill>
                <a:latin typeface="楷体_GB2312"/>
                <a:ea typeface="楷体_GB2312"/>
              </a:rPr>
              <a:t>b</a:t>
            </a:r>
            <a:r>
              <a:rPr lang="zh-CN" altLang="en-US" sz="2000" b="1" dirty="0">
                <a:solidFill>
                  <a:srgbClr val="0033CC"/>
                </a:solidFill>
                <a:latin typeface="楷体_GB2312"/>
                <a:ea typeface="楷体_GB2312"/>
              </a:rPr>
              <a:t>．形状精度</a:t>
            </a:r>
            <a:r>
              <a:rPr lang="zh-CN" altLang="en-US" sz="2000" b="1" dirty="0">
                <a:latin typeface="楷体_GB2312"/>
                <a:ea typeface="楷体_GB2312"/>
              </a:rPr>
              <a:t> 零件表面与理想表面之间在形状上接近的程度，如圆柱面的圆柱度、圆度，平面的平面度等。</a:t>
            </a:r>
            <a:endParaRPr lang="zh-CN" altLang="en-US" sz="2000" b="1" dirty="0">
              <a:latin typeface="楷体_GB2312"/>
              <a:ea typeface="楷体_GB2312"/>
            </a:endParaRPr>
          </a:p>
          <a:p>
            <a:r>
              <a:rPr lang="zh-CN" altLang="en-US" sz="2000" b="1" dirty="0">
                <a:latin typeface="楷体_GB2312"/>
                <a:ea typeface="楷体_GB2312"/>
              </a:rPr>
              <a:t>    </a:t>
            </a:r>
            <a:r>
              <a:rPr lang="zh-CN" altLang="en-US" sz="2000" b="1" dirty="0">
                <a:solidFill>
                  <a:srgbClr val="0033CC"/>
                </a:solidFill>
                <a:latin typeface="楷体_GB2312"/>
                <a:ea typeface="楷体_GB2312"/>
              </a:rPr>
              <a:t>ｃ．位置精度</a:t>
            </a:r>
            <a:r>
              <a:rPr lang="zh-CN" altLang="en-US" sz="2000" b="1" dirty="0">
                <a:latin typeface="楷体_GB2312"/>
                <a:ea typeface="楷体_GB2312"/>
              </a:rPr>
              <a:t> 表面、轴线或对称平面之间的实际位置与理想位置接近的程度，如两圆柱面间的同轴度，二平面间的平行度或垂直度等。</a:t>
            </a:r>
            <a:endParaRPr lang="zh-CN" altLang="en-US" sz="2000" b="1" dirty="0">
              <a:latin typeface="楷体_GB2312"/>
              <a:ea typeface="楷体_GB2312"/>
            </a:endParaRPr>
          </a:p>
        </p:txBody>
      </p:sp>
      <p:graphicFrame>
        <p:nvGraphicFramePr>
          <p:cNvPr id="135171" name="对象 1"/>
          <p:cNvGraphicFramePr/>
          <p:nvPr/>
        </p:nvGraphicFramePr>
        <p:xfrm>
          <a:off x="1236663" y="4652963"/>
          <a:ext cx="6669087" cy="2247900"/>
        </p:xfrm>
        <a:graphic>
          <a:graphicData uri="http://schemas.openxmlformats.org/presentationml/2006/ole">
            <mc:AlternateContent xmlns:mc="http://schemas.openxmlformats.org/markup-compatibility/2006">
              <mc:Choice xmlns:v="urn:schemas-microsoft-com:vml" Requires="v">
                <p:oleObj spid="_x0000_s3094" name="" r:id="rId1" imgW="4406900" imgH="1524000" progId="Paint.Picture">
                  <p:embed/>
                </p:oleObj>
              </mc:Choice>
              <mc:Fallback>
                <p:oleObj name="" r:id="rId1" imgW="4406900" imgH="1524000" progId="Paint.Picture">
                  <p:embed/>
                  <p:pic>
                    <p:nvPicPr>
                      <p:cNvPr id="0" name="图片 3093"/>
                      <p:cNvPicPr/>
                      <p:nvPr/>
                    </p:nvPicPr>
                    <p:blipFill>
                      <a:blip r:embed="rId2"/>
                      <a:stretch>
                        <a:fillRect/>
                      </a:stretch>
                    </p:blipFill>
                    <p:spPr>
                      <a:xfrm>
                        <a:off x="1236663" y="4652963"/>
                        <a:ext cx="6669087" cy="2247900"/>
                      </a:xfrm>
                      <a:prstGeom prst="rect">
                        <a:avLst/>
                      </a:prstGeom>
                      <a:noFill/>
                      <a:ln w="38100">
                        <a:noFill/>
                        <a:miter/>
                      </a:ln>
                    </p:spPr>
                  </p:pic>
                </p:oleObj>
              </mc:Fallback>
            </mc:AlternateContent>
          </a:graphicData>
        </a:graphic>
      </p:graphicFrame>
    </p:spTree>
  </p:cSld>
  <p:clrMapOvr>
    <a:masterClrMapping/>
  </p:clrMapOvr>
  <p:transition spd="slow">
    <p:randomBar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Rectangle 2"/>
          <p:cNvSpPr>
            <a:spLocks noGrp="1"/>
          </p:cNvSpPr>
          <p:nvPr>
            <p:ph type="title"/>
          </p:nvPr>
        </p:nvSpPr>
        <p:spPr>
          <a:xfrm>
            <a:off x="2690813" y="44450"/>
            <a:ext cx="5410200" cy="1139825"/>
          </a:xfrm>
          <a:ln/>
        </p:spPr>
        <p:txBody>
          <a:bodyPr vert="horz" wrap="square" lIns="91440" tIns="45720" rIns="91440" bIns="45720" anchor="ctr" anchorCtr="0"/>
          <a:p>
            <a:pPr eaLnBrk="1" hangingPunct="1"/>
            <a:r>
              <a:rPr lang="zh-CN" altLang="en-US" sz="4000" dirty="0">
                <a:ea typeface="楷体_GB2312"/>
              </a:rPr>
              <a:t>切削加工技术经济指标</a:t>
            </a:r>
            <a:endParaRPr lang="zh-CN" altLang="en-US" sz="4000" dirty="0">
              <a:ea typeface="楷体_GB2312"/>
            </a:endParaRPr>
          </a:p>
        </p:txBody>
      </p:sp>
      <p:sp>
        <p:nvSpPr>
          <p:cNvPr id="137218" name="Rectangle 3"/>
          <p:cNvSpPr/>
          <p:nvPr/>
        </p:nvSpPr>
        <p:spPr>
          <a:xfrm>
            <a:off x="250825" y="1341438"/>
            <a:ext cx="8713788" cy="3013075"/>
          </a:xfrm>
          <a:prstGeom prst="rect">
            <a:avLst/>
          </a:prstGeom>
          <a:noFill/>
          <a:ln w="9525">
            <a:noFill/>
          </a:ln>
        </p:spPr>
        <p:txBody>
          <a:bodyPr anchor="t" anchorCtr="0">
            <a:spAutoFit/>
          </a:bodyPr>
          <a:p>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2</a:t>
            </a:r>
            <a:r>
              <a:rPr lang="zh-CN" altLang="en-US" sz="2400" b="1" dirty="0">
                <a:solidFill>
                  <a:srgbClr val="008000"/>
                </a:solidFill>
                <a:latin typeface="楷体_GB2312"/>
                <a:ea typeface="楷体_GB2312"/>
              </a:rPr>
              <a:t>）表面质量</a:t>
            </a:r>
            <a:r>
              <a:rPr lang="zh-CN" altLang="en-US" sz="2400" b="1" dirty="0">
                <a:latin typeface="楷体_GB2312"/>
                <a:ea typeface="楷体_GB2312"/>
              </a:rPr>
              <a:t> 已加工表面质量，包括表面粗糙度、表层加工硬化的程度和深度、表层剩余应力的性质和大小。</a:t>
            </a:r>
            <a:endParaRPr lang="zh-CN" altLang="en-US" sz="2400" b="1" dirty="0">
              <a:latin typeface="楷体_GB2312"/>
              <a:ea typeface="楷体_GB2312"/>
            </a:endParaRPr>
          </a:p>
          <a:p>
            <a:endParaRPr lang="zh-CN" altLang="en-US" sz="2400" b="1" dirty="0">
              <a:latin typeface="楷体_GB2312"/>
              <a:ea typeface="楷体_GB2312"/>
            </a:endParaRPr>
          </a:p>
          <a:p>
            <a:r>
              <a:rPr lang="zh-CN" altLang="en-US" sz="2400" b="1" dirty="0">
                <a:latin typeface="楷体_GB2312"/>
                <a:ea typeface="楷体_GB2312"/>
              </a:rPr>
              <a:t> 　</a:t>
            </a:r>
            <a:r>
              <a:rPr lang="en-US" altLang="zh-CN" sz="2400" b="1" dirty="0">
                <a:solidFill>
                  <a:srgbClr val="000099"/>
                </a:solidFill>
                <a:latin typeface="楷体_GB2312"/>
                <a:ea typeface="楷体_GB2312"/>
              </a:rPr>
              <a:t>a</a:t>
            </a:r>
            <a:r>
              <a:rPr lang="zh-CN" altLang="en-US" sz="2400" b="1" dirty="0">
                <a:solidFill>
                  <a:srgbClr val="000099"/>
                </a:solidFill>
                <a:latin typeface="楷体_GB2312"/>
                <a:ea typeface="楷体_GB2312"/>
              </a:rPr>
              <a:t>．表面粗糙度 </a:t>
            </a:r>
            <a:r>
              <a:rPr lang="zh-CN" altLang="en-US" sz="2400" b="1" dirty="0">
                <a:latin typeface="楷体_GB2312"/>
                <a:ea typeface="楷体_GB2312"/>
              </a:rPr>
              <a:t>已加工表面具有的较小间距的峰谷所组成的微观几何形状特性，称为表面粗糙度。</a:t>
            </a:r>
            <a:endParaRPr lang="zh-CN" altLang="en-US" sz="2400" b="1" dirty="0">
              <a:latin typeface="楷体_GB2312"/>
              <a:ea typeface="楷体_GB2312"/>
            </a:endParaRPr>
          </a:p>
          <a:p>
            <a:endParaRPr lang="zh-CN" altLang="en-US" sz="2400" b="1" dirty="0">
              <a:latin typeface="楷体_GB2312"/>
              <a:ea typeface="楷体_GB2312"/>
            </a:endParaRPr>
          </a:p>
          <a:p>
            <a:r>
              <a:rPr lang="zh-CN" altLang="en-US" sz="2400" b="1" dirty="0">
                <a:latin typeface="楷体_GB2312"/>
                <a:ea typeface="楷体_GB2312"/>
              </a:rPr>
              <a:t>　</a:t>
            </a:r>
            <a:endParaRPr lang="zh-CN" altLang="en-US" sz="2400" b="1" dirty="0">
              <a:latin typeface="楷体_GB2312"/>
              <a:ea typeface="楷体_GB2312"/>
            </a:endParaRPr>
          </a:p>
          <a:p>
            <a:r>
              <a:rPr lang="zh-CN" altLang="en-US" sz="2400" b="1" dirty="0">
                <a:solidFill>
                  <a:srgbClr val="F19BFD"/>
                </a:solidFill>
                <a:latin typeface="楷体_GB2312"/>
                <a:ea typeface="楷体_GB2312"/>
              </a:rPr>
              <a:t>　　</a:t>
            </a:r>
            <a:endParaRPr lang="zh-CN" altLang="en-US" sz="2400" b="1" dirty="0">
              <a:solidFill>
                <a:srgbClr val="F19BFD"/>
              </a:solidFill>
              <a:latin typeface="楷体_GB2312"/>
              <a:ea typeface="楷体_GB2312"/>
            </a:endParaRPr>
          </a:p>
        </p:txBody>
      </p:sp>
      <p:pic>
        <p:nvPicPr>
          <p:cNvPr id="1511428" name="Picture 4" descr="钱可强图8-35 gdf"/>
          <p:cNvPicPr>
            <a:picLocks noChangeAspect="1"/>
          </p:cNvPicPr>
          <p:nvPr/>
        </p:nvPicPr>
        <p:blipFill>
          <a:blip r:embed="rId1"/>
          <a:stretch>
            <a:fillRect/>
          </a:stretch>
        </p:blipFill>
        <p:spPr>
          <a:xfrm>
            <a:off x="539750" y="3644900"/>
            <a:ext cx="7956550" cy="2255838"/>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11428"/>
                                        </p:tgtEl>
                                        <p:attrNameLst>
                                          <p:attrName>style.visibility</p:attrName>
                                        </p:attrNameLst>
                                      </p:cBhvr>
                                      <p:to>
                                        <p:strVal val="visible"/>
                                      </p:to>
                                    </p:set>
                                    <p:animEffect transition="in" filter="wipe(left)">
                                      <p:cBhvr>
                                        <p:cTn id="7" dur="500"/>
                                        <p:tgtEl>
                                          <p:spTgt spid="1511428"/>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Rectangle 2"/>
          <p:cNvSpPr>
            <a:spLocks noGrp="1"/>
          </p:cNvSpPr>
          <p:nvPr>
            <p:ph type="title"/>
          </p:nvPr>
        </p:nvSpPr>
        <p:spPr>
          <a:xfrm>
            <a:off x="2690813" y="44450"/>
            <a:ext cx="5410200" cy="1139825"/>
          </a:xfrm>
          <a:ln/>
        </p:spPr>
        <p:txBody>
          <a:bodyPr vert="horz" wrap="square" lIns="91440" tIns="45720" rIns="91440" bIns="45720" anchor="ctr" anchorCtr="0"/>
          <a:p>
            <a:pPr eaLnBrk="1" hangingPunct="1"/>
            <a:r>
              <a:rPr lang="zh-CN" altLang="en-US" sz="4000" dirty="0">
                <a:ea typeface="楷体_GB2312"/>
              </a:rPr>
              <a:t>切削加工技术经济指标</a:t>
            </a:r>
            <a:endParaRPr lang="zh-CN" altLang="en-US" sz="4000" dirty="0">
              <a:ea typeface="楷体_GB2312"/>
            </a:endParaRPr>
          </a:p>
        </p:txBody>
      </p:sp>
      <p:sp>
        <p:nvSpPr>
          <p:cNvPr id="139266" name="Rectangle 3"/>
          <p:cNvSpPr/>
          <p:nvPr/>
        </p:nvSpPr>
        <p:spPr>
          <a:xfrm>
            <a:off x="250825" y="1341438"/>
            <a:ext cx="4279900" cy="4892675"/>
          </a:xfrm>
          <a:prstGeom prst="rect">
            <a:avLst/>
          </a:prstGeom>
          <a:noFill/>
          <a:ln w="9525">
            <a:noFill/>
          </a:ln>
        </p:spPr>
        <p:txBody>
          <a:bodyPr wrap="square" anchor="t" anchorCtr="0">
            <a:spAutoFit/>
          </a:bodyPr>
          <a:p>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2</a:t>
            </a:r>
            <a:r>
              <a:rPr lang="zh-CN" altLang="en-US" sz="2400" b="1" dirty="0">
                <a:solidFill>
                  <a:srgbClr val="008000"/>
                </a:solidFill>
                <a:latin typeface="楷体_GB2312"/>
                <a:ea typeface="楷体_GB2312"/>
              </a:rPr>
              <a:t>）表面质量</a:t>
            </a:r>
            <a:r>
              <a:rPr lang="zh-CN" altLang="en-US" sz="2400" b="1" dirty="0">
                <a:latin typeface="楷体_GB2312"/>
                <a:ea typeface="楷体_GB2312"/>
              </a:rPr>
              <a:t> </a:t>
            </a:r>
            <a:endParaRPr lang="zh-CN" altLang="en-US" sz="2400" b="1" dirty="0">
              <a:latin typeface="楷体_GB2312"/>
              <a:ea typeface="楷体_GB2312"/>
            </a:endParaRPr>
          </a:p>
          <a:p>
            <a:r>
              <a:rPr lang="zh-CN" altLang="en-US" sz="2400" b="1" dirty="0">
                <a:solidFill>
                  <a:srgbClr val="F19BFD"/>
                </a:solidFill>
                <a:latin typeface="楷体_GB2312"/>
                <a:ea typeface="楷体_GB2312"/>
              </a:rPr>
              <a:t>　　</a:t>
            </a:r>
            <a:r>
              <a:rPr lang="en-US" altLang="zh-CN" sz="2400" b="1" dirty="0">
                <a:solidFill>
                  <a:srgbClr val="000099"/>
                </a:solidFill>
                <a:latin typeface="楷体_GB2312"/>
                <a:ea typeface="楷体_GB2312"/>
              </a:rPr>
              <a:t>b</a:t>
            </a:r>
            <a:r>
              <a:rPr lang="zh-CN" altLang="en-US" sz="2400" b="1" dirty="0">
                <a:solidFill>
                  <a:srgbClr val="000099"/>
                </a:solidFill>
                <a:latin typeface="楷体_GB2312"/>
                <a:ea typeface="楷体_GB2312"/>
              </a:rPr>
              <a:t>．已加工表面的加工硬化和剩余应力</a:t>
            </a:r>
            <a:r>
              <a:rPr lang="zh-CN" altLang="en-US" sz="2400" b="1" dirty="0">
                <a:latin typeface="楷体_GB2312"/>
                <a:ea typeface="楷体_GB2312"/>
              </a:rPr>
              <a:t> 在切削过程中，由于前刀面的推挤以及后刀面的挤压与摩擦，工件已加工表面层的晶粒发生很大的变形，致使其硬度比原来工件材料的硬度有显著提高，称为加工硬化。</a:t>
            </a:r>
            <a:endParaRPr lang="zh-CN" altLang="en-US" sz="2400" b="1" dirty="0">
              <a:latin typeface="楷体_GB2312"/>
              <a:ea typeface="楷体_GB2312"/>
            </a:endParaRPr>
          </a:p>
          <a:p>
            <a:r>
              <a:rPr lang="en-US" altLang="zh-CN" sz="2400" b="1" dirty="0">
                <a:latin typeface="楷体_GB2312"/>
                <a:ea typeface="楷体_GB2312"/>
              </a:rPr>
              <a:t>    </a:t>
            </a:r>
            <a:r>
              <a:rPr lang="zh-CN" altLang="en-US" sz="2400" b="1" dirty="0">
                <a:latin typeface="楷体_GB2312"/>
                <a:ea typeface="楷体_GB2312"/>
              </a:rPr>
              <a:t>对于重要的零件，除限制表面粗糙度外，还要控制其表层加工硬化的程度和深度，以及表层剩余应力的性质和大小。</a:t>
            </a:r>
            <a:endParaRPr lang="en-US" altLang="zh-CN" sz="2400" b="1" dirty="0">
              <a:solidFill>
                <a:srgbClr val="FF0000"/>
              </a:solidFill>
              <a:latin typeface="楷体_GB2312"/>
              <a:ea typeface="楷体_GB2312"/>
            </a:endParaRPr>
          </a:p>
        </p:txBody>
      </p:sp>
      <p:graphicFrame>
        <p:nvGraphicFramePr>
          <p:cNvPr id="139267" name="对象 1"/>
          <p:cNvGraphicFramePr/>
          <p:nvPr/>
        </p:nvGraphicFramePr>
        <p:xfrm>
          <a:off x="4572000" y="1555750"/>
          <a:ext cx="4275138" cy="4848225"/>
        </p:xfrm>
        <a:graphic>
          <a:graphicData uri="http://schemas.openxmlformats.org/presentationml/2006/ole">
            <mc:AlternateContent xmlns:mc="http://schemas.openxmlformats.org/markup-compatibility/2006">
              <mc:Choice xmlns:v="urn:schemas-microsoft-com:vml" Requires="v">
                <p:oleObj spid="_x0000_s3097" name="" r:id="rId1" imgW="3568700" imgH="3473450" progId="Paint.Picture">
                  <p:embed/>
                </p:oleObj>
              </mc:Choice>
              <mc:Fallback>
                <p:oleObj name="" r:id="rId1" imgW="3568700" imgH="3473450" progId="Paint.Picture">
                  <p:embed/>
                  <p:pic>
                    <p:nvPicPr>
                      <p:cNvPr id="0" name="图片 3096"/>
                      <p:cNvPicPr/>
                      <p:nvPr/>
                    </p:nvPicPr>
                    <p:blipFill>
                      <a:blip r:embed="rId2"/>
                      <a:stretch>
                        <a:fillRect/>
                      </a:stretch>
                    </p:blipFill>
                    <p:spPr>
                      <a:xfrm>
                        <a:off x="4572000" y="1555750"/>
                        <a:ext cx="4275138" cy="4848225"/>
                      </a:xfrm>
                      <a:prstGeom prst="rect">
                        <a:avLst/>
                      </a:prstGeom>
                      <a:noFill/>
                      <a:ln w="38100">
                        <a:noFill/>
                        <a:miter/>
                      </a:ln>
                    </p:spPr>
                  </p:pic>
                </p:oleObj>
              </mc:Fallback>
            </mc:AlternateContent>
          </a:graphicData>
        </a:graphic>
      </p:graphicFrame>
    </p:spTree>
  </p:cSld>
  <p:clrMapOvr>
    <a:masterClrMapping/>
  </p:clrMapOvr>
  <p:transition spd="slow">
    <p:randomBar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Rectangle 2"/>
          <p:cNvSpPr/>
          <p:nvPr/>
        </p:nvSpPr>
        <p:spPr>
          <a:xfrm>
            <a:off x="323850" y="1557338"/>
            <a:ext cx="8243888" cy="5084762"/>
          </a:xfrm>
          <a:prstGeom prst="rect">
            <a:avLst/>
          </a:prstGeom>
          <a:noFill/>
          <a:ln w="9525">
            <a:noFill/>
          </a:ln>
        </p:spPr>
        <p:txBody>
          <a:bodyPr anchor="t" anchorCtr="0">
            <a:spAutoFit/>
          </a:bodyPr>
          <a:p>
            <a:r>
              <a:rPr lang="en-US" altLang="zh-CN" sz="2800" b="1" dirty="0">
                <a:solidFill>
                  <a:srgbClr val="FF0000"/>
                </a:solidFill>
                <a:latin typeface="楷体_GB2312"/>
                <a:ea typeface="楷体_GB2312"/>
              </a:rPr>
              <a:t>2</a:t>
            </a:r>
            <a:r>
              <a:rPr lang="zh-CN" altLang="en-US" sz="2800" b="1" dirty="0">
                <a:solidFill>
                  <a:srgbClr val="FF0000"/>
                </a:solidFill>
                <a:latin typeface="楷体_GB2312"/>
                <a:ea typeface="楷体_GB2312"/>
              </a:rPr>
              <a:t>．生产率</a:t>
            </a:r>
            <a:endParaRPr lang="zh-CN" altLang="en-US" sz="2800" b="1" dirty="0">
              <a:solidFill>
                <a:srgbClr val="FF0000"/>
              </a:solidFill>
              <a:latin typeface="楷体_GB2312"/>
              <a:ea typeface="楷体_GB2312"/>
            </a:endParaRPr>
          </a:p>
          <a:p>
            <a:endParaRPr lang="zh-CN" altLang="en-US" sz="2400" b="1" dirty="0">
              <a:solidFill>
                <a:srgbClr val="FF0000"/>
              </a:solidFill>
              <a:latin typeface="楷体_GB2312"/>
              <a:ea typeface="楷体_GB2312"/>
            </a:endParaRPr>
          </a:p>
          <a:p>
            <a:r>
              <a:rPr lang="zh-CN" altLang="en-US" sz="2400" b="1" dirty="0">
                <a:latin typeface="楷体_GB2312"/>
                <a:ea typeface="楷体_GB2312"/>
              </a:rPr>
              <a:t>   单位时间内生产零件的数量表示生产率：</a:t>
            </a:r>
            <a:endParaRPr lang="zh-CN" altLang="en-US" sz="2400" b="1" dirty="0">
              <a:latin typeface="楷体_GB2312"/>
              <a:ea typeface="楷体_GB2312"/>
            </a:endParaRPr>
          </a:p>
          <a:p>
            <a:endParaRPr lang="zh-CN" altLang="en-US" sz="2400" b="1" dirty="0">
              <a:latin typeface="楷体_GB2312"/>
              <a:ea typeface="楷体_GB2312"/>
            </a:endParaRPr>
          </a:p>
          <a:p>
            <a:r>
              <a:rPr lang="zh-CN" altLang="en-US" b="1" dirty="0">
                <a:latin typeface="GreekS" pitchFamily="2"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     </a:t>
            </a:r>
            <a:r>
              <a:rPr lang="en-US" altLang="zh-CN" sz="2400" b="1" i="1" dirty="0">
                <a:solidFill>
                  <a:srgbClr val="000000"/>
                </a:solidFill>
                <a:latin typeface="Times New Roman" panose="02020603050405020304" pitchFamily="18" charset="0"/>
                <a:ea typeface="楷体_GB2312"/>
              </a:rPr>
              <a:t>R</a:t>
            </a:r>
            <a:r>
              <a:rPr lang="en-US" altLang="zh-CN" sz="2400" b="1" i="1" baseline="-25000" dirty="0">
                <a:solidFill>
                  <a:srgbClr val="000000"/>
                </a:solidFill>
                <a:latin typeface="Times New Roman" panose="02020603050405020304" pitchFamily="18" charset="0"/>
                <a:ea typeface="楷体_GB2312"/>
              </a:rPr>
              <a:t>0</a:t>
            </a:r>
            <a:r>
              <a:rPr lang="en-US" altLang="zh-CN" sz="2400" b="1" i="1" baseline="-25000" dirty="0">
                <a:solidFill>
                  <a:srgbClr val="000000"/>
                </a:solidFill>
                <a:latin typeface="楷体_GB2312"/>
                <a:ea typeface="楷体_GB2312"/>
              </a:rPr>
              <a:t> </a:t>
            </a:r>
            <a:r>
              <a:rPr lang="en-US" altLang="zh-CN" sz="2400" b="1" dirty="0">
                <a:solidFill>
                  <a:srgbClr val="000000"/>
                </a:solidFill>
                <a:latin typeface="宋体" panose="02010600030101010101" pitchFamily="2" charset="-122"/>
                <a:ea typeface="楷体_GB2312"/>
              </a:rPr>
              <a:t>—</a:t>
            </a:r>
            <a:r>
              <a:rPr lang="zh-CN" altLang="en-US" sz="2400" b="1" dirty="0">
                <a:solidFill>
                  <a:srgbClr val="000000"/>
                </a:solidFill>
                <a:latin typeface="楷体_GB2312"/>
                <a:ea typeface="楷体_GB2312"/>
              </a:rPr>
              <a:t>生产率，</a:t>
            </a:r>
            <a:r>
              <a:rPr lang="en-US" altLang="zh-CN" sz="2400" b="1" i="1" dirty="0">
                <a:solidFill>
                  <a:srgbClr val="000000"/>
                </a:solidFill>
                <a:latin typeface="Times New Roman" panose="02020603050405020304" pitchFamily="18" charset="0"/>
                <a:ea typeface="楷体_GB2312"/>
              </a:rPr>
              <a:t>t</a:t>
            </a:r>
            <a:r>
              <a:rPr lang="en-US" altLang="zh-CN" sz="2400" b="1" i="1" baseline="-25000" dirty="0">
                <a:solidFill>
                  <a:srgbClr val="000000"/>
                </a:solidFill>
                <a:latin typeface="Times New Roman" panose="02020603050405020304" pitchFamily="18" charset="0"/>
                <a:ea typeface="楷体_GB2312"/>
              </a:rPr>
              <a:t>w</a:t>
            </a:r>
            <a:r>
              <a:rPr lang="en-US" altLang="zh-CN" sz="2400" b="1" dirty="0">
                <a:solidFill>
                  <a:srgbClr val="000000"/>
                </a:solidFill>
                <a:latin typeface="宋体" panose="02010600030101010101" pitchFamily="2" charset="-122"/>
                <a:ea typeface="楷体_GB2312"/>
              </a:rPr>
              <a:t>—</a:t>
            </a:r>
            <a:r>
              <a:rPr lang="zh-CN" altLang="en-US" sz="2400" b="1" dirty="0">
                <a:solidFill>
                  <a:srgbClr val="000000"/>
                </a:solidFill>
                <a:latin typeface="楷体_GB2312"/>
                <a:ea typeface="楷体_GB2312"/>
              </a:rPr>
              <a:t>生产</a:t>
            </a:r>
            <a:r>
              <a:rPr lang="en-US" altLang="zh-CN" sz="2400" b="1" dirty="0">
                <a:solidFill>
                  <a:srgbClr val="000000"/>
                </a:solidFill>
                <a:latin typeface="楷体_GB2312"/>
                <a:ea typeface="楷体_GB2312"/>
              </a:rPr>
              <a:t>1</a:t>
            </a:r>
            <a:r>
              <a:rPr lang="zh-CN" altLang="en-US" sz="2400" b="1" dirty="0">
                <a:solidFill>
                  <a:srgbClr val="000000"/>
                </a:solidFill>
                <a:latin typeface="楷体_GB2312"/>
                <a:ea typeface="楷体_GB2312"/>
              </a:rPr>
              <a:t>个零件所需的总时间。</a:t>
            </a:r>
            <a:endParaRPr lang="zh-CN" altLang="en-US" sz="2400" b="1" dirty="0">
              <a:solidFill>
                <a:srgbClr val="000000"/>
              </a:solidFill>
              <a:latin typeface="楷体_GB2312"/>
              <a:ea typeface="楷体_GB2312"/>
            </a:endParaRPr>
          </a:p>
          <a:p>
            <a:endParaRPr lang="zh-CN" altLang="en-US" sz="2400" b="1" dirty="0">
              <a:solidFill>
                <a:srgbClr val="000000"/>
              </a:solidFill>
              <a:latin typeface="楷体_GB2312"/>
              <a:ea typeface="楷体_GB2312"/>
            </a:endParaRPr>
          </a:p>
          <a:p>
            <a:r>
              <a:rPr lang="zh-CN" altLang="en-US" b="1" dirty="0">
                <a:latin typeface="GreekS" pitchFamily="2" charset="0"/>
                <a:ea typeface="宋体" panose="02010600030101010101" pitchFamily="2" charset="-122"/>
              </a:rPr>
              <a:t>       </a:t>
            </a:r>
            <a:r>
              <a:rPr lang="zh-CN" altLang="en-US" sz="2400" b="1" dirty="0">
                <a:latin typeface="GreekS" pitchFamily="2" charset="0"/>
                <a:ea typeface="楷体_GB2312"/>
              </a:rPr>
              <a:t>加工一个零件所需要的总时间由三部分组成</a:t>
            </a:r>
            <a:r>
              <a:rPr lang="zh-CN" altLang="en-US" b="1" dirty="0">
                <a:latin typeface="GreekS" pitchFamily="2" charset="0"/>
                <a:ea typeface="宋体" panose="02010600030101010101" pitchFamily="2" charset="-122"/>
              </a:rPr>
              <a:t>：</a:t>
            </a:r>
            <a:endParaRPr lang="zh-CN" altLang="en-US" b="1" dirty="0">
              <a:latin typeface="GreekS" pitchFamily="2" charset="0"/>
              <a:ea typeface="宋体" panose="02010600030101010101" pitchFamily="2" charset="-122"/>
            </a:endParaRPr>
          </a:p>
          <a:p>
            <a:endParaRPr lang="zh-CN" altLang="en-US" b="1" dirty="0">
              <a:latin typeface="GreekS" pitchFamily="2" charset="0"/>
              <a:ea typeface="宋体" panose="02010600030101010101" pitchFamily="2" charset="-122"/>
            </a:endParaRPr>
          </a:p>
          <a:p>
            <a:r>
              <a:rPr lang="zh-CN"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t</a:t>
            </a:r>
            <a:r>
              <a:rPr lang="en-US" altLang="zh-CN" sz="2400" b="1" i="1" baseline="-25000" dirty="0">
                <a:latin typeface="Times New Roman" panose="02020603050405020304" pitchFamily="18" charset="0"/>
                <a:ea typeface="宋体" panose="02010600030101010101" pitchFamily="2" charset="-122"/>
              </a:rPr>
              <a:t>w</a:t>
            </a:r>
            <a:r>
              <a:rPr lang="en-US" altLang="zh-CN" sz="2400" b="1" i="1" dirty="0">
                <a:latin typeface="Times New Roman" panose="02020603050405020304" pitchFamily="18" charset="0"/>
                <a:ea typeface="宋体" panose="02010600030101010101" pitchFamily="2" charset="-122"/>
              </a:rPr>
              <a:t> = t</a:t>
            </a:r>
            <a:r>
              <a:rPr lang="en-US" altLang="zh-CN" sz="2400" b="1" i="1" baseline="-25000" dirty="0">
                <a:latin typeface="Times New Roman" panose="02020603050405020304" pitchFamily="18" charset="0"/>
                <a:ea typeface="宋体" panose="02010600030101010101" pitchFamily="2" charset="-122"/>
              </a:rPr>
              <a:t>m</a:t>
            </a:r>
            <a:r>
              <a:rPr lang="en-US" altLang="zh-CN" sz="2400" b="1" i="1" dirty="0">
                <a:latin typeface="Times New Roman" panose="02020603050405020304" pitchFamily="18" charset="0"/>
                <a:ea typeface="宋体" panose="02010600030101010101" pitchFamily="2" charset="-122"/>
              </a:rPr>
              <a:t> + t</a:t>
            </a:r>
            <a:r>
              <a:rPr lang="en-US" altLang="zh-CN" sz="2400" b="1" i="1" baseline="-25000" dirty="0">
                <a:latin typeface="Times New Roman" panose="02020603050405020304" pitchFamily="18" charset="0"/>
                <a:ea typeface="宋体" panose="02010600030101010101" pitchFamily="2" charset="-122"/>
              </a:rPr>
              <a:t>c</a:t>
            </a:r>
            <a:r>
              <a:rPr lang="en-US" altLang="zh-CN" sz="2400" b="1" i="1" dirty="0">
                <a:latin typeface="Times New Roman" panose="02020603050405020304" pitchFamily="18" charset="0"/>
                <a:ea typeface="宋体" panose="02010600030101010101" pitchFamily="2" charset="-122"/>
              </a:rPr>
              <a:t> +t</a:t>
            </a:r>
            <a:r>
              <a:rPr lang="en-US" altLang="zh-CN" sz="2400" b="1" i="1" baseline="-25000" dirty="0">
                <a:latin typeface="Times New Roman" panose="02020603050405020304" pitchFamily="18" charset="0"/>
                <a:ea typeface="宋体" panose="02010600030101010101" pitchFamily="2" charset="-122"/>
              </a:rPr>
              <a:t>0</a:t>
            </a:r>
            <a:endParaRPr lang="en-US" altLang="zh-CN" sz="2400" b="1" i="1" baseline="-25000" dirty="0">
              <a:latin typeface="Times New Roman" panose="02020603050405020304" pitchFamily="18" charset="0"/>
              <a:ea typeface="宋体" panose="02010600030101010101" pitchFamily="2" charset="-122"/>
            </a:endParaRPr>
          </a:p>
          <a:p>
            <a:endParaRPr lang="en-US" altLang="zh-CN" b="1" i="1" dirty="0">
              <a:solidFill>
                <a:schemeClr val="hlink"/>
              </a:solidFill>
              <a:latin typeface="Century" panose="02040604050505020304" pitchFamily="18" charset="0"/>
              <a:ea typeface="宋体" panose="02010600030101010101" pitchFamily="2" charset="-122"/>
            </a:endParaRPr>
          </a:p>
          <a:p>
            <a:r>
              <a:rPr lang="en-US" altLang="zh-CN" sz="2400" b="1" i="1" dirty="0">
                <a:solidFill>
                  <a:srgbClr val="000099"/>
                </a:solidFill>
                <a:latin typeface="Times New Roman" panose="02020603050405020304" pitchFamily="18" charset="0"/>
                <a:ea typeface="楷体_GB2312"/>
              </a:rPr>
              <a:t>     t</a:t>
            </a:r>
            <a:r>
              <a:rPr lang="en-US" altLang="zh-CN" sz="2400" b="1" i="1" baseline="-25000" dirty="0">
                <a:solidFill>
                  <a:srgbClr val="000099"/>
                </a:solidFill>
                <a:latin typeface="Times New Roman" panose="02020603050405020304" pitchFamily="18" charset="0"/>
                <a:ea typeface="楷体_GB2312"/>
              </a:rPr>
              <a:t>m</a:t>
            </a:r>
            <a:r>
              <a:rPr lang="en-US" altLang="zh-CN" sz="2400" b="1" i="1" baseline="-25000" dirty="0">
                <a:solidFill>
                  <a:srgbClr val="000099"/>
                </a:solidFill>
                <a:latin typeface="楷体_GB2312"/>
                <a:ea typeface="楷体_GB2312"/>
              </a:rPr>
              <a:t> </a:t>
            </a:r>
            <a:r>
              <a:rPr lang="en-US" altLang="zh-CN" sz="2400" b="1" dirty="0">
                <a:solidFill>
                  <a:srgbClr val="000099"/>
                </a:solidFill>
                <a:latin typeface="宋体" panose="02010600030101010101" pitchFamily="2" charset="-122"/>
                <a:ea typeface="楷体_GB2312"/>
              </a:rPr>
              <a:t>—</a:t>
            </a:r>
            <a:r>
              <a:rPr lang="zh-CN" altLang="en-US" sz="2400" b="1" dirty="0">
                <a:solidFill>
                  <a:srgbClr val="000099"/>
                </a:solidFill>
                <a:latin typeface="楷体_GB2312"/>
                <a:ea typeface="楷体_GB2312"/>
              </a:rPr>
              <a:t>基本工艺时间，</a:t>
            </a:r>
            <a:r>
              <a:rPr lang="en-US" altLang="zh-CN" sz="2400" b="1" i="1" dirty="0">
                <a:solidFill>
                  <a:srgbClr val="000099"/>
                </a:solidFill>
                <a:latin typeface="Times New Roman" panose="02020603050405020304" pitchFamily="18" charset="0"/>
                <a:ea typeface="楷体_GB2312"/>
              </a:rPr>
              <a:t>t</a:t>
            </a:r>
            <a:r>
              <a:rPr lang="en-US" altLang="zh-CN" sz="2400" b="1" i="1" baseline="-25000" dirty="0">
                <a:solidFill>
                  <a:srgbClr val="000099"/>
                </a:solidFill>
                <a:latin typeface="Times New Roman" panose="02020603050405020304" pitchFamily="18" charset="0"/>
                <a:ea typeface="楷体_GB2312"/>
              </a:rPr>
              <a:t>c</a:t>
            </a:r>
            <a:r>
              <a:rPr lang="en-US" altLang="zh-CN" sz="2400" b="1" dirty="0">
                <a:solidFill>
                  <a:srgbClr val="000099"/>
                </a:solidFill>
                <a:latin typeface="宋体" panose="02010600030101010101" pitchFamily="2" charset="-122"/>
                <a:ea typeface="楷体_GB2312"/>
              </a:rPr>
              <a:t>—</a:t>
            </a:r>
            <a:r>
              <a:rPr lang="zh-CN" altLang="en-US" sz="2400" b="1" dirty="0">
                <a:solidFill>
                  <a:srgbClr val="000099"/>
                </a:solidFill>
                <a:latin typeface="楷体_GB2312"/>
                <a:ea typeface="楷体_GB2312"/>
              </a:rPr>
              <a:t>辅助时间，</a:t>
            </a:r>
            <a:r>
              <a:rPr lang="zh-CN" altLang="en-US" sz="2400" b="1" i="1" dirty="0">
                <a:solidFill>
                  <a:srgbClr val="000099"/>
                </a:solidFill>
                <a:latin typeface="楷体_GB2312"/>
                <a:ea typeface="楷体_GB2312"/>
              </a:rPr>
              <a:t> </a:t>
            </a:r>
            <a:r>
              <a:rPr lang="en-US" altLang="zh-CN" sz="2400" b="1" i="1" dirty="0">
                <a:solidFill>
                  <a:srgbClr val="000099"/>
                </a:solidFill>
                <a:latin typeface="Times New Roman" panose="02020603050405020304" pitchFamily="18" charset="0"/>
                <a:ea typeface="楷体_GB2312"/>
              </a:rPr>
              <a:t>t</a:t>
            </a:r>
            <a:r>
              <a:rPr lang="en-US" altLang="zh-CN" sz="2400" b="1" i="1" baseline="-25000" dirty="0">
                <a:solidFill>
                  <a:srgbClr val="000099"/>
                </a:solidFill>
                <a:latin typeface="Times New Roman" panose="02020603050405020304" pitchFamily="18" charset="0"/>
                <a:ea typeface="楷体_GB2312"/>
              </a:rPr>
              <a:t>0</a:t>
            </a:r>
            <a:r>
              <a:rPr lang="en-US" altLang="zh-CN" sz="2400" b="1" dirty="0">
                <a:solidFill>
                  <a:srgbClr val="000099"/>
                </a:solidFill>
                <a:latin typeface="宋体" panose="02010600030101010101" pitchFamily="2" charset="-122"/>
                <a:ea typeface="楷体_GB2312"/>
              </a:rPr>
              <a:t>—</a:t>
            </a:r>
            <a:r>
              <a:rPr lang="zh-CN" altLang="en-US" sz="2400" b="1" dirty="0">
                <a:solidFill>
                  <a:srgbClr val="000099"/>
                </a:solidFill>
                <a:latin typeface="楷体_GB2312"/>
                <a:ea typeface="楷体_GB2312"/>
              </a:rPr>
              <a:t>其他时间。</a:t>
            </a:r>
            <a:endParaRPr lang="zh-CN" altLang="en-US" sz="2400" b="1" dirty="0">
              <a:solidFill>
                <a:srgbClr val="000099"/>
              </a:solidFill>
              <a:latin typeface="楷体_GB2312"/>
              <a:ea typeface="楷体_GB2312"/>
            </a:endParaRPr>
          </a:p>
          <a:p>
            <a:endParaRPr lang="zh-CN" altLang="en-US" sz="2400" b="1" dirty="0">
              <a:solidFill>
                <a:srgbClr val="008000"/>
              </a:solidFill>
              <a:latin typeface="楷体_GB2312"/>
              <a:ea typeface="楷体_GB2312"/>
            </a:endParaRPr>
          </a:p>
          <a:p>
            <a:r>
              <a:rPr lang="zh-CN" altLang="en-US" sz="2400" b="1" dirty="0">
                <a:latin typeface="GreekS" pitchFamily="2" charset="0"/>
                <a:ea typeface="楷体_GB2312"/>
              </a:rPr>
              <a:t>    生产率可表示为：</a:t>
            </a:r>
            <a:endParaRPr lang="zh-CN" altLang="en-US" sz="2400" b="1" dirty="0">
              <a:latin typeface="GreekS" pitchFamily="2" charset="0"/>
              <a:ea typeface="楷体_GB2312"/>
            </a:endParaRPr>
          </a:p>
          <a:p>
            <a:endParaRPr lang="en-US" altLang="zh-CN" sz="2400" b="1" dirty="0">
              <a:latin typeface="GreekS" pitchFamily="2" charset="0"/>
              <a:ea typeface="楷体_GB2312"/>
            </a:endParaRPr>
          </a:p>
        </p:txBody>
      </p:sp>
      <p:sp>
        <p:nvSpPr>
          <p:cNvPr id="141314" name="Rectangle 3"/>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切削加工技术经济指标</a:t>
            </a:r>
            <a:endParaRPr lang="zh-CN" altLang="en-US" sz="4000" dirty="0">
              <a:ea typeface="楷体_GB2312"/>
            </a:endParaRPr>
          </a:p>
        </p:txBody>
      </p:sp>
      <p:graphicFrame>
        <p:nvGraphicFramePr>
          <p:cNvPr id="141315" name="Object 4"/>
          <p:cNvGraphicFramePr>
            <a:graphicFrameLocks noGrp="1" noChangeAspect="1"/>
          </p:cNvGraphicFramePr>
          <p:nvPr>
            <p:ph sz="half" idx="1"/>
          </p:nvPr>
        </p:nvGraphicFramePr>
        <p:xfrm>
          <a:off x="6686550" y="2060575"/>
          <a:ext cx="1125538" cy="942975"/>
        </p:xfrm>
        <a:graphic>
          <a:graphicData uri="http://schemas.openxmlformats.org/presentationml/2006/ole">
            <mc:AlternateContent xmlns:mc="http://schemas.openxmlformats.org/markup-compatibility/2006">
              <mc:Choice xmlns:v="urn:schemas-microsoft-com:vml" Requires="v">
                <p:oleObj spid="_x0000_s3095" name="" r:id="rId1" imgW="469900" imgH="393700" progId="Equation.3">
                  <p:embed/>
                </p:oleObj>
              </mc:Choice>
              <mc:Fallback>
                <p:oleObj name="" r:id="rId1" imgW="469900" imgH="393700" progId="Equation.3">
                  <p:embed/>
                  <p:pic>
                    <p:nvPicPr>
                      <p:cNvPr id="0" name="图片 3094"/>
                      <p:cNvPicPr/>
                      <p:nvPr/>
                    </p:nvPicPr>
                    <p:blipFill>
                      <a:blip r:embed="rId2"/>
                      <a:stretch>
                        <a:fillRect/>
                      </a:stretch>
                    </p:blipFill>
                    <p:spPr>
                      <a:xfrm>
                        <a:off x="6686550" y="2060575"/>
                        <a:ext cx="1125538" cy="942975"/>
                      </a:xfrm>
                      <a:prstGeom prst="rect">
                        <a:avLst/>
                      </a:prstGeom>
                      <a:noFill/>
                      <a:ln w="38100">
                        <a:miter/>
                      </a:ln>
                    </p:spPr>
                  </p:pic>
                </p:oleObj>
              </mc:Fallback>
            </mc:AlternateContent>
          </a:graphicData>
        </a:graphic>
      </p:graphicFrame>
      <p:graphicFrame>
        <p:nvGraphicFramePr>
          <p:cNvPr id="141316" name="Object 5"/>
          <p:cNvGraphicFramePr>
            <a:graphicFrameLocks noGrp="1" noChangeAspect="1"/>
          </p:cNvGraphicFramePr>
          <p:nvPr>
            <p:ph sz="half" idx="2"/>
          </p:nvPr>
        </p:nvGraphicFramePr>
        <p:xfrm>
          <a:off x="3557588" y="5568950"/>
          <a:ext cx="2454275" cy="1028700"/>
        </p:xfrm>
        <a:graphic>
          <a:graphicData uri="http://schemas.openxmlformats.org/presentationml/2006/ole">
            <mc:AlternateContent xmlns:mc="http://schemas.openxmlformats.org/markup-compatibility/2006">
              <mc:Choice xmlns:v="urn:schemas-microsoft-com:vml" Requires="v">
                <p:oleObj spid="_x0000_s3096" name="" r:id="rId3" imgW="939800" imgH="393700" progId="Equation.3">
                  <p:embed/>
                </p:oleObj>
              </mc:Choice>
              <mc:Fallback>
                <p:oleObj name="" r:id="rId3" imgW="939800" imgH="393700" progId="Equation.3">
                  <p:embed/>
                  <p:pic>
                    <p:nvPicPr>
                      <p:cNvPr id="0" name="图片 3095"/>
                      <p:cNvPicPr/>
                      <p:nvPr/>
                    </p:nvPicPr>
                    <p:blipFill>
                      <a:blip r:embed="rId4"/>
                      <a:stretch>
                        <a:fillRect/>
                      </a:stretch>
                    </p:blipFill>
                    <p:spPr>
                      <a:xfrm>
                        <a:off x="3557588" y="5568950"/>
                        <a:ext cx="2454275" cy="1028700"/>
                      </a:xfrm>
                      <a:prstGeom prst="rect">
                        <a:avLst/>
                      </a:prstGeom>
                      <a:noFill/>
                      <a:ln w="38100">
                        <a:miter/>
                      </a:ln>
                    </p:spPr>
                  </p:pic>
                </p:oleObj>
              </mc:Fallback>
            </mc:AlternateContent>
          </a:graphicData>
        </a:graphic>
      </p:graphicFrame>
    </p:spTree>
  </p:cSld>
  <p:clrMapOvr>
    <a:masterClrMapping/>
  </p:clrMapOvr>
  <p:transition spd="slow">
    <p:randomBar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Rectangle 2"/>
          <p:cNvSpPr>
            <a:spLocks noGrp="1"/>
          </p:cNvSpPr>
          <p:nvPr>
            <p:ph type="title"/>
          </p:nvPr>
        </p:nvSpPr>
        <p:spPr>
          <a:xfrm>
            <a:off x="3049588" y="57150"/>
            <a:ext cx="5051425" cy="1139825"/>
          </a:xfrm>
          <a:ln/>
        </p:spPr>
        <p:txBody>
          <a:bodyPr vert="horz" wrap="square" lIns="91440" tIns="45720" rIns="91440" bIns="45720" anchor="ctr" anchorCtr="0"/>
          <a:p>
            <a:pPr eaLnBrk="1" hangingPunct="1"/>
            <a:r>
              <a:rPr lang="zh-CN" altLang="en-US" sz="4000" dirty="0">
                <a:ea typeface="楷体_GB2312"/>
              </a:rPr>
              <a:t>切削用量的选择原则</a:t>
            </a:r>
            <a:endParaRPr lang="zh-CN" altLang="en-US" sz="4000" dirty="0">
              <a:ea typeface="楷体_GB2312"/>
            </a:endParaRPr>
          </a:p>
        </p:txBody>
      </p:sp>
      <p:sp>
        <p:nvSpPr>
          <p:cNvPr id="143362" name="Rectangle 3"/>
          <p:cNvSpPr/>
          <p:nvPr/>
        </p:nvSpPr>
        <p:spPr>
          <a:xfrm>
            <a:off x="209550" y="1393825"/>
            <a:ext cx="8610600" cy="2492375"/>
          </a:xfrm>
          <a:prstGeom prst="rect">
            <a:avLst/>
          </a:prstGeom>
          <a:noFill/>
          <a:ln w="9525">
            <a:noFill/>
          </a:ln>
        </p:spPr>
        <p:txBody>
          <a:bodyPr anchor="t" anchorCtr="0">
            <a:spAutoFit/>
          </a:bodyPr>
          <a:p>
            <a:pPr>
              <a:spcBef>
                <a:spcPct val="50000"/>
              </a:spcBef>
            </a:pPr>
            <a:r>
              <a:rPr lang="en-US" altLang="zh-CN" sz="2400" b="1" dirty="0">
                <a:solidFill>
                  <a:srgbClr val="008000"/>
                </a:solidFill>
                <a:latin typeface="楷体_GB2312"/>
                <a:ea typeface="楷体_GB2312"/>
              </a:rPr>
              <a:t>1. </a:t>
            </a:r>
            <a:r>
              <a:rPr lang="zh-CN" altLang="en-US" sz="2400" b="1" dirty="0">
                <a:solidFill>
                  <a:srgbClr val="008000"/>
                </a:solidFill>
                <a:latin typeface="楷体_GB2312"/>
                <a:ea typeface="楷体_GB2312"/>
              </a:rPr>
              <a:t>选择切削用量的一般原则</a:t>
            </a:r>
            <a:r>
              <a:rPr lang="zh-CN" altLang="en-US" sz="2400" b="1" dirty="0">
                <a:latin typeface="楷体_GB2312"/>
                <a:ea typeface="楷体_GB2312"/>
              </a:rPr>
              <a:t> </a:t>
            </a:r>
            <a:endParaRPr lang="zh-CN" altLang="en-US" sz="2400" b="1" dirty="0">
              <a:latin typeface="楷体_GB2312"/>
              <a:ea typeface="楷体_GB2312"/>
            </a:endParaRPr>
          </a:p>
          <a:p>
            <a:pPr>
              <a:spcBef>
                <a:spcPct val="50000"/>
              </a:spcBef>
            </a:pPr>
            <a:r>
              <a:rPr lang="zh-CN" altLang="en-US" sz="2400" b="1" dirty="0">
                <a:solidFill>
                  <a:srgbClr val="FB9E97"/>
                </a:solidFill>
                <a:latin typeface="楷体_GB2312"/>
                <a:ea typeface="楷体_GB2312"/>
              </a:rPr>
              <a:t>   </a:t>
            </a:r>
            <a:r>
              <a:rPr lang="zh-CN" altLang="en-US" sz="2400" b="1" dirty="0">
                <a:solidFill>
                  <a:srgbClr val="FF0000"/>
                </a:solidFill>
                <a:latin typeface="楷体_GB2312"/>
                <a:ea typeface="楷体_GB2312"/>
              </a:rPr>
              <a:t>（</a:t>
            </a:r>
            <a:r>
              <a:rPr lang="en-US" altLang="zh-CN" sz="2400" b="1" dirty="0">
                <a:solidFill>
                  <a:srgbClr val="FF0000"/>
                </a:solidFill>
                <a:latin typeface="楷体_GB2312"/>
                <a:ea typeface="楷体_GB2312"/>
              </a:rPr>
              <a:t>1</a:t>
            </a:r>
            <a:r>
              <a:rPr lang="zh-CN" altLang="en-US" sz="2400" b="1" dirty="0">
                <a:solidFill>
                  <a:srgbClr val="FF0000"/>
                </a:solidFill>
                <a:latin typeface="楷体_GB2312"/>
                <a:ea typeface="楷体_GB2312"/>
              </a:rPr>
              <a:t>）对加工质量的影响</a:t>
            </a:r>
            <a:r>
              <a:rPr lang="zh-CN" altLang="en-US" sz="2400" b="1" dirty="0">
                <a:latin typeface="楷体_GB2312"/>
                <a:ea typeface="楷体_GB2312"/>
              </a:rPr>
              <a:t> 切削用量三要素中</a:t>
            </a:r>
            <a:r>
              <a:rPr lang="zh-CN" altLang="en-US" sz="2400" b="1" dirty="0">
                <a:solidFill>
                  <a:srgbClr val="000099"/>
                </a:solidFill>
                <a:latin typeface="楷体_GB2312"/>
                <a:ea typeface="楷体_GB2312"/>
              </a:rPr>
              <a:t>背吃刀量和进给量增大，都会使切削力和工件变形增大，并可能引起振动，降低加工精度和增大表面粗糙度</a:t>
            </a:r>
            <a:r>
              <a:rPr lang="en-US" altLang="zh-CN" sz="2400" b="1" i="1" dirty="0">
                <a:solidFill>
                  <a:srgbClr val="000099"/>
                </a:solidFill>
                <a:latin typeface="Times New Roman" panose="02020603050405020304" pitchFamily="18" charset="0"/>
                <a:ea typeface="楷体_GB2312"/>
              </a:rPr>
              <a:t>R</a:t>
            </a:r>
            <a:r>
              <a:rPr lang="en-US" altLang="zh-CN" sz="2400" b="1" i="1" baseline="-25000" dirty="0">
                <a:solidFill>
                  <a:srgbClr val="000099"/>
                </a:solidFill>
                <a:latin typeface="Times New Roman" panose="02020603050405020304" pitchFamily="18" charset="0"/>
                <a:ea typeface="楷体_GB2312"/>
              </a:rPr>
              <a:t>a</a:t>
            </a:r>
            <a:r>
              <a:rPr lang="zh-CN" altLang="en-US" sz="2400" b="1" dirty="0">
                <a:solidFill>
                  <a:srgbClr val="000099"/>
                </a:solidFill>
                <a:latin typeface="楷体_GB2312"/>
                <a:ea typeface="楷体_GB2312"/>
              </a:rPr>
              <a:t>值。</a:t>
            </a:r>
            <a:r>
              <a:rPr lang="zh-CN" altLang="en-US" sz="2400" b="1" dirty="0">
                <a:latin typeface="楷体_GB2312"/>
                <a:ea typeface="楷体_GB2312"/>
              </a:rPr>
              <a:t>进给量增大还会使残留面积的高度显著增大，表面更加粗糙。切削速度增大时，切削力减小，并可减小或避免积屑瘤，有利于加工质量的提高。</a:t>
            </a:r>
            <a:endParaRPr lang="zh-CN" altLang="en-US" sz="2400" b="1" dirty="0">
              <a:latin typeface="楷体_GB2312"/>
              <a:ea typeface="楷体_GB2312"/>
            </a:endParaRPr>
          </a:p>
        </p:txBody>
      </p:sp>
      <p:grpSp>
        <p:nvGrpSpPr>
          <p:cNvPr id="143363" name="Group 4"/>
          <p:cNvGrpSpPr/>
          <p:nvPr/>
        </p:nvGrpSpPr>
        <p:grpSpPr>
          <a:xfrm>
            <a:off x="1331913" y="3879850"/>
            <a:ext cx="6461125" cy="2922588"/>
            <a:chOff x="1557" y="2614"/>
            <a:chExt cx="2638" cy="1451"/>
          </a:xfrm>
        </p:grpSpPr>
        <p:grpSp>
          <p:nvGrpSpPr>
            <p:cNvPr id="143364" name="Group 5"/>
            <p:cNvGrpSpPr/>
            <p:nvPr/>
          </p:nvGrpSpPr>
          <p:grpSpPr>
            <a:xfrm>
              <a:off x="1557" y="2617"/>
              <a:ext cx="2638" cy="1438"/>
              <a:chOff x="1557" y="2617"/>
              <a:chExt cx="2638" cy="1438"/>
            </a:xfrm>
          </p:grpSpPr>
          <p:pic>
            <p:nvPicPr>
              <p:cNvPr id="143365" name="Picture 6"/>
              <p:cNvPicPr>
                <a:picLocks noChangeAspect="1"/>
              </p:cNvPicPr>
              <p:nvPr/>
            </p:nvPicPr>
            <p:blipFill>
              <a:blip r:embed="rId1"/>
              <a:stretch>
                <a:fillRect/>
              </a:stretch>
            </p:blipFill>
            <p:spPr>
              <a:xfrm>
                <a:off x="1557" y="2617"/>
                <a:ext cx="2638" cy="1438"/>
              </a:xfrm>
              <a:prstGeom prst="rect">
                <a:avLst/>
              </a:prstGeom>
              <a:noFill/>
              <a:ln w="9525">
                <a:noFill/>
              </a:ln>
            </p:spPr>
          </p:pic>
          <p:sp>
            <p:nvSpPr>
              <p:cNvPr id="143366" name="Rectangle 7"/>
              <p:cNvSpPr/>
              <p:nvPr/>
            </p:nvSpPr>
            <p:spPr>
              <a:xfrm>
                <a:off x="1702" y="3748"/>
                <a:ext cx="2148" cy="183"/>
              </a:xfrm>
              <a:prstGeom prst="rect">
                <a:avLst/>
              </a:prstGeom>
              <a:solidFill>
                <a:srgbClr val="FFFFFF"/>
              </a:solidFill>
              <a:ln w="9525">
                <a:noFill/>
              </a:ln>
            </p:spPr>
            <p:txBody>
              <a:bodyPr wrap="square" anchor="t" anchorCtr="0">
                <a:spAutoFit/>
              </a:bodyPr>
              <a:p>
                <a:r>
                  <a:rPr lang="en-US" altLang="zh-CN" b="1" dirty="0">
                    <a:latin typeface="楷体_GB2312"/>
                    <a:ea typeface="楷体_GB2312"/>
                  </a:rPr>
                  <a:t>   </a:t>
                </a:r>
                <a:r>
                  <a:rPr lang="zh-CN" altLang="en-US" b="1" dirty="0">
                    <a:latin typeface="楷体_GB2312"/>
                    <a:ea typeface="楷体_GB2312"/>
                  </a:rPr>
                  <a:t>图 进给量对残留面积的影响</a:t>
                </a:r>
                <a:endParaRPr lang="zh-CN" altLang="en-US" b="1" dirty="0">
                  <a:latin typeface="楷体_GB2312"/>
                  <a:ea typeface="楷体_GB2312"/>
                </a:endParaRPr>
              </a:p>
            </p:txBody>
          </p:sp>
        </p:grpSp>
        <p:sp>
          <p:nvSpPr>
            <p:cNvPr id="143367" name="Rectangle 8"/>
            <p:cNvSpPr/>
            <p:nvPr/>
          </p:nvSpPr>
          <p:spPr>
            <a:xfrm>
              <a:off x="1565" y="2614"/>
              <a:ext cx="2630" cy="1451"/>
            </a:xfrm>
            <a:prstGeom prst="rect">
              <a:avLst/>
            </a:prstGeom>
            <a:noFill/>
            <a:ln w="9525" cap="flat" cmpd="sng">
              <a:solidFill>
                <a:srgbClr val="FF3300"/>
              </a:solidFill>
              <a:prstDash val="solid"/>
              <a:miter/>
              <a:headEnd type="none" w="med" len="med"/>
              <a:tailEnd type="none" w="med" len="med"/>
            </a:ln>
          </p:spPr>
          <p:txBody>
            <a:bodyPr wrap="none" anchor="ctr" anchorCtr="0"/>
            <a:p>
              <a:pPr algn="ctr"/>
              <a:endParaRPr lang="zh-CN" altLang="zh-CN" dirty="0">
                <a:solidFill>
                  <a:srgbClr val="FF3300"/>
                </a:solidFill>
                <a:latin typeface="Arial" panose="020B0604020202020204" pitchFamily="34" charset="0"/>
                <a:ea typeface="宋体" panose="02010600030101010101" pitchFamily="2" charset="-122"/>
              </a:endParaRPr>
            </a:p>
          </p:txBody>
        </p:sp>
      </p:grpSp>
      <p:sp>
        <p:nvSpPr>
          <p:cNvPr id="9" name="五角星 8"/>
          <p:cNvSpPr/>
          <p:nvPr/>
        </p:nvSpPr>
        <p:spPr>
          <a:xfrm>
            <a:off x="2643188" y="1071563"/>
            <a:ext cx="500063" cy="428625"/>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randomBar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Rectangle 2"/>
          <p:cNvSpPr/>
          <p:nvPr/>
        </p:nvSpPr>
        <p:spPr>
          <a:xfrm>
            <a:off x="0" y="1628775"/>
            <a:ext cx="8856663" cy="4708525"/>
          </a:xfrm>
          <a:prstGeom prst="rect">
            <a:avLst/>
          </a:prstGeom>
          <a:noFill/>
          <a:ln w="9525">
            <a:noFill/>
          </a:ln>
        </p:spPr>
        <p:txBody>
          <a:bodyPr anchor="t" anchorCtr="0">
            <a:spAutoFit/>
          </a:bodyPr>
          <a:p>
            <a:pPr>
              <a:spcBef>
                <a:spcPct val="50000"/>
              </a:spcBef>
            </a:pPr>
            <a:r>
              <a:rPr lang="zh-CN" altLang="en-US" sz="2400" b="1" dirty="0">
                <a:solidFill>
                  <a:srgbClr val="FF0000"/>
                </a:solidFill>
                <a:latin typeface="楷体_GB2312"/>
                <a:ea typeface="楷体_GB2312"/>
              </a:rPr>
              <a:t>（</a:t>
            </a:r>
            <a:r>
              <a:rPr lang="en-US" altLang="zh-CN" sz="2400" b="1" dirty="0">
                <a:solidFill>
                  <a:srgbClr val="FF0000"/>
                </a:solidFill>
                <a:latin typeface="楷体_GB2312"/>
                <a:ea typeface="楷体_GB2312"/>
              </a:rPr>
              <a:t>2</a:t>
            </a:r>
            <a:r>
              <a:rPr lang="zh-CN" altLang="en-US" sz="2400" b="1" dirty="0">
                <a:solidFill>
                  <a:srgbClr val="FF0000"/>
                </a:solidFill>
                <a:latin typeface="楷体_GB2312"/>
                <a:ea typeface="楷体_GB2312"/>
              </a:rPr>
              <a:t>）对生产率的影响</a:t>
            </a:r>
            <a:r>
              <a:rPr lang="zh-CN" altLang="en-US" sz="2400" b="1" dirty="0">
                <a:latin typeface="楷体_GB2312"/>
                <a:ea typeface="楷体_GB2312"/>
              </a:rPr>
              <a:t> 由基本工艺时间公式 </a:t>
            </a:r>
            <a:r>
              <a:rPr lang="zh-CN" altLang="en-US" sz="2400" b="1" dirty="0">
                <a:solidFill>
                  <a:srgbClr val="FF0000"/>
                </a:solidFill>
                <a:latin typeface="楷体_GB2312"/>
                <a:ea typeface="楷体_GB2312"/>
              </a:rPr>
              <a:t>             </a:t>
            </a:r>
            <a:r>
              <a:rPr lang="zh-CN" altLang="en-US" sz="2400" b="1" dirty="0">
                <a:latin typeface="楷体_GB2312"/>
                <a:ea typeface="楷体_GB2312"/>
              </a:rPr>
              <a:t>   可知</a:t>
            </a:r>
            <a:r>
              <a:rPr lang="en-US" altLang="zh-CN" sz="2400" b="1" dirty="0">
                <a:latin typeface="楷体_GB2312"/>
                <a:ea typeface="楷体_GB2312"/>
              </a:rPr>
              <a:t>,</a:t>
            </a:r>
            <a:r>
              <a:rPr lang="zh-CN" altLang="en-US" sz="2400" b="1" dirty="0">
                <a:latin typeface="楷体_GB2312"/>
                <a:ea typeface="楷体_GB2312"/>
              </a:rPr>
              <a:t>切削用量三要素</a:t>
            </a:r>
            <a:r>
              <a:rPr lang="en-US" altLang="zh-CN" sz="2400" b="1" i="1" dirty="0">
                <a:latin typeface="Times New Roman" panose="02020603050405020304" pitchFamily="18" charset="0"/>
                <a:ea typeface="楷体_GB2312"/>
              </a:rPr>
              <a:t>v</a:t>
            </a:r>
            <a:r>
              <a:rPr lang="en-US" altLang="zh-CN" sz="2400" b="1" baseline="-25000" dirty="0">
                <a:latin typeface="Times New Roman" panose="02020603050405020304" pitchFamily="18" charset="0"/>
                <a:ea typeface="楷体_GB2312"/>
              </a:rPr>
              <a:t>c</a:t>
            </a:r>
            <a:r>
              <a:rPr lang="zh-CN" altLang="en-US" sz="2400" b="1" dirty="0">
                <a:latin typeface="楷体_GB2312"/>
                <a:ea typeface="楷体_GB2312"/>
              </a:rPr>
              <a:t>、</a:t>
            </a:r>
            <a:r>
              <a:rPr lang="en-US" altLang="zh-CN" sz="2400" b="1" i="1" dirty="0">
                <a:latin typeface="Times New Roman" panose="02020603050405020304" pitchFamily="18" charset="0"/>
                <a:ea typeface="楷体_GB2312"/>
              </a:rPr>
              <a:t>f</a:t>
            </a:r>
            <a:r>
              <a:rPr lang="zh-CN" altLang="en-US" sz="2400" b="1" dirty="0">
                <a:latin typeface="楷体_GB2312"/>
                <a:ea typeface="楷体_GB2312"/>
              </a:rPr>
              <a:t>和</a:t>
            </a:r>
            <a:r>
              <a:rPr lang="en-US" altLang="zh-CN" sz="2400" b="1" i="1" dirty="0">
                <a:latin typeface="Times New Roman" panose="02020603050405020304" pitchFamily="18" charset="0"/>
                <a:ea typeface="楷体_GB2312"/>
              </a:rPr>
              <a:t>a</a:t>
            </a:r>
            <a:r>
              <a:rPr lang="en-US" altLang="zh-CN" sz="2400" b="1" i="1" baseline="-25000" dirty="0">
                <a:latin typeface="Times New Roman" panose="02020603050405020304" pitchFamily="18" charset="0"/>
                <a:ea typeface="楷体_GB2312"/>
              </a:rPr>
              <a:t>p</a:t>
            </a:r>
            <a:r>
              <a:rPr lang="zh-CN" altLang="en-US" sz="2400" b="1" dirty="0">
                <a:latin typeface="楷体_GB2312"/>
                <a:ea typeface="楷体_GB2312"/>
              </a:rPr>
              <a:t>对</a:t>
            </a:r>
            <a:r>
              <a:rPr lang="en-US" altLang="zh-CN" sz="2400" b="1" i="1" dirty="0">
                <a:latin typeface="Times New Roman" panose="02020603050405020304" pitchFamily="18" charset="0"/>
                <a:ea typeface="楷体_GB2312"/>
              </a:rPr>
              <a:t>t</a:t>
            </a:r>
            <a:r>
              <a:rPr lang="en-US" altLang="zh-CN" sz="2400" b="1" i="1" baseline="-25000" dirty="0">
                <a:latin typeface="Times New Roman" panose="02020603050405020304" pitchFamily="18" charset="0"/>
                <a:ea typeface="楷体_GB2312"/>
              </a:rPr>
              <a:t>m</a:t>
            </a:r>
            <a:r>
              <a:rPr lang="zh-CN" altLang="en-US" sz="2400" b="1" dirty="0">
                <a:latin typeface="楷体_GB2312"/>
                <a:ea typeface="楷体_GB2312"/>
              </a:rPr>
              <a:t>的影响是相同的，但它们对辅助时间的影响大不相同。实验的方法可以求出刀具耐用度与切削用量之间关系的经验公式。</a:t>
            </a:r>
            <a:endParaRPr lang="zh-CN" altLang="en-US" sz="2400" b="1" dirty="0">
              <a:latin typeface="楷体_GB2312"/>
              <a:ea typeface="楷体_GB2312"/>
            </a:endParaRPr>
          </a:p>
          <a:p>
            <a:pPr>
              <a:spcBef>
                <a:spcPct val="50000"/>
              </a:spcBef>
            </a:pPr>
            <a:endParaRPr lang="zh-CN" altLang="en-US" sz="2400" b="1" dirty="0">
              <a:latin typeface="楷体_GB2312"/>
              <a:ea typeface="楷体_GB2312"/>
            </a:endParaRPr>
          </a:p>
          <a:p>
            <a:pPr>
              <a:spcBef>
                <a:spcPct val="50000"/>
              </a:spcBef>
            </a:pPr>
            <a:endParaRPr lang="zh-CN" altLang="en-US" sz="2400" b="1" dirty="0">
              <a:latin typeface="楷体_GB2312"/>
              <a:ea typeface="楷体_GB2312"/>
            </a:endParaRPr>
          </a:p>
          <a:p>
            <a:pPr>
              <a:spcBef>
                <a:spcPct val="50000"/>
              </a:spcBef>
            </a:pPr>
            <a:r>
              <a:rPr lang="zh-CN" altLang="en-US" sz="2400" b="1" dirty="0">
                <a:latin typeface="楷体_GB2312"/>
                <a:ea typeface="楷体_GB2312"/>
              </a:rPr>
              <a:t>    式中</a:t>
            </a:r>
            <a:r>
              <a:rPr lang="en-US" altLang="zh-CN" sz="2400" b="1" dirty="0">
                <a:latin typeface="楷体_GB2312"/>
                <a:ea typeface="楷体_GB2312"/>
              </a:rPr>
              <a:t>C</a:t>
            </a:r>
            <a:r>
              <a:rPr lang="en-US" altLang="zh-CN" sz="2400" b="1" baseline="-25000" dirty="0">
                <a:latin typeface="楷体_GB2312"/>
                <a:ea typeface="楷体_GB2312"/>
              </a:rPr>
              <a:t>T</a:t>
            </a:r>
            <a:r>
              <a:rPr lang="zh-CN" altLang="en-US" sz="2400" b="1" dirty="0">
                <a:latin typeface="楷体_GB2312"/>
                <a:ea typeface="楷体_GB2312"/>
              </a:rPr>
              <a:t>为系数。</a:t>
            </a:r>
            <a:r>
              <a:rPr lang="zh-CN" altLang="en-US" sz="2400" b="1" dirty="0">
                <a:solidFill>
                  <a:srgbClr val="000000"/>
                </a:solidFill>
                <a:latin typeface="楷体_GB2312"/>
                <a:ea typeface="楷体_GB2312"/>
              </a:rPr>
              <a:t>在切削用量中，</a:t>
            </a:r>
            <a:r>
              <a:rPr lang="zh-CN" altLang="en-US" sz="2400" b="1" dirty="0">
                <a:solidFill>
                  <a:srgbClr val="FF0000"/>
                </a:solidFill>
                <a:latin typeface="楷体_GB2312"/>
                <a:ea typeface="楷体_GB2312"/>
              </a:rPr>
              <a:t>切削速度对刀具耐用度的影响最大，进给量次之，背吃刀量的影响最小。</a:t>
            </a:r>
            <a:r>
              <a:rPr lang="zh-CN" altLang="en-US" sz="2400" b="1" dirty="0">
                <a:solidFill>
                  <a:srgbClr val="000000"/>
                </a:solidFill>
                <a:latin typeface="楷体_GB2312"/>
                <a:ea typeface="楷体_GB2312"/>
              </a:rPr>
              <a:t>也就是说，当提高切削速度时，刀具耐用度降低的程度比增大同样倍数的进给量或背吃刀量时大得多。由于刀具耐用度降低，势必增加换刀或磨刀的次数，</a:t>
            </a:r>
            <a:r>
              <a:rPr lang="zh-CN" altLang="en-US" sz="2400" b="1" dirty="0">
                <a:solidFill>
                  <a:srgbClr val="008000"/>
                </a:solidFill>
                <a:latin typeface="楷体_GB2312"/>
                <a:ea typeface="楷体_GB2312"/>
              </a:rPr>
              <a:t>增加辅助时间从而降低生产率</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p:txBody>
      </p:sp>
      <p:pic>
        <p:nvPicPr>
          <p:cNvPr id="145410" name="Picture 3"/>
          <p:cNvPicPr>
            <a:picLocks noChangeAspect="1"/>
          </p:cNvPicPr>
          <p:nvPr/>
        </p:nvPicPr>
        <p:blipFill>
          <a:blip r:embed="rId1"/>
          <a:stretch>
            <a:fillRect/>
          </a:stretch>
        </p:blipFill>
        <p:spPr>
          <a:xfrm>
            <a:off x="1835150" y="3284538"/>
            <a:ext cx="5688013" cy="881062"/>
          </a:xfrm>
          <a:prstGeom prst="rect">
            <a:avLst/>
          </a:prstGeom>
          <a:noFill/>
          <a:ln w="9525">
            <a:noFill/>
          </a:ln>
        </p:spPr>
      </p:pic>
      <p:sp>
        <p:nvSpPr>
          <p:cNvPr id="145411" name="Rectangle 5"/>
          <p:cNvSpPr/>
          <p:nvPr/>
        </p:nvSpPr>
        <p:spPr>
          <a:xfrm>
            <a:off x="3049588" y="57150"/>
            <a:ext cx="5051425" cy="1139825"/>
          </a:xfrm>
          <a:prstGeom prst="rect">
            <a:avLst/>
          </a:prstGeom>
          <a:noFill/>
          <a:ln w="9525">
            <a:noFill/>
          </a:ln>
        </p:spPr>
        <p:txBody>
          <a:bodyPr anchor="ctr" anchorCtr="0"/>
          <a:p>
            <a:r>
              <a:rPr lang="zh-CN" altLang="en-US" sz="4000" b="1" dirty="0">
                <a:solidFill>
                  <a:schemeClr val="tx2"/>
                </a:solidFill>
                <a:latin typeface="Tahoma" panose="020B0604030504040204" pitchFamily="34" charset="0"/>
                <a:ea typeface="楷体_GB2312"/>
              </a:rPr>
              <a:t>切削用量的选择原则</a:t>
            </a:r>
            <a:endParaRPr lang="zh-CN" altLang="en-US" sz="4000" b="1" dirty="0">
              <a:solidFill>
                <a:schemeClr val="tx2"/>
              </a:solidFill>
              <a:latin typeface="Tahoma" panose="020B0604030504040204" pitchFamily="34" charset="0"/>
              <a:ea typeface="楷体_GB2312"/>
            </a:endParaRPr>
          </a:p>
        </p:txBody>
      </p:sp>
      <p:graphicFrame>
        <p:nvGraphicFramePr>
          <p:cNvPr id="145412" name="Object 6"/>
          <p:cNvGraphicFramePr>
            <a:graphicFrameLocks noGrp="1" noChangeAspect="1"/>
          </p:cNvGraphicFramePr>
          <p:nvPr>
            <p:ph sz="half" idx="1"/>
          </p:nvPr>
        </p:nvGraphicFramePr>
        <p:xfrm>
          <a:off x="6078538" y="1196975"/>
          <a:ext cx="2741612" cy="822325"/>
        </p:xfrm>
        <a:graphic>
          <a:graphicData uri="http://schemas.openxmlformats.org/presentationml/2006/ole">
            <mc:AlternateContent xmlns:mc="http://schemas.openxmlformats.org/markup-compatibility/2006">
              <mc:Choice xmlns:v="urn:schemas-microsoft-com:vml" Requires="v">
                <p:oleObj spid="_x0000_s3098" name="" r:id="rId2" imgW="1397635" imgH="419100" progId="Equation.3">
                  <p:embed/>
                </p:oleObj>
              </mc:Choice>
              <mc:Fallback>
                <p:oleObj name="" r:id="rId2" imgW="1397635" imgH="419100" progId="Equation.3">
                  <p:embed/>
                  <p:pic>
                    <p:nvPicPr>
                      <p:cNvPr id="0" name="图片 3097"/>
                      <p:cNvPicPr/>
                      <p:nvPr/>
                    </p:nvPicPr>
                    <p:blipFill>
                      <a:blip r:embed="rId3"/>
                      <a:stretch>
                        <a:fillRect/>
                      </a:stretch>
                    </p:blipFill>
                    <p:spPr>
                      <a:xfrm>
                        <a:off x="6078538" y="1196975"/>
                        <a:ext cx="2741612" cy="822325"/>
                      </a:xfrm>
                      <a:prstGeom prst="rect">
                        <a:avLst/>
                      </a:prstGeom>
                      <a:solidFill>
                        <a:srgbClr val="CCFF66"/>
                      </a:solidFill>
                      <a:ln w="38100">
                        <a:miter/>
                      </a:ln>
                    </p:spPr>
                  </p:pic>
                </p:oleObj>
              </mc:Fallback>
            </mc:AlternateContent>
          </a:graphicData>
        </a:graphic>
      </p:graphicFrame>
    </p:spTree>
  </p:cSld>
  <p:clrMapOvr>
    <a:masterClrMapping/>
  </p:clrMapOvr>
  <p:transition spd="slow">
    <p:randomBar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2"/>
          <p:cNvSpPr>
            <a:spLocks noGrp="1"/>
          </p:cNvSpPr>
          <p:nvPr>
            <p:ph type="title"/>
          </p:nvPr>
        </p:nvSpPr>
        <p:spPr>
          <a:xfrm>
            <a:off x="2978150" y="0"/>
            <a:ext cx="5338763" cy="1139825"/>
          </a:xfrm>
          <a:ln/>
        </p:spPr>
        <p:txBody>
          <a:bodyPr vert="horz" wrap="square" lIns="91440" tIns="45720" rIns="91440" bIns="45720" anchor="ctr" anchorCtr="0"/>
          <a:p>
            <a:pPr algn="ctr" eaLnBrk="1" hangingPunct="1"/>
            <a:r>
              <a:rPr lang="zh-CN" altLang="en-US" sz="4000" dirty="0">
                <a:ea typeface="楷体_GB2312"/>
              </a:rPr>
              <a:t>切削用量的选择原则</a:t>
            </a:r>
            <a:endParaRPr lang="zh-CN" altLang="en-US" sz="4000" dirty="0">
              <a:ea typeface="楷体_GB2312"/>
            </a:endParaRPr>
          </a:p>
        </p:txBody>
      </p:sp>
      <p:sp>
        <p:nvSpPr>
          <p:cNvPr id="147458" name="Rectangle 3"/>
          <p:cNvSpPr/>
          <p:nvPr/>
        </p:nvSpPr>
        <p:spPr>
          <a:xfrm>
            <a:off x="611188" y="1411288"/>
            <a:ext cx="8061325" cy="5446712"/>
          </a:xfrm>
          <a:prstGeom prst="rect">
            <a:avLst/>
          </a:prstGeom>
          <a:noFill/>
          <a:ln w="9525">
            <a:noFill/>
          </a:ln>
        </p:spPr>
        <p:txBody>
          <a:bodyPr wrap="square" anchor="t" anchorCtr="0">
            <a:spAutoFit/>
          </a:bodyPr>
          <a:p>
            <a:pPr>
              <a:spcBef>
                <a:spcPct val="50000"/>
              </a:spcBef>
            </a:pPr>
            <a:r>
              <a:rPr lang="en-US" altLang="zh-CN" sz="2400" b="1" dirty="0">
                <a:solidFill>
                  <a:srgbClr val="008000"/>
                </a:solidFill>
                <a:latin typeface="楷体_GB2312"/>
                <a:ea typeface="楷体_GB2312"/>
              </a:rPr>
              <a:t>2.</a:t>
            </a:r>
            <a:r>
              <a:rPr lang="zh-CN" altLang="en-US" sz="2400" b="1" dirty="0">
                <a:solidFill>
                  <a:srgbClr val="008000"/>
                </a:solidFill>
                <a:latin typeface="楷体_GB2312"/>
                <a:ea typeface="楷体_GB2312"/>
              </a:rPr>
              <a:t>切削用量的选择</a:t>
            </a:r>
            <a:r>
              <a:rPr lang="zh-CN" altLang="en-US" sz="2400" b="1" dirty="0">
                <a:latin typeface="Century" panose="02040604050505020304" pitchFamily="18" charset="0"/>
                <a:ea typeface="宋体" panose="02010600030101010101" pitchFamily="2" charset="-122"/>
              </a:rPr>
              <a:t>  </a:t>
            </a:r>
            <a:r>
              <a:rPr lang="zh-CN" altLang="en-US" sz="2400" b="1" dirty="0">
                <a:solidFill>
                  <a:srgbClr val="000000"/>
                </a:solidFill>
                <a:latin typeface="楷体_GB2312"/>
                <a:ea typeface="楷体_GB2312"/>
              </a:rPr>
              <a:t>综合切削用量三要素对刀具耐用度、生产率和加工质量的影响，选择切削用量的顺序应为：</a:t>
            </a:r>
            <a:r>
              <a:rPr lang="zh-CN" altLang="en-US" sz="2400" b="1" dirty="0">
                <a:solidFill>
                  <a:srgbClr val="0033CC"/>
                </a:solidFill>
                <a:latin typeface="楷体_GB2312"/>
                <a:ea typeface="楷体_GB2312"/>
              </a:rPr>
              <a:t>首先选尽可能大的背吃刀量</a:t>
            </a:r>
            <a:r>
              <a:rPr lang="en-US" altLang="zh-CN" sz="2400" b="1" i="1" dirty="0">
                <a:solidFill>
                  <a:srgbClr val="0033CC"/>
                </a:solidFill>
                <a:latin typeface="楷体_GB2312"/>
                <a:ea typeface="楷体_GB2312"/>
              </a:rPr>
              <a:t>a</a:t>
            </a:r>
            <a:r>
              <a:rPr lang="en-US" altLang="zh-CN" sz="2400" b="1" i="1" baseline="-25000" dirty="0">
                <a:solidFill>
                  <a:srgbClr val="0033CC"/>
                </a:solidFill>
                <a:latin typeface="楷体_GB2312"/>
                <a:ea typeface="楷体_GB2312"/>
              </a:rPr>
              <a:t>p</a:t>
            </a:r>
            <a:r>
              <a:rPr lang="zh-CN" altLang="en-US" sz="2400" b="1" dirty="0">
                <a:solidFill>
                  <a:srgbClr val="0033CC"/>
                </a:solidFill>
                <a:latin typeface="楷体_GB2312"/>
                <a:ea typeface="楷体_GB2312"/>
              </a:rPr>
              <a:t>，其次选尽可能大的进给量</a:t>
            </a:r>
            <a:r>
              <a:rPr lang="en-US" altLang="zh-CN" sz="2400" b="1" i="1" dirty="0">
                <a:solidFill>
                  <a:srgbClr val="0033CC"/>
                </a:solidFill>
                <a:latin typeface="Times New Roman" panose="02020603050405020304" pitchFamily="18" charset="0"/>
                <a:ea typeface="楷体_GB2312"/>
              </a:rPr>
              <a:t>f</a:t>
            </a:r>
            <a:r>
              <a:rPr lang="zh-CN" altLang="en-US" sz="2400" b="1" dirty="0">
                <a:solidFill>
                  <a:srgbClr val="0033CC"/>
                </a:solidFill>
                <a:latin typeface="楷体_GB2312"/>
                <a:ea typeface="楷体_GB2312"/>
              </a:rPr>
              <a:t>，最后选尽可大的切削速度</a:t>
            </a:r>
            <a:r>
              <a:rPr lang="en-US" altLang="zh-CN" sz="2400" b="1" i="1" dirty="0">
                <a:solidFill>
                  <a:srgbClr val="0033CC"/>
                </a:solidFill>
                <a:latin typeface="楷体_GB2312"/>
                <a:ea typeface="楷体_GB2312"/>
              </a:rPr>
              <a:t>v</a:t>
            </a:r>
            <a:r>
              <a:rPr lang="en-US" altLang="zh-CN" sz="2400" b="1" i="1" baseline="-25000" dirty="0">
                <a:solidFill>
                  <a:srgbClr val="0033CC"/>
                </a:solidFill>
                <a:latin typeface="楷体_GB2312"/>
                <a:ea typeface="楷体_GB2312"/>
              </a:rPr>
              <a:t>c</a:t>
            </a:r>
            <a:r>
              <a:rPr lang="zh-CN" altLang="en-US" sz="2400" b="1" i="1" baseline="-25000" dirty="0">
                <a:solidFill>
                  <a:srgbClr val="0033CC"/>
                </a:solidFill>
                <a:latin typeface="楷体_GB2312"/>
                <a:ea typeface="楷体_GB2312"/>
              </a:rPr>
              <a:t>。</a:t>
            </a:r>
            <a:r>
              <a:rPr lang="zh-CN" altLang="en-US" b="1" dirty="0">
                <a:solidFill>
                  <a:srgbClr val="0033CC"/>
                </a:solidFill>
                <a:latin typeface="Arial" panose="020B0604020202020204" pitchFamily="34" charset="0"/>
                <a:ea typeface="宋体" panose="02010600030101010101" pitchFamily="2" charset="-122"/>
              </a:rPr>
              <a:t>。</a:t>
            </a:r>
            <a:endParaRPr lang="zh-CN" altLang="en-US" b="1" dirty="0">
              <a:solidFill>
                <a:srgbClr val="0033CC"/>
              </a:solidFill>
              <a:latin typeface="Arial" panose="020B0604020202020204" pitchFamily="34" charset="0"/>
              <a:ea typeface="宋体" panose="02010600030101010101" pitchFamily="2" charset="-122"/>
            </a:endParaRPr>
          </a:p>
          <a:p>
            <a:pPr>
              <a:spcBef>
                <a:spcPct val="50000"/>
              </a:spcBef>
            </a:pPr>
            <a:r>
              <a:rPr lang="zh-CN" altLang="en-US" sz="2400" b="1" dirty="0">
                <a:solidFill>
                  <a:srgbClr val="008000"/>
                </a:solidFill>
                <a:latin typeface="Century" panose="02040604050505020304" pitchFamily="18" charset="0"/>
                <a:ea typeface="宋体" panose="02010600030101010101" pitchFamily="2" charset="-122"/>
              </a:rPr>
              <a:t>　</a:t>
            </a:r>
            <a:r>
              <a:rPr lang="en-US" altLang="zh-CN" sz="2400" b="1" dirty="0">
                <a:solidFill>
                  <a:srgbClr val="FF0000"/>
                </a:solidFill>
                <a:latin typeface="楷体_GB2312"/>
                <a:ea typeface="楷体_GB2312"/>
              </a:rPr>
              <a:t>(1)</a:t>
            </a:r>
            <a:r>
              <a:rPr lang="zh-CN" altLang="en-US" sz="2400" b="1" dirty="0">
                <a:solidFill>
                  <a:srgbClr val="FF0000"/>
                </a:solidFill>
                <a:latin typeface="楷体_GB2312"/>
                <a:ea typeface="楷体_GB2312"/>
              </a:rPr>
              <a:t>背吃刀量的选择</a:t>
            </a:r>
            <a:r>
              <a:rPr lang="zh-CN" altLang="en-US" sz="2400" b="1" dirty="0">
                <a:solidFill>
                  <a:srgbClr val="008000"/>
                </a:solidFill>
                <a:latin typeface="楷体_GB2312"/>
                <a:ea typeface="楷体_GB2312"/>
              </a:rPr>
              <a:t> </a:t>
            </a:r>
            <a:r>
              <a:rPr lang="zh-CN" altLang="en-US" sz="2400" b="1" dirty="0">
                <a:solidFill>
                  <a:srgbClr val="000000"/>
                </a:solidFill>
                <a:latin typeface="楷体_GB2312"/>
                <a:ea typeface="楷体_GB2312"/>
              </a:rPr>
              <a:t>尽可能大些、不论粗加工还是精加工，最好一次走刀切完加工余量。如加工余量太大、可将加工余量分为两次或多次切完。应将第一次走刀时的背吃刀量取得尽量大些，其后的背吃刀量取相对的小一些。</a:t>
            </a:r>
            <a:endParaRPr lang="zh-CN" altLang="en-US" sz="2400" b="1" dirty="0">
              <a:solidFill>
                <a:srgbClr val="000000"/>
              </a:solidFill>
              <a:latin typeface="楷体_GB2312"/>
              <a:ea typeface="楷体_GB2312"/>
            </a:endParaRPr>
          </a:p>
          <a:p>
            <a:pPr>
              <a:spcBef>
                <a:spcPct val="50000"/>
              </a:spcBef>
            </a:pPr>
            <a:r>
              <a:rPr lang="zh-CN" altLang="en-US" sz="2400" b="1" dirty="0">
                <a:solidFill>
                  <a:srgbClr val="FFFF00"/>
                </a:solidFill>
                <a:latin typeface="Century" panose="02040604050505020304" pitchFamily="18" charset="0"/>
                <a:ea typeface="宋体" panose="02010600030101010101" pitchFamily="2" charset="-122"/>
              </a:rPr>
              <a:t>　</a:t>
            </a:r>
            <a:r>
              <a:rPr lang="en-US" altLang="zh-CN" sz="2400" b="1" dirty="0">
                <a:solidFill>
                  <a:srgbClr val="FF0000"/>
                </a:solidFill>
                <a:latin typeface="楷体_GB2312"/>
                <a:ea typeface="楷体_GB2312"/>
              </a:rPr>
              <a:t>(2)</a:t>
            </a:r>
            <a:r>
              <a:rPr lang="zh-CN" altLang="en-US" sz="2400" b="1" dirty="0">
                <a:solidFill>
                  <a:srgbClr val="FF0000"/>
                </a:solidFill>
                <a:latin typeface="楷体_GB2312"/>
                <a:ea typeface="楷体_GB2312"/>
              </a:rPr>
              <a:t>进给量的选择</a:t>
            </a:r>
            <a:r>
              <a:rPr lang="zh-CN" altLang="en-US" sz="2400" b="1" dirty="0">
                <a:solidFill>
                  <a:srgbClr val="008000"/>
                </a:solidFill>
                <a:latin typeface="楷体_GB2312"/>
                <a:ea typeface="楷体_GB2312"/>
              </a:rPr>
              <a:t> </a:t>
            </a:r>
            <a:r>
              <a:rPr lang="zh-CN" altLang="en-US" sz="2400" b="1" dirty="0">
                <a:latin typeface="楷体_GB2312"/>
                <a:ea typeface="楷体_GB2312"/>
              </a:rPr>
              <a:t>粗加工时，一般对工件的表面质量要求不高，进给量主要受机床、刀具和工件所能承受的切削力的限制。精加工时，限制进给量的主要因素是工件表面粗糙度。</a:t>
            </a:r>
            <a:endParaRPr lang="zh-CN" altLang="en-US" sz="2400" b="1" dirty="0">
              <a:latin typeface="楷体_GB2312"/>
              <a:ea typeface="楷体_GB2312"/>
            </a:endParaRPr>
          </a:p>
          <a:p>
            <a:pPr>
              <a:spcBef>
                <a:spcPct val="50000"/>
              </a:spcBef>
            </a:pPr>
            <a:endParaRPr lang="zh-CN" altLang="en-US" sz="2400" b="1" dirty="0">
              <a:solidFill>
                <a:srgbClr val="CC0066"/>
              </a:solidFill>
              <a:latin typeface="楷体_GB2312"/>
              <a:ea typeface="楷体_GB2312"/>
            </a:endParaRPr>
          </a:p>
        </p:txBody>
      </p:sp>
    </p:spTree>
  </p:cSld>
  <p:clrMapOvr>
    <a:masterClrMapping/>
  </p:clrMapOvr>
  <p:transition spd="slow">
    <p:randomBar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Rectangle 2"/>
          <p:cNvSpPr>
            <a:spLocks noGrp="1"/>
          </p:cNvSpPr>
          <p:nvPr>
            <p:ph type="title"/>
          </p:nvPr>
        </p:nvSpPr>
        <p:spPr>
          <a:xfrm>
            <a:off x="3265488" y="57150"/>
            <a:ext cx="4978400" cy="1139825"/>
          </a:xfrm>
          <a:ln/>
        </p:spPr>
        <p:txBody>
          <a:bodyPr vert="horz" wrap="square" lIns="91440" tIns="45720" rIns="91440" bIns="45720" anchor="ctr" anchorCtr="0"/>
          <a:p>
            <a:pPr eaLnBrk="1" hangingPunct="1"/>
            <a:r>
              <a:rPr lang="zh-CN" altLang="en-US" sz="4000" dirty="0">
                <a:ea typeface="楷体_GB2312"/>
              </a:rPr>
              <a:t>切削用量的选择原则</a:t>
            </a:r>
            <a:endParaRPr lang="zh-CN" altLang="en-US" sz="4000" dirty="0">
              <a:ea typeface="楷体_GB2312"/>
            </a:endParaRPr>
          </a:p>
        </p:txBody>
      </p:sp>
      <p:sp>
        <p:nvSpPr>
          <p:cNvPr id="149506" name="Rectangle 3"/>
          <p:cNvSpPr/>
          <p:nvPr/>
        </p:nvSpPr>
        <p:spPr>
          <a:xfrm>
            <a:off x="623888" y="1484313"/>
            <a:ext cx="7896225" cy="3414712"/>
          </a:xfrm>
          <a:prstGeom prst="rect">
            <a:avLst/>
          </a:prstGeom>
          <a:noFill/>
          <a:ln w="9525">
            <a:noFill/>
          </a:ln>
        </p:spPr>
        <p:txBody>
          <a:bodyPr wrap="square" anchor="t" anchorCtr="0">
            <a:spAutoFit/>
          </a:bodyPr>
          <a:p>
            <a:pPr>
              <a:spcBef>
                <a:spcPct val="50000"/>
              </a:spcBef>
            </a:pPr>
            <a:r>
              <a:rPr lang="zh-CN" altLang="en-US" b="1" dirty="0">
                <a:solidFill>
                  <a:srgbClr val="FFFF00"/>
                </a:solidFill>
                <a:latin typeface="Century" panose="02040604050505020304" pitchFamily="18" charset="0"/>
                <a:ea typeface="宋体" panose="02010600030101010101" pitchFamily="2" charset="-122"/>
              </a:rPr>
              <a:t>　　</a:t>
            </a:r>
            <a:r>
              <a:rPr lang="zh-CN" altLang="en-US" sz="2400" b="1" dirty="0">
                <a:solidFill>
                  <a:srgbClr val="FF0000"/>
                </a:solidFill>
                <a:latin typeface="楷体_GB2312"/>
                <a:ea typeface="楷体_GB2312"/>
              </a:rPr>
              <a:t>（</a:t>
            </a:r>
            <a:r>
              <a:rPr lang="en-US" altLang="zh-CN" sz="2400" b="1" dirty="0">
                <a:solidFill>
                  <a:srgbClr val="FF0000"/>
                </a:solidFill>
                <a:latin typeface="楷体_GB2312"/>
                <a:ea typeface="楷体_GB2312"/>
              </a:rPr>
              <a:t>3</a:t>
            </a:r>
            <a:r>
              <a:rPr lang="zh-CN" altLang="en-US" sz="2400" b="1" dirty="0">
                <a:solidFill>
                  <a:srgbClr val="FF0000"/>
                </a:solidFill>
                <a:latin typeface="楷体_GB2312"/>
                <a:ea typeface="楷体_GB2312"/>
              </a:rPr>
              <a:t>）切削速度的选择</a:t>
            </a:r>
            <a:endParaRPr lang="zh-CN" altLang="en-US" sz="2400" b="1" dirty="0">
              <a:solidFill>
                <a:srgbClr val="FF0000"/>
              </a:solidFill>
              <a:latin typeface="楷体_GB2312"/>
              <a:ea typeface="楷体_GB2312"/>
            </a:endParaRPr>
          </a:p>
          <a:p>
            <a:pPr>
              <a:spcBef>
                <a:spcPct val="50000"/>
              </a:spcBef>
            </a:pPr>
            <a:r>
              <a:rPr lang="zh-CN" altLang="en-US" sz="2400" b="1" dirty="0">
                <a:latin typeface="楷体_GB2312"/>
                <a:ea typeface="楷体_GB2312"/>
              </a:rPr>
              <a:t>　　在背吃刀量和进给量选定以后，可根据合理的刀具耐用度，用计算法或查表法选择切削速度。粗加工时，切削速度主要受机床功率的限制。如果依据刀具耐用度选定的切削速度使切削功率超过许用值时，应适当降低切削速度。精加工时，切削速度主要受刀具耐用度的限制。</a:t>
            </a:r>
            <a:endParaRPr lang="zh-CN" altLang="en-US" sz="2400" b="1" dirty="0">
              <a:latin typeface="楷体_GB2312"/>
              <a:ea typeface="楷体_GB2312"/>
            </a:endParaRPr>
          </a:p>
          <a:p>
            <a:pPr>
              <a:spcBef>
                <a:spcPct val="50000"/>
              </a:spcBef>
            </a:pPr>
            <a:r>
              <a:rPr lang="zh-CN" altLang="en-US" sz="2400" b="1" dirty="0">
                <a:latin typeface="楷体_GB2312"/>
                <a:ea typeface="楷体_GB2312"/>
              </a:rPr>
              <a:t>   </a:t>
            </a:r>
            <a:r>
              <a:rPr lang="zh-CN" altLang="en-US" sz="2400" b="1" dirty="0">
                <a:solidFill>
                  <a:srgbClr val="000099"/>
                </a:solidFill>
                <a:latin typeface="楷体_GB2312"/>
                <a:ea typeface="楷体_GB2312"/>
              </a:rPr>
              <a:t>切削速度的具体选择，可从</a:t>
            </a:r>
            <a:r>
              <a:rPr lang="zh-CN" altLang="en-US" sz="2400" b="1" dirty="0">
                <a:solidFill>
                  <a:srgbClr val="000099"/>
                </a:solidFill>
                <a:latin typeface="Century" panose="02040604050505020304" pitchFamily="18" charset="0"/>
                <a:ea typeface="楷体_GB2312"/>
              </a:rPr>
              <a:t>“</a:t>
            </a:r>
            <a:r>
              <a:rPr lang="zh-CN" altLang="en-US" sz="2400" b="1" dirty="0">
                <a:solidFill>
                  <a:srgbClr val="000099"/>
                </a:solidFill>
                <a:latin typeface="楷体_GB2312"/>
                <a:ea typeface="楷体_GB2312"/>
              </a:rPr>
              <a:t>切削用量手册</a:t>
            </a:r>
            <a:r>
              <a:rPr lang="zh-CN" altLang="en-US" sz="2400" b="1" dirty="0">
                <a:solidFill>
                  <a:srgbClr val="000099"/>
                </a:solidFill>
                <a:latin typeface="Century" panose="02040604050505020304" pitchFamily="18" charset="0"/>
                <a:ea typeface="楷体_GB2312"/>
              </a:rPr>
              <a:t>”</a:t>
            </a:r>
            <a:r>
              <a:rPr lang="zh-CN" altLang="en-US" sz="2400" b="1" dirty="0">
                <a:solidFill>
                  <a:srgbClr val="000099"/>
                </a:solidFill>
                <a:latin typeface="楷体_GB2312"/>
                <a:ea typeface="楷体_GB2312"/>
              </a:rPr>
              <a:t>等资料中查出（表</a:t>
            </a:r>
            <a:r>
              <a:rPr lang="en-US" altLang="zh-CN" sz="2400" b="1" dirty="0">
                <a:solidFill>
                  <a:srgbClr val="000099"/>
                </a:solidFill>
                <a:latin typeface="楷体_GB2312"/>
                <a:ea typeface="楷体_GB2312"/>
              </a:rPr>
              <a:t>1-6</a:t>
            </a:r>
            <a:r>
              <a:rPr lang="zh-CN" altLang="en-US" sz="2400" b="1" dirty="0">
                <a:solidFill>
                  <a:srgbClr val="000099"/>
                </a:solidFill>
                <a:latin typeface="楷体_GB2312"/>
                <a:ea typeface="楷体_GB2312"/>
              </a:rPr>
              <a:t>）。</a:t>
            </a:r>
            <a:endParaRPr lang="zh-CN" altLang="en-US" sz="2400" b="1" dirty="0">
              <a:solidFill>
                <a:srgbClr val="000099"/>
              </a:solidFill>
              <a:latin typeface="楷体_GB2312"/>
              <a:ea typeface="楷体_GB2312"/>
            </a:endParaRPr>
          </a:p>
        </p:txBody>
      </p:sp>
    </p:spTree>
  </p:cSld>
  <p:clrMapOvr>
    <a:masterClrMapping/>
  </p:clrMapOvr>
  <p:transition spd="slow">
    <p:randomBar dir="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2"/>
          <p:cNvSpPr>
            <a:spLocks noGrp="1"/>
          </p:cNvSpPr>
          <p:nvPr>
            <p:ph type="title"/>
          </p:nvPr>
        </p:nvSpPr>
        <p:spPr>
          <a:ln/>
        </p:spPr>
        <p:txBody>
          <a:bodyPr vert="horz" wrap="square" lIns="91440" tIns="45720" rIns="91440" bIns="45720" anchor="ctr" anchorCtr="0"/>
          <a:p>
            <a:pPr algn="ctr" eaLnBrk="1" hangingPunct="1"/>
            <a:r>
              <a:rPr lang="en-US" altLang="zh-CN" dirty="0">
                <a:solidFill>
                  <a:srgbClr val="000000"/>
                </a:solidFill>
                <a:latin typeface="华文行楷" panose="02010800040101010101" pitchFamily="2" charset="-122"/>
                <a:ea typeface="华文行楷" panose="02010800040101010101" pitchFamily="2" charset="-122"/>
              </a:rPr>
              <a:t>   </a:t>
            </a:r>
            <a:r>
              <a:rPr lang="zh-CN" altLang="en-US" sz="4000" dirty="0">
                <a:solidFill>
                  <a:srgbClr val="000000"/>
                </a:solidFill>
                <a:latin typeface="楷体_GB2312"/>
                <a:ea typeface="楷体_GB2312"/>
              </a:rPr>
              <a:t>切削热和切削温度</a:t>
            </a:r>
            <a:endParaRPr lang="zh-CN" altLang="en-US" sz="4000" dirty="0">
              <a:solidFill>
                <a:srgbClr val="000000"/>
              </a:solidFill>
              <a:latin typeface="楷体_GB2312"/>
              <a:ea typeface="楷体_GB2312"/>
            </a:endParaRPr>
          </a:p>
        </p:txBody>
      </p:sp>
      <p:sp>
        <p:nvSpPr>
          <p:cNvPr id="151554" name="Rectangle 3"/>
          <p:cNvSpPr>
            <a:spLocks noGrp="1"/>
          </p:cNvSpPr>
          <p:nvPr>
            <p:ph idx="1"/>
          </p:nvPr>
        </p:nvSpPr>
        <p:spPr>
          <a:xfrm>
            <a:off x="396875" y="1341438"/>
            <a:ext cx="8351838" cy="5040312"/>
          </a:xfrm>
          <a:ln/>
        </p:spPr>
        <p:txBody>
          <a:bodyPr vert="horz" wrap="square" lIns="91440" tIns="45720" rIns="91440" bIns="45720" anchor="t" anchorCtr="0"/>
          <a:p>
            <a:pPr marL="374650" indent="-374650" eaLnBrk="1" hangingPunct="1">
              <a:lnSpc>
                <a:spcPct val="110000"/>
              </a:lnSpc>
              <a:buClr>
                <a:srgbClr val="FF3300"/>
              </a:buClr>
              <a:buFont typeface="Wingdings" panose="05000000000000000000" pitchFamily="2" charset="2"/>
              <a:buNone/>
            </a:pPr>
            <a:r>
              <a:rPr lang="zh-CN" altLang="en-US" sz="2800" b="1" dirty="0">
                <a:solidFill>
                  <a:srgbClr val="E71909"/>
                </a:solidFill>
                <a:ea typeface="楷体_GB2312"/>
              </a:rPr>
              <a:t>三、切削油的选用</a:t>
            </a:r>
            <a:endParaRPr lang="zh-CN" altLang="en-US" sz="2800" b="1" dirty="0">
              <a:solidFill>
                <a:srgbClr val="FF3300"/>
              </a:solidFill>
              <a:ea typeface="楷体_GB2312"/>
            </a:endParaRPr>
          </a:p>
          <a:p>
            <a:pPr marL="374650" indent="-374650" eaLnBrk="1" hangingPunct="1">
              <a:lnSpc>
                <a:spcPct val="110000"/>
              </a:lnSpc>
              <a:buClr>
                <a:srgbClr val="FF3300"/>
              </a:buClr>
              <a:buFont typeface="Wingdings" panose="05000000000000000000" pitchFamily="2" charset="2"/>
              <a:buChar char="Ø"/>
            </a:pPr>
            <a:r>
              <a:rPr lang="zh-CN" altLang="en-US" sz="2800" b="1" dirty="0">
                <a:solidFill>
                  <a:srgbClr val="008000"/>
                </a:solidFill>
                <a:ea typeface="楷体_GB2312"/>
              </a:rPr>
              <a:t>切削液的作用和种类</a:t>
            </a:r>
            <a:r>
              <a:rPr lang="zh-CN" altLang="en-US" sz="2800" b="1" dirty="0">
                <a:solidFill>
                  <a:srgbClr val="008000"/>
                </a:solidFill>
                <a:latin typeface="楷体_GB2312"/>
                <a:ea typeface="楷体_GB2312"/>
              </a:rPr>
              <a:t>：</a:t>
            </a:r>
            <a:endParaRPr lang="zh-CN" altLang="en-US" sz="2800" b="1" dirty="0">
              <a:solidFill>
                <a:srgbClr val="008000"/>
              </a:solidFill>
              <a:latin typeface="楷体_GB2312"/>
              <a:ea typeface="楷体_GB2312"/>
            </a:endParaRPr>
          </a:p>
          <a:p>
            <a:pPr marL="374650" indent="-374650" eaLnBrk="1" hangingPunct="1">
              <a:buNone/>
            </a:pPr>
            <a:r>
              <a:rPr lang="en-US" altLang="zh-CN" sz="2800" b="1" dirty="0">
                <a:solidFill>
                  <a:srgbClr val="CC0066"/>
                </a:solidFill>
                <a:latin typeface="楷体_GB2312"/>
                <a:ea typeface="楷体_GB2312"/>
              </a:rPr>
              <a:t>1.</a:t>
            </a:r>
            <a:r>
              <a:rPr lang="zh-CN" altLang="en-US" sz="2800" b="1" dirty="0">
                <a:solidFill>
                  <a:srgbClr val="CC0066"/>
                </a:solidFill>
                <a:latin typeface="楷体_GB2312"/>
                <a:ea typeface="楷体_GB2312"/>
              </a:rPr>
              <a:t>冷却作用：</a:t>
            </a:r>
            <a:r>
              <a:rPr lang="zh-CN" altLang="en-US" sz="2800" b="1" dirty="0">
                <a:solidFill>
                  <a:srgbClr val="000000"/>
                </a:solidFill>
                <a:latin typeface="楷体_GB2312"/>
                <a:ea typeface="楷体_GB2312"/>
              </a:rPr>
              <a:t>在工件切削加工过程中，能及时而迅速的降低切削区的温度，即降低通常因摩擦引起的温升、冷却也影响切削效率，切削质量及刀具寿命。</a:t>
            </a:r>
            <a:endParaRPr lang="zh-CN" altLang="en-US" sz="2800" b="1" dirty="0">
              <a:solidFill>
                <a:srgbClr val="000000"/>
              </a:solidFill>
              <a:latin typeface="楷体_GB2312"/>
              <a:ea typeface="楷体_GB2312"/>
            </a:endParaRPr>
          </a:p>
          <a:p>
            <a:pPr marL="374650" indent="-374650" eaLnBrk="1" hangingPunct="1">
              <a:buNone/>
            </a:pPr>
            <a:r>
              <a:rPr lang="en-US" altLang="zh-CN" sz="2800" b="1" dirty="0">
                <a:solidFill>
                  <a:srgbClr val="CC0066"/>
                </a:solidFill>
                <a:latin typeface="楷体_GB2312"/>
                <a:ea typeface="楷体_GB2312"/>
              </a:rPr>
              <a:t>2.</a:t>
            </a:r>
            <a:r>
              <a:rPr lang="zh-CN" altLang="en-US" sz="2800" b="1" dirty="0">
                <a:solidFill>
                  <a:srgbClr val="CC0066"/>
                </a:solidFill>
                <a:latin typeface="楷体_GB2312"/>
                <a:ea typeface="楷体_GB2312"/>
              </a:rPr>
              <a:t>润滑作用：</a:t>
            </a:r>
            <a:r>
              <a:rPr lang="zh-CN" altLang="en-US" sz="2800" b="1" dirty="0">
                <a:solidFill>
                  <a:srgbClr val="000000"/>
                </a:solidFill>
                <a:latin typeface="楷体_GB2312"/>
                <a:ea typeface="楷体_GB2312"/>
              </a:rPr>
              <a:t>能减少切削刀具与工件间摩擦。润滑液能浸润到刀具与工件及其切屑之间，减少摩擦和粘结，降低切削阻力，保证切削质量，延长刀具寿命。</a:t>
            </a:r>
            <a:endParaRPr lang="zh-CN" altLang="en-US" sz="2800" b="1" dirty="0">
              <a:solidFill>
                <a:srgbClr val="000000"/>
              </a:solidFill>
              <a:latin typeface="楷体_GB2312"/>
              <a:ea typeface="楷体_GB2312"/>
            </a:endParaRPr>
          </a:p>
          <a:p>
            <a:pPr marL="374650" indent="-374650" eaLnBrk="1" hangingPunct="1">
              <a:buNone/>
            </a:pPr>
            <a:endParaRPr lang="zh-CN" altLang="en-US" sz="2800" b="1" dirty="0">
              <a:solidFill>
                <a:srgbClr val="000000"/>
              </a:solidFill>
              <a:latin typeface="楷体_GB2312"/>
              <a:ea typeface="楷体_GB2312"/>
            </a:endParaRPr>
          </a:p>
          <a:p>
            <a:pPr marL="374650" indent="-374650" eaLnBrk="1" hangingPunct="1">
              <a:buNone/>
            </a:pPr>
            <a:endParaRPr lang="zh-CN" altLang="en-US" sz="2800" b="1" dirty="0">
              <a:solidFill>
                <a:srgbClr val="006600"/>
              </a:solidFill>
              <a:latin typeface="黑体" panose="02010609060101010101" pitchFamily="49" charset="-122"/>
              <a:ea typeface="黑体" panose="02010609060101010101" pitchFamily="49" charset="-122"/>
            </a:endParaRPr>
          </a:p>
          <a:p>
            <a:pPr marL="374650" indent="-374650" eaLnBrk="1" hangingPunct="1">
              <a:buNone/>
            </a:pPr>
            <a:endParaRPr lang="en-US" altLang="zh-CN" sz="2800" dirty="0">
              <a:solidFill>
                <a:srgbClr val="000000"/>
              </a:solidFill>
              <a:latin typeface="黑体" panose="02010609060101010101" pitchFamily="49" charset="-122"/>
              <a:ea typeface="黑体" panose="02010609060101010101" pitchFamily="49" charset="-122"/>
            </a:endParaRPr>
          </a:p>
        </p:txBody>
      </p:sp>
      <p:sp>
        <p:nvSpPr>
          <p:cNvPr id="4" name="五角星 3"/>
          <p:cNvSpPr/>
          <p:nvPr/>
        </p:nvSpPr>
        <p:spPr>
          <a:xfrm>
            <a:off x="142875" y="1143000"/>
            <a:ext cx="428625" cy="428625"/>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51556" name="图片 104"/>
          <p:cNvPicPr/>
          <p:nvPr/>
        </p:nvPicPr>
        <p:blipFill>
          <a:blip r:embed="rId1"/>
          <a:stretch>
            <a:fillRect/>
          </a:stretch>
        </p:blipFill>
        <p:spPr>
          <a:xfrm>
            <a:off x="5508625" y="90488"/>
            <a:ext cx="3381375" cy="2401887"/>
          </a:xfrm>
          <a:prstGeom prst="rect">
            <a:avLst/>
          </a:prstGeom>
          <a:noFill/>
          <a:ln w="9525">
            <a:noFill/>
          </a:ln>
        </p:spPr>
      </p:pic>
    </p:spTree>
  </p:cSld>
  <p:clrMapOvr>
    <a:masterClrMapping/>
  </p:clrMapOvr>
  <p:transition spd="slow">
    <p:randomBar dir="ver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Rectangle 2"/>
          <p:cNvSpPr>
            <a:spLocks noGrp="1"/>
          </p:cNvSpPr>
          <p:nvPr>
            <p:ph type="title"/>
          </p:nvPr>
        </p:nvSpPr>
        <p:spPr>
          <a:xfrm>
            <a:off x="2590800" y="90488"/>
            <a:ext cx="5653088" cy="1190625"/>
          </a:xfrm>
          <a:ln/>
        </p:spPr>
        <p:txBody>
          <a:bodyPr vert="horz" wrap="square" lIns="91440" tIns="45720" rIns="91440" bIns="45720" anchor="ctr" anchorCtr="0"/>
          <a:p>
            <a:pPr algn="ctr" eaLnBrk="1" hangingPunct="1"/>
            <a:r>
              <a:rPr lang="zh-CN" altLang="en-US" sz="4000" dirty="0">
                <a:solidFill>
                  <a:srgbClr val="000000"/>
                </a:solidFill>
                <a:latin typeface="楷体_GB2312"/>
                <a:ea typeface="楷体_GB2312"/>
              </a:rPr>
              <a:t>切削热和切削温度</a:t>
            </a:r>
            <a:endParaRPr lang="zh-CN" altLang="en-US" sz="4000" dirty="0">
              <a:latin typeface="楷体_GB2312"/>
              <a:ea typeface="楷体_GB2312"/>
            </a:endParaRPr>
          </a:p>
        </p:txBody>
      </p:sp>
      <p:sp>
        <p:nvSpPr>
          <p:cNvPr id="153602" name="Rectangle 3"/>
          <p:cNvSpPr>
            <a:spLocks noGrp="1"/>
          </p:cNvSpPr>
          <p:nvPr>
            <p:ph idx="1"/>
          </p:nvPr>
        </p:nvSpPr>
        <p:spPr>
          <a:ln/>
        </p:spPr>
        <p:txBody>
          <a:bodyPr vert="horz" wrap="square" lIns="91440" tIns="45720" rIns="91440" bIns="45720" anchor="t" anchorCtr="0"/>
          <a:p>
            <a:pPr eaLnBrk="1" hangingPunct="1">
              <a:lnSpc>
                <a:spcPct val="120000"/>
              </a:lnSpc>
              <a:buNone/>
            </a:pPr>
            <a:r>
              <a:rPr lang="en-US" altLang="zh-CN" sz="2800" b="1" dirty="0">
                <a:solidFill>
                  <a:srgbClr val="CC0066"/>
                </a:solidFill>
                <a:latin typeface="楷体_GB2312"/>
                <a:ea typeface="楷体_GB2312"/>
              </a:rPr>
              <a:t>3.</a:t>
            </a:r>
            <a:r>
              <a:rPr lang="zh-CN" altLang="en-US" sz="2800" b="1" dirty="0">
                <a:solidFill>
                  <a:srgbClr val="CC0066"/>
                </a:solidFill>
                <a:latin typeface="楷体_GB2312"/>
                <a:ea typeface="楷体_GB2312"/>
              </a:rPr>
              <a:t>洗涤作用：</a:t>
            </a:r>
            <a:r>
              <a:rPr lang="zh-CN" altLang="en-US" sz="2800" b="1" dirty="0">
                <a:solidFill>
                  <a:srgbClr val="000000"/>
                </a:solidFill>
                <a:latin typeface="楷体_GB2312"/>
                <a:ea typeface="楷体_GB2312"/>
              </a:rPr>
              <a:t>使切屑或磨料粒子被冲洗而离开刀具和工件的加工区，以防它们相互粘结及粘附在工件、刀具和机床上妨碍加工过程的正常进行。</a:t>
            </a:r>
            <a:endParaRPr lang="zh-CN" altLang="en-US" sz="2800" b="1" dirty="0">
              <a:solidFill>
                <a:srgbClr val="000000"/>
              </a:solidFill>
              <a:latin typeface="楷体_GB2312"/>
              <a:ea typeface="楷体_GB2312"/>
            </a:endParaRPr>
          </a:p>
          <a:p>
            <a:pPr eaLnBrk="1" hangingPunct="1">
              <a:lnSpc>
                <a:spcPct val="120000"/>
              </a:lnSpc>
              <a:buNone/>
            </a:pPr>
            <a:r>
              <a:rPr lang="en-US" altLang="zh-CN" sz="2800" b="1" dirty="0">
                <a:solidFill>
                  <a:srgbClr val="CC0066"/>
                </a:solidFill>
                <a:latin typeface="楷体_GB2312"/>
                <a:ea typeface="楷体_GB2312"/>
              </a:rPr>
              <a:t>4.</a:t>
            </a:r>
            <a:r>
              <a:rPr lang="zh-CN" altLang="en-US" sz="2800" b="1" dirty="0">
                <a:solidFill>
                  <a:srgbClr val="CC0066"/>
                </a:solidFill>
                <a:latin typeface="楷体_GB2312"/>
                <a:ea typeface="楷体_GB2312"/>
              </a:rPr>
              <a:t>防锈作用：</a:t>
            </a:r>
            <a:r>
              <a:rPr lang="zh-CN" altLang="en-US" sz="2800" b="1" dirty="0">
                <a:solidFill>
                  <a:srgbClr val="000000"/>
                </a:solidFill>
                <a:latin typeface="楷体_GB2312"/>
                <a:ea typeface="楷体_GB2312"/>
              </a:rPr>
              <a:t>应有一定的防锈性能，防止工件和机床生锈。如提高防锈性能，还可部分取代工序间防锈。</a:t>
            </a:r>
            <a:endParaRPr lang="zh-CN" altLang="en-US" sz="2800" b="1" dirty="0">
              <a:solidFill>
                <a:srgbClr val="000000"/>
              </a:solidFill>
              <a:latin typeface="楷体_GB2312"/>
              <a:ea typeface="楷体_GB2312"/>
            </a:endParaRPr>
          </a:p>
        </p:txBody>
      </p:sp>
      <p:pic>
        <p:nvPicPr>
          <p:cNvPr id="153603" name="图片 103"/>
          <p:cNvPicPr/>
          <p:nvPr/>
        </p:nvPicPr>
        <p:blipFill>
          <a:blip r:embed="rId1"/>
          <a:stretch>
            <a:fillRect/>
          </a:stretch>
        </p:blipFill>
        <p:spPr>
          <a:xfrm>
            <a:off x="3203575" y="4221163"/>
            <a:ext cx="4835525" cy="2500312"/>
          </a:xfrm>
          <a:prstGeom prst="rect">
            <a:avLst/>
          </a:prstGeom>
          <a:noFill/>
          <a:ln w="9525">
            <a:noFill/>
          </a:ln>
        </p:spPr>
      </p:pic>
    </p:spTree>
  </p:cSld>
  <p:clrMapOvr>
    <a:masterClrMapping/>
  </p:clrMapOvr>
  <p:transition spd="slow">
    <p:randomBar dir="ver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2"/>
          <p:cNvSpPr>
            <a:spLocks noGrp="1"/>
          </p:cNvSpPr>
          <p:nvPr>
            <p:ph type="title"/>
          </p:nvPr>
        </p:nvSpPr>
        <p:spPr>
          <a:xfrm>
            <a:off x="2832100" y="57150"/>
            <a:ext cx="5843588" cy="1139825"/>
          </a:xfrm>
          <a:ln/>
        </p:spPr>
        <p:txBody>
          <a:bodyPr vert="horz" wrap="square" lIns="91440" tIns="45720" rIns="91440" bIns="45720" anchor="ctr" anchorCtr="0"/>
          <a:p>
            <a:pPr algn="ctr" eaLnBrk="1" hangingPunct="1"/>
            <a:r>
              <a:rPr lang="zh-CN" altLang="en-US" sz="4000" dirty="0">
                <a:solidFill>
                  <a:srgbClr val="000000"/>
                </a:solidFill>
                <a:latin typeface="楷体_GB2312"/>
                <a:ea typeface="楷体_GB2312"/>
              </a:rPr>
              <a:t>切削热和切削温度</a:t>
            </a:r>
            <a:endParaRPr lang="zh-CN" altLang="en-US" sz="4000" dirty="0">
              <a:ea typeface="楷体_GB2312"/>
            </a:endParaRPr>
          </a:p>
        </p:txBody>
      </p:sp>
      <p:sp>
        <p:nvSpPr>
          <p:cNvPr id="155650" name="Rectangle 3"/>
          <p:cNvSpPr/>
          <p:nvPr/>
        </p:nvSpPr>
        <p:spPr>
          <a:xfrm>
            <a:off x="107950" y="1309688"/>
            <a:ext cx="6119813" cy="5432425"/>
          </a:xfrm>
          <a:prstGeom prst="rect">
            <a:avLst/>
          </a:prstGeom>
          <a:noFill/>
          <a:ln w="9525">
            <a:noFill/>
          </a:ln>
        </p:spPr>
        <p:txBody>
          <a:bodyPr anchor="t" anchorCtr="0">
            <a:spAutoFit/>
          </a:bodyPr>
          <a:p>
            <a:pPr>
              <a:spcBef>
                <a:spcPct val="50000"/>
              </a:spcBef>
              <a:buClr>
                <a:srgbClr val="FF3300"/>
              </a:buClr>
              <a:buFont typeface="Wingdings" panose="05000000000000000000" pitchFamily="2" charset="2"/>
              <a:buChar char="Ø"/>
            </a:pPr>
            <a:r>
              <a:rPr lang="zh-CN" altLang="en-US" sz="2800" b="1" dirty="0">
                <a:solidFill>
                  <a:srgbClr val="FF3300"/>
                </a:solidFill>
                <a:latin typeface="楷体_GB2312"/>
                <a:ea typeface="楷体_GB2312"/>
              </a:rPr>
              <a:t>常用的切削液有以下两大类：</a:t>
            </a:r>
            <a:endParaRPr lang="zh-CN" altLang="en-US" sz="2800" b="1" dirty="0">
              <a:solidFill>
                <a:srgbClr val="FF3300"/>
              </a:solidFill>
              <a:latin typeface="楷体_GB2312"/>
              <a:ea typeface="楷体_GB2312"/>
            </a:endParaRPr>
          </a:p>
          <a:p>
            <a:pPr>
              <a:spcBef>
                <a:spcPct val="50000"/>
              </a:spcBef>
            </a:pPr>
            <a:r>
              <a:rPr lang="zh-CN" altLang="en-US" sz="2400" b="1" dirty="0">
                <a:latin typeface="楷体_GB2312"/>
                <a:ea typeface="楷体_GB2312"/>
              </a:rPr>
              <a:t>    </a:t>
            </a:r>
            <a:r>
              <a:rPr lang="zh-CN" altLang="en-US" sz="2800" b="1" dirty="0">
                <a:solidFill>
                  <a:srgbClr val="990033"/>
                </a:solidFill>
                <a:latin typeface="楷体_GB2312"/>
                <a:ea typeface="楷体_GB2312"/>
              </a:rPr>
              <a:t>（</a:t>
            </a:r>
            <a:r>
              <a:rPr lang="en-US" altLang="zh-CN" sz="2800" b="1" dirty="0">
                <a:solidFill>
                  <a:srgbClr val="990033"/>
                </a:solidFill>
                <a:latin typeface="楷体_GB2312"/>
                <a:ea typeface="楷体_GB2312"/>
              </a:rPr>
              <a:t>1</a:t>
            </a:r>
            <a:r>
              <a:rPr lang="zh-CN" altLang="en-US" sz="2800" b="1" dirty="0">
                <a:solidFill>
                  <a:srgbClr val="990033"/>
                </a:solidFill>
                <a:latin typeface="楷体_GB2312"/>
                <a:ea typeface="楷体_GB2312"/>
              </a:rPr>
              <a:t>）水基切削液</a:t>
            </a:r>
            <a:r>
              <a:rPr lang="zh-CN" altLang="en-US" sz="2800" b="1" dirty="0">
                <a:latin typeface="楷体_GB2312"/>
                <a:ea typeface="楷体_GB2312"/>
              </a:rPr>
              <a:t> 这类切削液比热容大流动性好，主要起冷却作用也有一定的润滑作用，如水溶液（肥皂水、苏打水等）、乳化液等</a:t>
            </a:r>
            <a:r>
              <a:rPr lang="zh-CN" altLang="en-US" sz="2800" b="1" dirty="0">
                <a:latin typeface="Arial" panose="020B0604020202020204" pitchFamily="34" charset="0"/>
                <a:ea typeface="宋体" panose="02010600030101010101" pitchFamily="2" charset="-122"/>
              </a:rPr>
              <a:t>。</a:t>
            </a:r>
            <a:endParaRPr lang="zh-CN" altLang="en-US" sz="2800" b="1" dirty="0">
              <a:latin typeface="楷体_GB2312"/>
              <a:ea typeface="楷体_GB2312"/>
            </a:endParaRPr>
          </a:p>
          <a:p>
            <a:pPr>
              <a:spcBef>
                <a:spcPct val="50000"/>
              </a:spcBef>
            </a:pPr>
            <a:r>
              <a:rPr lang="zh-CN" altLang="en-US" sz="2800" b="1" dirty="0">
                <a:latin typeface="楷体_GB2312"/>
                <a:ea typeface="楷体_GB2312"/>
              </a:rPr>
              <a:t>    </a:t>
            </a:r>
            <a:r>
              <a:rPr lang="zh-CN" altLang="en-US" sz="2800" b="1" dirty="0">
                <a:solidFill>
                  <a:srgbClr val="990033"/>
                </a:solidFill>
                <a:latin typeface="楷体_GB2312"/>
                <a:ea typeface="楷体_GB2312"/>
              </a:rPr>
              <a:t>（</a:t>
            </a:r>
            <a:r>
              <a:rPr lang="en-US" altLang="zh-CN" sz="2800" b="1" dirty="0">
                <a:solidFill>
                  <a:srgbClr val="990033"/>
                </a:solidFill>
                <a:latin typeface="楷体_GB2312"/>
                <a:ea typeface="楷体_GB2312"/>
              </a:rPr>
              <a:t>2</a:t>
            </a:r>
            <a:r>
              <a:rPr lang="zh-CN" altLang="en-US" sz="2800" b="1" dirty="0">
                <a:solidFill>
                  <a:srgbClr val="990033"/>
                </a:solidFill>
                <a:latin typeface="楷体_GB2312"/>
                <a:ea typeface="楷体_GB2312"/>
              </a:rPr>
              <a:t>）油基切削液</a:t>
            </a:r>
            <a:r>
              <a:rPr lang="zh-CN" altLang="en-US" sz="2800" b="1" dirty="0">
                <a:latin typeface="楷体_GB2312"/>
                <a:ea typeface="楷体_GB2312"/>
              </a:rPr>
              <a:t> 又称切削油，主要成分是矿物油少数采用动植物油或复合油。这类切削液比热容小，流动性差，主要起润滑作用，也有一定的冷却作用。</a:t>
            </a:r>
            <a:endParaRPr lang="zh-CN" altLang="en-US" sz="2800" b="1" dirty="0">
              <a:latin typeface="楷体_GB2312"/>
              <a:ea typeface="楷体_GB2312"/>
            </a:endParaRPr>
          </a:p>
          <a:p>
            <a:pPr>
              <a:spcBef>
                <a:spcPct val="50000"/>
              </a:spcBef>
            </a:pPr>
            <a:r>
              <a:rPr lang="zh-CN" altLang="en-US" sz="2800" b="1" dirty="0">
                <a:latin typeface="楷体_GB2312"/>
                <a:ea typeface="楷体_GB2312"/>
              </a:rPr>
              <a:t>      </a:t>
            </a:r>
            <a:endParaRPr lang="zh-CN" altLang="en-US" sz="2800" b="1" dirty="0">
              <a:latin typeface="楷体_GB2312"/>
              <a:ea typeface="楷体_GB2312"/>
            </a:endParaRPr>
          </a:p>
        </p:txBody>
      </p:sp>
      <p:pic>
        <p:nvPicPr>
          <p:cNvPr id="1527812" name="Picture 4" descr="水溶性金属切削液"/>
          <p:cNvPicPr>
            <a:picLocks noChangeAspect="1"/>
          </p:cNvPicPr>
          <p:nvPr/>
        </p:nvPicPr>
        <p:blipFill>
          <a:blip r:embed="rId1"/>
          <a:stretch>
            <a:fillRect/>
          </a:stretch>
        </p:blipFill>
        <p:spPr>
          <a:xfrm>
            <a:off x="6516688" y="1196975"/>
            <a:ext cx="2365375" cy="2728913"/>
          </a:xfrm>
          <a:prstGeom prst="rect">
            <a:avLst/>
          </a:prstGeom>
          <a:noFill/>
          <a:ln w="9525">
            <a:noFill/>
          </a:ln>
        </p:spPr>
      </p:pic>
      <p:pic>
        <p:nvPicPr>
          <p:cNvPr id="1527813" name="Picture 5" descr="高速钢切削液"/>
          <p:cNvPicPr>
            <a:picLocks noChangeAspect="1"/>
          </p:cNvPicPr>
          <p:nvPr/>
        </p:nvPicPr>
        <p:blipFill>
          <a:blip r:embed="rId2"/>
          <a:stretch>
            <a:fillRect/>
          </a:stretch>
        </p:blipFill>
        <p:spPr>
          <a:xfrm>
            <a:off x="6516688" y="4005263"/>
            <a:ext cx="2384425" cy="2636837"/>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527812"/>
                                        </p:tgtEl>
                                        <p:attrNameLst>
                                          <p:attrName>style.visibility</p:attrName>
                                        </p:attrNameLst>
                                      </p:cBhvr>
                                      <p:to>
                                        <p:strVal val="visible"/>
                                      </p:to>
                                    </p:set>
                                    <p:anim calcmode="lin" valueType="num">
                                      <p:cBhvr>
                                        <p:cTn id="7" dur="1000" fill="hold"/>
                                        <p:tgtEl>
                                          <p:spTgt spid="1527812"/>
                                        </p:tgtEl>
                                        <p:attrNameLst>
                                          <p:attrName>ppt_w</p:attrName>
                                        </p:attrNameLst>
                                      </p:cBhvr>
                                      <p:tavLst>
                                        <p:tav tm="0">
                                          <p:val>
                                            <p:strVal val="#ppt_w*0.70"/>
                                          </p:val>
                                        </p:tav>
                                        <p:tav tm="100000">
                                          <p:val>
                                            <p:strVal val="#ppt_w"/>
                                          </p:val>
                                        </p:tav>
                                      </p:tavLst>
                                    </p:anim>
                                    <p:anim calcmode="lin" valueType="num">
                                      <p:cBhvr>
                                        <p:cTn id="8" dur="1000" fill="hold"/>
                                        <p:tgtEl>
                                          <p:spTgt spid="1527812"/>
                                        </p:tgtEl>
                                        <p:attrNameLst>
                                          <p:attrName>ppt_h</p:attrName>
                                        </p:attrNameLst>
                                      </p:cBhvr>
                                      <p:tavLst>
                                        <p:tav tm="0">
                                          <p:val>
                                            <p:strVal val="#ppt_h"/>
                                          </p:val>
                                        </p:tav>
                                        <p:tav tm="100000">
                                          <p:val>
                                            <p:strVal val="#ppt_h"/>
                                          </p:val>
                                        </p:tav>
                                      </p:tavLst>
                                    </p:anim>
                                    <p:animEffect transition="in" filter="fade">
                                      <p:cBhvr>
                                        <p:cTn id="9" dur="1000"/>
                                        <p:tgtEl>
                                          <p:spTgt spid="152781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27813"/>
                                        </p:tgtEl>
                                        <p:attrNameLst>
                                          <p:attrName>style.visibility</p:attrName>
                                        </p:attrNameLst>
                                      </p:cBhvr>
                                      <p:to>
                                        <p:strVal val="visible"/>
                                      </p:to>
                                    </p:set>
                                    <p:anim calcmode="lin" valueType="num">
                                      <p:cBhvr>
                                        <p:cTn id="14" dur="1000" fill="hold"/>
                                        <p:tgtEl>
                                          <p:spTgt spid="1527813"/>
                                        </p:tgtEl>
                                        <p:attrNameLst>
                                          <p:attrName>ppt_w</p:attrName>
                                        </p:attrNameLst>
                                      </p:cBhvr>
                                      <p:tavLst>
                                        <p:tav tm="0">
                                          <p:val>
                                            <p:strVal val="#ppt_w*0.70"/>
                                          </p:val>
                                        </p:tav>
                                        <p:tav tm="100000">
                                          <p:val>
                                            <p:strVal val="#ppt_w"/>
                                          </p:val>
                                        </p:tav>
                                      </p:tavLst>
                                    </p:anim>
                                    <p:anim calcmode="lin" valueType="num">
                                      <p:cBhvr>
                                        <p:cTn id="15" dur="1000" fill="hold"/>
                                        <p:tgtEl>
                                          <p:spTgt spid="1527813"/>
                                        </p:tgtEl>
                                        <p:attrNameLst>
                                          <p:attrName>ppt_h</p:attrName>
                                        </p:attrNameLst>
                                      </p:cBhvr>
                                      <p:tavLst>
                                        <p:tav tm="0">
                                          <p:val>
                                            <p:strVal val="#ppt_h"/>
                                          </p:val>
                                        </p:tav>
                                        <p:tav tm="100000">
                                          <p:val>
                                            <p:strVal val="#ppt_h"/>
                                          </p:val>
                                        </p:tav>
                                      </p:tavLst>
                                    </p:anim>
                                    <p:animEffect transition="in" filter="fade">
                                      <p:cBhvr>
                                        <p:cTn id="16" dur="1000"/>
                                        <p:tgtEl>
                                          <p:spTgt spid="1527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Rectangle 2"/>
          <p:cNvSpPr>
            <a:spLocks noGrp="1"/>
          </p:cNvSpPr>
          <p:nvPr>
            <p:ph type="title"/>
          </p:nvPr>
        </p:nvSpPr>
        <p:spPr>
          <a:xfrm>
            <a:off x="2833688" y="-14287"/>
            <a:ext cx="5051425" cy="1139825"/>
          </a:xfrm>
          <a:ln/>
        </p:spPr>
        <p:txBody>
          <a:bodyPr vert="horz" wrap="square" lIns="91440" tIns="45720" rIns="91440" bIns="45720" anchor="ctr" anchorCtr="0"/>
          <a:p>
            <a:pPr algn="ctr" eaLnBrk="1" hangingPunct="1"/>
            <a:r>
              <a:rPr lang="zh-CN" altLang="en-US" sz="4000" dirty="0">
                <a:solidFill>
                  <a:srgbClr val="000000"/>
                </a:solidFill>
                <a:latin typeface="楷体_GB2312"/>
                <a:ea typeface="楷体_GB2312"/>
              </a:rPr>
              <a:t>切削热和切削温度</a:t>
            </a:r>
            <a:endParaRPr lang="zh-CN" altLang="en-US" sz="4000" dirty="0">
              <a:ea typeface="楷体_GB2312"/>
            </a:endParaRPr>
          </a:p>
        </p:txBody>
      </p:sp>
      <p:sp>
        <p:nvSpPr>
          <p:cNvPr id="157698" name="Rectangle 3"/>
          <p:cNvSpPr/>
          <p:nvPr/>
        </p:nvSpPr>
        <p:spPr>
          <a:xfrm>
            <a:off x="539750" y="1268413"/>
            <a:ext cx="7864475" cy="5630862"/>
          </a:xfrm>
          <a:prstGeom prst="rect">
            <a:avLst/>
          </a:prstGeom>
          <a:noFill/>
          <a:ln w="9525">
            <a:noFill/>
          </a:ln>
        </p:spPr>
        <p:txBody>
          <a:bodyPr wrap="square" anchor="t" anchorCtr="0">
            <a:spAutoFit/>
          </a:bodyPr>
          <a:p>
            <a:r>
              <a:rPr lang="en-US" altLang="zh-CN" sz="2400" b="1" dirty="0">
                <a:solidFill>
                  <a:srgbClr val="FF0000"/>
                </a:solidFill>
                <a:latin typeface="楷体_GB2312"/>
                <a:ea typeface="楷体_GB2312"/>
              </a:rPr>
              <a:t>2</a:t>
            </a:r>
            <a:r>
              <a:rPr lang="zh-CN" altLang="en-US" sz="2400" b="1" dirty="0">
                <a:solidFill>
                  <a:srgbClr val="FF0000"/>
                </a:solidFill>
                <a:latin typeface="楷体_GB2312"/>
                <a:ea typeface="楷体_GB2312"/>
              </a:rPr>
              <a:t>．切削液的选择和使用</a:t>
            </a:r>
            <a:r>
              <a:rPr lang="zh-CN" altLang="en-US" sz="2400" b="1" dirty="0">
                <a:latin typeface="楷体_GB2312"/>
                <a:ea typeface="楷体_GB2312"/>
              </a:rPr>
              <a:t> </a:t>
            </a:r>
            <a:endParaRPr lang="zh-CN" altLang="en-US" sz="2400" b="1" dirty="0">
              <a:latin typeface="楷体_GB2312"/>
              <a:ea typeface="楷体_GB2312"/>
            </a:endParaRPr>
          </a:p>
          <a:p>
            <a:r>
              <a:rPr lang="zh-CN" altLang="en-US" sz="2400" b="1" dirty="0">
                <a:solidFill>
                  <a:srgbClr val="FF33CC"/>
                </a:solidFill>
                <a:latin typeface="楷体_GB2312"/>
                <a:ea typeface="楷体_GB2312"/>
              </a:rPr>
              <a:t>    </a:t>
            </a:r>
            <a:r>
              <a:rPr lang="zh-CN" altLang="en-US" sz="2400" b="1" dirty="0">
                <a:solidFill>
                  <a:srgbClr val="008000"/>
                </a:solidFill>
                <a:latin typeface="楷体_GB2312"/>
                <a:ea typeface="楷体_GB2312"/>
              </a:rPr>
              <a:t>粗加工时，</a:t>
            </a:r>
            <a:r>
              <a:rPr lang="zh-CN" altLang="en-US" sz="2400" b="1" dirty="0">
                <a:latin typeface="楷体_GB2312"/>
                <a:ea typeface="楷体_GB2312"/>
              </a:rPr>
              <a:t>主要要求冷却，一般应选用冷却作用较好的切削液，如低浓度的乳化液等。</a:t>
            </a:r>
            <a:endParaRPr lang="zh-CN" altLang="en-US" sz="2400" b="1" dirty="0">
              <a:latin typeface="楷体_GB2312"/>
              <a:ea typeface="楷体_GB2312"/>
            </a:endParaRPr>
          </a:p>
          <a:p>
            <a:r>
              <a:rPr lang="zh-CN" altLang="en-US" sz="2400" b="1" dirty="0">
                <a:latin typeface="楷体_GB2312"/>
                <a:ea typeface="楷体_GB2312"/>
              </a:rPr>
              <a:t>    </a:t>
            </a:r>
            <a:r>
              <a:rPr lang="zh-CN" altLang="en-US" sz="2400" b="1" dirty="0">
                <a:solidFill>
                  <a:srgbClr val="008000"/>
                </a:solidFill>
                <a:latin typeface="楷体_GB2312"/>
                <a:ea typeface="楷体_GB2312"/>
              </a:rPr>
              <a:t>精加工时，</a:t>
            </a:r>
            <a:r>
              <a:rPr lang="zh-CN" altLang="en-US" sz="2400" b="1" dirty="0">
                <a:latin typeface="楷体_GB2312"/>
                <a:ea typeface="楷体_GB2312"/>
              </a:rPr>
              <a:t>主要希望提高表面质量和减少刀具磨损，应选用润滑作用较好的切削液如高浓度的乳化液或切削油等。</a:t>
            </a:r>
            <a:endParaRPr lang="zh-CN" altLang="en-US" sz="2400" b="1" dirty="0">
              <a:latin typeface="楷体_GB2312"/>
              <a:ea typeface="楷体_GB2312"/>
            </a:endParaRPr>
          </a:p>
          <a:p>
            <a:r>
              <a:rPr lang="zh-CN" altLang="en-US" b="1" dirty="0">
                <a:solidFill>
                  <a:srgbClr val="FF33CC"/>
                </a:solidFill>
                <a:latin typeface="Arial" panose="020B0604020202020204" pitchFamily="34" charset="0"/>
                <a:ea typeface="宋体" panose="02010600030101010101" pitchFamily="2" charset="-122"/>
              </a:rPr>
              <a:t>         </a:t>
            </a:r>
            <a:r>
              <a:rPr lang="zh-CN" altLang="en-US" sz="2400" b="1" dirty="0">
                <a:solidFill>
                  <a:srgbClr val="008000"/>
                </a:solidFill>
                <a:latin typeface="楷体_GB2312"/>
                <a:ea typeface="楷体_GB2312"/>
              </a:rPr>
              <a:t>加工一般钢材时，</a:t>
            </a:r>
            <a:r>
              <a:rPr lang="zh-CN" altLang="en-US" sz="2400" b="1" dirty="0">
                <a:latin typeface="楷体_GB2312"/>
                <a:ea typeface="楷体_GB2312"/>
              </a:rPr>
              <a:t>通常选用乳化液或硫化切削油。</a:t>
            </a:r>
            <a:endParaRPr lang="zh-CN" altLang="en-US" sz="2400" b="1" dirty="0">
              <a:latin typeface="楷体_GB2312"/>
              <a:ea typeface="楷体_GB2312"/>
            </a:endParaRPr>
          </a:p>
          <a:p>
            <a:r>
              <a:rPr lang="zh-CN" altLang="en-US" sz="2400" b="1" dirty="0">
                <a:latin typeface="楷体_GB2312"/>
                <a:ea typeface="楷体_GB2312"/>
              </a:rPr>
              <a:t> </a:t>
            </a:r>
            <a:r>
              <a:rPr lang="en-US" altLang="zh-CN" sz="2400" b="1" dirty="0">
                <a:latin typeface="楷体_GB2312"/>
                <a:ea typeface="楷体_GB2312"/>
              </a:rPr>
              <a:t>   </a:t>
            </a:r>
            <a:r>
              <a:rPr lang="zh-CN" altLang="en-US" sz="2400" b="1" dirty="0">
                <a:solidFill>
                  <a:srgbClr val="FF0000"/>
                </a:solidFill>
                <a:latin typeface="楷体_GB2312"/>
                <a:ea typeface="楷体_GB2312"/>
              </a:rPr>
              <a:t>加工铸铁、青铜、黄铜等脆性材料时</a:t>
            </a:r>
            <a:r>
              <a:rPr lang="zh-CN" altLang="en-US" sz="2400" b="1" dirty="0">
                <a:latin typeface="楷体_GB2312"/>
                <a:ea typeface="楷体_GB2312"/>
              </a:rPr>
              <a:t>，为了避免崩碎的切屑进入机床运动部件一般不用切削液。但在低速精加工时，为了提高表面质量，可用煤油作为切削液。</a:t>
            </a:r>
            <a:endParaRPr lang="zh-CN" altLang="en-US" sz="2400" b="1" dirty="0">
              <a:latin typeface="楷体_GB2312"/>
              <a:ea typeface="楷体_GB2312"/>
            </a:endParaRPr>
          </a:p>
          <a:p>
            <a:r>
              <a:rPr lang="zh-CN" altLang="en-US" sz="2400" b="1" dirty="0">
                <a:solidFill>
                  <a:srgbClr val="FF33CC"/>
                </a:solidFill>
                <a:latin typeface="楷体_GB2312"/>
                <a:ea typeface="楷体_GB2312"/>
              </a:rPr>
              <a:t>    </a:t>
            </a:r>
            <a:r>
              <a:rPr lang="zh-CN" altLang="en-US" sz="2400" b="1" dirty="0">
                <a:solidFill>
                  <a:srgbClr val="008000"/>
                </a:solidFill>
                <a:latin typeface="楷体_GB2312"/>
                <a:ea typeface="楷体_GB2312"/>
              </a:rPr>
              <a:t>硬质合金刀具</a:t>
            </a:r>
            <a:r>
              <a:rPr lang="zh-CN" altLang="en-US" sz="2400" b="1" dirty="0">
                <a:latin typeface="楷体_GB2312"/>
                <a:ea typeface="楷体_GB2312"/>
              </a:rPr>
              <a:t>由于耐热性和耐磨性较好，一般不用切削液。如果要用，必须连续地、充分地供给，</a:t>
            </a:r>
            <a:r>
              <a:rPr lang="zh-CN" altLang="en-US" sz="2400" b="1" dirty="0">
                <a:solidFill>
                  <a:srgbClr val="FF0000"/>
                </a:solidFill>
                <a:latin typeface="楷体_GB2312"/>
                <a:ea typeface="楷体_GB2312"/>
              </a:rPr>
              <a:t>切不可断断续续，以免硬质合金刀片因骤冷骤热而开裂。</a:t>
            </a:r>
            <a:endParaRPr lang="zh-CN" altLang="en-US" sz="2400" b="1" dirty="0">
              <a:solidFill>
                <a:srgbClr val="FF0000"/>
              </a:solidFill>
              <a:latin typeface="楷体_GB2312"/>
              <a:ea typeface="楷体_GB2312"/>
            </a:endParaRPr>
          </a:p>
          <a:p>
            <a:endParaRPr lang="zh-CN" altLang="en-US" sz="2400" b="1" dirty="0">
              <a:solidFill>
                <a:srgbClr val="FF0000"/>
              </a:solidFill>
              <a:latin typeface="楷体_GB2312"/>
              <a:ea typeface="楷体_GB2312"/>
            </a:endParaRPr>
          </a:p>
          <a:p>
            <a:endParaRPr lang="en-US" altLang="zh-CN" sz="2400" b="1" dirty="0">
              <a:latin typeface="楷体_GB2312"/>
              <a:ea typeface="楷体_GB2312"/>
            </a:endParaRPr>
          </a:p>
        </p:txBody>
      </p:sp>
    </p:spTree>
  </p:cSld>
  <p:clrMapOvr>
    <a:masterClrMapping/>
  </p:clrMapOvr>
  <p:transition spd="slow">
    <p:randomBar dir="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Rectangle 2"/>
          <p:cNvSpPr>
            <a:spLocks noGrp="1"/>
          </p:cNvSpPr>
          <p:nvPr>
            <p:ph type="title"/>
          </p:nvPr>
        </p:nvSpPr>
        <p:spPr>
          <a:xfrm>
            <a:off x="2976563" y="-14287"/>
            <a:ext cx="5267325" cy="1139825"/>
          </a:xfrm>
          <a:ln/>
        </p:spPr>
        <p:txBody>
          <a:bodyPr vert="horz" wrap="square" lIns="91440" tIns="45720" rIns="91440" bIns="45720" anchor="ctr" anchorCtr="0"/>
          <a:p>
            <a:pPr algn="ctr" eaLnBrk="1" hangingPunct="1"/>
            <a:r>
              <a:rPr lang="zh-CN" altLang="en-US" sz="4000" dirty="0">
                <a:ea typeface="楷体_GB2312"/>
              </a:rPr>
              <a:t>切削用量的选择原则</a:t>
            </a:r>
            <a:endParaRPr lang="zh-CN" altLang="en-US" sz="4000" dirty="0">
              <a:ea typeface="楷体_GB2312"/>
            </a:endParaRPr>
          </a:p>
        </p:txBody>
      </p:sp>
      <p:sp>
        <p:nvSpPr>
          <p:cNvPr id="159746" name="Rectangle 3"/>
          <p:cNvSpPr/>
          <p:nvPr/>
        </p:nvSpPr>
        <p:spPr>
          <a:xfrm>
            <a:off x="0" y="1212850"/>
            <a:ext cx="9144000" cy="6000750"/>
          </a:xfrm>
          <a:prstGeom prst="rect">
            <a:avLst/>
          </a:prstGeom>
          <a:noFill/>
          <a:ln w="9525">
            <a:noFill/>
          </a:ln>
        </p:spPr>
        <p:txBody>
          <a:bodyPr anchor="t" anchorCtr="0">
            <a:spAutoFit/>
          </a:bodyPr>
          <a:p>
            <a:pPr>
              <a:spcBef>
                <a:spcPct val="50000"/>
              </a:spcBef>
            </a:pPr>
            <a:r>
              <a:rPr lang="zh-CN" altLang="en-US" b="1" dirty="0">
                <a:solidFill>
                  <a:srgbClr val="FFFF00"/>
                </a:solidFill>
                <a:latin typeface="Century" panose="02040604050505020304" pitchFamily="18" charset="0"/>
                <a:ea typeface="宋体" panose="02010600030101010101" pitchFamily="2" charset="-122"/>
              </a:rPr>
              <a:t>　　</a:t>
            </a:r>
            <a:r>
              <a:rPr lang="zh-CN" altLang="en-US" sz="2400" b="1" dirty="0">
                <a:solidFill>
                  <a:srgbClr val="FF0000"/>
                </a:solidFill>
                <a:latin typeface="楷体_GB2312"/>
                <a:ea typeface="楷体_GB2312"/>
              </a:rPr>
              <a:t>四</a:t>
            </a:r>
            <a:r>
              <a:rPr lang="en-US" altLang="zh-CN" sz="2400" b="1" dirty="0">
                <a:solidFill>
                  <a:srgbClr val="FF0000"/>
                </a:solidFill>
                <a:latin typeface="楷体_GB2312"/>
                <a:ea typeface="楷体_GB2312"/>
              </a:rPr>
              <a:t>.</a:t>
            </a:r>
            <a:r>
              <a:rPr lang="zh-CN" altLang="en-US" sz="2400" b="1" dirty="0">
                <a:solidFill>
                  <a:srgbClr val="FF0000"/>
                </a:solidFill>
                <a:latin typeface="楷体_GB2312"/>
                <a:ea typeface="楷体_GB2312"/>
              </a:rPr>
              <a:t>材料切削加工性的改善</a:t>
            </a:r>
            <a:endParaRPr lang="zh-CN" altLang="en-US" sz="2400" b="1" dirty="0">
              <a:solidFill>
                <a:srgbClr val="FF0000"/>
              </a:solidFill>
              <a:latin typeface="楷体_GB2312"/>
              <a:ea typeface="楷体_GB2312"/>
            </a:endParaRPr>
          </a:p>
          <a:p>
            <a:pPr>
              <a:spcBef>
                <a:spcPct val="50000"/>
              </a:spcBef>
            </a:pPr>
            <a:r>
              <a:rPr lang="zh-CN" altLang="en-US" sz="2400" b="1" dirty="0">
                <a:latin typeface="楷体_GB2312"/>
                <a:ea typeface="楷体_GB2312"/>
              </a:rPr>
              <a:t>　　</a:t>
            </a:r>
            <a:r>
              <a:rPr lang="zh-CN" altLang="en-US" sz="2400" b="1" dirty="0">
                <a:solidFill>
                  <a:srgbClr val="008000"/>
                </a:solidFill>
                <a:latin typeface="楷体_GB2312"/>
                <a:ea typeface="楷体_GB2312"/>
              </a:rPr>
              <a:t>１</a:t>
            </a:r>
            <a:r>
              <a:rPr lang="en-US" altLang="zh-CN" sz="2400" b="1" dirty="0">
                <a:solidFill>
                  <a:srgbClr val="008000"/>
                </a:solidFill>
                <a:latin typeface="楷体_GB2312"/>
                <a:ea typeface="楷体_GB2312"/>
              </a:rPr>
              <a:t>.</a:t>
            </a:r>
            <a:r>
              <a:rPr lang="zh-CN" altLang="en-US" sz="2400" b="1" dirty="0">
                <a:solidFill>
                  <a:srgbClr val="008000"/>
                </a:solidFill>
                <a:latin typeface="楷体_GB2312"/>
                <a:ea typeface="楷体_GB2312"/>
              </a:rPr>
              <a:t>材料切削加工性的概念和衡量指标</a:t>
            </a:r>
            <a:r>
              <a:rPr lang="zh-CN" altLang="en-US" sz="2400" b="1" dirty="0">
                <a:solidFill>
                  <a:srgbClr val="FFFF00"/>
                </a:solidFill>
                <a:latin typeface="楷体_GB2312"/>
                <a:ea typeface="楷体_GB2312"/>
              </a:rPr>
              <a:t>　</a:t>
            </a:r>
            <a:r>
              <a:rPr lang="zh-CN" altLang="en-US" sz="2400" b="1" dirty="0">
                <a:latin typeface="楷体_GB2312"/>
                <a:ea typeface="楷体_GB2312"/>
              </a:rPr>
              <a:t>切削加工性是指材料被切削加工的难易程度。它具有一定的相对性，常用的指标有：</a:t>
            </a:r>
            <a:endParaRPr lang="zh-CN" altLang="en-US" sz="2400" b="1" dirty="0">
              <a:latin typeface="楷体_GB2312"/>
              <a:ea typeface="楷体_GB2312"/>
            </a:endParaRPr>
          </a:p>
          <a:p>
            <a:pPr>
              <a:spcBef>
                <a:spcPct val="50000"/>
              </a:spcBef>
            </a:pPr>
            <a:r>
              <a:rPr lang="zh-CN" altLang="en-US" sz="2400" b="1" dirty="0">
                <a:solidFill>
                  <a:srgbClr val="0033CC"/>
                </a:solidFill>
                <a:latin typeface="楷体_GB2312"/>
                <a:ea typeface="楷体_GB2312"/>
              </a:rPr>
              <a:t>  （</a:t>
            </a:r>
            <a:r>
              <a:rPr lang="en-US" altLang="zh-CN" sz="2400" b="1" dirty="0">
                <a:solidFill>
                  <a:srgbClr val="0033CC"/>
                </a:solidFill>
                <a:latin typeface="楷体_GB2312"/>
                <a:ea typeface="楷体_GB2312"/>
              </a:rPr>
              <a:t>1</a:t>
            </a:r>
            <a:r>
              <a:rPr lang="zh-CN" altLang="en-US" sz="2400" b="1" dirty="0">
                <a:solidFill>
                  <a:srgbClr val="0033CC"/>
                </a:solidFill>
                <a:latin typeface="楷体_GB2312"/>
                <a:ea typeface="楷体_GB2312"/>
              </a:rPr>
              <a:t>） 一定刀具耐用度下的切削速度</a:t>
            </a:r>
            <a:r>
              <a:rPr lang="en-US" altLang="zh-CN" sz="2400" b="1" i="1" dirty="0">
                <a:solidFill>
                  <a:srgbClr val="0033CC"/>
                </a:solidFill>
                <a:latin typeface="楷体_GB2312"/>
                <a:ea typeface="楷体_GB2312"/>
              </a:rPr>
              <a:t>v</a:t>
            </a:r>
            <a:r>
              <a:rPr lang="en-US" altLang="zh-CN" sz="2400" b="1" baseline="-25000" dirty="0">
                <a:solidFill>
                  <a:srgbClr val="0033CC"/>
                </a:solidFill>
                <a:latin typeface="楷体_GB2312"/>
                <a:ea typeface="楷体_GB2312"/>
              </a:rPr>
              <a:t>T</a:t>
            </a:r>
            <a:r>
              <a:rPr lang="en-US" altLang="zh-CN" sz="2400" b="1" baseline="-25000" dirty="0">
                <a:latin typeface="楷体_GB2312"/>
                <a:ea typeface="楷体_GB2312"/>
              </a:rPr>
              <a:t> </a:t>
            </a:r>
            <a:r>
              <a:rPr lang="zh-CN" altLang="en-US" sz="2400" b="1" dirty="0">
                <a:latin typeface="楷体_GB2312"/>
                <a:ea typeface="楷体_GB2312"/>
              </a:rPr>
              <a:t>即刀具耐用度为</a:t>
            </a:r>
            <a:r>
              <a:rPr lang="en-US" altLang="zh-CN" sz="2400" b="1" dirty="0">
                <a:latin typeface="楷体_GB2312"/>
                <a:ea typeface="楷体_GB2312"/>
              </a:rPr>
              <a:t>T</a:t>
            </a:r>
            <a:r>
              <a:rPr lang="zh-CN" altLang="en-US" sz="2400" b="1" dirty="0">
                <a:latin typeface="楷体_GB2312"/>
                <a:ea typeface="楷体_GB2312"/>
              </a:rPr>
              <a:t>（</a:t>
            </a:r>
            <a:r>
              <a:rPr lang="en-US" altLang="zh-CN" sz="2400" b="1" dirty="0">
                <a:latin typeface="楷体_GB2312"/>
                <a:ea typeface="楷体_GB2312"/>
              </a:rPr>
              <a:t>min</a:t>
            </a:r>
            <a:r>
              <a:rPr lang="zh-CN" altLang="en-US" sz="2400" b="1" dirty="0">
                <a:latin typeface="楷体_GB2312"/>
                <a:ea typeface="楷体_GB2312"/>
              </a:rPr>
              <a:t>）时切削某种材料所允许的切削速度。</a:t>
            </a:r>
            <a:r>
              <a:rPr lang="en-US" altLang="zh-CN" sz="2400" b="1" i="1" dirty="0">
                <a:latin typeface="楷体_GB2312"/>
                <a:ea typeface="楷体_GB2312"/>
              </a:rPr>
              <a:t>v</a:t>
            </a:r>
            <a:r>
              <a:rPr lang="en-US" altLang="zh-CN" sz="2400" b="1" i="1" baseline="-25000" dirty="0">
                <a:latin typeface="楷体_GB2312"/>
                <a:ea typeface="楷体_GB2312"/>
              </a:rPr>
              <a:t>T</a:t>
            </a:r>
            <a:r>
              <a:rPr lang="en-US" altLang="zh-CN" sz="2400" b="1" baseline="-25000" dirty="0">
                <a:latin typeface="楷体_GB2312"/>
                <a:ea typeface="楷体_GB2312"/>
              </a:rPr>
              <a:t> </a:t>
            </a:r>
            <a:r>
              <a:rPr lang="zh-CN" altLang="en-US" sz="2400" b="1" dirty="0">
                <a:latin typeface="楷体_GB2312"/>
                <a:ea typeface="楷体_GB2312"/>
              </a:rPr>
              <a:t>越高，材料的切削加工性越好。若取</a:t>
            </a:r>
            <a:r>
              <a:rPr lang="en-US" altLang="zh-CN" sz="2400" b="1" dirty="0">
                <a:latin typeface="楷体_GB2312"/>
                <a:ea typeface="楷体_GB2312"/>
              </a:rPr>
              <a:t>T</a:t>
            </a:r>
            <a:r>
              <a:rPr lang="zh-CN" altLang="en-US" sz="2400" b="1" dirty="0">
                <a:latin typeface="楷体_GB2312"/>
                <a:ea typeface="楷体_GB2312"/>
              </a:rPr>
              <a:t>＝</a:t>
            </a:r>
            <a:r>
              <a:rPr lang="en-US" altLang="zh-CN" sz="2400" b="1" dirty="0">
                <a:latin typeface="楷体_GB2312"/>
                <a:ea typeface="楷体_GB2312"/>
              </a:rPr>
              <a:t>60 min</a:t>
            </a:r>
            <a:r>
              <a:rPr lang="zh-CN" altLang="en-US" sz="2400" b="1" dirty="0">
                <a:latin typeface="楷体_GB2312"/>
                <a:ea typeface="楷体_GB2312"/>
              </a:rPr>
              <a:t>，则</a:t>
            </a:r>
            <a:r>
              <a:rPr lang="en-US" altLang="zh-CN" sz="2400" b="1" i="1" dirty="0">
                <a:latin typeface="楷体_GB2312"/>
                <a:ea typeface="楷体_GB2312"/>
              </a:rPr>
              <a:t>v</a:t>
            </a:r>
            <a:r>
              <a:rPr lang="en-US" altLang="zh-CN" sz="2400" b="1" i="1" baseline="-25000" dirty="0">
                <a:latin typeface="楷体_GB2312"/>
                <a:ea typeface="楷体_GB2312"/>
              </a:rPr>
              <a:t>T</a:t>
            </a:r>
            <a:r>
              <a:rPr lang="en-US" altLang="zh-CN" sz="2400" b="1" baseline="-25000" dirty="0">
                <a:latin typeface="楷体_GB2312"/>
                <a:ea typeface="楷体_GB2312"/>
              </a:rPr>
              <a:t> </a:t>
            </a:r>
            <a:r>
              <a:rPr lang="zh-CN" altLang="en-US" sz="2400" b="1" dirty="0">
                <a:latin typeface="楷体_GB2312"/>
                <a:ea typeface="楷体_GB2312"/>
              </a:rPr>
              <a:t>可写作</a:t>
            </a:r>
            <a:r>
              <a:rPr lang="en-US" altLang="zh-CN" sz="2400" b="1" i="1" dirty="0">
                <a:latin typeface="楷体_GB2312"/>
                <a:ea typeface="楷体_GB2312"/>
              </a:rPr>
              <a:t>v</a:t>
            </a:r>
            <a:r>
              <a:rPr lang="en-US" altLang="zh-CN" sz="2400" b="1" baseline="-25000" dirty="0">
                <a:latin typeface="楷体_GB2312"/>
                <a:ea typeface="楷体_GB2312"/>
              </a:rPr>
              <a:t>60</a:t>
            </a:r>
            <a:r>
              <a:rPr lang="zh-CN" altLang="en-US" sz="2400" b="1" dirty="0">
                <a:latin typeface="楷体_GB2312"/>
                <a:ea typeface="楷体_GB2312"/>
              </a:rPr>
              <a:t>。</a:t>
            </a:r>
            <a:endParaRPr lang="zh-CN" altLang="en-US" sz="2400" b="1" dirty="0">
              <a:latin typeface="楷体_GB2312"/>
              <a:ea typeface="楷体_GB2312"/>
            </a:endParaRPr>
          </a:p>
          <a:p>
            <a:pPr>
              <a:spcBef>
                <a:spcPct val="50000"/>
              </a:spcBef>
            </a:pPr>
            <a:r>
              <a:rPr lang="zh-CN" altLang="en-US" sz="2400" b="1" dirty="0">
                <a:solidFill>
                  <a:srgbClr val="0033CC"/>
                </a:solidFill>
                <a:latin typeface="楷体_GB2312"/>
                <a:ea typeface="楷体_GB2312"/>
              </a:rPr>
              <a:t>  （</a:t>
            </a:r>
            <a:r>
              <a:rPr lang="en-US" altLang="zh-CN" sz="2400" b="1" dirty="0">
                <a:solidFill>
                  <a:srgbClr val="0033CC"/>
                </a:solidFill>
                <a:latin typeface="楷体_GB2312"/>
                <a:ea typeface="楷体_GB2312"/>
              </a:rPr>
              <a:t>2</a:t>
            </a:r>
            <a:r>
              <a:rPr lang="zh-CN" altLang="en-US" sz="2400" b="1" dirty="0">
                <a:solidFill>
                  <a:srgbClr val="0033CC"/>
                </a:solidFill>
                <a:latin typeface="楷体_GB2312"/>
                <a:ea typeface="楷体_GB2312"/>
              </a:rPr>
              <a:t>）相对加工性</a:t>
            </a:r>
            <a:r>
              <a:rPr lang="en-US" altLang="zh-CN" sz="2400" b="1" i="1" dirty="0">
                <a:solidFill>
                  <a:srgbClr val="0033CC"/>
                </a:solidFill>
                <a:latin typeface="楷体_GB2312"/>
                <a:ea typeface="楷体_GB2312"/>
              </a:rPr>
              <a:t>K</a:t>
            </a:r>
            <a:r>
              <a:rPr lang="en-US" altLang="zh-CN" sz="2400" b="1" i="1" baseline="-25000" dirty="0">
                <a:solidFill>
                  <a:srgbClr val="0033CC"/>
                </a:solidFill>
                <a:latin typeface="楷体_GB2312"/>
                <a:ea typeface="楷体_GB2312"/>
              </a:rPr>
              <a:t>r </a:t>
            </a:r>
            <a:r>
              <a:rPr lang="zh-CN" altLang="en-US" sz="2400" b="1" dirty="0">
                <a:latin typeface="楷体_GB2312"/>
                <a:ea typeface="楷体_GB2312"/>
              </a:rPr>
              <a:t>即各种材料的</a:t>
            </a:r>
            <a:r>
              <a:rPr lang="en-US" altLang="zh-CN" sz="2400" b="1" i="1" dirty="0">
                <a:latin typeface="楷体_GB2312"/>
                <a:ea typeface="楷体_GB2312"/>
              </a:rPr>
              <a:t>v</a:t>
            </a:r>
            <a:r>
              <a:rPr lang="en-US" altLang="zh-CN" sz="2400" b="1" baseline="-25000" dirty="0">
                <a:latin typeface="楷体_GB2312"/>
                <a:ea typeface="楷体_GB2312"/>
              </a:rPr>
              <a:t>60</a:t>
            </a:r>
            <a:r>
              <a:rPr lang="en-US" altLang="zh-CN" sz="2400" b="1" dirty="0">
                <a:latin typeface="楷体_GB2312"/>
                <a:ea typeface="楷体_GB2312"/>
              </a:rPr>
              <a:t> </a:t>
            </a:r>
            <a:r>
              <a:rPr lang="zh-CN" altLang="en-US" sz="2400" b="1" dirty="0">
                <a:latin typeface="楷体_GB2312"/>
                <a:ea typeface="楷体_GB2312"/>
              </a:rPr>
              <a:t>与</a:t>
            </a:r>
            <a:r>
              <a:rPr lang="en-US" altLang="zh-CN" sz="2400" b="1" dirty="0">
                <a:latin typeface="楷体_GB2312"/>
                <a:ea typeface="楷体_GB2312"/>
              </a:rPr>
              <a:t>45</a:t>
            </a:r>
            <a:r>
              <a:rPr lang="zh-CN" altLang="en-US" sz="2400" b="1" dirty="0">
                <a:latin typeface="楷体_GB2312"/>
                <a:ea typeface="楷体_GB2312"/>
              </a:rPr>
              <a:t>钢（正火）的</a:t>
            </a:r>
            <a:r>
              <a:rPr lang="en-US" altLang="zh-CN" sz="2400" b="1" i="1" dirty="0">
                <a:latin typeface="楷体_GB2312"/>
                <a:ea typeface="楷体_GB2312"/>
              </a:rPr>
              <a:t>v</a:t>
            </a:r>
            <a:r>
              <a:rPr lang="en-US" altLang="zh-CN" sz="2400" b="1" baseline="-25000" dirty="0">
                <a:latin typeface="楷体_GB2312"/>
                <a:ea typeface="楷体_GB2312"/>
              </a:rPr>
              <a:t>60</a:t>
            </a:r>
            <a:r>
              <a:rPr lang="en-US" altLang="zh-CN" sz="2400" b="1" dirty="0">
                <a:latin typeface="楷体_GB2312"/>
                <a:ea typeface="楷体_GB2312"/>
              </a:rPr>
              <a:t> </a:t>
            </a:r>
            <a:r>
              <a:rPr lang="zh-CN" altLang="en-US" sz="2400" b="1" dirty="0">
                <a:latin typeface="楷体_GB2312"/>
                <a:ea typeface="楷体_GB2312"/>
              </a:rPr>
              <a:t>之比值。由于把后者的</a:t>
            </a:r>
            <a:r>
              <a:rPr lang="en-US" altLang="zh-CN" sz="2400" b="1" i="1" dirty="0">
                <a:latin typeface="楷体_GB2312"/>
                <a:ea typeface="楷体_GB2312"/>
              </a:rPr>
              <a:t>v</a:t>
            </a:r>
            <a:r>
              <a:rPr lang="en-US" altLang="zh-CN" sz="2400" b="1" baseline="-25000" dirty="0">
                <a:latin typeface="楷体_GB2312"/>
                <a:ea typeface="楷体_GB2312"/>
              </a:rPr>
              <a:t>60</a:t>
            </a:r>
            <a:r>
              <a:rPr lang="en-US" altLang="zh-CN" sz="2400" b="1" dirty="0">
                <a:latin typeface="楷体_GB2312"/>
                <a:ea typeface="楷体_GB2312"/>
              </a:rPr>
              <a:t> </a:t>
            </a:r>
            <a:r>
              <a:rPr lang="zh-CN" altLang="en-US" sz="2400" b="1" dirty="0">
                <a:latin typeface="楷体_GB2312"/>
                <a:ea typeface="楷体_GB2312"/>
              </a:rPr>
              <a:t>作为比较的基准。故写作</a:t>
            </a:r>
            <a:r>
              <a:rPr lang="en-US" altLang="zh-CN" sz="2400" b="1" dirty="0">
                <a:latin typeface="楷体_GB2312"/>
                <a:ea typeface="楷体_GB2312"/>
              </a:rPr>
              <a:t>(</a:t>
            </a:r>
            <a:r>
              <a:rPr lang="en-US" altLang="zh-CN" sz="2400" b="1" i="1" dirty="0">
                <a:latin typeface="楷体_GB2312"/>
                <a:ea typeface="楷体_GB2312"/>
              </a:rPr>
              <a:t>v</a:t>
            </a:r>
            <a:r>
              <a:rPr lang="en-US" altLang="zh-CN" sz="2400" b="1" baseline="-25000" dirty="0">
                <a:latin typeface="楷体_GB2312"/>
                <a:ea typeface="楷体_GB2312"/>
              </a:rPr>
              <a:t>60</a:t>
            </a:r>
            <a:r>
              <a:rPr lang="en-US" altLang="zh-CN" sz="2400" b="1" dirty="0">
                <a:latin typeface="楷体_GB2312"/>
                <a:ea typeface="楷体_GB2312"/>
              </a:rPr>
              <a:t> )</a:t>
            </a:r>
            <a:r>
              <a:rPr lang="en-US" altLang="zh-CN" sz="2400" b="1" baseline="-25000" dirty="0">
                <a:latin typeface="楷体_GB2312"/>
                <a:ea typeface="楷体_GB2312"/>
              </a:rPr>
              <a:t>j</a:t>
            </a:r>
            <a:r>
              <a:rPr lang="zh-CN" altLang="en-US" sz="2400" b="1" dirty="0">
                <a:latin typeface="楷体_GB2312"/>
                <a:ea typeface="楷体_GB2312"/>
              </a:rPr>
              <a:t>，于是</a:t>
            </a:r>
            <a:endParaRPr lang="zh-CN" altLang="en-US" sz="2400" b="1" dirty="0">
              <a:latin typeface="楷体_GB2312"/>
              <a:ea typeface="楷体_GB2312"/>
            </a:endParaRPr>
          </a:p>
          <a:p>
            <a:r>
              <a:rPr lang="zh-CN" altLang="en-US" sz="2400" b="1" dirty="0">
                <a:latin typeface="楷体_GB2312"/>
                <a:ea typeface="楷体_GB2312"/>
              </a:rPr>
              <a:t>                  </a:t>
            </a:r>
            <a:r>
              <a:rPr lang="en-US" altLang="zh-CN" sz="2400" b="1" i="1" dirty="0">
                <a:solidFill>
                  <a:srgbClr val="FF0000"/>
                </a:solidFill>
                <a:latin typeface="楷体_GB2312"/>
                <a:ea typeface="楷体_GB2312"/>
              </a:rPr>
              <a:t>K</a:t>
            </a:r>
            <a:r>
              <a:rPr lang="en-US" altLang="zh-CN" sz="2400" b="1" i="1" baseline="-25000" dirty="0">
                <a:solidFill>
                  <a:srgbClr val="FF0000"/>
                </a:solidFill>
                <a:latin typeface="楷体_GB2312"/>
                <a:ea typeface="楷体_GB2312"/>
              </a:rPr>
              <a:t>r</a:t>
            </a:r>
            <a:r>
              <a:rPr lang="en-US" altLang="zh-CN" sz="2400" b="1" i="1" dirty="0">
                <a:solidFill>
                  <a:srgbClr val="FF0000"/>
                </a:solidFill>
                <a:latin typeface="楷体_GB2312"/>
                <a:ea typeface="楷体_GB2312"/>
              </a:rPr>
              <a:t>= v</a:t>
            </a:r>
            <a:r>
              <a:rPr lang="en-US" altLang="zh-CN" sz="2400" b="1" baseline="-25000" dirty="0">
                <a:solidFill>
                  <a:srgbClr val="FF0000"/>
                </a:solidFill>
                <a:latin typeface="楷体_GB2312"/>
                <a:ea typeface="楷体_GB2312"/>
              </a:rPr>
              <a:t>60</a:t>
            </a:r>
            <a:r>
              <a:rPr lang="en-US" altLang="zh-CN" sz="2400" b="1" dirty="0">
                <a:solidFill>
                  <a:srgbClr val="FF0000"/>
                </a:solidFill>
                <a:latin typeface="楷体_GB2312"/>
                <a:ea typeface="楷体_GB2312"/>
              </a:rPr>
              <a:t>/ (</a:t>
            </a:r>
            <a:r>
              <a:rPr lang="en-US" altLang="zh-CN" sz="2400" b="1" i="1" dirty="0">
                <a:solidFill>
                  <a:srgbClr val="FF0000"/>
                </a:solidFill>
                <a:latin typeface="楷体_GB2312"/>
                <a:ea typeface="楷体_GB2312"/>
              </a:rPr>
              <a:t>v</a:t>
            </a:r>
            <a:r>
              <a:rPr lang="en-US" altLang="zh-CN" sz="2400" b="1" baseline="-25000" dirty="0">
                <a:solidFill>
                  <a:srgbClr val="FF0000"/>
                </a:solidFill>
                <a:latin typeface="楷体_GB2312"/>
                <a:ea typeface="楷体_GB2312"/>
              </a:rPr>
              <a:t>60</a:t>
            </a:r>
            <a:r>
              <a:rPr lang="en-US" altLang="zh-CN" sz="2400" b="1" dirty="0">
                <a:solidFill>
                  <a:srgbClr val="FF0000"/>
                </a:solidFill>
                <a:latin typeface="楷体_GB2312"/>
                <a:ea typeface="楷体_GB2312"/>
              </a:rPr>
              <a:t> )</a:t>
            </a:r>
            <a:r>
              <a:rPr lang="en-US" altLang="zh-CN" sz="2400" b="1" baseline="-25000" dirty="0">
                <a:solidFill>
                  <a:srgbClr val="FF0000"/>
                </a:solidFill>
                <a:latin typeface="楷体_GB2312"/>
                <a:ea typeface="楷体_GB2312"/>
              </a:rPr>
              <a:t>j</a:t>
            </a:r>
            <a:endParaRPr lang="en-US" altLang="zh-CN" sz="2400" b="1" baseline="-25000" dirty="0">
              <a:solidFill>
                <a:srgbClr val="FF0000"/>
              </a:solidFill>
              <a:latin typeface="楷体_GB2312"/>
              <a:ea typeface="楷体_GB2312"/>
            </a:endParaRPr>
          </a:p>
          <a:p>
            <a:endParaRPr lang="en-US" altLang="zh-CN" sz="2400" b="1" baseline="-25000" dirty="0">
              <a:solidFill>
                <a:srgbClr val="FF0000"/>
              </a:solidFill>
              <a:latin typeface="楷体_GB2312"/>
              <a:ea typeface="楷体_GB2312"/>
            </a:endParaRPr>
          </a:p>
          <a:p>
            <a:r>
              <a:rPr lang="en-US" altLang="zh-CN" sz="2400" b="1" dirty="0">
                <a:solidFill>
                  <a:srgbClr val="000000"/>
                </a:solidFill>
                <a:latin typeface="楷体_GB2312"/>
                <a:ea typeface="楷体_GB2312"/>
              </a:rPr>
              <a:t>  </a:t>
            </a:r>
            <a:r>
              <a:rPr lang="zh-CN" altLang="en-US" sz="2400" b="1" dirty="0">
                <a:solidFill>
                  <a:srgbClr val="000000"/>
                </a:solidFill>
                <a:latin typeface="楷体_GB2312"/>
                <a:ea typeface="楷体_GB2312"/>
              </a:rPr>
              <a:t>凡</a:t>
            </a:r>
            <a:r>
              <a:rPr lang="en-US" altLang="zh-CN" sz="2400" b="1" i="1" dirty="0">
                <a:solidFill>
                  <a:srgbClr val="000000"/>
                </a:solidFill>
                <a:latin typeface="楷体_GB2312"/>
                <a:ea typeface="楷体_GB2312"/>
              </a:rPr>
              <a:t>K</a:t>
            </a:r>
            <a:r>
              <a:rPr lang="en-US" altLang="zh-CN" sz="2400" b="1" i="1" baseline="-25000" dirty="0">
                <a:solidFill>
                  <a:srgbClr val="000000"/>
                </a:solidFill>
                <a:latin typeface="楷体_GB2312"/>
                <a:ea typeface="楷体_GB2312"/>
              </a:rPr>
              <a:t>r</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l</a:t>
            </a:r>
            <a:r>
              <a:rPr lang="zh-CN" altLang="en-US" sz="2400" b="1" dirty="0">
                <a:solidFill>
                  <a:srgbClr val="000000"/>
                </a:solidFill>
                <a:latin typeface="楷体_GB2312"/>
                <a:ea typeface="楷体_GB2312"/>
              </a:rPr>
              <a:t>的材料，其切削加工性比</a:t>
            </a:r>
            <a:r>
              <a:rPr lang="en-US" altLang="zh-CN" sz="2400" b="1" dirty="0">
                <a:solidFill>
                  <a:srgbClr val="000000"/>
                </a:solidFill>
                <a:latin typeface="楷体_GB2312"/>
                <a:ea typeface="楷体_GB2312"/>
              </a:rPr>
              <a:t>45</a:t>
            </a:r>
            <a:r>
              <a:rPr lang="zh-CN" altLang="en-US" sz="2400" b="1" dirty="0">
                <a:solidFill>
                  <a:srgbClr val="000000"/>
                </a:solidFill>
                <a:latin typeface="楷体_GB2312"/>
                <a:ea typeface="楷体_GB2312"/>
              </a:rPr>
              <a:t>钢（正火）好，反之较差。</a:t>
            </a:r>
            <a:endParaRPr lang="zh-CN" altLang="en-US" sz="2400" b="1" dirty="0">
              <a:solidFill>
                <a:srgbClr val="000000"/>
              </a:solidFill>
              <a:latin typeface="楷体_GB2312"/>
              <a:ea typeface="楷体_GB2312"/>
            </a:endParaRPr>
          </a:p>
          <a:p>
            <a:endParaRPr lang="zh-CN" altLang="en-US" sz="2400" b="1" dirty="0">
              <a:solidFill>
                <a:srgbClr val="8DECF9"/>
              </a:solidFill>
              <a:latin typeface="楷体_GB2312"/>
              <a:ea typeface="楷体_GB2312"/>
            </a:endParaRPr>
          </a:p>
          <a:p>
            <a:pPr>
              <a:spcBef>
                <a:spcPct val="50000"/>
              </a:spcBef>
            </a:pPr>
            <a:endParaRPr lang="zh-CN" altLang="en-US" sz="2400" b="1" baseline="-25000" dirty="0">
              <a:solidFill>
                <a:srgbClr val="FF0000"/>
              </a:solidFill>
              <a:latin typeface="楷体_GB2312"/>
              <a:ea typeface="楷体_GB2312"/>
            </a:endParaRPr>
          </a:p>
          <a:p>
            <a:pPr>
              <a:spcBef>
                <a:spcPct val="50000"/>
              </a:spcBef>
            </a:pPr>
            <a:r>
              <a:rPr lang="zh-CN" altLang="en-US" sz="2400" b="1" baseline="-25000" dirty="0">
                <a:solidFill>
                  <a:srgbClr val="8DECF9"/>
                </a:solidFill>
                <a:latin typeface="楷体_GB2312"/>
                <a:ea typeface="楷体_GB2312"/>
              </a:rPr>
              <a:t>      </a:t>
            </a:r>
            <a:endParaRPr lang="zh-CN" altLang="en-US" sz="2400" b="1" baseline="-25000" dirty="0">
              <a:solidFill>
                <a:srgbClr val="8DECF9"/>
              </a:solidFill>
              <a:latin typeface="楷体_GB2312"/>
              <a:ea typeface="楷体_GB2312"/>
            </a:endParaRPr>
          </a:p>
          <a:p>
            <a:pPr>
              <a:spcBef>
                <a:spcPct val="50000"/>
              </a:spcBef>
            </a:pPr>
            <a:endParaRPr lang="en-US" altLang="zh-CN" sz="2400" b="1" baseline="-25000" dirty="0">
              <a:solidFill>
                <a:srgbClr val="8DECF9"/>
              </a:solidFill>
              <a:latin typeface="楷体_GB2312"/>
              <a:ea typeface="楷体_GB2312"/>
            </a:endParaRPr>
          </a:p>
        </p:txBody>
      </p:sp>
    </p:spTree>
  </p:cSld>
  <p:clrMapOvr>
    <a:masterClrMapping/>
  </p:clrMapOvr>
  <p:transition spd="slow">
    <p:randomBar dir="ver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Rectangle 2"/>
          <p:cNvSpPr>
            <a:spLocks noGrp="1"/>
          </p:cNvSpPr>
          <p:nvPr>
            <p:ph type="title"/>
          </p:nvPr>
        </p:nvSpPr>
        <p:spPr>
          <a:xfrm>
            <a:off x="2690813" y="57150"/>
            <a:ext cx="5194300" cy="1139825"/>
          </a:xfrm>
          <a:ln/>
        </p:spPr>
        <p:txBody>
          <a:bodyPr vert="horz" wrap="square" lIns="91440" tIns="45720" rIns="91440" bIns="45720" anchor="ctr" anchorCtr="0"/>
          <a:p>
            <a:pPr algn="ctr" eaLnBrk="1" hangingPunct="1"/>
            <a:r>
              <a:rPr lang="zh-CN" altLang="en-US" sz="4000" dirty="0">
                <a:ea typeface="楷体_GB2312"/>
              </a:rPr>
              <a:t>切削用量的选择原则</a:t>
            </a:r>
            <a:endParaRPr lang="zh-CN" altLang="en-US" sz="4000" dirty="0">
              <a:ea typeface="楷体_GB2312"/>
            </a:endParaRPr>
          </a:p>
        </p:txBody>
      </p:sp>
      <p:sp>
        <p:nvSpPr>
          <p:cNvPr id="161794" name="Rectangle 3"/>
          <p:cNvSpPr/>
          <p:nvPr/>
        </p:nvSpPr>
        <p:spPr>
          <a:xfrm>
            <a:off x="323850" y="1341438"/>
            <a:ext cx="8424863" cy="3743325"/>
          </a:xfrm>
          <a:prstGeom prst="rect">
            <a:avLst/>
          </a:prstGeom>
          <a:noFill/>
          <a:ln w="9525">
            <a:noFill/>
          </a:ln>
        </p:spPr>
        <p:txBody>
          <a:bodyPr anchor="t" anchorCtr="0">
            <a:spAutoFit/>
          </a:bodyPr>
          <a:p>
            <a:r>
              <a:rPr lang="zh-CN" altLang="en-US" b="1" dirty="0">
                <a:solidFill>
                  <a:srgbClr val="FFFF00"/>
                </a:solidFill>
                <a:latin typeface="Century" panose="02040604050505020304" pitchFamily="18" charset="0"/>
                <a:ea typeface="宋体" panose="02010600030101010101" pitchFamily="2" charset="-122"/>
              </a:rPr>
              <a:t>　</a:t>
            </a:r>
            <a:r>
              <a:rPr lang="zh-CN" altLang="en-US" sz="2400" b="1" dirty="0">
                <a:solidFill>
                  <a:srgbClr val="FF0000"/>
                </a:solidFill>
                <a:latin typeface="Arial" panose="020B0604020202020204" pitchFamily="34" charset="0"/>
                <a:ea typeface="楷体_GB2312"/>
              </a:rPr>
              <a:t>四</a:t>
            </a:r>
            <a:r>
              <a:rPr lang="en-US" altLang="zh-CN" sz="2400" b="1" dirty="0">
                <a:solidFill>
                  <a:srgbClr val="FF0000"/>
                </a:solidFill>
                <a:latin typeface="Arial" panose="020B0604020202020204" pitchFamily="34" charset="0"/>
                <a:ea typeface="楷体_GB2312"/>
              </a:rPr>
              <a:t>. </a:t>
            </a:r>
            <a:r>
              <a:rPr lang="zh-CN" altLang="en-US" sz="2400" b="1" dirty="0">
                <a:solidFill>
                  <a:srgbClr val="FF0000"/>
                </a:solidFill>
                <a:latin typeface="Arial" panose="020B0604020202020204" pitchFamily="34" charset="0"/>
                <a:ea typeface="楷体_GB2312"/>
              </a:rPr>
              <a:t>材料切削加工性的改善</a:t>
            </a:r>
            <a:endParaRPr lang="zh-CN" altLang="en-US" sz="2400" b="1" dirty="0">
              <a:solidFill>
                <a:srgbClr val="FFFF00"/>
              </a:solidFill>
              <a:latin typeface="Century" panose="02040604050505020304" pitchFamily="18" charset="0"/>
              <a:ea typeface="楷体_GB2312"/>
            </a:endParaRPr>
          </a:p>
          <a:p>
            <a:r>
              <a:rPr lang="zh-CN" altLang="en-US" b="1" dirty="0">
                <a:solidFill>
                  <a:srgbClr val="FFFF00"/>
                </a:solidFill>
                <a:latin typeface="Century" panose="02040604050505020304" pitchFamily="18" charset="0"/>
                <a:ea typeface="宋体" panose="02010600030101010101" pitchFamily="2" charset="-122"/>
              </a:rPr>
              <a:t>　</a:t>
            </a:r>
            <a:r>
              <a:rPr lang="zh-CN" altLang="en-US" sz="2400" b="1" dirty="0">
                <a:solidFill>
                  <a:srgbClr val="0033CC"/>
                </a:solidFill>
                <a:latin typeface="楷体_GB2312"/>
                <a:ea typeface="楷体_GB2312"/>
              </a:rPr>
              <a:t>（</a:t>
            </a:r>
            <a:r>
              <a:rPr lang="en-US" altLang="zh-CN" sz="2400" b="1" dirty="0">
                <a:solidFill>
                  <a:srgbClr val="0033CC"/>
                </a:solidFill>
                <a:latin typeface="楷体_GB2312"/>
                <a:ea typeface="楷体_GB2312"/>
              </a:rPr>
              <a:t>3</a:t>
            </a:r>
            <a:r>
              <a:rPr lang="zh-CN" altLang="en-US" sz="2400" b="1" dirty="0">
                <a:solidFill>
                  <a:srgbClr val="0033CC"/>
                </a:solidFill>
                <a:latin typeface="楷体_GB2312"/>
                <a:ea typeface="楷体_GB2312"/>
              </a:rPr>
              <a:t>）已加工表面质量</a:t>
            </a:r>
            <a:r>
              <a:rPr lang="zh-CN" altLang="en-US" sz="2400" b="1" dirty="0">
                <a:solidFill>
                  <a:srgbClr val="FFFFCC"/>
                </a:solidFill>
                <a:latin typeface="楷体_GB2312"/>
                <a:ea typeface="楷体_GB2312"/>
              </a:rPr>
              <a:t> </a:t>
            </a:r>
            <a:r>
              <a:rPr lang="zh-CN" altLang="en-US" sz="2400" b="1" dirty="0">
                <a:latin typeface="楷体_GB2312"/>
                <a:ea typeface="楷体_GB2312"/>
              </a:rPr>
              <a:t>凡较容易获得好的表面质量的材料。其切削加工性较好；反之则较差。精加工时，常以此为衡量指标。</a:t>
            </a:r>
            <a:endParaRPr lang="zh-CN" altLang="en-US" sz="2400" b="1" dirty="0">
              <a:latin typeface="楷体_GB2312"/>
              <a:ea typeface="楷体_GB2312"/>
            </a:endParaRPr>
          </a:p>
          <a:p>
            <a:r>
              <a:rPr lang="zh-CN" altLang="en-US" sz="2400" b="1" dirty="0">
                <a:solidFill>
                  <a:srgbClr val="FFFFCC"/>
                </a:solidFill>
                <a:latin typeface="楷体_GB2312"/>
                <a:ea typeface="楷体_GB2312"/>
              </a:rPr>
              <a:t>  </a:t>
            </a:r>
            <a:r>
              <a:rPr lang="zh-CN" altLang="en-US" sz="2400" b="1" dirty="0">
                <a:solidFill>
                  <a:srgbClr val="0033CC"/>
                </a:solidFill>
                <a:latin typeface="楷体_GB2312"/>
                <a:ea typeface="楷体_GB2312"/>
              </a:rPr>
              <a:t>（</a:t>
            </a:r>
            <a:r>
              <a:rPr lang="en-US" altLang="zh-CN" sz="2400" b="1" dirty="0">
                <a:solidFill>
                  <a:srgbClr val="0033CC"/>
                </a:solidFill>
                <a:latin typeface="楷体_GB2312"/>
                <a:ea typeface="楷体_GB2312"/>
              </a:rPr>
              <a:t>4</a:t>
            </a:r>
            <a:r>
              <a:rPr lang="zh-CN" altLang="en-US" sz="2400" b="1" dirty="0">
                <a:solidFill>
                  <a:srgbClr val="0033CC"/>
                </a:solidFill>
                <a:latin typeface="楷体_GB2312"/>
                <a:ea typeface="楷体_GB2312"/>
              </a:rPr>
              <a:t>）切屑控制或断屑的难易</a:t>
            </a:r>
            <a:r>
              <a:rPr lang="zh-CN" altLang="en-US" sz="2400" b="1" dirty="0">
                <a:solidFill>
                  <a:srgbClr val="FFFFCC"/>
                </a:solidFill>
                <a:latin typeface="楷体_GB2312"/>
                <a:ea typeface="楷体_GB2312"/>
              </a:rPr>
              <a:t> </a:t>
            </a:r>
            <a:r>
              <a:rPr lang="zh-CN" altLang="en-US" sz="2400" b="1" dirty="0">
                <a:latin typeface="楷体_GB2312"/>
                <a:ea typeface="楷体_GB2312"/>
              </a:rPr>
              <a:t>凡切屑较容易控制或易于断屑的材料，其切削加工性较好；反之较差。在自动机床或自动线上加工时，常以此为衡量指标</a:t>
            </a:r>
            <a:r>
              <a:rPr lang="zh-CN" altLang="en-US" sz="2400" b="1" dirty="0">
                <a:solidFill>
                  <a:srgbClr val="000000"/>
                </a:solidFill>
                <a:latin typeface="楷体_GB2312"/>
                <a:ea typeface="楷体_GB2312"/>
              </a:rPr>
              <a:t>。</a:t>
            </a:r>
            <a:endParaRPr lang="zh-CN" altLang="en-US" sz="2400" b="1" dirty="0">
              <a:solidFill>
                <a:srgbClr val="000000"/>
              </a:solidFill>
              <a:latin typeface="楷体_GB2312"/>
              <a:ea typeface="楷体_GB2312"/>
            </a:endParaRPr>
          </a:p>
          <a:p>
            <a:r>
              <a:rPr lang="zh-CN" altLang="en-US" sz="2400" b="1" dirty="0">
                <a:solidFill>
                  <a:srgbClr val="FFFFCC"/>
                </a:solidFill>
                <a:latin typeface="楷体_GB2312"/>
                <a:ea typeface="楷体_GB2312"/>
              </a:rPr>
              <a:t>  </a:t>
            </a:r>
            <a:r>
              <a:rPr lang="zh-CN" altLang="en-US" sz="2400" b="1" dirty="0">
                <a:solidFill>
                  <a:srgbClr val="0033CC"/>
                </a:solidFill>
                <a:latin typeface="楷体_GB2312"/>
                <a:ea typeface="楷体_GB2312"/>
              </a:rPr>
              <a:t>（</a:t>
            </a:r>
            <a:r>
              <a:rPr lang="en-US" altLang="zh-CN" sz="2400" b="1" dirty="0">
                <a:solidFill>
                  <a:srgbClr val="0033CC"/>
                </a:solidFill>
                <a:latin typeface="楷体_GB2312"/>
                <a:ea typeface="楷体_GB2312"/>
              </a:rPr>
              <a:t>5</a:t>
            </a:r>
            <a:r>
              <a:rPr lang="zh-CN" altLang="en-US" sz="2400" b="1" dirty="0">
                <a:solidFill>
                  <a:srgbClr val="0033CC"/>
                </a:solidFill>
                <a:latin typeface="楷体_GB2312"/>
                <a:ea typeface="楷体_GB2312"/>
              </a:rPr>
              <a:t>）切削力 </a:t>
            </a:r>
            <a:r>
              <a:rPr lang="zh-CN" altLang="en-US" sz="2400" b="1" dirty="0">
                <a:solidFill>
                  <a:srgbClr val="000000"/>
                </a:solidFill>
                <a:latin typeface="楷体_GB2312"/>
                <a:ea typeface="楷体_GB2312"/>
              </a:rPr>
              <a:t>在相同的切削条件下</a:t>
            </a:r>
            <a:r>
              <a:rPr lang="en-US" altLang="zh-CN" sz="2400" b="1" dirty="0">
                <a:solidFill>
                  <a:srgbClr val="000000"/>
                </a:solidFill>
                <a:latin typeface="楷体_GB2312"/>
                <a:ea typeface="楷体_GB2312"/>
              </a:rPr>
              <a:t>,</a:t>
            </a:r>
            <a:r>
              <a:rPr lang="zh-CN" altLang="en-US" sz="2400" b="1" dirty="0">
                <a:latin typeface="楷体_GB2312"/>
                <a:ea typeface="楷体_GB2312"/>
              </a:rPr>
              <a:t>凡切削力较小的材料。其切削加工性较好；反之较差。在粗加工中</a:t>
            </a:r>
            <a:r>
              <a:rPr lang="en-US" altLang="zh-CN" sz="2400" b="1" dirty="0">
                <a:latin typeface="楷体_GB2312"/>
                <a:ea typeface="楷体_GB2312"/>
              </a:rPr>
              <a:t>,</a:t>
            </a:r>
            <a:r>
              <a:rPr lang="zh-CN" altLang="en-US" sz="2400" b="1" dirty="0">
                <a:latin typeface="楷体_GB2312"/>
                <a:ea typeface="楷体_GB2312"/>
              </a:rPr>
              <a:t>当机床刚度或动力不足时，常以此为衡量指标。</a:t>
            </a:r>
            <a:endParaRPr lang="zh-CN" altLang="en-US" b="1" dirty="0">
              <a:solidFill>
                <a:srgbClr val="FFFF00"/>
              </a:solidFill>
              <a:latin typeface="Century" panose="02040604050505020304" pitchFamily="18" charset="0"/>
              <a:ea typeface="宋体" panose="02010600030101010101" pitchFamily="2" charset="-122"/>
            </a:endParaRPr>
          </a:p>
        </p:txBody>
      </p:sp>
    </p:spTree>
  </p:cSld>
  <p:clrMapOvr>
    <a:masterClrMapping/>
  </p:clrMapOvr>
  <p:transition spd="slow">
    <p:randomBar dir="ver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Text Box 2"/>
          <p:cNvSpPr txBox="1"/>
          <p:nvPr/>
        </p:nvSpPr>
        <p:spPr>
          <a:xfrm>
            <a:off x="1116013" y="1652588"/>
            <a:ext cx="6884987" cy="1754187"/>
          </a:xfrm>
          <a:prstGeom prst="rect">
            <a:avLst/>
          </a:prstGeom>
          <a:noFill/>
          <a:ln w="9525">
            <a:noFill/>
          </a:ln>
        </p:spPr>
        <p:txBody>
          <a:bodyPr anchor="t" anchorCtr="0">
            <a:spAutoFit/>
          </a:bodyPr>
          <a:p>
            <a:r>
              <a:rPr lang="zh-CN" altLang="en-US" sz="3600" b="1" dirty="0">
                <a:solidFill>
                  <a:srgbClr val="000000"/>
                </a:solidFill>
                <a:latin typeface="楷体_GB2312"/>
                <a:ea typeface="楷体_GB2312"/>
              </a:rPr>
              <a:t>作业：复习题</a:t>
            </a:r>
            <a:r>
              <a:rPr lang="en-US" altLang="zh-CN" sz="3600" b="1" dirty="0">
                <a:solidFill>
                  <a:srgbClr val="000000"/>
                </a:solidFill>
                <a:latin typeface="楷体_GB2312"/>
                <a:ea typeface="楷体_GB2312"/>
              </a:rPr>
              <a:t>P30, (3), (6), (8), (13)</a:t>
            </a:r>
            <a:r>
              <a:rPr lang="zh-CN" altLang="en-US" sz="3600" b="1" dirty="0">
                <a:solidFill>
                  <a:srgbClr val="000000"/>
                </a:solidFill>
                <a:latin typeface="楷体_GB2312"/>
                <a:ea typeface="楷体_GB2312"/>
              </a:rPr>
              <a:t>（</a:t>
            </a:r>
            <a:r>
              <a:rPr lang="en-US" altLang="zh-CN" sz="3600" b="1" dirty="0">
                <a:solidFill>
                  <a:srgbClr val="000000"/>
                </a:solidFill>
                <a:latin typeface="楷体_GB2312"/>
                <a:ea typeface="楷体_GB2312"/>
              </a:rPr>
              <a:t>14</a:t>
            </a:r>
            <a:r>
              <a:rPr lang="zh-CN" altLang="en-US" sz="3600" b="1" dirty="0">
                <a:solidFill>
                  <a:srgbClr val="000000"/>
                </a:solidFill>
                <a:latin typeface="楷体_GB2312"/>
                <a:ea typeface="楷体_GB2312"/>
              </a:rPr>
              <a:t>）</a:t>
            </a:r>
            <a:r>
              <a:rPr lang="en-US" altLang="zh-CN" sz="3600" b="1" dirty="0">
                <a:solidFill>
                  <a:srgbClr val="000000"/>
                </a:solidFill>
                <a:latin typeface="楷体_GB2312"/>
                <a:ea typeface="楷体_GB2312"/>
              </a:rPr>
              <a:t>.</a:t>
            </a:r>
            <a:endParaRPr lang="en-US" altLang="zh-CN" sz="3600" b="1" dirty="0">
              <a:solidFill>
                <a:srgbClr val="000000"/>
              </a:solidFill>
              <a:latin typeface="楷体_GB2312"/>
              <a:ea typeface="楷体_GB2312"/>
            </a:endParaRPr>
          </a:p>
          <a:p>
            <a:r>
              <a:rPr lang="zh-CN" altLang="en-US" sz="3600" b="1" dirty="0">
                <a:solidFill>
                  <a:srgbClr val="000000"/>
                </a:solidFill>
                <a:latin typeface="楷体_GB2312"/>
                <a:ea typeface="楷体_GB2312"/>
              </a:rPr>
              <a:t>思考及练习题（</a:t>
            </a:r>
            <a:r>
              <a:rPr lang="en-US" altLang="zh-CN" sz="3600" b="1" dirty="0">
                <a:solidFill>
                  <a:srgbClr val="000000"/>
                </a:solidFill>
                <a:latin typeface="楷体_GB2312"/>
                <a:ea typeface="楷体_GB2312"/>
              </a:rPr>
              <a:t>7</a:t>
            </a:r>
            <a:r>
              <a:rPr lang="zh-CN" altLang="en-US" sz="3600" b="1" dirty="0">
                <a:solidFill>
                  <a:srgbClr val="000000"/>
                </a:solidFill>
                <a:latin typeface="楷体_GB2312"/>
                <a:ea typeface="楷体_GB2312"/>
              </a:rPr>
              <a:t>）</a:t>
            </a:r>
            <a:endParaRPr lang="en-US" altLang="zh-CN" sz="3600" b="1" dirty="0">
              <a:solidFill>
                <a:srgbClr val="000000"/>
              </a:solidFill>
              <a:latin typeface="楷体_GB2312"/>
              <a:ea typeface="楷体_GB2312"/>
            </a:endParaRPr>
          </a:p>
        </p:txBody>
      </p:sp>
    </p:spTree>
  </p:cSld>
  <p:clrMapOvr>
    <a:masterClrMapping/>
  </p:clrMapOvr>
  <p:transition spd="slow">
    <p:randomBar dir="ver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Rectangle 2"/>
          <p:cNvSpPr>
            <a:spLocks noGrp="1"/>
          </p:cNvSpPr>
          <p:nvPr>
            <p:ph type="title"/>
          </p:nvPr>
        </p:nvSpPr>
        <p:spPr>
          <a:xfrm>
            <a:off x="2873375" y="90488"/>
            <a:ext cx="6019800" cy="1190625"/>
          </a:xfrm>
          <a:ln/>
        </p:spPr>
        <p:txBody>
          <a:bodyPr vert="horz" wrap="square" lIns="91440" tIns="45720" rIns="91440" bIns="45720" anchor="ctr" anchorCtr="0"/>
          <a:p>
            <a:pPr eaLnBrk="1" hangingPunct="1"/>
            <a:r>
              <a:rPr lang="zh-CN" altLang="en-US" sz="4000" dirty="0">
                <a:ea typeface="楷体_GB2312"/>
              </a:rPr>
              <a:t>金属切削机床的基本知识</a:t>
            </a:r>
            <a:endParaRPr lang="zh-CN" altLang="en-US" sz="4000" dirty="0">
              <a:ea typeface="楷体_GB2312"/>
            </a:endParaRPr>
          </a:p>
        </p:txBody>
      </p:sp>
      <p:sp>
        <p:nvSpPr>
          <p:cNvPr id="876548" name="Rectangle 4"/>
          <p:cNvSpPr>
            <a:spLocks noChangeArrowheads="1"/>
          </p:cNvSpPr>
          <p:nvPr/>
        </p:nvSpPr>
        <p:spPr bwMode="auto">
          <a:xfrm>
            <a:off x="539750" y="1484313"/>
            <a:ext cx="8208963" cy="26765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000000"/>
                  </a:outerShdw>
                </a:effectLst>
                <a:uLnTx/>
                <a:uFillTx/>
                <a:latin typeface="GreekS" pitchFamily="2" charset="0"/>
                <a:ea typeface="宋体" panose="02010600030101010101" pitchFamily="2" charset="-122"/>
                <a:cs typeface="+mn-cs"/>
              </a:rPr>
              <a:t>    </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金属切削机床是对金属工件进行切削加工的机器。由于它是用来制造机器的，又称为</a:t>
            </a:r>
            <a:r>
              <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楷体_GB2312" pitchFamily="49" charset="-122"/>
                <a:cs typeface="+mn-cs"/>
              </a:rPr>
              <a:t>“</a:t>
            </a:r>
            <a:r>
              <a:rPr kumimoji="0" lang="zh-CN" altLang="en-US" sz="24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工作母机</a:t>
            </a:r>
            <a:r>
              <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，简称为机床。</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本章的主要内容</a:t>
            </a:r>
            <a:endParaRPr kumimoji="0" lang="zh-CN" altLang="en-US" sz="2400" b="1" i="0"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一、</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机床的类型和基本构造</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二、</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机床的传动</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三、</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自动机床和数控机床简介</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四、</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柔性制造系统和计算机辅助制造系统</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pic>
        <p:nvPicPr>
          <p:cNvPr id="165891" name="图片 105"/>
          <p:cNvPicPr/>
          <p:nvPr/>
        </p:nvPicPr>
        <p:blipFill>
          <a:blip r:embed="rId1"/>
          <a:stretch>
            <a:fillRect/>
          </a:stretch>
        </p:blipFill>
        <p:spPr>
          <a:xfrm>
            <a:off x="1790700" y="4149725"/>
            <a:ext cx="5562600" cy="2695575"/>
          </a:xfrm>
          <a:prstGeom prst="rect">
            <a:avLst/>
          </a:prstGeom>
          <a:noFill/>
          <a:ln w="9525">
            <a:noFill/>
          </a:ln>
        </p:spPr>
      </p:pic>
    </p:spTree>
  </p:cSld>
  <p:clrMapOvr>
    <a:masterClrMapping/>
  </p:clrMapOvr>
  <p:transition spd="slow">
    <p:randomBar dir="ver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Rectangle 2"/>
          <p:cNvSpPr>
            <a:spLocks noGrp="1"/>
          </p:cNvSpPr>
          <p:nvPr>
            <p:ph type="title"/>
          </p:nvPr>
        </p:nvSpPr>
        <p:spPr>
          <a:xfrm>
            <a:off x="2590800" y="293688"/>
            <a:ext cx="6019800" cy="1190625"/>
          </a:xfrm>
          <a:ln/>
        </p:spPr>
        <p:txBody>
          <a:bodyPr vert="horz" wrap="square" lIns="91440" tIns="45720" rIns="91440" bIns="45720" anchor="ctr" anchorCtr="0"/>
          <a:p>
            <a:pPr algn="ctr" eaLnBrk="1" hangingPunct="1"/>
            <a:r>
              <a:rPr lang="zh-CN" altLang="en-US" sz="4000" dirty="0">
                <a:ea typeface="楷体_GB2312"/>
              </a:rPr>
              <a:t>机床的类型和基本构造</a:t>
            </a:r>
            <a:br>
              <a:rPr lang="zh-CN" altLang="en-US" sz="4000" dirty="0">
                <a:ea typeface="楷体_GB2312"/>
              </a:rPr>
            </a:br>
            <a:endParaRPr lang="zh-CN" altLang="en-US" sz="4000" dirty="0">
              <a:ea typeface="楷体_GB2312"/>
            </a:endParaRPr>
          </a:p>
        </p:txBody>
      </p:sp>
      <p:sp>
        <p:nvSpPr>
          <p:cNvPr id="167938" name="Rectangle 3"/>
          <p:cNvSpPr>
            <a:spLocks noGrp="1"/>
          </p:cNvSpPr>
          <p:nvPr>
            <p:ph idx="1"/>
          </p:nvPr>
        </p:nvSpPr>
        <p:spPr>
          <a:xfrm>
            <a:off x="250825" y="1557338"/>
            <a:ext cx="8361363" cy="4530725"/>
          </a:xfrm>
          <a:ln/>
        </p:spPr>
        <p:txBody>
          <a:bodyPr vert="horz" wrap="square" lIns="91440" tIns="45720" rIns="91440" bIns="45720" anchor="t" anchorCtr="0"/>
          <a:p>
            <a:pPr eaLnBrk="1" hangingPunct="1"/>
            <a:r>
              <a:rPr lang="zh-CN" altLang="en-US" sz="2400" b="1" dirty="0">
                <a:solidFill>
                  <a:srgbClr val="FF0000"/>
                </a:solidFill>
                <a:latin typeface="楷体_GB2312"/>
                <a:ea typeface="楷体_GB2312"/>
              </a:rPr>
              <a:t>机床的类型</a:t>
            </a:r>
            <a:r>
              <a:rPr lang="zh-CN" altLang="en-US" sz="2400" b="1" dirty="0">
                <a:latin typeface="楷体_GB2312"/>
                <a:ea typeface="楷体_GB2312"/>
              </a:rPr>
              <a:t>  非数控机床和数控机床</a:t>
            </a:r>
            <a:endParaRPr lang="zh-CN" altLang="en-US" sz="2400" b="1" dirty="0">
              <a:latin typeface="楷体_GB2312"/>
              <a:ea typeface="楷体_GB2312"/>
            </a:endParaRPr>
          </a:p>
          <a:p>
            <a:pPr lvl="1" eaLnBrk="1" hangingPunct="1"/>
            <a:r>
              <a:rPr lang="zh-CN" altLang="en-US" sz="2400" b="1" dirty="0">
                <a:solidFill>
                  <a:srgbClr val="008000"/>
                </a:solidFill>
                <a:latin typeface="楷体_GB2312"/>
                <a:ea typeface="楷体_GB2312"/>
              </a:rPr>
              <a:t>按加工方式、加工对象或主要用途分：</a:t>
            </a:r>
            <a:r>
              <a:rPr lang="zh-CN" altLang="en-US" sz="2400" b="1" dirty="0">
                <a:latin typeface="楷体_GB2312"/>
                <a:ea typeface="楷体_GB2312"/>
              </a:rPr>
              <a:t>车床、钻床、镗床、磨床、齿轮加工机床、螺纹加工机床、铣床、刨插床、拉床、特种加工机床、锯床、其它机床。</a:t>
            </a:r>
            <a:endParaRPr lang="zh-CN" altLang="en-US" sz="2400" b="1" dirty="0">
              <a:latin typeface="楷体_GB2312"/>
              <a:ea typeface="楷体_GB2312"/>
            </a:endParaRPr>
          </a:p>
          <a:p>
            <a:pPr lvl="1" eaLnBrk="1" hangingPunct="1"/>
            <a:r>
              <a:rPr lang="zh-CN" altLang="en-US" sz="2400" b="1" dirty="0">
                <a:solidFill>
                  <a:srgbClr val="008000"/>
                </a:solidFill>
                <a:latin typeface="楷体_GB2312"/>
                <a:ea typeface="楷体_GB2312"/>
              </a:rPr>
              <a:t>按加工工件大小和机床质量分：</a:t>
            </a:r>
            <a:r>
              <a:rPr lang="zh-CN" altLang="en-US" sz="2400" b="1" dirty="0">
                <a:latin typeface="楷体_GB2312"/>
                <a:ea typeface="楷体_GB2312"/>
              </a:rPr>
              <a:t>仪表机床、中小机床、大型机床、重型机床、超重型机床。</a:t>
            </a:r>
            <a:endParaRPr lang="zh-CN" altLang="en-US" sz="2400" b="1" dirty="0">
              <a:latin typeface="楷体_GB2312"/>
              <a:ea typeface="楷体_GB2312"/>
            </a:endParaRPr>
          </a:p>
          <a:p>
            <a:pPr lvl="1" eaLnBrk="1" hangingPunct="1"/>
            <a:r>
              <a:rPr lang="zh-CN" altLang="en-US" sz="2400" b="1" dirty="0">
                <a:solidFill>
                  <a:srgbClr val="008000"/>
                </a:solidFill>
                <a:latin typeface="楷体_GB2312"/>
                <a:ea typeface="楷体_GB2312"/>
              </a:rPr>
              <a:t>按机床适用范围分：</a:t>
            </a:r>
            <a:r>
              <a:rPr lang="zh-CN" altLang="en-US" sz="2400" b="1" dirty="0">
                <a:latin typeface="楷体_GB2312"/>
                <a:ea typeface="楷体_GB2312"/>
              </a:rPr>
              <a:t>通用机床、专门化机床和专用机床。</a:t>
            </a:r>
            <a:endParaRPr lang="zh-CN" altLang="en-US" sz="2400" b="1" dirty="0">
              <a:latin typeface="楷体_GB2312"/>
              <a:ea typeface="楷体_GB2312"/>
            </a:endParaRPr>
          </a:p>
          <a:p>
            <a:pPr lvl="1" eaLnBrk="1" hangingPunct="1"/>
            <a:r>
              <a:rPr lang="zh-CN" altLang="en-US" sz="2400" b="1" dirty="0">
                <a:solidFill>
                  <a:srgbClr val="008000"/>
                </a:solidFill>
                <a:latin typeface="楷体_GB2312"/>
                <a:ea typeface="楷体_GB2312"/>
              </a:rPr>
              <a:t>按加工精度分：</a:t>
            </a:r>
            <a:r>
              <a:rPr lang="zh-CN" altLang="en-US" sz="2400" b="1" dirty="0">
                <a:latin typeface="楷体_GB2312"/>
                <a:ea typeface="楷体_GB2312"/>
              </a:rPr>
              <a:t>普通精度级机床、精密级机床和高精度级机床。</a:t>
            </a:r>
            <a:endParaRPr lang="zh-CN" altLang="en-US" sz="2400" b="1" dirty="0">
              <a:latin typeface="楷体_GB2312"/>
              <a:ea typeface="楷体_GB2312"/>
            </a:endParaRPr>
          </a:p>
          <a:p>
            <a:pPr lvl="1" eaLnBrk="1" hangingPunct="1"/>
            <a:endParaRPr lang="en-US" altLang="zh-CN" sz="2400" b="1" dirty="0">
              <a:latin typeface="楷体_GB2312"/>
              <a:ea typeface="楷体_GB2312"/>
            </a:endParaRPr>
          </a:p>
        </p:txBody>
      </p:sp>
      <p:graphicFrame>
        <p:nvGraphicFramePr>
          <p:cNvPr id="7171" name="Object 6"/>
          <p:cNvGraphicFramePr>
            <a:graphicFrameLocks noChangeAspect="1"/>
          </p:cNvGraphicFramePr>
          <p:nvPr/>
        </p:nvGraphicFramePr>
        <p:xfrm>
          <a:off x="2954338" y="5197475"/>
          <a:ext cx="1203325" cy="1660525"/>
        </p:xfrm>
        <a:graphic>
          <a:graphicData uri="http://schemas.openxmlformats.org/presentationml/2006/ole">
            <mc:AlternateContent xmlns:mc="http://schemas.openxmlformats.org/markup-compatibility/2006">
              <mc:Choice xmlns:v="urn:schemas-microsoft-com:vml" Requires="v">
                <p:oleObj spid="_x0000_s3099" name="" r:id="rId1" imgW="1457325" imgH="2009775" progId="Paint.Picture">
                  <p:embed/>
                </p:oleObj>
              </mc:Choice>
              <mc:Fallback>
                <p:oleObj name="" r:id="rId1" imgW="1457325" imgH="2009775" progId="Paint.Picture">
                  <p:embed/>
                  <p:pic>
                    <p:nvPicPr>
                      <p:cNvPr id="0" name="图片 3098"/>
                      <p:cNvPicPr/>
                      <p:nvPr/>
                    </p:nvPicPr>
                    <p:blipFill>
                      <a:blip r:embed="rId2"/>
                      <a:stretch>
                        <a:fillRect/>
                      </a:stretch>
                    </p:blipFill>
                    <p:spPr>
                      <a:xfrm>
                        <a:off x="2954338" y="5197475"/>
                        <a:ext cx="1203325" cy="1660525"/>
                      </a:xfrm>
                      <a:prstGeom prst="rect">
                        <a:avLst/>
                      </a:prstGeom>
                      <a:noFill/>
                      <a:ln w="38100">
                        <a:noFill/>
                        <a:miter/>
                      </a:ln>
                    </p:spPr>
                  </p:pic>
                </p:oleObj>
              </mc:Fallback>
            </mc:AlternateContent>
          </a:graphicData>
        </a:graphic>
      </p:graphicFrame>
      <p:graphicFrame>
        <p:nvGraphicFramePr>
          <p:cNvPr id="7172" name="Object 8"/>
          <p:cNvGraphicFramePr>
            <a:graphicFrameLocks noChangeAspect="1"/>
          </p:cNvGraphicFramePr>
          <p:nvPr/>
        </p:nvGraphicFramePr>
        <p:xfrm>
          <a:off x="298450" y="5372100"/>
          <a:ext cx="2163763" cy="1471613"/>
        </p:xfrm>
        <a:graphic>
          <a:graphicData uri="http://schemas.openxmlformats.org/presentationml/2006/ole">
            <mc:AlternateContent xmlns:mc="http://schemas.openxmlformats.org/markup-compatibility/2006">
              <mc:Choice xmlns:v="urn:schemas-microsoft-com:vml" Requires="v">
                <p:oleObj spid="_x0000_s3100" name="" r:id="rId3" imgW="2619375" imgH="1781175" progId="Paint.Picture">
                  <p:embed/>
                </p:oleObj>
              </mc:Choice>
              <mc:Fallback>
                <p:oleObj name="" r:id="rId3" imgW="2619375" imgH="1781175" progId="Paint.Picture">
                  <p:embed/>
                  <p:pic>
                    <p:nvPicPr>
                      <p:cNvPr id="0" name="图片 3099"/>
                      <p:cNvPicPr/>
                      <p:nvPr/>
                    </p:nvPicPr>
                    <p:blipFill>
                      <a:blip r:embed="rId4"/>
                      <a:stretch>
                        <a:fillRect/>
                      </a:stretch>
                    </p:blipFill>
                    <p:spPr>
                      <a:xfrm>
                        <a:off x="298450" y="5372100"/>
                        <a:ext cx="2163763" cy="1471613"/>
                      </a:xfrm>
                      <a:prstGeom prst="rect">
                        <a:avLst/>
                      </a:prstGeom>
                      <a:noFill/>
                      <a:ln w="38100">
                        <a:noFill/>
                        <a:miter/>
                      </a:ln>
                    </p:spPr>
                  </p:pic>
                </p:oleObj>
              </mc:Fallback>
            </mc:AlternateContent>
          </a:graphicData>
        </a:graphic>
      </p:graphicFrame>
      <p:pic>
        <p:nvPicPr>
          <p:cNvPr id="7173" name="Picture 9" descr="S7T1"/>
          <p:cNvPicPr>
            <a:picLocks noChangeAspect="1"/>
          </p:cNvPicPr>
          <p:nvPr/>
        </p:nvPicPr>
        <p:blipFill>
          <a:blip r:embed="rId5"/>
          <a:stretch>
            <a:fillRect/>
          </a:stretch>
        </p:blipFill>
        <p:spPr>
          <a:xfrm>
            <a:off x="4759325" y="5368925"/>
            <a:ext cx="1631950" cy="1455738"/>
          </a:xfrm>
          <a:prstGeom prst="rect">
            <a:avLst/>
          </a:prstGeom>
          <a:noFill/>
          <a:ln w="9525">
            <a:noFill/>
          </a:ln>
        </p:spPr>
      </p:pic>
      <p:pic>
        <p:nvPicPr>
          <p:cNvPr id="7174" name="Picture 10" descr="S8T2"/>
          <p:cNvPicPr>
            <a:picLocks noChangeAspect="1"/>
          </p:cNvPicPr>
          <p:nvPr/>
        </p:nvPicPr>
        <p:blipFill>
          <a:blip r:embed="rId6"/>
          <a:stretch>
            <a:fillRect/>
          </a:stretch>
        </p:blipFill>
        <p:spPr>
          <a:xfrm>
            <a:off x="6991350" y="4845050"/>
            <a:ext cx="1852613" cy="2022475"/>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500" fill="hold"/>
                                        <p:tgtEl>
                                          <p:spTgt spid="7172"/>
                                        </p:tgtEl>
                                        <p:attrNameLst>
                                          <p:attrName>ppt_x</p:attrName>
                                        </p:attrNameLst>
                                      </p:cBhvr>
                                      <p:tavLst>
                                        <p:tav tm="0">
                                          <p:val>
                                            <p:strVal val="0-#ppt_w/2"/>
                                          </p:val>
                                        </p:tav>
                                        <p:tav tm="100000">
                                          <p:val>
                                            <p:strVal val="#ppt_x"/>
                                          </p:val>
                                        </p:tav>
                                      </p:tavLst>
                                    </p:anim>
                                    <p:anim calcmode="lin" valueType="num">
                                      <p:cBhvr>
                                        <p:cTn id="8" dur="500" fill="hold"/>
                                        <p:tgtEl>
                                          <p:spTgt spid="71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171"/>
                                        </p:tgtEl>
                                        <p:attrNameLst>
                                          <p:attrName>style.visibility</p:attrName>
                                        </p:attrNameLst>
                                      </p:cBhvr>
                                      <p:to>
                                        <p:strVal val="visible"/>
                                      </p:to>
                                    </p:set>
                                    <p:anim calcmode="lin" valueType="num">
                                      <p:cBhvr>
                                        <p:cTn id="13" dur="500" fill="hold"/>
                                        <p:tgtEl>
                                          <p:spTgt spid="7171"/>
                                        </p:tgtEl>
                                        <p:attrNameLst>
                                          <p:attrName>ppt_x</p:attrName>
                                        </p:attrNameLst>
                                      </p:cBhvr>
                                      <p:tavLst>
                                        <p:tav tm="0">
                                          <p:val>
                                            <p:strVal val="0-#ppt_w/2"/>
                                          </p:val>
                                        </p:tav>
                                        <p:tav tm="100000">
                                          <p:val>
                                            <p:strVal val="#ppt_x"/>
                                          </p:val>
                                        </p:tav>
                                      </p:tavLst>
                                    </p:anim>
                                    <p:anim calcmode="lin" valueType="num">
                                      <p:cBhvr>
                                        <p:cTn id="14" dur="500" fill="hold"/>
                                        <p:tgtEl>
                                          <p:spTgt spid="71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173"/>
                                        </p:tgtEl>
                                        <p:attrNameLst>
                                          <p:attrName>style.visibility</p:attrName>
                                        </p:attrNameLst>
                                      </p:cBhvr>
                                      <p:to>
                                        <p:strVal val="visible"/>
                                      </p:to>
                                    </p:set>
                                    <p:anim calcmode="lin" valueType="num">
                                      <p:cBhvr>
                                        <p:cTn id="19" dur="500" fill="hold"/>
                                        <p:tgtEl>
                                          <p:spTgt spid="7173"/>
                                        </p:tgtEl>
                                        <p:attrNameLst>
                                          <p:attrName>ppt_x</p:attrName>
                                        </p:attrNameLst>
                                      </p:cBhvr>
                                      <p:tavLst>
                                        <p:tav tm="0">
                                          <p:val>
                                            <p:strVal val="0-#ppt_w/2"/>
                                          </p:val>
                                        </p:tav>
                                        <p:tav tm="100000">
                                          <p:val>
                                            <p:strVal val="#ppt_x"/>
                                          </p:val>
                                        </p:tav>
                                      </p:tavLst>
                                    </p:anim>
                                    <p:anim calcmode="lin" valueType="num">
                                      <p:cBhvr>
                                        <p:cTn id="20" dur="500" fill="hold"/>
                                        <p:tgtEl>
                                          <p:spTgt spid="717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174"/>
                                        </p:tgtEl>
                                        <p:attrNameLst>
                                          <p:attrName>style.visibility</p:attrName>
                                        </p:attrNameLst>
                                      </p:cBhvr>
                                      <p:to>
                                        <p:strVal val="visible"/>
                                      </p:to>
                                    </p:set>
                                    <p:anim calcmode="lin" valueType="num">
                                      <p:cBhvr>
                                        <p:cTn id="25" dur="500" fill="hold"/>
                                        <p:tgtEl>
                                          <p:spTgt spid="7174"/>
                                        </p:tgtEl>
                                        <p:attrNameLst>
                                          <p:attrName>ppt_x</p:attrName>
                                        </p:attrNameLst>
                                      </p:cBhvr>
                                      <p:tavLst>
                                        <p:tav tm="0">
                                          <p:val>
                                            <p:strVal val="0-#ppt_w/2"/>
                                          </p:val>
                                        </p:tav>
                                        <p:tav tm="100000">
                                          <p:val>
                                            <p:strVal val="#ppt_x"/>
                                          </p:val>
                                        </p:tav>
                                      </p:tavLst>
                                    </p:anim>
                                    <p:anim calcmode="lin" valueType="num">
                                      <p:cBhvr>
                                        <p:cTn id="26" dur="500" fill="hold"/>
                                        <p:tgtEl>
                                          <p:spTgt spid="71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Rectangle 2"/>
          <p:cNvSpPr>
            <a:spLocks noGrp="1"/>
          </p:cNvSpPr>
          <p:nvPr>
            <p:ph type="title"/>
          </p:nvPr>
        </p:nvSpPr>
        <p:spPr>
          <a:xfrm>
            <a:off x="2603500" y="103188"/>
            <a:ext cx="6007100" cy="1030287"/>
          </a:xfrm>
          <a:ln/>
        </p:spPr>
        <p:txBody>
          <a:bodyPr vert="horz" wrap="square" lIns="91440" tIns="45720" rIns="91440" bIns="45720" anchor="ctr" anchorCtr="0"/>
          <a:p>
            <a:pPr algn="ctr" eaLnBrk="1" hangingPunct="1"/>
            <a:r>
              <a:rPr lang="zh-CN" altLang="en-US" sz="4000" dirty="0">
                <a:ea typeface="楷体_GB2312"/>
              </a:rPr>
              <a:t>机床的类型和基本构造</a:t>
            </a:r>
            <a:endParaRPr lang="zh-CN" altLang="en-US" sz="4000" dirty="0">
              <a:ea typeface="楷体_GB2312"/>
            </a:endParaRPr>
          </a:p>
        </p:txBody>
      </p:sp>
      <p:sp>
        <p:nvSpPr>
          <p:cNvPr id="169986" name="Rectangle 3"/>
          <p:cNvSpPr>
            <a:spLocks noGrp="1"/>
          </p:cNvSpPr>
          <p:nvPr>
            <p:ph idx="1"/>
          </p:nvPr>
        </p:nvSpPr>
        <p:spPr>
          <a:xfrm>
            <a:off x="96838" y="1341438"/>
            <a:ext cx="8796337" cy="5040312"/>
          </a:xfrm>
          <a:ln/>
        </p:spPr>
        <p:txBody>
          <a:bodyPr vert="horz" wrap="square" lIns="91440" tIns="45720" rIns="91440" bIns="45720" anchor="t" anchorCtr="0"/>
          <a:p>
            <a:pPr eaLnBrk="1" hangingPunct="1">
              <a:lnSpc>
                <a:spcPct val="90000"/>
              </a:lnSpc>
            </a:pPr>
            <a:r>
              <a:rPr lang="zh-CN" altLang="en-US" sz="2800" b="1" dirty="0">
                <a:latin typeface="楷体_GB2312"/>
                <a:ea typeface="楷体_GB2312"/>
              </a:rPr>
              <a:t>机床的基本构造</a:t>
            </a:r>
            <a:endParaRPr lang="zh-CN" altLang="en-US" sz="2800" b="1" dirty="0">
              <a:latin typeface="楷体_GB2312"/>
              <a:ea typeface="楷体_GB2312"/>
            </a:endParaRPr>
          </a:p>
          <a:p>
            <a:pPr lvl="1" eaLnBrk="1" hangingPunct="1">
              <a:buNone/>
            </a:pPr>
            <a:r>
              <a:rPr lang="en-US" altLang="zh-CN" sz="2400" b="1" dirty="0">
                <a:solidFill>
                  <a:srgbClr val="008000"/>
                </a:solidFill>
                <a:latin typeface="楷体_GB2312"/>
                <a:ea typeface="楷体_GB2312"/>
              </a:rPr>
              <a:t>1.</a:t>
            </a:r>
            <a:r>
              <a:rPr lang="zh-CN" altLang="en-US" sz="2400" b="1" dirty="0">
                <a:solidFill>
                  <a:srgbClr val="008000"/>
                </a:solidFill>
                <a:latin typeface="楷体_GB2312"/>
                <a:ea typeface="楷体_GB2312"/>
              </a:rPr>
              <a:t>主传动部件</a:t>
            </a:r>
            <a:r>
              <a:rPr lang="zh-CN" altLang="en-US" sz="2400" b="1" dirty="0">
                <a:solidFill>
                  <a:srgbClr val="FFFF00"/>
                </a:solidFill>
                <a:latin typeface="楷体_GB2312"/>
                <a:ea typeface="楷体_GB2312"/>
              </a:rPr>
              <a:t> </a:t>
            </a:r>
            <a:r>
              <a:rPr lang="zh-CN" altLang="en-US" sz="2400" b="1" dirty="0">
                <a:solidFill>
                  <a:srgbClr val="000000"/>
                </a:solidFill>
                <a:latin typeface="楷体_GB2312"/>
                <a:ea typeface="楷体_GB2312"/>
              </a:rPr>
              <a:t>用来实现机床的主运动，例如车床、钻床、铣床的主轴箱，刨床的变速箱和磨床的磨头等。</a:t>
            </a:r>
            <a:endParaRPr lang="zh-CN" altLang="en-US" sz="2400" b="1" dirty="0">
              <a:solidFill>
                <a:srgbClr val="000000"/>
              </a:solidFill>
              <a:latin typeface="楷体_GB2312"/>
              <a:ea typeface="楷体_GB2312"/>
            </a:endParaRPr>
          </a:p>
          <a:p>
            <a:pPr lvl="1" eaLnBrk="1" hangingPunct="1">
              <a:buNone/>
            </a:pPr>
            <a:r>
              <a:rPr lang="en-US" altLang="zh-CN" sz="2400" b="1" dirty="0">
                <a:solidFill>
                  <a:srgbClr val="008000"/>
                </a:solidFill>
                <a:latin typeface="楷体_GB2312"/>
                <a:ea typeface="楷体_GB2312"/>
              </a:rPr>
              <a:t>2</a:t>
            </a:r>
            <a:r>
              <a:rPr lang="zh-CN" altLang="en-US" sz="2400" b="1" dirty="0">
                <a:solidFill>
                  <a:srgbClr val="008000"/>
                </a:solidFill>
                <a:latin typeface="楷体_GB2312"/>
                <a:ea typeface="楷体_GB2312"/>
              </a:rPr>
              <a:t>．进给传动部件</a:t>
            </a:r>
            <a:r>
              <a:rPr lang="zh-CN" altLang="en-US" sz="2400" b="1" dirty="0">
                <a:solidFill>
                  <a:srgbClr val="CCFFFF"/>
                </a:solidFill>
                <a:latin typeface="楷体_GB2312"/>
                <a:ea typeface="楷体_GB2312"/>
              </a:rPr>
              <a:t> </a:t>
            </a:r>
            <a:r>
              <a:rPr lang="zh-CN" altLang="en-US" sz="2400" b="1" dirty="0">
                <a:solidFill>
                  <a:srgbClr val="000000"/>
                </a:solidFill>
                <a:latin typeface="楷体_GB2312"/>
                <a:ea typeface="楷体_GB2312"/>
              </a:rPr>
              <a:t>主要用来实现机床的进给运动，也用来实现机床的调整、退刀及快速运动等，例如车床的进给箱、溜板箱，钻床、铣床的进给箱，刨床的进给机构，磨床的液压传动装置等。</a:t>
            </a:r>
            <a:endParaRPr lang="zh-CN" altLang="en-US" sz="2400" b="1" dirty="0">
              <a:solidFill>
                <a:srgbClr val="000000"/>
              </a:solidFill>
              <a:latin typeface="楷体_GB2312"/>
              <a:ea typeface="楷体_GB2312"/>
            </a:endParaRPr>
          </a:p>
        </p:txBody>
      </p:sp>
      <p:graphicFrame>
        <p:nvGraphicFramePr>
          <p:cNvPr id="19460" name="Object 4"/>
          <p:cNvGraphicFramePr>
            <a:graphicFrameLocks noChangeAspect="1"/>
          </p:cNvGraphicFramePr>
          <p:nvPr/>
        </p:nvGraphicFramePr>
        <p:xfrm>
          <a:off x="107950" y="4292600"/>
          <a:ext cx="4267200" cy="2155825"/>
        </p:xfrm>
        <a:graphic>
          <a:graphicData uri="http://schemas.openxmlformats.org/presentationml/2006/ole">
            <mc:AlternateContent xmlns:mc="http://schemas.openxmlformats.org/markup-compatibility/2006">
              <mc:Choice xmlns:v="urn:schemas-microsoft-com:vml" Requires="v">
                <p:oleObj spid="_x0000_s3093" name="" r:id="rId1" imgW="3705225" imgH="1876425" progId="Paint.Picture">
                  <p:embed/>
                </p:oleObj>
              </mc:Choice>
              <mc:Fallback>
                <p:oleObj name="" r:id="rId1" imgW="3705225" imgH="1876425" progId="Paint.Picture">
                  <p:embed/>
                  <p:pic>
                    <p:nvPicPr>
                      <p:cNvPr id="0" name="图片 3092"/>
                      <p:cNvPicPr/>
                      <p:nvPr/>
                    </p:nvPicPr>
                    <p:blipFill>
                      <a:blip r:embed="rId2"/>
                      <a:stretch>
                        <a:fillRect/>
                      </a:stretch>
                    </p:blipFill>
                    <p:spPr>
                      <a:xfrm>
                        <a:off x="107950" y="4292600"/>
                        <a:ext cx="4267200" cy="2155825"/>
                      </a:xfrm>
                      <a:prstGeom prst="rect">
                        <a:avLst/>
                      </a:prstGeom>
                      <a:noFill/>
                      <a:ln w="38100">
                        <a:noFill/>
                        <a:miter/>
                      </a:ln>
                    </p:spPr>
                  </p:pic>
                </p:oleObj>
              </mc:Fallback>
            </mc:AlternateContent>
          </a:graphicData>
        </a:graphic>
      </p:graphicFrame>
      <p:pic>
        <p:nvPicPr>
          <p:cNvPr id="169988" name="Picture 10"/>
          <p:cNvPicPr>
            <a:picLocks noChangeAspect="1"/>
          </p:cNvPicPr>
          <p:nvPr/>
        </p:nvPicPr>
        <p:blipFill>
          <a:blip r:embed="rId3"/>
          <a:stretch>
            <a:fillRect/>
          </a:stretch>
        </p:blipFill>
        <p:spPr>
          <a:xfrm>
            <a:off x="4787900" y="3860800"/>
            <a:ext cx="3571875" cy="2857500"/>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p:cTn id="7" dur="500" fill="hold"/>
                                        <p:tgtEl>
                                          <p:spTgt spid="19460"/>
                                        </p:tgtEl>
                                        <p:attrNameLst>
                                          <p:attrName>ppt_x</p:attrName>
                                        </p:attrNameLst>
                                      </p:cBhvr>
                                      <p:tavLst>
                                        <p:tav tm="0">
                                          <p:val>
                                            <p:strVal val="0-#ppt_w/2"/>
                                          </p:val>
                                        </p:tav>
                                        <p:tav tm="100000">
                                          <p:val>
                                            <p:strVal val="#ppt_x"/>
                                          </p:val>
                                        </p:tav>
                                      </p:tavLst>
                                    </p:anim>
                                    <p:anim calcmode="lin" valueType="num">
                                      <p:cBhvr>
                                        <p:cTn id="8"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Rectangle 2"/>
          <p:cNvSpPr>
            <a:spLocks noGrp="1"/>
          </p:cNvSpPr>
          <p:nvPr>
            <p:ph type="title"/>
          </p:nvPr>
        </p:nvSpPr>
        <p:spPr>
          <a:xfrm>
            <a:off x="2603500" y="103188"/>
            <a:ext cx="6007100" cy="1030287"/>
          </a:xfrm>
          <a:ln/>
        </p:spPr>
        <p:txBody>
          <a:bodyPr vert="horz" wrap="square" lIns="91440" tIns="45720" rIns="91440" bIns="45720" anchor="ctr" anchorCtr="0"/>
          <a:p>
            <a:pPr algn="ctr" eaLnBrk="1" hangingPunct="1"/>
            <a:r>
              <a:rPr lang="zh-CN" altLang="en-US" sz="4000" dirty="0">
                <a:ea typeface="楷体_GB2312"/>
              </a:rPr>
              <a:t>机床的类型和基本构造</a:t>
            </a:r>
            <a:endParaRPr lang="zh-CN" altLang="en-US" sz="4000" dirty="0">
              <a:ea typeface="楷体_GB2312"/>
            </a:endParaRPr>
          </a:p>
        </p:txBody>
      </p:sp>
      <p:sp>
        <p:nvSpPr>
          <p:cNvPr id="172034" name="Rectangle 3"/>
          <p:cNvSpPr>
            <a:spLocks noGrp="1"/>
          </p:cNvSpPr>
          <p:nvPr>
            <p:ph idx="1"/>
          </p:nvPr>
        </p:nvSpPr>
        <p:spPr>
          <a:xfrm>
            <a:off x="96838" y="1341438"/>
            <a:ext cx="5032375" cy="5040312"/>
          </a:xfrm>
          <a:ln/>
        </p:spPr>
        <p:txBody>
          <a:bodyPr vert="horz" wrap="square" lIns="91440" tIns="45720" rIns="91440" bIns="45720" anchor="t" anchorCtr="0"/>
          <a:p>
            <a:pPr eaLnBrk="1" hangingPunct="1">
              <a:lnSpc>
                <a:spcPct val="90000"/>
              </a:lnSpc>
            </a:pPr>
            <a:r>
              <a:rPr lang="zh-CN" altLang="en-US" b="1" dirty="0">
                <a:solidFill>
                  <a:srgbClr val="FF0000"/>
                </a:solidFill>
                <a:latin typeface="楷体_GB2312"/>
                <a:ea typeface="楷体_GB2312"/>
              </a:rPr>
              <a:t>机床的基本构造</a:t>
            </a:r>
            <a:endParaRPr lang="zh-CN" altLang="en-US" b="1" dirty="0">
              <a:solidFill>
                <a:srgbClr val="FF0000"/>
              </a:solidFill>
              <a:latin typeface="楷体_GB2312"/>
              <a:ea typeface="楷体_GB2312"/>
            </a:endParaRPr>
          </a:p>
          <a:p>
            <a:pPr lvl="1" eaLnBrk="1" hangingPunct="1">
              <a:lnSpc>
                <a:spcPct val="90000"/>
              </a:lnSpc>
              <a:buNone/>
            </a:pPr>
            <a:r>
              <a:rPr lang="en-US" altLang="zh-CN" sz="2400" b="1" dirty="0">
                <a:solidFill>
                  <a:srgbClr val="008000"/>
                </a:solidFill>
                <a:latin typeface="楷体_GB2312"/>
                <a:ea typeface="楷体_GB2312"/>
              </a:rPr>
              <a:t>3</a:t>
            </a:r>
            <a:r>
              <a:rPr lang="zh-CN" altLang="en-US" sz="2400" b="1" dirty="0">
                <a:solidFill>
                  <a:srgbClr val="008000"/>
                </a:solidFill>
                <a:latin typeface="楷体_GB2312"/>
                <a:ea typeface="楷体_GB2312"/>
              </a:rPr>
              <a:t>．工件安装装置</a:t>
            </a:r>
            <a:r>
              <a:rPr lang="zh-CN" altLang="en-US" sz="2400" b="1" dirty="0">
                <a:latin typeface="楷体_GB2312"/>
                <a:ea typeface="楷体_GB2312"/>
              </a:rPr>
              <a:t> 用来安装工件，例如卧式车床的卡盘和尾架，钻床、刨床、铣床和平面磨床的工作台等。</a:t>
            </a:r>
            <a:endParaRPr lang="zh-CN" altLang="en-US" sz="2400" b="1" dirty="0">
              <a:latin typeface="楷体_GB2312"/>
              <a:ea typeface="楷体_GB2312"/>
            </a:endParaRPr>
          </a:p>
          <a:p>
            <a:pPr lvl="1" eaLnBrk="1" hangingPunct="1">
              <a:lnSpc>
                <a:spcPct val="90000"/>
              </a:lnSpc>
              <a:buNone/>
            </a:pPr>
            <a:r>
              <a:rPr lang="en-US" altLang="zh-CN" sz="2400" b="1" dirty="0">
                <a:solidFill>
                  <a:srgbClr val="008000"/>
                </a:solidFill>
                <a:latin typeface="楷体_GB2312"/>
                <a:ea typeface="楷体_GB2312"/>
              </a:rPr>
              <a:t>4</a:t>
            </a:r>
            <a:r>
              <a:rPr lang="zh-CN" altLang="en-US" sz="2400" b="1" dirty="0">
                <a:solidFill>
                  <a:srgbClr val="008000"/>
                </a:solidFill>
                <a:latin typeface="楷体_GB2312"/>
                <a:ea typeface="楷体_GB2312"/>
              </a:rPr>
              <a:t>．刀具安装装置</a:t>
            </a:r>
            <a:r>
              <a:rPr lang="zh-CN" altLang="en-US" sz="2400" b="1" dirty="0">
                <a:latin typeface="楷体_GB2312"/>
                <a:ea typeface="楷体_GB2312"/>
              </a:rPr>
              <a:t> 用来安装刀具，例如车床、刨床的刀架，钻床、立式铣床的主轴，卧式铣床的刀轴，磨床磨头的砂轮轴等。</a:t>
            </a:r>
            <a:endParaRPr lang="zh-CN" altLang="en-US" sz="2400" b="1" dirty="0">
              <a:latin typeface="楷体_GB2312"/>
              <a:ea typeface="楷体_GB2312"/>
            </a:endParaRPr>
          </a:p>
          <a:p>
            <a:pPr lvl="1" eaLnBrk="1" hangingPunct="1">
              <a:lnSpc>
                <a:spcPct val="90000"/>
              </a:lnSpc>
              <a:buNone/>
            </a:pPr>
            <a:r>
              <a:rPr lang="en-US" altLang="zh-CN" sz="2400" b="1" dirty="0">
                <a:solidFill>
                  <a:srgbClr val="008000"/>
                </a:solidFill>
                <a:latin typeface="楷体_GB2312"/>
                <a:ea typeface="楷体_GB2312"/>
              </a:rPr>
              <a:t>5</a:t>
            </a:r>
            <a:r>
              <a:rPr lang="zh-CN" altLang="en-US" sz="2400" b="1" dirty="0">
                <a:solidFill>
                  <a:srgbClr val="008000"/>
                </a:solidFill>
                <a:latin typeface="楷体_GB2312"/>
                <a:ea typeface="楷体_GB2312"/>
              </a:rPr>
              <a:t>．支承件</a:t>
            </a:r>
            <a:r>
              <a:rPr lang="zh-CN" altLang="en-US" sz="2400" b="1" dirty="0">
                <a:latin typeface="楷体_GB2312"/>
                <a:ea typeface="楷体_GB2312"/>
              </a:rPr>
              <a:t> 用来支承和连接机床的各零部件，是机床的基础构件，例如各类机床的床身、立柱、底座、横梁等。</a:t>
            </a:r>
            <a:endParaRPr lang="zh-CN" altLang="en-US" sz="2400" b="1" dirty="0">
              <a:latin typeface="楷体_GB2312"/>
              <a:ea typeface="楷体_GB2312"/>
            </a:endParaRPr>
          </a:p>
          <a:p>
            <a:pPr lvl="1" eaLnBrk="1" hangingPunct="1">
              <a:lnSpc>
                <a:spcPct val="90000"/>
              </a:lnSpc>
              <a:buNone/>
            </a:pPr>
            <a:r>
              <a:rPr lang="en-US" altLang="zh-CN" sz="2400" b="1" dirty="0">
                <a:solidFill>
                  <a:srgbClr val="008000"/>
                </a:solidFill>
                <a:latin typeface="楷体_GB2312"/>
                <a:ea typeface="楷体_GB2312"/>
              </a:rPr>
              <a:t>6</a:t>
            </a:r>
            <a:r>
              <a:rPr lang="zh-CN" altLang="en-US" sz="2400" b="1" dirty="0">
                <a:solidFill>
                  <a:srgbClr val="008000"/>
                </a:solidFill>
                <a:latin typeface="楷体_GB2312"/>
                <a:ea typeface="楷体_GB2312"/>
              </a:rPr>
              <a:t>．动力源</a:t>
            </a:r>
            <a:r>
              <a:rPr lang="zh-CN" altLang="en-US" sz="2400" b="1" dirty="0">
                <a:latin typeface="楷体_GB2312"/>
                <a:ea typeface="楷体_GB2312"/>
              </a:rPr>
              <a:t> 为机床运动提供动力，即电动机。</a:t>
            </a:r>
            <a:endParaRPr lang="zh-CN" altLang="en-US" sz="2400" b="1" dirty="0">
              <a:latin typeface="楷体_GB2312"/>
              <a:ea typeface="楷体_GB2312"/>
            </a:endParaRPr>
          </a:p>
        </p:txBody>
      </p:sp>
      <p:pic>
        <p:nvPicPr>
          <p:cNvPr id="172035" name="Picture 2" descr="牛头刨床"/>
          <p:cNvPicPr>
            <a:picLocks noChangeAspect="1"/>
          </p:cNvPicPr>
          <p:nvPr/>
        </p:nvPicPr>
        <p:blipFill>
          <a:blip r:embed="rId1"/>
          <a:stretch>
            <a:fillRect/>
          </a:stretch>
        </p:blipFill>
        <p:spPr>
          <a:xfrm>
            <a:off x="5148263" y="2133600"/>
            <a:ext cx="3760787" cy="3181350"/>
          </a:xfrm>
          <a:prstGeom prst="rect">
            <a:avLst/>
          </a:prstGeom>
          <a:noFill/>
          <a:ln w="9525">
            <a:noFill/>
          </a:ln>
        </p:spPr>
      </p:pic>
      <p:sp>
        <p:nvSpPr>
          <p:cNvPr id="172036" name="Rectangle 4"/>
          <p:cNvSpPr/>
          <p:nvPr/>
        </p:nvSpPr>
        <p:spPr>
          <a:xfrm>
            <a:off x="5084763" y="5589588"/>
            <a:ext cx="3886200" cy="1320800"/>
          </a:xfrm>
          <a:prstGeom prst="rect">
            <a:avLst/>
          </a:prstGeom>
          <a:noFill/>
          <a:ln w="9525">
            <a:noFill/>
          </a:ln>
        </p:spPr>
        <p:txBody>
          <a:bodyPr anchor="t" anchorCtr="0">
            <a:spAutoFit/>
          </a:bodyPr>
          <a:p>
            <a:pPr algn="ctr">
              <a:buClrTx/>
              <a:buFontTx/>
            </a:pPr>
            <a:r>
              <a:rPr lang="zh-CN" altLang="en-US" sz="1600" dirty="0">
                <a:latin typeface="Times New Roman" panose="02020603050405020304" pitchFamily="18" charset="0"/>
                <a:ea typeface="宋体" panose="02010600030101010101" pitchFamily="2" charset="-122"/>
              </a:rPr>
              <a:t>牛头刨床</a:t>
            </a:r>
            <a:endParaRPr lang="zh-CN" altLang="en-US" sz="1600" dirty="0">
              <a:latin typeface="Times New Roman" panose="02020603050405020304" pitchFamily="18" charset="0"/>
              <a:ea typeface="宋体" panose="02010600030101010101" pitchFamily="2" charset="-122"/>
            </a:endParaRPr>
          </a:p>
          <a:p>
            <a:pPr algn="ctr">
              <a:buClrTx/>
              <a:buFontTx/>
            </a:pPr>
            <a:r>
              <a:rPr lang="en-US" altLang="zh-CN" sz="1600" dirty="0">
                <a:latin typeface="Times New Roman" panose="02020603050405020304" pitchFamily="18" charset="0"/>
                <a:ea typeface="宋体" panose="02010600030101010101" pitchFamily="2" charset="-122"/>
              </a:rPr>
              <a:t>1-</a:t>
            </a:r>
            <a:r>
              <a:rPr lang="zh-CN" altLang="en-US" sz="1600" dirty="0">
                <a:latin typeface="Times New Roman" panose="02020603050405020304" pitchFamily="18" charset="0"/>
                <a:ea typeface="宋体" panose="02010600030101010101" pitchFamily="2" charset="-122"/>
              </a:rPr>
              <a:t>工作台  </a:t>
            </a:r>
            <a:r>
              <a:rPr lang="en-US" altLang="zh-CN" sz="1600" dirty="0">
                <a:latin typeface="Times New Roman" panose="02020603050405020304" pitchFamily="18" charset="0"/>
                <a:ea typeface="宋体" panose="02010600030101010101" pitchFamily="2" charset="-122"/>
              </a:rPr>
              <a:t>2-</a:t>
            </a:r>
            <a:r>
              <a:rPr lang="zh-CN" altLang="en-US" sz="1600" dirty="0">
                <a:latin typeface="Times New Roman" panose="02020603050405020304" pitchFamily="18" charset="0"/>
                <a:ea typeface="宋体" panose="02010600030101010101" pitchFamily="2" charset="-122"/>
              </a:rPr>
              <a:t>平口钳  </a:t>
            </a:r>
            <a:r>
              <a:rPr lang="en-US" altLang="zh-CN" sz="1600" dirty="0">
                <a:latin typeface="Times New Roman" panose="02020603050405020304" pitchFamily="18" charset="0"/>
                <a:ea typeface="宋体" panose="02010600030101010101" pitchFamily="2" charset="-122"/>
              </a:rPr>
              <a:t>3-</a:t>
            </a:r>
            <a:r>
              <a:rPr lang="zh-CN" altLang="en-US" sz="1600" dirty="0">
                <a:latin typeface="Times New Roman" panose="02020603050405020304" pitchFamily="18" charset="0"/>
                <a:ea typeface="宋体" panose="02010600030101010101" pitchFamily="2" charset="-122"/>
              </a:rPr>
              <a:t>刀架  </a:t>
            </a:r>
            <a:r>
              <a:rPr lang="en-US" altLang="zh-CN" sz="1600" dirty="0">
                <a:latin typeface="Times New Roman" panose="02020603050405020304" pitchFamily="18" charset="0"/>
                <a:ea typeface="宋体" panose="02010600030101010101" pitchFamily="2" charset="-122"/>
              </a:rPr>
              <a:t>4-</a:t>
            </a:r>
            <a:r>
              <a:rPr lang="zh-CN" altLang="en-US" sz="1600" dirty="0">
                <a:latin typeface="Times New Roman" panose="02020603050405020304" pitchFamily="18" charset="0"/>
                <a:ea typeface="宋体" panose="02010600030101010101" pitchFamily="2" charset="-122"/>
              </a:rPr>
              <a:t>滑枕  </a:t>
            </a:r>
            <a:r>
              <a:rPr lang="en-US" altLang="zh-CN" sz="1600" dirty="0">
                <a:latin typeface="Times New Roman" panose="02020603050405020304" pitchFamily="18" charset="0"/>
                <a:ea typeface="宋体" panose="02010600030101010101" pitchFamily="2" charset="-122"/>
              </a:rPr>
              <a:t>5-</a:t>
            </a:r>
            <a:r>
              <a:rPr lang="zh-CN" altLang="en-US" sz="1600" dirty="0">
                <a:latin typeface="Times New Roman" panose="02020603050405020304" pitchFamily="18" charset="0"/>
                <a:ea typeface="宋体" panose="02010600030101010101" pitchFamily="2" charset="-122"/>
              </a:rPr>
              <a:t>床身  </a:t>
            </a:r>
            <a:r>
              <a:rPr lang="en-US" altLang="zh-CN" sz="1600" dirty="0">
                <a:latin typeface="Times New Roman" panose="02020603050405020304" pitchFamily="18" charset="0"/>
                <a:ea typeface="宋体" panose="02010600030101010101" pitchFamily="2" charset="-122"/>
              </a:rPr>
              <a:t>6-</a:t>
            </a:r>
            <a:r>
              <a:rPr lang="zh-CN" altLang="en-US" sz="1600" dirty="0">
                <a:latin typeface="Times New Roman" panose="02020603050405020304" pitchFamily="18" charset="0"/>
                <a:ea typeface="宋体" panose="02010600030101010101" pitchFamily="2" charset="-122"/>
              </a:rPr>
              <a:t>摆杆机构  </a:t>
            </a:r>
            <a:r>
              <a:rPr lang="en-US" altLang="zh-CN" sz="1600" dirty="0">
                <a:latin typeface="Times New Roman" panose="02020603050405020304" pitchFamily="18" charset="0"/>
                <a:ea typeface="宋体" panose="02010600030101010101" pitchFamily="2" charset="-122"/>
              </a:rPr>
              <a:t>7-</a:t>
            </a:r>
            <a:r>
              <a:rPr lang="zh-CN" altLang="en-US" sz="1600" dirty="0">
                <a:latin typeface="Times New Roman" panose="02020603050405020304" pitchFamily="18" charset="0"/>
                <a:ea typeface="宋体" panose="02010600030101010101" pitchFamily="2" charset="-122"/>
              </a:rPr>
              <a:t>变速机构  </a:t>
            </a:r>
            <a:endParaRPr lang="zh-CN" altLang="en-US" sz="1600" dirty="0">
              <a:latin typeface="Times New Roman" panose="02020603050405020304" pitchFamily="18" charset="0"/>
              <a:ea typeface="宋体" panose="02010600030101010101" pitchFamily="2" charset="-122"/>
            </a:endParaRPr>
          </a:p>
          <a:p>
            <a:pPr algn="ctr">
              <a:buClrTx/>
              <a:buFontTx/>
            </a:pPr>
            <a:r>
              <a:rPr lang="en-US" altLang="zh-CN" sz="1600" dirty="0">
                <a:latin typeface="Times New Roman" panose="02020603050405020304" pitchFamily="18" charset="0"/>
                <a:ea typeface="宋体" panose="02010600030101010101" pitchFamily="2" charset="-122"/>
              </a:rPr>
              <a:t>8-</a:t>
            </a:r>
            <a:r>
              <a:rPr lang="zh-CN" altLang="en-US" sz="1600" dirty="0">
                <a:latin typeface="Times New Roman" panose="02020603050405020304" pitchFamily="18" charset="0"/>
                <a:ea typeface="宋体" panose="02010600030101010101" pitchFamily="2" charset="-122"/>
              </a:rPr>
              <a:t>底座  </a:t>
            </a:r>
            <a:r>
              <a:rPr lang="en-US" altLang="zh-CN" sz="1600" dirty="0">
                <a:latin typeface="Times New Roman" panose="02020603050405020304" pitchFamily="18" charset="0"/>
                <a:ea typeface="宋体" panose="02010600030101010101" pitchFamily="2" charset="-122"/>
              </a:rPr>
              <a:t>9-</a:t>
            </a:r>
            <a:r>
              <a:rPr lang="zh-CN" altLang="en-US" sz="1600" dirty="0">
                <a:latin typeface="Times New Roman" panose="02020603050405020304" pitchFamily="18" charset="0"/>
                <a:ea typeface="宋体" panose="02010600030101010101" pitchFamily="2" charset="-122"/>
              </a:rPr>
              <a:t>进刀机构  </a:t>
            </a:r>
            <a:r>
              <a:rPr lang="en-US" altLang="zh-CN" sz="1600" dirty="0">
                <a:latin typeface="Times New Roman" panose="02020603050405020304" pitchFamily="18" charset="0"/>
                <a:ea typeface="宋体" panose="02010600030101010101" pitchFamily="2" charset="-122"/>
              </a:rPr>
              <a:t>10-</a:t>
            </a:r>
            <a:r>
              <a:rPr lang="zh-CN" altLang="en-US" sz="1600" dirty="0">
                <a:latin typeface="Times New Roman" panose="02020603050405020304" pitchFamily="18" charset="0"/>
                <a:ea typeface="宋体" panose="02010600030101010101" pitchFamily="2" charset="-122"/>
              </a:rPr>
              <a:t>横梁</a:t>
            </a:r>
            <a:endParaRPr lang="zh-CN" altLang="en-US" sz="1600" dirty="0">
              <a:latin typeface="Times New Roman" panose="02020603050405020304" pitchFamily="18" charset="0"/>
              <a:ea typeface="宋体" panose="02010600030101010101" pitchFamily="2" charset="-122"/>
            </a:endParaRPr>
          </a:p>
          <a:p>
            <a:pPr algn="ctr">
              <a:buClrTx/>
              <a:buFontTx/>
            </a:pP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transition spd="slow">
    <p:randomBar dir="ver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Rectangle 2"/>
          <p:cNvSpPr>
            <a:spLocks noGrp="1"/>
          </p:cNvSpPr>
          <p:nvPr>
            <p:ph type="title"/>
          </p:nvPr>
        </p:nvSpPr>
        <p:spPr>
          <a:xfrm>
            <a:off x="2905125" y="-26987"/>
            <a:ext cx="4546600" cy="1139825"/>
          </a:xfrm>
          <a:ln/>
        </p:spPr>
        <p:txBody>
          <a:bodyPr vert="horz" wrap="square" lIns="91440" tIns="45720" rIns="91440" bIns="45720" anchor="ctr" anchorCtr="0"/>
          <a:p>
            <a:pPr eaLnBrk="1" hangingPunct="1"/>
            <a:r>
              <a:rPr lang="zh-CN" altLang="en-US" sz="4000" dirty="0">
                <a:latin typeface="楷体_GB2312"/>
                <a:ea typeface="楷体_GB2312"/>
              </a:rPr>
              <a:t>车床、钻床、刨床</a:t>
            </a:r>
            <a:endParaRPr lang="zh-CN" altLang="en-US" sz="4000" dirty="0">
              <a:latin typeface="楷体_GB2312"/>
              <a:ea typeface="楷体_GB2312"/>
            </a:endParaRPr>
          </a:p>
        </p:txBody>
      </p:sp>
      <p:grpSp>
        <p:nvGrpSpPr>
          <p:cNvPr id="174082" name="Group 12"/>
          <p:cNvGrpSpPr/>
          <p:nvPr/>
        </p:nvGrpSpPr>
        <p:grpSpPr>
          <a:xfrm>
            <a:off x="981075" y="908050"/>
            <a:ext cx="7181850" cy="6061075"/>
            <a:chOff x="1728" y="816"/>
            <a:chExt cx="2269" cy="3366"/>
          </a:xfrm>
        </p:grpSpPr>
        <p:pic>
          <p:nvPicPr>
            <p:cNvPr id="174083" name="Picture 7"/>
            <p:cNvPicPr>
              <a:picLocks noChangeAspect="1"/>
            </p:cNvPicPr>
            <p:nvPr/>
          </p:nvPicPr>
          <p:blipFill>
            <a:blip r:embed="rId1"/>
            <a:stretch>
              <a:fillRect/>
            </a:stretch>
          </p:blipFill>
          <p:spPr>
            <a:xfrm>
              <a:off x="1728" y="816"/>
              <a:ext cx="2269" cy="3366"/>
            </a:xfrm>
            <a:prstGeom prst="rect">
              <a:avLst/>
            </a:prstGeom>
            <a:noFill/>
            <a:ln w="9525">
              <a:noFill/>
            </a:ln>
          </p:spPr>
        </p:pic>
        <p:sp>
          <p:nvSpPr>
            <p:cNvPr id="174084" name="Rectangle 9"/>
            <p:cNvSpPr/>
            <p:nvPr/>
          </p:nvSpPr>
          <p:spPr>
            <a:xfrm>
              <a:off x="2562" y="1812"/>
              <a:ext cx="763" cy="187"/>
            </a:xfrm>
            <a:prstGeom prst="rect">
              <a:avLst/>
            </a:prstGeom>
            <a:solidFill>
              <a:srgbClr val="FFFFFF"/>
            </a:solidFill>
            <a:ln w="9525">
              <a:noFill/>
            </a:ln>
          </p:spPr>
          <p:txBody>
            <a:bodyPr wrap="square" anchor="t" anchorCtr="0">
              <a:spAutoFit/>
            </a:bodyPr>
            <a:p>
              <a:r>
                <a:rPr lang="zh-CN" altLang="en-US" sz="1600" b="1" dirty="0">
                  <a:solidFill>
                    <a:srgbClr val="000000"/>
                  </a:solidFill>
                  <a:latin typeface="楷体_GB2312"/>
                  <a:ea typeface="楷体_GB2312"/>
                </a:rPr>
                <a:t>图</a:t>
              </a:r>
              <a:r>
                <a:rPr lang="en-US" altLang="zh-CN" sz="1600" b="1" dirty="0">
                  <a:solidFill>
                    <a:srgbClr val="000000"/>
                  </a:solidFill>
                  <a:latin typeface="楷体_GB2312"/>
                  <a:ea typeface="楷体_GB2312"/>
                </a:rPr>
                <a:t>2-1 </a:t>
              </a:r>
              <a:r>
                <a:rPr lang="zh-CN" altLang="en-US" sz="1600" b="1" dirty="0">
                  <a:solidFill>
                    <a:srgbClr val="000000"/>
                  </a:solidFill>
                  <a:latin typeface="楷体_GB2312"/>
                  <a:ea typeface="楷体_GB2312"/>
                </a:rPr>
                <a:t>车床</a:t>
              </a:r>
              <a:endParaRPr lang="zh-CN" altLang="en-US" sz="1600" b="1" dirty="0">
                <a:solidFill>
                  <a:srgbClr val="000000"/>
                </a:solidFill>
                <a:latin typeface="楷体_GB2312"/>
                <a:ea typeface="楷体_GB2312"/>
              </a:endParaRPr>
            </a:p>
          </p:txBody>
        </p:sp>
        <p:sp>
          <p:nvSpPr>
            <p:cNvPr id="174085" name="Rectangle 10"/>
            <p:cNvSpPr/>
            <p:nvPr/>
          </p:nvSpPr>
          <p:spPr>
            <a:xfrm>
              <a:off x="2517" y="2901"/>
              <a:ext cx="763" cy="187"/>
            </a:xfrm>
            <a:prstGeom prst="rect">
              <a:avLst/>
            </a:prstGeom>
            <a:solidFill>
              <a:srgbClr val="FFFFFF"/>
            </a:solidFill>
            <a:ln w="9525">
              <a:noFill/>
            </a:ln>
          </p:spPr>
          <p:txBody>
            <a:bodyPr wrap="square" anchor="t" anchorCtr="0">
              <a:spAutoFit/>
            </a:bodyPr>
            <a:p>
              <a:r>
                <a:rPr lang="zh-CN" altLang="en-US" sz="1600" b="1" dirty="0">
                  <a:solidFill>
                    <a:srgbClr val="000000"/>
                  </a:solidFill>
                  <a:latin typeface="楷体_GB2312"/>
                  <a:ea typeface="楷体_GB2312"/>
                </a:rPr>
                <a:t>图</a:t>
              </a:r>
              <a:r>
                <a:rPr lang="en-US" altLang="zh-CN" sz="1600" b="1" dirty="0">
                  <a:solidFill>
                    <a:srgbClr val="000000"/>
                  </a:solidFill>
                  <a:latin typeface="楷体_GB2312"/>
                  <a:ea typeface="楷体_GB2312"/>
                </a:rPr>
                <a:t>2-2 </a:t>
              </a:r>
              <a:r>
                <a:rPr lang="zh-CN" altLang="en-US" sz="1600" b="1" dirty="0">
                  <a:solidFill>
                    <a:srgbClr val="000000"/>
                  </a:solidFill>
                  <a:latin typeface="楷体_GB2312"/>
                  <a:ea typeface="楷体_GB2312"/>
                </a:rPr>
                <a:t>钻床</a:t>
              </a:r>
              <a:endParaRPr lang="zh-CN" altLang="en-US" sz="1600" b="1" dirty="0">
                <a:solidFill>
                  <a:srgbClr val="000000"/>
                </a:solidFill>
                <a:latin typeface="楷体_GB2312"/>
                <a:ea typeface="楷体_GB2312"/>
              </a:endParaRPr>
            </a:p>
          </p:txBody>
        </p:sp>
        <p:sp>
          <p:nvSpPr>
            <p:cNvPr id="174086" name="Rectangle 11"/>
            <p:cNvSpPr/>
            <p:nvPr/>
          </p:nvSpPr>
          <p:spPr>
            <a:xfrm>
              <a:off x="2472" y="3989"/>
              <a:ext cx="763" cy="187"/>
            </a:xfrm>
            <a:prstGeom prst="rect">
              <a:avLst/>
            </a:prstGeom>
            <a:solidFill>
              <a:srgbClr val="FFFFFF"/>
            </a:solidFill>
            <a:ln w="9525">
              <a:noFill/>
            </a:ln>
          </p:spPr>
          <p:txBody>
            <a:bodyPr wrap="square" anchor="t" anchorCtr="0">
              <a:spAutoFit/>
            </a:bodyPr>
            <a:p>
              <a:r>
                <a:rPr lang="zh-CN" altLang="en-US" sz="1600" b="1" dirty="0">
                  <a:solidFill>
                    <a:srgbClr val="000000"/>
                  </a:solidFill>
                  <a:latin typeface="楷体_GB2312"/>
                  <a:ea typeface="楷体_GB2312"/>
                </a:rPr>
                <a:t>图</a:t>
              </a:r>
              <a:r>
                <a:rPr lang="en-US" altLang="zh-CN" sz="1600" b="1" dirty="0">
                  <a:solidFill>
                    <a:srgbClr val="000000"/>
                  </a:solidFill>
                  <a:latin typeface="楷体_GB2312"/>
                  <a:ea typeface="楷体_GB2312"/>
                </a:rPr>
                <a:t>2-3 </a:t>
              </a:r>
              <a:r>
                <a:rPr lang="zh-CN" altLang="en-US" sz="1600" b="1" dirty="0">
                  <a:solidFill>
                    <a:srgbClr val="000000"/>
                  </a:solidFill>
                  <a:latin typeface="楷体_GB2312"/>
                  <a:ea typeface="楷体_GB2312"/>
                </a:rPr>
                <a:t>刨床</a:t>
              </a:r>
              <a:endParaRPr lang="zh-CN" altLang="en-US" sz="1600" b="1" dirty="0">
                <a:solidFill>
                  <a:srgbClr val="000000"/>
                </a:solidFill>
                <a:latin typeface="楷体_GB2312"/>
                <a:ea typeface="楷体_GB2312"/>
              </a:endParaRPr>
            </a:p>
          </p:txBody>
        </p:sp>
      </p:grpSp>
      <p:sp>
        <p:nvSpPr>
          <p:cNvPr id="174087" name="AutoShape 13">
            <a:hlinkClick r:id="rId2" action="ppaction://hlinksldjump"/>
          </p:cNvPr>
          <p:cNvSpPr/>
          <p:nvPr/>
        </p:nvSpPr>
        <p:spPr>
          <a:xfrm>
            <a:off x="7596188" y="6092825"/>
            <a:ext cx="936625" cy="504825"/>
          </a:xfrm>
          <a:prstGeom prst="actionButtonBeginning">
            <a:avLst/>
          </a:prstGeom>
          <a:solidFill>
            <a:schemeClr val="accent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Rectangle 2"/>
          <p:cNvSpPr>
            <a:spLocks noGrp="1"/>
          </p:cNvSpPr>
          <p:nvPr>
            <p:ph type="title"/>
          </p:nvPr>
        </p:nvSpPr>
        <p:spPr>
          <a:xfrm>
            <a:off x="3625850" y="201613"/>
            <a:ext cx="2962275" cy="1139825"/>
          </a:xfrm>
          <a:ln/>
        </p:spPr>
        <p:txBody>
          <a:bodyPr vert="horz" wrap="square" lIns="91440" tIns="45720" rIns="91440" bIns="45720" anchor="ctr" anchorCtr="0"/>
          <a:p>
            <a:pPr eaLnBrk="1" hangingPunct="1"/>
            <a:r>
              <a:rPr lang="zh-CN" altLang="en-US" sz="4000" dirty="0">
                <a:latin typeface="楷体_GB2312"/>
                <a:ea typeface="楷体_GB2312"/>
              </a:rPr>
              <a:t>铣床、磨床</a:t>
            </a:r>
            <a:endParaRPr lang="zh-CN" altLang="en-US" sz="4000" dirty="0">
              <a:latin typeface="楷体_GB2312"/>
              <a:ea typeface="楷体_GB2312"/>
            </a:endParaRPr>
          </a:p>
        </p:txBody>
      </p:sp>
      <p:grpSp>
        <p:nvGrpSpPr>
          <p:cNvPr id="176130" name="Group 12"/>
          <p:cNvGrpSpPr/>
          <p:nvPr/>
        </p:nvGrpSpPr>
        <p:grpSpPr>
          <a:xfrm>
            <a:off x="1403350" y="1114425"/>
            <a:ext cx="6602413" cy="5697538"/>
            <a:chOff x="1152" y="816"/>
            <a:chExt cx="3705" cy="3293"/>
          </a:xfrm>
        </p:grpSpPr>
        <p:pic>
          <p:nvPicPr>
            <p:cNvPr id="176131" name="Picture 7"/>
            <p:cNvPicPr>
              <a:picLocks noChangeAspect="1"/>
            </p:cNvPicPr>
            <p:nvPr/>
          </p:nvPicPr>
          <p:blipFill>
            <a:blip r:embed="rId1"/>
            <a:stretch>
              <a:fillRect/>
            </a:stretch>
          </p:blipFill>
          <p:spPr>
            <a:xfrm>
              <a:off x="1152" y="816"/>
              <a:ext cx="3705" cy="3293"/>
            </a:xfrm>
            <a:prstGeom prst="rect">
              <a:avLst/>
            </a:prstGeom>
            <a:noFill/>
            <a:ln w="9525">
              <a:noFill/>
            </a:ln>
          </p:spPr>
        </p:pic>
        <p:sp>
          <p:nvSpPr>
            <p:cNvPr id="176132" name="Rectangle 10"/>
            <p:cNvSpPr/>
            <p:nvPr/>
          </p:nvSpPr>
          <p:spPr>
            <a:xfrm>
              <a:off x="2562" y="2147"/>
              <a:ext cx="916" cy="213"/>
            </a:xfrm>
            <a:prstGeom prst="rect">
              <a:avLst/>
            </a:prstGeom>
            <a:solidFill>
              <a:srgbClr val="FFFFFF"/>
            </a:solidFill>
            <a:ln w="9525">
              <a:noFill/>
            </a:ln>
          </p:spPr>
          <p:txBody>
            <a:bodyPr wrap="squar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2-4  </a:t>
              </a:r>
              <a:r>
                <a:rPr lang="zh-CN" altLang="en-US" b="1" dirty="0">
                  <a:latin typeface="楷体_GB2312"/>
                  <a:ea typeface="楷体_GB2312"/>
                </a:rPr>
                <a:t>铣床</a:t>
              </a:r>
              <a:endParaRPr lang="zh-CN" altLang="en-US" b="1" dirty="0">
                <a:latin typeface="楷体_GB2312"/>
                <a:ea typeface="楷体_GB2312"/>
              </a:endParaRPr>
            </a:p>
          </p:txBody>
        </p:sp>
        <p:sp>
          <p:nvSpPr>
            <p:cNvPr id="176133" name="Rectangle 11"/>
            <p:cNvSpPr/>
            <p:nvPr/>
          </p:nvSpPr>
          <p:spPr>
            <a:xfrm>
              <a:off x="2617" y="3825"/>
              <a:ext cx="916" cy="213"/>
            </a:xfrm>
            <a:prstGeom prst="rect">
              <a:avLst/>
            </a:prstGeom>
            <a:solidFill>
              <a:srgbClr val="FFFFFF"/>
            </a:solidFill>
            <a:ln w="9525">
              <a:noFill/>
            </a:ln>
          </p:spPr>
          <p:txBody>
            <a:bodyPr wrap="squar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2-5</a:t>
              </a:r>
              <a:r>
                <a:rPr lang="en-US" altLang="zh-CN" b="1" dirty="0">
                  <a:latin typeface="楷体_GB2312"/>
                  <a:ea typeface="楷体_GB2312"/>
                </a:rPr>
                <a:t>  </a:t>
              </a:r>
              <a:r>
                <a:rPr lang="zh-CN" altLang="en-US" b="1" dirty="0">
                  <a:latin typeface="楷体_GB2312"/>
                  <a:ea typeface="楷体_GB2312"/>
                </a:rPr>
                <a:t>磨床</a:t>
              </a:r>
              <a:endParaRPr lang="zh-CN" altLang="en-US" b="1" dirty="0">
                <a:latin typeface="楷体_GB2312"/>
                <a:ea typeface="楷体_GB2312"/>
              </a:endParaRPr>
            </a:p>
          </p:txBody>
        </p:sp>
      </p:grpSp>
      <p:sp>
        <p:nvSpPr>
          <p:cNvPr id="176134" name="AutoShape 13">
            <a:hlinkClick r:id="rId2" action="ppaction://hlinksldjump"/>
          </p:cNvPr>
          <p:cNvSpPr/>
          <p:nvPr/>
        </p:nvSpPr>
        <p:spPr>
          <a:xfrm>
            <a:off x="8027988" y="6092825"/>
            <a:ext cx="936625" cy="504825"/>
          </a:xfrm>
          <a:prstGeom prst="actionButtonBeginning">
            <a:avLst/>
          </a:prstGeom>
          <a:solidFill>
            <a:schemeClr val="accent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Rectangle 2"/>
          <p:cNvSpPr>
            <a:spLocks noGrp="1"/>
          </p:cNvSpPr>
          <p:nvPr>
            <p:ph type="title"/>
          </p:nvPr>
        </p:nvSpPr>
        <p:spPr>
          <a:xfrm>
            <a:off x="3814763" y="90488"/>
            <a:ext cx="3349625" cy="1190625"/>
          </a:xfrm>
          <a:ln/>
        </p:spPr>
        <p:txBody>
          <a:bodyPr vert="horz" wrap="square" lIns="91440" tIns="45720" rIns="91440" bIns="45720" anchor="ctr" anchorCtr="0"/>
          <a:p>
            <a:pPr algn="ctr" eaLnBrk="1" hangingPunct="1"/>
            <a:r>
              <a:rPr lang="zh-CN" altLang="en-US" sz="4000" dirty="0">
                <a:ea typeface="楷体_GB2312"/>
              </a:rPr>
              <a:t>机床的传动</a:t>
            </a:r>
            <a:endParaRPr lang="zh-CN" altLang="en-US" sz="4000" dirty="0">
              <a:ea typeface="楷体_GB2312"/>
            </a:endParaRPr>
          </a:p>
        </p:txBody>
      </p:sp>
      <p:sp>
        <p:nvSpPr>
          <p:cNvPr id="178178" name="Rectangle 5"/>
          <p:cNvSpPr/>
          <p:nvPr/>
        </p:nvSpPr>
        <p:spPr>
          <a:xfrm>
            <a:off x="107950" y="1125538"/>
            <a:ext cx="8893175" cy="3414712"/>
          </a:xfrm>
          <a:prstGeom prst="rect">
            <a:avLst/>
          </a:prstGeom>
          <a:noFill/>
          <a:ln w="9525">
            <a:noFill/>
          </a:ln>
        </p:spPr>
        <p:txBody>
          <a:bodyPr anchor="t" anchorCtr="0">
            <a:spAutoFit/>
          </a:bodyPr>
          <a:p>
            <a:pPr>
              <a:buClr>
                <a:srgbClr val="FF0000"/>
              </a:buClr>
              <a:buFont typeface="Wingdings" panose="05000000000000000000" pitchFamily="2" charset="2"/>
              <a:buChar char="Ø"/>
            </a:pPr>
            <a:r>
              <a:rPr lang="zh-CN" altLang="en-US" sz="2400" b="1" dirty="0">
                <a:solidFill>
                  <a:srgbClr val="FF0000"/>
                </a:solidFill>
                <a:latin typeface="楷体_GB2312"/>
                <a:ea typeface="楷体_GB2312"/>
              </a:rPr>
              <a:t>机床的传动</a:t>
            </a:r>
            <a:r>
              <a:rPr lang="en-US" altLang="zh-CN" sz="2400" b="1" dirty="0">
                <a:solidFill>
                  <a:srgbClr val="FF0000"/>
                </a:solidFill>
                <a:latin typeface="楷体_GB2312"/>
                <a:ea typeface="楷体_GB2312"/>
              </a:rPr>
              <a:t>:</a:t>
            </a:r>
            <a:r>
              <a:rPr lang="en-US" altLang="zh-CN" sz="2400" b="1" dirty="0">
                <a:solidFill>
                  <a:srgbClr val="F19BFD"/>
                </a:solidFill>
                <a:latin typeface="楷体_GB2312"/>
                <a:ea typeface="楷体_GB2312"/>
              </a:rPr>
              <a:t> </a:t>
            </a:r>
            <a:r>
              <a:rPr lang="zh-CN" altLang="en-US" sz="2400" b="1" dirty="0">
                <a:latin typeface="楷体_GB2312"/>
                <a:ea typeface="楷体_GB2312"/>
              </a:rPr>
              <a:t>有机械、液压、气动、电气等多种传动形式，其中最常见的是机械传动和液压传动。</a:t>
            </a:r>
            <a:endParaRPr lang="zh-CN" altLang="en-US" sz="2400" b="1" dirty="0">
              <a:latin typeface="楷体_GB2312"/>
              <a:ea typeface="楷体_GB2312"/>
            </a:endParaRPr>
          </a:p>
          <a:p>
            <a:r>
              <a:rPr lang="zh-CN" altLang="en-US" sz="2400" b="1" dirty="0">
                <a:solidFill>
                  <a:srgbClr val="008000"/>
                </a:solidFill>
                <a:latin typeface="GreekS" pitchFamily="2" charset="0"/>
                <a:ea typeface="楷体_GB2312"/>
              </a:rPr>
              <a:t>一、机床的机械传动</a:t>
            </a:r>
            <a:endParaRPr lang="zh-CN" altLang="en-US" sz="2400" b="1" dirty="0">
              <a:solidFill>
                <a:srgbClr val="008000"/>
              </a:solidFill>
              <a:latin typeface="GreekS" pitchFamily="2" charset="0"/>
              <a:ea typeface="楷体_GB2312"/>
            </a:endParaRPr>
          </a:p>
          <a:p>
            <a:r>
              <a:rPr lang="zh-CN" altLang="en-US" sz="2000" b="1" dirty="0">
                <a:latin typeface="GreekS" pitchFamily="2" charset="0"/>
                <a:ea typeface="宋体" panose="02010600030101010101" pitchFamily="2" charset="-122"/>
              </a:rPr>
              <a:t> </a:t>
            </a:r>
            <a:r>
              <a:rPr lang="en-US" altLang="zh-CN" sz="2400" b="1" dirty="0">
                <a:solidFill>
                  <a:srgbClr val="0000CC"/>
                </a:solidFill>
                <a:latin typeface="楷体_GB2312"/>
                <a:ea typeface="楷体_GB2312"/>
              </a:rPr>
              <a:t>1</a:t>
            </a:r>
            <a:r>
              <a:rPr lang="zh-CN" altLang="en-US" sz="2400" b="1" dirty="0">
                <a:solidFill>
                  <a:srgbClr val="0000CC"/>
                </a:solidFill>
                <a:latin typeface="楷体_GB2312"/>
                <a:ea typeface="楷体_GB2312"/>
              </a:rPr>
              <a:t>．机床上常用的传动副及其传动关系</a:t>
            </a:r>
            <a:r>
              <a:rPr lang="zh-CN" altLang="en-US" sz="2400" b="1" dirty="0">
                <a:latin typeface="楷体_GB2312"/>
                <a:ea typeface="楷体_GB2312"/>
              </a:rPr>
              <a:t> 用来传递运动和动力的装置称为传动副，机床上常用的传动副及其传动关系如下：</a:t>
            </a:r>
            <a:endParaRPr lang="zh-CN" altLang="en-US" sz="2400" b="1" dirty="0">
              <a:latin typeface="楷体_GB2312"/>
              <a:ea typeface="楷体_GB2312"/>
            </a:endParaRPr>
          </a:p>
          <a:p>
            <a:r>
              <a:rPr lang="en-US" altLang="zh-CN" sz="2400" b="1" dirty="0">
                <a:solidFill>
                  <a:srgbClr val="990033"/>
                </a:solidFill>
                <a:latin typeface="楷体_GB2312"/>
                <a:ea typeface="楷体_GB2312"/>
              </a:rPr>
              <a:t>(1)</a:t>
            </a:r>
            <a:r>
              <a:rPr lang="zh-CN" altLang="en-US" sz="2400" b="1" dirty="0">
                <a:solidFill>
                  <a:srgbClr val="990033"/>
                </a:solidFill>
                <a:latin typeface="楷体_GB2312"/>
                <a:ea typeface="楷体_GB2312"/>
              </a:rPr>
              <a:t>带传动</a:t>
            </a:r>
            <a:r>
              <a:rPr lang="zh-CN" altLang="en-US" sz="2400" b="1" dirty="0">
                <a:latin typeface="楷体_GB2312"/>
                <a:ea typeface="楷体_GB2312"/>
              </a:rPr>
              <a:t> 带传动是利用传动带与带轮之间的摩擦作用，将主动带轮的转动传到从动带轮。如果不考虑传动带与带轮之间的相对滑动，带轮的圆周速度</a:t>
            </a:r>
            <a:r>
              <a:rPr lang="en-US" altLang="zh-CN" sz="2400" b="1" i="1" dirty="0">
                <a:latin typeface="Times New Roman" panose="02020603050405020304" pitchFamily="18" charset="0"/>
                <a:ea typeface="楷体_GB2312"/>
              </a:rPr>
              <a:t>v</a:t>
            </a:r>
            <a:r>
              <a:rPr lang="en-US" altLang="zh-CN" sz="2400" b="1" baseline="-25000" dirty="0">
                <a:latin typeface="楷体_GB2312"/>
                <a:ea typeface="楷体_GB2312"/>
              </a:rPr>
              <a:t>1</a:t>
            </a:r>
            <a:r>
              <a:rPr lang="zh-CN" altLang="en-US" sz="2400" b="1" dirty="0">
                <a:latin typeface="楷体_GB2312"/>
                <a:ea typeface="楷体_GB2312"/>
              </a:rPr>
              <a:t>、</a:t>
            </a:r>
            <a:r>
              <a:rPr lang="en-US" altLang="zh-CN" sz="2400" b="1" i="1" dirty="0">
                <a:latin typeface="Times New Roman" panose="02020603050405020304" pitchFamily="18" charset="0"/>
                <a:ea typeface="楷体_GB2312"/>
              </a:rPr>
              <a:t>v</a:t>
            </a:r>
            <a:r>
              <a:rPr lang="en-US" altLang="zh-CN" sz="2400" b="1" baseline="-25000" dirty="0">
                <a:latin typeface="楷体_GB2312"/>
                <a:ea typeface="楷体_GB2312"/>
              </a:rPr>
              <a:t>2</a:t>
            </a:r>
            <a:r>
              <a:rPr lang="zh-CN" altLang="en-US" sz="2400" b="1" dirty="0">
                <a:latin typeface="楷体_GB2312"/>
                <a:ea typeface="楷体_GB2312"/>
              </a:rPr>
              <a:t>和传动带速度</a:t>
            </a:r>
            <a:r>
              <a:rPr lang="en-US" altLang="zh-CN" sz="2400" b="1" i="1" dirty="0">
                <a:latin typeface="Times New Roman" panose="02020603050405020304" pitchFamily="18" charset="0"/>
                <a:ea typeface="楷体_GB2312"/>
              </a:rPr>
              <a:t>v</a:t>
            </a:r>
            <a:r>
              <a:rPr lang="zh-CN" altLang="en-US" sz="2400" b="1" dirty="0">
                <a:latin typeface="楷体_GB2312"/>
                <a:ea typeface="楷体_GB2312"/>
              </a:rPr>
              <a:t>带的大小是相同的，即</a:t>
            </a:r>
            <a:endParaRPr lang="zh-CN" altLang="en-US" sz="2400" b="1" dirty="0">
              <a:latin typeface="楷体_GB2312"/>
              <a:ea typeface="楷体_GB2312"/>
            </a:endParaRPr>
          </a:p>
        </p:txBody>
      </p:sp>
      <p:pic>
        <p:nvPicPr>
          <p:cNvPr id="178179" name="Picture 12"/>
          <p:cNvPicPr>
            <a:picLocks noChangeAspect="1"/>
          </p:cNvPicPr>
          <p:nvPr/>
        </p:nvPicPr>
        <p:blipFill>
          <a:blip r:embed="rId1"/>
          <a:stretch>
            <a:fillRect/>
          </a:stretch>
        </p:blipFill>
        <p:spPr>
          <a:xfrm>
            <a:off x="5522913" y="4217988"/>
            <a:ext cx="2362200" cy="2520950"/>
          </a:xfrm>
          <a:prstGeom prst="rect">
            <a:avLst/>
          </a:prstGeom>
          <a:noFill/>
          <a:ln w="9525">
            <a:noFill/>
          </a:ln>
        </p:spPr>
      </p:pic>
      <p:grpSp>
        <p:nvGrpSpPr>
          <p:cNvPr id="178180" name="Group 17"/>
          <p:cNvGrpSpPr/>
          <p:nvPr/>
        </p:nvGrpSpPr>
        <p:grpSpPr>
          <a:xfrm>
            <a:off x="1331913" y="4149725"/>
            <a:ext cx="3149600" cy="2660650"/>
            <a:chOff x="3300" y="2616"/>
            <a:chExt cx="1984" cy="1676"/>
          </a:xfrm>
        </p:grpSpPr>
        <p:pic>
          <p:nvPicPr>
            <p:cNvPr id="178181" name="Picture 10"/>
            <p:cNvPicPr>
              <a:picLocks noChangeAspect="1"/>
            </p:cNvPicPr>
            <p:nvPr/>
          </p:nvPicPr>
          <p:blipFill>
            <a:blip r:embed="rId2"/>
            <a:stretch>
              <a:fillRect/>
            </a:stretch>
          </p:blipFill>
          <p:spPr>
            <a:xfrm>
              <a:off x="3300" y="2616"/>
              <a:ext cx="1984" cy="1676"/>
            </a:xfrm>
            <a:prstGeom prst="rect">
              <a:avLst/>
            </a:prstGeom>
            <a:noFill/>
            <a:ln w="9525">
              <a:noFill/>
            </a:ln>
          </p:spPr>
        </p:pic>
        <p:sp>
          <p:nvSpPr>
            <p:cNvPr id="178182" name="Rectangle 16"/>
            <p:cNvSpPr/>
            <p:nvPr/>
          </p:nvSpPr>
          <p:spPr>
            <a:xfrm>
              <a:off x="3742" y="4016"/>
              <a:ext cx="1061" cy="231"/>
            </a:xfrm>
            <a:prstGeom prst="rect">
              <a:avLst/>
            </a:prstGeom>
            <a:solidFill>
              <a:srgbClr val="FFFFFF"/>
            </a:solidFill>
            <a:ln w="9525">
              <a:noFill/>
            </a:ln>
          </p:spPr>
          <p:txBody>
            <a:bodyPr wrap="non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2-6  </a:t>
              </a:r>
              <a:r>
                <a:rPr lang="zh-CN" altLang="en-US" b="1" dirty="0">
                  <a:solidFill>
                    <a:srgbClr val="000000"/>
                  </a:solidFill>
                  <a:latin typeface="楷体_GB2312"/>
                  <a:ea typeface="楷体_GB2312"/>
                </a:rPr>
                <a:t>带传动</a:t>
              </a:r>
              <a:endParaRPr lang="zh-CN" altLang="en-US" b="1" dirty="0">
                <a:solidFill>
                  <a:srgbClr val="000000"/>
                </a:solidFill>
                <a:latin typeface="楷体_GB2312"/>
                <a:ea typeface="楷体_GB2312"/>
              </a:endParaRPr>
            </a:p>
          </p:txBody>
        </p:sp>
      </p:grpSp>
      <p:sp>
        <p:nvSpPr>
          <p:cNvPr id="178183" name="AutoShape 18"/>
          <p:cNvSpPr/>
          <p:nvPr/>
        </p:nvSpPr>
        <p:spPr>
          <a:xfrm>
            <a:off x="4716463" y="5226050"/>
            <a:ext cx="647700" cy="485775"/>
          </a:xfrm>
          <a:prstGeom prst="rightArrow">
            <a:avLst>
              <a:gd name="adj1" fmla="val 50000"/>
              <a:gd name="adj2" fmla="val 33290"/>
            </a:avLst>
          </a:prstGeom>
          <a:solidFill>
            <a:srgbClr val="33CCFF"/>
          </a:solidFill>
          <a:ln w="9525" cap="flat" cmpd="sng">
            <a:solidFill>
              <a:srgbClr val="0080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Rectangle 2"/>
          <p:cNvSpPr>
            <a:spLocks noGrp="1"/>
          </p:cNvSpPr>
          <p:nvPr>
            <p:ph type="title"/>
          </p:nvPr>
        </p:nvSpPr>
        <p:spPr>
          <a:xfrm>
            <a:off x="3490913" y="0"/>
            <a:ext cx="4357687" cy="1190625"/>
          </a:xfrm>
          <a:ln/>
        </p:spPr>
        <p:txBody>
          <a:bodyPr vert="horz" wrap="square" lIns="91440" tIns="45720" rIns="91440" bIns="45720" anchor="ctr" anchorCtr="0"/>
          <a:p>
            <a:pPr algn="ctr" eaLnBrk="1" hangingPunct="1"/>
            <a:r>
              <a:rPr lang="zh-CN" altLang="en-US" sz="4000" dirty="0">
                <a:ea typeface="楷体_GB2312"/>
              </a:rPr>
              <a:t>机床的传动</a:t>
            </a:r>
            <a:endParaRPr lang="zh-CN" altLang="en-US" sz="4000" dirty="0">
              <a:ea typeface="楷体_GB2312"/>
            </a:endParaRPr>
          </a:p>
        </p:txBody>
      </p:sp>
      <p:sp>
        <p:nvSpPr>
          <p:cNvPr id="180226" name="Rectangle 4"/>
          <p:cNvSpPr/>
          <p:nvPr/>
        </p:nvSpPr>
        <p:spPr>
          <a:xfrm>
            <a:off x="0" y="1143000"/>
            <a:ext cx="8893175" cy="1630363"/>
          </a:xfrm>
          <a:prstGeom prst="rect">
            <a:avLst/>
          </a:prstGeom>
          <a:noFill/>
          <a:ln w="9525">
            <a:noFill/>
          </a:ln>
        </p:spPr>
        <p:txBody>
          <a:bodyPr anchor="t" anchorCtr="0">
            <a:spAutoFit/>
          </a:bodyPr>
          <a:p>
            <a:r>
              <a:rPr lang="zh-CN" altLang="en-US" sz="2400" b="1" dirty="0">
                <a:solidFill>
                  <a:srgbClr val="FF0000"/>
                </a:solidFill>
                <a:latin typeface="楷体_GB2312"/>
                <a:ea typeface="楷体_GB2312"/>
              </a:rPr>
              <a:t>（</a:t>
            </a:r>
            <a:r>
              <a:rPr lang="en-US" altLang="zh-CN" sz="2400" b="1" dirty="0">
                <a:solidFill>
                  <a:srgbClr val="FF0000"/>
                </a:solidFill>
                <a:latin typeface="楷体_GB2312"/>
                <a:ea typeface="楷体_GB2312"/>
              </a:rPr>
              <a:t>2</a:t>
            </a:r>
            <a:r>
              <a:rPr lang="zh-CN" altLang="en-US" sz="2400" b="1" dirty="0">
                <a:solidFill>
                  <a:srgbClr val="FF0000"/>
                </a:solidFill>
                <a:latin typeface="楷体_GB2312"/>
                <a:ea typeface="楷体_GB2312"/>
              </a:rPr>
              <a:t>）齿轮传动</a:t>
            </a:r>
            <a:r>
              <a:rPr lang="en-US" altLang="zh-CN" sz="2400" b="1" dirty="0">
                <a:solidFill>
                  <a:srgbClr val="FF0000"/>
                </a:solidFill>
                <a:latin typeface="楷体_GB2312"/>
                <a:ea typeface="楷体_GB2312"/>
              </a:rPr>
              <a:t> </a:t>
            </a:r>
            <a:r>
              <a:rPr lang="zh-CN" altLang="en-US" sz="2400" b="1" dirty="0">
                <a:latin typeface="楷体_GB2312"/>
                <a:ea typeface="楷体_GB2312"/>
              </a:rPr>
              <a:t>目前机床中应用最多的一种传动方式。种类很多，如直齿、斜齿、人字齿、圆弧齿等，其中最常用的是直齿圆柱齿轮传动。</a:t>
            </a:r>
            <a:endParaRPr lang="zh-CN" altLang="en-US" sz="2400" b="1" dirty="0">
              <a:latin typeface="楷体_GB2312"/>
              <a:ea typeface="楷体_GB2312"/>
            </a:endParaRPr>
          </a:p>
          <a:p>
            <a:r>
              <a:rPr lang="zh-CN" altLang="en-US" sz="2400" b="1" dirty="0">
                <a:latin typeface="楷体_GB2312"/>
                <a:ea typeface="楷体_GB2312"/>
              </a:rPr>
              <a:t>   设</a:t>
            </a:r>
            <a:r>
              <a:rPr lang="en-US" altLang="zh-CN" sz="2400" b="1" i="1" dirty="0">
                <a:latin typeface="Times New Roman" panose="02020603050405020304" pitchFamily="18" charset="0"/>
                <a:ea typeface="楷体_GB2312"/>
              </a:rPr>
              <a:t>z</a:t>
            </a:r>
            <a:r>
              <a:rPr lang="en-US" altLang="zh-CN" sz="2400" b="1" i="1" baseline="-25000" dirty="0">
                <a:latin typeface="Times New Roman" panose="02020603050405020304" pitchFamily="18" charset="0"/>
                <a:ea typeface="楷体_GB2312"/>
              </a:rPr>
              <a:t>1</a:t>
            </a:r>
            <a:r>
              <a:rPr lang="en-US" altLang="zh-CN" sz="2400" b="1" dirty="0">
                <a:latin typeface="楷体_GB2312"/>
                <a:ea typeface="楷体_GB2312"/>
              </a:rPr>
              <a:t>, </a:t>
            </a:r>
            <a:r>
              <a:rPr lang="en-US" altLang="zh-CN" sz="2400" b="1" i="1" dirty="0">
                <a:latin typeface="Times New Roman" panose="02020603050405020304" pitchFamily="18" charset="0"/>
                <a:ea typeface="楷体_GB2312"/>
              </a:rPr>
              <a:t>z</a:t>
            </a:r>
            <a:r>
              <a:rPr lang="en-US" altLang="zh-CN" sz="2400" b="1" i="1" baseline="-25000" dirty="0">
                <a:latin typeface="Times New Roman" panose="02020603050405020304" pitchFamily="18" charset="0"/>
                <a:ea typeface="楷体_GB2312"/>
              </a:rPr>
              <a:t>2</a:t>
            </a:r>
            <a:r>
              <a:rPr lang="zh-CN" altLang="en-US" sz="2400" b="1" dirty="0">
                <a:latin typeface="楷体_GB2312"/>
                <a:ea typeface="楷体_GB2312"/>
              </a:rPr>
              <a:t>和</a:t>
            </a:r>
            <a:r>
              <a:rPr lang="en-US" altLang="zh-CN" sz="2400" b="1" i="1" dirty="0">
                <a:latin typeface="Times New Roman" panose="02020603050405020304" pitchFamily="18" charset="0"/>
                <a:ea typeface="楷体_GB2312"/>
              </a:rPr>
              <a:t>n</a:t>
            </a:r>
            <a:r>
              <a:rPr lang="en-US" altLang="zh-CN" sz="2400" b="1" i="1" baseline="-25000" dirty="0">
                <a:latin typeface="Times New Roman" panose="02020603050405020304" pitchFamily="18" charset="0"/>
                <a:ea typeface="楷体_GB2312"/>
              </a:rPr>
              <a:t>1</a:t>
            </a:r>
            <a:r>
              <a:rPr lang="en-US" altLang="zh-CN" sz="2400" b="1" dirty="0">
                <a:latin typeface="楷体_GB2312"/>
                <a:ea typeface="楷体_GB2312"/>
              </a:rPr>
              <a:t>, </a:t>
            </a:r>
            <a:r>
              <a:rPr lang="en-US" altLang="zh-CN" sz="2400" b="1" i="1" dirty="0">
                <a:latin typeface="Times New Roman" panose="02020603050405020304" pitchFamily="18" charset="0"/>
                <a:ea typeface="楷体_GB2312"/>
              </a:rPr>
              <a:t>n</a:t>
            </a:r>
            <a:r>
              <a:rPr lang="en-US" altLang="zh-CN" sz="2400" b="1" i="1" baseline="-25000" dirty="0">
                <a:latin typeface="Times New Roman" panose="02020603050405020304" pitchFamily="18" charset="0"/>
                <a:ea typeface="楷体_GB2312"/>
              </a:rPr>
              <a:t>2</a:t>
            </a:r>
            <a:r>
              <a:rPr lang="zh-CN" altLang="en-US" sz="2400" b="1" dirty="0">
                <a:latin typeface="楷体_GB2312"/>
                <a:ea typeface="楷体_GB2312"/>
              </a:rPr>
              <a:t>分别为主动、从动齿轮的齿数和转速，则</a:t>
            </a:r>
            <a:r>
              <a:rPr lang="zh-CN" altLang="en-US" sz="2800" b="1" dirty="0">
                <a:latin typeface="楷体_GB2312"/>
                <a:ea typeface="楷体_GB2312"/>
              </a:rPr>
              <a:t> </a:t>
            </a:r>
            <a:endParaRPr lang="zh-CN" altLang="en-US" sz="2800" b="1" dirty="0">
              <a:latin typeface="楷体_GB2312"/>
              <a:ea typeface="楷体_GB2312"/>
            </a:endParaRPr>
          </a:p>
        </p:txBody>
      </p:sp>
      <p:pic>
        <p:nvPicPr>
          <p:cNvPr id="180227" name="Picture 13"/>
          <p:cNvPicPr>
            <a:picLocks noChangeAspect="1"/>
          </p:cNvPicPr>
          <p:nvPr/>
        </p:nvPicPr>
        <p:blipFill>
          <a:blip r:embed="rId1"/>
          <a:stretch>
            <a:fillRect/>
          </a:stretch>
        </p:blipFill>
        <p:spPr>
          <a:xfrm>
            <a:off x="3779838" y="4652963"/>
            <a:ext cx="2667000" cy="1587500"/>
          </a:xfrm>
          <a:prstGeom prst="rect">
            <a:avLst/>
          </a:prstGeom>
          <a:noFill/>
          <a:ln w="9525">
            <a:noFill/>
          </a:ln>
        </p:spPr>
      </p:pic>
      <p:grpSp>
        <p:nvGrpSpPr>
          <p:cNvPr id="180228" name="Group 18"/>
          <p:cNvGrpSpPr/>
          <p:nvPr/>
        </p:nvGrpSpPr>
        <p:grpSpPr>
          <a:xfrm>
            <a:off x="412750" y="2997200"/>
            <a:ext cx="3295650" cy="3571875"/>
            <a:chOff x="3360" y="1968"/>
            <a:chExt cx="2076" cy="2250"/>
          </a:xfrm>
        </p:grpSpPr>
        <p:pic>
          <p:nvPicPr>
            <p:cNvPr id="180229" name="Picture 15"/>
            <p:cNvPicPr>
              <a:picLocks noChangeAspect="1"/>
            </p:cNvPicPr>
            <p:nvPr/>
          </p:nvPicPr>
          <p:blipFill>
            <a:blip r:embed="rId2"/>
            <a:stretch>
              <a:fillRect/>
            </a:stretch>
          </p:blipFill>
          <p:spPr>
            <a:xfrm>
              <a:off x="3360" y="1968"/>
              <a:ext cx="2076" cy="2250"/>
            </a:xfrm>
            <a:prstGeom prst="rect">
              <a:avLst/>
            </a:prstGeom>
            <a:noFill/>
            <a:ln w="9525">
              <a:noFill/>
            </a:ln>
          </p:spPr>
        </p:pic>
        <p:sp>
          <p:nvSpPr>
            <p:cNvPr id="180230" name="Rectangle 17"/>
            <p:cNvSpPr/>
            <p:nvPr/>
          </p:nvSpPr>
          <p:spPr>
            <a:xfrm>
              <a:off x="3834" y="3879"/>
              <a:ext cx="1133" cy="231"/>
            </a:xfrm>
            <a:prstGeom prst="rect">
              <a:avLst/>
            </a:prstGeom>
            <a:solidFill>
              <a:srgbClr val="FFFFFF"/>
            </a:solidFill>
            <a:ln w="9525">
              <a:noFill/>
            </a:ln>
          </p:spPr>
          <p:txBody>
            <a:bodyPr wrap="none" anchor="t" anchorCtr="0">
              <a:spAutoFit/>
            </a:bodyPr>
            <a:p>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2-7 </a:t>
              </a:r>
              <a:r>
                <a:rPr lang="zh-CN" altLang="en-US" b="1" dirty="0">
                  <a:solidFill>
                    <a:srgbClr val="000000"/>
                  </a:solidFill>
                  <a:latin typeface="楷体_GB2312"/>
                  <a:ea typeface="楷体_GB2312"/>
                </a:rPr>
                <a:t>齿轮传动</a:t>
              </a:r>
              <a:endParaRPr lang="zh-CN" altLang="en-US" b="1" dirty="0">
                <a:solidFill>
                  <a:srgbClr val="000000"/>
                </a:solidFill>
                <a:latin typeface="楷体_GB2312"/>
                <a:ea typeface="楷体_GB2312"/>
              </a:endParaRPr>
            </a:p>
          </p:txBody>
        </p:sp>
      </p:grpSp>
      <p:sp>
        <p:nvSpPr>
          <p:cNvPr id="884755" name="AutoShape 19"/>
          <p:cNvSpPr/>
          <p:nvPr/>
        </p:nvSpPr>
        <p:spPr>
          <a:xfrm>
            <a:off x="5292725" y="2852738"/>
            <a:ext cx="3816350" cy="1728787"/>
          </a:xfrm>
          <a:prstGeom prst="wedgeEllipseCallout">
            <a:avLst>
              <a:gd name="adj1" fmla="val -44093"/>
              <a:gd name="adj2" fmla="val 69190"/>
            </a:avLst>
          </a:prstGeom>
          <a:solidFill>
            <a:srgbClr val="33CCFF"/>
          </a:solidFill>
          <a:ln w="9525" cap="flat" cmpd="sng">
            <a:solidFill>
              <a:srgbClr val="008000"/>
            </a:solidFill>
            <a:prstDash val="solid"/>
            <a:miter/>
            <a:headEnd type="none" w="med" len="med"/>
            <a:tailEnd type="none" w="med" len="med"/>
          </a:ln>
        </p:spPr>
        <p:txBody>
          <a:bodyPr anchor="t" anchorCtr="0"/>
          <a:p>
            <a:r>
              <a:rPr lang="zh-CN" altLang="en-US" sz="2000" b="1" dirty="0">
                <a:solidFill>
                  <a:srgbClr val="000000"/>
                </a:solidFill>
                <a:latin typeface="Arial" panose="020B0604020202020204" pitchFamily="34" charset="0"/>
                <a:ea typeface="楷体_GB2312"/>
              </a:rPr>
              <a:t>齿轮传动的传动比等于主动齿轮与从动齿轮齿数之比。或</a:t>
            </a:r>
            <a:r>
              <a:rPr lang="zh-CN" altLang="en-US" sz="2000" b="1" dirty="0">
                <a:solidFill>
                  <a:srgbClr val="FF0000"/>
                </a:solidFill>
                <a:latin typeface="Arial" panose="020B0604020202020204" pitchFamily="34" charset="0"/>
                <a:ea typeface="楷体_GB2312"/>
              </a:rPr>
              <a:t>齿轮转速与其齿数成反比。</a:t>
            </a:r>
            <a:endParaRPr lang="zh-CN" altLang="en-US" sz="2000" b="1" dirty="0">
              <a:solidFill>
                <a:srgbClr val="FF0000"/>
              </a:solidFill>
              <a:latin typeface="Arial" panose="020B0604020202020204" pitchFamily="34" charset="0"/>
              <a:ea typeface="楷体_GB2312"/>
            </a:endParaRPr>
          </a:p>
          <a:p>
            <a:pPr algn="ctr"/>
            <a:endParaRPr lang="en-US" altLang="zh-CN"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84755"/>
                                        </p:tgtEl>
                                        <p:attrNameLst>
                                          <p:attrName>style.visibility</p:attrName>
                                        </p:attrNameLst>
                                      </p:cBhvr>
                                      <p:to>
                                        <p:strVal val="visible"/>
                                      </p:to>
                                    </p:set>
                                    <p:anim calcmode="lin" valueType="num">
                                      <p:cBhvr>
                                        <p:cTn id="7" dur="1000" fill="hold"/>
                                        <p:tgtEl>
                                          <p:spTgt spid="884755"/>
                                        </p:tgtEl>
                                        <p:attrNameLst>
                                          <p:attrName>ppt_w</p:attrName>
                                        </p:attrNameLst>
                                      </p:cBhvr>
                                      <p:tavLst>
                                        <p:tav tm="0">
                                          <p:val>
                                            <p:strVal val="#ppt_w*0.70"/>
                                          </p:val>
                                        </p:tav>
                                        <p:tav tm="100000">
                                          <p:val>
                                            <p:strVal val="#ppt_w"/>
                                          </p:val>
                                        </p:tav>
                                      </p:tavLst>
                                    </p:anim>
                                    <p:anim calcmode="lin" valueType="num">
                                      <p:cBhvr>
                                        <p:cTn id="8" dur="1000" fill="hold"/>
                                        <p:tgtEl>
                                          <p:spTgt spid="884755"/>
                                        </p:tgtEl>
                                        <p:attrNameLst>
                                          <p:attrName>ppt_h</p:attrName>
                                        </p:attrNameLst>
                                      </p:cBhvr>
                                      <p:tavLst>
                                        <p:tav tm="0">
                                          <p:val>
                                            <p:strVal val="#ppt_h"/>
                                          </p:val>
                                        </p:tav>
                                        <p:tav tm="100000">
                                          <p:val>
                                            <p:strVal val="#ppt_h"/>
                                          </p:val>
                                        </p:tav>
                                      </p:tavLst>
                                    </p:anim>
                                    <p:animEffect transition="in" filter="fade">
                                      <p:cBhvr>
                                        <p:cTn id="9" dur="1000"/>
                                        <p:tgtEl>
                                          <p:spTgt spid="884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5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3" name="Rectangle 2"/>
          <p:cNvSpPr>
            <a:spLocks noGrp="1"/>
          </p:cNvSpPr>
          <p:nvPr>
            <p:ph type="title"/>
          </p:nvPr>
        </p:nvSpPr>
        <p:spPr>
          <a:xfrm>
            <a:off x="2603500" y="103188"/>
            <a:ext cx="6007100" cy="1030287"/>
          </a:xfrm>
          <a:ln/>
        </p:spPr>
        <p:txBody>
          <a:bodyPr vert="horz" wrap="square" lIns="91440" tIns="45720" rIns="91440" bIns="45720" anchor="ctr" anchorCtr="0"/>
          <a:p>
            <a:pPr algn="ctr" eaLnBrk="1" hangingPunct="1"/>
            <a:r>
              <a:rPr lang="zh-CN" altLang="en-US" sz="4000" dirty="0">
                <a:ea typeface="楷体_GB2312"/>
              </a:rPr>
              <a:t>蜗杆传动</a:t>
            </a:r>
            <a:endParaRPr lang="zh-CN" altLang="en-US" sz="4000" dirty="0">
              <a:ea typeface="楷体_GB2312"/>
            </a:endParaRPr>
          </a:p>
        </p:txBody>
      </p:sp>
      <p:pic>
        <p:nvPicPr>
          <p:cNvPr id="182274" name="Picture 16" descr="传动部件、蜗2"/>
          <p:cNvPicPr>
            <a:picLocks noGrp="1" noChangeAspect="1"/>
          </p:cNvPicPr>
          <p:nvPr>
            <p:ph sz="quarter" idx="3"/>
          </p:nvPr>
        </p:nvPicPr>
        <p:blipFill>
          <a:blip r:embed="rId1">
            <a:lum bright="-6000" contrast="54000"/>
          </a:blip>
          <a:srcRect l="-20120" r="-18109"/>
          <a:stretch>
            <a:fillRect/>
          </a:stretch>
        </p:blipFill>
        <p:spPr>
          <a:xfrm>
            <a:off x="-684212" y="4437063"/>
            <a:ext cx="7000875" cy="2225675"/>
          </a:xfrm>
          <a:ln/>
        </p:spPr>
      </p:pic>
      <p:sp>
        <p:nvSpPr>
          <p:cNvPr id="182275" name="Rectangle 4"/>
          <p:cNvSpPr/>
          <p:nvPr/>
        </p:nvSpPr>
        <p:spPr>
          <a:xfrm>
            <a:off x="107950" y="1336675"/>
            <a:ext cx="8893175" cy="1938338"/>
          </a:xfrm>
          <a:prstGeom prst="rect">
            <a:avLst/>
          </a:prstGeom>
          <a:noFill/>
          <a:ln w="9525">
            <a:noFill/>
          </a:ln>
        </p:spPr>
        <p:txBody>
          <a:bodyPr anchor="t" anchorCtr="0">
            <a:spAutoFit/>
          </a:bodyPr>
          <a:p>
            <a:r>
              <a:rPr lang="zh-CN" altLang="en-US" sz="2400" b="1" dirty="0">
                <a:solidFill>
                  <a:srgbClr val="FF0000"/>
                </a:solidFill>
                <a:latin typeface="楷体_GB2312"/>
                <a:ea typeface="楷体_GB2312"/>
              </a:rPr>
              <a:t>（</a:t>
            </a:r>
            <a:r>
              <a:rPr lang="en-US" altLang="zh-CN" sz="2400" b="1" dirty="0">
                <a:solidFill>
                  <a:srgbClr val="FF0000"/>
                </a:solidFill>
                <a:latin typeface="楷体_GB2312"/>
                <a:ea typeface="楷体_GB2312"/>
              </a:rPr>
              <a:t>3</a:t>
            </a:r>
            <a:r>
              <a:rPr lang="zh-CN" altLang="en-US" sz="2400" b="1" dirty="0">
                <a:solidFill>
                  <a:srgbClr val="FF0000"/>
                </a:solidFill>
                <a:latin typeface="楷体_GB2312"/>
                <a:ea typeface="楷体_GB2312"/>
              </a:rPr>
              <a:t>）蜗杆传动</a:t>
            </a:r>
            <a:r>
              <a:rPr lang="zh-CN" altLang="en-US" sz="2400" b="1" dirty="0">
                <a:latin typeface="楷体_GB2312"/>
                <a:ea typeface="楷体_GB2312"/>
              </a:rPr>
              <a:t> </a:t>
            </a:r>
            <a:r>
              <a:rPr lang="en-US" altLang="zh-CN" sz="2400" b="1" dirty="0">
                <a:latin typeface="楷体_GB2312"/>
                <a:ea typeface="楷体_GB2312"/>
              </a:rPr>
              <a:t> </a:t>
            </a:r>
            <a:r>
              <a:rPr lang="zh-CN" altLang="en-US" sz="2400" b="1" dirty="0">
                <a:latin typeface="楷体_GB2312"/>
                <a:ea typeface="楷体_GB2312"/>
              </a:rPr>
              <a:t>蜗杆为主动件，将其转动传给蜗轮。这种传动方式只能是</a:t>
            </a:r>
            <a:r>
              <a:rPr lang="zh-CN" altLang="en-US" sz="2400" b="1" dirty="0">
                <a:solidFill>
                  <a:srgbClr val="0000CC"/>
                </a:solidFill>
                <a:latin typeface="楷体_GB2312"/>
                <a:ea typeface="楷体_GB2312"/>
              </a:rPr>
              <a:t>蜗杆带动蜗轮转，反之则不可能</a:t>
            </a:r>
            <a:r>
              <a:rPr lang="zh-CN" altLang="en-US" sz="2400" b="1" dirty="0">
                <a:latin typeface="楷体_GB2312"/>
                <a:ea typeface="楷体_GB2312"/>
              </a:rPr>
              <a:t>。</a:t>
            </a:r>
            <a:endParaRPr lang="zh-CN" altLang="en-US" sz="2400" b="1" dirty="0">
              <a:latin typeface="楷体_GB2312"/>
              <a:ea typeface="楷体_GB2312"/>
            </a:endParaRPr>
          </a:p>
          <a:p>
            <a:r>
              <a:rPr lang="zh-CN" altLang="en-US" sz="2400" b="1" dirty="0">
                <a:latin typeface="楷体_GB2312"/>
                <a:ea typeface="楷体_GB2312"/>
              </a:rPr>
              <a:t>   若蜗杆的螺纹头数为</a:t>
            </a:r>
            <a:r>
              <a:rPr lang="en-US" altLang="zh-CN" sz="2400" b="1" i="1" dirty="0">
                <a:latin typeface="Times New Roman" panose="02020603050405020304" pitchFamily="18" charset="0"/>
                <a:ea typeface="楷体_GB2312"/>
              </a:rPr>
              <a:t>k</a:t>
            </a:r>
            <a:r>
              <a:rPr lang="zh-CN" altLang="en-US" sz="2400" b="1" dirty="0">
                <a:latin typeface="楷体_GB2312"/>
                <a:ea typeface="楷体_GB2312"/>
              </a:rPr>
              <a:t>，转速为</a:t>
            </a:r>
            <a:r>
              <a:rPr lang="en-US" altLang="zh-CN" sz="2400" b="1" i="1" dirty="0">
                <a:latin typeface="Times New Roman" panose="02020603050405020304" pitchFamily="18" charset="0"/>
                <a:ea typeface="楷体_GB2312"/>
              </a:rPr>
              <a:t>n</a:t>
            </a:r>
            <a:r>
              <a:rPr lang="en-US" altLang="zh-CN" sz="2400" b="1" i="1" baseline="-25000" dirty="0">
                <a:latin typeface="Times New Roman" panose="02020603050405020304" pitchFamily="18" charset="0"/>
                <a:ea typeface="楷体_GB2312"/>
              </a:rPr>
              <a:t>1</a:t>
            </a:r>
            <a:r>
              <a:rPr lang="zh-CN" altLang="en-US" sz="2400" b="1" dirty="0">
                <a:latin typeface="楷体_GB2312"/>
                <a:ea typeface="楷体_GB2312"/>
              </a:rPr>
              <a:t>；蜗轮的齿数为</a:t>
            </a:r>
            <a:r>
              <a:rPr lang="en-US" altLang="zh-CN" sz="2400" b="1" i="1" dirty="0">
                <a:latin typeface="Times New Roman" panose="02020603050405020304" pitchFamily="18" charset="0"/>
                <a:ea typeface="楷体_GB2312"/>
              </a:rPr>
              <a:t>z</a:t>
            </a:r>
            <a:r>
              <a:rPr lang="zh-CN" altLang="en-US" sz="2400" b="1" dirty="0">
                <a:latin typeface="楷体_GB2312"/>
                <a:ea typeface="楷体_GB2312"/>
              </a:rPr>
              <a:t>，转速为</a:t>
            </a:r>
            <a:r>
              <a:rPr lang="en-US" altLang="zh-CN" sz="2400" b="1" i="1" dirty="0">
                <a:latin typeface="Times New Roman" panose="02020603050405020304" pitchFamily="18" charset="0"/>
                <a:ea typeface="楷体_GB2312"/>
              </a:rPr>
              <a:t>n</a:t>
            </a:r>
            <a:r>
              <a:rPr lang="en-US" altLang="zh-CN" sz="2400" b="1" i="1" baseline="-25000" dirty="0">
                <a:latin typeface="Times New Roman" panose="02020603050405020304" pitchFamily="18" charset="0"/>
                <a:ea typeface="楷体_GB2312"/>
              </a:rPr>
              <a:t>2</a:t>
            </a:r>
            <a:r>
              <a:rPr lang="zh-CN" altLang="en-US" sz="2400" b="1" dirty="0">
                <a:latin typeface="楷体_GB2312"/>
                <a:ea typeface="楷体_GB2312"/>
              </a:rPr>
              <a:t>则其传动比为</a:t>
            </a:r>
            <a:endParaRPr lang="zh-CN" altLang="en-US" sz="2400" b="1" dirty="0">
              <a:latin typeface="楷体_GB2312"/>
              <a:ea typeface="楷体_GB2312"/>
            </a:endParaRPr>
          </a:p>
          <a:p>
            <a:endParaRPr lang="en-US" altLang="zh-CN" sz="2400" b="1" dirty="0">
              <a:latin typeface="楷体_GB2312"/>
              <a:ea typeface="楷体_GB2312"/>
            </a:endParaRPr>
          </a:p>
        </p:txBody>
      </p:sp>
      <p:grpSp>
        <p:nvGrpSpPr>
          <p:cNvPr id="2" name="Group 11"/>
          <p:cNvGrpSpPr/>
          <p:nvPr/>
        </p:nvGrpSpPr>
        <p:grpSpPr>
          <a:xfrm>
            <a:off x="5003800" y="3068638"/>
            <a:ext cx="4176713" cy="2447925"/>
            <a:chOff x="3194" y="2032"/>
            <a:chExt cx="2585" cy="1405"/>
          </a:xfrm>
        </p:grpSpPr>
        <p:sp>
          <p:nvSpPr>
            <p:cNvPr id="182277" name="AutoShape 10"/>
            <p:cNvSpPr/>
            <p:nvPr/>
          </p:nvSpPr>
          <p:spPr>
            <a:xfrm>
              <a:off x="3194" y="2032"/>
              <a:ext cx="2585" cy="1405"/>
            </a:xfrm>
            <a:prstGeom prst="cloudCallout">
              <a:avLst>
                <a:gd name="adj1" fmla="val -31741"/>
                <a:gd name="adj2" fmla="val 75269"/>
              </a:avLst>
            </a:prstGeom>
            <a:solidFill>
              <a:srgbClr val="CCFFFF"/>
            </a:solidFill>
            <a:ln w="9525" cap="flat" cmpd="sng">
              <a:solidFill>
                <a:schemeClr val="tx1"/>
              </a:solidFill>
              <a:prstDash val="solid"/>
              <a:round/>
              <a:headEnd type="none" w="med" len="med"/>
              <a:tailEnd type="none" w="med" len="med"/>
            </a:ln>
          </p:spPr>
          <p:txBody>
            <a:bodyPr anchor="t" anchorCtr="0"/>
            <a:p>
              <a:pPr algn="ctr"/>
              <a:endParaRPr lang="zh-CN" altLang="zh-CN" dirty="0">
                <a:latin typeface="GreekS" pitchFamily="2" charset="0"/>
                <a:ea typeface="宋体" panose="02010600030101010101" pitchFamily="2" charset="-122"/>
              </a:endParaRPr>
            </a:p>
          </p:txBody>
        </p:sp>
        <p:sp>
          <p:nvSpPr>
            <p:cNvPr id="182278" name="Rectangle 9"/>
            <p:cNvSpPr/>
            <p:nvPr/>
          </p:nvSpPr>
          <p:spPr>
            <a:xfrm>
              <a:off x="3506" y="2280"/>
              <a:ext cx="2064" cy="928"/>
            </a:xfrm>
            <a:prstGeom prst="rect">
              <a:avLst/>
            </a:prstGeom>
            <a:noFill/>
            <a:ln w="9525">
              <a:noFill/>
            </a:ln>
          </p:spPr>
          <p:txBody>
            <a:bodyPr anchor="t" anchorCtr="0">
              <a:spAutoFit/>
            </a:bodyPr>
            <a:p>
              <a:r>
                <a:rPr lang="zh-CN" altLang="en-US" sz="2000" b="1" dirty="0">
                  <a:solidFill>
                    <a:srgbClr val="000000"/>
                  </a:solidFill>
                  <a:latin typeface="GreekS" pitchFamily="2" charset="0"/>
                  <a:ea typeface="楷体_GB2312"/>
                </a:rPr>
                <a:t>蜗杆传动的优点是可以获得较大的降速比，而且传动平稳，无噪声，结构紧凑。但传动效率低，需要有良好的润滑条件。</a:t>
              </a:r>
              <a:endParaRPr lang="zh-CN" altLang="en-US" sz="2000" b="1" dirty="0">
                <a:solidFill>
                  <a:srgbClr val="000000"/>
                </a:solidFill>
                <a:latin typeface="GreekS" pitchFamily="2" charset="0"/>
                <a:ea typeface="楷体_GB2312"/>
              </a:endParaRPr>
            </a:p>
          </p:txBody>
        </p:sp>
      </p:grpSp>
      <p:graphicFrame>
        <p:nvGraphicFramePr>
          <p:cNvPr id="182279" name="Object 19"/>
          <p:cNvGraphicFramePr>
            <a:graphicFrameLocks noGrp="1" noChangeAspect="1"/>
          </p:cNvGraphicFramePr>
          <p:nvPr>
            <p:ph sz="half" idx="1"/>
          </p:nvPr>
        </p:nvGraphicFramePr>
        <p:xfrm>
          <a:off x="1897063" y="2852738"/>
          <a:ext cx="2027237" cy="1208087"/>
        </p:xfrm>
        <a:graphic>
          <a:graphicData uri="http://schemas.openxmlformats.org/presentationml/2006/ole">
            <mc:AlternateContent xmlns:mc="http://schemas.openxmlformats.org/markup-compatibility/2006">
              <mc:Choice xmlns:v="urn:schemas-microsoft-com:vml" Requires="v">
                <p:oleObj spid="_x0000_s3101" name="" r:id="rId2" imgW="660400" imgH="393700" progId="Equation.3">
                  <p:embed/>
                </p:oleObj>
              </mc:Choice>
              <mc:Fallback>
                <p:oleObj name="" r:id="rId2" imgW="660400" imgH="393700" progId="Equation.3">
                  <p:embed/>
                  <p:pic>
                    <p:nvPicPr>
                      <p:cNvPr id="0" name="图片 3100"/>
                      <p:cNvPicPr/>
                      <p:nvPr/>
                    </p:nvPicPr>
                    <p:blipFill>
                      <a:blip r:embed="rId3"/>
                      <a:stretch>
                        <a:fillRect/>
                      </a:stretch>
                    </p:blipFill>
                    <p:spPr>
                      <a:xfrm>
                        <a:off x="1897063" y="2852738"/>
                        <a:ext cx="2027237" cy="1208087"/>
                      </a:xfrm>
                      <a:prstGeom prst="rect">
                        <a:avLst/>
                      </a:prstGeom>
                      <a:noFill/>
                      <a:ln w="38100">
                        <a:miter/>
                      </a:ln>
                    </p:spPr>
                  </p:pic>
                </p:oleObj>
              </mc:Fallback>
            </mc:AlternateContent>
          </a:graphicData>
        </a:graphic>
      </p:graphicFrame>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1"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齿轮齿条、丝杆螺母</a:t>
            </a:r>
            <a:endParaRPr lang="zh-CN" altLang="en-US" sz="4000" dirty="0">
              <a:ea typeface="楷体_GB2312"/>
            </a:endParaRPr>
          </a:p>
        </p:txBody>
      </p:sp>
      <p:pic>
        <p:nvPicPr>
          <p:cNvPr id="184322" name="Picture 11" descr="传动部件、齿条"/>
          <p:cNvPicPr>
            <a:picLocks noGrp="1" noChangeAspect="1"/>
          </p:cNvPicPr>
          <p:nvPr>
            <p:ph sz="half" idx="1"/>
          </p:nvPr>
        </p:nvPicPr>
        <p:blipFill>
          <a:blip r:embed="rId1">
            <a:lum bright="-12000" contrast="48000"/>
          </a:blip>
          <a:stretch>
            <a:fillRect/>
          </a:stretch>
        </p:blipFill>
        <p:spPr>
          <a:xfrm>
            <a:off x="2216150" y="2420938"/>
            <a:ext cx="4678363" cy="2349500"/>
          </a:xfrm>
          <a:ln/>
        </p:spPr>
      </p:pic>
      <p:sp>
        <p:nvSpPr>
          <p:cNvPr id="184323" name="Rectangle 4"/>
          <p:cNvSpPr/>
          <p:nvPr/>
        </p:nvSpPr>
        <p:spPr>
          <a:xfrm>
            <a:off x="107950" y="1336675"/>
            <a:ext cx="8893175" cy="1198563"/>
          </a:xfrm>
          <a:prstGeom prst="rect">
            <a:avLst/>
          </a:prstGeom>
          <a:noFill/>
          <a:ln w="9525">
            <a:noFill/>
          </a:ln>
        </p:spPr>
        <p:txBody>
          <a:bodyPr anchor="t" anchorCtr="0">
            <a:spAutoFit/>
          </a:bodyPr>
          <a:p>
            <a:pPr marL="342900" indent="-342900"/>
            <a:r>
              <a:rPr lang="en-US" altLang="zh-CN" sz="2400" b="1" dirty="0">
                <a:solidFill>
                  <a:srgbClr val="FF0000"/>
                </a:solidFill>
                <a:latin typeface="楷体_GB2312"/>
                <a:ea typeface="楷体_GB2312"/>
              </a:rPr>
              <a:t>(4) </a:t>
            </a:r>
            <a:r>
              <a:rPr lang="zh-CN" altLang="en-US" sz="2400" b="1" dirty="0">
                <a:solidFill>
                  <a:srgbClr val="FF0000"/>
                </a:solidFill>
                <a:latin typeface="楷体_GB2312"/>
                <a:ea typeface="楷体_GB2312"/>
              </a:rPr>
              <a:t>齿轮齿条：</a:t>
            </a:r>
            <a:endParaRPr lang="zh-CN" altLang="en-US" sz="2400" b="1" dirty="0">
              <a:solidFill>
                <a:srgbClr val="FF0000"/>
              </a:solidFill>
              <a:latin typeface="楷体_GB2312"/>
              <a:ea typeface="楷体_GB2312"/>
            </a:endParaRPr>
          </a:p>
          <a:p>
            <a:pPr marL="342900" indent="-342900"/>
            <a:r>
              <a:rPr lang="zh-CN" altLang="en-US" sz="2400" b="1" dirty="0">
                <a:solidFill>
                  <a:srgbClr val="FF0000"/>
                </a:solidFill>
                <a:latin typeface="楷体_GB2312"/>
                <a:ea typeface="楷体_GB2312"/>
              </a:rPr>
              <a:t> </a:t>
            </a:r>
            <a:r>
              <a:rPr lang="en-US" altLang="zh-CN" sz="2400" b="1" dirty="0">
                <a:solidFill>
                  <a:srgbClr val="FF0000"/>
                </a:solidFill>
                <a:latin typeface="楷体_GB2312"/>
                <a:ea typeface="楷体_GB2312"/>
              </a:rPr>
              <a:t>              </a:t>
            </a:r>
            <a:r>
              <a:rPr lang="zh-CN" altLang="en-US" sz="2400" b="1" dirty="0">
                <a:latin typeface="楷体_GB2312"/>
                <a:ea typeface="楷体_GB2312"/>
              </a:rPr>
              <a:t>回转运动    直线运动</a:t>
            </a:r>
            <a:endParaRPr lang="zh-CN" altLang="en-US" sz="2400" b="1" dirty="0">
              <a:latin typeface="楷体_GB2312"/>
              <a:ea typeface="楷体_GB2312"/>
            </a:endParaRPr>
          </a:p>
          <a:p>
            <a:pPr marL="342900" indent="-342900"/>
            <a:r>
              <a:rPr lang="en-US" altLang="zh-CN" sz="2400" b="1" dirty="0">
                <a:solidFill>
                  <a:srgbClr val="FF0000"/>
                </a:solidFill>
                <a:latin typeface="楷体_GB2312"/>
                <a:ea typeface="楷体_GB2312"/>
              </a:rPr>
              <a:t>(5) </a:t>
            </a:r>
            <a:r>
              <a:rPr lang="zh-CN" altLang="en-US" sz="2400" b="1" dirty="0">
                <a:solidFill>
                  <a:srgbClr val="FF0000"/>
                </a:solidFill>
                <a:latin typeface="楷体_GB2312"/>
                <a:ea typeface="楷体_GB2312"/>
              </a:rPr>
              <a:t>丝杆螺母</a:t>
            </a:r>
            <a:endParaRPr lang="zh-CN" altLang="en-US" sz="2400" b="1" dirty="0">
              <a:solidFill>
                <a:srgbClr val="FF0000"/>
              </a:solidFill>
              <a:latin typeface="楷体_GB2312"/>
              <a:ea typeface="楷体_GB2312"/>
            </a:endParaRPr>
          </a:p>
        </p:txBody>
      </p:sp>
      <p:pic>
        <p:nvPicPr>
          <p:cNvPr id="184324" name="Picture 13" descr="传动部件2"/>
          <p:cNvPicPr>
            <a:picLocks noGrp="1" noChangeAspect="1"/>
          </p:cNvPicPr>
          <p:nvPr>
            <p:ph sz="half" idx="2"/>
          </p:nvPr>
        </p:nvPicPr>
        <p:blipFill>
          <a:blip r:embed="rId2">
            <a:lum bright="-12000" contrast="54000"/>
          </a:blip>
          <a:srcRect b="-46500"/>
          <a:stretch>
            <a:fillRect/>
          </a:stretch>
        </p:blipFill>
        <p:spPr>
          <a:xfrm>
            <a:off x="590550" y="4940300"/>
            <a:ext cx="7926388" cy="2671763"/>
          </a:xfrm>
          <a:ln/>
        </p:spPr>
      </p:pic>
      <p:sp>
        <p:nvSpPr>
          <p:cNvPr id="184325" name="AutoShape 15"/>
          <p:cNvSpPr/>
          <p:nvPr/>
        </p:nvSpPr>
        <p:spPr>
          <a:xfrm>
            <a:off x="3779838" y="1858963"/>
            <a:ext cx="433387" cy="144462"/>
          </a:xfrm>
          <a:prstGeom prst="rightArrow">
            <a:avLst>
              <a:gd name="adj1" fmla="val 50000"/>
              <a:gd name="adj2" fmla="val 74902"/>
            </a:avLst>
          </a:prstGeom>
          <a:solidFill>
            <a:srgbClr val="FF3300"/>
          </a:solidFill>
          <a:ln w="9525" cap="flat" cmpd="sng">
            <a:solidFill>
              <a:srgbClr val="FF33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69"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传动链</a:t>
            </a:r>
            <a:endParaRPr lang="zh-CN" altLang="en-US" sz="4000" dirty="0">
              <a:ea typeface="楷体_GB2312"/>
            </a:endParaRPr>
          </a:p>
        </p:txBody>
      </p:sp>
      <p:sp>
        <p:nvSpPr>
          <p:cNvPr id="186370" name="Rectangle 3"/>
          <p:cNvSpPr>
            <a:spLocks noGrp="1"/>
          </p:cNvSpPr>
          <p:nvPr>
            <p:ph type="body" sz="half" idx="1"/>
          </p:nvPr>
        </p:nvSpPr>
        <p:spPr>
          <a:xfrm>
            <a:off x="107950" y="1371600"/>
            <a:ext cx="8496300" cy="1049338"/>
          </a:xfrm>
          <a:ln/>
        </p:spPr>
        <p:txBody>
          <a:bodyPr vert="horz" wrap="square" lIns="91440" tIns="45720" rIns="91440" bIns="45720" anchor="t" anchorCtr="0"/>
          <a:p>
            <a:pPr eaLnBrk="1" hangingPunct="1">
              <a:buClrTx/>
              <a:buSzTx/>
              <a:buFontTx/>
            </a:pPr>
            <a:r>
              <a:rPr lang="zh-CN" altLang="en-US" sz="2400" b="1" dirty="0">
                <a:solidFill>
                  <a:srgbClr val="FF0000"/>
                </a:solidFill>
                <a:latin typeface="楷体_GB2312"/>
                <a:ea typeface="楷体_GB2312"/>
              </a:rPr>
              <a:t>传动链</a:t>
            </a:r>
            <a:r>
              <a:rPr lang="zh-CN" altLang="en-US" sz="2400" b="1" dirty="0">
                <a:latin typeface="楷体_GB2312"/>
                <a:ea typeface="楷体_GB2312"/>
              </a:rPr>
              <a:t> 若干个传动副组合起来，成为一个传动系统，称为传动链。</a:t>
            </a:r>
            <a:endParaRPr lang="zh-CN" altLang="en-US" sz="2400" b="1" dirty="0">
              <a:latin typeface="楷体_GB2312"/>
              <a:ea typeface="楷体_GB2312"/>
            </a:endParaRPr>
          </a:p>
        </p:txBody>
      </p:sp>
      <p:sp>
        <p:nvSpPr>
          <p:cNvPr id="186371" name="Rectangle 6"/>
          <p:cNvSpPr/>
          <p:nvPr/>
        </p:nvSpPr>
        <p:spPr>
          <a:xfrm>
            <a:off x="323850" y="2276475"/>
            <a:ext cx="3692525" cy="4024313"/>
          </a:xfrm>
          <a:prstGeom prst="rect">
            <a:avLst/>
          </a:prstGeom>
          <a:noFill/>
          <a:ln w="9525">
            <a:noFill/>
          </a:ln>
        </p:spPr>
        <p:txBody>
          <a:bodyPr wrap="square" anchor="t" anchorCtr="0">
            <a:spAutoFit/>
          </a:bodyPr>
          <a:p>
            <a:r>
              <a:rPr lang="en-US" altLang="zh-CN" dirty="0">
                <a:latin typeface="GreekS" pitchFamily="2" charset="0"/>
                <a:ea typeface="宋体" panose="02010600030101010101" pitchFamily="2" charset="-122"/>
              </a:rPr>
              <a:t> </a:t>
            </a:r>
            <a:r>
              <a:rPr lang="en-US" altLang="zh-CN" sz="2000" b="1" dirty="0">
                <a:solidFill>
                  <a:srgbClr val="000000"/>
                </a:solidFill>
                <a:latin typeface="GreekS" pitchFamily="2" charset="0"/>
                <a:ea typeface="宋体" panose="02010600030101010101" pitchFamily="2" charset="-122"/>
              </a:rPr>
              <a:t>  </a:t>
            </a:r>
            <a:r>
              <a:rPr lang="zh-CN" altLang="en-US" sz="2400" b="1" dirty="0">
                <a:solidFill>
                  <a:srgbClr val="000000"/>
                </a:solidFill>
                <a:latin typeface="楷体_GB2312"/>
                <a:ea typeface="楷体_GB2312"/>
              </a:rPr>
              <a:t>如图所示，运动自轴</a:t>
            </a:r>
            <a:r>
              <a:rPr lang="en-US" altLang="zh-CN" sz="2400" b="1" dirty="0">
                <a:solidFill>
                  <a:srgbClr val="000000"/>
                </a:solidFill>
                <a:latin typeface="楷体_GB2312"/>
                <a:ea typeface="楷体_GB2312"/>
              </a:rPr>
              <a:t>Ⅰ</a:t>
            </a:r>
            <a:r>
              <a:rPr lang="zh-CN" altLang="en-US" sz="2400" b="1" dirty="0">
                <a:solidFill>
                  <a:srgbClr val="000000"/>
                </a:solidFill>
                <a:latin typeface="楷体_GB2312"/>
                <a:ea typeface="楷体_GB2312"/>
              </a:rPr>
              <a:t>输入，转速为</a:t>
            </a:r>
            <a:r>
              <a:rPr lang="en-US" altLang="zh-CN" sz="2400" b="1" i="1" dirty="0">
                <a:solidFill>
                  <a:srgbClr val="000000"/>
                </a:solidFill>
                <a:latin typeface="楷体_GB2312"/>
                <a:ea typeface="楷体_GB2312"/>
              </a:rPr>
              <a:t>n</a:t>
            </a:r>
            <a:r>
              <a:rPr lang="en-US" altLang="zh-CN" sz="2400" b="1" i="1" baseline="-25000" dirty="0">
                <a:solidFill>
                  <a:srgbClr val="000000"/>
                </a:solidFill>
                <a:latin typeface="楷体_GB2312"/>
                <a:ea typeface="楷体_GB2312"/>
              </a:rPr>
              <a:t>1</a:t>
            </a:r>
            <a:r>
              <a:rPr lang="zh-CN" altLang="en-US" sz="2400" b="1" dirty="0">
                <a:solidFill>
                  <a:srgbClr val="000000"/>
                </a:solidFill>
                <a:latin typeface="楷体_GB2312"/>
                <a:ea typeface="楷体_GB2312"/>
              </a:rPr>
              <a:t>，经带轮</a:t>
            </a:r>
            <a:r>
              <a:rPr lang="en-US" altLang="zh-CN" sz="2400" b="1" i="1" dirty="0">
                <a:solidFill>
                  <a:srgbClr val="000000"/>
                </a:solidFill>
                <a:latin typeface="楷体_GB2312"/>
                <a:ea typeface="楷体_GB2312"/>
              </a:rPr>
              <a:t>d</a:t>
            </a:r>
            <a:r>
              <a:rPr lang="en-US" altLang="zh-CN" sz="2400" b="1" i="1" baseline="-25000" dirty="0">
                <a:solidFill>
                  <a:srgbClr val="000000"/>
                </a:solidFill>
                <a:latin typeface="楷体_GB2312"/>
                <a:ea typeface="楷体_GB2312"/>
              </a:rPr>
              <a:t>1</a:t>
            </a:r>
            <a:r>
              <a:rPr lang="zh-CN" altLang="en-US" sz="2400" b="1" dirty="0">
                <a:solidFill>
                  <a:srgbClr val="000000"/>
                </a:solidFill>
                <a:latin typeface="楷体_GB2312"/>
                <a:ea typeface="楷体_GB2312"/>
              </a:rPr>
              <a:t>、传动带和带轮</a:t>
            </a:r>
            <a:r>
              <a:rPr lang="en-US" altLang="zh-CN" sz="2400" b="1" i="1" dirty="0">
                <a:solidFill>
                  <a:srgbClr val="000000"/>
                </a:solidFill>
                <a:latin typeface="楷体_GB2312"/>
                <a:ea typeface="楷体_GB2312"/>
              </a:rPr>
              <a:t>d</a:t>
            </a:r>
            <a:r>
              <a:rPr lang="en-US" altLang="zh-CN" sz="2400" b="1" i="1" baseline="-25000" dirty="0">
                <a:solidFill>
                  <a:srgbClr val="000000"/>
                </a:solidFill>
                <a:latin typeface="楷体_GB2312"/>
                <a:ea typeface="楷体_GB2312"/>
              </a:rPr>
              <a:t>2</a:t>
            </a:r>
            <a:r>
              <a:rPr lang="zh-CN" altLang="en-US" sz="2400" b="1" dirty="0">
                <a:solidFill>
                  <a:srgbClr val="000000"/>
                </a:solidFill>
                <a:latin typeface="楷体_GB2312"/>
                <a:ea typeface="楷体_GB2312"/>
              </a:rPr>
              <a:t>。传至轴</a:t>
            </a:r>
            <a:r>
              <a:rPr lang="en-US" altLang="zh-CN" sz="2400" b="1" dirty="0">
                <a:solidFill>
                  <a:srgbClr val="000000"/>
                </a:solidFill>
                <a:latin typeface="楷体_GB2312"/>
                <a:ea typeface="楷体_GB2312"/>
              </a:rPr>
              <a:t>Ⅱ</a:t>
            </a:r>
            <a:r>
              <a:rPr lang="zh-CN" altLang="en-US" sz="2400" b="1" dirty="0">
                <a:solidFill>
                  <a:srgbClr val="000000"/>
                </a:solidFill>
                <a:latin typeface="楷体_GB2312"/>
                <a:ea typeface="楷体_GB2312"/>
              </a:rPr>
              <a:t>。再经圆柱齿轮</a:t>
            </a:r>
            <a:r>
              <a:rPr lang="en-US" altLang="zh-CN" sz="2400" b="1" dirty="0">
                <a:solidFill>
                  <a:srgbClr val="000000"/>
                </a:solidFill>
                <a:latin typeface="楷体_GB2312"/>
                <a:ea typeface="楷体_GB2312"/>
              </a:rPr>
              <a:t>1</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2</a:t>
            </a:r>
            <a:r>
              <a:rPr lang="zh-CN" altLang="en-US" sz="2400" b="1" dirty="0">
                <a:solidFill>
                  <a:srgbClr val="000000"/>
                </a:solidFill>
                <a:latin typeface="楷体_GB2312"/>
                <a:ea typeface="楷体_GB2312"/>
              </a:rPr>
              <a:t>传到轴</a:t>
            </a:r>
            <a:r>
              <a:rPr lang="en-US" altLang="zh-CN" sz="2400" b="1" dirty="0">
                <a:solidFill>
                  <a:srgbClr val="000000"/>
                </a:solidFill>
                <a:latin typeface="楷体_GB2312"/>
                <a:ea typeface="楷体_GB2312"/>
              </a:rPr>
              <a:t>Ⅲ</a:t>
            </a:r>
            <a:r>
              <a:rPr lang="zh-CN" altLang="en-US" sz="2400" b="1" dirty="0">
                <a:solidFill>
                  <a:srgbClr val="000000"/>
                </a:solidFill>
                <a:latin typeface="楷体_GB2312"/>
                <a:ea typeface="楷体_GB2312"/>
              </a:rPr>
              <a:t>，经圆锥齿轮</a:t>
            </a:r>
            <a:r>
              <a:rPr lang="en-US" altLang="zh-CN" sz="2400" b="1" dirty="0">
                <a:solidFill>
                  <a:srgbClr val="000000"/>
                </a:solidFill>
                <a:latin typeface="楷体_GB2312"/>
                <a:ea typeface="楷体_GB2312"/>
              </a:rPr>
              <a:t>3</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4</a:t>
            </a:r>
            <a:r>
              <a:rPr lang="zh-CN" altLang="en-US" sz="2400" b="1" dirty="0">
                <a:solidFill>
                  <a:srgbClr val="000000"/>
                </a:solidFill>
                <a:latin typeface="楷体_GB2312"/>
                <a:ea typeface="楷体_GB2312"/>
              </a:rPr>
              <a:t>传到轴</a:t>
            </a:r>
            <a:r>
              <a:rPr lang="en-US" altLang="zh-CN" sz="2400" b="1" dirty="0">
                <a:solidFill>
                  <a:srgbClr val="000000"/>
                </a:solidFill>
                <a:latin typeface="楷体_GB2312"/>
                <a:ea typeface="楷体_GB2312"/>
              </a:rPr>
              <a:t>Ⅳ</a:t>
            </a:r>
            <a:r>
              <a:rPr lang="zh-CN" altLang="en-US" sz="2400" b="1" dirty="0">
                <a:solidFill>
                  <a:srgbClr val="000000"/>
                </a:solidFill>
                <a:latin typeface="楷体_GB2312"/>
                <a:ea typeface="楷体_GB2312"/>
              </a:rPr>
              <a:t>，经圆柱齿轮</a:t>
            </a:r>
            <a:r>
              <a:rPr lang="en-US" altLang="zh-CN" sz="2400" b="1" dirty="0">
                <a:solidFill>
                  <a:srgbClr val="000000"/>
                </a:solidFill>
                <a:latin typeface="楷体_GB2312"/>
                <a:ea typeface="楷体_GB2312"/>
              </a:rPr>
              <a:t>5</a:t>
            </a:r>
            <a:r>
              <a:rPr lang="zh-CN" altLang="en-US" sz="2400" b="1" dirty="0">
                <a:solidFill>
                  <a:srgbClr val="000000"/>
                </a:solidFill>
                <a:latin typeface="楷体_GB2312"/>
                <a:ea typeface="楷体_GB2312"/>
              </a:rPr>
              <a:t>、</a:t>
            </a:r>
            <a:r>
              <a:rPr lang="en-US" altLang="zh-CN" sz="2400" b="1" dirty="0">
                <a:solidFill>
                  <a:srgbClr val="000000"/>
                </a:solidFill>
                <a:latin typeface="楷体_GB2312"/>
                <a:ea typeface="楷体_GB2312"/>
              </a:rPr>
              <a:t>6</a:t>
            </a:r>
            <a:r>
              <a:rPr lang="zh-CN" altLang="en-US" sz="2400" b="1" dirty="0">
                <a:solidFill>
                  <a:srgbClr val="000000"/>
                </a:solidFill>
                <a:latin typeface="楷体_GB2312"/>
                <a:ea typeface="楷体_GB2312"/>
              </a:rPr>
              <a:t>传到轴</a:t>
            </a:r>
            <a:r>
              <a:rPr lang="en-US" altLang="zh-CN" sz="2400" b="1" dirty="0">
                <a:solidFill>
                  <a:srgbClr val="000000"/>
                </a:solidFill>
                <a:latin typeface="楷体_GB2312"/>
                <a:ea typeface="楷体_GB2312"/>
              </a:rPr>
              <a:t>Ⅴ</a:t>
            </a:r>
            <a:r>
              <a:rPr lang="zh-CN" altLang="en-US" sz="2400" b="1" dirty="0">
                <a:solidFill>
                  <a:srgbClr val="000000"/>
                </a:solidFill>
                <a:latin typeface="楷体_GB2312"/>
                <a:ea typeface="楷体_GB2312"/>
              </a:rPr>
              <a:t>，最后经蜗杆</a:t>
            </a:r>
            <a:r>
              <a:rPr lang="en-US" altLang="zh-CN" sz="2400" b="1" i="1" dirty="0">
                <a:solidFill>
                  <a:srgbClr val="000000"/>
                </a:solidFill>
                <a:latin typeface="楷体_GB2312"/>
                <a:ea typeface="楷体_GB2312"/>
              </a:rPr>
              <a:t>k</a:t>
            </a:r>
            <a:r>
              <a:rPr lang="zh-CN" altLang="en-US" sz="2400" b="1" dirty="0">
                <a:solidFill>
                  <a:srgbClr val="000000"/>
                </a:solidFill>
                <a:latin typeface="楷体_GB2312"/>
                <a:ea typeface="楷体_GB2312"/>
              </a:rPr>
              <a:t>及蜗轮</a:t>
            </a:r>
            <a:r>
              <a:rPr lang="en-US" altLang="zh-CN" sz="2400" b="1" dirty="0">
                <a:solidFill>
                  <a:srgbClr val="000000"/>
                </a:solidFill>
                <a:latin typeface="楷体_GB2312"/>
                <a:ea typeface="楷体_GB2312"/>
              </a:rPr>
              <a:t>7</a:t>
            </a:r>
            <a:r>
              <a:rPr lang="zh-CN" altLang="en-US" sz="2400" b="1" dirty="0">
                <a:solidFill>
                  <a:srgbClr val="000000"/>
                </a:solidFill>
                <a:latin typeface="楷体_GB2312"/>
                <a:ea typeface="楷体_GB2312"/>
              </a:rPr>
              <a:t>传至轴</a:t>
            </a:r>
            <a:r>
              <a:rPr lang="en-US" altLang="zh-CN" sz="2400" b="1" dirty="0">
                <a:solidFill>
                  <a:srgbClr val="000000"/>
                </a:solidFill>
                <a:latin typeface="楷体_GB2312"/>
                <a:ea typeface="楷体_GB2312"/>
              </a:rPr>
              <a:t>Ⅵ</a:t>
            </a:r>
            <a:r>
              <a:rPr lang="zh-CN" altLang="en-US" sz="2400" b="1" dirty="0">
                <a:solidFill>
                  <a:srgbClr val="000000"/>
                </a:solidFill>
                <a:latin typeface="楷体_GB2312"/>
                <a:ea typeface="楷体_GB2312"/>
              </a:rPr>
              <a:t>，并把运动输出。</a:t>
            </a:r>
            <a:endParaRPr lang="zh-CN" altLang="en-US" sz="2400" b="1" dirty="0">
              <a:solidFill>
                <a:srgbClr val="000000"/>
              </a:solidFill>
              <a:latin typeface="楷体_GB2312"/>
              <a:ea typeface="楷体_GB2312"/>
            </a:endParaRPr>
          </a:p>
          <a:p>
            <a:r>
              <a:rPr lang="zh-CN" altLang="en-US" sz="2400" b="1" i="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n</a:t>
            </a:r>
            <a:r>
              <a:rPr lang="en-US" altLang="zh-CN" sz="2400" b="1" i="1" baseline="-25000" dirty="0">
                <a:solidFill>
                  <a:srgbClr val="000000"/>
                </a:solidFill>
                <a:latin typeface="Times New Roman" panose="02020603050405020304" pitchFamily="18" charset="0"/>
                <a:ea typeface="楷体_GB2312"/>
              </a:rPr>
              <a:t>Ⅵ</a:t>
            </a:r>
            <a:r>
              <a:rPr lang="en-US" altLang="zh-CN" sz="2400" b="1" i="1" dirty="0">
                <a:solidFill>
                  <a:srgbClr val="000000"/>
                </a:solidFill>
                <a:latin typeface="Times New Roman" panose="02020603050405020304" pitchFamily="18" charset="0"/>
                <a:ea typeface="楷体_GB2312"/>
              </a:rPr>
              <a:t> = n</a:t>
            </a:r>
            <a:r>
              <a:rPr lang="en-US" altLang="zh-CN" sz="2400" b="1" i="1" baseline="-25000" dirty="0">
                <a:solidFill>
                  <a:srgbClr val="000000"/>
                </a:solidFill>
                <a:latin typeface="Times New Roman" panose="02020603050405020304" pitchFamily="18" charset="0"/>
                <a:ea typeface="楷体_GB2312"/>
              </a:rPr>
              <a:t>1</a:t>
            </a:r>
            <a:r>
              <a:rPr lang="en-US" altLang="zh-CN" sz="2400" b="1" i="1" dirty="0">
                <a:solidFill>
                  <a:srgbClr val="000000"/>
                </a:solidFill>
                <a:latin typeface="Times New Roman" panose="02020603050405020304" pitchFamily="18" charset="0"/>
                <a:ea typeface="楷体_GB2312"/>
              </a:rPr>
              <a:t>·i</a:t>
            </a:r>
            <a:r>
              <a:rPr lang="zh-CN" altLang="en-US" sz="2400" b="1" i="1" baseline="-25000" dirty="0">
                <a:solidFill>
                  <a:srgbClr val="000000"/>
                </a:solidFill>
                <a:latin typeface="Times New Roman" panose="02020603050405020304" pitchFamily="18" charset="0"/>
                <a:ea typeface="楷体_GB2312"/>
              </a:rPr>
              <a:t>总</a:t>
            </a:r>
            <a:r>
              <a:rPr lang="zh-CN" altLang="en-US" sz="2400" b="1" i="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 n</a:t>
            </a:r>
            <a:r>
              <a:rPr lang="en-US" altLang="zh-CN" sz="2400" b="1" i="1" baseline="-25000" dirty="0">
                <a:solidFill>
                  <a:srgbClr val="000000"/>
                </a:solidFill>
                <a:latin typeface="Times New Roman" panose="02020603050405020304" pitchFamily="18" charset="0"/>
                <a:ea typeface="楷体_GB2312"/>
              </a:rPr>
              <a:t>1</a:t>
            </a:r>
            <a:r>
              <a:rPr lang="en-US" altLang="zh-CN" sz="2400" b="1" i="1" dirty="0">
                <a:solidFill>
                  <a:srgbClr val="000000"/>
                </a:solidFill>
                <a:latin typeface="Times New Roman" panose="02020603050405020304" pitchFamily="18" charset="0"/>
                <a:ea typeface="楷体_GB2312"/>
              </a:rPr>
              <a:t>·i</a:t>
            </a:r>
            <a:r>
              <a:rPr lang="en-US" altLang="zh-CN" sz="2400" b="1" i="1" baseline="-25000" dirty="0">
                <a:solidFill>
                  <a:srgbClr val="000000"/>
                </a:solidFill>
                <a:latin typeface="Times New Roman" panose="02020603050405020304" pitchFamily="18" charset="0"/>
                <a:ea typeface="楷体_GB2312"/>
              </a:rPr>
              <a:t>1</a:t>
            </a:r>
            <a:r>
              <a:rPr lang="en-US" altLang="zh-CN" sz="2400" b="1" i="1" dirty="0">
                <a:solidFill>
                  <a:srgbClr val="000000"/>
                </a:solidFill>
                <a:latin typeface="Times New Roman" panose="02020603050405020304" pitchFamily="18" charset="0"/>
                <a:ea typeface="楷体_GB2312"/>
              </a:rPr>
              <a:t>·i</a:t>
            </a:r>
            <a:r>
              <a:rPr lang="en-US" altLang="zh-CN" sz="2400" b="1" i="1" baseline="-25000" dirty="0">
                <a:solidFill>
                  <a:srgbClr val="000000"/>
                </a:solidFill>
                <a:latin typeface="Times New Roman" panose="02020603050405020304" pitchFamily="18" charset="0"/>
                <a:ea typeface="楷体_GB2312"/>
              </a:rPr>
              <a:t>2</a:t>
            </a:r>
            <a:r>
              <a:rPr lang="en-US" altLang="zh-CN" sz="2400" b="1" i="1" dirty="0">
                <a:solidFill>
                  <a:srgbClr val="000000"/>
                </a:solidFill>
                <a:latin typeface="Times New Roman" panose="02020603050405020304" pitchFamily="18" charset="0"/>
                <a:ea typeface="楷体_GB2312"/>
              </a:rPr>
              <a:t>·i</a:t>
            </a:r>
            <a:r>
              <a:rPr lang="en-US" altLang="zh-CN" sz="2400" b="1" i="1" baseline="-25000" dirty="0">
                <a:solidFill>
                  <a:srgbClr val="000000"/>
                </a:solidFill>
                <a:latin typeface="Times New Roman" panose="02020603050405020304" pitchFamily="18" charset="0"/>
                <a:ea typeface="楷体_GB2312"/>
              </a:rPr>
              <a:t>3</a:t>
            </a:r>
            <a:r>
              <a:rPr lang="en-US" altLang="zh-CN" sz="2400" b="1" i="1" dirty="0">
                <a:solidFill>
                  <a:srgbClr val="000000"/>
                </a:solidFill>
                <a:latin typeface="Times New Roman" panose="02020603050405020304" pitchFamily="18" charset="0"/>
                <a:ea typeface="楷体_GB2312"/>
              </a:rPr>
              <a:t>·i</a:t>
            </a:r>
            <a:r>
              <a:rPr lang="en-US" altLang="zh-CN" sz="2400" b="1" i="1" baseline="-25000" dirty="0">
                <a:solidFill>
                  <a:srgbClr val="000000"/>
                </a:solidFill>
                <a:latin typeface="Times New Roman" panose="02020603050405020304" pitchFamily="18" charset="0"/>
                <a:ea typeface="楷体_GB2312"/>
              </a:rPr>
              <a:t>4</a:t>
            </a:r>
            <a:r>
              <a:rPr lang="en-US" altLang="zh-CN" sz="2400" b="1" i="1" dirty="0">
                <a:solidFill>
                  <a:srgbClr val="000000"/>
                </a:solidFill>
                <a:latin typeface="Times New Roman" panose="02020603050405020304" pitchFamily="18" charset="0"/>
                <a:ea typeface="楷体_GB2312"/>
              </a:rPr>
              <a:t>·i</a:t>
            </a:r>
            <a:r>
              <a:rPr lang="en-US" altLang="zh-CN" sz="2400" b="1" i="1" baseline="-25000" dirty="0">
                <a:solidFill>
                  <a:srgbClr val="000000"/>
                </a:solidFill>
                <a:latin typeface="Times New Roman" panose="02020603050405020304" pitchFamily="18" charset="0"/>
                <a:ea typeface="楷体_GB2312"/>
              </a:rPr>
              <a:t>5</a:t>
            </a:r>
            <a:endParaRPr lang="en-US" altLang="zh-CN" sz="2400" b="1" i="1" baseline="-25000" dirty="0">
              <a:solidFill>
                <a:srgbClr val="000000"/>
              </a:solidFill>
              <a:latin typeface="Times New Roman" panose="02020603050405020304" pitchFamily="18" charset="0"/>
              <a:ea typeface="楷体_GB2312"/>
            </a:endParaRPr>
          </a:p>
          <a:p>
            <a:r>
              <a:rPr lang="en-US" altLang="zh-CN" sz="2400" b="1" baseline="-25000" dirty="0">
                <a:solidFill>
                  <a:srgbClr val="000000"/>
                </a:solidFill>
                <a:latin typeface="楷体_GB2312"/>
                <a:ea typeface="楷体_GB2312"/>
              </a:rPr>
              <a:t>     </a:t>
            </a:r>
            <a:endParaRPr lang="en-US" altLang="zh-CN" sz="2400" b="1" dirty="0">
              <a:solidFill>
                <a:srgbClr val="000000"/>
              </a:solidFill>
              <a:latin typeface="楷体_GB2312"/>
              <a:ea typeface="楷体_GB2312"/>
            </a:endParaRPr>
          </a:p>
        </p:txBody>
      </p:sp>
      <p:graphicFrame>
        <p:nvGraphicFramePr>
          <p:cNvPr id="186372" name="Object 16"/>
          <p:cNvGraphicFramePr>
            <a:graphicFrameLocks noGrp="1" noChangeAspect="1"/>
          </p:cNvGraphicFramePr>
          <p:nvPr>
            <p:ph sz="half" idx="2"/>
          </p:nvPr>
        </p:nvGraphicFramePr>
        <p:xfrm>
          <a:off x="971550" y="6021388"/>
          <a:ext cx="3384550" cy="846137"/>
        </p:xfrm>
        <a:graphic>
          <a:graphicData uri="http://schemas.openxmlformats.org/presentationml/2006/ole">
            <mc:AlternateContent xmlns:mc="http://schemas.openxmlformats.org/markup-compatibility/2006">
              <mc:Choice xmlns:v="urn:schemas-microsoft-com:vml" Requires="v">
                <p:oleObj spid="_x0000_s3102" name="" r:id="rId1" imgW="1574800" imgH="393700" progId="Equation.3">
                  <p:embed/>
                </p:oleObj>
              </mc:Choice>
              <mc:Fallback>
                <p:oleObj name="" r:id="rId1" imgW="1574800" imgH="393700" progId="Equation.3">
                  <p:embed/>
                  <p:pic>
                    <p:nvPicPr>
                      <p:cNvPr id="0" name="图片 3101"/>
                      <p:cNvPicPr/>
                      <p:nvPr/>
                    </p:nvPicPr>
                    <p:blipFill>
                      <a:blip r:embed="rId2"/>
                      <a:stretch>
                        <a:fillRect/>
                      </a:stretch>
                    </p:blipFill>
                    <p:spPr>
                      <a:xfrm>
                        <a:off x="971550" y="6021388"/>
                        <a:ext cx="3384550" cy="846137"/>
                      </a:xfrm>
                      <a:prstGeom prst="rect">
                        <a:avLst/>
                      </a:prstGeom>
                      <a:noFill/>
                      <a:ln w="38100">
                        <a:miter/>
                      </a:ln>
                    </p:spPr>
                  </p:pic>
                </p:oleObj>
              </mc:Fallback>
            </mc:AlternateContent>
          </a:graphicData>
        </a:graphic>
      </p:graphicFrame>
      <p:pic>
        <p:nvPicPr>
          <p:cNvPr id="186373" name="Picture 9"/>
          <p:cNvPicPr>
            <a:picLocks noChangeAspect="1"/>
          </p:cNvPicPr>
          <p:nvPr/>
        </p:nvPicPr>
        <p:blipFill>
          <a:blip r:embed="rId3"/>
          <a:stretch>
            <a:fillRect/>
          </a:stretch>
        </p:blipFill>
        <p:spPr>
          <a:xfrm>
            <a:off x="4211638" y="1916113"/>
            <a:ext cx="4686300" cy="4403725"/>
          </a:xfrm>
          <a:prstGeom prst="rect">
            <a:avLst/>
          </a:prstGeom>
          <a:noFill/>
          <a:ln w="9525">
            <a:noFill/>
          </a:ln>
        </p:spPr>
      </p:pic>
      <p:sp>
        <p:nvSpPr>
          <p:cNvPr id="186374" name="AutoShape 18"/>
          <p:cNvSpPr/>
          <p:nvPr/>
        </p:nvSpPr>
        <p:spPr>
          <a:xfrm>
            <a:off x="4932363" y="5732463"/>
            <a:ext cx="3816350" cy="1223962"/>
          </a:xfrm>
          <a:prstGeom prst="wedgeEllipseCallout">
            <a:avLst>
              <a:gd name="adj1" fmla="val -59486"/>
              <a:gd name="adj2" fmla="val 9014"/>
            </a:avLst>
          </a:prstGeom>
          <a:solidFill>
            <a:srgbClr val="99FFCC"/>
          </a:solidFill>
          <a:ln w="9525" cap="flat" cmpd="sng">
            <a:solidFill>
              <a:srgbClr val="008000"/>
            </a:solidFill>
            <a:prstDash val="solid"/>
            <a:miter/>
            <a:headEnd type="none" w="med" len="med"/>
            <a:tailEnd type="none" w="med" len="med"/>
          </a:ln>
        </p:spPr>
        <p:txBody>
          <a:bodyPr anchor="t" anchorCtr="0"/>
          <a:p>
            <a:pPr>
              <a:spcBef>
                <a:spcPct val="20000"/>
              </a:spcBef>
            </a:pPr>
            <a:r>
              <a:rPr lang="zh-CN" altLang="en-US" sz="2400" b="1" dirty="0">
                <a:latin typeface="Arial" panose="020B0604020202020204" pitchFamily="34" charset="0"/>
                <a:ea typeface="楷体_GB2312"/>
              </a:rPr>
              <a:t>传动比等于传动副各传动比的乘积。</a:t>
            </a:r>
            <a:endParaRPr lang="zh-CN" altLang="en-US" sz="2400" b="1" dirty="0">
              <a:latin typeface="Arial" panose="020B0604020202020204" pitchFamily="34" charset="0"/>
              <a:ea typeface="楷体_GB2312"/>
            </a:endParaRPr>
          </a:p>
          <a:p>
            <a:pPr algn="ctr"/>
            <a:endParaRPr lang="en-US" altLang="zh-CN" sz="2400" dirty="0">
              <a:latin typeface="Arial" panose="020B0604020202020204" pitchFamily="34" charset="0"/>
              <a:ea typeface="楷体_GB2312"/>
            </a:endParaRPr>
          </a:p>
        </p:txBody>
      </p:sp>
    </p:spTree>
  </p:cSld>
  <p:clrMapOvr>
    <a:masterClrMapping/>
  </p:clrMapOvr>
  <p:transition spd="slow">
    <p:randomBar dir="ver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7"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机床常用的变速机构</a:t>
            </a:r>
            <a:endParaRPr lang="zh-CN" altLang="en-US" sz="4000" dirty="0">
              <a:ea typeface="楷体_GB2312"/>
            </a:endParaRPr>
          </a:p>
        </p:txBody>
      </p:sp>
      <p:sp>
        <p:nvSpPr>
          <p:cNvPr id="188418" name="Rectangle 7"/>
          <p:cNvSpPr/>
          <p:nvPr/>
        </p:nvSpPr>
        <p:spPr>
          <a:xfrm>
            <a:off x="250825" y="1389063"/>
            <a:ext cx="8642350" cy="1552575"/>
          </a:xfrm>
          <a:prstGeom prst="rect">
            <a:avLst/>
          </a:prstGeom>
          <a:noFill/>
          <a:ln w="9525">
            <a:noFill/>
          </a:ln>
        </p:spPr>
        <p:txBody>
          <a:bodyPr anchor="t" anchorCtr="0">
            <a:spAutoFit/>
          </a:bodyPr>
          <a:p>
            <a:r>
              <a:rPr lang="en-US" altLang="zh-CN" sz="2400" b="1" dirty="0">
                <a:solidFill>
                  <a:srgbClr val="FF0000"/>
                </a:solidFill>
                <a:latin typeface="楷体_GB2312"/>
                <a:ea typeface="楷体_GB2312"/>
              </a:rPr>
              <a:t>3</a:t>
            </a:r>
            <a:r>
              <a:rPr lang="zh-CN" altLang="en-US" sz="2400" b="1" dirty="0">
                <a:solidFill>
                  <a:srgbClr val="FF0000"/>
                </a:solidFill>
                <a:latin typeface="楷体_GB2312"/>
                <a:ea typeface="楷体_GB2312"/>
              </a:rPr>
              <a:t>．机床常用的变速机构</a:t>
            </a:r>
            <a:r>
              <a:rPr lang="zh-CN" altLang="en-US" sz="2400" b="1" dirty="0">
                <a:latin typeface="楷体_GB2312"/>
                <a:ea typeface="楷体_GB2312"/>
              </a:rPr>
              <a:t>  获得加工时的各种切削速度。</a:t>
            </a:r>
            <a:endParaRPr lang="zh-CN" altLang="en-US" sz="2400" b="1" dirty="0">
              <a:latin typeface="楷体_GB2312"/>
              <a:ea typeface="楷体_GB2312"/>
            </a:endParaRPr>
          </a:p>
          <a:p>
            <a:r>
              <a:rPr lang="zh-CN" altLang="en-US" sz="2400" b="1" dirty="0">
                <a:latin typeface="楷体_GB2312"/>
                <a:ea typeface="楷体_GB2312"/>
              </a:rPr>
              <a:t>    变换机床转速的主要装置是机床的齿轮箱。基本变速机构是多种多样的，其中最常应用的有以下两种：</a:t>
            </a:r>
            <a:r>
              <a:rPr lang="zh-CN" altLang="en-US" sz="2400" b="1" dirty="0">
                <a:solidFill>
                  <a:srgbClr val="008000"/>
                </a:solidFill>
                <a:latin typeface="楷体_GB2312"/>
                <a:ea typeface="楷体_GB2312"/>
              </a:rPr>
              <a:t>滑动齿轮变速，离合器式齿轮变速</a:t>
            </a:r>
            <a:r>
              <a:rPr lang="zh-CN" altLang="en-US" sz="2400" b="1" dirty="0">
                <a:latin typeface="楷体_GB2312"/>
                <a:ea typeface="楷体_GB2312"/>
              </a:rPr>
              <a:t>。</a:t>
            </a:r>
            <a:endParaRPr lang="zh-CN" altLang="en-US" sz="2400" b="1" dirty="0">
              <a:latin typeface="楷体_GB2312"/>
              <a:ea typeface="楷体_GB2312"/>
            </a:endParaRPr>
          </a:p>
        </p:txBody>
      </p:sp>
      <p:grpSp>
        <p:nvGrpSpPr>
          <p:cNvPr id="188419" name="Group 13"/>
          <p:cNvGrpSpPr/>
          <p:nvPr/>
        </p:nvGrpSpPr>
        <p:grpSpPr>
          <a:xfrm>
            <a:off x="509588" y="3048000"/>
            <a:ext cx="8239125" cy="3419475"/>
            <a:chOff x="240" y="1920"/>
            <a:chExt cx="5190" cy="2154"/>
          </a:xfrm>
        </p:grpSpPr>
        <p:pic>
          <p:nvPicPr>
            <p:cNvPr id="188420" name="Picture 10"/>
            <p:cNvPicPr>
              <a:picLocks noChangeAspect="1"/>
            </p:cNvPicPr>
            <p:nvPr/>
          </p:nvPicPr>
          <p:blipFill>
            <a:blip r:embed="rId1"/>
            <a:stretch>
              <a:fillRect/>
            </a:stretch>
          </p:blipFill>
          <p:spPr>
            <a:xfrm>
              <a:off x="240" y="1920"/>
              <a:ext cx="5190" cy="2154"/>
            </a:xfrm>
            <a:prstGeom prst="rect">
              <a:avLst/>
            </a:prstGeom>
            <a:noFill/>
            <a:ln w="9525">
              <a:noFill/>
            </a:ln>
          </p:spPr>
        </p:pic>
        <p:sp>
          <p:nvSpPr>
            <p:cNvPr id="188421" name="Rectangle 12"/>
            <p:cNvSpPr/>
            <p:nvPr/>
          </p:nvSpPr>
          <p:spPr>
            <a:xfrm>
              <a:off x="2109" y="3724"/>
              <a:ext cx="1407" cy="250"/>
            </a:xfrm>
            <a:prstGeom prst="rect">
              <a:avLst/>
            </a:prstGeom>
            <a:solidFill>
              <a:srgbClr val="FFFFFF"/>
            </a:solidFill>
            <a:ln w="9525">
              <a:noFill/>
            </a:ln>
          </p:spPr>
          <p:txBody>
            <a:bodyPr wrap="none" anchor="t" anchorCtr="0">
              <a:spAutoFit/>
            </a:bodyPr>
            <a:p>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2-12  </a:t>
              </a:r>
              <a:r>
                <a:rPr lang="zh-CN" altLang="en-US" sz="2000" b="1" dirty="0">
                  <a:solidFill>
                    <a:srgbClr val="000000"/>
                  </a:solidFill>
                  <a:latin typeface="楷体_GB2312"/>
                  <a:ea typeface="楷体_GB2312"/>
                </a:rPr>
                <a:t>变速机构</a:t>
              </a:r>
              <a:endParaRPr lang="zh-CN" altLang="en-US" sz="2000" b="1" dirty="0">
                <a:solidFill>
                  <a:srgbClr val="000000"/>
                </a:solidFill>
                <a:latin typeface="楷体_GB2312"/>
                <a:ea typeface="楷体_GB2312"/>
              </a:endParaRPr>
            </a:p>
          </p:txBody>
        </p:sp>
      </p:grpSp>
      <p:sp>
        <p:nvSpPr>
          <p:cNvPr id="188422" name="AutoShape 14">
            <a:hlinkClick r:id="rId2" action="ppaction://hlinksldjump"/>
          </p:cNvPr>
          <p:cNvSpPr/>
          <p:nvPr/>
        </p:nvSpPr>
        <p:spPr>
          <a:xfrm>
            <a:off x="7956550" y="6453188"/>
            <a:ext cx="792163" cy="260350"/>
          </a:xfrm>
          <a:prstGeom prst="actionButtonEnd">
            <a:avLst/>
          </a:prstGeom>
          <a:solidFill>
            <a:schemeClr val="accent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randomBar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5"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机床常用的变速机构</a:t>
            </a:r>
            <a:endParaRPr lang="zh-CN" altLang="en-US" sz="4000" dirty="0">
              <a:ea typeface="楷体_GB2312"/>
            </a:endParaRPr>
          </a:p>
        </p:txBody>
      </p:sp>
      <p:sp>
        <p:nvSpPr>
          <p:cNvPr id="190466" name="Rectangle 3"/>
          <p:cNvSpPr/>
          <p:nvPr/>
        </p:nvSpPr>
        <p:spPr>
          <a:xfrm>
            <a:off x="250825" y="1412875"/>
            <a:ext cx="8642350" cy="4338638"/>
          </a:xfrm>
          <a:prstGeom prst="rect">
            <a:avLst/>
          </a:prstGeom>
          <a:noFill/>
          <a:ln w="9525">
            <a:noFill/>
          </a:ln>
        </p:spPr>
        <p:txBody>
          <a:bodyPr anchor="t" anchorCtr="0">
            <a:spAutoFit/>
          </a:bodyPr>
          <a:p>
            <a:pPr marL="342900" indent="-342900"/>
            <a:r>
              <a:rPr lang="en-US" altLang="zh-CN" sz="2400" b="1" dirty="0">
                <a:latin typeface="楷体_GB2312"/>
                <a:ea typeface="楷体_GB2312"/>
              </a:rPr>
              <a:t> </a:t>
            </a:r>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1</a:t>
            </a:r>
            <a:r>
              <a:rPr lang="zh-CN" altLang="en-US" sz="2400" b="1" dirty="0">
                <a:solidFill>
                  <a:srgbClr val="FF3300"/>
                </a:solidFill>
                <a:latin typeface="楷体_GB2312"/>
                <a:ea typeface="楷体_GB2312"/>
              </a:rPr>
              <a:t>）滑动齿轮变速机构</a:t>
            </a:r>
            <a:r>
              <a:rPr lang="zh-CN" altLang="en-US" sz="2400" b="1" dirty="0">
                <a:latin typeface="楷体_GB2312"/>
                <a:ea typeface="楷体_GB2312"/>
                <a:hlinkClick r:id="rId1" action="ppaction://hlinksldjump"/>
              </a:rPr>
              <a:t>（图</a:t>
            </a:r>
            <a:r>
              <a:rPr lang="en-US" altLang="zh-CN" sz="2400" b="1" dirty="0">
                <a:latin typeface="楷体_GB2312"/>
                <a:ea typeface="楷体_GB2312"/>
                <a:hlinkClick r:id="rId1" action="ppaction://hlinksldjump"/>
              </a:rPr>
              <a:t>2-12a</a:t>
            </a:r>
            <a:r>
              <a:rPr lang="zh-CN" altLang="en-US" sz="2400" b="1" dirty="0">
                <a:latin typeface="楷体_GB2312"/>
                <a:ea typeface="楷体_GB2312"/>
                <a:hlinkClick r:id="rId1" action="ppaction://hlinksldjump"/>
              </a:rPr>
              <a:t>）</a:t>
            </a:r>
            <a:r>
              <a:rPr lang="zh-CN" altLang="en-US" sz="2400" b="1" dirty="0">
                <a:latin typeface="楷体_GB2312"/>
                <a:ea typeface="楷体_GB2312"/>
              </a:rPr>
              <a:t>带长键的从动轴</a:t>
            </a:r>
            <a:r>
              <a:rPr lang="en-US" altLang="zh-CN" sz="2400" b="1" dirty="0">
                <a:latin typeface="楷体_GB2312"/>
                <a:ea typeface="楷体_GB2312"/>
              </a:rPr>
              <a:t>Ⅱ</a:t>
            </a:r>
            <a:r>
              <a:rPr lang="zh-CN" altLang="en-US" sz="2400" b="1" dirty="0">
                <a:latin typeface="楷体_GB2312"/>
                <a:ea typeface="楷体_GB2312"/>
              </a:rPr>
              <a:t>上，装有三联滑动齿轮（</a:t>
            </a:r>
            <a:r>
              <a:rPr lang="en-US" altLang="zh-CN" sz="2400" b="1" i="1" dirty="0">
                <a:latin typeface="楷体_GB2312"/>
                <a:ea typeface="楷体_GB2312"/>
              </a:rPr>
              <a:t>z</a:t>
            </a:r>
            <a:r>
              <a:rPr lang="en-US" altLang="zh-CN" sz="2400" b="1" i="1" baseline="-25000" dirty="0">
                <a:latin typeface="楷体_GB2312"/>
                <a:ea typeface="楷体_GB2312"/>
              </a:rPr>
              <a:t>2</a:t>
            </a:r>
            <a:r>
              <a:rPr lang="zh-CN" altLang="en-US" sz="2400" b="1" i="1" dirty="0">
                <a:latin typeface="楷体_GB2312"/>
                <a:ea typeface="楷体_GB2312"/>
              </a:rPr>
              <a:t>、</a:t>
            </a:r>
            <a:r>
              <a:rPr lang="en-US" altLang="zh-CN" sz="2400" b="1" i="1" dirty="0">
                <a:latin typeface="楷体_GB2312"/>
                <a:ea typeface="楷体_GB2312"/>
              </a:rPr>
              <a:t>z</a:t>
            </a:r>
            <a:r>
              <a:rPr lang="en-US" altLang="zh-CN" sz="2400" b="1" i="1" baseline="-25000" dirty="0">
                <a:latin typeface="楷体_GB2312"/>
                <a:ea typeface="楷体_GB2312"/>
              </a:rPr>
              <a:t>4</a:t>
            </a:r>
            <a:r>
              <a:rPr lang="zh-CN" altLang="en-US" sz="2400" b="1" dirty="0">
                <a:latin typeface="楷体_GB2312"/>
                <a:ea typeface="楷体_GB2312"/>
              </a:rPr>
              <a:t>和</a:t>
            </a:r>
            <a:r>
              <a:rPr lang="en-US" altLang="zh-CN" sz="2400" b="1" i="1" dirty="0">
                <a:latin typeface="楷体_GB2312"/>
                <a:ea typeface="楷体_GB2312"/>
              </a:rPr>
              <a:t>z</a:t>
            </a:r>
            <a:r>
              <a:rPr lang="en-US" altLang="zh-CN" sz="2400" b="1" i="1" baseline="-25000" dirty="0">
                <a:latin typeface="楷体_GB2312"/>
                <a:ea typeface="楷体_GB2312"/>
              </a:rPr>
              <a:t>6</a:t>
            </a:r>
            <a:r>
              <a:rPr lang="zh-CN" altLang="en-US" sz="2400" b="1" dirty="0">
                <a:latin typeface="楷体_GB2312"/>
                <a:ea typeface="楷体_GB2312"/>
              </a:rPr>
              <a:t>）。通过手柄可使它分别与固定在主动轴</a:t>
            </a:r>
            <a:r>
              <a:rPr lang="en-US" altLang="zh-CN" sz="2400" b="1" dirty="0">
                <a:latin typeface="楷体_GB2312"/>
                <a:ea typeface="楷体_GB2312"/>
              </a:rPr>
              <a:t>I</a:t>
            </a:r>
            <a:r>
              <a:rPr lang="zh-CN" altLang="en-US" sz="2400" b="1" dirty="0">
                <a:latin typeface="楷体_GB2312"/>
                <a:ea typeface="楷体_GB2312"/>
              </a:rPr>
              <a:t>上的齿轮</a:t>
            </a:r>
            <a:r>
              <a:rPr lang="en-US" altLang="zh-CN" sz="2400" b="1" i="1" dirty="0">
                <a:latin typeface="楷体_GB2312"/>
                <a:ea typeface="楷体_GB2312"/>
              </a:rPr>
              <a:t>z</a:t>
            </a:r>
            <a:r>
              <a:rPr lang="en-US" altLang="zh-CN" sz="2400" b="1" i="1" baseline="-25000" dirty="0">
                <a:latin typeface="楷体_GB2312"/>
                <a:ea typeface="楷体_GB2312"/>
              </a:rPr>
              <a:t>1</a:t>
            </a:r>
            <a:r>
              <a:rPr lang="zh-CN" altLang="en-US" sz="2400" b="1" dirty="0">
                <a:latin typeface="楷体_GB2312"/>
                <a:ea typeface="楷体_GB2312"/>
              </a:rPr>
              <a:t>、</a:t>
            </a:r>
            <a:r>
              <a:rPr lang="en-US" altLang="zh-CN" sz="2400" b="1" i="1" dirty="0">
                <a:latin typeface="楷体_GB2312"/>
                <a:ea typeface="楷体_GB2312"/>
              </a:rPr>
              <a:t>z</a:t>
            </a:r>
            <a:r>
              <a:rPr lang="en-US" altLang="zh-CN" sz="2400" b="1" i="1" baseline="-25000" dirty="0">
                <a:latin typeface="楷体_GB2312"/>
                <a:ea typeface="楷体_GB2312"/>
              </a:rPr>
              <a:t>3</a:t>
            </a:r>
            <a:r>
              <a:rPr lang="zh-CN" altLang="en-US" sz="2400" b="1" dirty="0">
                <a:latin typeface="楷体_GB2312"/>
                <a:ea typeface="楷体_GB2312"/>
              </a:rPr>
              <a:t>和</a:t>
            </a:r>
            <a:r>
              <a:rPr lang="en-US" altLang="zh-CN" sz="2400" b="1" i="1" dirty="0">
                <a:latin typeface="楷体_GB2312"/>
                <a:ea typeface="楷体_GB2312"/>
              </a:rPr>
              <a:t>z</a:t>
            </a:r>
            <a:r>
              <a:rPr lang="en-US" altLang="zh-CN" sz="2400" b="1" i="1" baseline="-25000" dirty="0">
                <a:latin typeface="楷体_GB2312"/>
                <a:ea typeface="楷体_GB2312"/>
              </a:rPr>
              <a:t>5</a:t>
            </a:r>
            <a:r>
              <a:rPr lang="zh-CN" altLang="en-US" sz="2400" b="1" dirty="0">
                <a:latin typeface="楷体_GB2312"/>
                <a:ea typeface="楷体_GB2312"/>
              </a:rPr>
              <a:t>相啮合，轴口可得到三种转速</a:t>
            </a:r>
            <a:r>
              <a:rPr lang="en-US" altLang="zh-CN" sz="2400" b="1" dirty="0">
                <a:latin typeface="楷体_GB2312"/>
                <a:ea typeface="楷体_GB2312"/>
              </a:rPr>
              <a:t>,</a:t>
            </a:r>
            <a:r>
              <a:rPr lang="zh-CN" altLang="en-US" sz="2400" b="1" dirty="0">
                <a:latin typeface="楷体_GB2312"/>
                <a:ea typeface="楷体_GB2312"/>
              </a:rPr>
              <a:t>其传动比为</a:t>
            </a:r>
            <a:endParaRPr lang="zh-CN" altLang="en-US" sz="2400" b="1" dirty="0">
              <a:latin typeface="楷体_GB2312"/>
              <a:ea typeface="楷体_GB2312"/>
            </a:endParaRPr>
          </a:p>
          <a:p>
            <a:pPr marL="342900" indent="-342900"/>
            <a:endParaRPr lang="zh-CN" altLang="en-US" sz="2400" b="1" dirty="0">
              <a:latin typeface="楷体_GB2312"/>
              <a:ea typeface="楷体_GB2312"/>
            </a:endParaRPr>
          </a:p>
          <a:p>
            <a:pPr marL="342900" indent="-342900"/>
            <a:endParaRPr lang="zh-CN" altLang="en-US" sz="2400" b="1" dirty="0">
              <a:latin typeface="楷体_GB2312"/>
              <a:ea typeface="楷体_GB2312"/>
            </a:endParaRPr>
          </a:p>
          <a:p>
            <a:pPr marL="342900" indent="-342900"/>
            <a:r>
              <a:rPr lang="zh-CN" altLang="en-US" sz="2000" b="1" dirty="0">
                <a:latin typeface="Century" panose="02040604050505020304" pitchFamily="18" charset="0"/>
                <a:ea typeface="宋体" panose="02010600030101010101" pitchFamily="2" charset="-122"/>
              </a:rPr>
              <a:t>                      </a:t>
            </a:r>
            <a:endParaRPr lang="zh-CN" altLang="en-US" sz="2000" b="1" dirty="0">
              <a:latin typeface="Century" panose="02040604050505020304" pitchFamily="18" charset="0"/>
              <a:ea typeface="宋体" panose="02010600030101010101" pitchFamily="2" charset="-122"/>
            </a:endParaRPr>
          </a:p>
          <a:p>
            <a:pPr marL="342900" indent="-342900"/>
            <a:r>
              <a:rPr lang="zh-CN" altLang="en-US" sz="2000" b="1" dirty="0">
                <a:latin typeface="Century" panose="02040604050505020304" pitchFamily="18" charset="0"/>
                <a:ea typeface="宋体" panose="02010600030101010101" pitchFamily="2" charset="-122"/>
              </a:rPr>
              <a:t>    </a:t>
            </a:r>
            <a:r>
              <a:rPr lang="zh-CN" altLang="en-US" sz="2400" b="1" dirty="0">
                <a:solidFill>
                  <a:srgbClr val="0000CC"/>
                </a:solidFill>
                <a:latin typeface="Century" panose="02040604050505020304" pitchFamily="18" charset="0"/>
                <a:ea typeface="楷体_GB2312"/>
              </a:rPr>
              <a:t>这种变速机构的传动路线</a:t>
            </a:r>
            <a:endParaRPr lang="zh-CN" altLang="en-US" sz="2400" b="1" dirty="0">
              <a:solidFill>
                <a:srgbClr val="0000CC"/>
              </a:solidFill>
              <a:latin typeface="Century" panose="02040604050505020304" pitchFamily="18" charset="0"/>
              <a:ea typeface="楷体_GB2312"/>
            </a:endParaRPr>
          </a:p>
          <a:p>
            <a:pPr marL="342900" indent="-342900"/>
            <a:r>
              <a:rPr lang="zh-CN" altLang="en-US" sz="2400" b="1" dirty="0">
                <a:solidFill>
                  <a:srgbClr val="0000CC"/>
                </a:solidFill>
                <a:latin typeface="Century" panose="02040604050505020304" pitchFamily="18" charset="0"/>
                <a:ea typeface="楷体_GB2312"/>
              </a:rPr>
              <a:t>可用传动链的形式表示为：</a:t>
            </a:r>
            <a:endParaRPr lang="zh-CN" altLang="en-US" sz="2400" b="1" dirty="0">
              <a:solidFill>
                <a:srgbClr val="0000CC"/>
              </a:solidFill>
              <a:latin typeface="Century" panose="02040604050505020304" pitchFamily="18" charset="0"/>
              <a:ea typeface="楷体_GB2312"/>
            </a:endParaRPr>
          </a:p>
          <a:p>
            <a:pPr marL="342900" indent="-342900"/>
            <a:endParaRPr lang="zh-CN" altLang="en-US" sz="2400" b="1" dirty="0">
              <a:solidFill>
                <a:srgbClr val="F19BFD"/>
              </a:solidFill>
              <a:latin typeface="Century" panose="02040604050505020304" pitchFamily="18" charset="0"/>
              <a:ea typeface="楷体_GB2312"/>
            </a:endParaRPr>
          </a:p>
          <a:p>
            <a:pPr marL="342900" indent="-342900"/>
            <a:endParaRPr lang="zh-CN" altLang="en-US" sz="2000" b="1" dirty="0">
              <a:latin typeface="Century" panose="02040604050505020304" pitchFamily="18" charset="0"/>
              <a:ea typeface="宋体" panose="02010600030101010101" pitchFamily="2" charset="-122"/>
            </a:endParaRPr>
          </a:p>
          <a:p>
            <a:pPr marL="342900" indent="-342900"/>
            <a:endParaRPr lang="en-US" altLang="zh-CN" sz="2000" b="1" dirty="0">
              <a:latin typeface="Century" panose="02040604050505020304" pitchFamily="18" charset="0"/>
              <a:ea typeface="宋体" panose="02010600030101010101" pitchFamily="2" charset="-122"/>
            </a:endParaRPr>
          </a:p>
        </p:txBody>
      </p:sp>
      <p:pic>
        <p:nvPicPr>
          <p:cNvPr id="190467" name="Picture 5"/>
          <p:cNvPicPr>
            <a:picLocks noChangeAspect="1"/>
          </p:cNvPicPr>
          <p:nvPr/>
        </p:nvPicPr>
        <p:blipFill>
          <a:blip r:embed="rId2"/>
          <a:stretch>
            <a:fillRect/>
          </a:stretch>
        </p:blipFill>
        <p:spPr>
          <a:xfrm>
            <a:off x="4714875" y="3860800"/>
            <a:ext cx="3171825" cy="2955925"/>
          </a:xfrm>
          <a:prstGeom prst="rect">
            <a:avLst/>
          </a:prstGeom>
          <a:noFill/>
          <a:ln w="9525">
            <a:noFill/>
          </a:ln>
        </p:spPr>
      </p:pic>
      <p:graphicFrame>
        <p:nvGraphicFramePr>
          <p:cNvPr id="190468" name="Object 8"/>
          <p:cNvGraphicFramePr>
            <a:graphicFrameLocks noGrp="1" noChangeAspect="1"/>
          </p:cNvGraphicFramePr>
          <p:nvPr>
            <p:ph idx="1"/>
          </p:nvPr>
        </p:nvGraphicFramePr>
        <p:xfrm>
          <a:off x="2773363" y="2900363"/>
          <a:ext cx="3311525" cy="960437"/>
        </p:xfrm>
        <a:graphic>
          <a:graphicData uri="http://schemas.openxmlformats.org/presentationml/2006/ole">
            <mc:AlternateContent xmlns:mc="http://schemas.openxmlformats.org/markup-compatibility/2006">
              <mc:Choice xmlns:v="urn:schemas-microsoft-com:vml" Requires="v">
                <p:oleObj spid="_x0000_s3103" name="" r:id="rId3" imgW="1358900" imgH="393700" progId="Equation.3">
                  <p:embed/>
                </p:oleObj>
              </mc:Choice>
              <mc:Fallback>
                <p:oleObj name="" r:id="rId3" imgW="1358900" imgH="393700" progId="Equation.3">
                  <p:embed/>
                  <p:pic>
                    <p:nvPicPr>
                      <p:cNvPr id="0" name="图片 3102"/>
                      <p:cNvPicPr/>
                      <p:nvPr/>
                    </p:nvPicPr>
                    <p:blipFill>
                      <a:blip r:embed="rId4"/>
                      <a:stretch>
                        <a:fillRect/>
                      </a:stretch>
                    </p:blipFill>
                    <p:spPr>
                      <a:xfrm>
                        <a:off x="2773363" y="2900363"/>
                        <a:ext cx="3311525" cy="960437"/>
                      </a:xfrm>
                      <a:prstGeom prst="rect">
                        <a:avLst/>
                      </a:prstGeom>
                      <a:noFill/>
                      <a:ln w="38100">
                        <a:miter/>
                      </a:ln>
                    </p:spPr>
                  </p:pic>
                </p:oleObj>
              </mc:Fallback>
            </mc:AlternateContent>
          </a:graphicData>
        </a:graphic>
      </p:graphicFrame>
    </p:spTree>
  </p:cSld>
  <p:clrMapOvr>
    <a:masterClrMapping/>
  </p:clrMapOvr>
  <p:transition spd="slow">
    <p:randomBar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3" name="Rectangle 2"/>
          <p:cNvSpPr>
            <a:spLocks noGrp="1"/>
          </p:cNvSpPr>
          <p:nvPr>
            <p:ph type="title"/>
          </p:nvPr>
        </p:nvSpPr>
        <p:spPr>
          <a:xfrm>
            <a:off x="2473325" y="0"/>
            <a:ext cx="6130925" cy="1139825"/>
          </a:xfrm>
          <a:ln/>
        </p:spPr>
        <p:txBody>
          <a:bodyPr vert="horz" wrap="square" lIns="91440" tIns="45720" rIns="91440" bIns="45720" anchor="ctr" anchorCtr="0"/>
          <a:p>
            <a:pPr algn="ctr" eaLnBrk="1" hangingPunct="1"/>
            <a:r>
              <a:rPr lang="zh-CN" altLang="en-US" sz="4000" dirty="0">
                <a:ea typeface="楷体_GB2312"/>
              </a:rPr>
              <a:t>机床常用的变速机构</a:t>
            </a:r>
            <a:endParaRPr lang="zh-CN" altLang="en-US" sz="4000" dirty="0">
              <a:ea typeface="楷体_GB2312"/>
            </a:endParaRPr>
          </a:p>
        </p:txBody>
      </p:sp>
      <p:sp>
        <p:nvSpPr>
          <p:cNvPr id="192514" name="Rectangle 3"/>
          <p:cNvSpPr/>
          <p:nvPr/>
        </p:nvSpPr>
        <p:spPr>
          <a:xfrm>
            <a:off x="250825" y="990600"/>
            <a:ext cx="8642350" cy="3076575"/>
          </a:xfrm>
          <a:prstGeom prst="rect">
            <a:avLst/>
          </a:prstGeom>
          <a:noFill/>
          <a:ln w="9525">
            <a:noFill/>
          </a:ln>
        </p:spPr>
        <p:txBody>
          <a:bodyPr anchor="t" anchorCtr="0">
            <a:spAutoFit/>
          </a:bodyPr>
          <a:p>
            <a:pPr marL="342900" indent="-342900"/>
            <a:endParaRPr lang="en-US" altLang="zh-CN" sz="2000" b="1" dirty="0">
              <a:solidFill>
                <a:srgbClr val="F19BFD"/>
              </a:solidFill>
              <a:latin typeface="Century" panose="02040604050505020304" pitchFamily="18" charset="0"/>
              <a:ea typeface="宋体" panose="02010600030101010101" pitchFamily="2" charset="-122"/>
            </a:endParaRPr>
          </a:p>
          <a:p>
            <a:pPr marL="342900" indent="-342900"/>
            <a:endParaRPr lang="en-US" altLang="zh-CN" sz="2000" b="1" dirty="0">
              <a:solidFill>
                <a:srgbClr val="F19BFD"/>
              </a:solidFill>
              <a:latin typeface="Century" panose="02040604050505020304" pitchFamily="18" charset="0"/>
              <a:ea typeface="宋体" panose="02010600030101010101" pitchFamily="2" charset="-122"/>
            </a:endParaRPr>
          </a:p>
          <a:p>
            <a:pPr marL="342900" indent="-342900"/>
            <a:r>
              <a:rPr lang="zh-CN" altLang="en-US" sz="2400" b="1" dirty="0">
                <a:solidFill>
                  <a:srgbClr val="FF3300"/>
                </a:solidFill>
                <a:latin typeface="楷体_GB2312"/>
                <a:ea typeface="楷体_GB2312"/>
              </a:rPr>
              <a:t>（</a:t>
            </a:r>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）离合器式齿轮变速机构</a:t>
            </a:r>
            <a:r>
              <a:rPr lang="zh-CN" altLang="en-US" sz="2400" b="1" dirty="0">
                <a:solidFill>
                  <a:srgbClr val="FF3300"/>
                </a:solidFill>
                <a:latin typeface="楷体_GB2312"/>
                <a:ea typeface="楷体_GB2312"/>
                <a:hlinkClick r:id="rId1" action="ppaction://hlinksldjump"/>
              </a:rPr>
              <a:t>（图</a:t>
            </a:r>
            <a:r>
              <a:rPr lang="en-US" altLang="zh-CN" sz="2400" b="1" dirty="0">
                <a:solidFill>
                  <a:srgbClr val="FF3300"/>
                </a:solidFill>
                <a:latin typeface="楷体_GB2312"/>
                <a:ea typeface="楷体_GB2312"/>
                <a:hlinkClick r:id="rId1" action="ppaction://hlinksldjump"/>
              </a:rPr>
              <a:t>2</a:t>
            </a:r>
            <a:r>
              <a:rPr lang="zh-CN" altLang="en-US" sz="2400" b="1" dirty="0">
                <a:solidFill>
                  <a:srgbClr val="FF3300"/>
                </a:solidFill>
                <a:latin typeface="楷体_GB2312"/>
                <a:ea typeface="楷体_GB2312"/>
                <a:hlinkClick r:id="rId1" action="ppaction://hlinksldjump"/>
              </a:rPr>
              <a:t>－</a:t>
            </a:r>
            <a:r>
              <a:rPr lang="en-US" altLang="zh-CN" sz="2400" b="1" dirty="0">
                <a:solidFill>
                  <a:srgbClr val="FF3300"/>
                </a:solidFill>
                <a:latin typeface="楷体_GB2312"/>
                <a:ea typeface="楷体_GB2312"/>
                <a:hlinkClick r:id="rId1" action="ppaction://hlinksldjump"/>
              </a:rPr>
              <a:t>12b</a:t>
            </a:r>
            <a:r>
              <a:rPr lang="zh-CN" altLang="en-US" sz="2400" b="1" dirty="0">
                <a:solidFill>
                  <a:srgbClr val="FF3300"/>
                </a:solidFill>
                <a:latin typeface="楷体_GB2312"/>
                <a:ea typeface="楷体_GB2312"/>
                <a:hlinkClick r:id="rId1" action="ppaction://hlinksldjump"/>
              </a:rPr>
              <a:t>）</a:t>
            </a:r>
            <a:r>
              <a:rPr lang="zh-CN" altLang="en-US" sz="2400" b="1" dirty="0">
                <a:latin typeface="楷体_GB2312"/>
                <a:ea typeface="楷体_GB2312"/>
              </a:rPr>
              <a:t>可得到</a:t>
            </a:r>
            <a:endParaRPr lang="zh-CN" altLang="en-US" sz="2400" b="1" dirty="0">
              <a:latin typeface="楷体_GB2312"/>
              <a:ea typeface="楷体_GB2312"/>
            </a:endParaRPr>
          </a:p>
          <a:p>
            <a:pPr marL="342900" indent="-342900"/>
            <a:r>
              <a:rPr lang="zh-CN" altLang="en-US" sz="2400" b="1" dirty="0">
                <a:latin typeface="楷体_GB2312"/>
                <a:ea typeface="楷体_GB2312"/>
              </a:rPr>
              <a:t>两种不同的转速，其传动比为</a:t>
            </a:r>
            <a:endParaRPr lang="zh-CN" altLang="en-US" sz="2400" b="1" dirty="0">
              <a:latin typeface="楷体_GB2312"/>
              <a:ea typeface="楷体_GB2312"/>
            </a:endParaRPr>
          </a:p>
          <a:p>
            <a:pPr marL="342900" indent="-342900"/>
            <a:endParaRPr lang="zh-CN" altLang="en-US" sz="2400" b="1" dirty="0">
              <a:latin typeface="楷体_GB2312"/>
              <a:ea typeface="楷体_GB2312"/>
            </a:endParaRPr>
          </a:p>
          <a:p>
            <a:pPr marL="342900" indent="-342900"/>
            <a:endParaRPr lang="zh-CN" altLang="en-US" sz="2000" b="1" dirty="0">
              <a:latin typeface="Century" panose="02040604050505020304" pitchFamily="18" charset="0"/>
              <a:ea typeface="宋体" panose="02010600030101010101" pitchFamily="2" charset="-122"/>
            </a:endParaRPr>
          </a:p>
          <a:p>
            <a:pPr marL="342900" indent="-342900"/>
            <a:endParaRPr lang="zh-CN" altLang="en-US" sz="2000" b="1" dirty="0">
              <a:latin typeface="Century" panose="02040604050505020304" pitchFamily="18" charset="0"/>
              <a:ea typeface="宋体" panose="02010600030101010101" pitchFamily="2" charset="-122"/>
            </a:endParaRPr>
          </a:p>
          <a:p>
            <a:pPr marL="342900" indent="-342900"/>
            <a:endParaRPr lang="zh-CN" altLang="en-US" sz="2000" b="1" dirty="0">
              <a:latin typeface="Century" panose="02040604050505020304" pitchFamily="18" charset="0"/>
              <a:ea typeface="宋体" panose="02010600030101010101" pitchFamily="2" charset="-122"/>
            </a:endParaRPr>
          </a:p>
          <a:p>
            <a:pPr marL="342900" indent="-342900"/>
            <a:r>
              <a:rPr lang="zh-CN" altLang="en-US" sz="2400" b="1" dirty="0">
                <a:latin typeface="Century" panose="02040604050505020304" pitchFamily="18" charset="0"/>
                <a:ea typeface="楷体_GB2312"/>
              </a:rPr>
              <a:t>其传动链为</a:t>
            </a:r>
            <a:endParaRPr lang="zh-CN" altLang="en-US" sz="2400" b="1" dirty="0">
              <a:latin typeface="Century" panose="02040604050505020304" pitchFamily="18" charset="0"/>
              <a:ea typeface="楷体_GB2312"/>
            </a:endParaRPr>
          </a:p>
        </p:txBody>
      </p:sp>
      <p:pic>
        <p:nvPicPr>
          <p:cNvPr id="192515" name="Picture 7"/>
          <p:cNvPicPr>
            <a:picLocks noChangeAspect="1"/>
          </p:cNvPicPr>
          <p:nvPr/>
        </p:nvPicPr>
        <p:blipFill>
          <a:blip r:embed="rId2"/>
          <a:stretch>
            <a:fillRect/>
          </a:stretch>
        </p:blipFill>
        <p:spPr>
          <a:xfrm>
            <a:off x="2698750" y="3860800"/>
            <a:ext cx="4064000" cy="2879725"/>
          </a:xfrm>
          <a:prstGeom prst="rect">
            <a:avLst/>
          </a:prstGeom>
          <a:noFill/>
          <a:ln w="9525">
            <a:noFill/>
          </a:ln>
        </p:spPr>
      </p:pic>
      <p:graphicFrame>
        <p:nvGraphicFramePr>
          <p:cNvPr id="192516" name="Object 8"/>
          <p:cNvGraphicFramePr>
            <a:graphicFrameLocks noGrp="1" noChangeAspect="1"/>
          </p:cNvGraphicFramePr>
          <p:nvPr>
            <p:ph sz="half" idx="1"/>
          </p:nvPr>
        </p:nvGraphicFramePr>
        <p:xfrm>
          <a:off x="3059113" y="2636838"/>
          <a:ext cx="2168525" cy="960437"/>
        </p:xfrm>
        <a:graphic>
          <a:graphicData uri="http://schemas.openxmlformats.org/presentationml/2006/ole">
            <mc:AlternateContent xmlns:mc="http://schemas.openxmlformats.org/markup-compatibility/2006">
              <mc:Choice xmlns:v="urn:schemas-microsoft-com:vml" Requires="v">
                <p:oleObj spid="_x0000_s3104" name="" r:id="rId3" imgW="889000" imgH="393700" progId="Equation.3">
                  <p:embed/>
                </p:oleObj>
              </mc:Choice>
              <mc:Fallback>
                <p:oleObj name="" r:id="rId3" imgW="889000" imgH="393700" progId="Equation.3">
                  <p:embed/>
                  <p:pic>
                    <p:nvPicPr>
                      <p:cNvPr id="0" name="图片 3103"/>
                      <p:cNvPicPr/>
                      <p:nvPr/>
                    </p:nvPicPr>
                    <p:blipFill>
                      <a:blip r:embed="rId4"/>
                      <a:stretch>
                        <a:fillRect/>
                      </a:stretch>
                    </p:blipFill>
                    <p:spPr>
                      <a:xfrm>
                        <a:off x="3059113" y="2636838"/>
                        <a:ext cx="2168525" cy="960437"/>
                      </a:xfrm>
                      <a:prstGeom prst="rect">
                        <a:avLst/>
                      </a:prstGeom>
                      <a:noFill/>
                      <a:ln w="38100">
                        <a:miter/>
                      </a:ln>
                    </p:spPr>
                  </p:pic>
                </p:oleObj>
              </mc:Fallback>
            </mc:AlternateContent>
          </a:graphicData>
        </a:graphic>
      </p:graphicFrame>
    </p:spTree>
  </p:cSld>
  <p:clrMapOvr>
    <a:masterClrMapping/>
  </p:clrMapOvr>
  <p:transition spd="slow">
    <p:randomBar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Rectangle 2"/>
          <p:cNvSpPr>
            <a:spLocks noGrp="1"/>
          </p:cNvSpPr>
          <p:nvPr>
            <p:ph type="title"/>
          </p:nvPr>
        </p:nvSpPr>
        <p:spPr>
          <a:xfrm>
            <a:off x="2978150" y="128588"/>
            <a:ext cx="4906963" cy="1139825"/>
          </a:xfrm>
          <a:ln/>
        </p:spPr>
        <p:txBody>
          <a:bodyPr vert="horz" wrap="square" lIns="91440" tIns="45720" rIns="91440" bIns="45720" anchor="ctr" anchorCtr="0"/>
          <a:p>
            <a:pPr algn="ctr" eaLnBrk="1" hangingPunct="1"/>
            <a:r>
              <a:rPr lang="zh-CN" altLang="en-US" sz="4000" dirty="0">
                <a:ea typeface="楷体_GB2312"/>
              </a:rPr>
              <a:t>卧式车床传动简介</a:t>
            </a:r>
            <a:endParaRPr lang="zh-CN" altLang="en-US" sz="4000" dirty="0">
              <a:ea typeface="楷体_GB2312"/>
            </a:endParaRPr>
          </a:p>
        </p:txBody>
      </p:sp>
      <p:sp>
        <p:nvSpPr>
          <p:cNvPr id="194562" name="Rectangle 3"/>
          <p:cNvSpPr/>
          <p:nvPr/>
        </p:nvSpPr>
        <p:spPr>
          <a:xfrm>
            <a:off x="0" y="1295400"/>
            <a:ext cx="8991600" cy="1917700"/>
          </a:xfrm>
          <a:prstGeom prst="rect">
            <a:avLst/>
          </a:prstGeom>
          <a:noFill/>
          <a:ln w="9525">
            <a:noFill/>
          </a:ln>
        </p:spPr>
        <p:txBody>
          <a:bodyPr anchor="t" anchorCtr="0">
            <a:spAutoFit/>
          </a:bodyPr>
          <a:p>
            <a:pPr marL="342900" indent="-342900"/>
            <a:r>
              <a:rPr lang="en-US" altLang="zh-CN" sz="2000" b="1" dirty="0">
                <a:latin typeface="Century" panose="02040604050505020304" pitchFamily="18" charset="0"/>
                <a:ea typeface="宋体" panose="02010600030101010101" pitchFamily="2" charset="-122"/>
              </a:rPr>
              <a:t>            </a:t>
            </a:r>
            <a:r>
              <a:rPr lang="zh-CN" altLang="en-US" sz="2400" b="1" dirty="0">
                <a:latin typeface="楷体_GB2312"/>
                <a:ea typeface="楷体_GB2312"/>
              </a:rPr>
              <a:t>图为</a:t>
            </a:r>
            <a:r>
              <a:rPr lang="en-US" altLang="zh-CN" sz="2400" b="1" dirty="0">
                <a:latin typeface="楷体_GB2312"/>
                <a:ea typeface="楷体_GB2312"/>
              </a:rPr>
              <a:t>C6132</a:t>
            </a:r>
            <a:r>
              <a:rPr lang="zh-CN" altLang="en-US" sz="2400" b="1" dirty="0">
                <a:latin typeface="楷体_GB2312"/>
                <a:ea typeface="楷体_GB2312"/>
              </a:rPr>
              <a:t>型卧式车床的传动系统图</a:t>
            </a:r>
            <a:r>
              <a:rPr lang="en-US" altLang="zh-CN" sz="2400" b="1" dirty="0">
                <a:latin typeface="楷体_GB2312"/>
                <a:ea typeface="楷体_GB2312"/>
              </a:rPr>
              <a:t>, </a:t>
            </a:r>
            <a:r>
              <a:rPr lang="zh-CN" altLang="en-US" sz="2400" b="1" dirty="0">
                <a:latin typeface="楷体_GB2312"/>
                <a:ea typeface="楷体_GB2312"/>
              </a:rPr>
              <a:t>图中各传动件按照运动传递的先后顺序，以展开图的形式画出来。图中罗马数字表示传动轴的编号，阿拉伯数字表示齿轮齿数或带轮直径，字母</a:t>
            </a:r>
            <a:r>
              <a:rPr lang="en-US" altLang="zh-CN" sz="2400" b="1" dirty="0">
                <a:latin typeface="楷体_GB2312"/>
                <a:ea typeface="楷体_GB2312"/>
              </a:rPr>
              <a:t>M</a:t>
            </a:r>
            <a:r>
              <a:rPr lang="zh-CN" altLang="en-US" sz="2400" b="1" dirty="0">
                <a:latin typeface="楷体_GB2312"/>
                <a:ea typeface="楷体_GB2312"/>
              </a:rPr>
              <a:t>表示离合器等。                      </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1</a:t>
            </a:r>
            <a:r>
              <a:rPr lang="zh-CN" altLang="en-US" sz="2400" b="1" dirty="0">
                <a:solidFill>
                  <a:srgbClr val="008000"/>
                </a:solidFill>
                <a:latin typeface="楷体_GB2312"/>
                <a:ea typeface="楷体_GB2312"/>
              </a:rPr>
              <a:t>）主运动传动链为；</a:t>
            </a:r>
            <a:r>
              <a:rPr lang="zh-CN" altLang="en-US" sz="2400" b="1" dirty="0">
                <a:latin typeface="楷体_GB2312"/>
                <a:ea typeface="楷体_GB2312"/>
              </a:rPr>
              <a:t>    </a:t>
            </a:r>
            <a:endParaRPr lang="zh-CN" altLang="en-US" sz="2400" b="1" dirty="0">
              <a:latin typeface="楷体_GB2312"/>
              <a:ea typeface="楷体_GB2312"/>
            </a:endParaRPr>
          </a:p>
        </p:txBody>
      </p:sp>
      <p:pic>
        <p:nvPicPr>
          <p:cNvPr id="194563" name="Picture 8"/>
          <p:cNvPicPr>
            <a:picLocks noChangeAspect="1"/>
          </p:cNvPicPr>
          <p:nvPr/>
        </p:nvPicPr>
        <p:blipFill>
          <a:blip r:embed="rId1"/>
          <a:stretch>
            <a:fillRect/>
          </a:stretch>
        </p:blipFill>
        <p:spPr>
          <a:xfrm>
            <a:off x="-36512" y="3219450"/>
            <a:ext cx="9128125" cy="2366963"/>
          </a:xfrm>
          <a:prstGeom prst="rect">
            <a:avLst/>
          </a:prstGeom>
          <a:noFill/>
          <a:ln w="9525">
            <a:noFill/>
          </a:ln>
        </p:spPr>
      </p:pic>
      <p:sp>
        <p:nvSpPr>
          <p:cNvPr id="194564" name="Rectangle 9"/>
          <p:cNvSpPr/>
          <p:nvPr/>
        </p:nvSpPr>
        <p:spPr>
          <a:xfrm>
            <a:off x="179388" y="5645150"/>
            <a:ext cx="8920162" cy="457200"/>
          </a:xfrm>
          <a:prstGeom prst="rect">
            <a:avLst/>
          </a:prstGeom>
          <a:noFill/>
          <a:ln w="9525">
            <a:noFill/>
          </a:ln>
        </p:spPr>
        <p:txBody>
          <a:bodyPr wrap="none" anchor="t" anchorCtr="0">
            <a:spAutoFit/>
          </a:bodyPr>
          <a:p>
            <a:r>
              <a:rPr lang="zh-CN" altLang="en-US" sz="2400" b="1" dirty="0">
                <a:latin typeface="楷体_GB2312"/>
                <a:ea typeface="楷体_GB2312"/>
              </a:rPr>
              <a:t>主轴可获得</a:t>
            </a:r>
            <a:r>
              <a:rPr lang="en-US" altLang="zh-CN" sz="2400" b="1" dirty="0">
                <a:latin typeface="楷体_GB2312"/>
                <a:ea typeface="楷体_GB2312"/>
              </a:rPr>
              <a:t>2×3×2</a:t>
            </a:r>
            <a:r>
              <a:rPr lang="zh-CN" altLang="en-US" sz="2400" b="1" dirty="0">
                <a:latin typeface="楷体_GB2312"/>
                <a:ea typeface="楷体_GB2312"/>
              </a:rPr>
              <a:t>＝</a:t>
            </a:r>
            <a:r>
              <a:rPr lang="en-US" altLang="zh-CN" sz="2400" b="1" dirty="0">
                <a:latin typeface="楷体_GB2312"/>
                <a:ea typeface="楷体_GB2312"/>
              </a:rPr>
              <a:t>12</a:t>
            </a:r>
            <a:r>
              <a:rPr lang="zh-CN" altLang="en-US" sz="2400" b="1" dirty="0">
                <a:latin typeface="楷体_GB2312"/>
                <a:ea typeface="楷体_GB2312"/>
              </a:rPr>
              <a:t>级转速，其反转是通过电动机反转实现。</a:t>
            </a:r>
            <a:endParaRPr lang="zh-CN" altLang="en-US" sz="2400" b="1" dirty="0">
              <a:latin typeface="楷体_GB2312"/>
              <a:ea typeface="楷体_GB2312"/>
            </a:endParaRPr>
          </a:p>
        </p:txBody>
      </p:sp>
    </p:spTree>
  </p:cSld>
  <p:clrMapOvr>
    <a:masterClrMapping/>
  </p:clrMapOvr>
  <p:transition spd="slow">
    <p:randomBar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09" name="Rectangle 2"/>
          <p:cNvSpPr>
            <a:spLocks noGrp="1"/>
          </p:cNvSpPr>
          <p:nvPr>
            <p:ph type="title"/>
          </p:nvPr>
        </p:nvSpPr>
        <p:spPr>
          <a:xfrm>
            <a:off x="2905125" y="0"/>
            <a:ext cx="4762500" cy="1139825"/>
          </a:xfrm>
          <a:ln/>
        </p:spPr>
        <p:txBody>
          <a:bodyPr vert="horz" wrap="square" lIns="91440" tIns="45720" rIns="91440" bIns="45720" anchor="ctr" anchorCtr="0"/>
          <a:p>
            <a:pPr algn="ctr" eaLnBrk="1" hangingPunct="1"/>
            <a:r>
              <a:rPr lang="zh-CN" altLang="en-US" sz="4000" dirty="0">
                <a:ea typeface="楷体_GB2312"/>
              </a:rPr>
              <a:t>卧式车床传动简介</a:t>
            </a:r>
            <a:endParaRPr lang="zh-CN" altLang="en-US" sz="4000" dirty="0">
              <a:ea typeface="楷体_GB2312"/>
            </a:endParaRPr>
          </a:p>
        </p:txBody>
      </p:sp>
      <p:grpSp>
        <p:nvGrpSpPr>
          <p:cNvPr id="196610" name="Group 7"/>
          <p:cNvGrpSpPr/>
          <p:nvPr/>
        </p:nvGrpSpPr>
        <p:grpSpPr>
          <a:xfrm>
            <a:off x="34925" y="1196975"/>
            <a:ext cx="9007475" cy="5508625"/>
            <a:chOff x="113" y="880"/>
            <a:chExt cx="5489" cy="3158"/>
          </a:xfrm>
        </p:grpSpPr>
        <p:pic>
          <p:nvPicPr>
            <p:cNvPr id="196611" name="Picture 5"/>
            <p:cNvPicPr>
              <a:picLocks noChangeAspect="1"/>
            </p:cNvPicPr>
            <p:nvPr/>
          </p:nvPicPr>
          <p:blipFill>
            <a:blip r:embed="rId1"/>
            <a:stretch>
              <a:fillRect/>
            </a:stretch>
          </p:blipFill>
          <p:spPr>
            <a:xfrm>
              <a:off x="113" y="880"/>
              <a:ext cx="5489" cy="3158"/>
            </a:xfrm>
            <a:prstGeom prst="rect">
              <a:avLst/>
            </a:prstGeom>
            <a:noFill/>
            <a:ln w="9525">
              <a:noFill/>
            </a:ln>
          </p:spPr>
        </p:pic>
        <p:sp>
          <p:nvSpPr>
            <p:cNvPr id="196612" name="Rectangle 6"/>
            <p:cNvSpPr/>
            <p:nvPr/>
          </p:nvSpPr>
          <p:spPr>
            <a:xfrm>
              <a:off x="1736" y="3789"/>
              <a:ext cx="2006" cy="211"/>
            </a:xfrm>
            <a:prstGeom prst="rect">
              <a:avLst/>
            </a:prstGeom>
            <a:solidFill>
              <a:srgbClr val="FFFFFF"/>
            </a:solidFill>
            <a:ln w="9525">
              <a:noFill/>
            </a:ln>
          </p:spPr>
          <p:txBody>
            <a:bodyPr wrap="square" anchor="t" anchorCtr="0">
              <a:spAutoFit/>
            </a:bodyPr>
            <a:p>
              <a:r>
                <a:rPr lang="zh-CN" altLang="en-US" b="1" dirty="0">
                  <a:latin typeface="楷体_GB2312"/>
                  <a:ea typeface="楷体_GB2312"/>
                </a:rPr>
                <a:t>图</a:t>
              </a:r>
              <a:r>
                <a:rPr lang="en-US" altLang="zh-CN" b="1" dirty="0">
                  <a:latin typeface="楷体_GB2312"/>
                  <a:ea typeface="楷体_GB2312"/>
                </a:rPr>
                <a:t>2-13 C6132</a:t>
              </a:r>
              <a:r>
                <a:rPr lang="zh-CN" altLang="en-US" b="1" dirty="0">
                  <a:latin typeface="楷体_GB2312"/>
                  <a:ea typeface="楷体_GB2312"/>
                </a:rPr>
                <a:t>车床传动系统图</a:t>
              </a:r>
              <a:endParaRPr lang="zh-CN" altLang="en-US" b="1" dirty="0">
                <a:latin typeface="楷体_GB2312"/>
                <a:ea typeface="楷体_GB2312"/>
              </a:endParaRPr>
            </a:p>
          </p:txBody>
        </p:sp>
      </p:grpSp>
    </p:spTree>
  </p:cSld>
  <p:clrMapOvr>
    <a:masterClrMapping/>
  </p:clrMapOvr>
  <p:transition spd="slow">
    <p:randomBar dir="ver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7" name="Rectangle 2"/>
          <p:cNvSpPr>
            <a:spLocks noGrp="1"/>
          </p:cNvSpPr>
          <p:nvPr>
            <p:ph type="title"/>
          </p:nvPr>
        </p:nvSpPr>
        <p:spPr>
          <a:xfrm>
            <a:off x="2832100" y="0"/>
            <a:ext cx="5340350" cy="1139825"/>
          </a:xfrm>
          <a:ln/>
        </p:spPr>
        <p:txBody>
          <a:bodyPr vert="horz" wrap="square" lIns="91440" tIns="45720" rIns="91440" bIns="45720" anchor="ctr" anchorCtr="0"/>
          <a:p>
            <a:pPr algn="ctr" eaLnBrk="1" hangingPunct="1"/>
            <a:r>
              <a:rPr lang="zh-CN" altLang="en-US" sz="4000" dirty="0">
                <a:ea typeface="楷体_GB2312"/>
              </a:rPr>
              <a:t>卧式车床传动简介</a:t>
            </a:r>
            <a:endParaRPr lang="zh-CN" altLang="en-US" sz="4000" dirty="0">
              <a:ea typeface="楷体_GB2312"/>
            </a:endParaRPr>
          </a:p>
        </p:txBody>
      </p:sp>
      <p:sp>
        <p:nvSpPr>
          <p:cNvPr id="198658" name="Rectangle 3"/>
          <p:cNvSpPr/>
          <p:nvPr/>
        </p:nvSpPr>
        <p:spPr>
          <a:xfrm>
            <a:off x="215900" y="1227138"/>
            <a:ext cx="4572000" cy="762000"/>
          </a:xfrm>
          <a:prstGeom prst="rect">
            <a:avLst/>
          </a:prstGeom>
          <a:noFill/>
          <a:ln w="9525">
            <a:noFill/>
          </a:ln>
        </p:spPr>
        <p:txBody>
          <a:bodyPr anchor="t" anchorCtr="0">
            <a:spAutoFit/>
          </a:bodyPr>
          <a:p>
            <a:pPr marL="342900" indent="-342900">
              <a:buClr>
                <a:srgbClr val="FF3300"/>
              </a:buClr>
              <a:buFont typeface="Wingdings" panose="05000000000000000000" pitchFamily="2" charset="2"/>
              <a:buChar char="Ø"/>
            </a:pPr>
            <a:r>
              <a:rPr lang="zh-CN" altLang="en-US" sz="2400" b="1" dirty="0">
                <a:latin typeface="Century" panose="02040604050505020304" pitchFamily="18" charset="0"/>
                <a:ea typeface="楷体_GB2312"/>
              </a:rPr>
              <a:t>进给运动传动链为：</a:t>
            </a:r>
            <a:endParaRPr lang="zh-CN" altLang="en-US" sz="2400" b="1" dirty="0">
              <a:latin typeface="Century" panose="02040604050505020304" pitchFamily="18" charset="0"/>
              <a:ea typeface="楷体_GB2312"/>
            </a:endParaRPr>
          </a:p>
          <a:p>
            <a:pPr marL="342900" indent="-342900"/>
            <a:r>
              <a:rPr lang="zh-CN" altLang="en-US" sz="2000" b="1" dirty="0">
                <a:latin typeface="Century" panose="02040604050505020304" pitchFamily="18" charset="0"/>
                <a:ea typeface="宋体" panose="02010600030101010101" pitchFamily="2" charset="-122"/>
              </a:rPr>
              <a:t>            </a:t>
            </a:r>
            <a:endParaRPr lang="zh-CN" altLang="en-US" sz="2000" b="1" dirty="0">
              <a:latin typeface="Century" panose="02040604050505020304" pitchFamily="18" charset="0"/>
              <a:ea typeface="宋体" panose="02010600030101010101" pitchFamily="2" charset="-122"/>
            </a:endParaRPr>
          </a:p>
        </p:txBody>
      </p:sp>
      <p:pic>
        <p:nvPicPr>
          <p:cNvPr id="198659" name="Picture 5"/>
          <p:cNvPicPr>
            <a:picLocks noChangeAspect="1"/>
          </p:cNvPicPr>
          <p:nvPr/>
        </p:nvPicPr>
        <p:blipFill>
          <a:blip r:embed="rId1"/>
          <a:stretch>
            <a:fillRect/>
          </a:stretch>
        </p:blipFill>
        <p:spPr>
          <a:xfrm>
            <a:off x="1752600" y="1781175"/>
            <a:ext cx="6275388" cy="4892675"/>
          </a:xfrm>
          <a:prstGeom prst="rect">
            <a:avLst/>
          </a:prstGeom>
          <a:noFill/>
          <a:ln w="9525">
            <a:noFill/>
          </a:ln>
        </p:spPr>
      </p:pic>
    </p:spTree>
  </p:cSld>
  <p:clrMapOvr>
    <a:masterClrMapping/>
  </p:clrMapOvr>
  <p:transition spd="slow">
    <p:randomBar dir="ver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5" name="Rectangle 2"/>
          <p:cNvSpPr>
            <a:spLocks noGrp="1"/>
          </p:cNvSpPr>
          <p:nvPr>
            <p:ph type="title"/>
          </p:nvPr>
        </p:nvSpPr>
        <p:spPr>
          <a:xfrm>
            <a:off x="2762250" y="0"/>
            <a:ext cx="5338763" cy="1139825"/>
          </a:xfrm>
          <a:ln/>
        </p:spPr>
        <p:txBody>
          <a:bodyPr vert="horz" wrap="square" lIns="91440" tIns="45720" rIns="91440" bIns="45720" anchor="ctr" anchorCtr="0"/>
          <a:p>
            <a:pPr algn="ctr" eaLnBrk="1" hangingPunct="1"/>
            <a:r>
              <a:rPr lang="zh-CN" altLang="en-US" sz="4000" dirty="0">
                <a:ea typeface="楷体_GB2312"/>
              </a:rPr>
              <a:t>机床机械传动的组成</a:t>
            </a:r>
            <a:r>
              <a:rPr lang="zh-CN" altLang="en-US" dirty="0"/>
              <a:t> </a:t>
            </a:r>
            <a:endParaRPr lang="zh-CN" altLang="en-US" dirty="0"/>
          </a:p>
        </p:txBody>
      </p:sp>
      <p:sp>
        <p:nvSpPr>
          <p:cNvPr id="200706" name="Rectangle 3"/>
          <p:cNvSpPr/>
          <p:nvPr/>
        </p:nvSpPr>
        <p:spPr>
          <a:xfrm>
            <a:off x="0" y="1258888"/>
            <a:ext cx="9144000" cy="4475162"/>
          </a:xfrm>
          <a:prstGeom prst="rect">
            <a:avLst/>
          </a:prstGeom>
          <a:noFill/>
          <a:ln w="9525">
            <a:noFill/>
          </a:ln>
        </p:spPr>
        <p:txBody>
          <a:bodyPr anchor="t" anchorCtr="0">
            <a:spAutoFit/>
          </a:bodyPr>
          <a:p>
            <a:pPr marL="342900" indent="-342900">
              <a:buClr>
                <a:srgbClr val="FF3300"/>
              </a:buClr>
              <a:buFont typeface="Wingdings" panose="05000000000000000000" pitchFamily="2" charset="2"/>
              <a:buChar char="Ø"/>
            </a:pPr>
            <a:r>
              <a:rPr lang="zh-CN" altLang="en-US" sz="2800" b="1" dirty="0">
                <a:solidFill>
                  <a:srgbClr val="FF3300"/>
                </a:solidFill>
                <a:latin typeface="Century" panose="02040604050505020304" pitchFamily="18" charset="0"/>
                <a:ea typeface="楷体_GB2312"/>
              </a:rPr>
              <a:t>机床机械传动主要由以下几部分组成：</a:t>
            </a:r>
            <a:r>
              <a:rPr lang="zh-CN" altLang="en-US" sz="2400" b="1" dirty="0">
                <a:solidFill>
                  <a:srgbClr val="FF0000"/>
                </a:solidFill>
                <a:latin typeface="Century" panose="02040604050505020304" pitchFamily="18" charset="0"/>
                <a:ea typeface="宋体" panose="02010600030101010101" pitchFamily="2" charset="-122"/>
              </a:rPr>
              <a:t>    </a:t>
            </a:r>
            <a:endParaRPr lang="zh-CN" altLang="en-US" sz="2400" b="1" dirty="0">
              <a:solidFill>
                <a:srgbClr val="FF0000"/>
              </a:solidFill>
              <a:latin typeface="Century" panose="02040604050505020304" pitchFamily="18" charset="0"/>
              <a:ea typeface="宋体" panose="02010600030101010101" pitchFamily="2" charset="-122"/>
            </a:endParaRPr>
          </a:p>
          <a:p>
            <a:pPr marL="342900" indent="-342900"/>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1</a:t>
            </a:r>
            <a:r>
              <a:rPr lang="zh-CN" altLang="en-US" sz="2400" b="1" dirty="0">
                <a:solidFill>
                  <a:srgbClr val="008000"/>
                </a:solidFill>
                <a:latin typeface="楷体_GB2312"/>
                <a:ea typeface="楷体_GB2312"/>
              </a:rPr>
              <a:t>）定比传动机构</a:t>
            </a:r>
            <a:r>
              <a:rPr lang="zh-CN" altLang="en-US" sz="2400" b="1" dirty="0">
                <a:latin typeface="楷体_GB2312"/>
                <a:ea typeface="楷体_GB2312"/>
              </a:rPr>
              <a:t> 具有固定传动比或固定传动关系的传动机构。</a:t>
            </a:r>
            <a:endParaRPr lang="zh-CN" altLang="en-US" sz="2400" b="1" dirty="0">
              <a:latin typeface="楷体_GB2312"/>
              <a:ea typeface="楷体_GB2312"/>
            </a:endParaRPr>
          </a:p>
          <a:p>
            <a:pPr marL="342900" indent="-342900"/>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2</a:t>
            </a:r>
            <a:r>
              <a:rPr lang="zh-CN" altLang="en-US" sz="2400" b="1" dirty="0">
                <a:solidFill>
                  <a:srgbClr val="008000"/>
                </a:solidFill>
                <a:latin typeface="楷体_GB2312"/>
                <a:ea typeface="楷体_GB2312"/>
              </a:rPr>
              <a:t>）变速机构</a:t>
            </a:r>
            <a:r>
              <a:rPr lang="zh-CN" altLang="en-US" sz="2400" b="1" dirty="0">
                <a:latin typeface="楷体_GB2312"/>
                <a:ea typeface="楷体_GB2312"/>
              </a:rPr>
              <a:t> 改变机床部件运动速度的机构。</a:t>
            </a:r>
            <a:endParaRPr lang="zh-CN" altLang="en-US" sz="2400" b="1" dirty="0">
              <a:latin typeface="楷体_GB2312"/>
              <a:ea typeface="楷体_GB2312"/>
            </a:endParaRPr>
          </a:p>
          <a:p>
            <a:pPr marL="342900" indent="-342900"/>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3</a:t>
            </a:r>
            <a:r>
              <a:rPr lang="zh-CN" altLang="en-US" sz="2400" b="1" dirty="0">
                <a:solidFill>
                  <a:srgbClr val="008000"/>
                </a:solidFill>
                <a:latin typeface="楷体_GB2312"/>
                <a:ea typeface="楷体_GB2312"/>
              </a:rPr>
              <a:t>）换向机构</a:t>
            </a:r>
            <a:r>
              <a:rPr lang="zh-CN" altLang="en-US" sz="2400" b="1" dirty="0">
                <a:latin typeface="楷体_GB2312"/>
                <a:ea typeface="楷体_GB2312"/>
              </a:rPr>
              <a:t> 变换机床部件运动方向的机构。为了满足加工的不同需要，机床的主传动部件和进给传动部件往往需要正、反向的运动。</a:t>
            </a:r>
            <a:endParaRPr lang="zh-CN" altLang="en-US" sz="2400" b="1" dirty="0">
              <a:latin typeface="楷体_GB2312"/>
              <a:ea typeface="楷体_GB2312"/>
            </a:endParaRPr>
          </a:p>
          <a:p>
            <a:pPr marL="342900" indent="-342900"/>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4</a:t>
            </a:r>
            <a:r>
              <a:rPr lang="zh-CN" altLang="en-US" sz="2400" b="1" dirty="0">
                <a:solidFill>
                  <a:srgbClr val="008000"/>
                </a:solidFill>
                <a:latin typeface="楷体_GB2312"/>
                <a:ea typeface="楷体_GB2312"/>
              </a:rPr>
              <a:t>）操纵机构</a:t>
            </a:r>
            <a:r>
              <a:rPr lang="zh-CN" altLang="en-US" sz="2400" b="1" dirty="0">
                <a:latin typeface="楷体_GB2312"/>
                <a:ea typeface="楷体_GB2312"/>
              </a:rPr>
              <a:t> 用来实现机床运动部件变速、换向、启动、停止、制动及调整的机构。</a:t>
            </a:r>
            <a:endParaRPr lang="zh-CN" altLang="en-US" sz="2400" b="1" dirty="0">
              <a:latin typeface="楷体_GB2312"/>
              <a:ea typeface="楷体_GB2312"/>
            </a:endParaRPr>
          </a:p>
          <a:p>
            <a:pPr marL="342900" indent="-342900"/>
            <a:r>
              <a:rPr lang="zh-CN" altLang="en-US" sz="2400" b="1" dirty="0">
                <a:solidFill>
                  <a:srgbClr val="008000"/>
                </a:solidFill>
                <a:latin typeface="楷体_GB2312"/>
                <a:ea typeface="楷体_GB2312"/>
              </a:rPr>
              <a:t>（</a:t>
            </a:r>
            <a:r>
              <a:rPr lang="en-US" altLang="zh-CN" sz="2400" b="1" dirty="0">
                <a:solidFill>
                  <a:srgbClr val="008000"/>
                </a:solidFill>
                <a:latin typeface="楷体_GB2312"/>
                <a:ea typeface="楷体_GB2312"/>
              </a:rPr>
              <a:t>5</a:t>
            </a:r>
            <a:r>
              <a:rPr lang="zh-CN" altLang="en-US" sz="2400" b="1" dirty="0">
                <a:solidFill>
                  <a:srgbClr val="008000"/>
                </a:solidFill>
                <a:latin typeface="楷体_GB2312"/>
                <a:ea typeface="楷体_GB2312"/>
              </a:rPr>
              <a:t>）箱体及其他装置 </a:t>
            </a:r>
            <a:r>
              <a:rPr lang="zh-CN" altLang="en-US" sz="2400" b="1" dirty="0">
                <a:latin typeface="楷体_GB2312"/>
                <a:ea typeface="楷体_GB2312"/>
              </a:rPr>
              <a:t>箱体用以支承和连接各机构并保证它们相互位置的精度</a:t>
            </a:r>
            <a:r>
              <a:rPr lang="zh-CN" altLang="en-US" sz="2400" b="1" dirty="0">
                <a:latin typeface="Arial" panose="020B0604020202020204" pitchFamily="34" charset="0"/>
                <a:ea typeface="宋体" panose="02010600030101010101" pitchFamily="2" charset="-122"/>
              </a:rPr>
              <a:t>。</a:t>
            </a:r>
            <a:r>
              <a:rPr lang="zh-CN" altLang="en-US" sz="2400" b="1" dirty="0">
                <a:latin typeface="楷体_GB2312"/>
                <a:ea typeface="楷体_GB2312"/>
              </a:rPr>
              <a:t>为了保证传动机构的正常工作，还要设有开停装置、制动装置、润滑与密封装置等。</a:t>
            </a:r>
            <a:endParaRPr lang="zh-CN" altLang="en-US" sz="2400" b="1" dirty="0">
              <a:latin typeface="楷体_GB2312"/>
              <a:ea typeface="楷体_GB2312"/>
            </a:endParaRPr>
          </a:p>
          <a:p>
            <a:pPr marL="342900" indent="-342900"/>
            <a:r>
              <a:rPr lang="zh-CN" altLang="en-US" sz="2000" b="1" dirty="0">
                <a:latin typeface="Century" panose="02040604050505020304" pitchFamily="18" charset="0"/>
                <a:ea typeface="宋体" panose="02010600030101010101" pitchFamily="2" charset="-122"/>
              </a:rPr>
              <a:t>            </a:t>
            </a:r>
            <a:endParaRPr lang="zh-CN" altLang="en-US" sz="2000" b="1" dirty="0">
              <a:latin typeface="Century" panose="02040604050505020304" pitchFamily="18" charset="0"/>
              <a:ea typeface="宋体" panose="02010600030101010101" pitchFamily="2" charset="-122"/>
            </a:endParaRPr>
          </a:p>
        </p:txBody>
      </p:sp>
    </p:spTree>
  </p:cSld>
  <p:clrMapOvr>
    <a:masterClrMapping/>
  </p:clrMapOvr>
  <p:transition spd="slow">
    <p:randomBar dir="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3" name="Rectangle 2"/>
          <p:cNvSpPr>
            <a:spLocks noGrp="1"/>
          </p:cNvSpPr>
          <p:nvPr>
            <p:ph type="title"/>
          </p:nvPr>
        </p:nvSpPr>
        <p:spPr>
          <a:xfrm>
            <a:off x="2735263" y="90488"/>
            <a:ext cx="5581650" cy="1190625"/>
          </a:xfrm>
          <a:ln/>
        </p:spPr>
        <p:txBody>
          <a:bodyPr vert="horz" wrap="square" lIns="91440" tIns="45720" rIns="91440" bIns="45720" anchor="ctr" anchorCtr="0"/>
          <a:p>
            <a:pPr algn="ctr" eaLnBrk="1" hangingPunct="1"/>
            <a:r>
              <a:rPr lang="zh-CN" altLang="en-US" sz="4000" dirty="0">
                <a:ea typeface="楷体_GB2312"/>
              </a:rPr>
              <a:t>机械传动的优缺点</a:t>
            </a:r>
            <a:endParaRPr lang="zh-CN" altLang="en-US" sz="4000" dirty="0">
              <a:ea typeface="楷体_GB2312"/>
            </a:endParaRPr>
          </a:p>
        </p:txBody>
      </p:sp>
      <p:sp>
        <p:nvSpPr>
          <p:cNvPr id="202754" name="Rectangle 4"/>
          <p:cNvSpPr/>
          <p:nvPr/>
        </p:nvSpPr>
        <p:spPr>
          <a:xfrm>
            <a:off x="250825" y="1389063"/>
            <a:ext cx="8472488" cy="2984500"/>
          </a:xfrm>
          <a:prstGeom prst="rect">
            <a:avLst/>
          </a:prstGeom>
          <a:noFill/>
          <a:ln w="9525">
            <a:noFill/>
          </a:ln>
        </p:spPr>
        <p:txBody>
          <a:bodyPr wrap="square" anchor="t" anchorCtr="0">
            <a:spAutoFit/>
          </a:bodyPr>
          <a:p>
            <a:pPr marL="342900" indent="-342900">
              <a:buFont typeface="Wingdings" panose="05000000000000000000" pitchFamily="2" charset="2"/>
              <a:buChar char="Ø"/>
            </a:pPr>
            <a:r>
              <a:rPr lang="zh-CN" altLang="en-US" sz="2400" b="1" dirty="0">
                <a:solidFill>
                  <a:srgbClr val="FF0000"/>
                </a:solidFill>
                <a:latin typeface="楷体_GB2312"/>
                <a:ea typeface="楷体_GB2312"/>
              </a:rPr>
              <a:t>机械传动与液压传动、电气传动相比较，其主要优点如下：</a:t>
            </a:r>
            <a:endParaRPr lang="zh-CN" altLang="en-US" sz="2400" b="1" dirty="0">
              <a:solidFill>
                <a:srgbClr val="FF0000"/>
              </a:solidFill>
              <a:latin typeface="楷体_GB2312"/>
              <a:ea typeface="楷体_GB2312"/>
            </a:endParaRPr>
          </a:p>
          <a:p>
            <a:pPr marL="342900" indent="-342900"/>
            <a:endParaRPr lang="zh-CN" altLang="en-US" sz="2000" b="1" dirty="0">
              <a:latin typeface="楷体_GB2312"/>
              <a:ea typeface="楷体_GB2312"/>
            </a:endParaRPr>
          </a:p>
          <a:p>
            <a:pPr marL="342900" indent="-342900"/>
            <a:r>
              <a:rPr lang="zh-CN" altLang="en-US" sz="2000" b="1" dirty="0">
                <a:latin typeface="楷体_GB2312"/>
                <a:ea typeface="楷体_GB2312"/>
              </a:rPr>
              <a:t>    </a:t>
            </a:r>
            <a:r>
              <a:rPr lang="zh-CN" altLang="en-US" sz="2400" b="1" dirty="0">
                <a:latin typeface="楷体_GB2312"/>
                <a:ea typeface="楷体_GB2312"/>
              </a:rPr>
              <a:t>（</a:t>
            </a:r>
            <a:r>
              <a:rPr lang="en-US" altLang="zh-CN" sz="2400" b="1" dirty="0">
                <a:latin typeface="楷体_GB2312"/>
                <a:ea typeface="楷体_GB2312"/>
              </a:rPr>
              <a:t>1</a:t>
            </a:r>
            <a:r>
              <a:rPr lang="zh-CN" altLang="en-US" sz="2400" b="1" dirty="0">
                <a:latin typeface="楷体_GB2312"/>
                <a:ea typeface="楷体_GB2312"/>
              </a:rPr>
              <a:t>）传动比准确，适用于定比传动；</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en-US" altLang="zh-CN" sz="2400" b="1" dirty="0">
                <a:latin typeface="楷体_GB2312"/>
                <a:ea typeface="楷体_GB2312"/>
              </a:rPr>
              <a:t>2</a:t>
            </a:r>
            <a:r>
              <a:rPr lang="zh-CN" altLang="en-US" sz="2400" b="1" dirty="0">
                <a:latin typeface="楷体_GB2312"/>
                <a:ea typeface="楷体_GB2312"/>
              </a:rPr>
              <a:t>）实现回转运动的结构简单，并能传递较大的扭矩；</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en-US" altLang="zh-CN" sz="2400" b="1" dirty="0">
                <a:latin typeface="楷体_GB2312"/>
                <a:ea typeface="楷体_GB2312"/>
              </a:rPr>
              <a:t>3</a:t>
            </a:r>
            <a:r>
              <a:rPr lang="zh-CN" altLang="en-US" sz="2400" b="1" dirty="0">
                <a:latin typeface="楷体_GB2312"/>
                <a:ea typeface="楷体_GB2312"/>
              </a:rPr>
              <a:t>）故障容易发现，便于维修。</a:t>
            </a:r>
            <a:endParaRPr lang="zh-CN" altLang="en-US" sz="2400" b="1" dirty="0">
              <a:latin typeface="楷体_GB2312"/>
              <a:ea typeface="楷体_GB2312"/>
            </a:endParaRPr>
          </a:p>
          <a:p>
            <a:pPr marL="342900" indent="-342900"/>
            <a:r>
              <a:rPr lang="zh-CN" altLang="en-US" sz="2400" b="1" dirty="0">
                <a:latin typeface="楷体_GB2312"/>
                <a:ea typeface="楷体_GB2312"/>
              </a:rPr>
              <a:t>      但是，机械传动一般情况下不够平稳；制造精度不高时，振动和噪声较大；实现无级变速的机构较复杂，成本高。因此，机械传动主要用于</a:t>
            </a:r>
            <a:r>
              <a:rPr lang="zh-CN" altLang="en-US" sz="2400" b="1" dirty="0">
                <a:solidFill>
                  <a:srgbClr val="0033CC"/>
                </a:solidFill>
                <a:latin typeface="楷体_GB2312"/>
                <a:ea typeface="楷体_GB2312"/>
              </a:rPr>
              <a:t>速度不太高的有级变速传动</a:t>
            </a:r>
            <a:r>
              <a:rPr lang="zh-CN" altLang="en-US" sz="2400" b="1" dirty="0">
                <a:latin typeface="楷体_GB2312"/>
                <a:ea typeface="楷体_GB2312"/>
              </a:rPr>
              <a:t>。</a:t>
            </a:r>
            <a:endParaRPr lang="zh-CN" altLang="en-US" sz="2400" b="1" dirty="0">
              <a:latin typeface="楷体_GB2312"/>
              <a:ea typeface="楷体_GB2312"/>
            </a:endParaRPr>
          </a:p>
        </p:txBody>
      </p:sp>
    </p:spTree>
  </p:cSld>
  <p:clrMapOvr>
    <a:masterClrMapping/>
  </p:clrMapOvr>
  <p:transition spd="slow">
    <p:randomBar dir="ver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1" name="Rectangle 2"/>
          <p:cNvSpPr>
            <a:spLocks noGrp="1"/>
          </p:cNvSpPr>
          <p:nvPr>
            <p:ph type="title"/>
          </p:nvPr>
        </p:nvSpPr>
        <p:spPr>
          <a:xfrm>
            <a:off x="2590800" y="90488"/>
            <a:ext cx="5149850" cy="1190625"/>
          </a:xfrm>
          <a:ln/>
        </p:spPr>
        <p:txBody>
          <a:bodyPr vert="horz" wrap="square" lIns="91440" tIns="45720" rIns="91440" bIns="45720" anchor="ctr" anchorCtr="0"/>
          <a:p>
            <a:pPr algn="ctr" eaLnBrk="1" hangingPunct="1"/>
            <a:r>
              <a:rPr lang="zh-CN" altLang="en-US" sz="4000" dirty="0">
                <a:ea typeface="楷体_GB2312"/>
              </a:rPr>
              <a:t>机床的液压传动</a:t>
            </a:r>
            <a:endParaRPr lang="zh-CN" altLang="en-US" sz="4000" dirty="0">
              <a:ea typeface="楷体_GB2312"/>
            </a:endParaRPr>
          </a:p>
        </p:txBody>
      </p:sp>
      <p:sp>
        <p:nvSpPr>
          <p:cNvPr id="204802" name="Rectangle 3"/>
          <p:cNvSpPr/>
          <p:nvPr/>
        </p:nvSpPr>
        <p:spPr>
          <a:xfrm>
            <a:off x="107950" y="1389063"/>
            <a:ext cx="4033838" cy="4838700"/>
          </a:xfrm>
          <a:prstGeom prst="rect">
            <a:avLst/>
          </a:prstGeom>
          <a:noFill/>
          <a:ln w="9525">
            <a:noFill/>
          </a:ln>
        </p:spPr>
        <p:txBody>
          <a:bodyPr anchor="t" anchorCtr="0">
            <a:spAutoFit/>
          </a:bodyPr>
          <a:p>
            <a:pPr marL="342900" indent="-342900">
              <a:buFont typeface="Wingdings" panose="05000000000000000000" pitchFamily="2" charset="2"/>
              <a:buChar char="Ø"/>
            </a:pPr>
            <a:r>
              <a:rPr lang="zh-CN" altLang="en-US" sz="2400" b="1" dirty="0">
                <a:solidFill>
                  <a:srgbClr val="FF0000"/>
                </a:solidFill>
                <a:latin typeface="Century" panose="02040604050505020304" pitchFamily="18" charset="0"/>
                <a:ea typeface="楷体_GB2312"/>
              </a:rPr>
              <a:t>外圆磨床液压传动简介</a:t>
            </a:r>
            <a:endParaRPr lang="zh-CN" altLang="en-US" sz="2400" b="1" dirty="0">
              <a:solidFill>
                <a:srgbClr val="FF0000"/>
              </a:solidFill>
              <a:latin typeface="Century" panose="02040604050505020304" pitchFamily="18" charset="0"/>
              <a:ea typeface="楷体_GB2312"/>
            </a:endParaRPr>
          </a:p>
          <a:p>
            <a:pPr marL="342900" indent="-342900"/>
            <a:r>
              <a:rPr lang="zh-CN" altLang="en-US" b="1" dirty="0">
                <a:latin typeface="Century" panose="02040604050505020304" pitchFamily="18" charset="0"/>
                <a:ea typeface="宋体" panose="02010600030101010101" pitchFamily="2" charset="-122"/>
              </a:rPr>
              <a:t>            </a:t>
            </a:r>
            <a:r>
              <a:rPr lang="zh-CN" altLang="en-US" sz="2400" b="1" dirty="0">
                <a:latin typeface="楷体_GB2312"/>
                <a:ea typeface="楷体_GB2312"/>
              </a:rPr>
              <a:t>工作台的往复换向动作，由挡块</a:t>
            </a:r>
            <a:r>
              <a:rPr lang="en-US" altLang="zh-CN" sz="2400" b="1" dirty="0">
                <a:latin typeface="楷体_GB2312"/>
                <a:ea typeface="楷体_GB2312"/>
              </a:rPr>
              <a:t>5</a:t>
            </a:r>
            <a:r>
              <a:rPr lang="zh-CN" altLang="en-US" sz="2400" b="1" dirty="0">
                <a:latin typeface="楷体_GB2312"/>
                <a:ea typeface="楷体_GB2312"/>
              </a:rPr>
              <a:t>使换向阀</a:t>
            </a:r>
            <a:r>
              <a:rPr lang="en-US" altLang="zh-CN" sz="2400" b="1" dirty="0">
                <a:latin typeface="楷体_GB2312"/>
                <a:ea typeface="楷体_GB2312"/>
              </a:rPr>
              <a:t>6</a:t>
            </a:r>
            <a:r>
              <a:rPr lang="zh-CN" altLang="en-US" sz="2400" b="1" dirty="0">
                <a:latin typeface="楷体_GB2312"/>
                <a:ea typeface="楷体_GB2312"/>
              </a:rPr>
              <a:t>的活塞自动转换实现。按照要求的工作台行程长度，调整两挡块之间的距离。当工作台向左行程终了时，借助作用在杠杆</a:t>
            </a:r>
            <a:r>
              <a:rPr lang="en-US" altLang="zh-CN" sz="2400" b="1" dirty="0">
                <a:latin typeface="楷体_GB2312"/>
                <a:ea typeface="楷体_GB2312"/>
              </a:rPr>
              <a:t>8</a:t>
            </a:r>
            <a:r>
              <a:rPr lang="zh-CN" altLang="en-US" sz="2400" b="1" dirty="0">
                <a:latin typeface="楷体_GB2312"/>
                <a:ea typeface="楷体_GB2312"/>
              </a:rPr>
              <a:t>滚柱上的弹簧帽</a:t>
            </a:r>
            <a:r>
              <a:rPr lang="en-US" altLang="zh-CN" sz="2400" b="1" dirty="0">
                <a:latin typeface="楷体_GB2312"/>
                <a:ea typeface="楷体_GB2312"/>
              </a:rPr>
              <a:t>15</a:t>
            </a:r>
            <a:r>
              <a:rPr lang="zh-CN" altLang="en-US" sz="2400" b="1" dirty="0">
                <a:latin typeface="楷体_GB2312"/>
                <a:ea typeface="楷体_GB2312"/>
              </a:rPr>
              <a:t>使杠杆</a:t>
            </a:r>
            <a:r>
              <a:rPr lang="en-US" altLang="zh-CN" sz="2400" b="1" dirty="0">
                <a:latin typeface="楷体_GB2312"/>
                <a:ea typeface="楷体_GB2312"/>
              </a:rPr>
              <a:t>8</a:t>
            </a:r>
            <a:r>
              <a:rPr lang="zh-CN" altLang="en-US" sz="2400" b="1" dirty="0">
                <a:latin typeface="楷体_GB2312"/>
                <a:ea typeface="楷体_GB2312"/>
              </a:rPr>
              <a:t>及活塞向左移动，完成换向动作。此时，换向阀</a:t>
            </a:r>
            <a:r>
              <a:rPr lang="en-US" altLang="zh-CN" sz="2400" b="1" dirty="0">
                <a:latin typeface="楷体_GB2312"/>
                <a:ea typeface="楷体_GB2312"/>
              </a:rPr>
              <a:t>6</a:t>
            </a:r>
            <a:r>
              <a:rPr lang="zh-CN" altLang="en-US" sz="2400" b="1" dirty="0">
                <a:latin typeface="楷体_GB2312"/>
                <a:ea typeface="楷体_GB2312"/>
              </a:rPr>
              <a:t>的活塞位置如图</a:t>
            </a:r>
            <a:r>
              <a:rPr lang="en-US" altLang="zh-CN" sz="2400" b="1" dirty="0">
                <a:latin typeface="楷体_GB2312"/>
                <a:ea typeface="楷体_GB2312"/>
              </a:rPr>
              <a:t>15</a:t>
            </a:r>
            <a:r>
              <a:rPr lang="zh-CN" altLang="en-US" sz="2400" b="1" dirty="0">
                <a:latin typeface="楷体_GB2312"/>
                <a:ea typeface="楷体_GB2312"/>
              </a:rPr>
              <a:t>所示，工作台开始向右移动。</a:t>
            </a:r>
            <a:endParaRPr lang="zh-CN" altLang="en-US" sz="2400" b="1" dirty="0">
              <a:latin typeface="楷体_GB2312"/>
              <a:ea typeface="楷体_GB2312"/>
            </a:endParaRPr>
          </a:p>
        </p:txBody>
      </p:sp>
      <p:pic>
        <p:nvPicPr>
          <p:cNvPr id="204803" name="Picture 6"/>
          <p:cNvPicPr>
            <a:picLocks noChangeAspect="1"/>
          </p:cNvPicPr>
          <p:nvPr/>
        </p:nvPicPr>
        <p:blipFill>
          <a:blip r:embed="rId1"/>
          <a:stretch>
            <a:fillRect/>
          </a:stretch>
        </p:blipFill>
        <p:spPr>
          <a:xfrm>
            <a:off x="4191000" y="1981200"/>
            <a:ext cx="4724400" cy="3935413"/>
          </a:xfrm>
          <a:prstGeom prst="rect">
            <a:avLst/>
          </a:prstGeom>
          <a:noFill/>
          <a:ln w="9525">
            <a:noFill/>
          </a:ln>
        </p:spPr>
      </p:pic>
    </p:spTree>
  </p:cSld>
  <p:clrMapOvr>
    <a:masterClrMapping/>
  </p:clrMapOvr>
  <p:transition spd="slow">
    <p:randomBar dir="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49" name="Rectangle 2"/>
          <p:cNvSpPr>
            <a:spLocks noGrp="1"/>
          </p:cNvSpPr>
          <p:nvPr>
            <p:ph type="title"/>
          </p:nvPr>
        </p:nvSpPr>
        <p:spPr>
          <a:xfrm>
            <a:off x="2590800" y="90488"/>
            <a:ext cx="5581650" cy="1190625"/>
          </a:xfrm>
          <a:ln/>
        </p:spPr>
        <p:txBody>
          <a:bodyPr vert="horz" wrap="square" lIns="91440" tIns="45720" rIns="91440" bIns="45720" anchor="ctr" anchorCtr="0"/>
          <a:p>
            <a:pPr algn="ctr" eaLnBrk="1" hangingPunct="1"/>
            <a:r>
              <a:rPr lang="zh-CN" altLang="en-US" sz="4000" dirty="0">
                <a:ea typeface="楷体_GB2312"/>
              </a:rPr>
              <a:t>机床的液压传动</a:t>
            </a:r>
            <a:endParaRPr lang="zh-CN" altLang="en-US" sz="4000" dirty="0">
              <a:ea typeface="楷体_GB2312"/>
            </a:endParaRPr>
          </a:p>
        </p:txBody>
      </p:sp>
      <p:sp>
        <p:nvSpPr>
          <p:cNvPr id="206850" name="Rectangle 3"/>
          <p:cNvSpPr/>
          <p:nvPr/>
        </p:nvSpPr>
        <p:spPr>
          <a:xfrm>
            <a:off x="250825" y="1389063"/>
            <a:ext cx="8893175" cy="3743325"/>
          </a:xfrm>
          <a:prstGeom prst="rect">
            <a:avLst/>
          </a:prstGeom>
          <a:noFill/>
          <a:ln w="9525">
            <a:noFill/>
          </a:ln>
        </p:spPr>
        <p:txBody>
          <a:bodyPr anchor="t" anchorCtr="0">
            <a:spAutoFit/>
          </a:bodyPr>
          <a:p>
            <a:pPr marL="342900" indent="-342900"/>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．机床液压传动的组成</a:t>
            </a:r>
            <a:r>
              <a:rPr lang="zh-CN" altLang="en-US" sz="2400" b="1" dirty="0">
                <a:latin typeface="楷体_GB2312"/>
                <a:ea typeface="楷体_GB2312"/>
              </a:rPr>
              <a:t> 机床液压传动主要由以下几部分组成：</a:t>
            </a:r>
            <a:endParaRPr lang="zh-CN" altLang="en-US" sz="2400" b="1" dirty="0">
              <a:latin typeface="楷体_GB2312"/>
              <a:ea typeface="楷体_GB2312"/>
            </a:endParaRPr>
          </a:p>
          <a:p>
            <a:pPr marL="342900" indent="-342900"/>
            <a:r>
              <a:rPr lang="zh-CN" altLang="en-US" sz="2400" b="1" dirty="0">
                <a:solidFill>
                  <a:srgbClr val="000099"/>
                </a:solidFill>
                <a:latin typeface="楷体_GB2312"/>
                <a:ea typeface="楷体_GB2312"/>
              </a:rPr>
              <a:t> （</a:t>
            </a:r>
            <a:r>
              <a:rPr lang="en-US" altLang="zh-CN" sz="2400" b="1" dirty="0">
                <a:solidFill>
                  <a:srgbClr val="000099"/>
                </a:solidFill>
                <a:latin typeface="楷体_GB2312"/>
                <a:ea typeface="楷体_GB2312"/>
              </a:rPr>
              <a:t>1</a:t>
            </a:r>
            <a:r>
              <a:rPr lang="zh-CN" altLang="en-US" sz="2400" b="1" dirty="0">
                <a:solidFill>
                  <a:srgbClr val="000099"/>
                </a:solidFill>
                <a:latin typeface="楷体_GB2312"/>
                <a:ea typeface="楷体_GB2312"/>
              </a:rPr>
              <a:t>）动力元件</a:t>
            </a:r>
            <a:r>
              <a:rPr lang="en-US" altLang="zh-CN" sz="2400" b="1" dirty="0">
                <a:solidFill>
                  <a:srgbClr val="000099"/>
                </a:solidFill>
                <a:latin typeface="Century" panose="02040604050505020304" pitchFamily="18" charset="0"/>
                <a:ea typeface="楷体_GB2312"/>
              </a:rPr>
              <a:t>——</a:t>
            </a:r>
            <a:r>
              <a:rPr lang="zh-CN" altLang="en-US" sz="2400" b="1" dirty="0">
                <a:latin typeface="楷体_GB2312"/>
                <a:ea typeface="楷体_GB2312"/>
              </a:rPr>
              <a:t>油泵。其作用是将电动机输入的机械能转换为液体的压力能，是能量转换装置。</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zh-CN" altLang="en-US" sz="2400" b="1" dirty="0">
                <a:solidFill>
                  <a:srgbClr val="000099"/>
                </a:solidFill>
                <a:latin typeface="楷体_GB2312"/>
                <a:ea typeface="楷体_GB2312"/>
              </a:rPr>
              <a:t>（</a:t>
            </a:r>
            <a:r>
              <a:rPr lang="en-US" altLang="zh-CN" sz="2400" b="1" dirty="0">
                <a:solidFill>
                  <a:srgbClr val="000099"/>
                </a:solidFill>
                <a:latin typeface="楷体_GB2312"/>
                <a:ea typeface="楷体_GB2312"/>
              </a:rPr>
              <a:t>2</a:t>
            </a:r>
            <a:r>
              <a:rPr lang="zh-CN" altLang="en-US" sz="2400" b="1" dirty="0">
                <a:solidFill>
                  <a:srgbClr val="000099"/>
                </a:solidFill>
                <a:latin typeface="楷体_GB2312"/>
                <a:ea typeface="楷体_GB2312"/>
              </a:rPr>
              <a:t>）执行机构</a:t>
            </a:r>
            <a:r>
              <a:rPr lang="en-US" altLang="zh-CN" sz="2400" b="1" dirty="0">
                <a:solidFill>
                  <a:srgbClr val="000099"/>
                </a:solidFill>
                <a:latin typeface="Century" panose="02040604050505020304" pitchFamily="18" charset="0"/>
                <a:ea typeface="楷体_GB2312"/>
              </a:rPr>
              <a:t>——</a:t>
            </a:r>
            <a:r>
              <a:rPr lang="zh-CN" altLang="en-US" sz="2400" b="1" dirty="0">
                <a:latin typeface="楷体_GB2312"/>
                <a:ea typeface="楷体_GB2312"/>
              </a:rPr>
              <a:t>油缸或油马达。其作用是把油泵输入的液体压力能转变为工作部件的机械能，它也是一种能量转换装置。</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zh-CN" altLang="en-US" sz="2400" b="1" dirty="0">
                <a:solidFill>
                  <a:srgbClr val="000099"/>
                </a:solidFill>
                <a:latin typeface="楷体_GB2312"/>
                <a:ea typeface="楷体_GB2312"/>
              </a:rPr>
              <a:t>（</a:t>
            </a:r>
            <a:r>
              <a:rPr lang="en-US" altLang="zh-CN" sz="2400" b="1" dirty="0">
                <a:solidFill>
                  <a:srgbClr val="000099"/>
                </a:solidFill>
                <a:latin typeface="楷体_GB2312"/>
                <a:ea typeface="楷体_GB2312"/>
              </a:rPr>
              <a:t>3</a:t>
            </a:r>
            <a:r>
              <a:rPr lang="zh-CN" altLang="en-US" sz="2400" b="1" dirty="0">
                <a:solidFill>
                  <a:srgbClr val="000099"/>
                </a:solidFill>
                <a:latin typeface="楷体_GB2312"/>
                <a:ea typeface="楷体_GB2312"/>
              </a:rPr>
              <a:t>）控制元件</a:t>
            </a:r>
            <a:r>
              <a:rPr lang="en-US" altLang="zh-CN" sz="2400" b="1" dirty="0">
                <a:solidFill>
                  <a:srgbClr val="000099"/>
                </a:solidFill>
                <a:latin typeface="Century" panose="02040604050505020304" pitchFamily="18" charset="0"/>
                <a:ea typeface="楷体_GB2312"/>
              </a:rPr>
              <a:t>——</a:t>
            </a:r>
            <a:r>
              <a:rPr lang="zh-CN" altLang="en-US" sz="2400" b="1" dirty="0">
                <a:latin typeface="楷体_GB2312"/>
                <a:ea typeface="楷体_GB2312"/>
              </a:rPr>
              <a:t>各种阀。其作用是控制和调节油液的压力、流量（速度）及流动方向。</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zh-CN" altLang="en-US" sz="2400" b="1" dirty="0">
                <a:solidFill>
                  <a:srgbClr val="000099"/>
                </a:solidFill>
                <a:latin typeface="楷体_GB2312"/>
                <a:ea typeface="楷体_GB2312"/>
              </a:rPr>
              <a:t>（</a:t>
            </a:r>
            <a:r>
              <a:rPr lang="en-US" altLang="zh-CN" sz="2400" b="1" dirty="0">
                <a:solidFill>
                  <a:srgbClr val="000099"/>
                </a:solidFill>
                <a:latin typeface="楷体_GB2312"/>
                <a:ea typeface="楷体_GB2312"/>
              </a:rPr>
              <a:t>4</a:t>
            </a:r>
            <a:r>
              <a:rPr lang="zh-CN" altLang="en-US" sz="2400" b="1" dirty="0">
                <a:solidFill>
                  <a:srgbClr val="000099"/>
                </a:solidFill>
                <a:latin typeface="楷体_GB2312"/>
                <a:ea typeface="楷体_GB2312"/>
              </a:rPr>
              <a:t>）辅助装置</a:t>
            </a:r>
            <a:r>
              <a:rPr lang="en-US" altLang="zh-CN" sz="2400" b="1" dirty="0">
                <a:solidFill>
                  <a:srgbClr val="000099"/>
                </a:solidFill>
                <a:latin typeface="Century" panose="02040604050505020304" pitchFamily="18" charset="0"/>
                <a:ea typeface="楷体_GB2312"/>
              </a:rPr>
              <a:t>——</a:t>
            </a:r>
            <a:r>
              <a:rPr lang="zh-CN" altLang="en-US" sz="2400" b="1" dirty="0">
                <a:latin typeface="楷体_GB2312"/>
                <a:ea typeface="楷体_GB2312"/>
              </a:rPr>
              <a:t>油箱、油管、滤油器、压力表等。其作用是创造必要的条件，以保证液压系统正常工作。</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zh-CN" altLang="en-US" sz="2400" b="1" dirty="0">
                <a:solidFill>
                  <a:srgbClr val="000099"/>
                </a:solidFill>
                <a:latin typeface="楷体_GB2312"/>
                <a:ea typeface="楷体_GB2312"/>
              </a:rPr>
              <a:t>（</a:t>
            </a:r>
            <a:r>
              <a:rPr lang="en-US" altLang="zh-CN" sz="2400" b="1" dirty="0">
                <a:solidFill>
                  <a:srgbClr val="000099"/>
                </a:solidFill>
                <a:latin typeface="楷体_GB2312"/>
                <a:ea typeface="楷体_GB2312"/>
              </a:rPr>
              <a:t>5</a:t>
            </a:r>
            <a:r>
              <a:rPr lang="zh-CN" altLang="en-US" sz="2400" b="1" dirty="0">
                <a:solidFill>
                  <a:srgbClr val="000099"/>
                </a:solidFill>
                <a:latin typeface="楷体_GB2312"/>
                <a:ea typeface="楷体_GB2312"/>
              </a:rPr>
              <a:t>）工作介质</a:t>
            </a:r>
            <a:r>
              <a:rPr lang="en-US" altLang="zh-CN" sz="2400" b="1" dirty="0">
                <a:solidFill>
                  <a:srgbClr val="000099"/>
                </a:solidFill>
                <a:latin typeface="Century" panose="02040604050505020304" pitchFamily="18" charset="0"/>
                <a:ea typeface="楷体_GB2312"/>
              </a:rPr>
              <a:t>——</a:t>
            </a:r>
            <a:r>
              <a:rPr lang="zh-CN" altLang="en-US" sz="2400" b="1" dirty="0">
                <a:latin typeface="楷体_GB2312"/>
                <a:ea typeface="楷体_GB2312"/>
              </a:rPr>
              <a:t>矿物油。它是传递能量的介质。</a:t>
            </a:r>
            <a:endParaRPr lang="zh-CN" altLang="en-US" sz="2400" b="1" dirty="0">
              <a:latin typeface="楷体_GB2312"/>
              <a:ea typeface="楷体_GB2312"/>
            </a:endParaRPr>
          </a:p>
        </p:txBody>
      </p:sp>
    </p:spTree>
  </p:cSld>
  <p:clrMapOvr>
    <a:masterClrMapping/>
  </p:clrMapOvr>
  <p:transition spd="slow">
    <p:randomBar dir="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7" name="Rectangle 2"/>
          <p:cNvSpPr>
            <a:spLocks noGrp="1"/>
          </p:cNvSpPr>
          <p:nvPr>
            <p:ph type="title"/>
          </p:nvPr>
        </p:nvSpPr>
        <p:spPr>
          <a:xfrm>
            <a:off x="2951163" y="90488"/>
            <a:ext cx="4860925" cy="1190625"/>
          </a:xfrm>
          <a:ln/>
        </p:spPr>
        <p:txBody>
          <a:bodyPr vert="horz" wrap="square" lIns="91440" tIns="45720" rIns="91440" bIns="45720" anchor="ctr" anchorCtr="0"/>
          <a:p>
            <a:pPr algn="ctr" eaLnBrk="1" hangingPunct="1"/>
            <a:r>
              <a:rPr lang="zh-CN" altLang="en-US" sz="4000" dirty="0">
                <a:ea typeface="楷体_GB2312"/>
              </a:rPr>
              <a:t>机床的液压传动</a:t>
            </a:r>
            <a:endParaRPr lang="zh-CN" altLang="en-US" sz="4000" dirty="0">
              <a:ea typeface="楷体_GB2312"/>
            </a:endParaRPr>
          </a:p>
        </p:txBody>
      </p:sp>
      <p:sp>
        <p:nvSpPr>
          <p:cNvPr id="208898" name="Rectangle 3"/>
          <p:cNvSpPr/>
          <p:nvPr/>
        </p:nvSpPr>
        <p:spPr>
          <a:xfrm>
            <a:off x="250825" y="1389063"/>
            <a:ext cx="8281988" cy="3013075"/>
          </a:xfrm>
          <a:prstGeom prst="rect">
            <a:avLst/>
          </a:prstGeom>
          <a:noFill/>
          <a:ln w="9525">
            <a:noFill/>
          </a:ln>
        </p:spPr>
        <p:txBody>
          <a:bodyPr anchor="t" anchorCtr="0">
            <a:spAutoFit/>
          </a:bodyPr>
          <a:p>
            <a:pPr marL="342900" indent="-342900"/>
            <a:r>
              <a:rPr lang="en-US" altLang="zh-CN" b="1" dirty="0">
                <a:latin typeface="Century" panose="02040604050505020304" pitchFamily="18" charset="0"/>
                <a:ea typeface="宋体" panose="02010600030101010101" pitchFamily="2" charset="-122"/>
              </a:rPr>
              <a:t> </a:t>
            </a:r>
            <a:r>
              <a:rPr lang="en-US" altLang="zh-CN" sz="2400" b="1" dirty="0">
                <a:solidFill>
                  <a:srgbClr val="FF3300"/>
                </a:solidFill>
                <a:latin typeface="楷体_GB2312"/>
                <a:ea typeface="楷体_GB2312"/>
              </a:rPr>
              <a:t>3</a:t>
            </a:r>
            <a:r>
              <a:rPr lang="zh-CN" altLang="en-US" sz="2400" b="1" dirty="0">
                <a:solidFill>
                  <a:srgbClr val="FF3300"/>
                </a:solidFill>
                <a:latin typeface="楷体_GB2312"/>
                <a:ea typeface="楷体_GB2312"/>
              </a:rPr>
              <a:t>．液压传动的忧缺点</a:t>
            </a:r>
            <a:r>
              <a:rPr lang="zh-CN" altLang="en-US" sz="2400" b="1" dirty="0">
                <a:latin typeface="楷体_GB2312"/>
                <a:ea typeface="楷体_GB2312"/>
              </a:rPr>
              <a:t> 液压传动与机械传动、电气传动相比较，其主要优点如下</a:t>
            </a:r>
            <a:r>
              <a:rPr lang="en-US" altLang="zh-CN" sz="2400" b="1" dirty="0">
                <a:latin typeface="楷体_GB2312"/>
                <a:ea typeface="楷体_GB2312"/>
              </a:rPr>
              <a:t>:</a:t>
            </a:r>
            <a:endParaRPr lang="en-US" altLang="zh-CN" sz="2400" b="1" dirty="0">
              <a:latin typeface="楷体_GB2312"/>
              <a:ea typeface="楷体_GB2312"/>
            </a:endParaRPr>
          </a:p>
          <a:p>
            <a:pPr marL="342900" indent="-342900"/>
            <a:r>
              <a:rPr lang="en-US" altLang="zh-CN" sz="2400" b="1" dirty="0">
                <a:latin typeface="楷体_GB2312"/>
                <a:ea typeface="楷体_GB2312"/>
              </a:rPr>
              <a:t> </a:t>
            </a:r>
            <a:r>
              <a:rPr lang="zh-CN" altLang="en-US" sz="2400" b="1" dirty="0">
                <a:latin typeface="楷体_GB2312"/>
                <a:ea typeface="楷体_GB2312"/>
              </a:rPr>
              <a:t>（</a:t>
            </a:r>
            <a:r>
              <a:rPr lang="en-US" altLang="zh-CN" sz="2400" b="1" dirty="0">
                <a:latin typeface="楷体_GB2312"/>
                <a:ea typeface="楷体_GB2312"/>
              </a:rPr>
              <a:t>1</a:t>
            </a:r>
            <a:r>
              <a:rPr lang="zh-CN" altLang="en-US" sz="2400" b="1" dirty="0">
                <a:latin typeface="楷体_GB2312"/>
                <a:ea typeface="楷体_GB2312"/>
              </a:rPr>
              <a:t>）易于在较大范围内实现</a:t>
            </a:r>
            <a:r>
              <a:rPr lang="zh-CN" altLang="en-US" sz="2400" b="1" dirty="0">
                <a:solidFill>
                  <a:srgbClr val="000099"/>
                </a:solidFill>
                <a:latin typeface="楷体_GB2312"/>
                <a:ea typeface="楷体_GB2312"/>
              </a:rPr>
              <a:t>无级变速；</a:t>
            </a:r>
            <a:endParaRPr lang="zh-CN" altLang="en-US" sz="2400" b="1" dirty="0">
              <a:solidFill>
                <a:srgbClr val="000099"/>
              </a:solidFill>
              <a:latin typeface="楷体_GB2312"/>
              <a:ea typeface="楷体_GB2312"/>
            </a:endParaRPr>
          </a:p>
          <a:p>
            <a:pPr marL="342900" indent="-342900"/>
            <a:r>
              <a:rPr lang="zh-CN" altLang="en-US" sz="2400" b="1" dirty="0">
                <a:latin typeface="楷体_GB2312"/>
                <a:ea typeface="楷体_GB2312"/>
              </a:rPr>
              <a:t> （</a:t>
            </a:r>
            <a:r>
              <a:rPr lang="en-US" altLang="zh-CN" sz="2400" b="1" dirty="0">
                <a:latin typeface="楷体_GB2312"/>
                <a:ea typeface="楷体_GB2312"/>
              </a:rPr>
              <a:t>2</a:t>
            </a:r>
            <a:r>
              <a:rPr lang="zh-CN" altLang="en-US" sz="2400" b="1" dirty="0">
                <a:latin typeface="楷体_GB2312"/>
                <a:ea typeface="楷体_GB2312"/>
              </a:rPr>
              <a:t>）</a:t>
            </a:r>
            <a:r>
              <a:rPr lang="zh-CN" altLang="en-US" sz="2400" b="1" dirty="0">
                <a:solidFill>
                  <a:srgbClr val="000099"/>
                </a:solidFill>
                <a:latin typeface="楷体_GB2312"/>
                <a:ea typeface="楷体_GB2312"/>
              </a:rPr>
              <a:t>传动平稳，</a:t>
            </a:r>
            <a:r>
              <a:rPr lang="zh-CN" altLang="en-US" sz="2400" b="1" dirty="0">
                <a:latin typeface="楷体_GB2312"/>
                <a:ea typeface="楷体_GB2312"/>
              </a:rPr>
              <a:t>便于实现频繁的换向和自动防止过载；</a:t>
            </a:r>
            <a:endParaRPr lang="zh-CN" altLang="en-US" sz="2400" b="1" dirty="0">
              <a:latin typeface="楷体_GB2312"/>
              <a:ea typeface="楷体_GB2312"/>
            </a:endParaRPr>
          </a:p>
          <a:p>
            <a:pPr marL="342900" indent="-342900"/>
            <a:r>
              <a:rPr lang="zh-CN" altLang="en-US" sz="2400" b="1" dirty="0">
                <a:latin typeface="楷体_GB2312"/>
                <a:ea typeface="楷体_GB2312"/>
              </a:rPr>
              <a:t> （</a:t>
            </a:r>
            <a:r>
              <a:rPr lang="en-US" altLang="zh-CN" sz="2400" b="1" dirty="0">
                <a:latin typeface="楷体_GB2312"/>
                <a:ea typeface="楷体_GB2312"/>
              </a:rPr>
              <a:t>3</a:t>
            </a:r>
            <a:r>
              <a:rPr lang="zh-CN" altLang="en-US" sz="2400" b="1" dirty="0">
                <a:latin typeface="楷体_GB2312"/>
                <a:ea typeface="楷体_GB2312"/>
              </a:rPr>
              <a:t>）</a:t>
            </a:r>
            <a:r>
              <a:rPr lang="zh-CN" altLang="en-US" sz="2400" b="1" dirty="0">
                <a:solidFill>
                  <a:srgbClr val="000000"/>
                </a:solidFill>
                <a:latin typeface="楷体_GB2312"/>
                <a:ea typeface="楷体_GB2312"/>
              </a:rPr>
              <a:t>便于</a:t>
            </a:r>
            <a:r>
              <a:rPr lang="zh-CN" altLang="en-US" sz="2400" b="1" dirty="0">
                <a:latin typeface="楷体_GB2312"/>
                <a:ea typeface="楷体_GB2312"/>
              </a:rPr>
              <a:t>采用电液联合控制，</a:t>
            </a:r>
            <a:r>
              <a:rPr lang="zh-CN" altLang="en-US" sz="2400" b="1" dirty="0">
                <a:solidFill>
                  <a:srgbClr val="000099"/>
                </a:solidFill>
                <a:latin typeface="楷体_GB2312"/>
                <a:ea typeface="楷体_GB2312"/>
              </a:rPr>
              <a:t>实现自动化；</a:t>
            </a:r>
            <a:endParaRPr lang="zh-CN" altLang="en-US" sz="2400" b="1" dirty="0">
              <a:solidFill>
                <a:srgbClr val="000099"/>
              </a:solidFill>
              <a:latin typeface="楷体_GB2312"/>
              <a:ea typeface="楷体_GB2312"/>
            </a:endParaRPr>
          </a:p>
          <a:p>
            <a:pPr marL="342900" indent="-342900"/>
            <a:r>
              <a:rPr lang="zh-CN" altLang="en-US" sz="2400" b="1" dirty="0">
                <a:latin typeface="楷体_GB2312"/>
                <a:ea typeface="楷体_GB2312"/>
              </a:rPr>
              <a:t> （</a:t>
            </a:r>
            <a:r>
              <a:rPr lang="en-US" altLang="zh-CN" sz="2400" b="1" dirty="0">
                <a:latin typeface="楷体_GB2312"/>
                <a:ea typeface="楷体_GB2312"/>
              </a:rPr>
              <a:t>4</a:t>
            </a:r>
            <a:r>
              <a:rPr lang="zh-CN" altLang="en-US" sz="2400" b="1" dirty="0">
                <a:latin typeface="楷体_GB2312"/>
                <a:ea typeface="楷体_GB2312"/>
              </a:rPr>
              <a:t>）机件在油中工作，</a:t>
            </a:r>
            <a:r>
              <a:rPr lang="zh-CN" altLang="en-US" sz="2400" b="1" dirty="0">
                <a:solidFill>
                  <a:srgbClr val="000099"/>
                </a:solidFill>
                <a:latin typeface="楷体_GB2312"/>
                <a:ea typeface="楷体_GB2312"/>
              </a:rPr>
              <a:t>润滑好，寿命长。</a:t>
            </a:r>
            <a:endParaRPr lang="zh-CN" altLang="en-US" sz="2400" b="1" dirty="0">
              <a:solidFill>
                <a:srgbClr val="000099"/>
              </a:solidFill>
              <a:latin typeface="楷体_GB2312"/>
              <a:ea typeface="楷体_GB2312"/>
            </a:endParaRPr>
          </a:p>
          <a:p>
            <a:pPr marL="342900" indent="-342900"/>
            <a:r>
              <a:rPr lang="zh-CN" altLang="en-US" sz="2400" b="1" dirty="0">
                <a:latin typeface="楷体_GB2312"/>
                <a:ea typeface="楷体_GB2312"/>
              </a:rPr>
              <a:t>      油有一定的可压缩性，并有泄漏现象，所以液压传动不适于作定比传动。</a:t>
            </a:r>
            <a:endParaRPr lang="zh-CN" altLang="en-US" sz="2400" b="1" dirty="0">
              <a:latin typeface="楷体_GB2312"/>
              <a:ea typeface="楷体_GB2312"/>
            </a:endParaRPr>
          </a:p>
        </p:txBody>
      </p:sp>
    </p:spTree>
  </p:cSld>
  <p:clrMapOvr>
    <a:masterClrMapping/>
  </p:clrMapOvr>
  <p:transition spd="slow">
    <p:randomBar dir="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5" name="Rectangle 2"/>
          <p:cNvSpPr>
            <a:spLocks noGrp="1"/>
          </p:cNvSpPr>
          <p:nvPr>
            <p:ph type="title"/>
          </p:nvPr>
        </p:nvSpPr>
        <p:spPr>
          <a:xfrm>
            <a:off x="2590800" y="90488"/>
            <a:ext cx="5942013" cy="1190625"/>
          </a:xfrm>
          <a:ln/>
        </p:spPr>
        <p:txBody>
          <a:bodyPr vert="horz" wrap="square" lIns="91440" tIns="45720" rIns="91440" bIns="45720" anchor="ctr" anchorCtr="0"/>
          <a:p>
            <a:pPr eaLnBrk="1" hangingPunct="1"/>
            <a:r>
              <a:rPr lang="zh-CN" altLang="en-US" sz="4000" dirty="0">
                <a:ea typeface="楷体_GB2312"/>
              </a:rPr>
              <a:t>自动机床与数控机床简介</a:t>
            </a:r>
            <a:endParaRPr lang="zh-CN" altLang="en-US" sz="4000" dirty="0">
              <a:ea typeface="楷体_GB2312"/>
            </a:endParaRPr>
          </a:p>
        </p:txBody>
      </p:sp>
      <p:sp>
        <p:nvSpPr>
          <p:cNvPr id="210946" name="Rectangle 3"/>
          <p:cNvSpPr>
            <a:spLocks noGrp="1"/>
          </p:cNvSpPr>
          <p:nvPr>
            <p:ph idx="1"/>
          </p:nvPr>
        </p:nvSpPr>
        <p:spPr>
          <a:ln/>
        </p:spPr>
        <p:txBody>
          <a:bodyPr vert="horz" wrap="square" lIns="91440" tIns="45720" rIns="91440" bIns="45720" anchor="t" anchorCtr="0"/>
          <a:p>
            <a:pPr eaLnBrk="1" hangingPunct="1"/>
            <a:r>
              <a:rPr lang="zh-CN" altLang="en-US" b="1" dirty="0">
                <a:solidFill>
                  <a:srgbClr val="FF3300"/>
                </a:solidFill>
                <a:latin typeface="楷体_GB2312"/>
                <a:ea typeface="楷体_GB2312"/>
              </a:rPr>
              <a:t>自动和半自动机床</a:t>
            </a:r>
            <a:r>
              <a:rPr lang="zh-CN" altLang="en-US" b="1" dirty="0">
                <a:solidFill>
                  <a:srgbClr val="000000"/>
                </a:solidFill>
                <a:latin typeface="楷体_GB2312"/>
                <a:ea typeface="楷体_GB2312"/>
              </a:rPr>
              <a:t>    </a:t>
            </a:r>
            <a:endParaRPr lang="zh-CN" altLang="en-US" b="1" dirty="0">
              <a:solidFill>
                <a:srgbClr val="000000"/>
              </a:solidFill>
              <a:latin typeface="楷体_GB2312"/>
              <a:ea typeface="楷体_GB2312"/>
            </a:endParaRPr>
          </a:p>
          <a:p>
            <a:pPr lvl="1" eaLnBrk="1" hangingPunct="1"/>
            <a:r>
              <a:rPr lang="zh-CN" altLang="en-US" b="1" dirty="0">
                <a:solidFill>
                  <a:srgbClr val="000000"/>
                </a:solidFill>
                <a:latin typeface="楷体_GB2312"/>
                <a:ea typeface="楷体_GB2312"/>
              </a:rPr>
              <a:t>经调整后，</a:t>
            </a:r>
            <a:r>
              <a:rPr lang="zh-CN" altLang="en-US" b="1" dirty="0">
                <a:solidFill>
                  <a:srgbClr val="0033CC"/>
                </a:solidFill>
                <a:latin typeface="楷体_GB2312"/>
                <a:ea typeface="楷体_GB2312"/>
              </a:rPr>
              <a:t>不需人工操作</a:t>
            </a:r>
            <a:r>
              <a:rPr lang="zh-CN" altLang="en-US" b="1" dirty="0">
                <a:solidFill>
                  <a:srgbClr val="000000"/>
                </a:solidFill>
                <a:latin typeface="楷体_GB2312"/>
                <a:ea typeface="楷体_GB2312"/>
              </a:rPr>
              <a:t>便能完成自动循环的机床，称自动机床。</a:t>
            </a:r>
            <a:endParaRPr lang="zh-CN" altLang="en-US" b="1" dirty="0">
              <a:solidFill>
                <a:srgbClr val="000000"/>
              </a:solidFill>
              <a:latin typeface="楷体_GB2312"/>
              <a:ea typeface="楷体_GB2312"/>
            </a:endParaRPr>
          </a:p>
          <a:p>
            <a:pPr lvl="1" eaLnBrk="1" hangingPunct="1"/>
            <a:r>
              <a:rPr lang="zh-CN" altLang="en-US" b="1" dirty="0">
                <a:solidFill>
                  <a:srgbClr val="0033CC"/>
                </a:solidFill>
                <a:latin typeface="楷体_GB2312"/>
                <a:ea typeface="楷体_GB2312"/>
              </a:rPr>
              <a:t>除装卸工件由人工操作外，</a:t>
            </a:r>
            <a:r>
              <a:rPr lang="zh-CN" altLang="en-US" b="1" dirty="0">
                <a:solidFill>
                  <a:srgbClr val="000000"/>
                </a:solidFill>
                <a:latin typeface="楷体_GB2312"/>
                <a:ea typeface="楷体_GB2312"/>
              </a:rPr>
              <a:t>能完成半自动循环的机床，称半自动机床。</a:t>
            </a:r>
            <a:endParaRPr lang="zh-CN" altLang="en-US" b="1" dirty="0">
              <a:solidFill>
                <a:srgbClr val="000000"/>
              </a:solidFill>
              <a:latin typeface="楷体_GB2312"/>
              <a:ea typeface="楷体_GB2312"/>
            </a:endParaRPr>
          </a:p>
          <a:p>
            <a:pPr lvl="1" eaLnBrk="1" hangingPunct="1"/>
            <a:r>
              <a:rPr lang="zh-CN" altLang="en-US" b="1" dirty="0">
                <a:solidFill>
                  <a:srgbClr val="000000"/>
                </a:solidFill>
                <a:latin typeface="楷体_GB2312"/>
                <a:ea typeface="楷体_GB2312"/>
              </a:rPr>
              <a:t>适于大批、大量地生产形状不太复杂的小型零件，加工精度较低，生产率高。产品变更，需重新设计、调整机床，不适应多品种、中小批量生产。</a:t>
            </a:r>
            <a:endParaRPr lang="zh-CN" altLang="en-US" b="1" dirty="0">
              <a:solidFill>
                <a:srgbClr val="000000"/>
              </a:solidFill>
              <a:latin typeface="楷体_GB2312"/>
              <a:ea typeface="楷体_GB2312"/>
            </a:endParaRPr>
          </a:p>
        </p:txBody>
      </p:sp>
    </p:spTree>
  </p:cSld>
  <p:clrMapOvr>
    <a:masterClrMapping/>
  </p:clrMapOvr>
  <p:transition spd="slow">
    <p:randomBar dir="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3" name="Rectangle 2"/>
          <p:cNvSpPr>
            <a:spLocks noGrp="1"/>
          </p:cNvSpPr>
          <p:nvPr>
            <p:ph type="title"/>
          </p:nvPr>
        </p:nvSpPr>
        <p:spPr>
          <a:xfrm>
            <a:off x="2928938" y="260350"/>
            <a:ext cx="4522787" cy="917575"/>
          </a:xfrm>
          <a:ln/>
        </p:spPr>
        <p:txBody>
          <a:bodyPr vert="horz" wrap="square" lIns="91440" tIns="45720" rIns="91440" bIns="45720" anchor="ctr" anchorCtr="0"/>
          <a:p>
            <a:pPr algn="ctr" eaLnBrk="1" hangingPunct="1">
              <a:buNone/>
            </a:pPr>
            <a:r>
              <a:rPr lang="zh-CN" altLang="en-US" sz="4000" dirty="0">
                <a:solidFill>
                  <a:schemeClr val="tx1"/>
                </a:solidFill>
                <a:latin typeface="楷体_GB2312"/>
                <a:ea typeface="楷体_GB2312"/>
              </a:rPr>
              <a:t>数控机床的概念</a:t>
            </a:r>
            <a:endParaRPr lang="zh-CN" altLang="en-US" sz="4000" dirty="0">
              <a:solidFill>
                <a:schemeClr val="tx1"/>
              </a:solidFill>
              <a:latin typeface="楷体_GB2312"/>
              <a:ea typeface="楷体_GB2312"/>
            </a:endParaRPr>
          </a:p>
        </p:txBody>
      </p:sp>
      <p:grpSp>
        <p:nvGrpSpPr>
          <p:cNvPr id="212994" name="Group 3"/>
          <p:cNvGrpSpPr/>
          <p:nvPr/>
        </p:nvGrpSpPr>
        <p:grpSpPr>
          <a:xfrm>
            <a:off x="7794625" y="4811713"/>
            <a:ext cx="1192213" cy="1905000"/>
            <a:chOff x="4910" y="3031"/>
            <a:chExt cx="751" cy="1200"/>
          </a:xfrm>
        </p:grpSpPr>
        <p:sp>
          <p:nvSpPr>
            <p:cNvPr id="212995" name="AutoShape 4"/>
            <p:cNvSpPr/>
            <p:nvPr/>
          </p:nvSpPr>
          <p:spPr>
            <a:xfrm rot="-2700000">
              <a:off x="4971" y="3080"/>
              <a:ext cx="204" cy="202"/>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2996" name="AutoShape 5"/>
            <p:cNvSpPr/>
            <p:nvPr/>
          </p:nvSpPr>
          <p:spPr>
            <a:xfrm rot="8100000">
              <a:off x="4923" y="3031"/>
              <a:ext cx="312" cy="310"/>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2997" name="AutoShape 6"/>
            <p:cNvSpPr/>
            <p:nvPr/>
          </p:nvSpPr>
          <p:spPr>
            <a:xfrm>
              <a:off x="5086" y="3812"/>
              <a:ext cx="288" cy="288"/>
            </a:xfrm>
            <a:prstGeom prst="diamond">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2998" name="AutoShape 7"/>
            <p:cNvSpPr/>
            <p:nvPr/>
          </p:nvSpPr>
          <p:spPr>
            <a:xfrm rot="-5400000" flipH="1">
              <a:off x="5001" y="3577"/>
              <a:ext cx="450" cy="458"/>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2999" name="AutoShape 8"/>
            <p:cNvSpPr/>
            <p:nvPr/>
          </p:nvSpPr>
          <p:spPr>
            <a:xfrm flipH="1">
              <a:off x="5110" y="4029"/>
              <a:ext cx="197" cy="200"/>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3000" name="AutoShape 9"/>
            <p:cNvSpPr/>
            <p:nvPr/>
          </p:nvSpPr>
          <p:spPr>
            <a:xfrm rot="8100000">
              <a:off x="4910" y="3360"/>
              <a:ext cx="451" cy="450"/>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3001" name="Freeform 10"/>
            <p:cNvSpPr/>
            <p:nvPr/>
          </p:nvSpPr>
          <p:spPr>
            <a:xfrm>
              <a:off x="5460" y="3833"/>
              <a:ext cx="201" cy="398"/>
            </a:xfrm>
            <a:custGeom>
              <a:avLst/>
              <a:gdLst/>
              <a:ahLst/>
              <a:cxnLst>
                <a:cxn ang="0">
                  <a:pos x="0" y="0"/>
                </a:cxn>
                <a:cxn ang="0">
                  <a:pos x="0" y="199"/>
                </a:cxn>
                <a:cxn ang="0">
                  <a:pos x="200" y="397"/>
                </a:cxn>
                <a:cxn ang="0">
                  <a:pos x="200" y="196"/>
                </a:cxn>
                <a:cxn ang="0">
                  <a:pos x="0" y="0"/>
                </a:cxn>
              </a:cxnLst>
              <a:pathLst>
                <a:path w="201" h="398">
                  <a:moveTo>
                    <a:pt x="0" y="0"/>
                  </a:moveTo>
                  <a:lnTo>
                    <a:pt x="0" y="199"/>
                  </a:lnTo>
                  <a:lnTo>
                    <a:pt x="200" y="397"/>
                  </a:lnTo>
                  <a:lnTo>
                    <a:pt x="200" y="196"/>
                  </a:lnTo>
                  <a:lnTo>
                    <a:pt x="0" y="0"/>
                  </a:lnTo>
                </a:path>
              </a:pathLst>
            </a:custGeom>
            <a:solidFill>
              <a:schemeClr val="accent1"/>
            </a:solidFill>
            <a:ln w="12700" cap="flat" cmpd="sng">
              <a:solidFill>
                <a:schemeClr val="accent1"/>
              </a:solidFill>
              <a:prstDash val="solid"/>
              <a:round/>
              <a:headEnd type="none" w="med" len="med"/>
              <a:tailEnd type="none" w="med" len="med"/>
            </a:ln>
          </p:spPr>
          <p:txBody>
            <a:bodyPr/>
            <a:p>
              <a:endParaRPr lang="zh-CN" altLang="en-US"/>
            </a:p>
          </p:txBody>
        </p:sp>
      </p:grpSp>
      <p:sp>
        <p:nvSpPr>
          <p:cNvPr id="213002" name="Text Box 11"/>
          <p:cNvSpPr txBox="1"/>
          <p:nvPr/>
        </p:nvSpPr>
        <p:spPr>
          <a:xfrm>
            <a:off x="107950" y="1193800"/>
            <a:ext cx="8915400" cy="4972050"/>
          </a:xfrm>
          <a:prstGeom prst="rect">
            <a:avLst/>
          </a:prstGeom>
          <a:noFill/>
          <a:ln w="9525">
            <a:noFill/>
          </a:ln>
        </p:spPr>
        <p:txBody>
          <a:bodyPr anchor="t" anchorCtr="0">
            <a:spAutoFit/>
          </a:bodyPr>
          <a:p>
            <a:pPr>
              <a:lnSpc>
                <a:spcPct val="125000"/>
              </a:lnSpc>
              <a:spcBef>
                <a:spcPct val="50000"/>
              </a:spcBef>
            </a:pPr>
            <a:r>
              <a:rPr lang="zh-CN" altLang="en-US" sz="3200" b="1" dirty="0">
                <a:latin typeface="楷体_GB2312"/>
                <a:ea typeface="楷体_GB2312"/>
              </a:rPr>
              <a:t>一、概念</a:t>
            </a:r>
            <a:endParaRPr lang="zh-CN" altLang="en-US" sz="3200" b="1" dirty="0">
              <a:latin typeface="楷体_GB2312"/>
              <a:ea typeface="楷体_GB2312"/>
            </a:endParaRPr>
          </a:p>
          <a:p>
            <a:pPr>
              <a:lnSpc>
                <a:spcPct val="125000"/>
              </a:lnSpc>
              <a:spcBef>
                <a:spcPct val="50000"/>
              </a:spcBef>
            </a:pPr>
            <a:r>
              <a:rPr lang="en-US" altLang="zh-CN" sz="3200" b="1" dirty="0">
                <a:latin typeface="楷体_GB2312"/>
                <a:ea typeface="楷体_GB2312"/>
              </a:rPr>
              <a:t>1</a:t>
            </a:r>
            <a:r>
              <a:rPr lang="zh-CN" altLang="en-US" sz="3200" b="1" dirty="0">
                <a:latin typeface="楷体_GB2312"/>
                <a:ea typeface="楷体_GB2312"/>
              </a:rPr>
              <a:t>、数控机床：采用</a:t>
            </a:r>
            <a:r>
              <a:rPr lang="zh-CN" altLang="en-US" sz="3200" b="1" dirty="0">
                <a:solidFill>
                  <a:srgbClr val="CC0000"/>
                </a:solidFill>
                <a:latin typeface="楷体_GB2312"/>
                <a:ea typeface="楷体_GB2312"/>
              </a:rPr>
              <a:t>数字化信号</a:t>
            </a:r>
            <a:r>
              <a:rPr lang="zh-CN" altLang="en-US" sz="3200" b="1" dirty="0">
                <a:latin typeface="楷体_GB2312"/>
                <a:ea typeface="楷体_GB2312"/>
              </a:rPr>
              <a:t>对机床的运动及</a:t>
            </a:r>
            <a:endParaRPr lang="zh-CN" altLang="en-US" sz="3200" b="1" dirty="0">
              <a:latin typeface="楷体_GB2312"/>
              <a:ea typeface="楷体_GB2312"/>
            </a:endParaRPr>
          </a:p>
          <a:p>
            <a:pPr>
              <a:lnSpc>
                <a:spcPct val="125000"/>
              </a:lnSpc>
              <a:spcBef>
                <a:spcPct val="50000"/>
              </a:spcBef>
            </a:pPr>
            <a:r>
              <a:rPr lang="zh-CN" altLang="en-US" sz="3200" b="1" dirty="0">
                <a:latin typeface="楷体_GB2312"/>
                <a:ea typeface="楷体_GB2312"/>
              </a:rPr>
              <a:t>   加工过程进行控制的机床，称为数控机床。</a:t>
            </a:r>
            <a:endParaRPr lang="zh-CN" altLang="en-US" sz="3200" b="1" dirty="0">
              <a:latin typeface="楷体_GB2312"/>
              <a:ea typeface="楷体_GB2312"/>
            </a:endParaRPr>
          </a:p>
          <a:p>
            <a:pPr>
              <a:lnSpc>
                <a:spcPct val="125000"/>
              </a:lnSpc>
              <a:spcBef>
                <a:spcPct val="50000"/>
              </a:spcBef>
            </a:pPr>
            <a:r>
              <a:rPr lang="en-US" altLang="zh-CN" sz="3200" b="1" dirty="0">
                <a:latin typeface="楷体_GB2312"/>
                <a:ea typeface="楷体_GB2312"/>
              </a:rPr>
              <a:t>2</a:t>
            </a:r>
            <a:r>
              <a:rPr lang="zh-CN" altLang="en-US" sz="3200" b="1" dirty="0">
                <a:latin typeface="楷体_GB2312"/>
                <a:ea typeface="楷体_GB2312"/>
              </a:rPr>
              <a:t>、计算机数控</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CNC</a:t>
            </a:r>
            <a:r>
              <a:rPr lang="zh-CN" altLang="en-US" sz="3200" b="1" dirty="0">
                <a:latin typeface="Arial" panose="020B0604020202020204" pitchFamily="34" charset="0"/>
                <a:ea typeface="宋体" panose="02010600030101010101" pitchFamily="2" charset="-122"/>
              </a:rPr>
              <a:t>）：</a:t>
            </a:r>
            <a:r>
              <a:rPr lang="zh-CN" altLang="en-US" sz="3200" b="1" dirty="0">
                <a:latin typeface="楷体_GB2312"/>
                <a:ea typeface="楷体_GB2312"/>
              </a:rPr>
              <a:t>采用存储程序的</a:t>
            </a:r>
            <a:r>
              <a:rPr lang="zh-CN" altLang="en-US" sz="3200" b="1" dirty="0">
                <a:solidFill>
                  <a:srgbClr val="CC0000"/>
                </a:solidFill>
                <a:latin typeface="楷体_GB2312"/>
                <a:ea typeface="楷体_GB2312"/>
              </a:rPr>
              <a:t>专用</a:t>
            </a:r>
            <a:endParaRPr lang="zh-CN" altLang="en-US" sz="3200" b="1" dirty="0">
              <a:solidFill>
                <a:srgbClr val="CC0000"/>
              </a:solidFill>
              <a:latin typeface="楷体_GB2312"/>
              <a:ea typeface="楷体_GB2312"/>
            </a:endParaRPr>
          </a:p>
          <a:p>
            <a:pPr>
              <a:lnSpc>
                <a:spcPct val="125000"/>
              </a:lnSpc>
              <a:spcBef>
                <a:spcPct val="50000"/>
              </a:spcBef>
            </a:pPr>
            <a:r>
              <a:rPr lang="zh-CN" altLang="en-US" sz="3200" b="1" dirty="0">
                <a:solidFill>
                  <a:srgbClr val="CC0000"/>
                </a:solidFill>
                <a:latin typeface="楷体_GB2312"/>
                <a:ea typeface="楷体_GB2312"/>
              </a:rPr>
              <a:t>   计算机</a:t>
            </a:r>
            <a:r>
              <a:rPr lang="zh-CN" altLang="en-US" sz="3200" b="1" dirty="0">
                <a:latin typeface="楷体_GB2312"/>
                <a:ea typeface="楷体_GB2312"/>
              </a:rPr>
              <a:t>来实现部分或全部基本数控功能，则</a:t>
            </a:r>
            <a:endParaRPr lang="zh-CN" altLang="en-US" sz="3200" b="1" dirty="0">
              <a:latin typeface="楷体_GB2312"/>
              <a:ea typeface="楷体_GB2312"/>
            </a:endParaRPr>
          </a:p>
          <a:p>
            <a:pPr>
              <a:lnSpc>
                <a:spcPct val="125000"/>
              </a:lnSpc>
              <a:spcBef>
                <a:spcPct val="50000"/>
              </a:spcBef>
            </a:pPr>
            <a:r>
              <a:rPr lang="zh-CN" altLang="en-US" sz="3200" b="1" dirty="0">
                <a:latin typeface="楷体_GB2312"/>
                <a:ea typeface="楷体_GB2312"/>
              </a:rPr>
              <a:t>   称为计算机数控。</a:t>
            </a:r>
            <a:endParaRPr lang="zh-CN" altLang="en-US" sz="3200" b="1" dirty="0">
              <a:latin typeface="楷体_GB2312"/>
              <a:ea typeface="楷体_GB2312"/>
            </a:endParaRPr>
          </a:p>
        </p:txBody>
      </p:sp>
    </p:spTree>
  </p:cSld>
  <p:clrMapOvr>
    <a:masterClrMapping/>
  </p:clrMapOvr>
  <p:transition spd="slow">
    <p:wip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1" name="Rectangle 2"/>
          <p:cNvSpPr>
            <a:spLocks noGrp="1"/>
          </p:cNvSpPr>
          <p:nvPr>
            <p:ph type="title"/>
          </p:nvPr>
        </p:nvSpPr>
        <p:spPr>
          <a:xfrm>
            <a:off x="2555875" y="382588"/>
            <a:ext cx="6470650" cy="525462"/>
          </a:xfrm>
          <a:ln/>
        </p:spPr>
        <p:txBody>
          <a:bodyPr vert="horz" wrap="square" lIns="91440" tIns="45720" rIns="91440" bIns="45720" anchor="ctr" anchorCtr="0"/>
          <a:p>
            <a:pPr eaLnBrk="1" hangingPunct="1">
              <a:buNone/>
            </a:pPr>
            <a:r>
              <a:rPr lang="zh-CN" altLang="en-US" sz="4000" dirty="0">
                <a:latin typeface="楷体_GB2312"/>
                <a:ea typeface="楷体_GB2312"/>
              </a:rPr>
              <a:t>数控机床的工作原理及组成</a:t>
            </a:r>
            <a:endParaRPr lang="zh-CN" altLang="en-US" sz="4000" dirty="0">
              <a:latin typeface="楷体_GB2312"/>
              <a:ea typeface="楷体_GB2312"/>
            </a:endParaRPr>
          </a:p>
        </p:txBody>
      </p:sp>
      <p:sp>
        <p:nvSpPr>
          <p:cNvPr id="215042" name="Text Box 3"/>
          <p:cNvSpPr txBox="1"/>
          <p:nvPr/>
        </p:nvSpPr>
        <p:spPr>
          <a:xfrm>
            <a:off x="395288" y="1198563"/>
            <a:ext cx="8305800" cy="3743325"/>
          </a:xfrm>
          <a:prstGeom prst="rect">
            <a:avLst/>
          </a:prstGeom>
          <a:noFill/>
          <a:ln w="9525">
            <a:noFill/>
          </a:ln>
        </p:spPr>
        <p:txBody>
          <a:bodyPr anchor="t" anchorCtr="0">
            <a:spAutoFit/>
          </a:bodyPr>
          <a:p>
            <a:pPr>
              <a:spcBef>
                <a:spcPct val="50000"/>
              </a:spcBef>
            </a:pPr>
            <a:r>
              <a:rPr lang="zh-CN" altLang="en-US" sz="2400" b="1" dirty="0">
                <a:solidFill>
                  <a:srgbClr val="FF3300"/>
                </a:solidFill>
                <a:latin typeface="楷体_GB2312"/>
                <a:ea typeface="楷体_GB2312"/>
              </a:rPr>
              <a:t>一、数控机床的工作原理</a:t>
            </a:r>
            <a:endParaRPr lang="zh-CN" altLang="en-US" sz="2400" b="1" dirty="0">
              <a:solidFill>
                <a:srgbClr val="FF3300"/>
              </a:solidFill>
              <a:latin typeface="楷体_GB2312"/>
              <a:ea typeface="楷体_GB2312"/>
            </a:endParaRPr>
          </a:p>
          <a:p>
            <a:pPr>
              <a:spcBef>
                <a:spcPct val="50000"/>
              </a:spcBef>
            </a:pPr>
            <a:r>
              <a:rPr lang="zh-CN" altLang="en-US" sz="2400" b="1" dirty="0">
                <a:latin typeface="楷体_GB2312"/>
                <a:ea typeface="楷体_GB2312"/>
              </a:rPr>
              <a:t>数控机床零件加工的步骤：</a:t>
            </a:r>
            <a:endParaRPr lang="zh-CN" altLang="en-US" sz="2400" b="1" dirty="0">
              <a:latin typeface="楷体_GB2312"/>
              <a:ea typeface="楷体_GB2312"/>
            </a:endParaRPr>
          </a:p>
          <a:p>
            <a:pPr>
              <a:spcBef>
                <a:spcPct val="50000"/>
              </a:spcBef>
            </a:pPr>
            <a:r>
              <a:rPr lang="en-US" altLang="zh-CN" sz="2400" b="1" dirty="0">
                <a:latin typeface="楷体_GB2312"/>
                <a:ea typeface="楷体_GB2312"/>
              </a:rPr>
              <a:t>1</a:t>
            </a:r>
            <a:r>
              <a:rPr lang="zh-CN" altLang="en-US" sz="2400" b="1" dirty="0">
                <a:latin typeface="楷体_GB2312"/>
                <a:ea typeface="楷体_GB2312"/>
              </a:rPr>
              <a:t>、分析零件图，确定加工方案，用规定代码编程</a:t>
            </a:r>
            <a:endParaRPr lang="zh-CN" altLang="en-US" sz="2400" b="1" dirty="0">
              <a:latin typeface="楷体_GB2312"/>
              <a:ea typeface="楷体_GB2312"/>
            </a:endParaRPr>
          </a:p>
          <a:p>
            <a:pPr>
              <a:spcBef>
                <a:spcPct val="50000"/>
              </a:spcBef>
            </a:pPr>
            <a:r>
              <a:rPr lang="en-US" altLang="zh-CN" sz="2400" b="1" dirty="0">
                <a:latin typeface="楷体_GB2312"/>
                <a:ea typeface="楷体_GB2312"/>
              </a:rPr>
              <a:t>2</a:t>
            </a:r>
            <a:r>
              <a:rPr lang="zh-CN" altLang="en-US" sz="2400" b="1" dirty="0">
                <a:latin typeface="楷体_GB2312"/>
                <a:ea typeface="楷体_GB2312"/>
              </a:rPr>
              <a:t>、输入数控装置</a:t>
            </a:r>
            <a:endParaRPr lang="zh-CN" altLang="en-US" sz="2400" b="1" dirty="0">
              <a:latin typeface="楷体_GB2312"/>
              <a:ea typeface="楷体_GB2312"/>
            </a:endParaRPr>
          </a:p>
          <a:p>
            <a:pPr>
              <a:spcBef>
                <a:spcPct val="50000"/>
              </a:spcBef>
            </a:pPr>
            <a:r>
              <a:rPr lang="en-US" altLang="zh-CN" sz="2400" b="1" dirty="0">
                <a:latin typeface="楷体_GB2312"/>
                <a:ea typeface="楷体_GB2312"/>
              </a:rPr>
              <a:t>3</a:t>
            </a:r>
            <a:r>
              <a:rPr lang="zh-CN" altLang="en-US" sz="2400" b="1" dirty="0">
                <a:latin typeface="楷体_GB2312"/>
                <a:ea typeface="楷体_GB2312"/>
              </a:rPr>
              <a:t>、数控装置对程序进行译码、运算，向机床各伺服机构和辅</a:t>
            </a:r>
            <a:endParaRPr lang="zh-CN" altLang="en-US" sz="2400" b="1" dirty="0">
              <a:latin typeface="楷体_GB2312"/>
              <a:ea typeface="楷体_GB2312"/>
            </a:endParaRPr>
          </a:p>
          <a:p>
            <a:pPr>
              <a:spcBef>
                <a:spcPct val="50000"/>
              </a:spcBef>
            </a:pPr>
            <a:r>
              <a:rPr lang="zh-CN" altLang="en-US" sz="2400" b="1" dirty="0">
                <a:latin typeface="楷体_GB2312"/>
                <a:ea typeface="楷体_GB2312"/>
              </a:rPr>
              <a:t>助控制装置发信号</a:t>
            </a:r>
            <a:r>
              <a:rPr lang="en-US" altLang="zh-CN" sz="2400" b="1" dirty="0">
                <a:latin typeface="Times New Roman" panose="02020603050405020304" pitchFamily="18" charset="0"/>
                <a:ea typeface="楷体_GB2312"/>
              </a:rPr>
              <a:t>—</a:t>
            </a:r>
            <a:r>
              <a:rPr lang="zh-CN" altLang="en-US" sz="2400" b="1" dirty="0">
                <a:latin typeface="楷体_GB2312"/>
                <a:ea typeface="楷体_GB2312"/>
              </a:rPr>
              <a:t>驱动</a:t>
            </a:r>
            <a:r>
              <a:rPr lang="en-US" altLang="zh-CN" sz="2400" b="1" dirty="0">
                <a:latin typeface="Times New Roman" panose="02020603050405020304" pitchFamily="18" charset="0"/>
                <a:ea typeface="楷体_GB2312"/>
              </a:rPr>
              <a:t>—</a:t>
            </a:r>
            <a:r>
              <a:rPr lang="zh-CN" altLang="en-US" sz="2400" b="1" dirty="0">
                <a:latin typeface="楷体_GB2312"/>
                <a:ea typeface="楷体_GB2312"/>
              </a:rPr>
              <a:t>执引</a:t>
            </a:r>
            <a:r>
              <a:rPr lang="en-US" altLang="zh-CN" sz="2400" b="1" dirty="0">
                <a:latin typeface="Times New Roman" panose="02020603050405020304" pitchFamily="18" charset="0"/>
                <a:ea typeface="楷体_GB2312"/>
              </a:rPr>
              <a:t>—</a:t>
            </a:r>
            <a:r>
              <a:rPr lang="zh-CN" altLang="en-US" sz="2400" b="1" dirty="0">
                <a:latin typeface="楷体_GB2312"/>
                <a:ea typeface="楷体_GB2312"/>
              </a:rPr>
              <a:t>加工零件</a:t>
            </a:r>
            <a:endParaRPr lang="zh-CN" altLang="en-US" sz="2400" b="1" dirty="0">
              <a:latin typeface="楷体_GB2312"/>
              <a:ea typeface="楷体_GB2312"/>
            </a:endParaRPr>
          </a:p>
          <a:p>
            <a:pPr>
              <a:spcBef>
                <a:spcPct val="50000"/>
              </a:spcBef>
            </a:pPr>
            <a:r>
              <a:rPr lang="zh-CN" altLang="en-US" sz="2400" b="1" dirty="0">
                <a:latin typeface="楷体_GB2312"/>
                <a:ea typeface="楷体_GB2312"/>
              </a:rPr>
              <a:t>二、数控机床的组成</a:t>
            </a:r>
            <a:endParaRPr lang="zh-CN" altLang="en-US" sz="2400" b="1" dirty="0">
              <a:latin typeface="楷体_GB2312"/>
              <a:ea typeface="楷体_GB2312"/>
            </a:endParaRPr>
          </a:p>
        </p:txBody>
      </p:sp>
      <p:grpSp>
        <p:nvGrpSpPr>
          <p:cNvPr id="215043" name="Group 27"/>
          <p:cNvGrpSpPr/>
          <p:nvPr/>
        </p:nvGrpSpPr>
        <p:grpSpPr>
          <a:xfrm>
            <a:off x="8153400" y="4495800"/>
            <a:ext cx="836613" cy="2146300"/>
            <a:chOff x="635" y="325"/>
            <a:chExt cx="527" cy="1352"/>
          </a:xfrm>
        </p:grpSpPr>
        <p:sp>
          <p:nvSpPr>
            <p:cNvPr id="215044" name="Rectangle 28"/>
            <p:cNvSpPr/>
            <p:nvPr/>
          </p:nvSpPr>
          <p:spPr>
            <a:xfrm>
              <a:off x="902" y="1265"/>
              <a:ext cx="203" cy="205"/>
            </a:xfrm>
            <a:prstGeom prst="rect">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45" name="AutoShape 29"/>
            <p:cNvSpPr/>
            <p:nvPr/>
          </p:nvSpPr>
          <p:spPr>
            <a:xfrm rot="10800000">
              <a:off x="752" y="325"/>
              <a:ext cx="405" cy="405"/>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46" name="AutoShape 30"/>
            <p:cNvSpPr/>
            <p:nvPr/>
          </p:nvSpPr>
          <p:spPr>
            <a:xfrm rot="10800000">
              <a:off x="881" y="1052"/>
              <a:ext cx="281" cy="281"/>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47" name="AutoShape 31"/>
            <p:cNvSpPr/>
            <p:nvPr/>
          </p:nvSpPr>
          <p:spPr>
            <a:xfrm rot="-5400000">
              <a:off x="636" y="635"/>
              <a:ext cx="404" cy="406"/>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48" name="AutoShape 32"/>
            <p:cNvSpPr/>
            <p:nvPr/>
          </p:nvSpPr>
          <p:spPr>
            <a:xfrm>
              <a:off x="844" y="416"/>
              <a:ext cx="200" cy="199"/>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49" name="AutoShape 33"/>
            <p:cNvSpPr/>
            <p:nvPr/>
          </p:nvSpPr>
          <p:spPr>
            <a:xfrm flipH="1">
              <a:off x="871" y="1481"/>
              <a:ext cx="198" cy="196"/>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50" name="Freeform 34"/>
            <p:cNvSpPr/>
            <p:nvPr/>
          </p:nvSpPr>
          <p:spPr>
            <a:xfrm>
              <a:off x="680" y="1046"/>
              <a:ext cx="403" cy="212"/>
            </a:xfrm>
            <a:custGeom>
              <a:avLst/>
              <a:gdLst/>
              <a:ahLst/>
              <a:cxnLst>
                <a:cxn ang="0">
                  <a:pos x="0" y="0"/>
                </a:cxn>
                <a:cxn ang="0">
                  <a:pos x="211" y="211"/>
                </a:cxn>
                <a:cxn ang="0">
                  <a:pos x="402" y="211"/>
                </a:cxn>
                <a:cxn ang="0">
                  <a:pos x="399" y="208"/>
                </a:cxn>
                <a:cxn ang="0">
                  <a:pos x="192" y="1"/>
                </a:cxn>
                <a:cxn ang="0">
                  <a:pos x="186" y="1"/>
                </a:cxn>
                <a:cxn ang="0">
                  <a:pos x="1" y="1"/>
                </a:cxn>
                <a:cxn ang="0">
                  <a:pos x="0" y="0"/>
                </a:cxn>
              </a:cxnLst>
              <a:pathLst>
                <a:path w="403" h="212">
                  <a:moveTo>
                    <a:pt x="0" y="0"/>
                  </a:moveTo>
                  <a:lnTo>
                    <a:pt x="211" y="211"/>
                  </a:lnTo>
                  <a:lnTo>
                    <a:pt x="402" y="211"/>
                  </a:lnTo>
                  <a:lnTo>
                    <a:pt x="399" y="208"/>
                  </a:lnTo>
                  <a:lnTo>
                    <a:pt x="192" y="1"/>
                  </a:lnTo>
                  <a:lnTo>
                    <a:pt x="186" y="1"/>
                  </a:lnTo>
                  <a:lnTo>
                    <a:pt x="1" y="1"/>
                  </a:lnTo>
                  <a:lnTo>
                    <a:pt x="0" y="0"/>
                  </a:lnTo>
                </a:path>
              </a:pathLst>
            </a:custGeom>
            <a:solidFill>
              <a:schemeClr val="accent1"/>
            </a:solidFill>
            <a:ln w="12700" cap="flat" cmpd="sng">
              <a:solidFill>
                <a:schemeClr val="accent1"/>
              </a:solidFill>
              <a:prstDash val="solid"/>
              <a:round/>
              <a:headEnd type="none" w="med" len="med"/>
              <a:tailEnd type="none" w="med" len="med"/>
            </a:ln>
          </p:spPr>
          <p:txBody>
            <a:bodyPr/>
            <a:p>
              <a:endParaRPr lang="zh-CN" altLang="en-US"/>
            </a:p>
          </p:txBody>
        </p:sp>
      </p:grpSp>
      <p:grpSp>
        <p:nvGrpSpPr>
          <p:cNvPr id="215051" name="Group 4"/>
          <p:cNvGrpSpPr/>
          <p:nvPr/>
        </p:nvGrpSpPr>
        <p:grpSpPr>
          <a:xfrm>
            <a:off x="539750" y="5060950"/>
            <a:ext cx="8002588" cy="1608138"/>
            <a:chOff x="288" y="3120"/>
            <a:chExt cx="4800" cy="960"/>
          </a:xfrm>
        </p:grpSpPr>
        <p:sp>
          <p:nvSpPr>
            <p:cNvPr id="215052" name="Rectangle 5"/>
            <p:cNvSpPr/>
            <p:nvPr/>
          </p:nvSpPr>
          <p:spPr>
            <a:xfrm>
              <a:off x="288" y="3120"/>
              <a:ext cx="768" cy="336"/>
            </a:xfrm>
            <a:prstGeom prst="rect">
              <a:avLst/>
            </a:prstGeom>
            <a:noFill/>
            <a:ln w="28575" cap="flat" cmpd="sng">
              <a:solidFill>
                <a:srgbClr val="0000FF"/>
              </a:solidFill>
              <a:prstDash val="solid"/>
              <a:miter/>
              <a:headEnd type="none" w="med" len="med"/>
              <a:tailEnd type="none" w="med" len="med"/>
            </a:ln>
          </p:spPr>
          <p:txBody>
            <a:bodyPr wrap="none" anchor="ctr" anchorCtr="0"/>
            <a:p>
              <a:pPr algn="ctr"/>
              <a:r>
                <a:rPr lang="en-US" altLang="zh-CN" sz="2400" dirty="0">
                  <a:latin typeface="Arial" panose="020B0604020202020204" pitchFamily="34" charset="0"/>
                  <a:ea typeface="宋体" panose="02010600030101010101" pitchFamily="2" charset="-122"/>
                </a:rPr>
                <a:t> </a:t>
              </a:r>
              <a:endParaRPr lang="en-US" altLang="zh-CN" sz="2400" dirty="0">
                <a:latin typeface="Arial" panose="020B0604020202020204" pitchFamily="34" charset="0"/>
                <a:ea typeface="宋体" panose="02010600030101010101" pitchFamily="2" charset="-122"/>
              </a:endParaRPr>
            </a:p>
          </p:txBody>
        </p:sp>
        <p:sp>
          <p:nvSpPr>
            <p:cNvPr id="215053" name="Text Box 6"/>
            <p:cNvSpPr txBox="1"/>
            <p:nvPr/>
          </p:nvSpPr>
          <p:spPr>
            <a:xfrm>
              <a:off x="288" y="3168"/>
              <a:ext cx="912" cy="237"/>
            </a:xfrm>
            <a:prstGeom prst="rect">
              <a:avLst/>
            </a:prstGeom>
            <a:noFill/>
            <a:ln w="9525">
              <a:noFill/>
            </a:ln>
          </p:spPr>
          <p:txBody>
            <a:bodyPr anchor="t" anchorCtr="0">
              <a:spAutoFit/>
            </a:bodyPr>
            <a:p>
              <a:pPr>
                <a:spcBef>
                  <a:spcPct val="50000"/>
                </a:spcBef>
              </a:pPr>
              <a:r>
                <a:rPr lang="zh-CN" altLang="en-US" sz="2000" b="1" dirty="0">
                  <a:latin typeface="楷体_GB2312"/>
                  <a:ea typeface="楷体_GB2312"/>
                </a:rPr>
                <a:t>程序载体</a:t>
              </a:r>
              <a:endParaRPr lang="zh-CN" altLang="en-US" sz="2000" b="1" dirty="0">
                <a:latin typeface="楷体_GB2312"/>
                <a:ea typeface="楷体_GB2312"/>
              </a:endParaRPr>
            </a:p>
          </p:txBody>
        </p:sp>
        <p:sp>
          <p:nvSpPr>
            <p:cNvPr id="215054" name="Rectangle 7"/>
            <p:cNvSpPr/>
            <p:nvPr/>
          </p:nvSpPr>
          <p:spPr>
            <a:xfrm>
              <a:off x="1296" y="3120"/>
              <a:ext cx="768" cy="336"/>
            </a:xfrm>
            <a:prstGeom prst="rect">
              <a:avLst/>
            </a:prstGeom>
            <a:noFill/>
            <a:ln w="28575" cap="flat" cmpd="sng">
              <a:solidFill>
                <a:srgbClr val="0000FF"/>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55" name="Rectangle 8"/>
            <p:cNvSpPr/>
            <p:nvPr/>
          </p:nvSpPr>
          <p:spPr>
            <a:xfrm>
              <a:off x="2286" y="3120"/>
              <a:ext cx="768" cy="336"/>
            </a:xfrm>
            <a:prstGeom prst="rect">
              <a:avLst/>
            </a:prstGeom>
            <a:noFill/>
            <a:ln w="28575" cap="flat" cmpd="sng">
              <a:solidFill>
                <a:srgbClr val="0000FF"/>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56" name="Rectangle 9"/>
            <p:cNvSpPr/>
            <p:nvPr/>
          </p:nvSpPr>
          <p:spPr>
            <a:xfrm>
              <a:off x="3312" y="3120"/>
              <a:ext cx="768" cy="336"/>
            </a:xfrm>
            <a:prstGeom prst="rect">
              <a:avLst/>
            </a:prstGeom>
            <a:noFill/>
            <a:ln w="28575" cap="flat" cmpd="sng">
              <a:solidFill>
                <a:srgbClr val="0000FF"/>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57" name="Rectangle 10"/>
            <p:cNvSpPr/>
            <p:nvPr/>
          </p:nvSpPr>
          <p:spPr>
            <a:xfrm>
              <a:off x="4320" y="3120"/>
              <a:ext cx="768" cy="336"/>
            </a:xfrm>
            <a:prstGeom prst="rect">
              <a:avLst/>
            </a:prstGeom>
            <a:noFill/>
            <a:ln w="31750" cap="flat" cmpd="sng">
              <a:solidFill>
                <a:srgbClr val="0000FF"/>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5058" name="Rectangle 11"/>
            <p:cNvSpPr/>
            <p:nvPr/>
          </p:nvSpPr>
          <p:spPr>
            <a:xfrm>
              <a:off x="1296" y="3168"/>
              <a:ext cx="724" cy="237"/>
            </a:xfrm>
            <a:prstGeom prst="rect">
              <a:avLst/>
            </a:prstGeom>
            <a:noFill/>
            <a:ln w="9525">
              <a:noFill/>
            </a:ln>
          </p:spPr>
          <p:txBody>
            <a:bodyPr wrap="none" anchor="t" anchorCtr="0">
              <a:spAutoFit/>
            </a:bodyPr>
            <a:p>
              <a:r>
                <a:rPr lang="zh-CN" altLang="en-US" sz="2000" b="1" dirty="0">
                  <a:latin typeface="楷体_GB2312"/>
                  <a:ea typeface="楷体_GB2312"/>
                </a:rPr>
                <a:t>输入装置</a:t>
              </a:r>
              <a:endParaRPr lang="zh-CN" altLang="en-US" sz="2000" b="1" dirty="0">
                <a:latin typeface="楷体_GB2312"/>
                <a:ea typeface="楷体_GB2312"/>
              </a:endParaRPr>
            </a:p>
          </p:txBody>
        </p:sp>
        <p:sp>
          <p:nvSpPr>
            <p:cNvPr id="215059" name="Rectangle 12"/>
            <p:cNvSpPr/>
            <p:nvPr/>
          </p:nvSpPr>
          <p:spPr>
            <a:xfrm>
              <a:off x="2286" y="3168"/>
              <a:ext cx="648" cy="237"/>
            </a:xfrm>
            <a:prstGeom prst="rect">
              <a:avLst/>
            </a:prstGeom>
            <a:noFill/>
            <a:ln w="9525">
              <a:noFill/>
            </a:ln>
          </p:spPr>
          <p:txBody>
            <a:bodyPr wrap="none" anchor="t" anchorCtr="0">
              <a:spAutoFit/>
            </a:bodyPr>
            <a:p>
              <a:r>
                <a:rPr lang="en-US" altLang="zh-CN" sz="2000" b="1" dirty="0">
                  <a:latin typeface="楷体_GB2312"/>
                  <a:ea typeface="楷体_GB2312"/>
                </a:rPr>
                <a:t>CNC</a:t>
              </a:r>
              <a:r>
                <a:rPr lang="zh-CN" altLang="en-US" sz="2000" b="1" dirty="0">
                  <a:latin typeface="楷体_GB2312"/>
                  <a:ea typeface="楷体_GB2312"/>
                </a:rPr>
                <a:t>装置</a:t>
              </a:r>
              <a:endParaRPr lang="zh-CN" altLang="en-US" sz="2000" b="1" dirty="0">
                <a:latin typeface="楷体_GB2312"/>
                <a:ea typeface="楷体_GB2312"/>
              </a:endParaRPr>
            </a:p>
          </p:txBody>
        </p:sp>
        <p:sp>
          <p:nvSpPr>
            <p:cNvPr id="215060" name="Rectangle 13"/>
            <p:cNvSpPr/>
            <p:nvPr/>
          </p:nvSpPr>
          <p:spPr>
            <a:xfrm>
              <a:off x="3312" y="3168"/>
              <a:ext cx="724" cy="237"/>
            </a:xfrm>
            <a:prstGeom prst="rect">
              <a:avLst/>
            </a:prstGeom>
            <a:noFill/>
            <a:ln w="9525">
              <a:noFill/>
            </a:ln>
          </p:spPr>
          <p:txBody>
            <a:bodyPr wrap="none" anchor="t" anchorCtr="0">
              <a:spAutoFit/>
            </a:bodyPr>
            <a:p>
              <a:r>
                <a:rPr lang="zh-CN" altLang="en-US" sz="2000" b="1" dirty="0">
                  <a:latin typeface="楷体_GB2312"/>
                  <a:ea typeface="楷体_GB2312"/>
                </a:rPr>
                <a:t>伺服系统</a:t>
              </a:r>
              <a:endParaRPr lang="zh-CN" altLang="en-US" sz="2000" b="1" dirty="0">
                <a:latin typeface="楷体_GB2312"/>
                <a:ea typeface="楷体_GB2312"/>
              </a:endParaRPr>
            </a:p>
          </p:txBody>
        </p:sp>
        <p:sp>
          <p:nvSpPr>
            <p:cNvPr id="215061" name="Rectangle 14"/>
            <p:cNvSpPr/>
            <p:nvPr/>
          </p:nvSpPr>
          <p:spPr>
            <a:xfrm>
              <a:off x="4320" y="3168"/>
              <a:ext cx="723" cy="237"/>
            </a:xfrm>
            <a:prstGeom prst="rect">
              <a:avLst/>
            </a:prstGeom>
            <a:noFill/>
            <a:ln w="28575">
              <a:noFill/>
            </a:ln>
          </p:spPr>
          <p:txBody>
            <a:bodyPr wrap="none" anchor="t" anchorCtr="0">
              <a:spAutoFit/>
            </a:bodyPr>
            <a:p>
              <a:r>
                <a:rPr lang="zh-CN" altLang="en-US" sz="2000" b="1" dirty="0">
                  <a:latin typeface="楷体_GB2312"/>
                  <a:ea typeface="楷体_GB2312"/>
                </a:rPr>
                <a:t>机床本体</a:t>
              </a:r>
              <a:endParaRPr lang="zh-CN" altLang="en-US" sz="2000" b="1" dirty="0">
                <a:latin typeface="楷体_GB2312"/>
                <a:ea typeface="楷体_GB2312"/>
              </a:endParaRPr>
            </a:p>
          </p:txBody>
        </p:sp>
        <p:sp>
          <p:nvSpPr>
            <p:cNvPr id="215062" name="Line 15"/>
            <p:cNvSpPr/>
            <p:nvPr/>
          </p:nvSpPr>
          <p:spPr>
            <a:xfrm>
              <a:off x="1056" y="3312"/>
              <a:ext cx="240" cy="0"/>
            </a:xfrm>
            <a:prstGeom prst="line">
              <a:avLst/>
            </a:prstGeom>
            <a:ln w="31750" cap="flat" cmpd="sng">
              <a:solidFill>
                <a:srgbClr val="0000FF"/>
              </a:solidFill>
              <a:prstDash val="solid"/>
              <a:round/>
              <a:headEnd type="none" w="med" len="med"/>
              <a:tailEnd type="triangle" w="sm" len="lg"/>
            </a:ln>
          </p:spPr>
        </p:sp>
        <p:sp>
          <p:nvSpPr>
            <p:cNvPr id="215063" name="Line 16"/>
            <p:cNvSpPr/>
            <p:nvPr/>
          </p:nvSpPr>
          <p:spPr>
            <a:xfrm>
              <a:off x="2064" y="3312"/>
              <a:ext cx="240" cy="0"/>
            </a:xfrm>
            <a:prstGeom prst="line">
              <a:avLst/>
            </a:prstGeom>
            <a:ln w="31750" cap="flat" cmpd="sng">
              <a:solidFill>
                <a:srgbClr val="0000FF"/>
              </a:solidFill>
              <a:prstDash val="solid"/>
              <a:round/>
              <a:headEnd type="none" w="med" len="med"/>
              <a:tailEnd type="triangle" w="sm" len="lg"/>
            </a:ln>
          </p:spPr>
        </p:sp>
        <p:sp>
          <p:nvSpPr>
            <p:cNvPr id="215064" name="Line 17"/>
            <p:cNvSpPr/>
            <p:nvPr/>
          </p:nvSpPr>
          <p:spPr>
            <a:xfrm>
              <a:off x="3072" y="3312"/>
              <a:ext cx="240" cy="0"/>
            </a:xfrm>
            <a:prstGeom prst="line">
              <a:avLst/>
            </a:prstGeom>
            <a:ln w="31750" cap="flat" cmpd="sng">
              <a:solidFill>
                <a:srgbClr val="0000FF"/>
              </a:solidFill>
              <a:prstDash val="solid"/>
              <a:round/>
              <a:headEnd type="none" w="med" len="med"/>
              <a:tailEnd type="triangle" w="sm" len="lg"/>
            </a:ln>
          </p:spPr>
        </p:sp>
        <p:sp>
          <p:nvSpPr>
            <p:cNvPr id="215065" name="Line 18"/>
            <p:cNvSpPr/>
            <p:nvPr/>
          </p:nvSpPr>
          <p:spPr>
            <a:xfrm>
              <a:off x="4080" y="3312"/>
              <a:ext cx="240" cy="0"/>
            </a:xfrm>
            <a:prstGeom prst="line">
              <a:avLst/>
            </a:prstGeom>
            <a:ln w="31750" cap="flat" cmpd="sng">
              <a:solidFill>
                <a:srgbClr val="0000FF"/>
              </a:solidFill>
              <a:prstDash val="solid"/>
              <a:round/>
              <a:headEnd type="none" w="med" len="med"/>
              <a:tailEnd type="triangle" w="sm" len="lg"/>
            </a:ln>
          </p:spPr>
        </p:sp>
        <p:sp>
          <p:nvSpPr>
            <p:cNvPr id="215066" name="Line 19"/>
            <p:cNvSpPr/>
            <p:nvPr/>
          </p:nvSpPr>
          <p:spPr>
            <a:xfrm>
              <a:off x="2688" y="3456"/>
              <a:ext cx="0" cy="336"/>
            </a:xfrm>
            <a:prstGeom prst="line">
              <a:avLst/>
            </a:prstGeom>
            <a:ln w="28575" cap="flat" cmpd="sng">
              <a:solidFill>
                <a:srgbClr val="0000FF"/>
              </a:solidFill>
              <a:prstDash val="solid"/>
              <a:round/>
              <a:headEnd type="triangle" w="sm" len="lg"/>
              <a:tailEnd type="none" w="med" len="med"/>
            </a:ln>
          </p:spPr>
        </p:sp>
        <p:sp>
          <p:nvSpPr>
            <p:cNvPr id="215067" name="Line 20"/>
            <p:cNvSpPr/>
            <p:nvPr/>
          </p:nvSpPr>
          <p:spPr>
            <a:xfrm>
              <a:off x="2688" y="3792"/>
              <a:ext cx="1824" cy="0"/>
            </a:xfrm>
            <a:prstGeom prst="line">
              <a:avLst/>
            </a:prstGeom>
            <a:ln w="28575" cap="flat" cmpd="sng">
              <a:solidFill>
                <a:srgbClr val="0000FF"/>
              </a:solidFill>
              <a:prstDash val="solid"/>
              <a:round/>
              <a:headEnd type="none" w="med" len="med"/>
              <a:tailEnd type="none" w="med" len="med"/>
            </a:ln>
          </p:spPr>
        </p:sp>
        <p:sp>
          <p:nvSpPr>
            <p:cNvPr id="215068" name="Line 21"/>
            <p:cNvSpPr/>
            <p:nvPr/>
          </p:nvSpPr>
          <p:spPr>
            <a:xfrm>
              <a:off x="4512" y="3456"/>
              <a:ext cx="0" cy="336"/>
            </a:xfrm>
            <a:prstGeom prst="line">
              <a:avLst/>
            </a:prstGeom>
            <a:ln w="28575" cap="flat" cmpd="sng">
              <a:solidFill>
                <a:srgbClr val="0000FF"/>
              </a:solidFill>
              <a:prstDash val="solid"/>
              <a:round/>
              <a:headEnd type="none" w="med" len="med"/>
              <a:tailEnd type="none" w="med" len="med"/>
            </a:ln>
          </p:spPr>
        </p:sp>
        <p:sp>
          <p:nvSpPr>
            <p:cNvPr id="215069" name="Line 22"/>
            <p:cNvSpPr/>
            <p:nvPr/>
          </p:nvSpPr>
          <p:spPr>
            <a:xfrm>
              <a:off x="2448" y="3456"/>
              <a:ext cx="0" cy="624"/>
            </a:xfrm>
            <a:prstGeom prst="line">
              <a:avLst/>
            </a:prstGeom>
            <a:ln w="28575" cap="flat" cmpd="sng">
              <a:solidFill>
                <a:srgbClr val="0000FF"/>
              </a:solidFill>
              <a:prstDash val="solid"/>
              <a:round/>
              <a:headEnd type="none" w="med" len="med"/>
              <a:tailEnd type="none" w="med" len="med"/>
            </a:ln>
          </p:spPr>
        </p:sp>
        <p:sp>
          <p:nvSpPr>
            <p:cNvPr id="215070" name="Line 23"/>
            <p:cNvSpPr/>
            <p:nvPr/>
          </p:nvSpPr>
          <p:spPr>
            <a:xfrm>
              <a:off x="2448" y="4080"/>
              <a:ext cx="2400" cy="0"/>
            </a:xfrm>
            <a:prstGeom prst="line">
              <a:avLst/>
            </a:prstGeom>
            <a:ln w="28575" cap="flat" cmpd="sng">
              <a:solidFill>
                <a:srgbClr val="0000FF"/>
              </a:solidFill>
              <a:prstDash val="solid"/>
              <a:round/>
              <a:headEnd type="none" w="med" len="med"/>
              <a:tailEnd type="none" w="med" len="med"/>
            </a:ln>
          </p:spPr>
        </p:sp>
        <p:sp>
          <p:nvSpPr>
            <p:cNvPr id="215071" name="Line 24"/>
            <p:cNvSpPr/>
            <p:nvPr/>
          </p:nvSpPr>
          <p:spPr>
            <a:xfrm flipV="1">
              <a:off x="4848" y="3456"/>
              <a:ext cx="0" cy="624"/>
            </a:xfrm>
            <a:prstGeom prst="line">
              <a:avLst/>
            </a:prstGeom>
            <a:ln w="28575" cap="flat" cmpd="sng">
              <a:solidFill>
                <a:srgbClr val="0000FF"/>
              </a:solidFill>
              <a:prstDash val="solid"/>
              <a:round/>
              <a:headEnd type="none" w="med" len="med"/>
              <a:tailEnd type="triangle" w="sm" len="lg"/>
            </a:ln>
          </p:spPr>
        </p:sp>
        <p:sp>
          <p:nvSpPr>
            <p:cNvPr id="215072" name="Text Box 25"/>
            <p:cNvSpPr txBox="1"/>
            <p:nvPr/>
          </p:nvSpPr>
          <p:spPr>
            <a:xfrm>
              <a:off x="2880" y="3504"/>
              <a:ext cx="1344" cy="273"/>
            </a:xfrm>
            <a:prstGeom prst="rect">
              <a:avLst/>
            </a:prstGeom>
            <a:noFill/>
            <a:ln w="28575">
              <a:noFill/>
            </a:ln>
          </p:spPr>
          <p:txBody>
            <a:bodyPr anchor="t" anchorCtr="0">
              <a:spAutoFit/>
            </a:bodyPr>
            <a:p>
              <a:pPr>
                <a:spcBef>
                  <a:spcPct val="50000"/>
                </a:spcBef>
              </a:pPr>
              <a:r>
                <a:rPr lang="zh-CN" altLang="en-US" sz="2400" b="1" dirty="0">
                  <a:latin typeface="楷体_GB2312"/>
                  <a:ea typeface="楷体_GB2312"/>
                </a:rPr>
                <a:t>位置反馈信号</a:t>
              </a:r>
              <a:endParaRPr lang="zh-CN" altLang="en-US" sz="2400" b="1" dirty="0">
                <a:latin typeface="楷体_GB2312"/>
                <a:ea typeface="楷体_GB2312"/>
              </a:endParaRPr>
            </a:p>
          </p:txBody>
        </p:sp>
        <p:sp>
          <p:nvSpPr>
            <p:cNvPr id="215073" name="Rectangle 26"/>
            <p:cNvSpPr/>
            <p:nvPr/>
          </p:nvSpPr>
          <p:spPr>
            <a:xfrm>
              <a:off x="2880" y="3792"/>
              <a:ext cx="1213" cy="273"/>
            </a:xfrm>
            <a:prstGeom prst="rect">
              <a:avLst/>
            </a:prstGeom>
            <a:noFill/>
            <a:ln w="28575">
              <a:noFill/>
            </a:ln>
          </p:spPr>
          <p:txBody>
            <a:bodyPr wrap="none" anchor="t" anchorCtr="0">
              <a:spAutoFit/>
            </a:bodyPr>
            <a:p>
              <a:r>
                <a:rPr lang="zh-CN" altLang="en-US" sz="2400" b="1" dirty="0">
                  <a:latin typeface="楷体_GB2312"/>
                  <a:ea typeface="楷体_GB2312"/>
                </a:rPr>
                <a:t>辅助动作信号</a:t>
              </a:r>
              <a:endParaRPr lang="zh-CN" altLang="en-US" sz="2400" b="1" dirty="0">
                <a:latin typeface="楷体_GB2312"/>
                <a:ea typeface="楷体_GB2312"/>
              </a:endParaRPr>
            </a:p>
          </p:txBody>
        </p:sp>
      </p:grpSp>
    </p:spTree>
  </p:cSld>
  <p:clrMapOvr>
    <a:masterClrMapping/>
  </p:clrMapOvr>
  <p:transition spd="slow">
    <p:wip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7089" name="Group 18"/>
          <p:cNvGrpSpPr/>
          <p:nvPr/>
        </p:nvGrpSpPr>
        <p:grpSpPr>
          <a:xfrm>
            <a:off x="6902450" y="4991100"/>
            <a:ext cx="1916113" cy="1487488"/>
            <a:chOff x="4348" y="3273"/>
            <a:chExt cx="1207" cy="937"/>
          </a:xfrm>
        </p:grpSpPr>
        <p:sp>
          <p:nvSpPr>
            <p:cNvPr id="217090" name="AutoShape 3"/>
            <p:cNvSpPr/>
            <p:nvPr/>
          </p:nvSpPr>
          <p:spPr>
            <a:xfrm rot="1200000" flipH="1">
              <a:off x="4739" y="3914"/>
              <a:ext cx="200" cy="200"/>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7091" name="AutoShape 4"/>
            <p:cNvSpPr/>
            <p:nvPr/>
          </p:nvSpPr>
          <p:spPr>
            <a:xfrm rot="8100000">
              <a:off x="4348" y="3273"/>
              <a:ext cx="306" cy="304"/>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7092" name="AutoShape 5"/>
            <p:cNvSpPr/>
            <p:nvPr/>
          </p:nvSpPr>
          <p:spPr>
            <a:xfrm rot="8100000">
              <a:off x="5109" y="3733"/>
              <a:ext cx="446" cy="444"/>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7093" name="AutoShape 6"/>
            <p:cNvSpPr/>
            <p:nvPr/>
          </p:nvSpPr>
          <p:spPr>
            <a:xfrm rot="-4320000" flipH="1">
              <a:off x="5178" y="4008"/>
              <a:ext cx="202" cy="202"/>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7094" name="AutoShape 7"/>
            <p:cNvSpPr/>
            <p:nvPr/>
          </p:nvSpPr>
          <p:spPr>
            <a:xfrm rot="-2700000">
              <a:off x="4791" y="3403"/>
              <a:ext cx="450" cy="450"/>
            </a:xfrm>
            <a:prstGeom prst="rtTriangle">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7095" name="Freeform 8"/>
            <p:cNvSpPr/>
            <p:nvPr/>
          </p:nvSpPr>
          <p:spPr>
            <a:xfrm>
              <a:off x="4516" y="3633"/>
              <a:ext cx="409" cy="219"/>
            </a:xfrm>
            <a:custGeom>
              <a:avLst/>
              <a:gdLst/>
              <a:ahLst/>
              <a:cxnLst>
                <a:cxn ang="0">
                  <a:pos x="408" y="218"/>
                </a:cxn>
                <a:cxn ang="0">
                  <a:pos x="203" y="217"/>
                </a:cxn>
                <a:cxn ang="0">
                  <a:pos x="0" y="0"/>
                </a:cxn>
                <a:cxn ang="0">
                  <a:pos x="206" y="0"/>
                </a:cxn>
                <a:cxn ang="0">
                  <a:pos x="408" y="218"/>
                </a:cxn>
              </a:cxnLst>
              <a:pathLst>
                <a:path w="409" h="219">
                  <a:moveTo>
                    <a:pt x="408" y="218"/>
                  </a:moveTo>
                  <a:lnTo>
                    <a:pt x="203" y="217"/>
                  </a:lnTo>
                  <a:lnTo>
                    <a:pt x="0" y="0"/>
                  </a:lnTo>
                  <a:lnTo>
                    <a:pt x="206" y="0"/>
                  </a:lnTo>
                  <a:lnTo>
                    <a:pt x="408" y="218"/>
                  </a:lnTo>
                </a:path>
              </a:pathLst>
            </a:custGeom>
            <a:solidFill>
              <a:schemeClr val="accent1"/>
            </a:solidFill>
            <a:ln w="12700" cap="flat" cmpd="sng">
              <a:solidFill>
                <a:schemeClr val="accent1"/>
              </a:solidFill>
              <a:prstDash val="solid"/>
              <a:round/>
              <a:headEnd type="none" w="med" len="med"/>
              <a:tailEnd type="none" w="med" len="med"/>
            </a:ln>
          </p:spPr>
          <p:txBody>
            <a:bodyPr/>
            <a:p>
              <a:endParaRPr lang="zh-CN" altLang="en-US"/>
            </a:p>
          </p:txBody>
        </p:sp>
        <p:sp>
          <p:nvSpPr>
            <p:cNvPr id="217096" name="Rectangle 9"/>
            <p:cNvSpPr/>
            <p:nvPr/>
          </p:nvSpPr>
          <p:spPr>
            <a:xfrm>
              <a:off x="4512" y="3423"/>
              <a:ext cx="199" cy="196"/>
            </a:xfrm>
            <a:prstGeom prst="rect">
              <a:avLst/>
            </a:prstGeom>
            <a:solidFill>
              <a:schemeClr val="accent1"/>
            </a:solidFill>
            <a:ln w="12700" cap="flat" cmpd="sng">
              <a:solidFill>
                <a:schemeClr val="accent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17097" name="Rectangle 10"/>
          <p:cNvSpPr>
            <a:spLocks noGrp="1"/>
          </p:cNvSpPr>
          <p:nvPr>
            <p:ph type="title"/>
          </p:nvPr>
        </p:nvSpPr>
        <p:spPr>
          <a:xfrm>
            <a:off x="295275" y="1033463"/>
            <a:ext cx="2379663" cy="811212"/>
          </a:xfrm>
          <a:ln/>
        </p:spPr>
        <p:txBody>
          <a:bodyPr vert="horz" wrap="square" lIns="91440" tIns="45720" rIns="91440" bIns="45720" anchor="ctr" anchorCtr="0"/>
          <a:p>
            <a:pPr eaLnBrk="1" hangingPunct="1"/>
            <a:r>
              <a:rPr lang="en-US" altLang="zh-CN" sz="2700" dirty="0">
                <a:solidFill>
                  <a:srgbClr val="FF3300"/>
                </a:solidFill>
                <a:latin typeface="楷体_GB2312"/>
                <a:ea typeface="楷体_GB2312"/>
              </a:rPr>
              <a:t>1</a:t>
            </a:r>
            <a:r>
              <a:rPr lang="zh-CN" altLang="en-US" sz="2700" dirty="0">
                <a:solidFill>
                  <a:srgbClr val="FF3300"/>
                </a:solidFill>
                <a:latin typeface="楷体_GB2312"/>
                <a:ea typeface="楷体_GB2312"/>
              </a:rPr>
              <a:t>、程序载体</a:t>
            </a:r>
            <a:endParaRPr lang="zh-CN" altLang="en-US" sz="2700" dirty="0">
              <a:solidFill>
                <a:srgbClr val="FF3300"/>
              </a:solidFill>
              <a:latin typeface="楷体_GB2312"/>
              <a:ea typeface="楷体_GB2312"/>
            </a:endParaRPr>
          </a:p>
        </p:txBody>
      </p:sp>
      <p:sp>
        <p:nvSpPr>
          <p:cNvPr id="217098" name="Rectangle 11"/>
          <p:cNvSpPr/>
          <p:nvPr/>
        </p:nvSpPr>
        <p:spPr>
          <a:xfrm>
            <a:off x="107950" y="1557338"/>
            <a:ext cx="8936038" cy="1692275"/>
          </a:xfrm>
          <a:prstGeom prst="rect">
            <a:avLst/>
          </a:prstGeom>
          <a:noFill/>
          <a:ln w="9525">
            <a:noFill/>
          </a:ln>
        </p:spPr>
        <p:txBody>
          <a:bodyPr wrap="none" anchor="t" anchorCtr="0">
            <a:spAutoFit/>
          </a:bodyPr>
          <a:p>
            <a:pPr>
              <a:lnSpc>
                <a:spcPct val="125000"/>
              </a:lnSpc>
            </a:pPr>
            <a:r>
              <a:rPr lang="zh-CN" altLang="en-US" sz="2800" b="1" dirty="0">
                <a:latin typeface="楷体_GB2312"/>
                <a:ea typeface="楷体_GB2312"/>
              </a:rPr>
              <a:t>程序</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包括加工零件所需的全部信息和刀具相对工件</a:t>
            </a:r>
            <a:endParaRPr lang="zh-CN" altLang="en-US" sz="2800" b="1" dirty="0">
              <a:latin typeface="楷体_GB2312"/>
              <a:ea typeface="楷体_GB2312"/>
            </a:endParaRPr>
          </a:p>
          <a:p>
            <a:pPr>
              <a:lnSpc>
                <a:spcPct val="125000"/>
              </a:lnSpc>
            </a:pPr>
            <a:r>
              <a:rPr lang="zh-CN" altLang="en-US" sz="2800" b="1" dirty="0">
                <a:latin typeface="楷体_GB2312"/>
                <a:ea typeface="楷体_GB2312"/>
              </a:rPr>
              <a:t>      的位移信息。</a:t>
            </a:r>
            <a:endParaRPr lang="zh-CN" altLang="en-US" sz="2800" b="1" dirty="0">
              <a:latin typeface="楷体_GB2312"/>
              <a:ea typeface="楷体_GB2312"/>
            </a:endParaRPr>
          </a:p>
          <a:p>
            <a:pPr>
              <a:lnSpc>
                <a:spcPct val="125000"/>
              </a:lnSpc>
            </a:pPr>
            <a:r>
              <a:rPr lang="zh-CN" altLang="en-US" sz="2800" b="1" dirty="0">
                <a:latin typeface="楷体_GB2312"/>
                <a:ea typeface="楷体_GB2312"/>
              </a:rPr>
              <a:t>载体</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穿孔纸带、磁带、磁盘（软盘、硬盘、内存</a:t>
            </a:r>
            <a:r>
              <a:rPr lang="en-US" altLang="zh-CN" sz="2800" b="1" dirty="0">
                <a:latin typeface="楷体_GB2312"/>
                <a:ea typeface="楷体_GB2312"/>
              </a:rPr>
              <a:t>RAM</a:t>
            </a:r>
            <a:r>
              <a:rPr lang="zh-CN" altLang="en-US" sz="2800" b="1" dirty="0">
                <a:latin typeface="楷体_GB2312"/>
                <a:ea typeface="楷体_GB2312"/>
              </a:rPr>
              <a:t>）</a:t>
            </a:r>
            <a:endParaRPr lang="zh-CN" altLang="en-US" sz="2800" b="1" dirty="0">
              <a:latin typeface="楷体_GB2312"/>
              <a:ea typeface="楷体_GB2312"/>
            </a:endParaRPr>
          </a:p>
        </p:txBody>
      </p:sp>
      <p:sp>
        <p:nvSpPr>
          <p:cNvPr id="217099" name="Rectangle 12"/>
          <p:cNvSpPr/>
          <p:nvPr/>
        </p:nvSpPr>
        <p:spPr>
          <a:xfrm>
            <a:off x="295275" y="3324225"/>
            <a:ext cx="2801938" cy="609600"/>
          </a:xfrm>
          <a:prstGeom prst="rect">
            <a:avLst/>
          </a:prstGeom>
          <a:noFill/>
          <a:ln w="9525">
            <a:noFill/>
          </a:ln>
        </p:spPr>
        <p:txBody>
          <a:bodyPr lIns="92075" tIns="46038" rIns="92075" bIns="46038" anchor="ctr" anchorCtr="0"/>
          <a:p>
            <a:pPr marL="457200" indent="-457200">
              <a:lnSpc>
                <a:spcPct val="90000"/>
              </a:lnSpc>
            </a:pPr>
            <a:r>
              <a:rPr lang="en-US" altLang="zh-CN" sz="2800" b="1" dirty="0">
                <a:solidFill>
                  <a:srgbClr val="FF3300"/>
                </a:solidFill>
                <a:latin typeface="楷体_GB2312"/>
                <a:ea typeface="楷体_GB2312"/>
              </a:rPr>
              <a:t>2</a:t>
            </a:r>
            <a:r>
              <a:rPr lang="zh-CN" altLang="en-US" sz="2800" b="1" dirty="0">
                <a:solidFill>
                  <a:srgbClr val="FF3300"/>
                </a:solidFill>
                <a:latin typeface="楷体_GB2312"/>
                <a:ea typeface="楷体_GB2312"/>
              </a:rPr>
              <a:t>、输入装置</a:t>
            </a:r>
            <a:endParaRPr lang="zh-CN" altLang="en-US" sz="2800" b="1" dirty="0">
              <a:solidFill>
                <a:srgbClr val="FF3300"/>
              </a:solidFill>
              <a:latin typeface="楷体_GB2312"/>
              <a:ea typeface="楷体_GB2312"/>
            </a:endParaRPr>
          </a:p>
        </p:txBody>
      </p:sp>
      <p:sp>
        <p:nvSpPr>
          <p:cNvPr id="217100" name="Text Box 13"/>
          <p:cNvSpPr txBox="1"/>
          <p:nvPr/>
        </p:nvSpPr>
        <p:spPr>
          <a:xfrm>
            <a:off x="295275" y="3998913"/>
            <a:ext cx="8207375" cy="519112"/>
          </a:xfrm>
          <a:prstGeom prst="rect">
            <a:avLst/>
          </a:prstGeom>
          <a:noFill/>
          <a:ln w="9525">
            <a:noFill/>
          </a:ln>
        </p:spPr>
        <p:txBody>
          <a:bodyPr anchor="t" anchorCtr="0">
            <a:spAutoFit/>
          </a:bodyPr>
          <a:p>
            <a:pPr>
              <a:spcBef>
                <a:spcPct val="50000"/>
              </a:spcBef>
            </a:pPr>
            <a:r>
              <a:rPr lang="zh-CN" altLang="en-US" sz="2800" b="1" dirty="0">
                <a:latin typeface="楷体_GB2312"/>
                <a:ea typeface="楷体_GB2312"/>
              </a:rPr>
              <a:t>作用：将程序载体内有关加工的信息读入</a:t>
            </a:r>
            <a:r>
              <a:rPr lang="en-US" altLang="zh-CN" sz="2800" b="1" dirty="0">
                <a:latin typeface="楷体_GB2312"/>
                <a:ea typeface="楷体_GB2312"/>
              </a:rPr>
              <a:t>CNC</a:t>
            </a:r>
            <a:r>
              <a:rPr lang="zh-CN" altLang="en-US" sz="2800" b="1" dirty="0">
                <a:latin typeface="楷体_GB2312"/>
                <a:ea typeface="楷体_GB2312"/>
              </a:rPr>
              <a:t>装置  </a:t>
            </a:r>
            <a:endParaRPr lang="zh-CN" altLang="en-US" sz="2800" b="1" dirty="0">
              <a:latin typeface="楷体_GB2312"/>
              <a:ea typeface="楷体_GB2312"/>
            </a:endParaRPr>
          </a:p>
        </p:txBody>
      </p:sp>
      <p:sp>
        <p:nvSpPr>
          <p:cNvPr id="217101" name="Rectangle 14"/>
          <p:cNvSpPr/>
          <p:nvPr/>
        </p:nvSpPr>
        <p:spPr>
          <a:xfrm>
            <a:off x="1592263" y="4578350"/>
            <a:ext cx="3754437" cy="519113"/>
          </a:xfrm>
          <a:prstGeom prst="rect">
            <a:avLst/>
          </a:prstGeom>
          <a:noFill/>
          <a:ln w="9525">
            <a:noFill/>
          </a:ln>
        </p:spPr>
        <p:txBody>
          <a:bodyPr wrap="none" anchor="t" anchorCtr="0">
            <a:spAutoFit/>
          </a:bodyPr>
          <a:p>
            <a:r>
              <a:rPr lang="zh-CN" altLang="en-US" sz="2800" b="1" dirty="0">
                <a:latin typeface="楷体_GB2312"/>
                <a:ea typeface="楷体_GB2312"/>
              </a:rPr>
              <a:t>穿孔纸带</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光电阅读机</a:t>
            </a:r>
            <a:endParaRPr lang="zh-CN" altLang="en-US" sz="2800" b="1" dirty="0">
              <a:latin typeface="楷体_GB2312"/>
              <a:ea typeface="楷体_GB2312"/>
            </a:endParaRPr>
          </a:p>
        </p:txBody>
      </p:sp>
      <p:sp>
        <p:nvSpPr>
          <p:cNvPr id="217102" name="Rectangle 15"/>
          <p:cNvSpPr/>
          <p:nvPr/>
        </p:nvSpPr>
        <p:spPr>
          <a:xfrm>
            <a:off x="1620838" y="5141913"/>
            <a:ext cx="2325687" cy="519112"/>
          </a:xfrm>
          <a:prstGeom prst="rect">
            <a:avLst/>
          </a:prstGeom>
          <a:noFill/>
          <a:ln w="9525">
            <a:noFill/>
          </a:ln>
        </p:spPr>
        <p:txBody>
          <a:bodyPr wrap="none" anchor="t" anchorCtr="0">
            <a:spAutoFit/>
          </a:bodyPr>
          <a:p>
            <a:r>
              <a:rPr lang="zh-CN" altLang="en-US" sz="2800" b="1" dirty="0">
                <a:latin typeface="楷体_GB2312"/>
                <a:ea typeface="楷体_GB2312"/>
              </a:rPr>
              <a:t>磁带</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录放机</a:t>
            </a:r>
            <a:endParaRPr lang="zh-CN" altLang="en-US" sz="2800" b="1" dirty="0">
              <a:latin typeface="楷体_GB2312"/>
              <a:ea typeface="楷体_GB2312"/>
            </a:endParaRPr>
          </a:p>
        </p:txBody>
      </p:sp>
      <p:sp>
        <p:nvSpPr>
          <p:cNvPr id="217103" name="Rectangle 16"/>
          <p:cNvSpPr/>
          <p:nvPr/>
        </p:nvSpPr>
        <p:spPr>
          <a:xfrm>
            <a:off x="1620838" y="5646738"/>
            <a:ext cx="3754437" cy="519112"/>
          </a:xfrm>
          <a:prstGeom prst="rect">
            <a:avLst/>
          </a:prstGeom>
          <a:noFill/>
          <a:ln w="9525">
            <a:noFill/>
          </a:ln>
        </p:spPr>
        <p:txBody>
          <a:bodyPr wrap="none" anchor="t" anchorCtr="0">
            <a:spAutoFit/>
          </a:bodyPr>
          <a:p>
            <a:r>
              <a:rPr lang="zh-CN" altLang="en-US" sz="2800" b="1" dirty="0">
                <a:latin typeface="楷体_GB2312"/>
                <a:ea typeface="楷体_GB2312"/>
              </a:rPr>
              <a:t>磁盘</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驱动器和驱动卡</a:t>
            </a:r>
            <a:endParaRPr lang="zh-CN" altLang="en-US" sz="2800" b="1" dirty="0">
              <a:latin typeface="楷体_GB2312"/>
              <a:ea typeface="楷体_GB2312"/>
            </a:endParaRPr>
          </a:p>
        </p:txBody>
      </p:sp>
      <p:sp>
        <p:nvSpPr>
          <p:cNvPr id="217104" name="Rectangle 17"/>
          <p:cNvSpPr/>
          <p:nvPr/>
        </p:nvSpPr>
        <p:spPr>
          <a:xfrm>
            <a:off x="1671638" y="6234113"/>
            <a:ext cx="2506662" cy="519112"/>
          </a:xfrm>
          <a:prstGeom prst="rect">
            <a:avLst/>
          </a:prstGeom>
          <a:noFill/>
          <a:ln w="9525">
            <a:noFill/>
          </a:ln>
        </p:spPr>
        <p:txBody>
          <a:bodyPr wrap="none" anchor="t" anchorCtr="0">
            <a:spAutoFit/>
          </a:bodyPr>
          <a:p>
            <a:r>
              <a:rPr lang="en-US" altLang="zh-CN" sz="2800" b="1" dirty="0">
                <a:latin typeface="楷体_GB2312"/>
                <a:ea typeface="楷体_GB2312"/>
              </a:rPr>
              <a:t>MDI</a:t>
            </a:r>
            <a:r>
              <a:rPr lang="en-US" altLang="zh-CN" sz="2800" b="1" dirty="0">
                <a:latin typeface="Times New Roman" panose="02020603050405020304" pitchFamily="18" charset="0"/>
                <a:ea typeface="楷体_GB2312"/>
              </a:rPr>
              <a:t>—</a:t>
            </a:r>
            <a:r>
              <a:rPr lang="zh-CN" altLang="en-US" sz="2800" b="1" dirty="0">
                <a:latin typeface="楷体_GB2312"/>
                <a:ea typeface="楷体_GB2312"/>
              </a:rPr>
              <a:t>手动输入</a:t>
            </a:r>
            <a:endParaRPr lang="zh-CN" altLang="en-US" sz="2800" b="1" dirty="0">
              <a:latin typeface="楷体_GB2312"/>
              <a:ea typeface="楷体_GB2312"/>
            </a:endParaRPr>
          </a:p>
        </p:txBody>
      </p:sp>
      <p:sp>
        <p:nvSpPr>
          <p:cNvPr id="217105" name="Rectangle 19"/>
          <p:cNvSpPr/>
          <p:nvPr/>
        </p:nvSpPr>
        <p:spPr>
          <a:xfrm>
            <a:off x="2555875" y="382588"/>
            <a:ext cx="6470650" cy="525462"/>
          </a:xfrm>
          <a:prstGeom prst="rect">
            <a:avLst/>
          </a:prstGeom>
          <a:noFill/>
          <a:ln w="9525">
            <a:noFill/>
          </a:ln>
        </p:spPr>
        <p:txBody>
          <a:bodyPr anchor="ctr" anchorCtr="0"/>
          <a:p>
            <a:r>
              <a:rPr lang="zh-CN" altLang="en-US" sz="4000" b="1" dirty="0">
                <a:solidFill>
                  <a:schemeClr val="tx2"/>
                </a:solidFill>
                <a:latin typeface="楷体_GB2312"/>
                <a:ea typeface="楷体_GB2312"/>
              </a:rPr>
              <a:t>数控机床的工作原理及组成</a:t>
            </a:r>
            <a:endParaRPr lang="zh-CN" altLang="en-US" sz="4000" b="1" dirty="0">
              <a:solidFill>
                <a:schemeClr val="tx2"/>
              </a:solidFill>
              <a:latin typeface="楷体_GB2312"/>
              <a:ea typeface="楷体_GB2312"/>
            </a:endParaRPr>
          </a:p>
        </p:txBody>
      </p:sp>
    </p:spTree>
  </p:cSld>
  <p:clrMapOvr>
    <a:masterClrMapping/>
  </p:clrMapOvr>
  <p:transition spd="slow">
    <p:wip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7" name="Rectangle 2"/>
          <p:cNvSpPr>
            <a:spLocks noGrp="1"/>
          </p:cNvSpPr>
          <p:nvPr>
            <p:ph type="title"/>
          </p:nvPr>
        </p:nvSpPr>
        <p:spPr>
          <a:xfrm>
            <a:off x="539750" y="1125538"/>
            <a:ext cx="2459038" cy="468312"/>
          </a:xfrm>
          <a:ln/>
        </p:spPr>
        <p:txBody>
          <a:bodyPr vert="horz" wrap="square" lIns="91440" tIns="45720" rIns="91440" bIns="45720" anchor="ctr" anchorCtr="0"/>
          <a:p>
            <a:pPr eaLnBrk="1" hangingPunct="1"/>
            <a:r>
              <a:rPr lang="en-US" altLang="zh-CN" sz="2800" dirty="0">
                <a:solidFill>
                  <a:srgbClr val="FF3300"/>
                </a:solidFill>
                <a:latin typeface="楷体_GB2312"/>
                <a:ea typeface="楷体_GB2312"/>
              </a:rPr>
              <a:t>3</a:t>
            </a:r>
            <a:r>
              <a:rPr lang="zh-CN" altLang="en-US" sz="2800" dirty="0">
                <a:solidFill>
                  <a:srgbClr val="FF3300"/>
                </a:solidFill>
                <a:latin typeface="楷体_GB2312"/>
                <a:ea typeface="楷体_GB2312"/>
              </a:rPr>
              <a:t>、</a:t>
            </a:r>
            <a:r>
              <a:rPr lang="en-US" altLang="zh-CN" sz="2800" dirty="0">
                <a:solidFill>
                  <a:srgbClr val="FF3300"/>
                </a:solidFill>
                <a:latin typeface="楷体_GB2312"/>
                <a:ea typeface="楷体_GB2312"/>
              </a:rPr>
              <a:t>CNC</a:t>
            </a:r>
            <a:r>
              <a:rPr lang="zh-CN" altLang="en-US" sz="2800" dirty="0">
                <a:solidFill>
                  <a:srgbClr val="FF3300"/>
                </a:solidFill>
                <a:latin typeface="楷体_GB2312"/>
                <a:ea typeface="楷体_GB2312"/>
              </a:rPr>
              <a:t>装置</a:t>
            </a:r>
            <a:endParaRPr lang="zh-CN" altLang="en-US" sz="2800" dirty="0">
              <a:solidFill>
                <a:srgbClr val="FF3300"/>
              </a:solidFill>
              <a:latin typeface="楷体_GB2312"/>
              <a:ea typeface="楷体_GB2312"/>
            </a:endParaRPr>
          </a:p>
        </p:txBody>
      </p:sp>
      <p:sp>
        <p:nvSpPr>
          <p:cNvPr id="219138" name="Rectangle 3"/>
          <p:cNvSpPr/>
          <p:nvPr/>
        </p:nvSpPr>
        <p:spPr>
          <a:xfrm>
            <a:off x="468313" y="3630613"/>
            <a:ext cx="2273300" cy="446087"/>
          </a:xfrm>
          <a:prstGeom prst="rect">
            <a:avLst/>
          </a:prstGeom>
          <a:noFill/>
          <a:ln w="9525">
            <a:noFill/>
          </a:ln>
        </p:spPr>
        <p:txBody>
          <a:bodyPr lIns="92075" tIns="46038" rIns="92075" bIns="46038" anchor="ctr" anchorCtr="0"/>
          <a:p>
            <a:pPr>
              <a:lnSpc>
                <a:spcPct val="90000"/>
              </a:lnSpc>
            </a:pPr>
            <a:r>
              <a:rPr lang="en-US" altLang="zh-CN" sz="2800" b="1" dirty="0">
                <a:solidFill>
                  <a:srgbClr val="FF3300"/>
                </a:solidFill>
                <a:latin typeface="楷体_GB2312"/>
                <a:ea typeface="楷体_GB2312"/>
              </a:rPr>
              <a:t>4</a:t>
            </a:r>
            <a:r>
              <a:rPr lang="zh-CN" altLang="en-US" sz="2800" b="1" dirty="0">
                <a:solidFill>
                  <a:srgbClr val="FF3300"/>
                </a:solidFill>
                <a:latin typeface="楷体_GB2312"/>
                <a:ea typeface="楷体_GB2312"/>
              </a:rPr>
              <a:t>、伺服系统</a:t>
            </a:r>
            <a:endParaRPr lang="zh-CN" altLang="en-US" sz="2800" b="1" dirty="0">
              <a:solidFill>
                <a:srgbClr val="FF3300"/>
              </a:solidFill>
              <a:latin typeface="楷体_GB2312"/>
              <a:ea typeface="楷体_GB2312"/>
            </a:endParaRPr>
          </a:p>
        </p:txBody>
      </p:sp>
      <p:sp>
        <p:nvSpPr>
          <p:cNvPr id="219139" name="Rectangle 4"/>
          <p:cNvSpPr/>
          <p:nvPr/>
        </p:nvSpPr>
        <p:spPr>
          <a:xfrm>
            <a:off x="468313" y="6367463"/>
            <a:ext cx="2971800" cy="446087"/>
          </a:xfrm>
          <a:prstGeom prst="rect">
            <a:avLst/>
          </a:prstGeom>
          <a:noFill/>
          <a:ln w="9525">
            <a:noFill/>
          </a:ln>
        </p:spPr>
        <p:txBody>
          <a:bodyPr lIns="92075" tIns="46038" rIns="92075" bIns="46038" anchor="ctr" anchorCtr="0"/>
          <a:p>
            <a:pPr>
              <a:lnSpc>
                <a:spcPct val="90000"/>
              </a:lnSpc>
            </a:pPr>
            <a:r>
              <a:rPr lang="en-US" altLang="zh-CN" sz="2800" b="1" dirty="0">
                <a:solidFill>
                  <a:srgbClr val="FF3300"/>
                </a:solidFill>
                <a:latin typeface="楷体_GB2312"/>
                <a:ea typeface="楷体_GB2312"/>
              </a:rPr>
              <a:t>5</a:t>
            </a:r>
            <a:r>
              <a:rPr lang="zh-CN" altLang="en-US" sz="2800" b="1" dirty="0">
                <a:solidFill>
                  <a:srgbClr val="FF3300"/>
                </a:solidFill>
                <a:latin typeface="楷体_GB2312"/>
                <a:ea typeface="楷体_GB2312"/>
              </a:rPr>
              <a:t>、位置反馈系统</a:t>
            </a:r>
            <a:endParaRPr lang="zh-CN" altLang="en-US" sz="2800" b="1" dirty="0">
              <a:solidFill>
                <a:srgbClr val="FF3300"/>
              </a:solidFill>
              <a:latin typeface="楷体_GB2312"/>
              <a:ea typeface="楷体_GB2312"/>
            </a:endParaRPr>
          </a:p>
        </p:txBody>
      </p:sp>
      <p:sp>
        <p:nvSpPr>
          <p:cNvPr id="219140" name="Text Box 5"/>
          <p:cNvSpPr txBox="1"/>
          <p:nvPr/>
        </p:nvSpPr>
        <p:spPr>
          <a:xfrm>
            <a:off x="693738" y="1547813"/>
            <a:ext cx="7696200" cy="1160462"/>
          </a:xfrm>
          <a:prstGeom prst="rect">
            <a:avLst/>
          </a:prstGeom>
          <a:noFill/>
          <a:ln w="9525">
            <a:noFill/>
          </a:ln>
        </p:spPr>
        <p:txBody>
          <a:bodyPr anchor="t" anchorCtr="0">
            <a:spAutoFit/>
          </a:bodyPr>
          <a:p>
            <a:pPr>
              <a:spcBef>
                <a:spcPct val="50000"/>
              </a:spcBef>
            </a:pPr>
            <a:r>
              <a:rPr lang="zh-CN" altLang="en-US" sz="2800" b="1" dirty="0">
                <a:latin typeface="Arial" panose="020B0604020202020204" pitchFamily="34" charset="0"/>
                <a:ea typeface="楷体_GB2312"/>
              </a:rPr>
              <a:t>作用：接收输入装置输入的加工信息，完成数值</a:t>
            </a:r>
            <a:endParaRPr lang="zh-CN" altLang="en-US" sz="2800" b="1" dirty="0">
              <a:latin typeface="Arial" panose="020B0604020202020204" pitchFamily="34" charset="0"/>
              <a:ea typeface="楷体_GB2312"/>
            </a:endParaRPr>
          </a:p>
          <a:p>
            <a:pPr>
              <a:spcBef>
                <a:spcPct val="50000"/>
              </a:spcBef>
            </a:pPr>
            <a:r>
              <a:rPr lang="zh-CN" altLang="en-US" sz="2800" b="1" dirty="0">
                <a:latin typeface="Arial" panose="020B0604020202020204" pitchFamily="34" charset="0"/>
                <a:ea typeface="楷体_GB2312"/>
              </a:rPr>
              <a:t>           计算、逻辑判断、输入输出控制等功能。</a:t>
            </a:r>
            <a:endParaRPr lang="zh-CN" altLang="en-US" sz="2800" b="1" dirty="0">
              <a:latin typeface="Arial" panose="020B0604020202020204" pitchFamily="34" charset="0"/>
              <a:ea typeface="楷体_GB2312"/>
            </a:endParaRPr>
          </a:p>
        </p:txBody>
      </p:sp>
      <p:sp>
        <p:nvSpPr>
          <p:cNvPr id="219141" name="AutoShape 6"/>
          <p:cNvSpPr/>
          <p:nvPr/>
        </p:nvSpPr>
        <p:spPr>
          <a:xfrm>
            <a:off x="2628900" y="2924175"/>
            <a:ext cx="239713" cy="1930400"/>
          </a:xfrm>
          <a:prstGeom prst="leftBrace">
            <a:avLst>
              <a:gd name="adj1" fmla="val 66847"/>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19142" name="Text Box 7"/>
          <p:cNvSpPr txBox="1"/>
          <p:nvPr/>
        </p:nvSpPr>
        <p:spPr>
          <a:xfrm>
            <a:off x="2844800" y="2708275"/>
            <a:ext cx="2667000" cy="2443163"/>
          </a:xfrm>
          <a:prstGeom prst="rect">
            <a:avLst/>
          </a:prstGeom>
          <a:noFill/>
          <a:ln w="9525">
            <a:noFill/>
          </a:ln>
        </p:spPr>
        <p:txBody>
          <a:bodyPr anchor="t" anchorCtr="0">
            <a:spAutoFit/>
          </a:bodyPr>
          <a:p>
            <a:pPr>
              <a:spcBef>
                <a:spcPct val="50000"/>
              </a:spcBef>
            </a:pPr>
            <a:r>
              <a:rPr lang="zh-CN" altLang="en-US" sz="2800" b="1" dirty="0">
                <a:latin typeface="Arial" panose="020B0604020202020204" pitchFamily="34" charset="0"/>
                <a:ea typeface="楷体_GB2312"/>
              </a:rPr>
              <a:t>电动机</a:t>
            </a:r>
            <a:endParaRPr lang="zh-CN" altLang="en-US" sz="2800" b="1" dirty="0">
              <a:latin typeface="Arial" panose="020B0604020202020204" pitchFamily="34" charset="0"/>
              <a:ea typeface="楷体_GB2312"/>
            </a:endParaRPr>
          </a:p>
          <a:p>
            <a:pPr>
              <a:spcBef>
                <a:spcPct val="50000"/>
              </a:spcBef>
            </a:pPr>
            <a:r>
              <a:rPr lang="zh-CN" altLang="en-US" sz="2800" b="1" dirty="0">
                <a:latin typeface="Arial" panose="020B0604020202020204" pitchFamily="34" charset="0"/>
                <a:ea typeface="楷体_GB2312"/>
              </a:rPr>
              <a:t>速度控制单元</a:t>
            </a:r>
            <a:endParaRPr lang="zh-CN" altLang="en-US" sz="2800" b="1" dirty="0">
              <a:latin typeface="Arial" panose="020B0604020202020204" pitchFamily="34" charset="0"/>
              <a:ea typeface="楷体_GB2312"/>
            </a:endParaRPr>
          </a:p>
          <a:p>
            <a:pPr>
              <a:spcBef>
                <a:spcPct val="50000"/>
              </a:spcBef>
            </a:pPr>
            <a:r>
              <a:rPr lang="zh-CN" altLang="en-US" sz="2800" b="1" dirty="0">
                <a:latin typeface="Arial" panose="020B0604020202020204" pitchFamily="34" charset="0"/>
                <a:ea typeface="楷体_GB2312"/>
              </a:rPr>
              <a:t>测量反馈单元</a:t>
            </a:r>
            <a:endParaRPr lang="zh-CN" altLang="en-US" sz="2800" b="1" dirty="0">
              <a:latin typeface="Arial" panose="020B0604020202020204" pitchFamily="34" charset="0"/>
              <a:ea typeface="楷体_GB2312"/>
            </a:endParaRPr>
          </a:p>
          <a:p>
            <a:pPr>
              <a:spcBef>
                <a:spcPct val="50000"/>
              </a:spcBef>
            </a:pPr>
            <a:r>
              <a:rPr lang="zh-CN" altLang="en-US" sz="2800" b="1" dirty="0">
                <a:latin typeface="Arial" panose="020B0604020202020204" pitchFamily="34" charset="0"/>
                <a:ea typeface="楷体_GB2312"/>
              </a:rPr>
              <a:t>位置控制单元</a:t>
            </a:r>
            <a:endParaRPr lang="zh-CN" altLang="en-US" sz="2800" b="1" dirty="0">
              <a:latin typeface="Arial" panose="020B0604020202020204" pitchFamily="34" charset="0"/>
              <a:ea typeface="楷体_GB2312"/>
            </a:endParaRPr>
          </a:p>
        </p:txBody>
      </p:sp>
      <p:sp>
        <p:nvSpPr>
          <p:cNvPr id="219143" name="Text Box 8"/>
          <p:cNvSpPr txBox="1"/>
          <p:nvPr/>
        </p:nvSpPr>
        <p:spPr>
          <a:xfrm>
            <a:off x="612775" y="5221288"/>
            <a:ext cx="7696200" cy="1160462"/>
          </a:xfrm>
          <a:prstGeom prst="rect">
            <a:avLst/>
          </a:prstGeom>
          <a:noFill/>
          <a:ln w="9525">
            <a:noFill/>
          </a:ln>
        </p:spPr>
        <p:txBody>
          <a:bodyPr anchor="t" anchorCtr="0">
            <a:spAutoFit/>
          </a:bodyPr>
          <a:p>
            <a:pPr>
              <a:spcBef>
                <a:spcPct val="50000"/>
              </a:spcBef>
            </a:pPr>
            <a:r>
              <a:rPr lang="zh-CN" altLang="en-US" sz="2800" b="1" dirty="0">
                <a:latin typeface="Arial" panose="020B0604020202020204" pitchFamily="34" charset="0"/>
                <a:ea typeface="楷体_GB2312"/>
              </a:rPr>
              <a:t>作用：将数控装置发来的各种动作指令，转化成   </a:t>
            </a:r>
            <a:endParaRPr lang="zh-CN" altLang="en-US" sz="2800" b="1" dirty="0">
              <a:latin typeface="Arial" panose="020B0604020202020204" pitchFamily="34" charset="0"/>
              <a:ea typeface="楷体_GB2312"/>
            </a:endParaRPr>
          </a:p>
          <a:p>
            <a:pPr>
              <a:spcBef>
                <a:spcPct val="50000"/>
              </a:spcBef>
            </a:pPr>
            <a:r>
              <a:rPr lang="zh-CN" altLang="en-US" sz="2800" b="1" dirty="0">
                <a:latin typeface="Arial" panose="020B0604020202020204" pitchFamily="34" charset="0"/>
                <a:ea typeface="楷体_GB2312"/>
              </a:rPr>
              <a:t>           机床移动部件的运动。</a:t>
            </a:r>
            <a:endParaRPr lang="zh-CN" altLang="en-US" sz="2800" b="1" dirty="0">
              <a:latin typeface="Arial" panose="020B0604020202020204" pitchFamily="34" charset="0"/>
              <a:ea typeface="楷体_GB2312"/>
            </a:endParaRPr>
          </a:p>
        </p:txBody>
      </p:sp>
      <p:sp>
        <p:nvSpPr>
          <p:cNvPr id="219144" name="Rectangle 9"/>
          <p:cNvSpPr/>
          <p:nvPr/>
        </p:nvSpPr>
        <p:spPr>
          <a:xfrm>
            <a:off x="2555875" y="382588"/>
            <a:ext cx="6470650" cy="525462"/>
          </a:xfrm>
          <a:prstGeom prst="rect">
            <a:avLst/>
          </a:prstGeom>
          <a:noFill/>
          <a:ln w="9525">
            <a:noFill/>
          </a:ln>
        </p:spPr>
        <p:txBody>
          <a:bodyPr anchor="ctr" anchorCtr="0"/>
          <a:p>
            <a:r>
              <a:rPr lang="zh-CN" altLang="en-US" sz="4000" b="1" dirty="0">
                <a:solidFill>
                  <a:schemeClr val="tx2"/>
                </a:solidFill>
                <a:latin typeface="楷体_GB2312"/>
                <a:ea typeface="楷体_GB2312"/>
              </a:rPr>
              <a:t>数控机床的工作原理及组成</a:t>
            </a:r>
            <a:endParaRPr lang="zh-CN" altLang="en-US" sz="4000" b="1" dirty="0">
              <a:solidFill>
                <a:schemeClr val="tx2"/>
              </a:solidFill>
              <a:latin typeface="楷体_GB2312"/>
              <a:ea typeface="楷体_GB2312"/>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5" name="Rectangle 2"/>
          <p:cNvSpPr>
            <a:spLocks noGrp="1"/>
          </p:cNvSpPr>
          <p:nvPr>
            <p:ph type="title"/>
          </p:nvPr>
        </p:nvSpPr>
        <p:spPr>
          <a:xfrm>
            <a:off x="792163" y="1604963"/>
            <a:ext cx="2195512" cy="600075"/>
          </a:xfrm>
          <a:ln/>
        </p:spPr>
        <p:txBody>
          <a:bodyPr vert="horz" wrap="square" lIns="91440" tIns="45720" rIns="91440" bIns="45720" anchor="ctr" anchorCtr="0"/>
          <a:p>
            <a:pPr eaLnBrk="1" hangingPunct="1"/>
            <a:r>
              <a:rPr lang="en-US" altLang="zh-CN" sz="2800" dirty="0">
                <a:solidFill>
                  <a:srgbClr val="FF3300"/>
                </a:solidFill>
                <a:latin typeface="楷体_GB2312"/>
                <a:ea typeface="楷体_GB2312"/>
              </a:rPr>
              <a:t>6</a:t>
            </a:r>
            <a:r>
              <a:rPr lang="zh-CN" altLang="en-US" sz="2800" dirty="0">
                <a:solidFill>
                  <a:srgbClr val="FF3300"/>
                </a:solidFill>
                <a:latin typeface="楷体_GB2312"/>
                <a:ea typeface="楷体_GB2312"/>
              </a:rPr>
              <a:t>、机床本体</a:t>
            </a:r>
            <a:endParaRPr lang="zh-CN" altLang="en-US" sz="2800" dirty="0">
              <a:solidFill>
                <a:srgbClr val="FF3300"/>
              </a:solidFill>
              <a:latin typeface="楷体_GB2312"/>
              <a:ea typeface="楷体_GB2312"/>
            </a:endParaRPr>
          </a:p>
        </p:txBody>
      </p:sp>
      <p:grpSp>
        <p:nvGrpSpPr>
          <p:cNvPr id="221186" name="Group 7"/>
          <p:cNvGrpSpPr/>
          <p:nvPr/>
        </p:nvGrpSpPr>
        <p:grpSpPr>
          <a:xfrm>
            <a:off x="684213" y="2259013"/>
            <a:ext cx="7169150" cy="1890712"/>
            <a:chOff x="768" y="864"/>
            <a:chExt cx="4516" cy="1191"/>
          </a:xfrm>
        </p:grpSpPr>
        <p:sp>
          <p:nvSpPr>
            <p:cNvPr id="221187" name="Text Box 3"/>
            <p:cNvSpPr txBox="1"/>
            <p:nvPr/>
          </p:nvSpPr>
          <p:spPr>
            <a:xfrm>
              <a:off x="960" y="864"/>
              <a:ext cx="1392" cy="327"/>
            </a:xfrm>
            <a:prstGeom prst="rect">
              <a:avLst/>
            </a:prstGeom>
            <a:noFill/>
            <a:ln w="9525">
              <a:noFill/>
            </a:ln>
          </p:spPr>
          <p:txBody>
            <a:bodyPr anchor="t" anchorCtr="0">
              <a:spAutoFit/>
            </a:bodyPr>
            <a:p>
              <a:pPr>
                <a:spcBef>
                  <a:spcPct val="50000"/>
                </a:spcBef>
              </a:pPr>
              <a:r>
                <a:rPr lang="zh-CN" altLang="en-US" sz="2800" b="1" dirty="0">
                  <a:latin typeface="楷体_GB2312"/>
                  <a:ea typeface="楷体_GB2312"/>
                </a:rPr>
                <a:t>主运动系统</a:t>
              </a:r>
              <a:endParaRPr lang="zh-CN" altLang="en-US" sz="2800" b="1" dirty="0">
                <a:latin typeface="楷体_GB2312"/>
                <a:ea typeface="楷体_GB2312"/>
              </a:endParaRPr>
            </a:p>
          </p:txBody>
        </p:sp>
        <p:sp>
          <p:nvSpPr>
            <p:cNvPr id="221188" name="Text Box 4"/>
            <p:cNvSpPr txBox="1"/>
            <p:nvPr/>
          </p:nvSpPr>
          <p:spPr>
            <a:xfrm>
              <a:off x="960" y="1296"/>
              <a:ext cx="1920" cy="327"/>
            </a:xfrm>
            <a:prstGeom prst="rect">
              <a:avLst/>
            </a:prstGeom>
            <a:noFill/>
            <a:ln w="9525">
              <a:noFill/>
            </a:ln>
          </p:spPr>
          <p:txBody>
            <a:bodyPr anchor="t" anchorCtr="0">
              <a:spAutoFit/>
            </a:bodyPr>
            <a:p>
              <a:pPr>
                <a:spcBef>
                  <a:spcPct val="50000"/>
                </a:spcBef>
              </a:pPr>
              <a:r>
                <a:rPr lang="zh-CN" altLang="en-US" sz="2800" b="1" dirty="0">
                  <a:latin typeface="楷体_GB2312"/>
                  <a:ea typeface="楷体_GB2312"/>
                </a:rPr>
                <a:t>进给运动系统</a:t>
              </a:r>
              <a:endParaRPr lang="zh-CN" altLang="en-US" sz="2800" b="1" dirty="0">
                <a:latin typeface="楷体_GB2312"/>
                <a:ea typeface="楷体_GB2312"/>
              </a:endParaRPr>
            </a:p>
          </p:txBody>
        </p:sp>
        <p:sp>
          <p:nvSpPr>
            <p:cNvPr id="221189" name="Text Box 5"/>
            <p:cNvSpPr txBox="1"/>
            <p:nvPr/>
          </p:nvSpPr>
          <p:spPr>
            <a:xfrm>
              <a:off x="960" y="1728"/>
              <a:ext cx="4324" cy="327"/>
            </a:xfrm>
            <a:prstGeom prst="rect">
              <a:avLst/>
            </a:prstGeom>
            <a:noFill/>
            <a:ln w="9525">
              <a:noFill/>
            </a:ln>
          </p:spPr>
          <p:txBody>
            <a:bodyPr anchor="t" anchorCtr="0">
              <a:spAutoFit/>
            </a:bodyPr>
            <a:p>
              <a:pPr>
                <a:spcBef>
                  <a:spcPct val="50000"/>
                </a:spcBef>
              </a:pPr>
              <a:r>
                <a:rPr lang="zh-CN" altLang="en-US" sz="2800" b="1" dirty="0">
                  <a:latin typeface="楷体_GB2312"/>
                  <a:ea typeface="楷体_GB2312"/>
                </a:rPr>
                <a:t>辅助部分（液压、气动、冷却、润滑）</a:t>
              </a:r>
              <a:endParaRPr lang="zh-CN" altLang="en-US" sz="2800" b="1" dirty="0">
                <a:latin typeface="楷体_GB2312"/>
                <a:ea typeface="楷体_GB2312"/>
              </a:endParaRPr>
            </a:p>
          </p:txBody>
        </p:sp>
        <p:sp>
          <p:nvSpPr>
            <p:cNvPr id="221190" name="AutoShape 6"/>
            <p:cNvSpPr/>
            <p:nvPr/>
          </p:nvSpPr>
          <p:spPr>
            <a:xfrm>
              <a:off x="768" y="912"/>
              <a:ext cx="144" cy="1008"/>
            </a:xfrm>
            <a:prstGeom prst="leftBrace">
              <a:avLst>
                <a:gd name="adj1" fmla="val 58106"/>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21191" name="Rectangle 8"/>
          <p:cNvSpPr/>
          <p:nvPr/>
        </p:nvSpPr>
        <p:spPr>
          <a:xfrm>
            <a:off x="2555875" y="382588"/>
            <a:ext cx="6470650" cy="525462"/>
          </a:xfrm>
          <a:prstGeom prst="rect">
            <a:avLst/>
          </a:prstGeom>
          <a:noFill/>
          <a:ln w="9525">
            <a:noFill/>
          </a:ln>
        </p:spPr>
        <p:txBody>
          <a:bodyPr anchor="ctr" anchorCtr="0"/>
          <a:p>
            <a:r>
              <a:rPr lang="zh-CN" altLang="en-US" sz="4000" b="1" dirty="0">
                <a:solidFill>
                  <a:schemeClr val="tx2"/>
                </a:solidFill>
                <a:latin typeface="楷体_GB2312"/>
                <a:ea typeface="楷体_GB2312"/>
              </a:rPr>
              <a:t>数控机床的工作原理及组成</a:t>
            </a:r>
            <a:endParaRPr lang="zh-CN" altLang="en-US" sz="4000" b="1" dirty="0">
              <a:solidFill>
                <a:schemeClr val="tx2"/>
              </a:solidFill>
              <a:latin typeface="楷体_GB2312"/>
              <a:ea typeface="楷体_GB2312"/>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3" name="Rectangle 2"/>
          <p:cNvSpPr>
            <a:spLocks noGrp="1"/>
          </p:cNvSpPr>
          <p:nvPr>
            <p:ph type="title"/>
          </p:nvPr>
        </p:nvSpPr>
        <p:spPr>
          <a:ln/>
        </p:spPr>
        <p:txBody>
          <a:bodyPr vert="horz" wrap="square" lIns="91440" tIns="45720" rIns="91440" bIns="45720" anchor="ctr" anchorCtr="0"/>
          <a:p>
            <a:pPr eaLnBrk="1" hangingPunct="1"/>
            <a:r>
              <a:rPr lang="en-US" altLang="zh-CN" sz="4400" dirty="0"/>
              <a:t>    </a:t>
            </a:r>
            <a:r>
              <a:rPr lang="zh-CN" altLang="en-US" sz="4000" dirty="0">
                <a:ea typeface="楷体_GB2312"/>
              </a:rPr>
              <a:t>数控机床的种类</a:t>
            </a:r>
            <a:r>
              <a:rPr lang="zh-CN" altLang="en-US" sz="4400" dirty="0"/>
              <a:t> </a:t>
            </a:r>
            <a:endParaRPr lang="zh-CN" altLang="en-US" sz="4400" dirty="0"/>
          </a:p>
        </p:txBody>
      </p:sp>
      <p:sp>
        <p:nvSpPr>
          <p:cNvPr id="223234" name="Rectangle 3"/>
          <p:cNvSpPr>
            <a:spLocks noGrp="1"/>
          </p:cNvSpPr>
          <p:nvPr>
            <p:ph idx="1"/>
          </p:nvPr>
        </p:nvSpPr>
        <p:spPr>
          <a:xfrm>
            <a:off x="457200" y="1371600"/>
            <a:ext cx="8435975" cy="3136900"/>
          </a:xfrm>
          <a:ln/>
        </p:spPr>
        <p:txBody>
          <a:bodyPr vert="horz" wrap="square" lIns="91440" tIns="45720" rIns="91440" bIns="45720" anchor="t" anchorCtr="0"/>
          <a:p>
            <a:pPr marL="179705" lvl="1" indent="0" eaLnBrk="1" hangingPunct="1">
              <a:lnSpc>
                <a:spcPct val="120000"/>
              </a:lnSpc>
              <a:buClr>
                <a:srgbClr val="FF3300"/>
              </a:buClr>
              <a:buFont typeface="Wingdings" panose="05000000000000000000" pitchFamily="2" charset="2"/>
              <a:buChar char="Ø"/>
            </a:pPr>
            <a:r>
              <a:rPr lang="zh-CN" altLang="en-US" b="1" dirty="0">
                <a:ea typeface="楷体_GB2312"/>
              </a:rPr>
              <a:t>按运动方式</a:t>
            </a:r>
            <a:r>
              <a:rPr lang="zh-CN" altLang="en-US" b="1" dirty="0">
                <a:latin typeface="楷体_GB2312"/>
                <a:ea typeface="楷体_GB2312"/>
              </a:rPr>
              <a:t>的类型分类</a:t>
            </a:r>
            <a:r>
              <a:rPr lang="zh-CN" altLang="en-US" b="1" dirty="0">
                <a:ea typeface="楷体_GB2312"/>
              </a:rPr>
              <a:t>：</a:t>
            </a:r>
            <a:r>
              <a:rPr lang="zh-CN" altLang="en-US" dirty="0"/>
              <a:t> </a:t>
            </a:r>
            <a:endParaRPr lang="zh-CN" altLang="en-US" dirty="0"/>
          </a:p>
          <a:p>
            <a:pPr marL="179705" lvl="1" indent="0" eaLnBrk="1" hangingPunct="1">
              <a:lnSpc>
                <a:spcPct val="120000"/>
              </a:lnSpc>
              <a:buNone/>
            </a:pPr>
            <a:r>
              <a:rPr lang="en-US" altLang="zh-CN" sz="2400" b="1" dirty="0">
                <a:solidFill>
                  <a:srgbClr val="FF3300"/>
                </a:solidFill>
                <a:latin typeface="楷体_GB2312"/>
                <a:ea typeface="楷体_GB2312"/>
              </a:rPr>
              <a:t>1</a:t>
            </a:r>
            <a:r>
              <a:rPr lang="zh-CN" altLang="en-US" sz="2400" b="1" dirty="0">
                <a:solidFill>
                  <a:srgbClr val="FF3300"/>
                </a:solidFill>
                <a:latin typeface="楷体_GB2312"/>
                <a:ea typeface="楷体_GB2312"/>
              </a:rPr>
              <a:t>．点位控制数控机床</a:t>
            </a:r>
            <a:endParaRPr lang="zh-CN" altLang="en-US" sz="2400" b="1" dirty="0">
              <a:solidFill>
                <a:srgbClr val="FF3300"/>
              </a:solidFill>
              <a:latin typeface="楷体_GB2312"/>
              <a:ea typeface="楷体_GB2312"/>
            </a:endParaRPr>
          </a:p>
          <a:p>
            <a:pPr marL="0" indent="0" eaLnBrk="1" hangingPunct="1">
              <a:lnSpc>
                <a:spcPct val="120000"/>
              </a:lnSpc>
              <a:buNone/>
            </a:pPr>
            <a:r>
              <a:rPr lang="zh-CN" altLang="en-US" sz="2400" b="1" dirty="0">
                <a:latin typeface="楷体_GB2312"/>
                <a:ea typeface="楷体_GB2312"/>
              </a:rPr>
              <a:t>    只控制刀具从一点到另一点的准确位置，而不控制运动轨迹，各坐标轴之间的运动是不相关的，在移动过程中不对工件进行加工（图</a:t>
            </a:r>
            <a:r>
              <a:rPr lang="en-US" altLang="zh-CN" sz="2400" b="1" dirty="0">
                <a:latin typeface="楷体_GB2312"/>
                <a:ea typeface="楷体_GB2312"/>
              </a:rPr>
              <a:t>2-19</a:t>
            </a:r>
            <a:r>
              <a:rPr lang="zh-CN" altLang="en-US" sz="2400" b="1" dirty="0">
                <a:latin typeface="楷体_GB2312"/>
                <a:ea typeface="楷体_GB2312"/>
              </a:rPr>
              <a:t>）。这类数控机床主要有数控钻床、数控坐标镗床、数控冲床等。</a:t>
            </a:r>
            <a:br>
              <a:rPr lang="zh-CN" altLang="en-US" sz="2800" b="1" dirty="0">
                <a:latin typeface="楷体_GB2312"/>
                <a:ea typeface="楷体_GB2312"/>
              </a:rPr>
            </a:br>
            <a:endParaRPr lang="zh-CN" altLang="en-US" sz="2800" b="1" dirty="0">
              <a:latin typeface="楷体_GB2312"/>
              <a:ea typeface="楷体_GB2312"/>
            </a:endParaRPr>
          </a:p>
        </p:txBody>
      </p:sp>
      <p:grpSp>
        <p:nvGrpSpPr>
          <p:cNvPr id="223235" name="Group 11"/>
          <p:cNvGrpSpPr/>
          <p:nvPr/>
        </p:nvGrpSpPr>
        <p:grpSpPr>
          <a:xfrm>
            <a:off x="5651500" y="4492625"/>
            <a:ext cx="2592388" cy="1889125"/>
            <a:chOff x="3606" y="2698"/>
            <a:chExt cx="1633" cy="1190"/>
          </a:xfrm>
        </p:grpSpPr>
        <p:sp>
          <p:nvSpPr>
            <p:cNvPr id="223236" name="Rectangle 7"/>
            <p:cNvSpPr/>
            <p:nvPr/>
          </p:nvSpPr>
          <p:spPr>
            <a:xfrm>
              <a:off x="3606" y="3657"/>
              <a:ext cx="1633" cy="231"/>
            </a:xfrm>
            <a:prstGeom prst="rect">
              <a:avLst/>
            </a:prstGeom>
            <a:solidFill>
              <a:srgbClr val="FFFFFF"/>
            </a:solidFill>
            <a:ln w="9525">
              <a:noFill/>
            </a:ln>
          </p:spPr>
          <p:txBody>
            <a:bodyPr anchor="t" anchorCtr="0">
              <a:spAutoFit/>
            </a:bodyPr>
            <a:p>
              <a:r>
                <a:rPr lang="en-US" altLang="zh-CN" b="1" dirty="0">
                  <a:solidFill>
                    <a:srgbClr val="000000"/>
                  </a:solidFill>
                  <a:latin typeface="楷体_GB2312"/>
                  <a:ea typeface="楷体_GB2312"/>
                </a:rPr>
                <a:t>   </a:t>
              </a:r>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2-19 </a:t>
              </a:r>
              <a:r>
                <a:rPr lang="zh-CN" altLang="en-US" b="1" dirty="0">
                  <a:solidFill>
                    <a:srgbClr val="000000"/>
                  </a:solidFill>
                  <a:latin typeface="楷体_GB2312"/>
                  <a:ea typeface="楷体_GB2312"/>
                </a:rPr>
                <a:t>点位控制</a:t>
              </a:r>
              <a:endParaRPr lang="zh-CN" altLang="en-US" b="1" dirty="0">
                <a:solidFill>
                  <a:srgbClr val="000000"/>
                </a:solidFill>
                <a:latin typeface="楷体_GB2312"/>
                <a:ea typeface="楷体_GB2312"/>
              </a:endParaRPr>
            </a:p>
          </p:txBody>
        </p:sp>
        <p:pic>
          <p:nvPicPr>
            <p:cNvPr id="223237" name="Picture 10" descr="T1303"/>
            <p:cNvPicPr>
              <a:picLocks noChangeAspect="1"/>
            </p:cNvPicPr>
            <p:nvPr/>
          </p:nvPicPr>
          <p:blipFill>
            <a:blip r:embed="rId1"/>
            <a:stretch>
              <a:fillRect/>
            </a:stretch>
          </p:blipFill>
          <p:spPr>
            <a:xfrm>
              <a:off x="3610" y="2698"/>
              <a:ext cx="1629" cy="1004"/>
            </a:xfrm>
            <a:prstGeom prst="rect">
              <a:avLst/>
            </a:prstGeom>
            <a:noFill/>
            <a:ln w="9525">
              <a:noFill/>
            </a:ln>
          </p:spPr>
        </p:pic>
      </p:grpSp>
    </p:spTree>
  </p:cSld>
  <p:clrMapOvr>
    <a:masterClrMapping/>
  </p:clrMapOvr>
  <p:transition spd="slow">
    <p:randomBar dir="ver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1" name="Rectangle 2"/>
          <p:cNvSpPr>
            <a:spLocks noGrp="1"/>
          </p:cNvSpPr>
          <p:nvPr>
            <p:ph type="title"/>
          </p:nvPr>
        </p:nvSpPr>
        <p:spPr>
          <a:ln/>
        </p:spPr>
        <p:txBody>
          <a:bodyPr vert="horz" wrap="square" lIns="91440" tIns="45720" rIns="91440" bIns="45720" anchor="ctr" anchorCtr="0"/>
          <a:p>
            <a:pPr eaLnBrk="1" hangingPunct="1"/>
            <a:r>
              <a:rPr lang="en-US" altLang="zh-CN" sz="4400" dirty="0"/>
              <a:t>    </a:t>
            </a:r>
            <a:r>
              <a:rPr lang="zh-CN" altLang="en-US" sz="4000" dirty="0">
                <a:ea typeface="楷体_GB2312"/>
              </a:rPr>
              <a:t>数控机床的种类</a:t>
            </a:r>
            <a:r>
              <a:rPr lang="zh-CN" altLang="en-US" sz="4400" dirty="0"/>
              <a:t> </a:t>
            </a:r>
            <a:endParaRPr lang="zh-CN" altLang="en-US" sz="4400" dirty="0"/>
          </a:p>
        </p:txBody>
      </p:sp>
      <p:sp>
        <p:nvSpPr>
          <p:cNvPr id="225282" name="Rectangle 3"/>
          <p:cNvSpPr>
            <a:spLocks noGrp="1"/>
          </p:cNvSpPr>
          <p:nvPr>
            <p:ph idx="1"/>
          </p:nvPr>
        </p:nvSpPr>
        <p:spPr>
          <a:xfrm>
            <a:off x="250825" y="1371600"/>
            <a:ext cx="8569325" cy="3136900"/>
          </a:xfrm>
          <a:ln/>
        </p:spPr>
        <p:txBody>
          <a:bodyPr vert="horz" wrap="square" lIns="91440" tIns="45720" rIns="91440" bIns="45720" anchor="t" anchorCtr="0"/>
          <a:p>
            <a:pPr marL="179705" lvl="1" indent="0" eaLnBrk="1" hangingPunct="1">
              <a:lnSpc>
                <a:spcPct val="120000"/>
              </a:lnSpc>
              <a:buNone/>
            </a:pPr>
            <a:r>
              <a:rPr lang="en-US" altLang="zh-CN" b="1" dirty="0">
                <a:solidFill>
                  <a:srgbClr val="FF3300"/>
                </a:solidFill>
                <a:latin typeface="楷体_GB2312"/>
                <a:ea typeface="楷体_GB2312"/>
              </a:rPr>
              <a:t>2</a:t>
            </a:r>
            <a:r>
              <a:rPr lang="zh-CN" altLang="en-US" b="1" dirty="0">
                <a:solidFill>
                  <a:srgbClr val="FF3300"/>
                </a:solidFill>
                <a:latin typeface="楷体_GB2312"/>
                <a:ea typeface="楷体_GB2312"/>
              </a:rPr>
              <a:t>．直线控制数控机床</a:t>
            </a:r>
            <a:endParaRPr lang="zh-CN" altLang="en-US" b="1" dirty="0">
              <a:solidFill>
                <a:srgbClr val="FF3300"/>
              </a:solidFill>
              <a:latin typeface="楷体_GB2312"/>
              <a:ea typeface="楷体_GB2312"/>
            </a:endParaRPr>
          </a:p>
          <a:p>
            <a:pPr marL="0" indent="0" eaLnBrk="1" hangingPunct="1">
              <a:lnSpc>
                <a:spcPct val="120000"/>
              </a:lnSpc>
              <a:buNone/>
            </a:pPr>
            <a:r>
              <a:rPr lang="zh-CN" altLang="en-US" sz="2800" b="1" dirty="0">
                <a:latin typeface="楷体_GB2312"/>
                <a:ea typeface="楷体_GB2312"/>
              </a:rPr>
              <a:t>   </a:t>
            </a:r>
            <a:r>
              <a:rPr lang="zh-CN" altLang="en-US" sz="2400" b="1" dirty="0">
                <a:latin typeface="楷体_GB2312"/>
                <a:ea typeface="楷体_GB2312"/>
              </a:rPr>
              <a:t>数控系统除了控制点与点之间的准确位置外，还要保证两点间的移动轨迹为一直线，并且对移动速度也要进行控制，也称点位直线控制（图</a:t>
            </a:r>
            <a:r>
              <a:rPr lang="en-US" altLang="zh-CN" sz="2400" b="1" dirty="0">
                <a:latin typeface="楷体_GB2312"/>
                <a:ea typeface="楷体_GB2312"/>
              </a:rPr>
              <a:t>2-20</a:t>
            </a:r>
            <a:r>
              <a:rPr lang="zh-CN" altLang="en-US" sz="2400" b="1" dirty="0">
                <a:latin typeface="楷体_GB2312"/>
                <a:ea typeface="楷体_GB2312"/>
              </a:rPr>
              <a:t>）。这类数控机床主要有比较简单的数控车床、数控铣床、数控磨床等。单纯用于直线控制的数控机床已不多见。</a:t>
            </a:r>
            <a:br>
              <a:rPr lang="zh-CN" altLang="en-US" sz="2400" b="1" dirty="0">
                <a:latin typeface="楷体_GB2312"/>
                <a:ea typeface="楷体_GB2312"/>
              </a:rPr>
            </a:br>
            <a:endParaRPr lang="zh-CN" altLang="en-US" sz="2400" b="1" dirty="0">
              <a:latin typeface="楷体_GB2312"/>
              <a:ea typeface="楷体_GB2312"/>
            </a:endParaRPr>
          </a:p>
        </p:txBody>
      </p:sp>
      <p:grpSp>
        <p:nvGrpSpPr>
          <p:cNvPr id="225283" name="Group 10"/>
          <p:cNvGrpSpPr/>
          <p:nvPr/>
        </p:nvGrpSpPr>
        <p:grpSpPr>
          <a:xfrm>
            <a:off x="5722938" y="4508500"/>
            <a:ext cx="2665412" cy="1743075"/>
            <a:chOff x="3605" y="2971"/>
            <a:chExt cx="1679" cy="1098"/>
          </a:xfrm>
        </p:grpSpPr>
        <p:sp>
          <p:nvSpPr>
            <p:cNvPr id="225284" name="Rectangle 7"/>
            <p:cNvSpPr/>
            <p:nvPr/>
          </p:nvSpPr>
          <p:spPr>
            <a:xfrm>
              <a:off x="3606" y="3838"/>
              <a:ext cx="1678" cy="231"/>
            </a:xfrm>
            <a:prstGeom prst="rect">
              <a:avLst/>
            </a:prstGeom>
            <a:solidFill>
              <a:srgbClr val="FFFFFF"/>
            </a:solidFill>
            <a:ln w="9525">
              <a:noFill/>
            </a:ln>
          </p:spPr>
          <p:txBody>
            <a:bodyPr anchor="t" anchorCtr="0">
              <a:spAutoFit/>
            </a:bodyPr>
            <a:p>
              <a:r>
                <a:rPr lang="en-US" altLang="zh-CN" b="1" dirty="0">
                  <a:solidFill>
                    <a:srgbClr val="000000"/>
                  </a:solidFill>
                  <a:latin typeface="楷体_GB2312"/>
                  <a:ea typeface="楷体_GB2312"/>
                </a:rPr>
                <a:t>    </a:t>
              </a:r>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2-20 </a:t>
              </a:r>
              <a:r>
                <a:rPr lang="zh-CN" altLang="en-US" b="1" dirty="0">
                  <a:solidFill>
                    <a:srgbClr val="000000"/>
                  </a:solidFill>
                  <a:latin typeface="楷体_GB2312"/>
                  <a:ea typeface="楷体_GB2312"/>
                </a:rPr>
                <a:t>直线控制</a:t>
              </a:r>
              <a:endParaRPr lang="zh-CN" altLang="en-US" b="1" dirty="0">
                <a:solidFill>
                  <a:srgbClr val="000000"/>
                </a:solidFill>
                <a:latin typeface="楷体_GB2312"/>
                <a:ea typeface="楷体_GB2312"/>
              </a:endParaRPr>
            </a:p>
          </p:txBody>
        </p:sp>
        <p:pic>
          <p:nvPicPr>
            <p:cNvPr id="225285" name="Picture 9" descr="T1302"/>
            <p:cNvPicPr>
              <a:picLocks noChangeAspect="1"/>
            </p:cNvPicPr>
            <p:nvPr/>
          </p:nvPicPr>
          <p:blipFill>
            <a:blip r:embed="rId1"/>
            <a:stretch>
              <a:fillRect/>
            </a:stretch>
          </p:blipFill>
          <p:spPr>
            <a:xfrm>
              <a:off x="3605" y="2971"/>
              <a:ext cx="1679" cy="867"/>
            </a:xfrm>
            <a:prstGeom prst="rect">
              <a:avLst/>
            </a:prstGeom>
            <a:noFill/>
            <a:ln w="9525">
              <a:noFill/>
            </a:ln>
          </p:spPr>
        </p:pic>
      </p:grpSp>
    </p:spTree>
  </p:cSld>
  <p:clrMapOvr>
    <a:masterClrMapping/>
  </p:clrMapOvr>
  <p:transition spd="slow">
    <p:randomBar dir="ver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29" name="Rectangle 2"/>
          <p:cNvSpPr>
            <a:spLocks noGrp="1"/>
          </p:cNvSpPr>
          <p:nvPr>
            <p:ph type="title"/>
          </p:nvPr>
        </p:nvSpPr>
        <p:spPr>
          <a:ln/>
        </p:spPr>
        <p:txBody>
          <a:bodyPr vert="horz" wrap="square" lIns="91440" tIns="45720" rIns="91440" bIns="45720" anchor="ctr" anchorCtr="0"/>
          <a:p>
            <a:pPr eaLnBrk="1" hangingPunct="1"/>
            <a:r>
              <a:rPr lang="en-US" altLang="zh-CN" sz="4400" dirty="0"/>
              <a:t>    </a:t>
            </a:r>
            <a:r>
              <a:rPr lang="zh-CN" altLang="en-US" sz="4000" dirty="0">
                <a:ea typeface="楷体_GB2312"/>
              </a:rPr>
              <a:t>数控机床的种类</a:t>
            </a:r>
            <a:r>
              <a:rPr lang="zh-CN" altLang="en-US" sz="4400" dirty="0"/>
              <a:t> </a:t>
            </a:r>
            <a:endParaRPr lang="zh-CN" altLang="en-US" sz="4400" dirty="0"/>
          </a:p>
        </p:txBody>
      </p:sp>
      <p:sp>
        <p:nvSpPr>
          <p:cNvPr id="227330" name="Rectangle 3"/>
          <p:cNvSpPr>
            <a:spLocks noGrp="1"/>
          </p:cNvSpPr>
          <p:nvPr>
            <p:ph idx="1"/>
          </p:nvPr>
        </p:nvSpPr>
        <p:spPr>
          <a:xfrm>
            <a:off x="107950" y="1300163"/>
            <a:ext cx="8496300" cy="3424237"/>
          </a:xfrm>
          <a:ln/>
        </p:spPr>
        <p:txBody>
          <a:bodyPr vert="horz" wrap="square" lIns="91440" tIns="45720" rIns="91440" bIns="45720" anchor="t" anchorCtr="0"/>
          <a:p>
            <a:pPr marL="179705" lvl="1" indent="0" eaLnBrk="1" hangingPunct="1">
              <a:lnSpc>
                <a:spcPct val="120000"/>
              </a:lnSpc>
              <a:buNone/>
            </a:pPr>
            <a:r>
              <a:rPr lang="en-US" altLang="zh-CN" b="1" dirty="0">
                <a:solidFill>
                  <a:srgbClr val="FF3300"/>
                </a:solidFill>
                <a:latin typeface="楷体_GB2312"/>
                <a:ea typeface="楷体_GB2312"/>
              </a:rPr>
              <a:t>3</a:t>
            </a:r>
            <a:r>
              <a:rPr lang="zh-CN" altLang="en-US" b="1" dirty="0">
                <a:solidFill>
                  <a:srgbClr val="FF3300"/>
                </a:solidFill>
                <a:latin typeface="楷体_GB2312"/>
                <a:ea typeface="楷体_GB2312"/>
              </a:rPr>
              <a:t>．轮廓控制数控机床</a:t>
            </a:r>
            <a:r>
              <a:rPr lang="zh-CN" altLang="en-US" sz="2400" b="1" dirty="0">
                <a:solidFill>
                  <a:srgbClr val="FF3300"/>
                </a:solidFill>
                <a:latin typeface="楷体_GB2312"/>
                <a:ea typeface="楷体_GB2312"/>
              </a:rPr>
              <a:t> </a:t>
            </a:r>
            <a:endParaRPr lang="zh-CN" altLang="en-US" sz="2400" b="1" dirty="0">
              <a:solidFill>
                <a:srgbClr val="FF3300"/>
              </a:solidFill>
              <a:latin typeface="楷体_GB2312"/>
              <a:ea typeface="楷体_GB2312"/>
            </a:endParaRPr>
          </a:p>
          <a:p>
            <a:pPr marL="179705" lvl="1" indent="0" eaLnBrk="1" hangingPunct="1">
              <a:lnSpc>
                <a:spcPct val="120000"/>
              </a:lnSpc>
              <a:buNone/>
            </a:pPr>
            <a:r>
              <a:rPr lang="zh-CN" altLang="en-US" sz="2400" b="1" dirty="0">
                <a:solidFill>
                  <a:srgbClr val="FF3300"/>
                </a:solidFill>
                <a:latin typeface="楷体_GB2312"/>
                <a:ea typeface="楷体_GB2312"/>
              </a:rPr>
              <a:t>    </a:t>
            </a:r>
            <a:r>
              <a:rPr lang="zh-CN" altLang="en-US" sz="2400" b="1" dirty="0">
                <a:latin typeface="楷体_GB2312"/>
                <a:ea typeface="楷体_GB2312"/>
              </a:rPr>
              <a:t>轮廓控制的特点是能够对两个或两个以上的运动坐标的位移和速度同时进行连续相关的控制，它不仅要控制机床移动部件的起点与终点坐标，而且要控制整个加工过程的每一点的速度、方向和位移量，也称为连续控制数控机床（图</a:t>
            </a:r>
            <a:r>
              <a:rPr lang="en-US" altLang="zh-CN" sz="2400" b="1" dirty="0">
                <a:latin typeface="楷体_GB2312"/>
                <a:ea typeface="楷体_GB2312"/>
              </a:rPr>
              <a:t>2-21</a:t>
            </a:r>
            <a:r>
              <a:rPr lang="zh-CN" altLang="en-US" sz="2400" b="1" dirty="0">
                <a:latin typeface="楷体_GB2312"/>
                <a:ea typeface="楷体_GB2312"/>
              </a:rPr>
              <a:t>）。这类数控机床主要有数控车床、数控铣床、数控线切割机床、加工中心等。</a:t>
            </a:r>
            <a:endParaRPr lang="zh-CN" altLang="en-US" sz="2400" b="1" dirty="0">
              <a:latin typeface="楷体_GB2312"/>
              <a:ea typeface="楷体_GB2312"/>
            </a:endParaRPr>
          </a:p>
          <a:p>
            <a:pPr marL="179705" lvl="1" indent="0" eaLnBrk="1" hangingPunct="1">
              <a:lnSpc>
                <a:spcPct val="120000"/>
              </a:lnSpc>
              <a:buNone/>
            </a:pPr>
            <a:endParaRPr lang="en-US" altLang="zh-CN" sz="2400" b="1" dirty="0">
              <a:ea typeface="楷体_GB2312"/>
            </a:endParaRPr>
          </a:p>
        </p:txBody>
      </p:sp>
      <p:grpSp>
        <p:nvGrpSpPr>
          <p:cNvPr id="227331" name="Group 9"/>
          <p:cNvGrpSpPr/>
          <p:nvPr/>
        </p:nvGrpSpPr>
        <p:grpSpPr>
          <a:xfrm>
            <a:off x="6156325" y="4797425"/>
            <a:ext cx="2519363" cy="1558925"/>
            <a:chOff x="3959" y="3100"/>
            <a:chExt cx="1506" cy="906"/>
          </a:xfrm>
        </p:grpSpPr>
        <p:sp>
          <p:nvSpPr>
            <p:cNvPr id="227332" name="Rectangle 6"/>
            <p:cNvSpPr/>
            <p:nvPr/>
          </p:nvSpPr>
          <p:spPr>
            <a:xfrm>
              <a:off x="3969" y="3793"/>
              <a:ext cx="1496" cy="213"/>
            </a:xfrm>
            <a:prstGeom prst="rect">
              <a:avLst/>
            </a:prstGeom>
            <a:solidFill>
              <a:srgbClr val="FFFFFF"/>
            </a:solidFill>
            <a:ln w="9525">
              <a:noFill/>
            </a:ln>
          </p:spPr>
          <p:txBody>
            <a:bodyPr anchor="t" anchorCtr="0">
              <a:spAutoFit/>
            </a:bodyPr>
            <a:p>
              <a:r>
                <a:rPr lang="en-US" altLang="zh-CN" b="1" dirty="0">
                  <a:solidFill>
                    <a:srgbClr val="000000"/>
                  </a:solidFill>
                  <a:latin typeface="楷体_GB2312"/>
                  <a:ea typeface="楷体_GB2312"/>
                </a:rPr>
                <a:t>  </a:t>
              </a:r>
              <a:r>
                <a:rPr lang="zh-CN" altLang="en-US" b="1" dirty="0">
                  <a:solidFill>
                    <a:srgbClr val="000000"/>
                  </a:solidFill>
                  <a:latin typeface="楷体_GB2312"/>
                  <a:ea typeface="楷体_GB2312"/>
                </a:rPr>
                <a:t>图</a:t>
              </a:r>
              <a:r>
                <a:rPr lang="en-US" altLang="zh-CN" b="1" dirty="0">
                  <a:solidFill>
                    <a:srgbClr val="000000"/>
                  </a:solidFill>
                  <a:latin typeface="楷体_GB2312"/>
                  <a:ea typeface="楷体_GB2312"/>
                </a:rPr>
                <a:t>2-21 </a:t>
              </a:r>
              <a:r>
                <a:rPr lang="zh-CN" altLang="en-US" b="1" dirty="0">
                  <a:solidFill>
                    <a:srgbClr val="000000"/>
                  </a:solidFill>
                  <a:latin typeface="楷体_GB2312"/>
                  <a:ea typeface="楷体_GB2312"/>
                </a:rPr>
                <a:t>轮廓控制</a:t>
              </a:r>
              <a:endParaRPr lang="zh-CN" altLang="en-US" b="1" dirty="0">
                <a:solidFill>
                  <a:srgbClr val="000000"/>
                </a:solidFill>
                <a:latin typeface="楷体_GB2312"/>
                <a:ea typeface="楷体_GB2312"/>
              </a:endParaRPr>
            </a:p>
          </p:txBody>
        </p:sp>
        <p:pic>
          <p:nvPicPr>
            <p:cNvPr id="227333" name="Picture 8" descr="T1304"/>
            <p:cNvPicPr>
              <a:picLocks noChangeAspect="1"/>
            </p:cNvPicPr>
            <p:nvPr/>
          </p:nvPicPr>
          <p:blipFill>
            <a:blip r:embed="rId1"/>
            <a:stretch>
              <a:fillRect/>
            </a:stretch>
          </p:blipFill>
          <p:spPr>
            <a:xfrm>
              <a:off x="3959" y="3100"/>
              <a:ext cx="1506" cy="689"/>
            </a:xfrm>
            <a:prstGeom prst="rect">
              <a:avLst/>
            </a:prstGeom>
            <a:noFill/>
            <a:ln w="9525">
              <a:noFill/>
            </a:ln>
          </p:spPr>
        </p:pic>
      </p:grpSp>
    </p:spTree>
  </p:cSld>
  <p:clrMapOvr>
    <a:masterClrMapping/>
  </p:clrMapOvr>
  <p:transition spd="slow">
    <p:randomBar dir="ver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Rectangle 2"/>
          <p:cNvSpPr>
            <a:spLocks noGrp="1"/>
          </p:cNvSpPr>
          <p:nvPr>
            <p:ph idx="1"/>
          </p:nvPr>
        </p:nvSpPr>
        <p:spPr>
          <a:xfrm>
            <a:off x="179388" y="1052513"/>
            <a:ext cx="8964612" cy="3168650"/>
          </a:xfrm>
          <a:ln/>
        </p:spPr>
        <p:txBody>
          <a:bodyPr vert="horz" wrap="square" lIns="91440" tIns="45720" rIns="91440" bIns="45720" anchor="t" anchorCtr="0"/>
          <a:p>
            <a:pPr marL="179705" lvl="1" indent="0" eaLnBrk="1" hangingPunct="1">
              <a:lnSpc>
                <a:spcPct val="170000"/>
              </a:lnSpc>
              <a:buClr>
                <a:srgbClr val="FF3300"/>
              </a:buClr>
              <a:buFont typeface="Wingdings" panose="05000000000000000000" pitchFamily="2" charset="2"/>
              <a:buChar char="Ø"/>
            </a:pPr>
            <a:r>
              <a:rPr lang="en-US" altLang="zh-CN" b="1" dirty="0"/>
              <a:t> </a:t>
            </a:r>
            <a:r>
              <a:rPr lang="zh-CN" altLang="en-US" b="1" dirty="0">
                <a:latin typeface="楷体_GB2312"/>
                <a:ea typeface="楷体_GB2312"/>
              </a:rPr>
              <a:t>按进给伺服系统的类型分类</a:t>
            </a:r>
            <a:endParaRPr lang="zh-CN" altLang="en-US" b="1" dirty="0">
              <a:latin typeface="楷体_GB2312"/>
              <a:ea typeface="楷体_GB2312"/>
            </a:endParaRPr>
          </a:p>
          <a:p>
            <a:pPr marL="358775" lvl="2" indent="0" eaLnBrk="1" hangingPunct="1">
              <a:lnSpc>
                <a:spcPct val="120000"/>
              </a:lnSpc>
              <a:buNone/>
            </a:pPr>
            <a:r>
              <a:rPr lang="en-US" altLang="zh-CN" b="1" dirty="0">
                <a:solidFill>
                  <a:srgbClr val="FF3300"/>
                </a:solidFill>
                <a:latin typeface="楷体_GB2312"/>
                <a:ea typeface="楷体_GB2312"/>
              </a:rPr>
              <a:t>1</a:t>
            </a:r>
            <a:r>
              <a:rPr lang="zh-CN" altLang="en-US" b="1" dirty="0">
                <a:solidFill>
                  <a:srgbClr val="FF3300"/>
                </a:solidFill>
                <a:latin typeface="楷体_GB2312"/>
                <a:ea typeface="楷体_GB2312"/>
              </a:rPr>
              <a:t>．开环进给伺服系统数控机床</a:t>
            </a:r>
            <a:r>
              <a:rPr lang="zh-CN" altLang="en-US" b="1" dirty="0">
                <a:latin typeface="楷体_GB2312"/>
                <a:ea typeface="楷体_GB2312"/>
              </a:rPr>
              <a:t> 这类机床不带位置检测反馈装置，通常用步进电机作为执行机构。输入数据经过数控系统的运算，发出脉冲指令，使步进电机转过一个步距角，再通过机械传动机构转换为工作台的直线移动，移动部件的移动速度和位移量由输入脉冲的频率和脉冲个数所决定。</a:t>
            </a:r>
            <a:endParaRPr lang="zh-CN" altLang="en-US" b="1" dirty="0">
              <a:latin typeface="楷体_GB2312"/>
              <a:ea typeface="楷体_GB2312"/>
            </a:endParaRPr>
          </a:p>
        </p:txBody>
      </p:sp>
      <p:sp>
        <p:nvSpPr>
          <p:cNvPr id="229378" name="Rectangle 3"/>
          <p:cNvSpPr>
            <a:spLocks noGrp="1"/>
          </p:cNvSpPr>
          <p:nvPr>
            <p:ph type="title"/>
          </p:nvPr>
        </p:nvSpPr>
        <p:spPr>
          <a:xfrm>
            <a:off x="2590800" y="90488"/>
            <a:ext cx="4645025" cy="1190625"/>
          </a:xfrm>
          <a:ln/>
        </p:spPr>
        <p:txBody>
          <a:bodyPr vert="horz" wrap="square" lIns="91440" tIns="45720" rIns="91440" bIns="45720" anchor="ctr" anchorCtr="0"/>
          <a:p>
            <a:pPr eaLnBrk="1" hangingPunct="1"/>
            <a:r>
              <a:rPr lang="en-US" altLang="zh-CN" dirty="0"/>
              <a:t>    </a:t>
            </a:r>
            <a:r>
              <a:rPr lang="zh-CN" altLang="en-US" sz="4000" dirty="0">
                <a:ea typeface="楷体_GB2312"/>
              </a:rPr>
              <a:t>数控机床的种类</a:t>
            </a:r>
            <a:r>
              <a:rPr lang="zh-CN" altLang="en-US" dirty="0"/>
              <a:t> </a:t>
            </a:r>
            <a:endParaRPr lang="zh-CN" altLang="en-US" dirty="0"/>
          </a:p>
        </p:txBody>
      </p:sp>
      <p:grpSp>
        <p:nvGrpSpPr>
          <p:cNvPr id="229379" name="Group 9"/>
          <p:cNvGrpSpPr/>
          <p:nvPr/>
        </p:nvGrpSpPr>
        <p:grpSpPr>
          <a:xfrm>
            <a:off x="2195513" y="4235450"/>
            <a:ext cx="5184775" cy="2578100"/>
            <a:chOff x="1383" y="2600"/>
            <a:chExt cx="3266" cy="1624"/>
          </a:xfrm>
        </p:grpSpPr>
        <p:sp>
          <p:nvSpPr>
            <p:cNvPr id="229380" name="Rectangle 5"/>
            <p:cNvSpPr/>
            <p:nvPr/>
          </p:nvSpPr>
          <p:spPr>
            <a:xfrm>
              <a:off x="1383" y="3974"/>
              <a:ext cx="3266" cy="250"/>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2-22 </a:t>
              </a:r>
              <a:r>
                <a:rPr lang="zh-CN" altLang="en-US" sz="2000" b="1" dirty="0">
                  <a:solidFill>
                    <a:srgbClr val="000000"/>
                  </a:solidFill>
                  <a:latin typeface="楷体_GB2312"/>
                  <a:ea typeface="楷体_GB2312"/>
                </a:rPr>
                <a:t>开环进给伺服系统示意图</a:t>
              </a:r>
              <a:endParaRPr lang="zh-CN" altLang="en-US" sz="2000" b="1" dirty="0">
                <a:solidFill>
                  <a:srgbClr val="000000"/>
                </a:solidFill>
                <a:latin typeface="楷体_GB2312"/>
                <a:ea typeface="楷体_GB2312"/>
              </a:endParaRPr>
            </a:p>
          </p:txBody>
        </p:sp>
        <p:pic>
          <p:nvPicPr>
            <p:cNvPr id="229381" name="Picture 8" descr="Image3">
              <a:hlinkClick r:id="rId1"/>
            </p:cNvPr>
            <p:cNvPicPr>
              <a:picLocks noChangeAspect="1"/>
            </p:cNvPicPr>
            <p:nvPr/>
          </p:nvPicPr>
          <p:blipFill>
            <a:blip r:embed="rId2"/>
            <a:stretch>
              <a:fillRect/>
            </a:stretch>
          </p:blipFill>
          <p:spPr>
            <a:xfrm>
              <a:off x="1383" y="2600"/>
              <a:ext cx="3244" cy="1403"/>
            </a:xfrm>
            <a:prstGeom prst="rect">
              <a:avLst/>
            </a:prstGeom>
            <a:noFill/>
            <a:ln w="9525">
              <a:noFill/>
            </a:ln>
          </p:spPr>
        </p:pic>
      </p:grpSp>
    </p:spTree>
  </p:cSld>
  <p:clrMapOvr>
    <a:masterClrMapping/>
  </p:clrMapOvr>
  <p:transition spd="slow">
    <p:randomBar dir="ver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5" name="Rectangle 2"/>
          <p:cNvSpPr>
            <a:spLocks noGrp="1"/>
          </p:cNvSpPr>
          <p:nvPr>
            <p:ph idx="1"/>
          </p:nvPr>
        </p:nvSpPr>
        <p:spPr>
          <a:xfrm>
            <a:off x="-36512" y="1414463"/>
            <a:ext cx="8964612" cy="2519362"/>
          </a:xfrm>
          <a:ln/>
        </p:spPr>
        <p:txBody>
          <a:bodyPr vert="horz" wrap="square" lIns="91440" tIns="45720" rIns="91440" bIns="45720" anchor="t" anchorCtr="0"/>
          <a:p>
            <a:pPr marL="179705" lvl="1" indent="0" eaLnBrk="1" hangingPunct="1">
              <a:lnSpc>
                <a:spcPct val="120000"/>
              </a:lnSpc>
              <a:buClr>
                <a:srgbClr val="FF3300"/>
              </a:buClr>
              <a:buFont typeface="Wingdings" panose="05000000000000000000" pitchFamily="2" charset="2"/>
              <a:buNone/>
            </a:pPr>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．闭环进给伺服系统数控机床 </a:t>
            </a:r>
            <a:r>
              <a:rPr lang="zh-CN" altLang="en-US" sz="2400" b="1" dirty="0">
                <a:latin typeface="楷体_GB2312"/>
                <a:ea typeface="楷体_GB2312"/>
              </a:rPr>
              <a:t>这类数控机床带有位置检测反馈装置，其位置检测反馈装置采用直线位移检测元件，直接安装在机床的移动部件上，将测量结果直接反馈到数控装置中，通过反馈可消除从电动机到机床移动部件整个机械传动链中的传动误差，最终实现精确定位。</a:t>
            </a:r>
            <a:endParaRPr lang="zh-CN" altLang="en-US" sz="2400" b="1" dirty="0">
              <a:latin typeface="楷体_GB2312"/>
              <a:ea typeface="楷体_GB2312"/>
            </a:endParaRPr>
          </a:p>
          <a:p>
            <a:pPr marL="358775" lvl="2" indent="0" eaLnBrk="1" hangingPunct="1">
              <a:lnSpc>
                <a:spcPct val="170000"/>
              </a:lnSpc>
              <a:buNone/>
            </a:pPr>
            <a:endParaRPr lang="en-US" altLang="zh-CN" dirty="0"/>
          </a:p>
        </p:txBody>
      </p:sp>
      <p:sp>
        <p:nvSpPr>
          <p:cNvPr id="231426" name="Rectangle 3"/>
          <p:cNvSpPr>
            <a:spLocks noGrp="1"/>
          </p:cNvSpPr>
          <p:nvPr>
            <p:ph type="title"/>
          </p:nvPr>
        </p:nvSpPr>
        <p:spPr>
          <a:xfrm>
            <a:off x="2590800" y="90488"/>
            <a:ext cx="4645025" cy="1190625"/>
          </a:xfrm>
          <a:ln/>
        </p:spPr>
        <p:txBody>
          <a:bodyPr vert="horz" wrap="square" lIns="91440" tIns="45720" rIns="91440" bIns="45720" anchor="ctr" anchorCtr="0"/>
          <a:p>
            <a:pPr eaLnBrk="1" hangingPunct="1"/>
            <a:r>
              <a:rPr lang="en-US" altLang="zh-CN" dirty="0"/>
              <a:t>    </a:t>
            </a:r>
            <a:r>
              <a:rPr lang="zh-CN" altLang="en-US" sz="4000" dirty="0">
                <a:ea typeface="楷体_GB2312"/>
              </a:rPr>
              <a:t>数控机床的种类</a:t>
            </a:r>
            <a:r>
              <a:rPr lang="zh-CN" altLang="en-US" dirty="0"/>
              <a:t> </a:t>
            </a:r>
            <a:endParaRPr lang="zh-CN" altLang="en-US" dirty="0"/>
          </a:p>
        </p:txBody>
      </p:sp>
      <p:grpSp>
        <p:nvGrpSpPr>
          <p:cNvPr id="231427" name="Group 11"/>
          <p:cNvGrpSpPr/>
          <p:nvPr/>
        </p:nvGrpSpPr>
        <p:grpSpPr>
          <a:xfrm>
            <a:off x="2316163" y="3933825"/>
            <a:ext cx="5640387" cy="2557463"/>
            <a:chOff x="1459" y="2568"/>
            <a:chExt cx="3553" cy="1611"/>
          </a:xfrm>
        </p:grpSpPr>
        <p:sp>
          <p:nvSpPr>
            <p:cNvPr id="231428" name="Rectangle 6"/>
            <p:cNvSpPr/>
            <p:nvPr/>
          </p:nvSpPr>
          <p:spPr>
            <a:xfrm>
              <a:off x="1474" y="3929"/>
              <a:ext cx="3538" cy="250"/>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2-23 </a:t>
              </a:r>
              <a:r>
                <a:rPr lang="zh-CN" altLang="en-US" sz="2000" b="1" dirty="0">
                  <a:solidFill>
                    <a:srgbClr val="000000"/>
                  </a:solidFill>
                  <a:latin typeface="楷体_GB2312"/>
                  <a:ea typeface="楷体_GB2312"/>
                </a:rPr>
                <a:t>闭环进给伺服系统示意图</a:t>
              </a:r>
              <a:endParaRPr lang="zh-CN" altLang="en-US" sz="2000" b="1" dirty="0">
                <a:solidFill>
                  <a:srgbClr val="000000"/>
                </a:solidFill>
                <a:latin typeface="楷体_GB2312"/>
                <a:ea typeface="楷体_GB2312"/>
              </a:endParaRPr>
            </a:p>
          </p:txBody>
        </p:sp>
        <p:pic>
          <p:nvPicPr>
            <p:cNvPr id="231429" name="Picture 10" descr="Image2"/>
            <p:cNvPicPr>
              <a:picLocks noChangeAspect="1"/>
            </p:cNvPicPr>
            <p:nvPr/>
          </p:nvPicPr>
          <p:blipFill>
            <a:blip r:embed="rId1"/>
            <a:stretch>
              <a:fillRect/>
            </a:stretch>
          </p:blipFill>
          <p:spPr>
            <a:xfrm>
              <a:off x="1459" y="2568"/>
              <a:ext cx="3553" cy="1379"/>
            </a:xfrm>
            <a:prstGeom prst="rect">
              <a:avLst/>
            </a:prstGeom>
            <a:noFill/>
            <a:ln w="9525">
              <a:noFill/>
            </a:ln>
          </p:spPr>
        </p:pic>
      </p:grpSp>
    </p:spTree>
  </p:cSld>
  <p:clrMapOvr>
    <a:masterClrMapping/>
  </p:clrMapOvr>
  <p:transition spd="slow">
    <p:randomBar dir="ver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3" name="Rectangle 2"/>
          <p:cNvSpPr>
            <a:spLocks noGrp="1"/>
          </p:cNvSpPr>
          <p:nvPr>
            <p:ph idx="1"/>
          </p:nvPr>
        </p:nvSpPr>
        <p:spPr>
          <a:xfrm>
            <a:off x="0" y="1196975"/>
            <a:ext cx="8964613" cy="3024188"/>
          </a:xfrm>
          <a:ln/>
        </p:spPr>
        <p:txBody>
          <a:bodyPr vert="horz" wrap="square" lIns="91440" tIns="45720" rIns="91440" bIns="45720" anchor="t" anchorCtr="0"/>
          <a:p>
            <a:pPr marL="179705" lvl="1" indent="0" eaLnBrk="1" hangingPunct="1">
              <a:lnSpc>
                <a:spcPct val="120000"/>
              </a:lnSpc>
              <a:buClr>
                <a:srgbClr val="FF3300"/>
              </a:buClr>
              <a:buFont typeface="Wingdings" panose="05000000000000000000" pitchFamily="2" charset="2"/>
              <a:buNone/>
            </a:pPr>
            <a:r>
              <a:rPr lang="en-US" altLang="zh-CN" sz="2400" b="1" dirty="0">
                <a:solidFill>
                  <a:srgbClr val="FF3300"/>
                </a:solidFill>
                <a:latin typeface="楷体_GB2312"/>
                <a:ea typeface="楷体_GB2312"/>
              </a:rPr>
              <a:t>3</a:t>
            </a:r>
            <a:r>
              <a:rPr lang="zh-CN" altLang="en-US" sz="2400" b="1" dirty="0">
                <a:solidFill>
                  <a:srgbClr val="FF3300"/>
                </a:solidFill>
                <a:latin typeface="楷体_GB2312"/>
                <a:ea typeface="楷体_GB2312"/>
              </a:rPr>
              <a:t>．半闭环进给伺服系统数控机床  </a:t>
            </a:r>
            <a:r>
              <a:rPr lang="zh-CN" altLang="en-US" sz="2400" b="1" dirty="0">
                <a:latin typeface="楷体_GB2312"/>
                <a:ea typeface="楷体_GB2312"/>
              </a:rPr>
              <a:t>在电机的端头或丝杠的端头安装检测元件（如感应同步器或光电编码器等），通过检测其转角来间接检测移动部件的位移，然后反馈到数控系统中。由于大部分机械传动环节未包括在系统闭环环路内，因此可获得较稳定的控制特性。其控制精度虽不如闭环控制数控机床，但调试比较方便，因而被广泛采用。　</a:t>
            </a:r>
            <a:endParaRPr lang="zh-CN" altLang="en-US" sz="2400" b="1" dirty="0">
              <a:latin typeface="楷体_GB2312"/>
              <a:ea typeface="楷体_GB2312"/>
            </a:endParaRPr>
          </a:p>
        </p:txBody>
      </p:sp>
      <p:sp>
        <p:nvSpPr>
          <p:cNvPr id="233474" name="Rectangle 3"/>
          <p:cNvSpPr>
            <a:spLocks noGrp="1"/>
          </p:cNvSpPr>
          <p:nvPr>
            <p:ph type="title"/>
          </p:nvPr>
        </p:nvSpPr>
        <p:spPr>
          <a:xfrm>
            <a:off x="2590800" y="90488"/>
            <a:ext cx="4645025" cy="1190625"/>
          </a:xfrm>
          <a:ln/>
        </p:spPr>
        <p:txBody>
          <a:bodyPr vert="horz" wrap="square" lIns="91440" tIns="45720" rIns="91440" bIns="45720" anchor="ctr" anchorCtr="0"/>
          <a:p>
            <a:pPr eaLnBrk="1" hangingPunct="1"/>
            <a:r>
              <a:rPr lang="en-US" altLang="zh-CN" dirty="0"/>
              <a:t>    </a:t>
            </a:r>
            <a:r>
              <a:rPr lang="zh-CN" altLang="en-US" sz="4000" dirty="0">
                <a:ea typeface="楷体_GB2312"/>
              </a:rPr>
              <a:t>数控机床的种类</a:t>
            </a:r>
            <a:r>
              <a:rPr lang="zh-CN" altLang="en-US" dirty="0"/>
              <a:t> </a:t>
            </a:r>
            <a:endParaRPr lang="zh-CN" altLang="en-US" dirty="0"/>
          </a:p>
        </p:txBody>
      </p:sp>
      <p:grpSp>
        <p:nvGrpSpPr>
          <p:cNvPr id="233475" name="Group 11"/>
          <p:cNvGrpSpPr/>
          <p:nvPr/>
        </p:nvGrpSpPr>
        <p:grpSpPr>
          <a:xfrm>
            <a:off x="1908175" y="4076700"/>
            <a:ext cx="5719763" cy="2290763"/>
            <a:chOff x="1202" y="2577"/>
            <a:chExt cx="3603" cy="1443"/>
          </a:xfrm>
        </p:grpSpPr>
        <p:sp>
          <p:nvSpPr>
            <p:cNvPr id="233476" name="Rectangle 6"/>
            <p:cNvSpPr/>
            <p:nvPr/>
          </p:nvSpPr>
          <p:spPr>
            <a:xfrm>
              <a:off x="1202" y="3770"/>
              <a:ext cx="3583" cy="250"/>
            </a:xfrm>
            <a:prstGeom prst="rect">
              <a:avLst/>
            </a:prstGeom>
            <a:solidFill>
              <a:srgbClr val="FFFFFF"/>
            </a:solidFill>
            <a:ln w="9525">
              <a:noFill/>
            </a:ln>
          </p:spPr>
          <p:txBody>
            <a:bodyPr anchor="t" anchorCtr="0">
              <a:spAutoFit/>
            </a:bodyPr>
            <a:p>
              <a:r>
                <a:rPr lang="en-US" altLang="zh-CN" sz="2000" b="1" dirty="0">
                  <a:solidFill>
                    <a:srgbClr val="000000"/>
                  </a:solidFill>
                  <a:latin typeface="楷体_GB2312"/>
                  <a:ea typeface="楷体_GB2312"/>
                </a:rPr>
                <a:t>      </a:t>
              </a:r>
              <a:r>
                <a:rPr lang="zh-CN" altLang="en-US" sz="2000" b="1" dirty="0">
                  <a:solidFill>
                    <a:srgbClr val="000000"/>
                  </a:solidFill>
                  <a:latin typeface="楷体_GB2312"/>
                  <a:ea typeface="楷体_GB2312"/>
                </a:rPr>
                <a:t>图</a:t>
              </a:r>
              <a:r>
                <a:rPr lang="en-US" altLang="zh-CN" sz="2000" b="1" dirty="0">
                  <a:solidFill>
                    <a:srgbClr val="000000"/>
                  </a:solidFill>
                  <a:latin typeface="楷体_GB2312"/>
                  <a:ea typeface="楷体_GB2312"/>
                </a:rPr>
                <a:t>2-24 </a:t>
              </a:r>
              <a:r>
                <a:rPr lang="zh-CN" altLang="en-US" sz="2000" b="1" dirty="0">
                  <a:solidFill>
                    <a:srgbClr val="000000"/>
                  </a:solidFill>
                  <a:latin typeface="楷体_GB2312"/>
                  <a:ea typeface="楷体_GB2312"/>
                </a:rPr>
                <a:t>半闭环进给伺服系统示意图   </a:t>
              </a:r>
              <a:endParaRPr lang="zh-CN" altLang="en-US" sz="2000" b="1" dirty="0">
                <a:solidFill>
                  <a:srgbClr val="000000"/>
                </a:solidFill>
                <a:latin typeface="楷体_GB2312"/>
                <a:ea typeface="楷体_GB2312"/>
              </a:endParaRPr>
            </a:p>
          </p:txBody>
        </p:sp>
        <p:pic>
          <p:nvPicPr>
            <p:cNvPr id="233477" name="Picture 10" descr="Image4">
              <a:hlinkClick r:id="rId1" action="ppaction://hlinkfile"/>
            </p:cNvPr>
            <p:cNvPicPr>
              <a:picLocks noChangeAspect="1"/>
            </p:cNvPicPr>
            <p:nvPr/>
          </p:nvPicPr>
          <p:blipFill>
            <a:blip r:embed="rId2"/>
            <a:stretch>
              <a:fillRect/>
            </a:stretch>
          </p:blipFill>
          <p:spPr>
            <a:xfrm>
              <a:off x="1202" y="2577"/>
              <a:ext cx="3603" cy="1216"/>
            </a:xfrm>
            <a:prstGeom prst="rect">
              <a:avLst/>
            </a:prstGeom>
            <a:noFill/>
            <a:ln w="9525">
              <a:noFill/>
            </a:ln>
          </p:spPr>
        </p:pic>
      </p:grpSp>
    </p:spTree>
  </p:cSld>
  <p:clrMapOvr>
    <a:masterClrMapping/>
  </p:clrMapOvr>
  <p:transition spd="slow">
    <p:randomBar dir="ver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1" name="Rectangle 2"/>
          <p:cNvSpPr>
            <a:spLocks noGrp="1"/>
          </p:cNvSpPr>
          <p:nvPr>
            <p:ph type="title"/>
          </p:nvPr>
        </p:nvSpPr>
        <p:spPr>
          <a:ln/>
        </p:spPr>
        <p:txBody>
          <a:bodyPr vert="horz" wrap="square" lIns="91440" tIns="45720" rIns="91440" bIns="45720" anchor="ctr" anchorCtr="0"/>
          <a:p>
            <a:pPr algn="ctr" eaLnBrk="1" hangingPunct="1"/>
            <a:r>
              <a:rPr lang="zh-CN" altLang="en-US" sz="4000" dirty="0">
                <a:ea typeface="楷体_GB2312"/>
              </a:rPr>
              <a:t>数控机床简介</a:t>
            </a:r>
            <a:endParaRPr lang="zh-CN" altLang="en-US" sz="4000" dirty="0">
              <a:ea typeface="楷体_GB2312"/>
            </a:endParaRPr>
          </a:p>
        </p:txBody>
      </p:sp>
      <p:sp>
        <p:nvSpPr>
          <p:cNvPr id="235522" name="Rectangle 3"/>
          <p:cNvSpPr>
            <a:spLocks noGrp="1"/>
          </p:cNvSpPr>
          <p:nvPr>
            <p:ph idx="1"/>
          </p:nvPr>
        </p:nvSpPr>
        <p:spPr>
          <a:xfrm>
            <a:off x="-36512" y="1485900"/>
            <a:ext cx="9180512" cy="5472113"/>
          </a:xfrm>
          <a:ln/>
        </p:spPr>
        <p:txBody>
          <a:bodyPr vert="horz" wrap="square" lIns="91440" tIns="45720" rIns="91440" bIns="45720" anchor="t" anchorCtr="0"/>
          <a:p>
            <a:pPr eaLnBrk="1" hangingPunct="1"/>
            <a:r>
              <a:rPr lang="zh-CN" altLang="en-US" b="1" dirty="0">
                <a:latin typeface="楷体_GB2312"/>
                <a:ea typeface="楷体_GB2312"/>
              </a:rPr>
              <a:t>数控机床的优点和应用</a:t>
            </a:r>
            <a:endParaRPr lang="zh-CN" altLang="en-US" b="1" dirty="0">
              <a:latin typeface="楷体_GB2312"/>
              <a:ea typeface="楷体_GB2312"/>
            </a:endParaRPr>
          </a:p>
          <a:p>
            <a:pPr lvl="1" eaLnBrk="1" hangingPunct="1"/>
            <a:r>
              <a:rPr lang="zh-CN" altLang="en-US" b="1" dirty="0">
                <a:solidFill>
                  <a:srgbClr val="FF3300"/>
                </a:solidFill>
                <a:latin typeface="楷体_GB2312"/>
                <a:ea typeface="楷体_GB2312"/>
              </a:rPr>
              <a:t>优点：</a:t>
            </a:r>
            <a:endParaRPr lang="zh-CN" altLang="en-US" b="1" dirty="0">
              <a:solidFill>
                <a:srgbClr val="FF3300"/>
              </a:solidFill>
              <a:latin typeface="楷体_GB2312"/>
              <a:ea typeface="楷体_GB2312"/>
            </a:endParaRPr>
          </a:p>
          <a:p>
            <a:pPr lvl="2" eaLnBrk="1" hangingPunct="1"/>
            <a:r>
              <a:rPr lang="zh-CN" altLang="en-US" b="1" dirty="0">
                <a:solidFill>
                  <a:srgbClr val="008000"/>
                </a:solidFill>
                <a:latin typeface="楷体_GB2312"/>
                <a:ea typeface="楷体_GB2312"/>
              </a:rPr>
              <a:t>柔性大</a:t>
            </a:r>
            <a:r>
              <a:rPr lang="zh-CN" altLang="en-US" b="1" dirty="0">
                <a:latin typeface="楷体_GB2312"/>
                <a:ea typeface="楷体_GB2312"/>
              </a:rPr>
              <a:t> 加工对象灵活可变，适于多品种生产。</a:t>
            </a:r>
            <a:endParaRPr lang="zh-CN" altLang="en-US" b="1" dirty="0">
              <a:latin typeface="楷体_GB2312"/>
              <a:ea typeface="楷体_GB2312"/>
            </a:endParaRPr>
          </a:p>
          <a:p>
            <a:pPr lvl="2" eaLnBrk="1" hangingPunct="1"/>
            <a:r>
              <a:rPr lang="zh-CN" altLang="en-US" b="1" dirty="0">
                <a:solidFill>
                  <a:srgbClr val="008000"/>
                </a:solidFill>
                <a:latin typeface="楷体_GB2312"/>
                <a:ea typeface="楷体_GB2312"/>
              </a:rPr>
              <a:t>利用率高</a:t>
            </a:r>
            <a:r>
              <a:rPr lang="zh-CN" altLang="en-US" b="1" dirty="0">
                <a:latin typeface="楷体_GB2312"/>
                <a:ea typeface="楷体_GB2312"/>
              </a:rPr>
              <a:t> 设备调整和生产准备时间短，长时间稳定加工。</a:t>
            </a:r>
            <a:endParaRPr lang="zh-CN" altLang="en-US" b="1" dirty="0">
              <a:latin typeface="楷体_GB2312"/>
              <a:ea typeface="楷体_GB2312"/>
            </a:endParaRPr>
          </a:p>
          <a:p>
            <a:pPr lvl="2" eaLnBrk="1" hangingPunct="1"/>
            <a:r>
              <a:rPr lang="zh-CN" altLang="en-US" b="1" dirty="0">
                <a:solidFill>
                  <a:srgbClr val="008000"/>
                </a:solidFill>
                <a:latin typeface="楷体_GB2312"/>
                <a:ea typeface="楷体_GB2312"/>
              </a:rPr>
              <a:t>加工质量稳定</a:t>
            </a:r>
            <a:r>
              <a:rPr lang="zh-CN" altLang="en-US" b="1" dirty="0">
                <a:latin typeface="楷体_GB2312"/>
                <a:ea typeface="楷体_GB2312"/>
              </a:rPr>
              <a:t> 按程序自动加工，有补偿功能。</a:t>
            </a:r>
            <a:endParaRPr lang="zh-CN" altLang="en-US" b="1" dirty="0">
              <a:latin typeface="楷体_GB2312"/>
              <a:ea typeface="楷体_GB2312"/>
            </a:endParaRPr>
          </a:p>
          <a:p>
            <a:pPr lvl="2" eaLnBrk="1" hangingPunct="1"/>
            <a:r>
              <a:rPr lang="zh-CN" altLang="en-US" b="1" dirty="0">
                <a:solidFill>
                  <a:srgbClr val="008000"/>
                </a:solidFill>
                <a:latin typeface="楷体_GB2312"/>
                <a:ea typeface="楷体_GB2312"/>
              </a:rPr>
              <a:t>生产率高</a:t>
            </a:r>
            <a:r>
              <a:rPr lang="zh-CN" altLang="en-US" b="1" dirty="0">
                <a:latin typeface="楷体_GB2312"/>
                <a:ea typeface="楷体_GB2312"/>
              </a:rPr>
              <a:t>    </a:t>
            </a:r>
            <a:endParaRPr lang="zh-CN" altLang="en-US" b="1" dirty="0">
              <a:latin typeface="楷体_GB2312"/>
              <a:ea typeface="楷体_GB2312"/>
            </a:endParaRPr>
          </a:p>
          <a:p>
            <a:pPr lvl="1" eaLnBrk="1" hangingPunct="1"/>
            <a:r>
              <a:rPr lang="zh-CN" altLang="en-US" b="1" dirty="0">
                <a:solidFill>
                  <a:srgbClr val="FF3300"/>
                </a:solidFill>
                <a:latin typeface="楷体_GB2312"/>
                <a:ea typeface="楷体_GB2312"/>
              </a:rPr>
              <a:t>应用</a:t>
            </a:r>
            <a:endParaRPr lang="zh-CN" altLang="en-US" b="1" dirty="0">
              <a:solidFill>
                <a:srgbClr val="FF3300"/>
              </a:solidFill>
              <a:latin typeface="楷体_GB2312"/>
              <a:ea typeface="楷体_GB2312"/>
            </a:endParaRPr>
          </a:p>
          <a:p>
            <a:pPr lvl="2" eaLnBrk="1" hangingPunct="1"/>
            <a:r>
              <a:rPr lang="zh-CN" altLang="en-US" b="1" dirty="0">
                <a:latin typeface="楷体_GB2312"/>
                <a:ea typeface="楷体_GB2312"/>
              </a:rPr>
              <a:t>适合产量小、品种多、产品更新频繁、要求生产周期短。</a:t>
            </a:r>
            <a:endParaRPr lang="zh-CN" altLang="en-US" b="1" dirty="0">
              <a:latin typeface="楷体_GB2312"/>
              <a:ea typeface="楷体_GB2312"/>
            </a:endParaRPr>
          </a:p>
          <a:p>
            <a:pPr lvl="2" eaLnBrk="1" hangingPunct="1"/>
            <a:r>
              <a:rPr lang="zh-CN" altLang="en-US" b="1" dirty="0">
                <a:latin typeface="楷体_GB2312"/>
                <a:ea typeface="楷体_GB2312"/>
              </a:rPr>
              <a:t>适合复杂型面的零件，用非数控机床难以完成的加工。</a:t>
            </a:r>
            <a:endParaRPr lang="zh-CN" altLang="en-US" b="1" dirty="0">
              <a:latin typeface="楷体_GB2312"/>
              <a:ea typeface="楷体_GB2312"/>
            </a:endParaRPr>
          </a:p>
          <a:p>
            <a:pPr lvl="2" eaLnBrk="1" hangingPunct="1"/>
            <a:r>
              <a:rPr lang="zh-CN" altLang="en-US" b="1" dirty="0">
                <a:latin typeface="楷体_GB2312"/>
                <a:ea typeface="楷体_GB2312"/>
              </a:rPr>
              <a:t>多品种、中小批量生产的重要途径之一。</a:t>
            </a:r>
            <a:endParaRPr lang="zh-CN" altLang="en-US" b="1" dirty="0">
              <a:latin typeface="楷体_GB2312"/>
              <a:ea typeface="楷体_GB2312"/>
            </a:endParaRPr>
          </a:p>
        </p:txBody>
      </p:sp>
    </p:spTree>
  </p:cSld>
  <p:clrMapOvr>
    <a:masterClrMapping/>
  </p:clrMapOvr>
  <p:transition spd="slow">
    <p:randomBar dir="ver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0370" name="Rectangle 2"/>
          <p:cNvSpPr>
            <a:spLocks noGrp="1" noChangeArrowheads="1"/>
          </p:cNvSpPr>
          <p:nvPr>
            <p:ph type="title"/>
          </p:nvPr>
        </p:nvSpPr>
        <p:spPr>
          <a:xfrm>
            <a:off x="2195513" y="523875"/>
            <a:ext cx="6948488"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制造自动化技术</a:t>
            </a:r>
            <a:r>
              <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37570"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37571" name="Rectangle 5"/>
          <p:cNvSpPr/>
          <p:nvPr/>
        </p:nvSpPr>
        <p:spPr>
          <a:xfrm>
            <a:off x="1320800" y="5556250"/>
            <a:ext cx="7696200" cy="393700"/>
          </a:xfrm>
          <a:prstGeom prst="rect">
            <a:avLst/>
          </a:prstGeom>
          <a:noFill/>
          <a:ln w="9525">
            <a:noFill/>
          </a:ln>
        </p:spPr>
        <p:txBody>
          <a:bodyPr anchor="t" anchorCtr="0">
            <a:spAutoFit/>
          </a:bodyPr>
          <a:p>
            <a:pPr eaLnBrk="0" hangingPunct="0">
              <a:lnSpc>
                <a:spcPct val="110000"/>
              </a:lnSpc>
              <a:spcBef>
                <a:spcPct val="50000"/>
              </a:spcBef>
            </a:pPr>
            <a:r>
              <a:rPr lang="en-US" altLang="zh-CN"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grpSp>
        <p:nvGrpSpPr>
          <p:cNvPr id="237572" name="Group 6"/>
          <p:cNvGrpSpPr/>
          <p:nvPr/>
        </p:nvGrpSpPr>
        <p:grpSpPr>
          <a:xfrm>
            <a:off x="557213" y="1190625"/>
            <a:ext cx="8053387" cy="5478463"/>
            <a:chOff x="351" y="472"/>
            <a:chExt cx="5073" cy="3719"/>
          </a:xfrm>
        </p:grpSpPr>
        <p:sp>
          <p:nvSpPr>
            <p:cNvPr id="237573" name="Text Box 7"/>
            <p:cNvSpPr txBox="1"/>
            <p:nvPr/>
          </p:nvSpPr>
          <p:spPr>
            <a:xfrm>
              <a:off x="1680" y="472"/>
              <a:ext cx="2400" cy="269"/>
            </a:xfrm>
            <a:prstGeom prst="rect">
              <a:avLst/>
            </a:prstGeom>
            <a:noFill/>
            <a:ln w="9525">
              <a:noFill/>
            </a:ln>
          </p:spPr>
          <p:txBody>
            <a:bodyPr anchor="ctr" anchorCtr="0">
              <a:spAutoFit/>
            </a:bodyPr>
            <a:p>
              <a:pPr algn="ctr">
                <a:spcBef>
                  <a:spcPct val="50000"/>
                </a:spcBef>
              </a:pPr>
              <a:r>
                <a:rPr lang="zh-CN" altLang="en-US" sz="2000" b="1" dirty="0">
                  <a:latin typeface="楷体_GB2312"/>
                  <a:ea typeface="楷体_GB2312"/>
                </a:rPr>
                <a:t>表</a:t>
              </a:r>
              <a:r>
                <a:rPr lang="en-US" altLang="zh-CN" sz="2000" b="1" dirty="0">
                  <a:latin typeface="楷体_GB2312"/>
                  <a:ea typeface="楷体_GB2312"/>
                </a:rPr>
                <a:t>1-2    </a:t>
              </a:r>
              <a:r>
                <a:rPr lang="zh-CN" altLang="en-US" sz="2000" b="1" dirty="0">
                  <a:latin typeface="楷体_GB2312"/>
                  <a:ea typeface="楷体_GB2312"/>
                </a:rPr>
                <a:t>三种自动化形式比较</a:t>
              </a:r>
              <a:endParaRPr lang="zh-CN" altLang="en-US" sz="2000" b="1" dirty="0">
                <a:latin typeface="楷体_GB2312"/>
                <a:ea typeface="楷体_GB2312"/>
              </a:endParaRPr>
            </a:p>
          </p:txBody>
        </p:sp>
        <p:grpSp>
          <p:nvGrpSpPr>
            <p:cNvPr id="237574" name="Group 8"/>
            <p:cNvGrpSpPr/>
            <p:nvPr/>
          </p:nvGrpSpPr>
          <p:grpSpPr>
            <a:xfrm>
              <a:off x="351" y="744"/>
              <a:ext cx="5073" cy="3447"/>
              <a:chOff x="351" y="744"/>
              <a:chExt cx="5073" cy="3447"/>
            </a:xfrm>
          </p:grpSpPr>
          <p:sp>
            <p:nvSpPr>
              <p:cNvPr id="237575" name="Text Box 9"/>
              <p:cNvSpPr txBox="1"/>
              <p:nvPr/>
            </p:nvSpPr>
            <p:spPr>
              <a:xfrm>
                <a:off x="364" y="744"/>
                <a:ext cx="692" cy="249"/>
              </a:xfrm>
              <a:prstGeom prst="rect">
                <a:avLst/>
              </a:prstGeom>
              <a:noFill/>
              <a:ln w="9525">
                <a:noFill/>
              </a:ln>
            </p:spPr>
            <p:txBody>
              <a:bodyPr wrap="none" anchor="ctr" anchorCtr="0">
                <a:spAutoFit/>
              </a:bodyPr>
              <a:p>
                <a:pPr algn="ctr"/>
                <a:r>
                  <a:rPr lang="zh-CN" altLang="en-US" dirty="0">
                    <a:latin typeface="Times New Roman" panose="02020603050405020304" pitchFamily="18" charset="0"/>
                    <a:ea typeface="黑体" panose="02010609060101010101" pitchFamily="49" charset="-122"/>
                  </a:rPr>
                  <a:t>比较项目</a:t>
                </a:r>
                <a:endParaRPr lang="zh-CN" altLang="en-US" dirty="0">
                  <a:latin typeface="Times New Roman" panose="02020603050405020304" pitchFamily="18" charset="0"/>
                  <a:ea typeface="黑体" panose="02010609060101010101" pitchFamily="49" charset="-122"/>
                </a:endParaRPr>
              </a:p>
            </p:txBody>
          </p:sp>
          <p:sp>
            <p:nvSpPr>
              <p:cNvPr id="237576" name="Text Box 10"/>
              <p:cNvSpPr txBox="1"/>
              <p:nvPr/>
            </p:nvSpPr>
            <p:spPr>
              <a:xfrm>
                <a:off x="1278" y="744"/>
                <a:ext cx="836"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刚性自动化</a:t>
                </a:r>
                <a:endParaRPr lang="zh-CN" altLang="en-US" dirty="0">
                  <a:latin typeface="Times New Roman" panose="02020603050405020304" pitchFamily="18" charset="0"/>
                  <a:ea typeface="黑体" panose="02010609060101010101" pitchFamily="49" charset="-122"/>
                </a:endParaRPr>
              </a:p>
            </p:txBody>
          </p:sp>
          <p:sp>
            <p:nvSpPr>
              <p:cNvPr id="237577" name="Text Box 11"/>
              <p:cNvSpPr txBox="1"/>
              <p:nvPr/>
            </p:nvSpPr>
            <p:spPr>
              <a:xfrm>
                <a:off x="2638" y="744"/>
                <a:ext cx="836"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柔性自动化</a:t>
                </a:r>
                <a:endParaRPr lang="zh-CN" altLang="en-US" dirty="0">
                  <a:latin typeface="Times New Roman" panose="02020603050405020304" pitchFamily="18" charset="0"/>
                  <a:ea typeface="黑体" panose="02010609060101010101" pitchFamily="49" charset="-122"/>
                </a:endParaRPr>
              </a:p>
            </p:txBody>
          </p:sp>
          <p:sp>
            <p:nvSpPr>
              <p:cNvPr id="237578" name="Text Box 12"/>
              <p:cNvSpPr txBox="1"/>
              <p:nvPr/>
            </p:nvSpPr>
            <p:spPr>
              <a:xfrm>
                <a:off x="4174" y="745"/>
                <a:ext cx="836"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综合自动化</a:t>
                </a:r>
                <a:endParaRPr lang="zh-CN" altLang="en-US" dirty="0">
                  <a:latin typeface="Times New Roman" panose="02020603050405020304" pitchFamily="18" charset="0"/>
                  <a:ea typeface="黑体" panose="02010609060101010101" pitchFamily="49" charset="-122"/>
                </a:endParaRPr>
              </a:p>
            </p:txBody>
          </p:sp>
          <p:sp>
            <p:nvSpPr>
              <p:cNvPr id="237579" name="Text Box 13"/>
              <p:cNvSpPr txBox="1"/>
              <p:nvPr/>
            </p:nvSpPr>
            <p:spPr>
              <a:xfrm>
                <a:off x="351" y="1281"/>
                <a:ext cx="692"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实现目标</a:t>
                </a:r>
                <a:endParaRPr lang="zh-CN" altLang="en-US" dirty="0">
                  <a:latin typeface="Times New Roman" panose="02020603050405020304" pitchFamily="18" charset="0"/>
                  <a:ea typeface="黑体" panose="02010609060101010101" pitchFamily="49" charset="-122"/>
                </a:endParaRPr>
              </a:p>
            </p:txBody>
          </p:sp>
          <p:sp>
            <p:nvSpPr>
              <p:cNvPr id="237580" name="Text Box 14"/>
              <p:cNvSpPr txBox="1"/>
              <p:nvPr/>
            </p:nvSpPr>
            <p:spPr>
              <a:xfrm>
                <a:off x="1056" y="1002"/>
                <a:ext cx="1268" cy="809"/>
              </a:xfrm>
              <a:prstGeom prst="rect">
                <a:avLst/>
              </a:prstGeom>
              <a:noFill/>
              <a:ln w="9525">
                <a:noFill/>
              </a:ln>
            </p:spPr>
            <p:txBody>
              <a:bodyPr wrap="none"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减轻工人劳动强</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度，节省劳动力，</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保证加工质量，降</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低生产成本</a:t>
                </a:r>
                <a:endParaRPr lang="zh-CN" altLang="en-US" dirty="0">
                  <a:latin typeface="Times New Roman" panose="02020603050405020304" pitchFamily="18" charset="0"/>
                  <a:ea typeface="黑体" panose="02010609060101010101" pitchFamily="49" charset="-122"/>
                </a:endParaRPr>
              </a:p>
            </p:txBody>
          </p:sp>
          <p:sp>
            <p:nvSpPr>
              <p:cNvPr id="237581" name="Text Box 15"/>
              <p:cNvSpPr txBox="1"/>
              <p:nvPr/>
            </p:nvSpPr>
            <p:spPr>
              <a:xfrm>
                <a:off x="2288" y="1013"/>
                <a:ext cx="1584" cy="808"/>
              </a:xfrm>
              <a:prstGeom prst="rect">
                <a:avLst/>
              </a:prstGeom>
              <a:noFill/>
              <a:ln w="9525">
                <a:noFill/>
              </a:ln>
            </p:spPr>
            <p:txBody>
              <a:bodyPr anchor="ctr" anchorCtr="0">
                <a:spAutoFit/>
              </a:bodyPr>
              <a:p>
                <a:pPr algn="just"/>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减轻工人劳动强度，节省劳动力，保证加工质量，降低生产成本，</a:t>
                </a:r>
                <a:r>
                  <a:rPr lang="zh-CN" altLang="en-US" dirty="0">
                    <a:solidFill>
                      <a:srgbClr val="800000"/>
                    </a:solidFill>
                    <a:latin typeface="Times New Roman" panose="02020603050405020304" pitchFamily="18" charset="0"/>
                    <a:ea typeface="黑体" panose="02010609060101010101" pitchFamily="49" charset="-122"/>
                  </a:rPr>
                  <a:t>缩短产品制造周期</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582" name="Text Box 16"/>
              <p:cNvSpPr txBox="1"/>
              <p:nvPr/>
            </p:nvSpPr>
            <p:spPr>
              <a:xfrm>
                <a:off x="3842" y="1013"/>
                <a:ext cx="1438" cy="808"/>
              </a:xfrm>
              <a:prstGeom prst="rect">
                <a:avLst/>
              </a:prstGeom>
              <a:noFill/>
              <a:ln w="9525">
                <a:noFill/>
              </a:ln>
            </p:spPr>
            <p:txBody>
              <a:bodyPr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除左外，提高设计工作与管理工作效率和质量，</a:t>
                </a:r>
                <a:r>
                  <a:rPr lang="zh-CN" altLang="en-US" dirty="0">
                    <a:solidFill>
                      <a:srgbClr val="800000"/>
                    </a:solidFill>
                    <a:latin typeface="Times New Roman" panose="02020603050405020304" pitchFamily="18" charset="0"/>
                    <a:ea typeface="黑体" panose="02010609060101010101" pitchFamily="49" charset="-122"/>
                  </a:rPr>
                  <a:t>提高对市场的响应能力</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583" name="Text Box 17"/>
              <p:cNvSpPr txBox="1"/>
              <p:nvPr/>
            </p:nvSpPr>
            <p:spPr>
              <a:xfrm>
                <a:off x="351" y="1819"/>
                <a:ext cx="692"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控制对象</a:t>
                </a:r>
                <a:endParaRPr lang="zh-CN" altLang="en-US" dirty="0">
                  <a:latin typeface="Times New Roman" panose="02020603050405020304" pitchFamily="18" charset="0"/>
                  <a:ea typeface="黑体" panose="02010609060101010101" pitchFamily="49" charset="-122"/>
                </a:endParaRPr>
              </a:p>
            </p:txBody>
          </p:sp>
          <p:sp>
            <p:nvSpPr>
              <p:cNvPr id="237584" name="Text Box 18"/>
              <p:cNvSpPr txBox="1"/>
              <p:nvPr/>
            </p:nvSpPr>
            <p:spPr>
              <a:xfrm>
                <a:off x="1216" y="1819"/>
                <a:ext cx="404"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物流</a:t>
                </a:r>
                <a:endParaRPr lang="zh-CN" altLang="en-US" dirty="0">
                  <a:latin typeface="Times New Roman" panose="02020603050405020304" pitchFamily="18" charset="0"/>
                  <a:ea typeface="黑体" panose="02010609060101010101" pitchFamily="49" charset="-122"/>
                </a:endParaRPr>
              </a:p>
            </p:txBody>
          </p:sp>
          <p:sp>
            <p:nvSpPr>
              <p:cNvPr id="237585" name="Text Box 19"/>
              <p:cNvSpPr txBox="1"/>
              <p:nvPr/>
            </p:nvSpPr>
            <p:spPr>
              <a:xfrm>
                <a:off x="2464" y="1819"/>
                <a:ext cx="404"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物流</a:t>
                </a:r>
                <a:endParaRPr lang="zh-CN" altLang="en-US" dirty="0">
                  <a:latin typeface="Times New Roman" panose="02020603050405020304" pitchFamily="18" charset="0"/>
                  <a:ea typeface="黑体" panose="02010609060101010101" pitchFamily="49" charset="-122"/>
                </a:endParaRPr>
              </a:p>
            </p:txBody>
          </p:sp>
          <p:sp>
            <p:nvSpPr>
              <p:cNvPr id="237586" name="Text Box 20"/>
              <p:cNvSpPr txBox="1"/>
              <p:nvPr/>
            </p:nvSpPr>
            <p:spPr>
              <a:xfrm>
                <a:off x="4063" y="1819"/>
                <a:ext cx="980"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物流，</a:t>
                </a:r>
                <a:r>
                  <a:rPr lang="zh-CN" altLang="en-US" dirty="0">
                    <a:solidFill>
                      <a:srgbClr val="800000"/>
                    </a:solidFill>
                    <a:latin typeface="Times New Roman" panose="02020603050405020304" pitchFamily="18" charset="0"/>
                    <a:ea typeface="黑体" panose="02010609060101010101" pitchFamily="49" charset="-122"/>
                  </a:rPr>
                  <a:t>信息流</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587" name="Text Box 21"/>
              <p:cNvSpPr txBox="1"/>
              <p:nvPr/>
            </p:nvSpPr>
            <p:spPr>
              <a:xfrm>
                <a:off x="495" y="2347"/>
                <a:ext cx="404"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特点</a:t>
                </a:r>
                <a:endParaRPr lang="zh-CN" altLang="en-US" dirty="0">
                  <a:latin typeface="Times New Roman" panose="02020603050405020304" pitchFamily="18" charset="0"/>
                  <a:ea typeface="黑体" panose="02010609060101010101" pitchFamily="49" charset="-122"/>
                </a:endParaRPr>
              </a:p>
            </p:txBody>
          </p:sp>
          <p:sp>
            <p:nvSpPr>
              <p:cNvPr id="237588" name="Text Box 22"/>
              <p:cNvSpPr txBox="1"/>
              <p:nvPr/>
            </p:nvSpPr>
            <p:spPr>
              <a:xfrm>
                <a:off x="1056" y="2078"/>
                <a:ext cx="1268" cy="808"/>
              </a:xfrm>
              <a:prstGeom prst="rect">
                <a:avLst/>
              </a:prstGeom>
              <a:noFill/>
              <a:ln w="9525">
                <a:noFill/>
              </a:ln>
            </p:spPr>
            <p:txBody>
              <a:bodyPr wrap="none"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通过机、电、液</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气等</a:t>
                </a:r>
                <a:r>
                  <a:rPr lang="zh-CN" altLang="en-US" dirty="0">
                    <a:solidFill>
                      <a:srgbClr val="800000"/>
                    </a:solidFill>
                    <a:latin typeface="Times New Roman" panose="02020603050405020304" pitchFamily="18" charset="0"/>
                    <a:ea typeface="黑体" panose="02010609060101010101" pitchFamily="49" charset="-122"/>
                  </a:rPr>
                  <a:t>硬件控制</a:t>
                </a:r>
                <a:r>
                  <a:rPr lang="zh-CN" altLang="en-US" dirty="0">
                    <a:latin typeface="Times New Roman" panose="02020603050405020304" pitchFamily="18" charset="0"/>
                    <a:ea typeface="黑体" panose="02010609060101010101" pitchFamily="49" charset="-122"/>
                  </a:rPr>
                  <a:t>方式</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实现，因而是刚性</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的，变动困难</a:t>
                </a:r>
                <a:endParaRPr lang="zh-CN" altLang="en-US" dirty="0">
                  <a:latin typeface="Times New Roman" panose="02020603050405020304" pitchFamily="18" charset="0"/>
                  <a:ea typeface="黑体" panose="02010609060101010101" pitchFamily="49" charset="-122"/>
                </a:endParaRPr>
              </a:p>
            </p:txBody>
          </p:sp>
          <p:sp>
            <p:nvSpPr>
              <p:cNvPr id="237589" name="Text Box 23"/>
              <p:cNvSpPr txBox="1"/>
              <p:nvPr/>
            </p:nvSpPr>
            <p:spPr>
              <a:xfrm>
                <a:off x="2288" y="2078"/>
                <a:ext cx="1584" cy="808"/>
              </a:xfrm>
              <a:prstGeom prst="rect">
                <a:avLst/>
              </a:prstGeom>
              <a:noFill/>
              <a:ln w="9525">
                <a:noFill/>
              </a:ln>
            </p:spPr>
            <p:txBody>
              <a:bodyPr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以</a:t>
                </a:r>
                <a:r>
                  <a:rPr lang="zh-CN" altLang="en-US" dirty="0">
                    <a:solidFill>
                      <a:srgbClr val="800000"/>
                    </a:solidFill>
                    <a:latin typeface="Times New Roman" panose="02020603050405020304" pitchFamily="18" charset="0"/>
                    <a:ea typeface="黑体" panose="02010609060101010101" pitchFamily="49" charset="-122"/>
                  </a:rPr>
                  <a:t>硬件为基础，以软件为支持</a:t>
                </a:r>
                <a:r>
                  <a:rPr lang="zh-CN" altLang="en-US" dirty="0">
                    <a:latin typeface="Times New Roman" panose="02020603050405020304" pitchFamily="18" charset="0"/>
                    <a:ea typeface="黑体" panose="02010609060101010101" pitchFamily="49" charset="-122"/>
                  </a:rPr>
                  <a:t>，改变程序即可实现所需的转变，因而是柔性的</a:t>
                </a:r>
                <a:endParaRPr lang="zh-CN" altLang="en-US" dirty="0">
                  <a:latin typeface="Times New Roman" panose="02020603050405020304" pitchFamily="18" charset="0"/>
                  <a:ea typeface="黑体" panose="02010609060101010101" pitchFamily="49" charset="-122"/>
                </a:endParaRPr>
              </a:p>
            </p:txBody>
          </p:sp>
          <p:sp>
            <p:nvSpPr>
              <p:cNvPr id="237590" name="Text Box 24"/>
              <p:cNvSpPr txBox="1"/>
              <p:nvPr/>
            </p:nvSpPr>
            <p:spPr>
              <a:xfrm>
                <a:off x="3840" y="2078"/>
                <a:ext cx="1584" cy="808"/>
              </a:xfrm>
              <a:prstGeom prst="rect">
                <a:avLst/>
              </a:prstGeom>
              <a:noFill/>
              <a:ln w="9525">
                <a:noFill/>
              </a:ln>
            </p:spPr>
            <p:txBody>
              <a:bodyPr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不仅针对具体操作和工人的体力劳动，而且</a:t>
                </a:r>
                <a:r>
                  <a:rPr lang="zh-CN" altLang="en-US" dirty="0">
                    <a:solidFill>
                      <a:srgbClr val="800000"/>
                    </a:solidFill>
                    <a:latin typeface="Times New Roman" panose="02020603050405020304" pitchFamily="18" charset="0"/>
                    <a:ea typeface="黑体" panose="02010609060101010101" pitchFamily="49" charset="-122"/>
                  </a:rPr>
                  <a:t>涉及脑力劳动以及设计、经营管理</a:t>
                </a:r>
                <a:r>
                  <a:rPr lang="zh-CN" altLang="en-US" dirty="0">
                    <a:latin typeface="Times New Roman" panose="02020603050405020304" pitchFamily="18" charset="0"/>
                    <a:ea typeface="黑体" panose="02010609060101010101" pitchFamily="49" charset="-122"/>
                  </a:rPr>
                  <a:t>等各方面</a:t>
                </a:r>
                <a:endParaRPr lang="zh-CN" altLang="en-US" dirty="0">
                  <a:latin typeface="Times New Roman" panose="02020603050405020304" pitchFamily="18" charset="0"/>
                  <a:ea typeface="黑体" panose="02010609060101010101" pitchFamily="49" charset="-122"/>
                </a:endParaRPr>
              </a:p>
            </p:txBody>
          </p:sp>
          <p:sp>
            <p:nvSpPr>
              <p:cNvPr id="237591" name="Text Box 25"/>
              <p:cNvSpPr txBox="1"/>
              <p:nvPr/>
            </p:nvSpPr>
            <p:spPr>
              <a:xfrm>
                <a:off x="351" y="3418"/>
                <a:ext cx="692" cy="436"/>
              </a:xfrm>
              <a:prstGeom prst="rect">
                <a:avLst/>
              </a:prstGeom>
              <a:noFill/>
              <a:ln w="9525">
                <a:noFill/>
              </a:ln>
            </p:spPr>
            <p:txBody>
              <a:bodyPr wrap="none" anchor="ctr" anchorCtr="0">
                <a:spAutoFit/>
              </a:bodyPr>
              <a:p>
                <a:pPr algn="ctr"/>
                <a:r>
                  <a:rPr lang="zh-CN" altLang="en-US" dirty="0">
                    <a:latin typeface="Times New Roman" panose="02020603050405020304" pitchFamily="18" charset="0"/>
                    <a:ea typeface="黑体" panose="02010609060101010101" pitchFamily="49" charset="-122"/>
                  </a:rPr>
                  <a:t>典型系统</a:t>
                </a:r>
                <a:endParaRPr lang="zh-CN" altLang="en-US" dirty="0">
                  <a:latin typeface="Times New Roman" panose="02020603050405020304" pitchFamily="18" charset="0"/>
                  <a:ea typeface="黑体" panose="02010609060101010101" pitchFamily="49" charset="-122"/>
                </a:endParaRPr>
              </a:p>
              <a:p>
                <a:pPr algn="ctr"/>
                <a:r>
                  <a:rPr lang="zh-CN" altLang="en-US" dirty="0">
                    <a:latin typeface="Times New Roman" panose="02020603050405020304" pitchFamily="18" charset="0"/>
                    <a:ea typeface="黑体" panose="02010609060101010101" pitchFamily="49" charset="-122"/>
                  </a:rPr>
                  <a:t>与装备</a:t>
                </a:r>
                <a:endParaRPr lang="zh-CN" altLang="en-US" dirty="0">
                  <a:latin typeface="Times New Roman" panose="02020603050405020304" pitchFamily="18" charset="0"/>
                  <a:ea typeface="黑体" panose="02010609060101010101" pitchFamily="49" charset="-122"/>
                </a:endParaRPr>
              </a:p>
            </p:txBody>
          </p:sp>
          <p:sp>
            <p:nvSpPr>
              <p:cNvPr id="237592" name="Text Box 26"/>
              <p:cNvSpPr txBox="1"/>
              <p:nvPr/>
            </p:nvSpPr>
            <p:spPr>
              <a:xfrm>
                <a:off x="1056" y="3333"/>
                <a:ext cx="1268" cy="622"/>
              </a:xfrm>
              <a:prstGeom prst="rect">
                <a:avLst/>
              </a:prstGeom>
              <a:noFill/>
              <a:ln w="9525">
                <a:noFill/>
              </a:ln>
            </p:spPr>
            <p:txBody>
              <a:bodyPr wrap="none"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自动机床、组合</a:t>
                </a:r>
                <a:endParaRPr lang="zh-CN" altLang="en-US" dirty="0">
                  <a:latin typeface="Times New Roman" panose="02020603050405020304" pitchFamily="18" charset="0"/>
                  <a:ea typeface="黑体" panose="02010609060101010101" pitchFamily="49" charset="-122"/>
                </a:endParaRPr>
              </a:p>
              <a:p>
                <a:r>
                  <a:rPr lang="zh-CN" altLang="en-US" dirty="0">
                    <a:latin typeface="Times New Roman" panose="02020603050405020304" pitchFamily="18" charset="0"/>
                    <a:ea typeface="黑体" panose="02010609060101010101" pitchFamily="49" charset="-122"/>
                  </a:rPr>
                  <a:t>机床，机械手，</a:t>
                </a:r>
                <a:r>
                  <a:rPr lang="zh-CN" altLang="en-US" dirty="0">
                    <a:solidFill>
                      <a:srgbClr val="800000"/>
                    </a:solidFill>
                    <a:latin typeface="Times New Roman" panose="02020603050405020304" pitchFamily="18" charset="0"/>
                    <a:ea typeface="黑体" panose="02010609060101010101" pitchFamily="49" charset="-122"/>
                  </a:rPr>
                  <a:t>自</a:t>
                </a:r>
                <a:endParaRPr lang="zh-CN" altLang="en-US" dirty="0">
                  <a:solidFill>
                    <a:srgbClr val="800000"/>
                  </a:solidFill>
                  <a:latin typeface="Times New Roman" panose="02020603050405020304" pitchFamily="18" charset="0"/>
                  <a:ea typeface="黑体" panose="02010609060101010101" pitchFamily="49" charset="-122"/>
                </a:endParaRPr>
              </a:p>
              <a:p>
                <a:r>
                  <a:rPr lang="zh-CN" altLang="en-US" dirty="0">
                    <a:solidFill>
                      <a:srgbClr val="800000"/>
                    </a:solidFill>
                    <a:latin typeface="Times New Roman" panose="02020603050405020304" pitchFamily="18" charset="0"/>
                    <a:ea typeface="黑体" panose="02010609060101010101" pitchFamily="49" charset="-122"/>
                  </a:rPr>
                  <a:t>动生产线</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593" name="Text Box 27"/>
              <p:cNvSpPr txBox="1"/>
              <p:nvPr/>
            </p:nvSpPr>
            <p:spPr>
              <a:xfrm>
                <a:off x="2304" y="3333"/>
                <a:ext cx="1584" cy="622"/>
              </a:xfrm>
              <a:prstGeom prst="rect">
                <a:avLst/>
              </a:prstGeom>
              <a:noFill/>
              <a:ln w="9525">
                <a:noFill/>
              </a:ln>
            </p:spPr>
            <p:txBody>
              <a:bodyPr anchor="ctr" anchorCtr="0">
                <a:spAutoFit/>
              </a:bodyPr>
              <a:p>
                <a:r>
                  <a:rPr lang="en-US" altLang="zh-CN" dirty="0">
                    <a:latin typeface="Times New Roman" panose="02020603050405020304" pitchFamily="18" charset="0"/>
                    <a:ea typeface="黑体" panose="02010609060101010101" pitchFamily="49" charset="-122"/>
                  </a:rPr>
                  <a:t>    </a:t>
                </a:r>
                <a:r>
                  <a:rPr lang="en-US" altLang="zh-CN" b="1" dirty="0">
                    <a:latin typeface="Times New Roman" panose="02020603050405020304" pitchFamily="18" charset="0"/>
                    <a:ea typeface="黑体" panose="02010609060101010101" pitchFamily="49" charset="-122"/>
                  </a:rPr>
                  <a:t>NC</a:t>
                </a:r>
                <a:r>
                  <a:rPr lang="zh-CN" altLang="en-US" dirty="0">
                    <a:latin typeface="Times New Roman" panose="02020603050405020304" pitchFamily="18" charset="0"/>
                    <a:ea typeface="黑体" panose="02010609060101010101" pitchFamily="49" charset="-122"/>
                  </a:rPr>
                  <a:t>机床，加工中心，工业机器人，</a:t>
                </a:r>
                <a:r>
                  <a:rPr lang="en-US" altLang="zh-CN" b="1" dirty="0">
                    <a:latin typeface="Times New Roman" panose="02020603050405020304" pitchFamily="18" charset="0"/>
                    <a:ea typeface="黑体" panose="02010609060101010101" pitchFamily="49" charset="-122"/>
                  </a:rPr>
                  <a:t>DNC</a:t>
                </a:r>
                <a:r>
                  <a:rPr lang="zh-CN" altLang="en-US" dirty="0">
                    <a:latin typeface="Times New Roman" panose="02020603050405020304" pitchFamily="18" charset="0"/>
                    <a:ea typeface="黑体" panose="02010609060101010101" pitchFamily="49" charset="-122"/>
                  </a:rPr>
                  <a:t>，</a:t>
                </a:r>
                <a:r>
                  <a:rPr lang="en-US" altLang="zh-CN" b="1" dirty="0">
                    <a:latin typeface="Times New Roman" panose="02020603050405020304" pitchFamily="18" charset="0"/>
                    <a:ea typeface="黑体" panose="02010609060101010101" pitchFamily="49" charset="-122"/>
                  </a:rPr>
                  <a:t>FMC</a:t>
                </a:r>
                <a:r>
                  <a:rPr lang="zh-CN" altLang="en-US" dirty="0">
                    <a:latin typeface="Times New Roman" panose="02020603050405020304" pitchFamily="18" charset="0"/>
                    <a:ea typeface="黑体" panose="02010609060101010101" pitchFamily="49" charset="-122"/>
                  </a:rPr>
                  <a:t>，</a:t>
                </a:r>
                <a:r>
                  <a:rPr lang="en-US" altLang="zh-CN" b="1" dirty="0">
                    <a:solidFill>
                      <a:srgbClr val="800000"/>
                    </a:solidFill>
                    <a:latin typeface="Times New Roman" panose="02020603050405020304" pitchFamily="18" charset="0"/>
                    <a:ea typeface="黑体" panose="02010609060101010101" pitchFamily="49" charset="-122"/>
                  </a:rPr>
                  <a:t>FMS</a:t>
                </a:r>
                <a:endParaRPr lang="en-US" altLang="zh-CN" b="1" dirty="0">
                  <a:solidFill>
                    <a:srgbClr val="800000"/>
                  </a:solidFill>
                  <a:latin typeface="Times New Roman" panose="02020603050405020304" pitchFamily="18" charset="0"/>
                  <a:ea typeface="黑体" panose="02010609060101010101" pitchFamily="49" charset="-122"/>
                </a:endParaRPr>
              </a:p>
            </p:txBody>
          </p:sp>
          <p:sp>
            <p:nvSpPr>
              <p:cNvPr id="237594" name="Text Box 28"/>
              <p:cNvSpPr txBox="1"/>
              <p:nvPr/>
            </p:nvSpPr>
            <p:spPr>
              <a:xfrm>
                <a:off x="3888" y="3331"/>
                <a:ext cx="1388" cy="435"/>
              </a:xfrm>
              <a:prstGeom prst="rect">
                <a:avLst/>
              </a:prstGeom>
              <a:noFill/>
              <a:ln w="9525">
                <a:noFill/>
              </a:ln>
            </p:spPr>
            <p:txBody>
              <a:bodyPr wrap="none" anchor="ctr" anchorCtr="0">
                <a:spAutoFit/>
              </a:bodyPr>
              <a:p>
                <a:r>
                  <a:rPr lang="en-US" altLang="zh-CN" dirty="0">
                    <a:latin typeface="Times New Roman" panose="02020603050405020304" pitchFamily="18" charset="0"/>
                    <a:ea typeface="黑体" panose="02010609060101010101" pitchFamily="49" charset="-122"/>
                  </a:rPr>
                  <a:t>    </a:t>
                </a:r>
                <a:r>
                  <a:rPr lang="en-US" altLang="zh-CN" b="1" dirty="0">
                    <a:latin typeface="Times New Roman" panose="02020603050405020304" pitchFamily="18" charset="0"/>
                    <a:ea typeface="黑体" panose="02010609060101010101" pitchFamily="49" charset="-122"/>
                  </a:rPr>
                  <a:t>CAD/CAM</a:t>
                </a:r>
                <a:r>
                  <a:rPr lang="zh-CN" altLang="en-US" dirty="0">
                    <a:latin typeface="Times New Roman" panose="02020603050405020304" pitchFamily="18" charset="0"/>
                    <a:ea typeface="黑体" panose="02010609060101010101" pitchFamily="49" charset="-122"/>
                  </a:rPr>
                  <a:t>系统，</a:t>
                </a:r>
                <a:endParaRPr lang="zh-CN" altLang="en-US" dirty="0">
                  <a:latin typeface="Times New Roman" panose="02020603050405020304" pitchFamily="18" charset="0"/>
                  <a:ea typeface="黑体" panose="02010609060101010101" pitchFamily="49" charset="-122"/>
                </a:endParaRPr>
              </a:p>
              <a:p>
                <a:r>
                  <a:rPr lang="en-US" altLang="zh-CN" b="1" dirty="0">
                    <a:latin typeface="Times New Roman" panose="02020603050405020304" pitchFamily="18" charset="0"/>
                    <a:ea typeface="黑体" panose="02010609060101010101" pitchFamily="49" charset="-122"/>
                  </a:rPr>
                  <a:t>MRPⅡ</a:t>
                </a:r>
                <a:r>
                  <a:rPr lang="zh-CN" altLang="en-US" b="1" dirty="0">
                    <a:latin typeface="Times New Roman" panose="02020603050405020304" pitchFamily="18" charset="0"/>
                    <a:ea typeface="黑体" panose="02010609060101010101" pitchFamily="49" charset="-122"/>
                  </a:rPr>
                  <a:t>，</a:t>
                </a:r>
                <a:r>
                  <a:rPr lang="en-US" altLang="zh-CN" b="1" dirty="0">
                    <a:solidFill>
                      <a:srgbClr val="800000"/>
                    </a:solidFill>
                    <a:latin typeface="Times New Roman" panose="02020603050405020304" pitchFamily="18" charset="0"/>
                    <a:ea typeface="黑体" panose="02010609060101010101" pitchFamily="49" charset="-122"/>
                  </a:rPr>
                  <a:t>CIMS</a:t>
                </a:r>
                <a:endParaRPr lang="en-US" altLang="zh-CN" b="1" dirty="0">
                  <a:solidFill>
                    <a:srgbClr val="800000"/>
                  </a:solidFill>
                  <a:latin typeface="Times New Roman" panose="02020603050405020304" pitchFamily="18" charset="0"/>
                  <a:ea typeface="黑体" panose="02010609060101010101" pitchFamily="49" charset="-122"/>
                </a:endParaRPr>
              </a:p>
            </p:txBody>
          </p:sp>
          <p:sp>
            <p:nvSpPr>
              <p:cNvPr id="237595" name="Text Box 29"/>
              <p:cNvSpPr txBox="1"/>
              <p:nvPr/>
            </p:nvSpPr>
            <p:spPr>
              <a:xfrm>
                <a:off x="351" y="3942"/>
                <a:ext cx="692"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应用范围</a:t>
                </a:r>
                <a:endParaRPr lang="zh-CN" altLang="en-US" dirty="0">
                  <a:latin typeface="Times New Roman" panose="02020603050405020304" pitchFamily="18" charset="0"/>
                  <a:ea typeface="黑体" panose="02010609060101010101" pitchFamily="49" charset="-122"/>
                </a:endParaRPr>
              </a:p>
            </p:txBody>
          </p:sp>
          <p:sp>
            <p:nvSpPr>
              <p:cNvPr id="237596" name="Text Box 30"/>
              <p:cNvSpPr txBox="1"/>
              <p:nvPr/>
            </p:nvSpPr>
            <p:spPr>
              <a:xfrm>
                <a:off x="1180" y="3942"/>
                <a:ext cx="980" cy="249"/>
              </a:xfrm>
              <a:prstGeom prst="rect">
                <a:avLst/>
              </a:prstGeom>
              <a:noFill/>
              <a:ln w="9525">
                <a:noFill/>
              </a:ln>
            </p:spPr>
            <p:txBody>
              <a:bodyPr wrap="none" anchor="ctr" anchorCtr="0">
                <a:spAutoFit/>
              </a:bodyPr>
              <a:p>
                <a:pPr>
                  <a:spcBef>
                    <a:spcPct val="50000"/>
                  </a:spcBef>
                </a:pPr>
                <a:r>
                  <a:rPr lang="zh-CN" altLang="en-US" dirty="0">
                    <a:latin typeface="Times New Roman" panose="02020603050405020304" pitchFamily="18" charset="0"/>
                    <a:ea typeface="黑体" panose="02010609060101010101" pitchFamily="49" charset="-122"/>
                  </a:rPr>
                  <a:t>大批大量生产</a:t>
                </a:r>
                <a:endParaRPr lang="zh-CN" altLang="en-US" dirty="0">
                  <a:latin typeface="Times New Roman" panose="02020603050405020304" pitchFamily="18" charset="0"/>
                  <a:ea typeface="黑体" panose="02010609060101010101" pitchFamily="49" charset="-122"/>
                </a:endParaRPr>
              </a:p>
            </p:txBody>
          </p:sp>
          <p:sp>
            <p:nvSpPr>
              <p:cNvPr id="237597" name="Text Box 31"/>
              <p:cNvSpPr txBox="1"/>
              <p:nvPr/>
            </p:nvSpPr>
            <p:spPr>
              <a:xfrm>
                <a:off x="2288" y="3942"/>
                <a:ext cx="1728" cy="249"/>
              </a:xfrm>
              <a:prstGeom prst="rect">
                <a:avLst/>
              </a:prstGeom>
              <a:noFill/>
              <a:ln w="9525">
                <a:noFill/>
              </a:ln>
            </p:spPr>
            <p:txBody>
              <a:bodyPr anchor="ctr" anchorCtr="0">
                <a:spAutoFit/>
              </a:bodyPr>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多品种、中小批量生产</a:t>
                </a:r>
                <a:endParaRPr lang="zh-CN" altLang="en-US" dirty="0">
                  <a:latin typeface="Times New Roman" panose="02020603050405020304" pitchFamily="18" charset="0"/>
                  <a:ea typeface="黑体" panose="02010609060101010101" pitchFamily="49" charset="-122"/>
                </a:endParaRPr>
              </a:p>
            </p:txBody>
          </p:sp>
          <p:sp>
            <p:nvSpPr>
              <p:cNvPr id="237598" name="Text Box 32"/>
              <p:cNvSpPr txBox="1"/>
              <p:nvPr/>
            </p:nvSpPr>
            <p:spPr>
              <a:xfrm>
                <a:off x="3984" y="3942"/>
                <a:ext cx="980" cy="249"/>
              </a:xfrm>
              <a:prstGeom prst="rect">
                <a:avLst/>
              </a:prstGeom>
              <a:noFill/>
              <a:ln w="9525">
                <a:noFill/>
              </a:ln>
            </p:spPr>
            <p:txBody>
              <a:bodyPr wrap="none" anchor="ctr" anchorCtr="0">
                <a:spAutoFit/>
              </a:bodyPr>
              <a:p>
                <a:pPr>
                  <a:spcBef>
                    <a:spcPct val="50000"/>
                  </a:spcBef>
                </a:pPr>
                <a:r>
                  <a:rPr lang="zh-CN" altLang="en-US" dirty="0">
                    <a:latin typeface="Times New Roman" panose="02020603050405020304" pitchFamily="18" charset="0"/>
                    <a:ea typeface="黑体" panose="02010609060101010101" pitchFamily="49" charset="-122"/>
                  </a:rPr>
                  <a:t>各种生产类型</a:t>
                </a:r>
                <a:endParaRPr lang="zh-CN" altLang="en-US" dirty="0">
                  <a:latin typeface="Times New Roman" panose="02020603050405020304" pitchFamily="18" charset="0"/>
                  <a:ea typeface="黑体" panose="02010609060101010101" pitchFamily="49" charset="-122"/>
                </a:endParaRPr>
              </a:p>
            </p:txBody>
          </p:sp>
          <p:sp>
            <p:nvSpPr>
              <p:cNvPr id="237599" name="Text Box 33"/>
              <p:cNvSpPr txBox="1"/>
              <p:nvPr/>
            </p:nvSpPr>
            <p:spPr>
              <a:xfrm>
                <a:off x="351" y="2982"/>
                <a:ext cx="692" cy="249"/>
              </a:xfrm>
              <a:prstGeom prst="rect">
                <a:avLst/>
              </a:prstGeom>
              <a:noFill/>
              <a:ln w="9525">
                <a:noFill/>
              </a:ln>
            </p:spPr>
            <p:txBody>
              <a:bodyPr wrap="none" anchor="ctr" anchorCtr="0">
                <a:spAutoFit/>
              </a:bodyPr>
              <a:p>
                <a:pPr algn="ctr">
                  <a:spcBef>
                    <a:spcPct val="50000"/>
                  </a:spcBef>
                </a:pPr>
                <a:r>
                  <a:rPr lang="zh-CN" altLang="en-US" dirty="0">
                    <a:latin typeface="Times New Roman" panose="02020603050405020304" pitchFamily="18" charset="0"/>
                    <a:ea typeface="黑体" panose="02010609060101010101" pitchFamily="49" charset="-122"/>
                  </a:rPr>
                  <a:t>关键技术</a:t>
                </a:r>
                <a:endParaRPr lang="zh-CN" altLang="en-US" dirty="0">
                  <a:latin typeface="Times New Roman" panose="02020603050405020304" pitchFamily="18" charset="0"/>
                  <a:ea typeface="黑体" panose="02010609060101010101" pitchFamily="49" charset="-122"/>
                </a:endParaRPr>
              </a:p>
            </p:txBody>
          </p:sp>
          <p:sp>
            <p:nvSpPr>
              <p:cNvPr id="237600" name="Text Box 34"/>
              <p:cNvSpPr txBox="1"/>
              <p:nvPr/>
            </p:nvSpPr>
            <p:spPr>
              <a:xfrm>
                <a:off x="1056" y="2889"/>
                <a:ext cx="1296" cy="436"/>
              </a:xfrm>
              <a:prstGeom prst="rect">
                <a:avLst/>
              </a:prstGeom>
              <a:noFill/>
              <a:ln w="9525">
                <a:noFill/>
              </a:ln>
            </p:spPr>
            <p:txBody>
              <a:bodyPr anchor="ctr" anchorCtr="0">
                <a:spAutoFit/>
              </a:bodyPr>
              <a:p>
                <a:pPr>
                  <a:spcBef>
                    <a:spcPct val="50000"/>
                  </a:spcBef>
                </a:pP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继电器程序控制技术，</a:t>
                </a:r>
                <a:r>
                  <a:rPr lang="zh-CN" altLang="en-US" dirty="0">
                    <a:solidFill>
                      <a:srgbClr val="800000"/>
                    </a:solidFill>
                    <a:latin typeface="Times New Roman" panose="02020603050405020304" pitchFamily="18" charset="0"/>
                    <a:ea typeface="黑体" panose="02010609060101010101" pitchFamily="49" charset="-122"/>
                  </a:rPr>
                  <a:t>经典控制论</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601" name="Text Box 35"/>
              <p:cNvSpPr txBox="1"/>
              <p:nvPr/>
            </p:nvSpPr>
            <p:spPr>
              <a:xfrm>
                <a:off x="2288" y="2889"/>
                <a:ext cx="1584" cy="436"/>
              </a:xfrm>
              <a:prstGeom prst="rect">
                <a:avLst/>
              </a:prstGeom>
              <a:noFill/>
              <a:ln w="9525">
                <a:noFill/>
              </a:ln>
            </p:spPr>
            <p:txBody>
              <a:bodyPr anchor="ctr" anchorCtr="0">
                <a:spAutoFit/>
              </a:bodyPr>
              <a:p>
                <a:pPr>
                  <a:spcBef>
                    <a:spcPct val="50000"/>
                  </a:spcBef>
                </a:pP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数控技术，计算机控制，</a:t>
                </a:r>
                <a:r>
                  <a:rPr lang="en-US" altLang="zh-CN" b="1" dirty="0">
                    <a:latin typeface="Times New Roman" panose="02020603050405020304" pitchFamily="18" charset="0"/>
                    <a:ea typeface="黑体" panose="02010609060101010101" pitchFamily="49" charset="-122"/>
                  </a:rPr>
                  <a:t>GT</a:t>
                </a:r>
                <a:r>
                  <a:rPr lang="zh-CN" altLang="en-US" dirty="0">
                    <a:latin typeface="Times New Roman" panose="02020603050405020304" pitchFamily="18" charset="0"/>
                    <a:ea typeface="黑体" panose="02010609060101010101" pitchFamily="49" charset="-122"/>
                  </a:rPr>
                  <a:t>，</a:t>
                </a:r>
                <a:r>
                  <a:rPr lang="zh-CN" altLang="en-US" dirty="0">
                    <a:solidFill>
                      <a:srgbClr val="800000"/>
                    </a:solidFill>
                    <a:latin typeface="Times New Roman" panose="02020603050405020304" pitchFamily="18" charset="0"/>
                    <a:ea typeface="黑体" panose="02010609060101010101" pitchFamily="49" charset="-122"/>
                  </a:rPr>
                  <a:t>现代控制论</a:t>
                </a:r>
                <a:endParaRPr lang="zh-CN" altLang="en-US" dirty="0">
                  <a:solidFill>
                    <a:srgbClr val="800000"/>
                  </a:solidFill>
                  <a:latin typeface="Times New Roman" panose="02020603050405020304" pitchFamily="18" charset="0"/>
                  <a:ea typeface="黑体" panose="02010609060101010101" pitchFamily="49" charset="-122"/>
                </a:endParaRPr>
              </a:p>
            </p:txBody>
          </p:sp>
          <p:sp>
            <p:nvSpPr>
              <p:cNvPr id="237602" name="Text Box 36"/>
              <p:cNvSpPr txBox="1"/>
              <p:nvPr/>
            </p:nvSpPr>
            <p:spPr>
              <a:xfrm>
                <a:off x="3792" y="2889"/>
                <a:ext cx="1584" cy="436"/>
              </a:xfrm>
              <a:prstGeom prst="rect">
                <a:avLst/>
              </a:prstGeom>
              <a:noFill/>
              <a:ln w="9525">
                <a:noFill/>
              </a:ln>
            </p:spPr>
            <p:txBody>
              <a:bodyPr lIns="0" rIns="0" anchor="ctr" anchorCtr="0">
                <a:spAutoFit/>
              </a:bodyPr>
              <a:p>
                <a:pPr algn="ctr">
                  <a:spcBef>
                    <a:spcPct val="50000"/>
                  </a:spcBef>
                </a:pPr>
                <a:r>
                  <a:rPr lang="en-US" altLang="zh-CN" dirty="0">
                    <a:latin typeface="Times New Roman" panose="02020603050405020304" pitchFamily="18" charset="0"/>
                    <a:ea typeface="黑体" panose="02010609060101010101" pitchFamily="49" charset="-122"/>
                  </a:rPr>
                  <a:t>    </a:t>
                </a:r>
                <a:r>
                  <a:rPr lang="zh-CN" altLang="en-US" dirty="0">
                    <a:solidFill>
                      <a:srgbClr val="800000"/>
                    </a:solidFill>
                    <a:latin typeface="Times New Roman" panose="02020603050405020304" pitchFamily="18" charset="0"/>
                    <a:ea typeface="黑体" panose="02010609060101010101" pitchFamily="49" charset="-122"/>
                  </a:rPr>
                  <a:t>系统工程，信息技术，</a:t>
                </a:r>
                <a:r>
                  <a:rPr lang="zh-CN" altLang="en-US" dirty="0">
                    <a:latin typeface="Times New Roman" panose="02020603050405020304" pitchFamily="18" charset="0"/>
                    <a:ea typeface="黑体" panose="02010609060101010101" pitchFamily="49" charset="-122"/>
                  </a:rPr>
                  <a:t>计算机技术，管理技术</a:t>
                </a:r>
                <a:endParaRPr lang="zh-CN" altLang="en-US" dirty="0">
                  <a:latin typeface="Times New Roman" panose="02020603050405020304" pitchFamily="18" charset="0"/>
                  <a:ea typeface="黑体" panose="02010609060101010101" pitchFamily="49" charset="-122"/>
                </a:endParaRPr>
              </a:p>
            </p:txBody>
          </p:sp>
          <p:grpSp>
            <p:nvGrpSpPr>
              <p:cNvPr id="237603" name="Group 37"/>
              <p:cNvGrpSpPr/>
              <p:nvPr/>
            </p:nvGrpSpPr>
            <p:grpSpPr>
              <a:xfrm>
                <a:off x="432" y="765"/>
                <a:ext cx="4935" cy="3426"/>
                <a:chOff x="384" y="750"/>
                <a:chExt cx="4935" cy="3426"/>
              </a:xfrm>
            </p:grpSpPr>
            <p:sp>
              <p:nvSpPr>
                <p:cNvPr id="237604" name="Line 38"/>
                <p:cNvSpPr/>
                <p:nvPr/>
              </p:nvSpPr>
              <p:spPr>
                <a:xfrm>
                  <a:off x="1008" y="750"/>
                  <a:ext cx="0" cy="3426"/>
                </a:xfrm>
                <a:prstGeom prst="line">
                  <a:avLst/>
                </a:prstGeom>
                <a:ln w="28575" cap="flat" cmpd="sng">
                  <a:solidFill>
                    <a:schemeClr val="tx1"/>
                  </a:solidFill>
                  <a:prstDash val="solid"/>
                  <a:round/>
                  <a:headEnd type="none" w="med" len="med"/>
                  <a:tailEnd type="none" w="med" len="med"/>
                </a:ln>
              </p:spPr>
            </p:sp>
            <p:sp>
              <p:nvSpPr>
                <p:cNvPr id="237605" name="Line 39"/>
                <p:cNvSpPr/>
                <p:nvPr/>
              </p:nvSpPr>
              <p:spPr>
                <a:xfrm>
                  <a:off x="2256" y="750"/>
                  <a:ext cx="0" cy="3426"/>
                </a:xfrm>
                <a:prstGeom prst="line">
                  <a:avLst/>
                </a:prstGeom>
                <a:ln w="9525" cap="flat" cmpd="sng">
                  <a:solidFill>
                    <a:schemeClr val="tx1"/>
                  </a:solidFill>
                  <a:prstDash val="solid"/>
                  <a:round/>
                  <a:headEnd type="none" w="med" len="med"/>
                  <a:tailEnd type="none" w="med" len="med"/>
                </a:ln>
              </p:spPr>
            </p:sp>
            <p:sp>
              <p:nvSpPr>
                <p:cNvPr id="237606" name="Line 40"/>
                <p:cNvSpPr/>
                <p:nvPr/>
              </p:nvSpPr>
              <p:spPr>
                <a:xfrm>
                  <a:off x="3792" y="750"/>
                  <a:ext cx="0" cy="3426"/>
                </a:xfrm>
                <a:prstGeom prst="line">
                  <a:avLst/>
                </a:prstGeom>
                <a:ln w="9525" cap="flat" cmpd="sng">
                  <a:solidFill>
                    <a:schemeClr val="tx1"/>
                  </a:solidFill>
                  <a:prstDash val="solid"/>
                  <a:round/>
                  <a:headEnd type="none" w="med" len="med"/>
                  <a:tailEnd type="none" w="med" len="med"/>
                </a:ln>
              </p:spPr>
            </p:sp>
            <p:grpSp>
              <p:nvGrpSpPr>
                <p:cNvPr id="237607" name="Group 41"/>
                <p:cNvGrpSpPr/>
                <p:nvPr/>
              </p:nvGrpSpPr>
              <p:grpSpPr>
                <a:xfrm>
                  <a:off x="384" y="758"/>
                  <a:ext cx="4935" cy="3418"/>
                  <a:chOff x="384" y="758"/>
                  <a:chExt cx="4935" cy="3418"/>
                </a:xfrm>
              </p:grpSpPr>
              <p:sp>
                <p:nvSpPr>
                  <p:cNvPr id="237608" name="Line 42"/>
                  <p:cNvSpPr/>
                  <p:nvPr/>
                </p:nvSpPr>
                <p:spPr>
                  <a:xfrm>
                    <a:off x="384" y="758"/>
                    <a:ext cx="4935" cy="0"/>
                  </a:xfrm>
                  <a:prstGeom prst="line">
                    <a:avLst/>
                  </a:prstGeom>
                  <a:ln w="28575" cap="flat" cmpd="sng">
                    <a:solidFill>
                      <a:schemeClr val="tx1"/>
                    </a:solidFill>
                    <a:prstDash val="solid"/>
                    <a:round/>
                    <a:headEnd type="none" w="med" len="med"/>
                    <a:tailEnd type="none" w="med" len="med"/>
                  </a:ln>
                </p:spPr>
              </p:sp>
              <p:sp>
                <p:nvSpPr>
                  <p:cNvPr id="237609" name="Line 43"/>
                  <p:cNvSpPr/>
                  <p:nvPr/>
                </p:nvSpPr>
                <p:spPr>
                  <a:xfrm>
                    <a:off x="384" y="988"/>
                    <a:ext cx="4935" cy="0"/>
                  </a:xfrm>
                  <a:prstGeom prst="line">
                    <a:avLst/>
                  </a:prstGeom>
                  <a:ln w="28575" cap="flat" cmpd="sng">
                    <a:solidFill>
                      <a:schemeClr val="tx1"/>
                    </a:solidFill>
                    <a:prstDash val="solid"/>
                    <a:round/>
                    <a:headEnd type="none" w="med" len="med"/>
                    <a:tailEnd type="none" w="med" len="med"/>
                  </a:ln>
                </p:spPr>
              </p:sp>
              <p:sp>
                <p:nvSpPr>
                  <p:cNvPr id="237610" name="Line 44"/>
                  <p:cNvSpPr/>
                  <p:nvPr/>
                </p:nvSpPr>
                <p:spPr>
                  <a:xfrm>
                    <a:off x="384" y="4176"/>
                    <a:ext cx="4935" cy="0"/>
                  </a:xfrm>
                  <a:prstGeom prst="line">
                    <a:avLst/>
                  </a:prstGeom>
                  <a:ln w="28575" cap="flat" cmpd="sng">
                    <a:solidFill>
                      <a:schemeClr val="tx1"/>
                    </a:solidFill>
                    <a:prstDash val="solid"/>
                    <a:round/>
                    <a:headEnd type="none" w="med" len="med"/>
                    <a:tailEnd type="none" w="med" len="med"/>
                  </a:ln>
                </p:spPr>
              </p:sp>
              <p:sp>
                <p:nvSpPr>
                  <p:cNvPr id="237611" name="Line 45"/>
                  <p:cNvSpPr/>
                  <p:nvPr/>
                </p:nvSpPr>
                <p:spPr>
                  <a:xfrm>
                    <a:off x="384" y="2870"/>
                    <a:ext cx="4935" cy="0"/>
                  </a:xfrm>
                  <a:prstGeom prst="line">
                    <a:avLst/>
                  </a:prstGeom>
                  <a:ln w="9525" cap="flat" cmpd="sng">
                    <a:solidFill>
                      <a:schemeClr val="tx1"/>
                    </a:solidFill>
                    <a:prstDash val="solid"/>
                    <a:round/>
                    <a:headEnd type="none" w="med" len="med"/>
                    <a:tailEnd type="none" w="med" len="med"/>
                  </a:ln>
                </p:spPr>
              </p:sp>
              <p:sp>
                <p:nvSpPr>
                  <p:cNvPr id="237612" name="Line 46"/>
                  <p:cNvSpPr/>
                  <p:nvPr/>
                </p:nvSpPr>
                <p:spPr>
                  <a:xfrm>
                    <a:off x="384" y="1804"/>
                    <a:ext cx="4935" cy="0"/>
                  </a:xfrm>
                  <a:prstGeom prst="line">
                    <a:avLst/>
                  </a:prstGeom>
                  <a:ln w="9525" cap="flat" cmpd="sng">
                    <a:solidFill>
                      <a:schemeClr val="tx1"/>
                    </a:solidFill>
                    <a:prstDash val="solid"/>
                    <a:round/>
                    <a:headEnd type="none" w="med" len="med"/>
                    <a:tailEnd type="none" w="med" len="med"/>
                  </a:ln>
                </p:spPr>
              </p:sp>
              <p:sp>
                <p:nvSpPr>
                  <p:cNvPr id="237613" name="Line 47"/>
                  <p:cNvSpPr/>
                  <p:nvPr/>
                </p:nvSpPr>
                <p:spPr>
                  <a:xfrm>
                    <a:off x="384" y="2054"/>
                    <a:ext cx="4935" cy="0"/>
                  </a:xfrm>
                  <a:prstGeom prst="line">
                    <a:avLst/>
                  </a:prstGeom>
                  <a:ln w="9525" cap="flat" cmpd="sng">
                    <a:solidFill>
                      <a:schemeClr val="tx1"/>
                    </a:solidFill>
                    <a:prstDash val="solid"/>
                    <a:round/>
                    <a:headEnd type="none" w="med" len="med"/>
                    <a:tailEnd type="none" w="med" len="med"/>
                  </a:ln>
                </p:spPr>
              </p:sp>
              <p:sp>
                <p:nvSpPr>
                  <p:cNvPr id="237614" name="Line 48"/>
                  <p:cNvSpPr/>
                  <p:nvPr/>
                </p:nvSpPr>
                <p:spPr>
                  <a:xfrm>
                    <a:off x="384" y="3946"/>
                    <a:ext cx="4935" cy="0"/>
                  </a:xfrm>
                  <a:prstGeom prst="line">
                    <a:avLst/>
                  </a:prstGeom>
                  <a:ln w="9525" cap="flat" cmpd="sng">
                    <a:solidFill>
                      <a:schemeClr val="tx1"/>
                    </a:solidFill>
                    <a:prstDash val="solid"/>
                    <a:round/>
                    <a:headEnd type="none" w="med" len="med"/>
                    <a:tailEnd type="none" w="med" len="med"/>
                  </a:ln>
                </p:spPr>
              </p:sp>
              <p:sp>
                <p:nvSpPr>
                  <p:cNvPr id="237615" name="Line 49"/>
                  <p:cNvSpPr/>
                  <p:nvPr/>
                </p:nvSpPr>
                <p:spPr>
                  <a:xfrm>
                    <a:off x="384" y="3312"/>
                    <a:ext cx="4935" cy="0"/>
                  </a:xfrm>
                  <a:prstGeom prst="line">
                    <a:avLst/>
                  </a:prstGeom>
                  <a:ln w="9525" cap="flat" cmpd="sng">
                    <a:solidFill>
                      <a:schemeClr val="tx1"/>
                    </a:solidFill>
                    <a:prstDash val="solid"/>
                    <a:round/>
                    <a:headEnd type="none" w="med" len="med"/>
                    <a:tailEnd type="none" w="med" len="med"/>
                  </a:ln>
                </p:spPr>
              </p:sp>
            </p:grpSp>
          </p:grpSp>
        </p:grpSp>
      </p:grpSp>
    </p:spTree>
  </p:cSld>
  <p:clrMapOvr>
    <a:masterClrMapping/>
  </p:clrMapOvr>
  <p:transition spd="slow">
    <p:randomBar dir="ver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2418" name="Rectangle 2"/>
          <p:cNvSpPr>
            <a:spLocks noGrp="1" noChangeArrowheads="1"/>
          </p:cNvSpPr>
          <p:nvPr>
            <p:ph type="title"/>
          </p:nvPr>
        </p:nvSpPr>
        <p:spPr>
          <a:xfrm>
            <a:off x="2582863" y="404813"/>
            <a:ext cx="6381750"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制造自动化技术的主要形式</a:t>
            </a:r>
            <a:r>
              <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39618"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39619" name="Group 13"/>
          <p:cNvGrpSpPr/>
          <p:nvPr/>
        </p:nvGrpSpPr>
        <p:grpSpPr>
          <a:xfrm>
            <a:off x="36513" y="1254125"/>
            <a:ext cx="8999537" cy="5414963"/>
            <a:chOff x="68" y="766"/>
            <a:chExt cx="5669" cy="3411"/>
          </a:xfrm>
        </p:grpSpPr>
        <p:sp>
          <p:nvSpPr>
            <p:cNvPr id="239620" name="Rectangle 5"/>
            <p:cNvSpPr/>
            <p:nvPr/>
          </p:nvSpPr>
          <p:spPr>
            <a:xfrm>
              <a:off x="832" y="3500"/>
              <a:ext cx="4848" cy="248"/>
            </a:xfrm>
            <a:prstGeom prst="rect">
              <a:avLst/>
            </a:prstGeom>
            <a:noFill/>
            <a:ln w="9525">
              <a:noFill/>
            </a:ln>
          </p:spPr>
          <p:txBody>
            <a:bodyPr anchor="t" anchorCtr="0">
              <a:spAutoFit/>
            </a:bodyPr>
            <a:p>
              <a:pPr eaLnBrk="0" hangingPunct="0">
                <a:lnSpc>
                  <a:spcPct val="110000"/>
                </a:lnSpc>
                <a:spcBef>
                  <a:spcPct val="50000"/>
                </a:spcBef>
              </a:pPr>
              <a:r>
                <a:rPr lang="en-US" altLang="zh-CN"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sp>
          <p:nvSpPr>
            <p:cNvPr id="239621" name="Rectangle 7"/>
            <p:cNvSpPr/>
            <p:nvPr/>
          </p:nvSpPr>
          <p:spPr>
            <a:xfrm>
              <a:off x="113" y="3927"/>
              <a:ext cx="5624" cy="250"/>
            </a:xfrm>
            <a:prstGeom prst="rect">
              <a:avLst/>
            </a:prstGeom>
            <a:solidFill>
              <a:srgbClr val="FFFFFF"/>
            </a:solidFill>
            <a:ln w="9525">
              <a:noFill/>
            </a:ln>
          </p:spPr>
          <p:txBody>
            <a:bodyPr anchor="t" anchorCtr="0">
              <a:spAutoFit/>
            </a:bodyPr>
            <a:p>
              <a:pPr algn="ctr"/>
              <a:r>
                <a:rPr lang="zh-CN" altLang="en-US" sz="2000" b="1" dirty="0">
                  <a:latin typeface="楷体_GB2312"/>
                  <a:ea typeface="楷体_GB2312"/>
                </a:rPr>
                <a:t>图</a:t>
              </a:r>
              <a:r>
                <a:rPr lang="en-US" altLang="zh-CN" sz="2000" b="1" dirty="0">
                  <a:latin typeface="楷体_GB2312"/>
                  <a:ea typeface="楷体_GB2312"/>
                </a:rPr>
                <a:t>2-25  </a:t>
              </a:r>
              <a:r>
                <a:rPr lang="zh-CN" altLang="en-US" sz="2000" b="1" dirty="0">
                  <a:latin typeface="楷体_GB2312"/>
                  <a:ea typeface="楷体_GB2312"/>
                </a:rPr>
                <a:t>汽车后桥齿轮箱加工自动线</a:t>
              </a:r>
              <a:endParaRPr lang="zh-CN" altLang="en-US" sz="2000" b="1" dirty="0">
                <a:latin typeface="楷体_GB2312"/>
                <a:ea typeface="楷体_GB2312"/>
              </a:endParaRPr>
            </a:p>
          </p:txBody>
        </p:sp>
        <p:pic>
          <p:nvPicPr>
            <p:cNvPr id="239622" name="Picture 8" descr="m27"/>
            <p:cNvPicPr preferRelativeResize="0">
              <a:picLocks noChangeAspect="1"/>
            </p:cNvPicPr>
            <p:nvPr/>
          </p:nvPicPr>
          <p:blipFill>
            <a:blip r:embed="rId1"/>
            <a:srcRect t="2164" b="1622"/>
            <a:stretch>
              <a:fillRect/>
            </a:stretch>
          </p:blipFill>
          <p:spPr>
            <a:xfrm>
              <a:off x="68" y="766"/>
              <a:ext cx="5647" cy="3208"/>
            </a:xfrm>
            <a:prstGeom prst="rect">
              <a:avLst/>
            </a:prstGeom>
            <a:noFill/>
            <a:ln w="9525">
              <a:noFill/>
            </a:ln>
          </p:spPr>
        </p:pic>
        <p:grpSp>
          <p:nvGrpSpPr>
            <p:cNvPr id="239623" name="Group 9"/>
            <p:cNvGrpSpPr/>
            <p:nvPr/>
          </p:nvGrpSpPr>
          <p:grpSpPr>
            <a:xfrm>
              <a:off x="3059" y="768"/>
              <a:ext cx="1789" cy="465"/>
              <a:chOff x="3059" y="1071"/>
              <a:chExt cx="1789" cy="465"/>
            </a:xfrm>
          </p:grpSpPr>
          <p:sp>
            <p:nvSpPr>
              <p:cNvPr id="239624" name="Text Box 10"/>
              <p:cNvSpPr txBox="1"/>
              <p:nvPr/>
            </p:nvSpPr>
            <p:spPr>
              <a:xfrm>
                <a:off x="3774" y="1178"/>
                <a:ext cx="1074" cy="358"/>
              </a:xfrm>
              <a:prstGeom prst="rect">
                <a:avLst/>
              </a:prstGeom>
              <a:noFill/>
              <a:ln w="28575" cap="flat" cmpd="sng">
                <a:solidFill>
                  <a:srgbClr val="800000"/>
                </a:solidFill>
                <a:prstDash val="solid"/>
                <a:miter/>
                <a:headEnd type="none" w="med" len="med"/>
                <a:tailEnd type="none" w="med" len="med"/>
              </a:ln>
            </p:spPr>
            <p:txBody>
              <a:bodyPr wrap="none" tIns="10800" bIns="10800" anchor="ctr" anchorCtr="0"/>
              <a:p>
                <a:pPr>
                  <a:lnSpc>
                    <a:spcPct val="80000"/>
                  </a:lnSpc>
                </a:pPr>
                <a:r>
                  <a:rPr lang="zh-CN" altLang="en-US" sz="2400" b="1" dirty="0">
                    <a:solidFill>
                      <a:srgbClr val="800000"/>
                    </a:solidFill>
                    <a:latin typeface="Times New Roman" panose="02020603050405020304" pitchFamily="18" charset="0"/>
                    <a:ea typeface="楷体_GB2312"/>
                  </a:rPr>
                  <a:t>刚性自动化</a:t>
                </a:r>
                <a:endParaRPr lang="zh-CN" altLang="en-US" sz="2400" b="1" dirty="0">
                  <a:solidFill>
                    <a:srgbClr val="800000"/>
                  </a:solidFill>
                  <a:latin typeface="Times New Roman" panose="02020603050405020304" pitchFamily="18" charset="0"/>
                  <a:ea typeface="楷体_GB2312"/>
                </a:endParaRPr>
              </a:p>
            </p:txBody>
          </p:sp>
          <p:sp>
            <p:nvSpPr>
              <p:cNvPr id="239625" name="Line 11"/>
              <p:cNvSpPr/>
              <p:nvPr/>
            </p:nvSpPr>
            <p:spPr>
              <a:xfrm flipV="1">
                <a:off x="3109" y="1371"/>
                <a:ext cx="672" cy="0"/>
              </a:xfrm>
              <a:prstGeom prst="line">
                <a:avLst/>
              </a:prstGeom>
              <a:ln w="38100" cap="flat" cmpd="sng">
                <a:solidFill>
                  <a:srgbClr val="800000"/>
                </a:solidFill>
                <a:prstDash val="solid"/>
                <a:round/>
                <a:headEnd type="none" w="med" len="med"/>
                <a:tailEnd type="triangle" w="med" len="lg"/>
              </a:ln>
            </p:spPr>
          </p:sp>
          <p:sp>
            <p:nvSpPr>
              <p:cNvPr id="239626" name="Text Box 12"/>
              <p:cNvSpPr txBox="1"/>
              <p:nvPr/>
            </p:nvSpPr>
            <p:spPr>
              <a:xfrm>
                <a:off x="3059" y="1071"/>
                <a:ext cx="696" cy="288"/>
              </a:xfrm>
              <a:prstGeom prst="rect">
                <a:avLst/>
              </a:prstGeom>
              <a:noFill/>
              <a:ln w="9525">
                <a:noFill/>
              </a:ln>
            </p:spPr>
            <p:txBody>
              <a:bodyPr wrap="none" anchor="ctr" anchorCtr="0">
                <a:spAutoFit/>
              </a:bodyPr>
              <a:p>
                <a:pPr algn="ctr">
                  <a:spcBef>
                    <a:spcPct val="50000"/>
                  </a:spcBef>
                </a:pPr>
                <a:r>
                  <a:rPr lang="en-US" altLang="zh-CN" sz="2400" b="1" dirty="0">
                    <a:latin typeface="楷体_GB2312"/>
                    <a:ea typeface="楷体_GB2312"/>
                  </a:rPr>
                  <a:t>20</a:t>
                </a:r>
                <a:r>
                  <a:rPr lang="zh-CN" altLang="en-US" sz="2400" b="1" dirty="0">
                    <a:latin typeface="楷体_GB2312"/>
                    <a:ea typeface="楷体_GB2312"/>
                  </a:rPr>
                  <a:t>年代</a:t>
                </a:r>
                <a:endParaRPr lang="zh-CN" altLang="en-US" sz="2800" b="1" dirty="0">
                  <a:latin typeface="楷体_GB2312"/>
                  <a:ea typeface="楷体_GB2312"/>
                </a:endParaRPr>
              </a:p>
            </p:txBody>
          </p:sp>
        </p:grpSp>
      </p:grpSp>
    </p:spTree>
  </p:cSld>
  <p:clrMapOvr>
    <a:masterClrMapping/>
  </p:clrMapOvr>
  <p:transition spd="slow">
    <p:randomBar dir="ver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4466" name="Rectangle 2"/>
          <p:cNvSpPr>
            <a:spLocks noGrp="1" noChangeArrowheads="1"/>
          </p:cNvSpPr>
          <p:nvPr>
            <p:ph type="title"/>
          </p:nvPr>
        </p:nvSpPr>
        <p:spPr>
          <a:xfrm>
            <a:off x="2582863" y="379413"/>
            <a:ext cx="6453188"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制造自动化技术的主要形式</a:t>
            </a:r>
            <a:r>
              <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4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41666"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1667" name="Rectangle 5"/>
          <p:cNvSpPr/>
          <p:nvPr/>
        </p:nvSpPr>
        <p:spPr>
          <a:xfrm>
            <a:off x="1320800" y="5556250"/>
            <a:ext cx="7696200" cy="393700"/>
          </a:xfrm>
          <a:prstGeom prst="rect">
            <a:avLst/>
          </a:prstGeom>
          <a:noFill/>
          <a:ln w="9525">
            <a:noFill/>
          </a:ln>
        </p:spPr>
        <p:txBody>
          <a:bodyPr anchor="t" anchorCtr="0">
            <a:spAutoFit/>
          </a:bodyPr>
          <a:p>
            <a:pPr eaLnBrk="0" hangingPunct="0">
              <a:lnSpc>
                <a:spcPct val="110000"/>
              </a:lnSpc>
              <a:spcBef>
                <a:spcPct val="50000"/>
              </a:spcBef>
            </a:pPr>
            <a:r>
              <a:rPr lang="en-US" altLang="zh-CN"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grpSp>
        <p:nvGrpSpPr>
          <p:cNvPr id="241668" name="Group 6"/>
          <p:cNvGrpSpPr/>
          <p:nvPr/>
        </p:nvGrpSpPr>
        <p:grpSpPr>
          <a:xfrm>
            <a:off x="1143000" y="1298575"/>
            <a:ext cx="7750175" cy="3697288"/>
            <a:chOff x="720" y="618"/>
            <a:chExt cx="4882" cy="2329"/>
          </a:xfrm>
        </p:grpSpPr>
        <p:grpSp>
          <p:nvGrpSpPr>
            <p:cNvPr id="241669" name="Group 7"/>
            <p:cNvGrpSpPr/>
            <p:nvPr/>
          </p:nvGrpSpPr>
          <p:grpSpPr>
            <a:xfrm>
              <a:off x="720" y="618"/>
              <a:ext cx="4882" cy="2088"/>
              <a:chOff x="720" y="618"/>
              <a:chExt cx="4882" cy="2088"/>
            </a:xfrm>
          </p:grpSpPr>
          <p:graphicFrame>
            <p:nvGraphicFramePr>
              <p:cNvPr id="241670" name="Object 8"/>
              <p:cNvGraphicFramePr>
                <a:graphicFrameLocks noChangeAspect="1"/>
              </p:cNvGraphicFramePr>
              <p:nvPr/>
            </p:nvGraphicFramePr>
            <p:xfrm>
              <a:off x="2562" y="624"/>
              <a:ext cx="3040" cy="2082"/>
            </p:xfrm>
            <a:graphic>
              <a:graphicData uri="http://schemas.openxmlformats.org/presentationml/2006/ole">
                <mc:AlternateContent xmlns:mc="http://schemas.openxmlformats.org/markup-compatibility/2006">
                  <mc:Choice xmlns:v="urn:schemas-microsoft-com:vml" Requires="v">
                    <p:oleObj spid="_x0000_s3105" name="" r:id="rId1" imgW="3810000" imgH="2609850" progId="MSPhotoEd.3">
                      <p:embed/>
                    </p:oleObj>
                  </mc:Choice>
                  <mc:Fallback>
                    <p:oleObj name="" r:id="rId1" imgW="3810000" imgH="2609850" progId="MSPhotoEd.3">
                      <p:embed/>
                      <p:pic>
                        <p:nvPicPr>
                          <p:cNvPr id="0" name="图片 3104"/>
                          <p:cNvPicPr/>
                          <p:nvPr/>
                        </p:nvPicPr>
                        <p:blipFill>
                          <a:blip r:embed="rId2"/>
                          <a:stretch>
                            <a:fillRect/>
                          </a:stretch>
                        </p:blipFill>
                        <p:spPr>
                          <a:xfrm>
                            <a:off x="2562" y="624"/>
                            <a:ext cx="3040" cy="2082"/>
                          </a:xfrm>
                          <a:prstGeom prst="rect">
                            <a:avLst/>
                          </a:prstGeom>
                          <a:noFill/>
                          <a:ln w="38100">
                            <a:noFill/>
                            <a:miter/>
                          </a:ln>
                        </p:spPr>
                      </p:pic>
                    </p:oleObj>
                  </mc:Fallback>
                </mc:AlternateContent>
              </a:graphicData>
            </a:graphic>
          </p:graphicFrame>
          <p:grpSp>
            <p:nvGrpSpPr>
              <p:cNvPr id="241671" name="Group 9"/>
              <p:cNvGrpSpPr/>
              <p:nvPr/>
            </p:nvGrpSpPr>
            <p:grpSpPr>
              <a:xfrm>
                <a:off x="720" y="618"/>
                <a:ext cx="1776" cy="478"/>
                <a:chOff x="384" y="618"/>
                <a:chExt cx="1776" cy="478"/>
              </a:xfrm>
            </p:grpSpPr>
            <p:sp>
              <p:nvSpPr>
                <p:cNvPr id="241672" name="Text Box 10"/>
                <p:cNvSpPr txBox="1"/>
                <p:nvPr/>
              </p:nvSpPr>
              <p:spPr>
                <a:xfrm>
                  <a:off x="1082" y="769"/>
                  <a:ext cx="1078" cy="327"/>
                </a:xfrm>
                <a:prstGeom prst="rect">
                  <a:avLst/>
                </a:prstGeom>
                <a:noFill/>
                <a:ln w="28575" cap="flat" cmpd="sng">
                  <a:solidFill>
                    <a:srgbClr val="000066"/>
                  </a:solidFill>
                  <a:prstDash val="solid"/>
                  <a:miter/>
                  <a:headEnd type="none" w="med" len="med"/>
                  <a:tailEnd type="none" w="med" len="med"/>
                </a:ln>
              </p:spPr>
              <p:txBody>
                <a:bodyPr wrap="none" tIns="10800" bIns="10800" anchor="ctr" anchorCtr="0"/>
                <a:p>
                  <a:pPr>
                    <a:lnSpc>
                      <a:spcPct val="80000"/>
                    </a:lnSpc>
                  </a:pPr>
                  <a:r>
                    <a:rPr lang="zh-CN" altLang="en-US" sz="2400" b="1" dirty="0">
                      <a:solidFill>
                        <a:srgbClr val="0033CC"/>
                      </a:solidFill>
                      <a:latin typeface="Times New Roman" panose="02020603050405020304" pitchFamily="18" charset="0"/>
                      <a:ea typeface="楷体_GB2312"/>
                    </a:rPr>
                    <a:t>柔性自动化</a:t>
                  </a:r>
                  <a:endParaRPr lang="zh-CN" altLang="en-US" sz="2400" b="1" dirty="0">
                    <a:solidFill>
                      <a:srgbClr val="0033CC"/>
                    </a:solidFill>
                    <a:latin typeface="Times New Roman" panose="02020603050405020304" pitchFamily="18" charset="0"/>
                    <a:ea typeface="楷体_GB2312"/>
                  </a:endParaRPr>
                </a:p>
              </p:txBody>
            </p:sp>
            <p:sp>
              <p:nvSpPr>
                <p:cNvPr id="241673" name="Line 11"/>
                <p:cNvSpPr/>
                <p:nvPr/>
              </p:nvSpPr>
              <p:spPr>
                <a:xfrm>
                  <a:off x="410" y="920"/>
                  <a:ext cx="663" cy="0"/>
                </a:xfrm>
                <a:prstGeom prst="line">
                  <a:avLst/>
                </a:prstGeom>
                <a:ln w="38100" cap="flat" cmpd="sng">
                  <a:solidFill>
                    <a:srgbClr val="000066"/>
                  </a:solidFill>
                  <a:prstDash val="solid"/>
                  <a:round/>
                  <a:headEnd type="none" w="med" len="med"/>
                  <a:tailEnd type="triangle" w="med" len="lg"/>
                </a:ln>
              </p:spPr>
            </p:sp>
            <p:sp>
              <p:nvSpPr>
                <p:cNvPr id="241674" name="Text Box 12"/>
                <p:cNvSpPr txBox="1"/>
                <p:nvPr/>
              </p:nvSpPr>
              <p:spPr>
                <a:xfrm>
                  <a:off x="384" y="618"/>
                  <a:ext cx="692" cy="288"/>
                </a:xfrm>
                <a:prstGeom prst="rect">
                  <a:avLst/>
                </a:prstGeom>
                <a:noFill/>
                <a:ln w="9525">
                  <a:noFill/>
                </a:ln>
              </p:spPr>
              <p:txBody>
                <a:bodyPr wrap="none" anchor="ctr" anchorCtr="0">
                  <a:spAutoFit/>
                </a:bodyPr>
                <a:p>
                  <a:pPr algn="ctr">
                    <a:spcBef>
                      <a:spcPct val="50000"/>
                    </a:spcBef>
                  </a:pPr>
                  <a:r>
                    <a:rPr lang="en-US" altLang="zh-CN" sz="2400" dirty="0">
                      <a:solidFill>
                        <a:srgbClr val="0033CC"/>
                      </a:solidFill>
                      <a:latin typeface="Times New Roman" panose="02020603050405020304" pitchFamily="18" charset="0"/>
                      <a:ea typeface="黑体" panose="02010609060101010101" pitchFamily="49" charset="-122"/>
                    </a:rPr>
                    <a:t>50</a:t>
                  </a:r>
                  <a:r>
                    <a:rPr lang="zh-CN" altLang="en-US" sz="2400" dirty="0">
                      <a:solidFill>
                        <a:srgbClr val="0033CC"/>
                      </a:solidFill>
                      <a:latin typeface="Times New Roman" panose="02020603050405020304" pitchFamily="18" charset="0"/>
                      <a:ea typeface="黑体" panose="02010609060101010101" pitchFamily="49" charset="-122"/>
                    </a:rPr>
                    <a:t>年代</a:t>
                  </a:r>
                  <a:endParaRPr lang="zh-CN" altLang="en-US" sz="2800" dirty="0">
                    <a:solidFill>
                      <a:srgbClr val="0033CC"/>
                    </a:solidFill>
                    <a:latin typeface="Times New Roman" panose="02020603050405020304" pitchFamily="18" charset="0"/>
                    <a:ea typeface="黑体" panose="02010609060101010101" pitchFamily="49" charset="-122"/>
                  </a:endParaRPr>
                </a:p>
              </p:txBody>
            </p:sp>
          </p:grpSp>
        </p:grpSp>
        <p:sp>
          <p:nvSpPr>
            <p:cNvPr id="241675" name="Rectangle 13"/>
            <p:cNvSpPr/>
            <p:nvPr/>
          </p:nvSpPr>
          <p:spPr>
            <a:xfrm>
              <a:off x="3410" y="2697"/>
              <a:ext cx="1796" cy="250"/>
            </a:xfrm>
            <a:prstGeom prst="rect">
              <a:avLst/>
            </a:prstGeom>
            <a:noFill/>
            <a:ln w="9525">
              <a:noFill/>
            </a:ln>
          </p:spPr>
          <p:txBody>
            <a:bodyPr wrap="none" anchor="t" anchorCtr="0">
              <a:spAutoFit/>
            </a:bodyPr>
            <a:p>
              <a:r>
                <a:rPr lang="zh-CN" altLang="en-US" sz="2000" b="1" dirty="0">
                  <a:latin typeface="楷体_GB2312"/>
                  <a:ea typeface="楷体_GB2312"/>
                </a:rPr>
                <a:t>图</a:t>
              </a:r>
              <a:r>
                <a:rPr lang="en-US" altLang="zh-CN" sz="2000" b="1" dirty="0">
                  <a:latin typeface="楷体_GB2312"/>
                  <a:ea typeface="楷体_GB2312"/>
                </a:rPr>
                <a:t>2-26(a)  </a:t>
              </a:r>
              <a:r>
                <a:rPr lang="zh-CN" altLang="en-US" sz="2000" b="1" dirty="0">
                  <a:latin typeface="楷体_GB2312"/>
                  <a:ea typeface="楷体_GB2312"/>
                </a:rPr>
                <a:t>焊接机器人</a:t>
              </a:r>
              <a:endParaRPr lang="zh-CN" altLang="en-US" sz="2000" b="1" dirty="0">
                <a:latin typeface="楷体_GB2312"/>
                <a:ea typeface="楷体_GB2312"/>
              </a:endParaRPr>
            </a:p>
          </p:txBody>
        </p:sp>
      </p:grpSp>
      <p:grpSp>
        <p:nvGrpSpPr>
          <p:cNvPr id="241676" name="Group 14"/>
          <p:cNvGrpSpPr/>
          <p:nvPr/>
        </p:nvGrpSpPr>
        <p:grpSpPr>
          <a:xfrm>
            <a:off x="250825" y="2276475"/>
            <a:ext cx="6351588" cy="4537075"/>
            <a:chOff x="144" y="1207"/>
            <a:chExt cx="4152" cy="2994"/>
          </a:xfrm>
        </p:grpSpPr>
        <p:grpSp>
          <p:nvGrpSpPr>
            <p:cNvPr id="241677" name="Group 15"/>
            <p:cNvGrpSpPr/>
            <p:nvPr/>
          </p:nvGrpSpPr>
          <p:grpSpPr>
            <a:xfrm>
              <a:off x="144" y="1207"/>
              <a:ext cx="4152" cy="2994"/>
              <a:chOff x="144" y="1207"/>
              <a:chExt cx="4152" cy="2994"/>
            </a:xfrm>
          </p:grpSpPr>
          <p:grpSp>
            <p:nvGrpSpPr>
              <p:cNvPr id="241678" name="Group 16"/>
              <p:cNvGrpSpPr/>
              <p:nvPr/>
            </p:nvGrpSpPr>
            <p:grpSpPr>
              <a:xfrm>
                <a:off x="2530" y="3357"/>
                <a:ext cx="1766" cy="483"/>
                <a:chOff x="3274" y="2925"/>
                <a:chExt cx="1766" cy="483"/>
              </a:xfrm>
            </p:grpSpPr>
            <p:sp>
              <p:nvSpPr>
                <p:cNvPr id="241679" name="Text Box 17"/>
                <p:cNvSpPr txBox="1"/>
                <p:nvPr/>
              </p:nvSpPr>
              <p:spPr>
                <a:xfrm>
                  <a:off x="3986" y="3090"/>
                  <a:ext cx="1054" cy="318"/>
                </a:xfrm>
                <a:prstGeom prst="rect">
                  <a:avLst/>
                </a:prstGeom>
                <a:noFill/>
                <a:ln w="28575" cap="flat" cmpd="sng">
                  <a:solidFill>
                    <a:srgbClr val="336600"/>
                  </a:solidFill>
                  <a:prstDash val="solid"/>
                  <a:miter/>
                  <a:headEnd type="none" w="med" len="med"/>
                  <a:tailEnd type="none" w="med" len="med"/>
                </a:ln>
              </p:spPr>
              <p:txBody>
                <a:bodyPr wrap="none" tIns="10800" bIns="10800" anchor="ctr" anchorCtr="0"/>
                <a:p>
                  <a:pPr>
                    <a:lnSpc>
                      <a:spcPct val="80000"/>
                    </a:lnSpc>
                  </a:pPr>
                  <a:r>
                    <a:rPr lang="zh-CN" altLang="en-US" sz="2400" b="1" dirty="0">
                      <a:solidFill>
                        <a:srgbClr val="008000"/>
                      </a:solidFill>
                      <a:latin typeface="Times New Roman" panose="02020603050405020304" pitchFamily="18" charset="0"/>
                      <a:ea typeface="楷体_GB2312"/>
                    </a:rPr>
                    <a:t>综合自动化</a:t>
                  </a:r>
                  <a:endParaRPr lang="zh-CN" altLang="en-US" sz="2400" b="1" dirty="0">
                    <a:solidFill>
                      <a:srgbClr val="008000"/>
                    </a:solidFill>
                    <a:latin typeface="Times New Roman" panose="02020603050405020304" pitchFamily="18" charset="0"/>
                    <a:ea typeface="楷体_GB2312"/>
                  </a:endParaRPr>
                </a:p>
              </p:txBody>
            </p:sp>
            <p:sp>
              <p:nvSpPr>
                <p:cNvPr id="241680" name="Line 18"/>
                <p:cNvSpPr/>
                <p:nvPr/>
              </p:nvSpPr>
              <p:spPr>
                <a:xfrm>
                  <a:off x="3314" y="3233"/>
                  <a:ext cx="663" cy="0"/>
                </a:xfrm>
                <a:prstGeom prst="line">
                  <a:avLst/>
                </a:prstGeom>
                <a:ln w="28575" cap="flat" cmpd="sng">
                  <a:solidFill>
                    <a:srgbClr val="336600"/>
                  </a:solidFill>
                  <a:prstDash val="solid"/>
                  <a:round/>
                  <a:headEnd type="none" w="med" len="med"/>
                  <a:tailEnd type="triangle" w="med" len="lg"/>
                </a:ln>
              </p:spPr>
            </p:sp>
            <p:sp>
              <p:nvSpPr>
                <p:cNvPr id="241681" name="Text Box 19"/>
                <p:cNvSpPr txBox="1"/>
                <p:nvPr/>
              </p:nvSpPr>
              <p:spPr>
                <a:xfrm>
                  <a:off x="3274" y="2925"/>
                  <a:ext cx="722" cy="302"/>
                </a:xfrm>
                <a:prstGeom prst="rect">
                  <a:avLst/>
                </a:prstGeom>
                <a:noFill/>
                <a:ln w="9525">
                  <a:noFill/>
                </a:ln>
              </p:spPr>
              <p:txBody>
                <a:bodyPr wrap="none" anchor="ctr" anchorCtr="0">
                  <a:spAutoFit/>
                </a:bodyPr>
                <a:p>
                  <a:pPr algn="ctr">
                    <a:spcBef>
                      <a:spcPct val="50000"/>
                    </a:spcBef>
                  </a:pPr>
                  <a:r>
                    <a:rPr lang="zh-CN" altLang="en-GB" sz="2400" b="1" dirty="0">
                      <a:solidFill>
                        <a:srgbClr val="008000"/>
                      </a:solidFill>
                      <a:latin typeface="楷体_GB2312"/>
                      <a:ea typeface="楷体_GB2312"/>
                    </a:rPr>
                    <a:t>7</a:t>
                  </a:r>
                  <a:r>
                    <a:rPr lang="en-US" altLang="zh-CN" sz="2400" b="1" dirty="0">
                      <a:solidFill>
                        <a:srgbClr val="008000"/>
                      </a:solidFill>
                      <a:latin typeface="楷体_GB2312"/>
                      <a:ea typeface="楷体_GB2312"/>
                    </a:rPr>
                    <a:t>0</a:t>
                  </a:r>
                  <a:r>
                    <a:rPr lang="zh-CN" altLang="en-US" sz="2400" b="1" dirty="0">
                      <a:solidFill>
                        <a:srgbClr val="008000"/>
                      </a:solidFill>
                      <a:latin typeface="楷体_GB2312"/>
                      <a:ea typeface="楷体_GB2312"/>
                    </a:rPr>
                    <a:t>年代</a:t>
                  </a:r>
                  <a:endParaRPr lang="zh-CN" altLang="en-US" sz="2800" b="1" dirty="0">
                    <a:solidFill>
                      <a:srgbClr val="008000"/>
                    </a:solidFill>
                    <a:latin typeface="楷体_GB2312"/>
                    <a:ea typeface="楷体_GB2312"/>
                  </a:endParaRPr>
                </a:p>
              </p:txBody>
            </p:sp>
          </p:grpSp>
          <p:pic>
            <p:nvPicPr>
              <p:cNvPr id="241682" name="Picture 20" descr="x2"/>
              <p:cNvPicPr>
                <a:picLocks noChangeAspect="1"/>
              </p:cNvPicPr>
              <p:nvPr/>
            </p:nvPicPr>
            <p:blipFill>
              <a:blip r:embed="rId3"/>
              <a:stretch>
                <a:fillRect/>
              </a:stretch>
            </p:blipFill>
            <p:spPr>
              <a:xfrm>
                <a:off x="144" y="1207"/>
                <a:ext cx="2405" cy="2994"/>
              </a:xfrm>
              <a:prstGeom prst="rect">
                <a:avLst/>
              </a:prstGeom>
              <a:noFill/>
              <a:ln w="9525">
                <a:noFill/>
              </a:ln>
            </p:spPr>
          </p:pic>
        </p:grpSp>
        <p:sp>
          <p:nvSpPr>
            <p:cNvPr id="241683" name="Rectangle 21"/>
            <p:cNvSpPr/>
            <p:nvPr/>
          </p:nvSpPr>
          <p:spPr>
            <a:xfrm>
              <a:off x="144" y="3935"/>
              <a:ext cx="1781" cy="262"/>
            </a:xfrm>
            <a:prstGeom prst="rect">
              <a:avLst/>
            </a:prstGeom>
            <a:solidFill>
              <a:schemeClr val="tx1"/>
            </a:solidFill>
            <a:ln w="9525">
              <a:noFill/>
            </a:ln>
          </p:spPr>
          <p:txBody>
            <a:bodyPr wrap="none" anchor="t" anchorCtr="0">
              <a:spAutoFit/>
            </a:bodyPr>
            <a:p>
              <a:r>
                <a:rPr lang="zh-CN" altLang="en-US" sz="2000" b="1" dirty="0">
                  <a:solidFill>
                    <a:srgbClr val="FFFF00"/>
                  </a:solidFill>
                  <a:latin typeface="楷体_GB2312"/>
                  <a:ea typeface="楷体_GB2312"/>
                </a:rPr>
                <a:t>图</a:t>
              </a:r>
              <a:r>
                <a:rPr lang="en-US" altLang="zh-CN" sz="2000" b="1" dirty="0">
                  <a:solidFill>
                    <a:srgbClr val="FFFF00"/>
                  </a:solidFill>
                  <a:latin typeface="楷体_GB2312"/>
                  <a:ea typeface="楷体_GB2312"/>
                </a:rPr>
                <a:t>2-26(b) </a:t>
              </a:r>
              <a:r>
                <a:rPr lang="zh-CN" altLang="en-US" sz="2000" b="1" dirty="0">
                  <a:solidFill>
                    <a:srgbClr val="FFFF00"/>
                  </a:solidFill>
                  <a:latin typeface="楷体_GB2312"/>
                  <a:ea typeface="楷体_GB2312"/>
                </a:rPr>
                <a:t>综合自动化</a:t>
              </a:r>
              <a:endParaRPr lang="zh-CN" altLang="en-US" sz="2000" b="1" dirty="0">
                <a:solidFill>
                  <a:srgbClr val="FFFF00"/>
                </a:solidFill>
                <a:latin typeface="楷体_GB2312"/>
                <a:ea typeface="楷体_GB2312"/>
              </a:endParaRPr>
            </a:p>
          </p:txBody>
        </p:sp>
      </p:grpSp>
    </p:spTree>
  </p:cSld>
  <p:clrMapOvr>
    <a:masterClrMapping/>
  </p:clrMapOvr>
  <p:transition spd="slow">
    <p:randomBar dir="ver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6514" name="Rectangle 2"/>
          <p:cNvSpPr>
            <a:spLocks noGrp="1" noChangeArrowheads="1"/>
          </p:cNvSpPr>
          <p:nvPr>
            <p:ph type="title"/>
          </p:nvPr>
        </p:nvSpPr>
        <p:spPr>
          <a:xfrm>
            <a:off x="3179763" y="450850"/>
            <a:ext cx="4416425"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43714"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3715"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3716" name="Rectangle 5"/>
          <p:cNvSpPr/>
          <p:nvPr/>
        </p:nvSpPr>
        <p:spPr>
          <a:xfrm>
            <a:off x="323850" y="1166813"/>
            <a:ext cx="7315200" cy="822325"/>
          </a:xfrm>
          <a:prstGeom prst="rect">
            <a:avLst/>
          </a:prstGeom>
          <a:noFill/>
          <a:ln w="9525">
            <a:noFill/>
          </a:ln>
        </p:spPr>
        <p:txBody>
          <a:bodyPr anchor="t" anchorCtr="0">
            <a:spAutoFit/>
          </a:bodyPr>
          <a:p>
            <a:pPr>
              <a:buClr>
                <a:srgbClr val="FF3300"/>
              </a:buClr>
              <a:buFont typeface="Wingdings" panose="05000000000000000000" pitchFamily="2" charset="2"/>
              <a:buChar char="Ø"/>
            </a:pPr>
            <a:r>
              <a:rPr lang="en-US" altLang="zh-CN" sz="2400" b="1" dirty="0">
                <a:solidFill>
                  <a:srgbClr val="FF3300"/>
                </a:solidFill>
                <a:latin typeface="楷体_GB2312"/>
                <a:ea typeface="楷体_GB2312"/>
              </a:rPr>
              <a:t>Flexible Manufacturing System</a:t>
            </a:r>
            <a:r>
              <a:rPr lang="en-US" altLang="zh-CN" sz="2400" b="1" dirty="0">
                <a:solidFill>
                  <a:srgbClr val="FF3300"/>
                </a:solidFill>
                <a:latin typeface="Times New Roman" panose="02020603050405020304" pitchFamily="18" charset="0"/>
                <a:ea typeface="楷体_GB2312"/>
              </a:rPr>
              <a:t>—</a:t>
            </a:r>
            <a:r>
              <a:rPr lang="en-US" altLang="zh-CN" sz="2400" b="1" dirty="0">
                <a:solidFill>
                  <a:srgbClr val="FF3300"/>
                </a:solidFill>
                <a:latin typeface="楷体_GB2312"/>
                <a:ea typeface="楷体_GB2312"/>
              </a:rPr>
              <a:t>FMS</a:t>
            </a:r>
            <a:r>
              <a:rPr lang="en-US" altLang="zh-CN" sz="2400" b="1" dirty="0">
                <a:latin typeface="楷体_GB2312"/>
                <a:ea typeface="楷体_GB2312"/>
              </a:rPr>
              <a:t> </a:t>
            </a:r>
            <a:r>
              <a:rPr lang="zh-CN" altLang="en-US" sz="2400" b="1" dirty="0">
                <a:latin typeface="楷体_GB2312"/>
                <a:ea typeface="楷体_GB2312"/>
              </a:rPr>
              <a:t>中小批量生产中广泛使用的柔性制造系统</a:t>
            </a:r>
            <a:endParaRPr lang="zh-CN" altLang="en-US" sz="2400" b="1" dirty="0">
              <a:latin typeface="楷体_GB2312"/>
              <a:ea typeface="楷体_GB2312"/>
            </a:endParaRPr>
          </a:p>
        </p:txBody>
      </p:sp>
      <p:grpSp>
        <p:nvGrpSpPr>
          <p:cNvPr id="243717" name="Group 74"/>
          <p:cNvGrpSpPr/>
          <p:nvPr/>
        </p:nvGrpSpPr>
        <p:grpSpPr>
          <a:xfrm>
            <a:off x="457200" y="2108200"/>
            <a:ext cx="7786688" cy="4670425"/>
            <a:chOff x="288" y="1328"/>
            <a:chExt cx="4905" cy="2942"/>
          </a:xfrm>
        </p:grpSpPr>
        <p:sp>
          <p:nvSpPr>
            <p:cNvPr id="243718" name="Rectangle 6"/>
            <p:cNvSpPr/>
            <p:nvPr/>
          </p:nvSpPr>
          <p:spPr>
            <a:xfrm>
              <a:off x="288" y="1328"/>
              <a:ext cx="2112" cy="288"/>
            </a:xfrm>
            <a:prstGeom prst="rect">
              <a:avLst/>
            </a:prstGeom>
            <a:noFill/>
            <a:ln w="9525">
              <a:noFill/>
            </a:ln>
          </p:spPr>
          <p:txBody>
            <a:bodyPr anchor="t" anchorCtr="0">
              <a:spAutoFit/>
            </a:bodyPr>
            <a:p>
              <a:pPr>
                <a:buClr>
                  <a:srgbClr val="800000"/>
                </a:buClr>
                <a:buFont typeface="Wingdings" panose="05000000000000000000" pitchFamily="2" charset="2"/>
                <a:buChar char="q"/>
              </a:pPr>
              <a:r>
                <a:rPr lang="en-US" altLang="zh-CN" sz="2400" dirty="0">
                  <a:latin typeface="Times New Roman" panose="02020603050405020304" pitchFamily="18" charset="0"/>
                  <a:ea typeface="黑体" panose="02010609060101010101" pitchFamily="49" charset="-122"/>
                </a:rPr>
                <a:t> </a:t>
              </a:r>
              <a:r>
                <a:rPr lang="zh-CN" altLang="en-US" sz="2400" b="1" dirty="0">
                  <a:latin typeface="楷体_GB2312"/>
                  <a:ea typeface="楷体_GB2312"/>
                </a:rPr>
                <a:t>柔性制造系统的组成</a:t>
              </a: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p:txBody>
        </p:sp>
        <p:sp>
          <p:nvSpPr>
            <p:cNvPr id="243719" name="Text Box 8"/>
            <p:cNvSpPr txBox="1"/>
            <p:nvPr/>
          </p:nvSpPr>
          <p:spPr>
            <a:xfrm>
              <a:off x="1701" y="4020"/>
              <a:ext cx="2064" cy="250"/>
            </a:xfrm>
            <a:prstGeom prst="rect">
              <a:avLst/>
            </a:prstGeom>
            <a:noFill/>
            <a:ln w="12700">
              <a:noFill/>
            </a:ln>
          </p:spPr>
          <p:txBody>
            <a:bodyPr anchor="t" anchorCtr="0">
              <a:spAutoFit/>
            </a:bodyPr>
            <a:p>
              <a:pPr algn="ctr" eaLnBrk="0" hangingPunct="0"/>
              <a:r>
                <a:rPr lang="zh-CN" altLang="en-US" sz="2000" b="1" dirty="0">
                  <a:latin typeface="楷体_GB2312"/>
                  <a:ea typeface="楷体_GB2312"/>
                </a:rPr>
                <a:t>图</a:t>
              </a:r>
              <a:r>
                <a:rPr lang="en-US" altLang="zh-CN" sz="2000" b="1" dirty="0">
                  <a:latin typeface="楷体_GB2312"/>
                  <a:ea typeface="楷体_GB2312"/>
                </a:rPr>
                <a:t>2-27  FMS</a:t>
              </a:r>
              <a:r>
                <a:rPr lang="zh-CN" altLang="en-US" sz="2000" b="1" dirty="0">
                  <a:latin typeface="楷体_GB2312"/>
                  <a:ea typeface="楷体_GB2312"/>
                </a:rPr>
                <a:t>的组成</a:t>
              </a:r>
              <a:endParaRPr lang="zh-CN" altLang="en-US" sz="2000" b="1" dirty="0">
                <a:latin typeface="楷体_GB2312"/>
                <a:ea typeface="楷体_GB2312"/>
              </a:endParaRPr>
            </a:p>
          </p:txBody>
        </p:sp>
        <p:grpSp>
          <p:nvGrpSpPr>
            <p:cNvPr id="243720" name="Group 73"/>
            <p:cNvGrpSpPr/>
            <p:nvPr/>
          </p:nvGrpSpPr>
          <p:grpSpPr>
            <a:xfrm>
              <a:off x="458" y="1661"/>
              <a:ext cx="4735" cy="2315"/>
              <a:chOff x="458" y="1795"/>
              <a:chExt cx="4735" cy="2315"/>
            </a:xfrm>
          </p:grpSpPr>
          <p:sp>
            <p:nvSpPr>
              <p:cNvPr id="243721" name="Text Box 9"/>
              <p:cNvSpPr txBox="1"/>
              <p:nvPr/>
            </p:nvSpPr>
            <p:spPr>
              <a:xfrm>
                <a:off x="4703" y="2535"/>
                <a:ext cx="490" cy="442"/>
              </a:xfrm>
              <a:prstGeom prst="rect">
                <a:avLst/>
              </a:prstGeom>
              <a:noFill/>
              <a:ln w="9525">
                <a:noFill/>
              </a:ln>
            </p:spPr>
            <p:txBody>
              <a:bodyPr anchor="t" anchorCtr="0">
                <a:spAutoFit/>
              </a:bodyPr>
              <a:p>
                <a:pPr>
                  <a:spcBef>
                    <a:spcPct val="50000"/>
                  </a:spcBef>
                </a:pPr>
                <a:r>
                  <a:rPr lang="zh-CN" altLang="en-US" sz="2000" dirty="0">
                    <a:latin typeface="Times New Roman" panose="02020603050405020304" pitchFamily="18" charset="0"/>
                    <a:ea typeface="黑体" panose="02010609060101010101" pitchFamily="49" charset="-122"/>
                  </a:rPr>
                  <a:t>自动仓库</a:t>
                </a:r>
                <a:endParaRPr lang="zh-CN" altLang="en-US" sz="2000" dirty="0">
                  <a:latin typeface="Times New Roman" panose="02020603050405020304" pitchFamily="18" charset="0"/>
                  <a:ea typeface="黑体" panose="02010609060101010101" pitchFamily="49" charset="-122"/>
                </a:endParaRPr>
              </a:p>
            </p:txBody>
          </p:sp>
          <p:sp>
            <p:nvSpPr>
              <p:cNvPr id="243722" name="Text Box 10"/>
              <p:cNvSpPr txBox="1"/>
              <p:nvPr/>
            </p:nvSpPr>
            <p:spPr>
              <a:xfrm>
                <a:off x="1883" y="1795"/>
                <a:ext cx="1336" cy="274"/>
              </a:xfrm>
              <a:prstGeom prst="rect">
                <a:avLst/>
              </a:prstGeom>
              <a:solidFill>
                <a:srgbClr val="FFCCFF"/>
              </a:solidFill>
              <a:ln w="38100" cap="flat" cmpd="sng">
                <a:solidFill>
                  <a:srgbClr val="660066"/>
                </a:solidFill>
                <a:prstDash val="solid"/>
                <a:miter/>
                <a:headEnd type="none" w="med" len="med"/>
                <a:tailEnd type="none" w="med" len="med"/>
              </a:ln>
            </p:spPr>
            <p:txBody>
              <a:bodyPr anchor="t" anchorCtr="0">
                <a:spAutoFit/>
              </a:bodyPr>
              <a:p>
                <a:pPr algn="ctr">
                  <a:spcBef>
                    <a:spcPct val="50000"/>
                  </a:spcBef>
                </a:pPr>
                <a:r>
                  <a:rPr lang="zh-CN" altLang="en-US" sz="2000" dirty="0">
                    <a:solidFill>
                      <a:srgbClr val="660066"/>
                    </a:solidFill>
                    <a:latin typeface="Times New Roman" panose="02020603050405020304" pitchFamily="18" charset="0"/>
                    <a:ea typeface="黑体" panose="02010609060101010101" pitchFamily="49" charset="-122"/>
                  </a:rPr>
                  <a:t>工厂计算机</a:t>
                </a:r>
                <a:endParaRPr lang="zh-CN" altLang="en-US" sz="2000" dirty="0">
                  <a:solidFill>
                    <a:srgbClr val="660066"/>
                  </a:solidFill>
                  <a:latin typeface="Times New Roman" panose="02020603050405020304" pitchFamily="18" charset="0"/>
                  <a:ea typeface="黑体" panose="02010609060101010101" pitchFamily="49" charset="-122"/>
                </a:endParaRPr>
              </a:p>
            </p:txBody>
          </p:sp>
          <p:sp>
            <p:nvSpPr>
              <p:cNvPr id="243723" name="Text Box 11"/>
              <p:cNvSpPr txBox="1"/>
              <p:nvPr/>
            </p:nvSpPr>
            <p:spPr>
              <a:xfrm>
                <a:off x="1247" y="2249"/>
                <a:ext cx="1081" cy="274"/>
              </a:xfrm>
              <a:prstGeom prst="rect">
                <a:avLst/>
              </a:prstGeom>
              <a:solidFill>
                <a:srgbClr val="FFD9D9"/>
              </a:solidFill>
              <a:ln w="38100" cap="flat" cmpd="sng">
                <a:solidFill>
                  <a:srgbClr val="800000"/>
                </a:solidFill>
                <a:prstDash val="solid"/>
                <a:miter/>
                <a:headEnd type="none" w="med" len="med"/>
                <a:tailEnd type="none" w="med" len="med"/>
              </a:ln>
            </p:spPr>
            <p:txBody>
              <a:bodyPr anchor="t" anchorCtr="0">
                <a:spAutoFit/>
              </a:bodyPr>
              <a:p>
                <a:pPr algn="ctr">
                  <a:spcBef>
                    <a:spcPct val="50000"/>
                  </a:spcBef>
                </a:pPr>
                <a:r>
                  <a:rPr lang="zh-CN" altLang="en-US" sz="2000" dirty="0">
                    <a:solidFill>
                      <a:srgbClr val="800000"/>
                    </a:solidFill>
                    <a:latin typeface="Times New Roman" panose="02020603050405020304" pitchFamily="18" charset="0"/>
                    <a:ea typeface="黑体" panose="02010609060101010101" pitchFamily="49" charset="-122"/>
                  </a:rPr>
                  <a:t>中央计算机</a:t>
                </a:r>
                <a:endParaRPr lang="zh-CN" altLang="en-US" sz="2000" dirty="0">
                  <a:solidFill>
                    <a:srgbClr val="800000"/>
                  </a:solidFill>
                  <a:latin typeface="Times New Roman" panose="02020603050405020304" pitchFamily="18" charset="0"/>
                  <a:ea typeface="黑体" panose="02010609060101010101" pitchFamily="49" charset="-122"/>
                </a:endParaRPr>
              </a:p>
            </p:txBody>
          </p:sp>
          <p:sp>
            <p:nvSpPr>
              <p:cNvPr id="243724" name="Text Box 12"/>
              <p:cNvSpPr txBox="1"/>
              <p:nvPr/>
            </p:nvSpPr>
            <p:spPr>
              <a:xfrm>
                <a:off x="2744" y="2249"/>
                <a:ext cx="1351" cy="274"/>
              </a:xfrm>
              <a:prstGeom prst="rect">
                <a:avLst/>
              </a:prstGeom>
              <a:solidFill>
                <a:srgbClr val="CCFFFF"/>
              </a:solidFill>
              <a:ln w="38100" cap="flat" cmpd="sng">
                <a:solidFill>
                  <a:srgbClr val="153133"/>
                </a:solidFill>
                <a:prstDash val="solid"/>
                <a:miter/>
                <a:headEnd type="none" w="med" len="med"/>
                <a:tailEnd type="none" w="med" len="med"/>
              </a:ln>
            </p:spPr>
            <p:txBody>
              <a:bodyPr anchor="t" anchorCtr="0">
                <a:spAutoFit/>
              </a:bodyPr>
              <a:p>
                <a:pPr algn="ctr">
                  <a:spcBef>
                    <a:spcPct val="50000"/>
                  </a:spcBef>
                </a:pPr>
                <a:r>
                  <a:rPr lang="zh-CN" altLang="en-US" sz="2000" dirty="0">
                    <a:solidFill>
                      <a:srgbClr val="153133"/>
                    </a:solidFill>
                    <a:latin typeface="Times New Roman" panose="02020603050405020304" pitchFamily="18" charset="0"/>
                    <a:ea typeface="黑体" panose="02010609060101010101" pitchFamily="49" charset="-122"/>
                  </a:rPr>
                  <a:t>物流控制计算机</a:t>
                </a:r>
                <a:endParaRPr lang="zh-CN" altLang="en-US" sz="2000" dirty="0">
                  <a:solidFill>
                    <a:srgbClr val="153133"/>
                  </a:solidFill>
                  <a:latin typeface="Times New Roman" panose="02020603050405020304" pitchFamily="18" charset="0"/>
                  <a:ea typeface="黑体" panose="02010609060101010101" pitchFamily="49" charset="-122"/>
                </a:endParaRPr>
              </a:p>
            </p:txBody>
          </p:sp>
          <p:sp>
            <p:nvSpPr>
              <p:cNvPr id="243725" name="Text Box 13"/>
              <p:cNvSpPr txBox="1"/>
              <p:nvPr/>
            </p:nvSpPr>
            <p:spPr>
              <a:xfrm>
                <a:off x="2863" y="3757"/>
                <a:ext cx="757" cy="250"/>
              </a:xfrm>
              <a:prstGeom prst="rect">
                <a:avLst/>
              </a:prstGeom>
              <a:noFill/>
              <a:ln w="9525">
                <a:noFill/>
              </a:ln>
            </p:spPr>
            <p:txBody>
              <a:bodyPr anchor="t" anchorCtr="0">
                <a:spAutoFit/>
              </a:bodyPr>
              <a:p>
                <a:pPr>
                  <a:spcBef>
                    <a:spcPct val="50000"/>
                  </a:spcBef>
                </a:pPr>
                <a:r>
                  <a:rPr lang="zh-CN" altLang="en-US" sz="2000" dirty="0">
                    <a:latin typeface="Times New Roman" panose="02020603050405020304" pitchFamily="18" charset="0"/>
                    <a:ea typeface="黑体" panose="02010609060101010101" pitchFamily="49" charset="-122"/>
                  </a:rPr>
                  <a:t>运输小车</a:t>
                </a:r>
                <a:endParaRPr lang="zh-CN" altLang="en-US" sz="2000" dirty="0">
                  <a:latin typeface="Times New Roman" panose="02020603050405020304" pitchFamily="18" charset="0"/>
                  <a:ea typeface="黑体" panose="02010609060101010101" pitchFamily="49" charset="-122"/>
                </a:endParaRPr>
              </a:p>
            </p:txBody>
          </p:sp>
          <p:grpSp>
            <p:nvGrpSpPr>
              <p:cNvPr id="243726" name="Group 14"/>
              <p:cNvGrpSpPr/>
              <p:nvPr/>
            </p:nvGrpSpPr>
            <p:grpSpPr>
              <a:xfrm>
                <a:off x="1304" y="3202"/>
                <a:ext cx="2761" cy="709"/>
                <a:chOff x="1280" y="2880"/>
                <a:chExt cx="2976" cy="783"/>
              </a:xfrm>
            </p:grpSpPr>
            <p:grpSp>
              <p:nvGrpSpPr>
                <p:cNvPr id="243727" name="Group 15"/>
                <p:cNvGrpSpPr/>
                <p:nvPr/>
              </p:nvGrpSpPr>
              <p:grpSpPr>
                <a:xfrm>
                  <a:off x="1280" y="2880"/>
                  <a:ext cx="2976" cy="783"/>
                  <a:chOff x="1280" y="2880"/>
                  <a:chExt cx="2976" cy="783"/>
                </a:xfrm>
              </p:grpSpPr>
              <p:sp>
                <p:nvSpPr>
                  <p:cNvPr id="243728" name="AutoShape 16"/>
                  <p:cNvSpPr/>
                  <p:nvPr/>
                </p:nvSpPr>
                <p:spPr>
                  <a:xfrm>
                    <a:off x="1280" y="2880"/>
                    <a:ext cx="624" cy="522"/>
                  </a:xfrm>
                  <a:prstGeom prst="roundRect">
                    <a:avLst>
                      <a:gd name="adj" fmla="val 16667"/>
                    </a:avLst>
                  </a:prstGeom>
                  <a:solidFill>
                    <a:srgbClr val="99FF99"/>
                  </a:solidFill>
                  <a:ln w="38100" cap="flat" cmpd="sng">
                    <a:solidFill>
                      <a:srgbClr val="0033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29" name="Text Box 17"/>
                  <p:cNvSpPr txBox="1"/>
                  <p:nvPr/>
                </p:nvSpPr>
                <p:spPr>
                  <a:xfrm>
                    <a:off x="1329" y="2900"/>
                    <a:ext cx="527" cy="763"/>
                  </a:xfrm>
                  <a:prstGeom prst="rect">
                    <a:avLst/>
                  </a:prstGeom>
                  <a:noFill/>
                  <a:ln w="9525">
                    <a:noFill/>
                  </a:ln>
                </p:spPr>
                <p:txBody>
                  <a:bodyPr anchor="t" anchorCtr="0">
                    <a:spAutoFit/>
                  </a:bodyPr>
                  <a:p>
                    <a:pPr algn="ctr">
                      <a:lnSpc>
                        <a:spcPct val="110000"/>
                      </a:lnSpc>
                      <a:spcBef>
                        <a:spcPct val="50000"/>
                      </a:spcBef>
                    </a:pPr>
                    <a:r>
                      <a:rPr lang="zh-CN" altLang="en-US" sz="2000" dirty="0">
                        <a:solidFill>
                          <a:srgbClr val="003300"/>
                        </a:solidFill>
                        <a:latin typeface="Times New Roman" panose="02020603050405020304" pitchFamily="18" charset="0"/>
                        <a:ea typeface="黑体" panose="02010609060101010101" pitchFamily="49" charset="-122"/>
                      </a:rPr>
                      <a:t>加工单元</a:t>
                    </a:r>
                    <a:r>
                      <a:rPr lang="en-US" altLang="zh-CN" sz="2000" b="1" dirty="0">
                        <a:solidFill>
                          <a:srgbClr val="003300"/>
                        </a:solidFill>
                        <a:latin typeface="Times New Roman" panose="02020603050405020304" pitchFamily="18" charset="0"/>
                        <a:ea typeface="宋体" panose="02010600030101010101" pitchFamily="2" charset="-122"/>
                      </a:rPr>
                      <a:t>1</a:t>
                    </a:r>
                    <a:endParaRPr lang="en-US" altLang="zh-CN" sz="2000" b="1" dirty="0">
                      <a:solidFill>
                        <a:srgbClr val="003300"/>
                      </a:solidFill>
                      <a:latin typeface="Times New Roman" panose="02020603050405020304" pitchFamily="18" charset="0"/>
                      <a:ea typeface="宋体" panose="02010600030101010101" pitchFamily="2" charset="-122"/>
                    </a:endParaRPr>
                  </a:p>
                </p:txBody>
              </p:sp>
              <p:sp>
                <p:nvSpPr>
                  <p:cNvPr id="243730" name="AutoShape 18"/>
                  <p:cNvSpPr/>
                  <p:nvPr/>
                </p:nvSpPr>
                <p:spPr>
                  <a:xfrm>
                    <a:off x="2096" y="2880"/>
                    <a:ext cx="624" cy="522"/>
                  </a:xfrm>
                  <a:prstGeom prst="roundRect">
                    <a:avLst>
                      <a:gd name="adj" fmla="val 16667"/>
                    </a:avLst>
                  </a:prstGeom>
                  <a:solidFill>
                    <a:srgbClr val="99FF99"/>
                  </a:solidFill>
                  <a:ln w="38100" cap="flat" cmpd="sng">
                    <a:solidFill>
                      <a:srgbClr val="0033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31" name="Text Box 19"/>
                  <p:cNvSpPr txBox="1"/>
                  <p:nvPr/>
                </p:nvSpPr>
                <p:spPr>
                  <a:xfrm>
                    <a:off x="2144" y="2900"/>
                    <a:ext cx="528" cy="763"/>
                  </a:xfrm>
                  <a:prstGeom prst="rect">
                    <a:avLst/>
                  </a:prstGeom>
                  <a:noFill/>
                  <a:ln w="9525">
                    <a:noFill/>
                  </a:ln>
                </p:spPr>
                <p:txBody>
                  <a:bodyPr anchor="t" anchorCtr="0">
                    <a:spAutoFit/>
                  </a:bodyPr>
                  <a:p>
                    <a:pPr algn="ctr">
                      <a:lnSpc>
                        <a:spcPct val="110000"/>
                      </a:lnSpc>
                      <a:spcBef>
                        <a:spcPct val="50000"/>
                      </a:spcBef>
                    </a:pPr>
                    <a:r>
                      <a:rPr lang="zh-CN" altLang="en-US" sz="2000" dirty="0">
                        <a:solidFill>
                          <a:srgbClr val="003300"/>
                        </a:solidFill>
                        <a:latin typeface="Times New Roman" panose="02020603050405020304" pitchFamily="18" charset="0"/>
                        <a:ea typeface="黑体" panose="02010609060101010101" pitchFamily="49" charset="-122"/>
                      </a:rPr>
                      <a:t>加工单元</a:t>
                    </a:r>
                    <a:r>
                      <a:rPr lang="en-US" altLang="zh-CN" sz="2000" b="1" dirty="0">
                        <a:solidFill>
                          <a:srgbClr val="003300"/>
                        </a:solidFill>
                        <a:latin typeface="Times New Roman" panose="02020603050405020304" pitchFamily="18" charset="0"/>
                        <a:ea typeface="宋体" panose="02010600030101010101" pitchFamily="2" charset="-122"/>
                      </a:rPr>
                      <a:t>2</a:t>
                    </a:r>
                    <a:endParaRPr lang="en-US" altLang="zh-CN" sz="2000" b="1" dirty="0">
                      <a:solidFill>
                        <a:srgbClr val="003300"/>
                      </a:solidFill>
                      <a:latin typeface="Times New Roman" panose="02020603050405020304" pitchFamily="18" charset="0"/>
                      <a:ea typeface="宋体" panose="02010600030101010101" pitchFamily="2" charset="-122"/>
                    </a:endParaRPr>
                  </a:p>
                </p:txBody>
              </p:sp>
              <p:sp>
                <p:nvSpPr>
                  <p:cNvPr id="243732" name="AutoShape 20"/>
                  <p:cNvSpPr/>
                  <p:nvPr/>
                </p:nvSpPr>
                <p:spPr>
                  <a:xfrm>
                    <a:off x="3632" y="2880"/>
                    <a:ext cx="624" cy="522"/>
                  </a:xfrm>
                  <a:prstGeom prst="roundRect">
                    <a:avLst>
                      <a:gd name="adj" fmla="val 16667"/>
                    </a:avLst>
                  </a:prstGeom>
                  <a:solidFill>
                    <a:srgbClr val="99FF99"/>
                  </a:solidFill>
                  <a:ln w="38100" cap="flat" cmpd="sng">
                    <a:solidFill>
                      <a:srgbClr val="0033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33" name="Text Box 21"/>
                  <p:cNvSpPr txBox="1"/>
                  <p:nvPr/>
                </p:nvSpPr>
                <p:spPr>
                  <a:xfrm>
                    <a:off x="3680" y="2900"/>
                    <a:ext cx="527" cy="763"/>
                  </a:xfrm>
                  <a:prstGeom prst="rect">
                    <a:avLst/>
                  </a:prstGeom>
                  <a:noFill/>
                  <a:ln w="9525">
                    <a:noFill/>
                  </a:ln>
                </p:spPr>
                <p:txBody>
                  <a:bodyPr anchor="t" anchorCtr="0">
                    <a:spAutoFit/>
                  </a:bodyPr>
                  <a:p>
                    <a:pPr algn="ctr">
                      <a:lnSpc>
                        <a:spcPct val="110000"/>
                      </a:lnSpc>
                      <a:spcBef>
                        <a:spcPct val="50000"/>
                      </a:spcBef>
                    </a:pPr>
                    <a:r>
                      <a:rPr lang="zh-CN" altLang="en-US" sz="2000" dirty="0">
                        <a:solidFill>
                          <a:srgbClr val="003300"/>
                        </a:solidFill>
                        <a:latin typeface="Times New Roman" panose="02020603050405020304" pitchFamily="18" charset="0"/>
                        <a:ea typeface="黑体" panose="02010609060101010101" pitchFamily="49" charset="-122"/>
                      </a:rPr>
                      <a:t>加工单元</a:t>
                    </a:r>
                    <a:r>
                      <a:rPr lang="en-GB" altLang="zh-CN" sz="2000" b="1" dirty="0">
                        <a:solidFill>
                          <a:srgbClr val="003300"/>
                        </a:solidFill>
                        <a:latin typeface="Times New Roman" panose="02020603050405020304" pitchFamily="18" charset="0"/>
                        <a:ea typeface="宋体" panose="02010600030101010101" pitchFamily="2" charset="-122"/>
                      </a:rPr>
                      <a:t>n</a:t>
                    </a:r>
                    <a:endParaRPr lang="en-US" altLang="zh-CN" sz="2000" b="1" dirty="0">
                      <a:solidFill>
                        <a:srgbClr val="003300"/>
                      </a:solidFill>
                      <a:latin typeface="Times New Roman" panose="02020603050405020304" pitchFamily="18" charset="0"/>
                      <a:ea typeface="宋体" panose="02010600030101010101" pitchFamily="2" charset="-122"/>
                    </a:endParaRPr>
                  </a:p>
                </p:txBody>
              </p:sp>
            </p:grpSp>
            <p:sp>
              <p:nvSpPr>
                <p:cNvPr id="243734" name="Oval 22"/>
                <p:cNvSpPr/>
                <p:nvPr/>
              </p:nvSpPr>
              <p:spPr>
                <a:xfrm>
                  <a:off x="2960" y="3120"/>
                  <a:ext cx="48" cy="4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35" name="Oval 23"/>
                <p:cNvSpPr/>
                <p:nvPr/>
              </p:nvSpPr>
              <p:spPr>
                <a:xfrm>
                  <a:off x="3152" y="3120"/>
                  <a:ext cx="48" cy="4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36" name="Oval 24"/>
                <p:cNvSpPr/>
                <p:nvPr/>
              </p:nvSpPr>
              <p:spPr>
                <a:xfrm>
                  <a:off x="3344" y="3120"/>
                  <a:ext cx="48" cy="48"/>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43737" name="Group 25"/>
              <p:cNvGrpSpPr/>
              <p:nvPr/>
            </p:nvGrpSpPr>
            <p:grpSpPr>
              <a:xfrm>
                <a:off x="2328" y="3849"/>
                <a:ext cx="490" cy="255"/>
                <a:chOff x="2384" y="3648"/>
                <a:chExt cx="528" cy="282"/>
              </a:xfrm>
            </p:grpSpPr>
            <p:sp>
              <p:nvSpPr>
                <p:cNvPr id="243738" name="Rectangle 26"/>
                <p:cNvSpPr/>
                <p:nvPr/>
              </p:nvSpPr>
              <p:spPr>
                <a:xfrm>
                  <a:off x="2384" y="3648"/>
                  <a:ext cx="528" cy="210"/>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39" name="Oval 27"/>
                <p:cNvSpPr/>
                <p:nvPr/>
              </p:nvSpPr>
              <p:spPr>
                <a:xfrm>
                  <a:off x="2464" y="3834"/>
                  <a:ext cx="96" cy="96"/>
                </a:xfrm>
                <a:prstGeom prst="ellipse">
                  <a:avLst/>
                </a:prstGeom>
                <a:solidFill>
                  <a:srgbClr val="DDDDDD"/>
                </a:solid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40" name="Oval 28"/>
                <p:cNvSpPr/>
                <p:nvPr/>
              </p:nvSpPr>
              <p:spPr>
                <a:xfrm>
                  <a:off x="2752" y="3834"/>
                  <a:ext cx="96" cy="96"/>
                </a:xfrm>
                <a:prstGeom prst="ellipse">
                  <a:avLst/>
                </a:prstGeom>
                <a:solidFill>
                  <a:srgbClr val="DDDDDD"/>
                </a:solid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43741" name="Group 29"/>
              <p:cNvGrpSpPr/>
              <p:nvPr/>
            </p:nvGrpSpPr>
            <p:grpSpPr>
              <a:xfrm>
                <a:off x="1349" y="2718"/>
                <a:ext cx="3384" cy="275"/>
                <a:chOff x="1328" y="2304"/>
                <a:chExt cx="3648" cy="303"/>
              </a:xfrm>
            </p:grpSpPr>
            <p:sp>
              <p:nvSpPr>
                <p:cNvPr id="243742" name="AutoShape 30"/>
                <p:cNvSpPr/>
                <p:nvPr/>
              </p:nvSpPr>
              <p:spPr>
                <a:xfrm>
                  <a:off x="1328" y="2304"/>
                  <a:ext cx="2880" cy="288"/>
                </a:xfrm>
                <a:prstGeom prst="roundRect">
                  <a:avLst>
                    <a:gd name="adj" fmla="val 16667"/>
                  </a:avLst>
                </a:prstGeom>
                <a:solidFill>
                  <a:srgbClr val="DDDDDD"/>
                </a:solidFill>
                <a:ln w="38100" cap="flat" cmpd="sng">
                  <a:solidFill>
                    <a:schemeClr val="tx1"/>
                  </a:solidFill>
                  <a:prstDash val="solid"/>
                  <a:round/>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sp>
              <p:nvSpPr>
                <p:cNvPr id="243743" name="Text Box 31"/>
                <p:cNvSpPr txBox="1"/>
                <p:nvPr/>
              </p:nvSpPr>
              <p:spPr>
                <a:xfrm>
                  <a:off x="1801" y="2332"/>
                  <a:ext cx="2062" cy="275"/>
                </a:xfrm>
                <a:prstGeom prst="rect">
                  <a:avLst/>
                </a:prstGeom>
                <a:noFill/>
                <a:ln w="9525">
                  <a:noFill/>
                </a:ln>
              </p:spPr>
              <p:txBody>
                <a:bodyPr anchor="t" anchorCtr="0">
                  <a:spAutoFit/>
                </a:bodyPr>
                <a:p>
                  <a:pPr algn="ctr">
                    <a:spcBef>
                      <a:spcPct val="50000"/>
                    </a:spcBef>
                  </a:pPr>
                  <a:r>
                    <a:rPr lang="zh-CN" altLang="en-US" sz="2000" dirty="0">
                      <a:latin typeface="Times New Roman" panose="02020603050405020304" pitchFamily="18" charset="0"/>
                      <a:ea typeface="黑体" panose="02010609060101010101" pitchFamily="49" charset="-122"/>
                    </a:rPr>
                    <a:t>信  息  传  输  网  络</a:t>
                  </a:r>
                  <a:endParaRPr lang="zh-CN" altLang="en-US" sz="2000" dirty="0">
                    <a:latin typeface="Times New Roman" panose="02020603050405020304" pitchFamily="18" charset="0"/>
                    <a:ea typeface="黑体" panose="02010609060101010101" pitchFamily="49" charset="-122"/>
                  </a:endParaRPr>
                </a:p>
              </p:txBody>
            </p:sp>
            <p:sp>
              <p:nvSpPr>
                <p:cNvPr id="243744" name="Line 32"/>
                <p:cNvSpPr/>
                <p:nvPr/>
              </p:nvSpPr>
              <p:spPr>
                <a:xfrm flipV="1">
                  <a:off x="4208" y="2448"/>
                  <a:ext cx="768" cy="0"/>
                </a:xfrm>
                <a:prstGeom prst="line">
                  <a:avLst/>
                </a:prstGeom>
                <a:ln w="38100" cap="flat" cmpd="sng">
                  <a:solidFill>
                    <a:schemeClr val="tx1"/>
                  </a:solidFill>
                  <a:prstDash val="solid"/>
                  <a:round/>
                  <a:headEnd type="none" w="med" len="med"/>
                  <a:tailEnd type="none" w="med" len="med"/>
                </a:ln>
              </p:spPr>
            </p:sp>
          </p:grpSp>
          <p:grpSp>
            <p:nvGrpSpPr>
              <p:cNvPr id="243745" name="Group 33"/>
              <p:cNvGrpSpPr/>
              <p:nvPr/>
            </p:nvGrpSpPr>
            <p:grpSpPr>
              <a:xfrm>
                <a:off x="4347" y="2979"/>
                <a:ext cx="757" cy="973"/>
                <a:chOff x="4560" y="2280"/>
                <a:chExt cx="816" cy="1344"/>
              </a:xfrm>
            </p:grpSpPr>
            <p:sp>
              <p:nvSpPr>
                <p:cNvPr id="243746" name="Rectangle 34"/>
                <p:cNvSpPr/>
                <p:nvPr/>
              </p:nvSpPr>
              <p:spPr>
                <a:xfrm>
                  <a:off x="4560" y="2280"/>
                  <a:ext cx="816" cy="1344"/>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47" name="Rectangle 35"/>
                <p:cNvSpPr/>
                <p:nvPr/>
              </p:nvSpPr>
              <p:spPr>
                <a:xfrm>
                  <a:off x="4560" y="2280"/>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48" name="Rectangle 36"/>
                <p:cNvSpPr/>
                <p:nvPr/>
              </p:nvSpPr>
              <p:spPr>
                <a:xfrm>
                  <a:off x="4560" y="2472"/>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49" name="Rectangle 37"/>
                <p:cNvSpPr/>
                <p:nvPr/>
              </p:nvSpPr>
              <p:spPr>
                <a:xfrm>
                  <a:off x="4560" y="2664"/>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0" name="Rectangle 38"/>
                <p:cNvSpPr/>
                <p:nvPr/>
              </p:nvSpPr>
              <p:spPr>
                <a:xfrm>
                  <a:off x="4560" y="2856"/>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1" name="Rectangle 39"/>
                <p:cNvSpPr/>
                <p:nvPr/>
              </p:nvSpPr>
              <p:spPr>
                <a:xfrm>
                  <a:off x="4560" y="3048"/>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2" name="Rectangle 40"/>
                <p:cNvSpPr/>
                <p:nvPr/>
              </p:nvSpPr>
              <p:spPr>
                <a:xfrm>
                  <a:off x="4560" y="3240"/>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3" name="Rectangle 41"/>
                <p:cNvSpPr/>
                <p:nvPr/>
              </p:nvSpPr>
              <p:spPr>
                <a:xfrm>
                  <a:off x="4560" y="3432"/>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4" name="Rectangle 42"/>
                <p:cNvSpPr/>
                <p:nvPr/>
              </p:nvSpPr>
              <p:spPr>
                <a:xfrm>
                  <a:off x="5136" y="2280"/>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5" name="Rectangle 43"/>
                <p:cNvSpPr/>
                <p:nvPr/>
              </p:nvSpPr>
              <p:spPr>
                <a:xfrm>
                  <a:off x="5136" y="2472"/>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6" name="Rectangle 44"/>
                <p:cNvSpPr/>
                <p:nvPr/>
              </p:nvSpPr>
              <p:spPr>
                <a:xfrm>
                  <a:off x="5136" y="2664"/>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7" name="Rectangle 45"/>
                <p:cNvSpPr/>
                <p:nvPr/>
              </p:nvSpPr>
              <p:spPr>
                <a:xfrm>
                  <a:off x="5136" y="2856"/>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8" name="Rectangle 46"/>
                <p:cNvSpPr/>
                <p:nvPr/>
              </p:nvSpPr>
              <p:spPr>
                <a:xfrm>
                  <a:off x="5136" y="3048"/>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59" name="Rectangle 47"/>
                <p:cNvSpPr/>
                <p:nvPr/>
              </p:nvSpPr>
              <p:spPr>
                <a:xfrm>
                  <a:off x="5136" y="3240"/>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60" name="Rectangle 48"/>
                <p:cNvSpPr/>
                <p:nvPr/>
              </p:nvSpPr>
              <p:spPr>
                <a:xfrm>
                  <a:off x="5136" y="3432"/>
                  <a:ext cx="240" cy="192"/>
                </a:xfrm>
                <a:prstGeom prst="rect">
                  <a:avLst/>
                </a:prstGeom>
                <a:solidFill>
                  <a:srgbClr val="FFDFBF"/>
                </a:solidFill>
                <a:ln w="28575" cap="flat" cmpd="sng">
                  <a:solidFill>
                    <a:srgbClr val="8E47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43761" name="Line 49"/>
              <p:cNvSpPr/>
              <p:nvPr/>
            </p:nvSpPr>
            <p:spPr>
              <a:xfrm flipV="1">
                <a:off x="4725" y="2849"/>
                <a:ext cx="0" cy="472"/>
              </a:xfrm>
              <a:prstGeom prst="line">
                <a:avLst/>
              </a:prstGeom>
              <a:ln w="38100" cap="flat" cmpd="sng">
                <a:solidFill>
                  <a:schemeClr val="tx1"/>
                </a:solidFill>
                <a:prstDash val="solid"/>
                <a:round/>
                <a:headEnd type="none" w="med" len="med"/>
                <a:tailEnd type="none" w="med" len="med"/>
              </a:ln>
            </p:spPr>
          </p:sp>
          <p:sp>
            <p:nvSpPr>
              <p:cNvPr id="243762" name="Line 50"/>
              <p:cNvSpPr/>
              <p:nvPr/>
            </p:nvSpPr>
            <p:spPr>
              <a:xfrm flipV="1">
                <a:off x="4725" y="3544"/>
                <a:ext cx="0" cy="566"/>
              </a:xfrm>
              <a:prstGeom prst="line">
                <a:avLst/>
              </a:prstGeom>
              <a:ln w="38100" cap="flat" cmpd="sng">
                <a:solidFill>
                  <a:schemeClr val="tx1"/>
                </a:solidFill>
                <a:prstDash val="solid"/>
                <a:round/>
                <a:headEnd type="none" w="med" len="med"/>
                <a:tailEnd type="none" w="med" len="med"/>
              </a:ln>
            </p:spPr>
          </p:sp>
          <p:sp>
            <p:nvSpPr>
              <p:cNvPr id="243763" name="Line 51"/>
              <p:cNvSpPr/>
              <p:nvPr/>
            </p:nvSpPr>
            <p:spPr>
              <a:xfrm flipV="1">
                <a:off x="903" y="4110"/>
                <a:ext cx="3830" cy="0"/>
              </a:xfrm>
              <a:prstGeom prst="line">
                <a:avLst/>
              </a:prstGeom>
              <a:ln w="38100" cap="flat" cmpd="sng">
                <a:solidFill>
                  <a:schemeClr val="tx1"/>
                </a:solidFill>
                <a:prstDash val="solid"/>
                <a:round/>
                <a:headEnd type="none" w="med" len="med"/>
                <a:tailEnd type="none" w="med" len="med"/>
              </a:ln>
            </p:spPr>
          </p:sp>
          <p:sp>
            <p:nvSpPr>
              <p:cNvPr id="243764" name="Line 52"/>
              <p:cNvSpPr/>
              <p:nvPr/>
            </p:nvSpPr>
            <p:spPr>
              <a:xfrm flipV="1">
                <a:off x="903" y="3675"/>
                <a:ext cx="0" cy="435"/>
              </a:xfrm>
              <a:prstGeom prst="line">
                <a:avLst/>
              </a:prstGeom>
              <a:ln w="38100" cap="flat" cmpd="sng">
                <a:solidFill>
                  <a:schemeClr val="tx1"/>
                </a:solidFill>
                <a:prstDash val="solid"/>
                <a:round/>
                <a:headEnd type="none" w="med" len="med"/>
                <a:tailEnd type="none" w="med" len="med"/>
              </a:ln>
            </p:spPr>
          </p:sp>
          <p:grpSp>
            <p:nvGrpSpPr>
              <p:cNvPr id="243765" name="Group 53"/>
              <p:cNvGrpSpPr/>
              <p:nvPr/>
            </p:nvGrpSpPr>
            <p:grpSpPr>
              <a:xfrm>
                <a:off x="1705" y="2544"/>
                <a:ext cx="1826" cy="174"/>
                <a:chOff x="1712" y="2016"/>
                <a:chExt cx="1968" cy="288"/>
              </a:xfrm>
            </p:grpSpPr>
            <p:sp>
              <p:nvSpPr>
                <p:cNvPr id="243766" name="AutoShape 54"/>
                <p:cNvSpPr/>
                <p:nvPr/>
              </p:nvSpPr>
              <p:spPr>
                <a:xfrm>
                  <a:off x="1712" y="2016"/>
                  <a:ext cx="192" cy="288"/>
                </a:xfrm>
                <a:prstGeom prst="upDownArrow">
                  <a:avLst>
                    <a:gd name="adj1" fmla="val 50000"/>
                    <a:gd name="adj2" fmla="val 30000"/>
                  </a:avLst>
                </a:prstGeom>
                <a:solidFill>
                  <a:srgbClr val="FFFF99"/>
                </a:solidFill>
                <a:ln w="28575" cap="flat" cmpd="sng">
                  <a:solidFill>
                    <a:srgbClr val="737000"/>
                  </a:solidFill>
                  <a:prstDash val="solid"/>
                  <a:miter/>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sp>
              <p:nvSpPr>
                <p:cNvPr id="243767" name="AutoShape 55"/>
                <p:cNvSpPr/>
                <p:nvPr/>
              </p:nvSpPr>
              <p:spPr>
                <a:xfrm>
                  <a:off x="3488" y="2016"/>
                  <a:ext cx="192" cy="288"/>
                </a:xfrm>
                <a:prstGeom prst="upDownArrow">
                  <a:avLst>
                    <a:gd name="adj1" fmla="val 50000"/>
                    <a:gd name="adj2" fmla="val 30000"/>
                  </a:avLst>
                </a:prstGeom>
                <a:solidFill>
                  <a:srgbClr val="FFFF99"/>
                </a:solidFill>
                <a:ln w="28575" cap="flat" cmpd="sng">
                  <a:solidFill>
                    <a:srgbClr val="737000"/>
                  </a:solidFill>
                  <a:prstDash val="solid"/>
                  <a:miter/>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grpSp>
          <p:grpSp>
            <p:nvGrpSpPr>
              <p:cNvPr id="243768" name="Group 56"/>
              <p:cNvGrpSpPr/>
              <p:nvPr/>
            </p:nvGrpSpPr>
            <p:grpSpPr>
              <a:xfrm>
                <a:off x="2061" y="2069"/>
                <a:ext cx="1024" cy="174"/>
                <a:chOff x="2096" y="1536"/>
                <a:chExt cx="1104" cy="288"/>
              </a:xfrm>
            </p:grpSpPr>
            <p:sp>
              <p:nvSpPr>
                <p:cNvPr id="243769" name="AutoShape 57"/>
                <p:cNvSpPr/>
                <p:nvPr/>
              </p:nvSpPr>
              <p:spPr>
                <a:xfrm>
                  <a:off x="2096" y="1536"/>
                  <a:ext cx="192" cy="288"/>
                </a:xfrm>
                <a:prstGeom prst="upDownArrow">
                  <a:avLst>
                    <a:gd name="adj1" fmla="val 50000"/>
                    <a:gd name="adj2" fmla="val 30000"/>
                  </a:avLst>
                </a:prstGeom>
                <a:solidFill>
                  <a:srgbClr val="CCCCFF"/>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70" name="AutoShape 58"/>
                <p:cNvSpPr/>
                <p:nvPr/>
              </p:nvSpPr>
              <p:spPr>
                <a:xfrm>
                  <a:off x="3008" y="1536"/>
                  <a:ext cx="192" cy="288"/>
                </a:xfrm>
                <a:prstGeom prst="upDownArrow">
                  <a:avLst>
                    <a:gd name="adj1" fmla="val 50000"/>
                    <a:gd name="adj2" fmla="val 30000"/>
                  </a:avLst>
                </a:prstGeom>
                <a:solidFill>
                  <a:srgbClr val="CCCCFF"/>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43771" name="Text Box 59"/>
              <p:cNvSpPr txBox="1"/>
              <p:nvPr/>
            </p:nvSpPr>
            <p:spPr>
              <a:xfrm>
                <a:off x="458" y="2709"/>
                <a:ext cx="861" cy="250"/>
              </a:xfrm>
              <a:prstGeom prst="rect">
                <a:avLst/>
              </a:prstGeom>
              <a:noFill/>
              <a:ln w="9525">
                <a:noFill/>
              </a:ln>
            </p:spPr>
            <p:txBody>
              <a:bodyPr anchor="t" anchorCtr="0">
                <a:spAutoFit/>
              </a:bodyPr>
              <a:p>
                <a:pPr>
                  <a:spcBef>
                    <a:spcPct val="50000"/>
                  </a:spcBef>
                </a:pPr>
                <a:r>
                  <a:rPr lang="zh-CN" altLang="en-US" sz="2000" dirty="0">
                    <a:latin typeface="Times New Roman" panose="02020603050405020304" pitchFamily="18" charset="0"/>
                    <a:ea typeface="黑体" panose="02010609060101010101" pitchFamily="49" charset="-122"/>
                  </a:rPr>
                  <a:t>工夹具站</a:t>
                </a:r>
                <a:endParaRPr lang="zh-CN" altLang="en-US" sz="2000" dirty="0">
                  <a:latin typeface="Times New Roman" panose="02020603050405020304" pitchFamily="18" charset="0"/>
                  <a:ea typeface="黑体" panose="02010609060101010101" pitchFamily="49" charset="-122"/>
                </a:endParaRPr>
              </a:p>
            </p:txBody>
          </p:sp>
          <p:grpSp>
            <p:nvGrpSpPr>
              <p:cNvPr id="243772" name="Group 60"/>
              <p:cNvGrpSpPr/>
              <p:nvPr/>
            </p:nvGrpSpPr>
            <p:grpSpPr>
              <a:xfrm>
                <a:off x="1527" y="2984"/>
                <a:ext cx="2338" cy="209"/>
                <a:chOff x="1520" y="2534"/>
                <a:chExt cx="2520" cy="336"/>
              </a:xfrm>
            </p:grpSpPr>
            <p:sp>
              <p:nvSpPr>
                <p:cNvPr id="243773" name="AutoShape 61"/>
                <p:cNvSpPr/>
                <p:nvPr/>
              </p:nvSpPr>
              <p:spPr>
                <a:xfrm>
                  <a:off x="1520" y="2534"/>
                  <a:ext cx="192" cy="336"/>
                </a:xfrm>
                <a:prstGeom prst="upDownArrow">
                  <a:avLst>
                    <a:gd name="adj1" fmla="val 50000"/>
                    <a:gd name="adj2" fmla="val 35000"/>
                  </a:avLst>
                </a:prstGeom>
                <a:solidFill>
                  <a:srgbClr val="CC99FF"/>
                </a:solidFill>
                <a:ln w="28575" cap="flat" cmpd="sng">
                  <a:solidFill>
                    <a:srgbClr val="450074"/>
                  </a:solidFill>
                  <a:prstDash val="solid"/>
                  <a:miter/>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sp>
              <p:nvSpPr>
                <p:cNvPr id="243774" name="AutoShape 62"/>
                <p:cNvSpPr/>
                <p:nvPr/>
              </p:nvSpPr>
              <p:spPr>
                <a:xfrm>
                  <a:off x="2328" y="2534"/>
                  <a:ext cx="192" cy="336"/>
                </a:xfrm>
                <a:prstGeom prst="upDownArrow">
                  <a:avLst>
                    <a:gd name="adj1" fmla="val 50000"/>
                    <a:gd name="adj2" fmla="val 35000"/>
                  </a:avLst>
                </a:prstGeom>
                <a:solidFill>
                  <a:srgbClr val="CC99FF"/>
                </a:solidFill>
                <a:ln w="28575" cap="flat" cmpd="sng">
                  <a:solidFill>
                    <a:srgbClr val="450074"/>
                  </a:solidFill>
                  <a:prstDash val="solid"/>
                  <a:miter/>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sp>
              <p:nvSpPr>
                <p:cNvPr id="243775" name="AutoShape 63"/>
                <p:cNvSpPr/>
                <p:nvPr/>
              </p:nvSpPr>
              <p:spPr>
                <a:xfrm>
                  <a:off x="3848" y="2534"/>
                  <a:ext cx="192" cy="336"/>
                </a:xfrm>
                <a:prstGeom prst="upDownArrow">
                  <a:avLst>
                    <a:gd name="adj1" fmla="val 50000"/>
                    <a:gd name="adj2" fmla="val 35000"/>
                  </a:avLst>
                </a:prstGeom>
                <a:solidFill>
                  <a:srgbClr val="CC99FF"/>
                </a:solidFill>
                <a:ln w="28575" cap="flat" cmpd="sng">
                  <a:solidFill>
                    <a:srgbClr val="450074"/>
                  </a:solidFill>
                  <a:prstDash val="solid"/>
                  <a:miter/>
                  <a:headEnd type="none" w="med" len="med"/>
                  <a:tailEnd type="none" w="med" len="med"/>
                </a:ln>
              </p:spPr>
              <p:txBody>
                <a:bodyPr wrap="none" anchor="ctr" anchorCtr="0"/>
                <a:p>
                  <a:pPr algn="ctr"/>
                  <a:endParaRPr lang="zh-CN" altLang="zh-CN" sz="2000" dirty="0">
                    <a:latin typeface="Times New Roman" panose="02020603050405020304" pitchFamily="18" charset="0"/>
                    <a:ea typeface="宋体" panose="02010600030101010101" pitchFamily="2" charset="-122"/>
                  </a:endParaRPr>
                </a:p>
              </p:txBody>
            </p:sp>
          </p:grpSp>
          <p:sp>
            <p:nvSpPr>
              <p:cNvPr id="243776" name="Rectangle 64"/>
              <p:cNvSpPr/>
              <p:nvPr/>
            </p:nvSpPr>
            <p:spPr>
              <a:xfrm>
                <a:off x="4659" y="3283"/>
                <a:ext cx="133" cy="305"/>
              </a:xfrm>
              <a:prstGeom prst="rect">
                <a:avLst/>
              </a:prstGeom>
              <a:solidFill>
                <a:srgbClr val="B2B2B2"/>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77" name="Rectangle 65"/>
              <p:cNvSpPr/>
              <p:nvPr/>
            </p:nvSpPr>
            <p:spPr>
              <a:xfrm>
                <a:off x="547" y="2974"/>
                <a:ext cx="534" cy="782"/>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78" name="Rectangle 66"/>
              <p:cNvSpPr/>
              <p:nvPr/>
            </p:nvSpPr>
            <p:spPr>
              <a:xfrm>
                <a:off x="547" y="2974"/>
                <a:ext cx="223" cy="130"/>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79" name="Rectangle 67"/>
              <p:cNvSpPr/>
              <p:nvPr/>
            </p:nvSpPr>
            <p:spPr>
              <a:xfrm>
                <a:off x="547" y="3104"/>
                <a:ext cx="223" cy="131"/>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80" name="Rectangle 68"/>
              <p:cNvSpPr/>
              <p:nvPr/>
            </p:nvSpPr>
            <p:spPr>
              <a:xfrm>
                <a:off x="547" y="3235"/>
                <a:ext cx="223" cy="130"/>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81" name="Rectangle 69"/>
              <p:cNvSpPr/>
              <p:nvPr/>
            </p:nvSpPr>
            <p:spPr>
              <a:xfrm>
                <a:off x="547" y="3365"/>
                <a:ext cx="223" cy="130"/>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82" name="Rectangle 70"/>
              <p:cNvSpPr/>
              <p:nvPr/>
            </p:nvSpPr>
            <p:spPr>
              <a:xfrm>
                <a:off x="547" y="3495"/>
                <a:ext cx="223" cy="131"/>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83" name="Rectangle 71"/>
              <p:cNvSpPr/>
              <p:nvPr/>
            </p:nvSpPr>
            <p:spPr>
              <a:xfrm>
                <a:off x="547" y="3626"/>
                <a:ext cx="223" cy="130"/>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3784" name="Rectangle 72"/>
              <p:cNvSpPr/>
              <p:nvPr/>
            </p:nvSpPr>
            <p:spPr>
              <a:xfrm>
                <a:off x="948" y="3235"/>
                <a:ext cx="133" cy="260"/>
              </a:xfrm>
              <a:prstGeom prst="rect">
                <a:avLst/>
              </a:prstGeom>
              <a:solidFill>
                <a:srgbClr val="CCFFFF"/>
              </a:solidFill>
              <a:ln w="28575" cap="flat" cmpd="sng">
                <a:solidFill>
                  <a:srgbClr val="002448"/>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Tree>
  </p:cSld>
  <p:clrMapOvr>
    <a:masterClrMapping/>
  </p:clrMapOvr>
  <p:transition spd="slow">
    <p:randomBar dir="ver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62" name="Rectangle 2"/>
          <p:cNvSpPr>
            <a:spLocks noGrp="1" noChangeArrowheads="1"/>
          </p:cNvSpPr>
          <p:nvPr>
            <p:ph type="title"/>
          </p:nvPr>
        </p:nvSpPr>
        <p:spPr>
          <a:xfrm>
            <a:off x="3467100" y="450850"/>
            <a:ext cx="3984625"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45762"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5763" name="Rectangle 5"/>
          <p:cNvSpPr/>
          <p:nvPr/>
        </p:nvSpPr>
        <p:spPr>
          <a:xfrm>
            <a:off x="534988" y="1141413"/>
            <a:ext cx="1960562" cy="519112"/>
          </a:xfrm>
          <a:prstGeom prst="rect">
            <a:avLst/>
          </a:prstGeom>
          <a:noFill/>
          <a:ln w="9525">
            <a:noFill/>
          </a:ln>
        </p:spPr>
        <p:txBody>
          <a:bodyPr wrap="none" anchor="ctr" anchorCtr="0">
            <a:spAutoFit/>
          </a:bodyPr>
          <a:p>
            <a:pPr>
              <a:buClr>
                <a:srgbClr val="800000"/>
              </a:buClr>
              <a:buFont typeface="Wingdings" panose="05000000000000000000" pitchFamily="2" charset="2"/>
              <a:buChar char="q"/>
            </a:pPr>
            <a:r>
              <a:rPr lang="en-US" altLang="zh-CN" sz="2400" dirty="0">
                <a:solidFill>
                  <a:srgbClr val="FFFF00"/>
                </a:solidFill>
                <a:latin typeface="Times New Roman" panose="02020603050405020304" pitchFamily="18" charset="0"/>
                <a:ea typeface="黑体" panose="02010609060101010101" pitchFamily="49" charset="-122"/>
              </a:rPr>
              <a:t> </a:t>
            </a:r>
            <a:r>
              <a:rPr lang="zh-CN" altLang="en-US" sz="2800" b="1" dirty="0">
                <a:solidFill>
                  <a:srgbClr val="800000"/>
                </a:solidFill>
                <a:latin typeface="Times New Roman" panose="02020603050405020304" pitchFamily="18" charset="0"/>
                <a:ea typeface="楷体_GB2312"/>
              </a:rPr>
              <a:t>加工单元</a:t>
            </a:r>
            <a:endParaRPr lang="zh-CN" altLang="en-US" sz="2800" b="1" dirty="0">
              <a:solidFill>
                <a:srgbClr val="800000"/>
              </a:solidFill>
              <a:latin typeface="黑体" panose="02010609060101010101" pitchFamily="49" charset="-122"/>
              <a:ea typeface="楷体_GB2312"/>
            </a:endParaRPr>
          </a:p>
        </p:txBody>
      </p:sp>
      <p:grpSp>
        <p:nvGrpSpPr>
          <p:cNvPr id="245764" name="Group 6"/>
          <p:cNvGrpSpPr/>
          <p:nvPr/>
        </p:nvGrpSpPr>
        <p:grpSpPr>
          <a:xfrm>
            <a:off x="838200" y="1550988"/>
            <a:ext cx="3505200" cy="1662112"/>
            <a:chOff x="528" y="912"/>
            <a:chExt cx="2208" cy="1047"/>
          </a:xfrm>
        </p:grpSpPr>
        <p:sp>
          <p:nvSpPr>
            <p:cNvPr id="245765" name="Rectangle 7"/>
            <p:cNvSpPr/>
            <p:nvPr/>
          </p:nvSpPr>
          <p:spPr>
            <a:xfrm>
              <a:off x="624" y="912"/>
              <a:ext cx="2112" cy="1047"/>
            </a:xfrm>
            <a:prstGeom prst="rect">
              <a:avLst/>
            </a:prstGeom>
            <a:noFill/>
            <a:ln w="9525">
              <a:noFill/>
            </a:ln>
          </p:spPr>
          <p:txBody>
            <a:bodyPr anchor="t" anchorCtr="0">
              <a:spAutoFit/>
            </a:bodyPr>
            <a:p>
              <a:pPr eaLnBrk="0" hangingPunct="0">
                <a:spcBef>
                  <a:spcPct val="10000"/>
                </a:spcBef>
              </a:pPr>
              <a:r>
                <a:rPr lang="en-US" altLang="zh-CN" sz="2400" b="1" dirty="0">
                  <a:latin typeface="楷体_GB2312"/>
                  <a:ea typeface="楷体_GB2312"/>
                </a:rPr>
                <a:t>CNC</a:t>
              </a:r>
              <a:r>
                <a:rPr lang="zh-CN" altLang="en-US" sz="2400" b="1" dirty="0">
                  <a:latin typeface="楷体_GB2312"/>
                  <a:ea typeface="楷体_GB2312"/>
                </a:rPr>
                <a:t>（</a:t>
              </a:r>
              <a:r>
                <a:rPr lang="en-US" altLang="zh-CN" sz="2400" b="1" dirty="0">
                  <a:latin typeface="楷体_GB2312"/>
                  <a:ea typeface="楷体_GB2312"/>
                </a:rPr>
                <a:t>MC</a:t>
              </a:r>
              <a:r>
                <a:rPr lang="zh-CN" altLang="en-US" sz="2400" b="1" dirty="0">
                  <a:latin typeface="楷体_GB2312"/>
                  <a:ea typeface="楷体_GB2312"/>
                </a:rPr>
                <a:t>）机床</a:t>
              </a:r>
              <a:endParaRPr lang="zh-CN" altLang="en-US" sz="2400" b="1" dirty="0">
                <a:latin typeface="楷体_GB2312"/>
                <a:ea typeface="楷体_GB2312"/>
              </a:endParaRPr>
            </a:p>
            <a:p>
              <a:pPr eaLnBrk="0" hangingPunct="0">
                <a:spcBef>
                  <a:spcPct val="10000"/>
                </a:spcBef>
              </a:pPr>
              <a:r>
                <a:rPr lang="zh-CN" altLang="en-US" sz="2400" b="1" dirty="0">
                  <a:latin typeface="楷体_GB2312"/>
                  <a:ea typeface="楷体_GB2312"/>
                </a:rPr>
                <a:t>工作台架（暂存工件）</a:t>
              </a:r>
              <a:endParaRPr lang="zh-CN" altLang="en-US" sz="2400" b="1" dirty="0">
                <a:latin typeface="楷体_GB2312"/>
                <a:ea typeface="楷体_GB2312"/>
              </a:endParaRPr>
            </a:p>
            <a:p>
              <a:pPr eaLnBrk="0" hangingPunct="0">
                <a:spcBef>
                  <a:spcPct val="10000"/>
                </a:spcBef>
              </a:pPr>
              <a:r>
                <a:rPr lang="zh-CN" altLang="en-US" sz="2400" b="1" dirty="0">
                  <a:latin typeface="楷体_GB2312"/>
                  <a:ea typeface="楷体_GB2312"/>
                </a:rPr>
                <a:t>机器人或托盘交换装置</a:t>
              </a:r>
              <a:endParaRPr lang="zh-CN" altLang="en-US" sz="2400" b="1" dirty="0">
                <a:latin typeface="楷体_GB2312"/>
                <a:ea typeface="楷体_GB2312"/>
              </a:endParaRPr>
            </a:p>
            <a:p>
              <a:pPr eaLnBrk="0" hangingPunct="0">
                <a:spcBef>
                  <a:spcPct val="10000"/>
                </a:spcBef>
              </a:pPr>
              <a:r>
                <a:rPr lang="zh-CN" altLang="en-US" sz="2400" b="1" dirty="0">
                  <a:latin typeface="楷体_GB2312"/>
                  <a:ea typeface="楷体_GB2312"/>
                </a:rPr>
                <a:t>检测、监控装置</a:t>
              </a:r>
              <a:endParaRPr lang="zh-CN" altLang="en-US" sz="2400" b="1" dirty="0">
                <a:latin typeface="楷体_GB2312"/>
                <a:ea typeface="楷体_GB2312"/>
              </a:endParaRPr>
            </a:p>
          </p:txBody>
        </p:sp>
        <p:sp>
          <p:nvSpPr>
            <p:cNvPr id="245766" name="AutoShape 8"/>
            <p:cNvSpPr/>
            <p:nvPr/>
          </p:nvSpPr>
          <p:spPr>
            <a:xfrm>
              <a:off x="528" y="1040"/>
              <a:ext cx="96" cy="832"/>
            </a:xfrm>
            <a:prstGeom prst="leftBrace">
              <a:avLst>
                <a:gd name="adj1" fmla="val 71941"/>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218569" name="Rectangle 9"/>
          <p:cNvSpPr>
            <a:spLocks noChangeArrowheads="1"/>
          </p:cNvSpPr>
          <p:nvPr/>
        </p:nvSpPr>
        <p:spPr bwMode="auto">
          <a:xfrm>
            <a:off x="533400" y="3187700"/>
            <a:ext cx="5548313"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设备运行状态监控与检测（图</a:t>
            </a:r>
            <a:r>
              <a:rPr kumimoji="1"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2-28</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grpSp>
        <p:nvGrpSpPr>
          <p:cNvPr id="245768" name="Group 10"/>
          <p:cNvGrpSpPr/>
          <p:nvPr/>
        </p:nvGrpSpPr>
        <p:grpSpPr>
          <a:xfrm>
            <a:off x="457200" y="3924300"/>
            <a:ext cx="8305800" cy="2889250"/>
            <a:chOff x="288" y="2386"/>
            <a:chExt cx="5232" cy="1820"/>
          </a:xfrm>
        </p:grpSpPr>
        <p:grpSp>
          <p:nvGrpSpPr>
            <p:cNvPr id="245769" name="Group 11"/>
            <p:cNvGrpSpPr/>
            <p:nvPr/>
          </p:nvGrpSpPr>
          <p:grpSpPr>
            <a:xfrm>
              <a:off x="288" y="2386"/>
              <a:ext cx="5232" cy="1550"/>
              <a:chOff x="288" y="2352"/>
              <a:chExt cx="5232" cy="1550"/>
            </a:xfrm>
          </p:grpSpPr>
          <p:sp>
            <p:nvSpPr>
              <p:cNvPr id="245770" name="Text Box 12"/>
              <p:cNvSpPr txBox="1"/>
              <p:nvPr/>
            </p:nvSpPr>
            <p:spPr>
              <a:xfrm>
                <a:off x="288" y="3064"/>
                <a:ext cx="240" cy="838"/>
              </a:xfrm>
              <a:prstGeom prst="rect">
                <a:avLst/>
              </a:prstGeom>
              <a:solidFill>
                <a:srgbClr val="DDDDDD"/>
              </a:solidFill>
              <a:ln w="28575" cap="flat" cmpd="sng">
                <a:solidFill>
                  <a:schemeClr val="tx1"/>
                </a:solidFill>
                <a:prstDash val="solid"/>
                <a:miter/>
                <a:headEnd type="none" w="med" len="med"/>
                <a:tailEnd type="none" w="med" len="med"/>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传感器群</a:t>
                </a:r>
                <a:endParaRPr lang="zh-CN" altLang="en-US" sz="2000" dirty="0">
                  <a:latin typeface="Times New Roman" panose="02020603050405020304" pitchFamily="18" charset="0"/>
                  <a:ea typeface="黑体" panose="02010609060101010101" pitchFamily="49" charset="-122"/>
                </a:endParaRPr>
              </a:p>
            </p:txBody>
          </p:sp>
          <p:sp>
            <p:nvSpPr>
              <p:cNvPr id="245771" name="Text Box 13"/>
              <p:cNvSpPr txBox="1"/>
              <p:nvPr/>
            </p:nvSpPr>
            <p:spPr>
              <a:xfrm>
                <a:off x="816" y="3264"/>
                <a:ext cx="432" cy="454"/>
              </a:xfrm>
              <a:prstGeom prst="rect">
                <a:avLst/>
              </a:prstGeom>
              <a:solidFill>
                <a:srgbClr val="EAFFAD"/>
              </a:solidFill>
              <a:ln w="28575" cap="flat" cmpd="sng">
                <a:solidFill>
                  <a:schemeClr val="tx1"/>
                </a:solidFill>
                <a:prstDash val="solid"/>
                <a:miter/>
                <a:headEnd type="none" w="med" len="med"/>
                <a:tailEnd type="none" w="med" len="med"/>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信号采集</a:t>
                </a:r>
                <a:endParaRPr lang="zh-CN" altLang="en-US" sz="2000" dirty="0">
                  <a:latin typeface="Times New Roman" panose="02020603050405020304" pitchFamily="18" charset="0"/>
                  <a:ea typeface="黑体" panose="02010609060101010101" pitchFamily="49" charset="-122"/>
                </a:endParaRPr>
              </a:p>
            </p:txBody>
          </p:sp>
          <p:sp>
            <p:nvSpPr>
              <p:cNvPr id="245772" name="Text Box 14"/>
              <p:cNvSpPr txBox="1"/>
              <p:nvPr/>
            </p:nvSpPr>
            <p:spPr>
              <a:xfrm>
                <a:off x="1536" y="3264"/>
                <a:ext cx="720" cy="454"/>
              </a:xfrm>
              <a:prstGeom prst="rect">
                <a:avLst/>
              </a:prstGeom>
              <a:solidFill>
                <a:schemeClr val="accent1"/>
              </a:solidFill>
              <a:ln w="28575" cap="flat" cmpd="sng">
                <a:solidFill>
                  <a:schemeClr val="tx1"/>
                </a:solidFill>
                <a:prstDash val="solid"/>
                <a:miter/>
                <a:headEnd type="none" w="med" len="med"/>
                <a:tailEnd type="none" w="med" len="med"/>
              </a:ln>
            </p:spPr>
            <p:txBody>
              <a:bodyPr lIns="18000" tIns="36000" rIns="18000" anchor="t" anchorCtr="1">
                <a:spAutoFit/>
              </a:bodyPr>
              <a:p>
                <a:pPr algn="ctr"/>
                <a:r>
                  <a:rPr lang="zh-CN" altLang="en-US" sz="2000" dirty="0">
                    <a:latin typeface="Times New Roman" panose="02020603050405020304" pitchFamily="18" charset="0"/>
                    <a:ea typeface="黑体" panose="02010609060101010101" pitchFamily="49" charset="-122"/>
                  </a:rPr>
                  <a:t>预处理</a:t>
                </a:r>
                <a:endParaRPr lang="zh-CN" altLang="en-US" sz="2000" dirty="0">
                  <a:latin typeface="Times New Roman" panose="02020603050405020304" pitchFamily="18" charset="0"/>
                  <a:ea typeface="黑体" panose="02010609060101010101" pitchFamily="49" charset="-122"/>
                </a:endParaRPr>
              </a:p>
              <a:p>
                <a:pPr algn="ctr"/>
                <a:r>
                  <a:rPr lang="zh-CN" altLang="en-US" sz="2000" dirty="0">
                    <a:latin typeface="Times New Roman" panose="02020603050405020304" pitchFamily="18" charset="0"/>
                    <a:ea typeface="黑体" panose="02010609060101010101" pitchFamily="49" charset="-122"/>
                  </a:rPr>
                  <a:t>特征提取</a:t>
                </a:r>
                <a:endParaRPr lang="zh-CN" altLang="en-US" sz="2000" dirty="0">
                  <a:latin typeface="Times New Roman" panose="02020603050405020304" pitchFamily="18" charset="0"/>
                  <a:ea typeface="黑体" panose="02010609060101010101" pitchFamily="49" charset="-122"/>
                </a:endParaRPr>
              </a:p>
            </p:txBody>
          </p:sp>
          <p:sp>
            <p:nvSpPr>
              <p:cNvPr id="245773" name="Text Box 15"/>
              <p:cNvSpPr txBox="1"/>
              <p:nvPr/>
            </p:nvSpPr>
            <p:spPr>
              <a:xfrm>
                <a:off x="2544" y="3264"/>
                <a:ext cx="432" cy="454"/>
              </a:xfrm>
              <a:prstGeom prst="rect">
                <a:avLst/>
              </a:prstGeom>
              <a:solidFill>
                <a:srgbClr val="FFCCFF"/>
              </a:solidFill>
              <a:ln w="28575" cap="flat" cmpd="sng">
                <a:solidFill>
                  <a:schemeClr val="tx1"/>
                </a:solidFill>
                <a:prstDash val="solid"/>
                <a:miter/>
                <a:headEnd type="none" w="med" len="med"/>
                <a:tailEnd type="none" w="med" len="med"/>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状态识别</a:t>
                </a:r>
                <a:endParaRPr lang="zh-CN" altLang="en-US" sz="2000" dirty="0">
                  <a:latin typeface="Times New Roman" panose="02020603050405020304" pitchFamily="18" charset="0"/>
                  <a:ea typeface="黑体" panose="02010609060101010101" pitchFamily="49" charset="-122"/>
                </a:endParaRPr>
              </a:p>
            </p:txBody>
          </p:sp>
          <p:sp>
            <p:nvSpPr>
              <p:cNvPr id="245774" name="Text Box 16"/>
              <p:cNvSpPr txBox="1"/>
              <p:nvPr/>
            </p:nvSpPr>
            <p:spPr>
              <a:xfrm>
                <a:off x="3360" y="3264"/>
                <a:ext cx="432" cy="454"/>
              </a:xfrm>
              <a:prstGeom prst="rect">
                <a:avLst/>
              </a:prstGeom>
              <a:solidFill>
                <a:srgbClr val="FFDEAD"/>
              </a:solidFill>
              <a:ln w="28575" cap="flat" cmpd="sng">
                <a:solidFill>
                  <a:schemeClr val="tx1"/>
                </a:solidFill>
                <a:prstDash val="solid"/>
                <a:miter/>
                <a:headEnd type="none" w="med" len="med"/>
                <a:tailEnd type="none" w="med" len="med"/>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诊断决策</a:t>
                </a:r>
                <a:endParaRPr lang="zh-CN" altLang="en-US" sz="2000" dirty="0">
                  <a:latin typeface="Times New Roman" panose="02020603050405020304" pitchFamily="18" charset="0"/>
                  <a:ea typeface="黑体" panose="02010609060101010101" pitchFamily="49" charset="-122"/>
                </a:endParaRPr>
              </a:p>
            </p:txBody>
          </p:sp>
          <p:sp>
            <p:nvSpPr>
              <p:cNvPr id="245775" name="Text Box 17"/>
              <p:cNvSpPr txBox="1"/>
              <p:nvPr/>
            </p:nvSpPr>
            <p:spPr>
              <a:xfrm>
                <a:off x="4176" y="3264"/>
                <a:ext cx="528" cy="454"/>
              </a:xfrm>
              <a:prstGeom prst="rect">
                <a:avLst/>
              </a:prstGeom>
              <a:solidFill>
                <a:srgbClr val="CCCCFF"/>
              </a:solidFill>
              <a:ln w="28575" cap="flat" cmpd="sng">
                <a:solidFill>
                  <a:schemeClr val="tx1"/>
                </a:solidFill>
                <a:prstDash val="solid"/>
                <a:miter/>
                <a:headEnd type="none" w="med" len="med"/>
                <a:tailEnd type="none" w="med" len="med"/>
              </a:ln>
            </p:spPr>
            <p:txBody>
              <a:bodyPr lIns="18000" tIns="36000" rIns="18000" anchor="t" anchorCtr="1">
                <a:spAutoFit/>
              </a:bodyPr>
              <a:p>
                <a:pPr algn="ctr">
                  <a:spcBef>
                    <a:spcPct val="50000"/>
                  </a:spcBef>
                </a:pPr>
                <a:r>
                  <a:rPr lang="zh-CN" altLang="en-US" sz="2000" dirty="0">
                    <a:latin typeface="Times New Roman" panose="02020603050405020304" pitchFamily="18" charset="0"/>
                    <a:ea typeface="黑体" panose="02010609060101010101" pitchFamily="49" charset="-122"/>
                  </a:rPr>
                  <a:t>预维修决策</a:t>
                </a:r>
                <a:endParaRPr lang="zh-CN" altLang="en-US" sz="2000" dirty="0">
                  <a:latin typeface="Times New Roman" panose="02020603050405020304" pitchFamily="18" charset="0"/>
                  <a:ea typeface="黑体" panose="02010609060101010101" pitchFamily="49" charset="-122"/>
                </a:endParaRPr>
              </a:p>
            </p:txBody>
          </p:sp>
          <p:sp>
            <p:nvSpPr>
              <p:cNvPr id="245776" name="AutoShape 18"/>
              <p:cNvSpPr/>
              <p:nvPr/>
            </p:nvSpPr>
            <p:spPr>
              <a:xfrm>
                <a:off x="4992" y="3248"/>
                <a:ext cx="528" cy="528"/>
              </a:xfrm>
              <a:prstGeom prst="flowChartDocument">
                <a:avLst/>
              </a:prstGeom>
              <a:solidFill>
                <a:srgbClr val="CCFFFF"/>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5777" name="Text Box 19"/>
              <p:cNvSpPr txBox="1"/>
              <p:nvPr/>
            </p:nvSpPr>
            <p:spPr>
              <a:xfrm>
                <a:off x="4992" y="3248"/>
                <a:ext cx="528" cy="436"/>
              </a:xfrm>
              <a:prstGeom prst="rect">
                <a:avLst/>
              </a:prstGeom>
              <a:noFill/>
              <a:ln w="28575">
                <a:noFill/>
              </a:ln>
            </p:spPr>
            <p:txBody>
              <a:bodyPr lIns="18000" tIns="36000" rIns="18000" anchor="t" anchorCtr="1">
                <a:spAutoFit/>
              </a:bodyPr>
              <a:p>
                <a:pPr algn="ctr">
                  <a:spcBef>
                    <a:spcPct val="50000"/>
                  </a:spcBef>
                </a:pPr>
                <a:r>
                  <a:rPr lang="zh-CN" altLang="en-US" sz="2000" dirty="0">
                    <a:latin typeface="Times New Roman" panose="02020603050405020304" pitchFamily="18" charset="0"/>
                    <a:ea typeface="黑体" panose="02010609060101010101" pitchFamily="49" charset="-122"/>
                  </a:rPr>
                  <a:t>监控检测报告</a:t>
                </a:r>
                <a:endParaRPr lang="zh-CN" altLang="en-US" sz="2000" dirty="0">
                  <a:latin typeface="Times New Roman" panose="02020603050405020304" pitchFamily="18" charset="0"/>
                  <a:ea typeface="黑体" panose="02010609060101010101" pitchFamily="49" charset="-122"/>
                </a:endParaRPr>
              </a:p>
            </p:txBody>
          </p:sp>
          <p:sp>
            <p:nvSpPr>
              <p:cNvPr id="245778" name="AutoShape 20"/>
              <p:cNvSpPr/>
              <p:nvPr/>
            </p:nvSpPr>
            <p:spPr>
              <a:xfrm>
                <a:off x="2496" y="2352"/>
                <a:ext cx="528" cy="624"/>
              </a:xfrm>
              <a:prstGeom prst="can">
                <a:avLst>
                  <a:gd name="adj" fmla="val 29528"/>
                </a:avLst>
              </a:prstGeom>
              <a:solidFill>
                <a:srgbClr val="B1FFB1"/>
              </a:solid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5779" name="AutoShape 21"/>
              <p:cNvSpPr/>
              <p:nvPr/>
            </p:nvSpPr>
            <p:spPr>
              <a:xfrm>
                <a:off x="3312" y="2352"/>
                <a:ext cx="528" cy="624"/>
              </a:xfrm>
              <a:prstGeom prst="can">
                <a:avLst>
                  <a:gd name="adj" fmla="val 29528"/>
                </a:avLst>
              </a:prstGeom>
              <a:solidFill>
                <a:srgbClr val="B1FFB1"/>
              </a:solid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5780" name="AutoShape 22"/>
              <p:cNvSpPr/>
              <p:nvPr/>
            </p:nvSpPr>
            <p:spPr>
              <a:xfrm>
                <a:off x="4128" y="2352"/>
                <a:ext cx="528" cy="624"/>
              </a:xfrm>
              <a:prstGeom prst="can">
                <a:avLst>
                  <a:gd name="adj" fmla="val 29528"/>
                </a:avLst>
              </a:prstGeom>
              <a:solidFill>
                <a:srgbClr val="B1FFB1"/>
              </a:solid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5781" name="Text Box 23"/>
              <p:cNvSpPr txBox="1"/>
              <p:nvPr/>
            </p:nvSpPr>
            <p:spPr>
              <a:xfrm>
                <a:off x="2496" y="2496"/>
                <a:ext cx="528"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正常状态模式</a:t>
                </a:r>
                <a:endParaRPr lang="zh-CN" altLang="en-US" sz="2000" dirty="0">
                  <a:latin typeface="Times New Roman" panose="02020603050405020304" pitchFamily="18" charset="0"/>
                  <a:ea typeface="黑体" panose="02010609060101010101" pitchFamily="49" charset="-122"/>
                </a:endParaRPr>
              </a:p>
            </p:txBody>
          </p:sp>
          <p:sp>
            <p:nvSpPr>
              <p:cNvPr id="245782" name="Text Box 24"/>
              <p:cNvSpPr txBox="1"/>
              <p:nvPr/>
            </p:nvSpPr>
            <p:spPr>
              <a:xfrm>
                <a:off x="3312" y="2496"/>
                <a:ext cx="528"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预诊断知识库</a:t>
                </a:r>
                <a:endParaRPr lang="zh-CN" altLang="en-US" sz="2000" dirty="0">
                  <a:latin typeface="Times New Roman" panose="02020603050405020304" pitchFamily="18" charset="0"/>
                  <a:ea typeface="黑体" panose="02010609060101010101" pitchFamily="49" charset="-122"/>
                </a:endParaRPr>
              </a:p>
            </p:txBody>
          </p:sp>
          <p:sp>
            <p:nvSpPr>
              <p:cNvPr id="245783" name="Text Box 25"/>
              <p:cNvSpPr txBox="1"/>
              <p:nvPr/>
            </p:nvSpPr>
            <p:spPr>
              <a:xfrm>
                <a:off x="4128" y="2496"/>
                <a:ext cx="528"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预维修知识库</a:t>
                </a:r>
                <a:endParaRPr lang="zh-CN" altLang="en-US" sz="2000" dirty="0">
                  <a:latin typeface="Times New Roman" panose="02020603050405020304" pitchFamily="18" charset="0"/>
                  <a:ea typeface="黑体" panose="02010609060101010101" pitchFamily="49" charset="-122"/>
                </a:endParaRPr>
              </a:p>
            </p:txBody>
          </p:sp>
          <p:sp>
            <p:nvSpPr>
              <p:cNvPr id="245784" name="Line 26"/>
              <p:cNvSpPr/>
              <p:nvPr/>
            </p:nvSpPr>
            <p:spPr>
              <a:xfrm>
                <a:off x="1920" y="2640"/>
                <a:ext cx="576" cy="0"/>
              </a:xfrm>
              <a:prstGeom prst="line">
                <a:avLst/>
              </a:prstGeom>
              <a:ln w="28575" cap="flat" cmpd="sng">
                <a:solidFill>
                  <a:schemeClr val="tx1"/>
                </a:solidFill>
                <a:prstDash val="solid"/>
                <a:round/>
                <a:headEnd type="none" w="med" len="med"/>
                <a:tailEnd type="triangle" w="med" len="med"/>
              </a:ln>
            </p:spPr>
          </p:sp>
          <p:sp>
            <p:nvSpPr>
              <p:cNvPr id="245785" name="Line 27"/>
              <p:cNvSpPr/>
              <p:nvPr/>
            </p:nvSpPr>
            <p:spPr>
              <a:xfrm>
                <a:off x="1920" y="2640"/>
                <a:ext cx="0" cy="624"/>
              </a:xfrm>
              <a:prstGeom prst="line">
                <a:avLst/>
              </a:prstGeom>
              <a:ln w="28575" cap="flat" cmpd="sng">
                <a:solidFill>
                  <a:schemeClr val="tx1"/>
                </a:solidFill>
                <a:prstDash val="solid"/>
                <a:round/>
                <a:headEnd type="none" w="med" len="med"/>
                <a:tailEnd type="none" w="med" len="med"/>
              </a:ln>
            </p:spPr>
          </p:sp>
          <p:sp>
            <p:nvSpPr>
              <p:cNvPr id="245786" name="Text Box 28"/>
              <p:cNvSpPr txBox="1"/>
              <p:nvPr/>
            </p:nvSpPr>
            <p:spPr>
              <a:xfrm>
                <a:off x="1488" y="2736"/>
                <a:ext cx="432"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学习训练</a:t>
                </a:r>
                <a:endParaRPr lang="zh-CN" altLang="en-US" sz="2000" dirty="0">
                  <a:latin typeface="Times New Roman" panose="02020603050405020304" pitchFamily="18" charset="0"/>
                  <a:ea typeface="黑体" panose="02010609060101010101" pitchFamily="49" charset="-122"/>
                </a:endParaRPr>
              </a:p>
            </p:txBody>
          </p:sp>
          <p:sp>
            <p:nvSpPr>
              <p:cNvPr id="245787" name="Text Box 29"/>
              <p:cNvSpPr txBox="1"/>
              <p:nvPr/>
            </p:nvSpPr>
            <p:spPr>
              <a:xfrm>
                <a:off x="2304" y="2976"/>
                <a:ext cx="432" cy="244"/>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匹配</a:t>
                </a:r>
                <a:endParaRPr lang="zh-CN" altLang="en-US" sz="2000" dirty="0">
                  <a:latin typeface="Times New Roman" panose="02020603050405020304" pitchFamily="18" charset="0"/>
                  <a:ea typeface="黑体" panose="02010609060101010101" pitchFamily="49" charset="-122"/>
                </a:endParaRPr>
              </a:p>
            </p:txBody>
          </p:sp>
          <p:sp>
            <p:nvSpPr>
              <p:cNvPr id="245788" name="Line 30"/>
              <p:cNvSpPr/>
              <p:nvPr/>
            </p:nvSpPr>
            <p:spPr>
              <a:xfrm>
                <a:off x="528" y="3488"/>
                <a:ext cx="288" cy="0"/>
              </a:xfrm>
              <a:prstGeom prst="line">
                <a:avLst/>
              </a:prstGeom>
              <a:ln w="28575" cap="flat" cmpd="sng">
                <a:solidFill>
                  <a:schemeClr val="tx1"/>
                </a:solidFill>
                <a:prstDash val="solid"/>
                <a:round/>
                <a:headEnd type="none" w="med" len="med"/>
                <a:tailEnd type="triangle" w="med" len="med"/>
              </a:ln>
            </p:spPr>
          </p:sp>
          <p:sp>
            <p:nvSpPr>
              <p:cNvPr id="245789" name="Line 31"/>
              <p:cNvSpPr/>
              <p:nvPr/>
            </p:nvSpPr>
            <p:spPr>
              <a:xfrm>
                <a:off x="1248" y="3488"/>
                <a:ext cx="288" cy="0"/>
              </a:xfrm>
              <a:prstGeom prst="line">
                <a:avLst/>
              </a:prstGeom>
              <a:ln w="28575" cap="flat" cmpd="sng">
                <a:solidFill>
                  <a:schemeClr val="tx1"/>
                </a:solidFill>
                <a:prstDash val="solid"/>
                <a:round/>
                <a:headEnd type="none" w="med" len="med"/>
                <a:tailEnd type="triangle" w="med" len="med"/>
              </a:ln>
            </p:spPr>
          </p:sp>
          <p:sp>
            <p:nvSpPr>
              <p:cNvPr id="245790" name="Line 32"/>
              <p:cNvSpPr/>
              <p:nvPr/>
            </p:nvSpPr>
            <p:spPr>
              <a:xfrm>
                <a:off x="2256" y="3488"/>
                <a:ext cx="288" cy="0"/>
              </a:xfrm>
              <a:prstGeom prst="line">
                <a:avLst/>
              </a:prstGeom>
              <a:ln w="28575" cap="flat" cmpd="sng">
                <a:solidFill>
                  <a:schemeClr val="tx1"/>
                </a:solidFill>
                <a:prstDash val="solid"/>
                <a:round/>
                <a:headEnd type="none" w="med" len="med"/>
                <a:tailEnd type="triangle" w="med" len="med"/>
              </a:ln>
            </p:spPr>
          </p:sp>
          <p:grpSp>
            <p:nvGrpSpPr>
              <p:cNvPr id="245791" name="Group 33"/>
              <p:cNvGrpSpPr/>
              <p:nvPr/>
            </p:nvGrpSpPr>
            <p:grpSpPr>
              <a:xfrm>
                <a:off x="2952" y="3008"/>
                <a:ext cx="432" cy="724"/>
                <a:chOff x="3144" y="2688"/>
                <a:chExt cx="432" cy="724"/>
              </a:xfrm>
            </p:grpSpPr>
            <p:sp>
              <p:nvSpPr>
                <p:cNvPr id="245792" name="Line 34"/>
                <p:cNvSpPr/>
                <p:nvPr/>
              </p:nvSpPr>
              <p:spPr>
                <a:xfrm>
                  <a:off x="3168" y="3168"/>
                  <a:ext cx="384" cy="0"/>
                </a:xfrm>
                <a:prstGeom prst="line">
                  <a:avLst/>
                </a:prstGeom>
                <a:ln w="28575" cap="flat" cmpd="sng">
                  <a:solidFill>
                    <a:schemeClr val="tx1"/>
                  </a:solidFill>
                  <a:prstDash val="solid"/>
                  <a:round/>
                  <a:headEnd type="none" w="med" len="med"/>
                  <a:tailEnd type="triangle" w="med" len="med"/>
                </a:ln>
              </p:spPr>
            </p:sp>
            <p:sp>
              <p:nvSpPr>
                <p:cNvPr id="245793" name="Text Box 35"/>
                <p:cNvSpPr txBox="1"/>
                <p:nvPr/>
              </p:nvSpPr>
              <p:spPr>
                <a:xfrm>
                  <a:off x="3144" y="2688"/>
                  <a:ext cx="432"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状态异常</a:t>
                  </a:r>
                  <a:endParaRPr lang="zh-CN" altLang="en-US" sz="2000" dirty="0">
                    <a:latin typeface="Times New Roman" panose="02020603050405020304" pitchFamily="18" charset="0"/>
                    <a:ea typeface="黑体" panose="02010609060101010101" pitchFamily="49" charset="-122"/>
                  </a:endParaRPr>
                </a:p>
              </p:txBody>
            </p:sp>
            <p:sp>
              <p:nvSpPr>
                <p:cNvPr id="245794" name="Text Box 36"/>
                <p:cNvSpPr txBox="1"/>
                <p:nvPr/>
              </p:nvSpPr>
              <p:spPr>
                <a:xfrm>
                  <a:off x="3144" y="3168"/>
                  <a:ext cx="432" cy="244"/>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报警</a:t>
                  </a:r>
                  <a:endParaRPr lang="zh-CN" altLang="en-US" sz="2000" dirty="0">
                    <a:latin typeface="Times New Roman" panose="02020603050405020304" pitchFamily="18" charset="0"/>
                    <a:ea typeface="黑体" panose="02010609060101010101" pitchFamily="49" charset="-122"/>
                  </a:endParaRPr>
                </a:p>
              </p:txBody>
            </p:sp>
          </p:grpSp>
          <p:grpSp>
            <p:nvGrpSpPr>
              <p:cNvPr id="245795" name="Group 37"/>
              <p:cNvGrpSpPr/>
              <p:nvPr/>
            </p:nvGrpSpPr>
            <p:grpSpPr>
              <a:xfrm>
                <a:off x="3764" y="3008"/>
                <a:ext cx="432" cy="724"/>
                <a:chOff x="3144" y="2688"/>
                <a:chExt cx="432" cy="724"/>
              </a:xfrm>
            </p:grpSpPr>
            <p:sp>
              <p:nvSpPr>
                <p:cNvPr id="245796" name="Line 38"/>
                <p:cNvSpPr/>
                <p:nvPr/>
              </p:nvSpPr>
              <p:spPr>
                <a:xfrm>
                  <a:off x="3168" y="3168"/>
                  <a:ext cx="384" cy="0"/>
                </a:xfrm>
                <a:prstGeom prst="line">
                  <a:avLst/>
                </a:prstGeom>
                <a:ln w="28575" cap="flat" cmpd="sng">
                  <a:solidFill>
                    <a:schemeClr val="tx1"/>
                  </a:solidFill>
                  <a:prstDash val="solid"/>
                  <a:round/>
                  <a:headEnd type="none" w="med" len="med"/>
                  <a:tailEnd type="triangle" w="med" len="med"/>
                </a:ln>
              </p:spPr>
            </p:sp>
            <p:sp>
              <p:nvSpPr>
                <p:cNvPr id="245797" name="Text Box 39"/>
                <p:cNvSpPr txBox="1"/>
                <p:nvPr/>
              </p:nvSpPr>
              <p:spPr>
                <a:xfrm>
                  <a:off x="3144" y="2688"/>
                  <a:ext cx="432"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预知故障</a:t>
                  </a:r>
                  <a:endParaRPr lang="zh-CN" altLang="en-US" sz="2000" dirty="0">
                    <a:latin typeface="Times New Roman" panose="02020603050405020304" pitchFamily="18" charset="0"/>
                    <a:ea typeface="黑体" panose="02010609060101010101" pitchFamily="49" charset="-122"/>
                  </a:endParaRPr>
                </a:p>
              </p:txBody>
            </p:sp>
            <p:sp>
              <p:nvSpPr>
                <p:cNvPr id="245798" name="Text Box 40"/>
                <p:cNvSpPr txBox="1"/>
                <p:nvPr/>
              </p:nvSpPr>
              <p:spPr>
                <a:xfrm>
                  <a:off x="3144" y="3168"/>
                  <a:ext cx="432" cy="244"/>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报警</a:t>
                  </a:r>
                  <a:endParaRPr lang="zh-CN" altLang="en-US" sz="2000" dirty="0">
                    <a:latin typeface="Times New Roman" panose="02020603050405020304" pitchFamily="18" charset="0"/>
                    <a:ea typeface="黑体" panose="02010609060101010101" pitchFamily="49" charset="-122"/>
                  </a:endParaRPr>
                </a:p>
              </p:txBody>
            </p:sp>
          </p:grpSp>
          <p:sp>
            <p:nvSpPr>
              <p:cNvPr id="245799" name="Line 41"/>
              <p:cNvSpPr/>
              <p:nvPr/>
            </p:nvSpPr>
            <p:spPr>
              <a:xfrm>
                <a:off x="4704" y="3488"/>
                <a:ext cx="288" cy="0"/>
              </a:xfrm>
              <a:prstGeom prst="line">
                <a:avLst/>
              </a:prstGeom>
              <a:ln w="28575" cap="flat" cmpd="sng">
                <a:solidFill>
                  <a:schemeClr val="tx1"/>
                </a:solidFill>
                <a:prstDash val="solid"/>
                <a:round/>
                <a:headEnd type="none" w="med" len="med"/>
                <a:tailEnd type="triangle" w="med" len="med"/>
              </a:ln>
            </p:spPr>
          </p:sp>
          <p:sp>
            <p:nvSpPr>
              <p:cNvPr id="245800" name="Text Box 42"/>
              <p:cNvSpPr txBox="1"/>
              <p:nvPr/>
            </p:nvSpPr>
            <p:spPr>
              <a:xfrm>
                <a:off x="4728" y="3008"/>
                <a:ext cx="240" cy="436"/>
              </a:xfrm>
              <a:prstGeom prst="rect">
                <a:avLst/>
              </a:prstGeom>
              <a:noFill/>
              <a:ln w="28575">
                <a:noFill/>
              </a:ln>
            </p:spPr>
            <p:txBody>
              <a:bodyPr lIns="18000" tIns="36000" rIns="18000" anchor="t" anchorCtr="1">
                <a:spAutoFit/>
              </a:bodyPr>
              <a:p>
                <a:pPr>
                  <a:spcBef>
                    <a:spcPct val="50000"/>
                  </a:spcBef>
                </a:pPr>
                <a:r>
                  <a:rPr lang="zh-CN" altLang="en-US" sz="2000" dirty="0">
                    <a:latin typeface="Times New Roman" panose="02020603050405020304" pitchFamily="18" charset="0"/>
                    <a:ea typeface="黑体" panose="02010609060101010101" pitchFamily="49" charset="-122"/>
                  </a:rPr>
                  <a:t>输出</a:t>
                </a:r>
                <a:endParaRPr lang="zh-CN" altLang="en-US" sz="2000" dirty="0">
                  <a:latin typeface="Times New Roman" panose="02020603050405020304" pitchFamily="18" charset="0"/>
                  <a:ea typeface="黑体" panose="02010609060101010101" pitchFamily="49" charset="-122"/>
                </a:endParaRPr>
              </a:p>
            </p:txBody>
          </p:sp>
          <p:grpSp>
            <p:nvGrpSpPr>
              <p:cNvPr id="245801" name="Group 43"/>
              <p:cNvGrpSpPr/>
              <p:nvPr/>
            </p:nvGrpSpPr>
            <p:grpSpPr>
              <a:xfrm>
                <a:off x="2760" y="2976"/>
                <a:ext cx="1632" cy="288"/>
                <a:chOff x="2976" y="2640"/>
                <a:chExt cx="1632" cy="288"/>
              </a:xfrm>
            </p:grpSpPr>
            <p:sp>
              <p:nvSpPr>
                <p:cNvPr id="245802" name="Line 44"/>
                <p:cNvSpPr/>
                <p:nvPr/>
              </p:nvSpPr>
              <p:spPr>
                <a:xfrm flipV="1">
                  <a:off x="2976" y="2640"/>
                  <a:ext cx="0" cy="288"/>
                </a:xfrm>
                <a:prstGeom prst="line">
                  <a:avLst/>
                </a:prstGeom>
                <a:ln w="28575" cap="flat" cmpd="sng">
                  <a:solidFill>
                    <a:schemeClr val="tx1"/>
                  </a:solidFill>
                  <a:prstDash val="solid"/>
                  <a:round/>
                  <a:headEnd type="triangle" w="med" len="med"/>
                  <a:tailEnd type="triangle" w="med" len="med"/>
                </a:ln>
              </p:spPr>
            </p:sp>
            <p:sp>
              <p:nvSpPr>
                <p:cNvPr id="245803" name="Line 45"/>
                <p:cNvSpPr/>
                <p:nvPr/>
              </p:nvSpPr>
              <p:spPr>
                <a:xfrm flipV="1">
                  <a:off x="3792" y="2640"/>
                  <a:ext cx="0" cy="288"/>
                </a:xfrm>
                <a:prstGeom prst="line">
                  <a:avLst/>
                </a:prstGeom>
                <a:ln w="28575" cap="flat" cmpd="sng">
                  <a:solidFill>
                    <a:schemeClr val="tx1"/>
                  </a:solidFill>
                  <a:prstDash val="solid"/>
                  <a:round/>
                  <a:headEnd type="triangle" w="med" len="med"/>
                  <a:tailEnd type="triangle" w="med" len="med"/>
                </a:ln>
              </p:spPr>
            </p:sp>
            <p:sp>
              <p:nvSpPr>
                <p:cNvPr id="245804" name="Line 46"/>
                <p:cNvSpPr/>
                <p:nvPr/>
              </p:nvSpPr>
              <p:spPr>
                <a:xfrm flipV="1">
                  <a:off x="4608" y="2640"/>
                  <a:ext cx="0" cy="288"/>
                </a:xfrm>
                <a:prstGeom prst="line">
                  <a:avLst/>
                </a:prstGeom>
                <a:ln w="28575" cap="flat" cmpd="sng">
                  <a:solidFill>
                    <a:schemeClr val="tx1"/>
                  </a:solidFill>
                  <a:prstDash val="solid"/>
                  <a:round/>
                  <a:headEnd type="triangle" w="med" len="med"/>
                  <a:tailEnd type="triangle" w="med" len="med"/>
                </a:ln>
              </p:spPr>
            </p:sp>
          </p:grpSp>
        </p:grpSp>
        <p:sp>
          <p:nvSpPr>
            <p:cNvPr id="245805" name="Rectangle 47"/>
            <p:cNvSpPr/>
            <p:nvPr/>
          </p:nvSpPr>
          <p:spPr>
            <a:xfrm>
              <a:off x="1398" y="3956"/>
              <a:ext cx="2856" cy="250"/>
            </a:xfrm>
            <a:prstGeom prst="rect">
              <a:avLst/>
            </a:prstGeom>
            <a:noFill/>
            <a:ln w="9525">
              <a:noFill/>
            </a:ln>
          </p:spPr>
          <p:txBody>
            <a:bodyPr wrap="none" anchor="t" anchorCtr="0">
              <a:spAutoFit/>
            </a:bodyPr>
            <a:p>
              <a:pPr algn="ctr"/>
              <a:r>
                <a:rPr lang="zh-CN" altLang="en-US" sz="2000" b="1" dirty="0">
                  <a:latin typeface="楷体_GB2312"/>
                  <a:ea typeface="楷体_GB2312"/>
                </a:rPr>
                <a:t>图</a:t>
              </a:r>
              <a:r>
                <a:rPr lang="en-US" altLang="zh-CN" sz="2000" b="1" dirty="0">
                  <a:latin typeface="楷体_GB2312"/>
                  <a:ea typeface="楷体_GB2312"/>
                </a:rPr>
                <a:t>2-28  </a:t>
              </a:r>
              <a:r>
                <a:rPr lang="zh-CN" altLang="en-US" sz="2000" b="1" dirty="0">
                  <a:latin typeface="楷体_GB2312"/>
                  <a:ea typeface="楷体_GB2312"/>
                </a:rPr>
                <a:t>设备运行状态监控与检测框图</a:t>
              </a:r>
              <a:endParaRPr lang="zh-CN" altLang="en-US" sz="2000" b="1" dirty="0">
                <a:latin typeface="楷体_GB2312"/>
                <a:ea typeface="楷体_GB2312"/>
              </a:endParaRPr>
            </a:p>
          </p:txBody>
        </p:sp>
      </p:grpSp>
    </p:spTree>
  </p:cSld>
  <p:clrMapOvr>
    <a:masterClrMapping/>
  </p:clrMapOvr>
  <p:transition spd="slow">
    <p:randomBar dir="ver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09" name="Rectangle 2"/>
          <p:cNvSpPr/>
          <p:nvPr/>
        </p:nvSpPr>
        <p:spPr>
          <a:xfrm>
            <a:off x="250825" y="2927350"/>
            <a:ext cx="2663825" cy="3165475"/>
          </a:xfrm>
          <a:prstGeom prst="rect">
            <a:avLst/>
          </a:prstGeom>
          <a:noFill/>
          <a:ln w="9525">
            <a:noFill/>
          </a:ln>
        </p:spPr>
        <p:txBody>
          <a:bodyPr anchor="t" anchorCtr="0">
            <a:spAutoFit/>
          </a:bodyPr>
          <a:p>
            <a:pPr>
              <a:lnSpc>
                <a:spcPct val="105000"/>
              </a:lnSpc>
            </a:pPr>
            <a:r>
              <a:rPr lang="en-US" altLang="zh-CN" sz="2400" b="1" dirty="0">
                <a:latin typeface="Times New Roman" panose="02020603050405020304" pitchFamily="18" charset="0"/>
                <a:ea typeface="楷体_GB2312"/>
              </a:rPr>
              <a:t>        </a:t>
            </a:r>
            <a:r>
              <a:rPr lang="zh-CN" altLang="en-US" sz="2400" b="1" dirty="0">
                <a:latin typeface="Times New Roman" panose="02020603050405020304" pitchFamily="18" charset="0"/>
                <a:ea typeface="楷体_GB2312"/>
              </a:rPr>
              <a:t>钻头破损检测器内存有以往采集的钻头破损的信号或钻头破损模拟信号，与检测信号进行比较。当钻头破损被确认后，发出换刀信号。</a:t>
            </a:r>
            <a:endParaRPr lang="zh-CN" altLang="en-US" sz="2400" b="1" dirty="0">
              <a:latin typeface="Times New Roman" panose="02020603050405020304" pitchFamily="18" charset="0"/>
              <a:ea typeface="楷体_GB2312"/>
            </a:endParaRPr>
          </a:p>
        </p:txBody>
      </p:sp>
      <p:sp>
        <p:nvSpPr>
          <p:cNvPr id="1220611" name="Rectangle 3"/>
          <p:cNvSpPr>
            <a:spLocks noGrp="1" noChangeArrowheads="1"/>
          </p:cNvSpPr>
          <p:nvPr>
            <p:ph type="title"/>
          </p:nvPr>
        </p:nvSpPr>
        <p:spPr>
          <a:xfrm>
            <a:off x="3611563" y="379413"/>
            <a:ext cx="3984625"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47811" name="Rectangle 4"/>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7812" name="Rectangle 5"/>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20614" name="Rectangle 6"/>
          <p:cNvSpPr>
            <a:spLocks noChangeArrowheads="1"/>
          </p:cNvSpPr>
          <p:nvPr/>
        </p:nvSpPr>
        <p:spPr bwMode="auto">
          <a:xfrm>
            <a:off x="250825" y="1150938"/>
            <a:ext cx="8713788" cy="1701800"/>
          </a:xfrm>
          <a:prstGeom prst="rect">
            <a:avLst/>
          </a:prstGeom>
          <a:noFill/>
          <a:ln w="9525">
            <a:noFill/>
            <a:miter lim="800000"/>
          </a:ln>
          <a:effectLst/>
        </p:spPr>
        <p:txBody>
          <a:bodyPr>
            <a:spAutoFit/>
          </a:bodyPr>
          <a:lstStyle/>
          <a:p>
            <a:pPr marL="0" marR="0" lvl="0" indent="0" algn="just" defTabSz="914400" rtl="0" eaLnBrk="1" fontAlgn="base" latinLnBrk="0" hangingPunct="1">
              <a:lnSpc>
                <a:spcPct val="105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加工过程监控与检测</a:t>
            </a:r>
            <a:endPar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endParaRPr>
          </a:p>
          <a:p>
            <a:pPr marL="0" marR="0" lvl="0" indent="0" algn="just" defTabSz="914400" rtl="0" eaLnBrk="1" fontAlgn="base" latinLnBrk="0" hangingPunct="1">
              <a:lnSpc>
                <a:spcPct val="105000"/>
              </a:lnSpc>
              <a:spcBef>
                <a:spcPct val="2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重点是刀具磨损、破损监控与检测。图</a:t>
            </a:r>
            <a:r>
              <a:rPr kumimoji="1"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2-29</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为声发射钻头破损检测装置示意图。加工过程中，一旦钻头破损，声发射传感器检测到钻头破损信号，将其送至钻头破损检测器进行处理</a:t>
            </a: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rPr>
              <a:t>。</a:t>
            </a: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grpSp>
        <p:nvGrpSpPr>
          <p:cNvPr id="247814" name="Group 7"/>
          <p:cNvGrpSpPr/>
          <p:nvPr/>
        </p:nvGrpSpPr>
        <p:grpSpPr>
          <a:xfrm>
            <a:off x="3048000" y="2854325"/>
            <a:ext cx="5803900" cy="3959225"/>
            <a:chOff x="1920" y="1682"/>
            <a:chExt cx="3656" cy="2494"/>
          </a:xfrm>
        </p:grpSpPr>
        <p:sp>
          <p:nvSpPr>
            <p:cNvPr id="247815" name="Rectangle 8"/>
            <p:cNvSpPr/>
            <p:nvPr/>
          </p:nvSpPr>
          <p:spPr>
            <a:xfrm>
              <a:off x="4028" y="2901"/>
              <a:ext cx="76" cy="107"/>
            </a:xfrm>
            <a:prstGeom prst="rect">
              <a:avLst/>
            </a:prstGeom>
            <a:solidFill>
              <a:schemeClr val="accent2"/>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16" name="Text Box 9"/>
            <p:cNvSpPr txBox="1"/>
            <p:nvPr/>
          </p:nvSpPr>
          <p:spPr>
            <a:xfrm>
              <a:off x="4819" y="2332"/>
              <a:ext cx="757" cy="436"/>
            </a:xfrm>
            <a:prstGeom prst="rect">
              <a:avLst/>
            </a:prstGeom>
            <a:solidFill>
              <a:srgbClr val="CCFFFF"/>
            </a:solidFill>
            <a:ln w="28575" cap="flat" cmpd="sng">
              <a:solidFill>
                <a:schemeClr val="tx1"/>
              </a:solidFill>
              <a:prstDash val="solid"/>
              <a:miter/>
              <a:headEnd type="none" w="med" len="med"/>
              <a:tailEnd type="none" w="med" len="med"/>
            </a:ln>
          </p:spPr>
          <p:txBody>
            <a:bodyPr lIns="18000" rIns="18000" anchor="t" anchorCtr="0"/>
            <a:p>
              <a:pPr algn="ctr" eaLnBrk="0" hangingPunct="0">
                <a:lnSpc>
                  <a:spcPct val="96000"/>
                </a:lnSpc>
              </a:pPr>
              <a:r>
                <a:rPr lang="zh-CN" altLang="en-US" sz="2000" dirty="0">
                  <a:latin typeface="Times New Roman" panose="02020603050405020304" pitchFamily="18" charset="0"/>
                  <a:ea typeface="黑体" panose="02010609060101010101" pitchFamily="49" charset="-122"/>
                </a:rPr>
                <a:t>钻头破损检测器</a:t>
              </a:r>
              <a:endParaRPr lang="zh-CN" altLang="en-US" sz="2000" dirty="0">
                <a:latin typeface="Times New Roman" panose="02020603050405020304" pitchFamily="18" charset="0"/>
                <a:ea typeface="黑体" panose="02010609060101010101" pitchFamily="49" charset="-122"/>
              </a:endParaRPr>
            </a:p>
          </p:txBody>
        </p:sp>
        <p:sp>
          <p:nvSpPr>
            <p:cNvPr id="247817" name="Text Box 10"/>
            <p:cNvSpPr txBox="1"/>
            <p:nvPr/>
          </p:nvSpPr>
          <p:spPr>
            <a:xfrm>
              <a:off x="2032" y="3958"/>
              <a:ext cx="3360" cy="218"/>
            </a:xfrm>
            <a:prstGeom prst="rect">
              <a:avLst/>
            </a:prstGeom>
            <a:noFill/>
            <a:ln w="9525">
              <a:noFill/>
            </a:ln>
          </p:spPr>
          <p:txBody>
            <a:bodyPr lIns="0" tIns="0" rIns="0" bIns="0" anchor="t" anchorCtr="0"/>
            <a:p>
              <a:pPr algn="ctr" eaLnBrk="0" hangingPunct="0"/>
              <a:r>
                <a:rPr lang="zh-CN" altLang="en-US" sz="2000" b="1" dirty="0">
                  <a:latin typeface="楷体_GB2312"/>
                  <a:ea typeface="楷体_GB2312"/>
                </a:rPr>
                <a:t>图</a:t>
              </a:r>
              <a:r>
                <a:rPr lang="en-GB" altLang="zh-CN" sz="2000" b="1" dirty="0">
                  <a:latin typeface="楷体_GB2312"/>
                  <a:ea typeface="楷体_GB2312"/>
                </a:rPr>
                <a:t>2</a:t>
              </a:r>
              <a:r>
                <a:rPr lang="en-US" altLang="zh-CN" sz="2000" b="1" dirty="0">
                  <a:latin typeface="楷体_GB2312"/>
                  <a:ea typeface="楷体_GB2312"/>
                </a:rPr>
                <a:t>-29  </a:t>
              </a:r>
              <a:r>
                <a:rPr lang="zh-CN" altLang="en-US" sz="2000" b="1" dirty="0">
                  <a:latin typeface="楷体_GB2312"/>
                  <a:ea typeface="楷体_GB2312"/>
                </a:rPr>
                <a:t>声发射钻头破损检测装置系统图</a:t>
              </a:r>
              <a:endParaRPr lang="zh-CN" altLang="en-US" sz="2000" b="1" dirty="0">
                <a:latin typeface="楷体_GB2312"/>
                <a:ea typeface="楷体_GB2312"/>
              </a:endParaRPr>
            </a:p>
          </p:txBody>
        </p:sp>
        <p:grpSp>
          <p:nvGrpSpPr>
            <p:cNvPr id="247818" name="Group 11"/>
            <p:cNvGrpSpPr/>
            <p:nvPr/>
          </p:nvGrpSpPr>
          <p:grpSpPr>
            <a:xfrm>
              <a:off x="3010" y="1729"/>
              <a:ext cx="530" cy="391"/>
              <a:chOff x="2850" y="1519"/>
              <a:chExt cx="530" cy="391"/>
            </a:xfrm>
          </p:grpSpPr>
          <p:grpSp>
            <p:nvGrpSpPr>
              <p:cNvPr id="247819" name="Group 12"/>
              <p:cNvGrpSpPr/>
              <p:nvPr/>
            </p:nvGrpSpPr>
            <p:grpSpPr>
              <a:xfrm>
                <a:off x="2850" y="1588"/>
                <a:ext cx="530" cy="322"/>
                <a:chOff x="2850" y="1576"/>
                <a:chExt cx="530" cy="322"/>
              </a:xfrm>
            </p:grpSpPr>
            <p:sp>
              <p:nvSpPr>
                <p:cNvPr id="247820" name="Line 13"/>
                <p:cNvSpPr/>
                <p:nvPr/>
              </p:nvSpPr>
              <p:spPr>
                <a:xfrm>
                  <a:off x="2850" y="1576"/>
                  <a:ext cx="0" cy="322"/>
                </a:xfrm>
                <a:prstGeom prst="line">
                  <a:avLst/>
                </a:prstGeom>
                <a:ln w="28575" cap="flat" cmpd="sng">
                  <a:solidFill>
                    <a:schemeClr val="tx1"/>
                  </a:solidFill>
                  <a:prstDash val="solid"/>
                  <a:round/>
                  <a:headEnd type="none" w="med" len="med"/>
                  <a:tailEnd type="none" w="med" len="med"/>
                </a:ln>
              </p:spPr>
            </p:sp>
            <p:sp>
              <p:nvSpPr>
                <p:cNvPr id="247821" name="Line 14"/>
                <p:cNvSpPr/>
                <p:nvPr/>
              </p:nvSpPr>
              <p:spPr>
                <a:xfrm>
                  <a:off x="3380" y="1576"/>
                  <a:ext cx="0" cy="322"/>
                </a:xfrm>
                <a:prstGeom prst="line">
                  <a:avLst/>
                </a:prstGeom>
                <a:ln w="28575" cap="flat" cmpd="sng">
                  <a:solidFill>
                    <a:schemeClr val="tx1"/>
                  </a:solidFill>
                  <a:prstDash val="solid"/>
                  <a:round/>
                  <a:headEnd type="none" w="med" len="med"/>
                  <a:tailEnd type="none" w="med" len="med"/>
                </a:ln>
              </p:spPr>
            </p:sp>
            <p:sp>
              <p:nvSpPr>
                <p:cNvPr id="247822" name="Line 15"/>
                <p:cNvSpPr/>
                <p:nvPr/>
              </p:nvSpPr>
              <p:spPr>
                <a:xfrm>
                  <a:off x="2850" y="1897"/>
                  <a:ext cx="530" cy="0"/>
                </a:xfrm>
                <a:prstGeom prst="line">
                  <a:avLst/>
                </a:prstGeom>
                <a:ln w="28575" cap="flat" cmpd="sng">
                  <a:solidFill>
                    <a:schemeClr val="tx1"/>
                  </a:solidFill>
                  <a:prstDash val="solid"/>
                  <a:round/>
                  <a:headEnd type="none" w="med" len="med"/>
                  <a:tailEnd type="none" w="med" len="med"/>
                </a:ln>
              </p:spPr>
            </p:sp>
          </p:grpSp>
          <p:sp>
            <p:nvSpPr>
              <p:cNvPr id="247823" name="Freeform 16"/>
              <p:cNvSpPr/>
              <p:nvPr/>
            </p:nvSpPr>
            <p:spPr>
              <a:xfrm>
                <a:off x="2850" y="1519"/>
                <a:ext cx="530" cy="108"/>
              </a:xfrm>
              <a:custGeom>
                <a:avLst/>
                <a:gdLst/>
                <a:ahLst/>
                <a:cxnLst>
                  <a:cxn ang="0">
                    <a:pos x="0" y="1"/>
                  </a:cxn>
                  <a:cxn ang="0">
                    <a:pos x="3" y="1"/>
                  </a:cxn>
                  <a:cxn ang="0">
                    <a:pos x="7" y="1"/>
                  </a:cxn>
                  <a:cxn ang="0">
                    <a:pos x="10" y="1"/>
                  </a:cxn>
                </a:cxnLst>
                <a:pathLst>
                  <a:path w="735" h="165">
                    <a:moveTo>
                      <a:pt x="0" y="97"/>
                    </a:moveTo>
                    <a:cubicBezTo>
                      <a:pt x="41" y="106"/>
                      <a:pt x="159" y="165"/>
                      <a:pt x="246" y="150"/>
                    </a:cubicBezTo>
                    <a:cubicBezTo>
                      <a:pt x="333" y="135"/>
                      <a:pt x="444" y="18"/>
                      <a:pt x="525" y="9"/>
                    </a:cubicBezTo>
                    <a:cubicBezTo>
                      <a:pt x="606" y="0"/>
                      <a:pt x="673" y="53"/>
                      <a:pt x="735" y="97"/>
                    </a:cubicBezTo>
                  </a:path>
                </a:pathLst>
              </a:custGeom>
              <a:noFill/>
              <a:ln w="19050" cap="flat" cmpd="sng">
                <a:solidFill>
                  <a:schemeClr val="tx1"/>
                </a:solidFill>
                <a:prstDash val="solid"/>
                <a:round/>
                <a:headEnd type="none" w="med" len="med"/>
                <a:tailEnd type="none" w="med" len="med"/>
              </a:ln>
            </p:spPr>
            <p:txBody>
              <a:bodyPr/>
              <a:p>
                <a:endParaRPr lang="zh-CN" altLang="en-US"/>
              </a:p>
            </p:txBody>
          </p:sp>
        </p:grpSp>
        <p:sp>
          <p:nvSpPr>
            <p:cNvPr id="247824" name="AutoShape 17"/>
            <p:cNvSpPr/>
            <p:nvPr/>
          </p:nvSpPr>
          <p:spPr>
            <a:xfrm>
              <a:off x="2470" y="2352"/>
              <a:ext cx="379" cy="143"/>
            </a:xfrm>
            <a:prstGeom prst="leftRightArrow">
              <a:avLst>
                <a:gd name="adj1" fmla="val 50000"/>
                <a:gd name="adj2" fmla="val 52921"/>
              </a:avLst>
            </a:prstGeom>
            <a:solidFill>
              <a:srgbClr val="B1FFB1"/>
            </a:solidFill>
            <a:ln w="28575" cap="flat" cmpd="sng">
              <a:solidFill>
                <a:srgbClr val="336600"/>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25" name="Text Box 18"/>
            <p:cNvSpPr txBox="1"/>
            <p:nvPr/>
          </p:nvSpPr>
          <p:spPr>
            <a:xfrm>
              <a:off x="2464" y="2134"/>
              <a:ext cx="379" cy="218"/>
            </a:xfrm>
            <a:prstGeom prst="rect">
              <a:avLst/>
            </a:prstGeom>
            <a:noFill/>
            <a:ln w="9525">
              <a:noFill/>
            </a:ln>
          </p:spPr>
          <p:txBody>
            <a:bodyPr lIns="0" tIns="0" rIns="0" bIns="0" anchor="t" anchorCtr="0"/>
            <a:p>
              <a:pPr algn="ctr" eaLnBrk="0" hangingPunct="0"/>
              <a:r>
                <a:rPr lang="zh-CN" altLang="en-US" sz="2000" dirty="0">
                  <a:solidFill>
                    <a:srgbClr val="336600"/>
                  </a:solidFill>
                  <a:latin typeface="Times New Roman" panose="02020603050405020304" pitchFamily="18" charset="0"/>
                  <a:ea typeface="黑体" panose="02010609060101010101" pitchFamily="49" charset="-122"/>
                </a:rPr>
                <a:t>交换</a:t>
              </a:r>
              <a:endParaRPr lang="zh-CN" altLang="en-US" sz="2000" dirty="0">
                <a:solidFill>
                  <a:srgbClr val="336600"/>
                </a:solidFill>
                <a:latin typeface="Times New Roman" panose="02020603050405020304" pitchFamily="18" charset="0"/>
                <a:ea typeface="黑体" panose="02010609060101010101" pitchFamily="49" charset="-122"/>
              </a:endParaRPr>
            </a:p>
          </p:txBody>
        </p:sp>
        <p:grpSp>
          <p:nvGrpSpPr>
            <p:cNvPr id="247826" name="Group 19"/>
            <p:cNvGrpSpPr/>
            <p:nvPr/>
          </p:nvGrpSpPr>
          <p:grpSpPr>
            <a:xfrm>
              <a:off x="2102" y="2988"/>
              <a:ext cx="908" cy="653"/>
              <a:chOff x="1942" y="2774"/>
              <a:chExt cx="908" cy="653"/>
            </a:xfrm>
          </p:grpSpPr>
          <p:sp>
            <p:nvSpPr>
              <p:cNvPr id="247827" name="Line 20"/>
              <p:cNvSpPr/>
              <p:nvPr/>
            </p:nvSpPr>
            <p:spPr>
              <a:xfrm>
                <a:off x="1949" y="2774"/>
                <a:ext cx="0" cy="653"/>
              </a:xfrm>
              <a:prstGeom prst="line">
                <a:avLst/>
              </a:prstGeom>
              <a:ln w="28575" cap="flat" cmpd="sng">
                <a:solidFill>
                  <a:schemeClr val="tx1"/>
                </a:solidFill>
                <a:prstDash val="solid"/>
                <a:round/>
                <a:headEnd type="triangle" w="sm" len="med"/>
                <a:tailEnd type="none" w="med" len="med"/>
              </a:ln>
            </p:spPr>
          </p:sp>
          <p:sp>
            <p:nvSpPr>
              <p:cNvPr id="247828" name="Line 21"/>
              <p:cNvSpPr/>
              <p:nvPr/>
            </p:nvSpPr>
            <p:spPr>
              <a:xfrm>
                <a:off x="1942" y="3427"/>
                <a:ext cx="908" cy="0"/>
              </a:xfrm>
              <a:prstGeom prst="line">
                <a:avLst/>
              </a:prstGeom>
              <a:ln w="28575" cap="flat" cmpd="sng">
                <a:solidFill>
                  <a:schemeClr val="tx1"/>
                </a:solidFill>
                <a:prstDash val="solid"/>
                <a:round/>
                <a:headEnd type="none" w="sm" len="med"/>
                <a:tailEnd type="none" w="med" len="med"/>
              </a:ln>
            </p:spPr>
          </p:sp>
        </p:grpSp>
        <p:grpSp>
          <p:nvGrpSpPr>
            <p:cNvPr id="247829" name="Group 22"/>
            <p:cNvGrpSpPr/>
            <p:nvPr/>
          </p:nvGrpSpPr>
          <p:grpSpPr>
            <a:xfrm>
              <a:off x="3224" y="2402"/>
              <a:ext cx="96" cy="636"/>
              <a:chOff x="2949" y="5562"/>
              <a:chExt cx="111" cy="723"/>
            </a:xfrm>
          </p:grpSpPr>
          <p:sp>
            <p:nvSpPr>
              <p:cNvPr id="247830" name="Line 23"/>
              <p:cNvSpPr/>
              <p:nvPr/>
            </p:nvSpPr>
            <p:spPr>
              <a:xfrm flipH="1">
                <a:off x="2952" y="5598"/>
                <a:ext cx="108" cy="108"/>
              </a:xfrm>
              <a:prstGeom prst="line">
                <a:avLst/>
              </a:prstGeom>
              <a:ln w="19050" cap="flat" cmpd="sng">
                <a:solidFill>
                  <a:schemeClr val="tx1"/>
                </a:solidFill>
                <a:prstDash val="solid"/>
                <a:round/>
                <a:headEnd type="none" w="med" len="med"/>
                <a:tailEnd type="none" w="med" len="med"/>
              </a:ln>
            </p:spPr>
          </p:sp>
          <p:sp>
            <p:nvSpPr>
              <p:cNvPr id="247831" name="Line 24"/>
              <p:cNvSpPr/>
              <p:nvPr/>
            </p:nvSpPr>
            <p:spPr>
              <a:xfrm flipH="1">
                <a:off x="2949" y="5562"/>
                <a:ext cx="108" cy="108"/>
              </a:xfrm>
              <a:prstGeom prst="line">
                <a:avLst/>
              </a:prstGeom>
              <a:ln w="19050" cap="flat" cmpd="sng">
                <a:solidFill>
                  <a:schemeClr val="tx1"/>
                </a:solidFill>
                <a:prstDash val="solid"/>
                <a:round/>
                <a:headEnd type="none" w="med" len="med"/>
                <a:tailEnd type="none" w="med" len="med"/>
              </a:ln>
            </p:spPr>
          </p:sp>
          <p:sp>
            <p:nvSpPr>
              <p:cNvPr id="247832" name="Line 25"/>
              <p:cNvSpPr/>
              <p:nvPr/>
            </p:nvSpPr>
            <p:spPr>
              <a:xfrm>
                <a:off x="2949" y="5574"/>
                <a:ext cx="0" cy="666"/>
              </a:xfrm>
              <a:prstGeom prst="line">
                <a:avLst/>
              </a:prstGeom>
              <a:ln w="19050" cap="flat" cmpd="sng">
                <a:solidFill>
                  <a:schemeClr val="tx1"/>
                </a:solidFill>
                <a:prstDash val="solid"/>
                <a:round/>
                <a:headEnd type="none" w="med" len="med"/>
                <a:tailEnd type="none" w="med" len="med"/>
              </a:ln>
            </p:spPr>
          </p:sp>
          <p:sp>
            <p:nvSpPr>
              <p:cNvPr id="247833" name="Line 26"/>
              <p:cNvSpPr/>
              <p:nvPr/>
            </p:nvSpPr>
            <p:spPr>
              <a:xfrm>
                <a:off x="3054" y="5574"/>
                <a:ext cx="0" cy="666"/>
              </a:xfrm>
              <a:prstGeom prst="line">
                <a:avLst/>
              </a:prstGeom>
              <a:ln w="19050" cap="flat" cmpd="sng">
                <a:solidFill>
                  <a:schemeClr val="tx1"/>
                </a:solidFill>
                <a:prstDash val="solid"/>
                <a:round/>
                <a:headEnd type="none" w="med" len="med"/>
                <a:tailEnd type="none" w="med" len="med"/>
              </a:ln>
            </p:spPr>
          </p:sp>
          <p:sp>
            <p:nvSpPr>
              <p:cNvPr id="247834" name="Line 27"/>
              <p:cNvSpPr/>
              <p:nvPr/>
            </p:nvSpPr>
            <p:spPr>
              <a:xfrm>
                <a:off x="2949" y="6234"/>
                <a:ext cx="51" cy="51"/>
              </a:xfrm>
              <a:prstGeom prst="line">
                <a:avLst/>
              </a:prstGeom>
              <a:ln w="19050" cap="flat" cmpd="sng">
                <a:solidFill>
                  <a:schemeClr val="tx1"/>
                </a:solidFill>
                <a:prstDash val="solid"/>
                <a:round/>
                <a:headEnd type="none" w="med" len="med"/>
                <a:tailEnd type="none" w="med" len="med"/>
              </a:ln>
            </p:spPr>
          </p:sp>
          <p:sp>
            <p:nvSpPr>
              <p:cNvPr id="247835" name="Line 28"/>
              <p:cNvSpPr/>
              <p:nvPr/>
            </p:nvSpPr>
            <p:spPr>
              <a:xfrm flipH="1">
                <a:off x="3006" y="6234"/>
                <a:ext cx="51" cy="51"/>
              </a:xfrm>
              <a:prstGeom prst="line">
                <a:avLst/>
              </a:prstGeom>
              <a:ln w="19050" cap="flat" cmpd="sng">
                <a:solidFill>
                  <a:schemeClr val="tx1"/>
                </a:solidFill>
                <a:prstDash val="solid"/>
                <a:round/>
                <a:headEnd type="none" w="med" len="med"/>
                <a:tailEnd type="none" w="med" len="med"/>
              </a:ln>
            </p:spPr>
          </p:sp>
          <p:grpSp>
            <p:nvGrpSpPr>
              <p:cNvPr id="247836" name="Group 29"/>
              <p:cNvGrpSpPr/>
              <p:nvPr/>
            </p:nvGrpSpPr>
            <p:grpSpPr>
              <a:xfrm>
                <a:off x="2949" y="5841"/>
                <a:ext cx="111" cy="144"/>
                <a:chOff x="4947" y="5757"/>
                <a:chExt cx="111" cy="144"/>
              </a:xfrm>
            </p:grpSpPr>
            <p:sp>
              <p:nvSpPr>
                <p:cNvPr id="247837" name="Line 30"/>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38" name="Line 31"/>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39" name="Group 32"/>
              <p:cNvGrpSpPr/>
              <p:nvPr/>
            </p:nvGrpSpPr>
            <p:grpSpPr>
              <a:xfrm>
                <a:off x="2949" y="5694"/>
                <a:ext cx="111" cy="144"/>
                <a:chOff x="4947" y="5757"/>
                <a:chExt cx="111" cy="144"/>
              </a:xfrm>
            </p:grpSpPr>
            <p:sp>
              <p:nvSpPr>
                <p:cNvPr id="247840" name="Line 33"/>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41" name="Line 34"/>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42" name="Group 35"/>
              <p:cNvGrpSpPr/>
              <p:nvPr/>
            </p:nvGrpSpPr>
            <p:grpSpPr>
              <a:xfrm>
                <a:off x="2949" y="6108"/>
                <a:ext cx="111" cy="144"/>
                <a:chOff x="4947" y="5757"/>
                <a:chExt cx="111" cy="144"/>
              </a:xfrm>
            </p:grpSpPr>
            <p:sp>
              <p:nvSpPr>
                <p:cNvPr id="247843" name="Line 36"/>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44" name="Line 37"/>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45" name="Group 38"/>
              <p:cNvGrpSpPr/>
              <p:nvPr/>
            </p:nvGrpSpPr>
            <p:grpSpPr>
              <a:xfrm>
                <a:off x="2949" y="5979"/>
                <a:ext cx="111" cy="144"/>
                <a:chOff x="4947" y="5757"/>
                <a:chExt cx="111" cy="144"/>
              </a:xfrm>
            </p:grpSpPr>
            <p:sp>
              <p:nvSpPr>
                <p:cNvPr id="247846" name="Line 39"/>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47" name="Line 40"/>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sp>
          <p:nvSpPr>
            <p:cNvPr id="247848" name="Rectangle 41"/>
            <p:cNvSpPr/>
            <p:nvPr/>
          </p:nvSpPr>
          <p:spPr>
            <a:xfrm>
              <a:off x="3010" y="2704"/>
              <a:ext cx="530" cy="218"/>
            </a:xfrm>
            <a:prstGeom prst="rect">
              <a:avLst/>
            </a:prstGeom>
            <a:solidFill>
              <a:srgbClr val="DDDDDD"/>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49" name="Rectangle 42"/>
            <p:cNvSpPr/>
            <p:nvPr/>
          </p:nvSpPr>
          <p:spPr>
            <a:xfrm>
              <a:off x="3086" y="2794"/>
              <a:ext cx="379" cy="218"/>
            </a:xfrm>
            <a:prstGeom prst="rect">
              <a:avLst/>
            </a:prstGeom>
            <a:solidFill>
              <a:srgbClr val="CCFF99"/>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50" name="Rectangle 43"/>
            <p:cNvSpPr/>
            <p:nvPr/>
          </p:nvSpPr>
          <p:spPr>
            <a:xfrm>
              <a:off x="2329" y="3008"/>
              <a:ext cx="1893" cy="218"/>
            </a:xfrm>
            <a:prstGeom prst="rect">
              <a:avLst/>
            </a:prstGeom>
            <a:solidFill>
              <a:srgbClr val="EAEAEA"/>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51" name="Text Box 44"/>
            <p:cNvSpPr txBox="1"/>
            <p:nvPr/>
          </p:nvSpPr>
          <p:spPr>
            <a:xfrm>
              <a:off x="3010" y="3424"/>
              <a:ext cx="757" cy="435"/>
            </a:xfrm>
            <a:prstGeom prst="rect">
              <a:avLst/>
            </a:prstGeom>
            <a:solidFill>
              <a:srgbClr val="FF99FF"/>
            </a:solidFill>
            <a:ln w="28575" cap="flat" cmpd="sng">
              <a:solidFill>
                <a:schemeClr val="tx1"/>
              </a:solidFill>
              <a:prstDash val="solid"/>
              <a:miter/>
              <a:headEnd type="none" w="med" len="med"/>
              <a:tailEnd type="none" w="med" len="med"/>
            </a:ln>
          </p:spPr>
          <p:txBody>
            <a:bodyPr anchor="t" anchorCtr="0"/>
            <a:p>
              <a:pPr algn="ctr" eaLnBrk="0" hangingPunct="0">
                <a:lnSpc>
                  <a:spcPct val="96000"/>
                </a:lnSpc>
              </a:pPr>
              <a:r>
                <a:rPr lang="zh-CN" altLang="en-US" sz="2000" dirty="0">
                  <a:latin typeface="Times New Roman" panose="02020603050405020304" pitchFamily="18" charset="0"/>
                  <a:ea typeface="黑体" panose="02010609060101010101" pitchFamily="49" charset="-122"/>
                </a:rPr>
                <a:t>机床</a:t>
              </a:r>
              <a:endParaRPr lang="zh-CN" altLang="en-US" sz="2000" dirty="0">
                <a:latin typeface="Times New Roman" panose="02020603050405020304" pitchFamily="18" charset="0"/>
                <a:ea typeface="黑体" panose="02010609060101010101" pitchFamily="49" charset="-122"/>
              </a:endParaRPr>
            </a:p>
            <a:p>
              <a:pPr algn="ctr" eaLnBrk="0" hangingPunct="0">
                <a:lnSpc>
                  <a:spcPct val="96000"/>
                </a:lnSpc>
              </a:pPr>
              <a:r>
                <a:rPr lang="zh-CN" altLang="en-US" sz="2000" dirty="0">
                  <a:latin typeface="Times New Roman" panose="02020603050405020304" pitchFamily="18" charset="0"/>
                  <a:ea typeface="黑体" panose="02010609060101010101" pitchFamily="49" charset="-122"/>
                </a:rPr>
                <a:t>控制器</a:t>
              </a:r>
              <a:endParaRPr lang="zh-CN" altLang="en-US" sz="2000" dirty="0">
                <a:latin typeface="Times New Roman" panose="02020603050405020304" pitchFamily="18" charset="0"/>
                <a:ea typeface="黑体" panose="02010609060101010101" pitchFamily="49" charset="-122"/>
              </a:endParaRPr>
            </a:p>
          </p:txBody>
        </p:sp>
        <p:sp>
          <p:nvSpPr>
            <p:cNvPr id="247852" name="Text Box 45"/>
            <p:cNvSpPr txBox="1"/>
            <p:nvPr/>
          </p:nvSpPr>
          <p:spPr>
            <a:xfrm>
              <a:off x="2512" y="2553"/>
              <a:ext cx="336" cy="218"/>
            </a:xfrm>
            <a:prstGeom prst="rect">
              <a:avLst/>
            </a:prstGeom>
            <a:noFill/>
            <a:ln w="9525">
              <a:noFill/>
            </a:ln>
          </p:spPr>
          <p:txBody>
            <a:bodyPr lIns="0" tIns="0" rIns="0" bIns="0" anchor="t" anchorCtr="0"/>
            <a:p>
              <a:pPr algn="just" eaLnBrk="0" hangingPunct="0"/>
              <a:r>
                <a:rPr lang="zh-CN" altLang="en-US" sz="2000" dirty="0">
                  <a:latin typeface="Times New Roman" panose="02020603050405020304" pitchFamily="18" charset="0"/>
                  <a:ea typeface="黑体" panose="02010609060101010101" pitchFamily="49" charset="-122"/>
                </a:rPr>
                <a:t>工件</a:t>
              </a:r>
              <a:endParaRPr lang="zh-CN" altLang="en-US" sz="2000" dirty="0">
                <a:latin typeface="Times New Roman" panose="02020603050405020304" pitchFamily="18" charset="0"/>
                <a:ea typeface="黑体" panose="02010609060101010101" pitchFamily="49" charset="-122"/>
              </a:endParaRPr>
            </a:p>
          </p:txBody>
        </p:sp>
        <p:sp>
          <p:nvSpPr>
            <p:cNvPr id="247853" name="Text Box 46"/>
            <p:cNvSpPr txBox="1"/>
            <p:nvPr/>
          </p:nvSpPr>
          <p:spPr>
            <a:xfrm>
              <a:off x="3568" y="2331"/>
              <a:ext cx="336" cy="218"/>
            </a:xfrm>
            <a:prstGeom prst="rect">
              <a:avLst/>
            </a:prstGeom>
            <a:noFill/>
            <a:ln w="9525">
              <a:noFill/>
            </a:ln>
          </p:spPr>
          <p:txBody>
            <a:bodyPr lIns="0" tIns="0" rIns="0" bIns="0" anchor="t" anchorCtr="0"/>
            <a:p>
              <a:pPr algn="just" eaLnBrk="0" hangingPunct="0"/>
              <a:r>
                <a:rPr lang="zh-CN" altLang="en-US" sz="2000" dirty="0">
                  <a:latin typeface="Times New Roman" panose="02020603050405020304" pitchFamily="18" charset="0"/>
                  <a:ea typeface="黑体" panose="02010609060101010101" pitchFamily="49" charset="-122"/>
                </a:rPr>
                <a:t>折断</a:t>
              </a:r>
              <a:endParaRPr lang="zh-CN" altLang="en-US" sz="2000" dirty="0">
                <a:latin typeface="Times New Roman" panose="02020603050405020304" pitchFamily="18" charset="0"/>
                <a:ea typeface="黑体" panose="02010609060101010101" pitchFamily="49" charset="-122"/>
              </a:endParaRPr>
            </a:p>
          </p:txBody>
        </p:sp>
        <p:sp>
          <p:nvSpPr>
            <p:cNvPr id="247854" name="Text Box 47"/>
            <p:cNvSpPr txBox="1"/>
            <p:nvPr/>
          </p:nvSpPr>
          <p:spPr>
            <a:xfrm>
              <a:off x="2481" y="3008"/>
              <a:ext cx="529" cy="218"/>
            </a:xfrm>
            <a:prstGeom prst="rect">
              <a:avLst/>
            </a:prstGeom>
            <a:noFill/>
            <a:ln w="9525">
              <a:noFill/>
            </a:ln>
          </p:spPr>
          <p:txBody>
            <a:bodyPr lIns="0" tIns="0" rIns="0" bIns="0" anchor="t" anchorCtr="0"/>
            <a:p>
              <a:pPr algn="just" eaLnBrk="0" hangingPunct="0"/>
              <a:r>
                <a:rPr lang="zh-CN" altLang="en-US" sz="2000" dirty="0">
                  <a:latin typeface="Times New Roman" panose="02020603050405020304" pitchFamily="18" charset="0"/>
                  <a:ea typeface="黑体" panose="02010609060101010101" pitchFamily="49" charset="-122"/>
                </a:rPr>
                <a:t>工作台</a:t>
              </a:r>
              <a:endParaRPr lang="zh-CN" altLang="en-US" sz="2000" dirty="0">
                <a:latin typeface="Times New Roman" panose="02020603050405020304" pitchFamily="18" charset="0"/>
                <a:ea typeface="黑体" panose="02010609060101010101" pitchFamily="49" charset="-122"/>
              </a:endParaRPr>
            </a:p>
          </p:txBody>
        </p:sp>
        <p:sp>
          <p:nvSpPr>
            <p:cNvPr id="247855" name="Text Box 48"/>
            <p:cNvSpPr txBox="1"/>
            <p:nvPr/>
          </p:nvSpPr>
          <p:spPr>
            <a:xfrm>
              <a:off x="4297" y="2710"/>
              <a:ext cx="567" cy="371"/>
            </a:xfrm>
            <a:prstGeom prst="rect">
              <a:avLst/>
            </a:prstGeom>
            <a:noFill/>
            <a:ln w="9525">
              <a:noFill/>
            </a:ln>
          </p:spPr>
          <p:txBody>
            <a:bodyPr lIns="0" tIns="0" rIns="0" bIns="0" anchor="t" anchorCtr="0"/>
            <a:p>
              <a:pPr eaLnBrk="0" hangingPunct="0">
                <a:lnSpc>
                  <a:spcPct val="90000"/>
                </a:lnSpc>
              </a:pPr>
              <a:r>
                <a:rPr lang="zh-CN" altLang="en-US" sz="2000" dirty="0">
                  <a:latin typeface="Times New Roman" panose="02020603050405020304" pitchFamily="18" charset="0"/>
                  <a:ea typeface="黑体" panose="02010609060101010101" pitchFamily="49" charset="-122"/>
                </a:rPr>
                <a:t>声发射传感器</a:t>
              </a:r>
              <a:endParaRPr lang="zh-CN" altLang="en-US" sz="2000" dirty="0">
                <a:latin typeface="Times New Roman" panose="02020603050405020304" pitchFamily="18" charset="0"/>
                <a:ea typeface="黑体" panose="02010609060101010101" pitchFamily="49" charset="-122"/>
              </a:endParaRPr>
            </a:p>
          </p:txBody>
        </p:sp>
        <p:grpSp>
          <p:nvGrpSpPr>
            <p:cNvPr id="247856" name="Group 49"/>
            <p:cNvGrpSpPr/>
            <p:nvPr/>
          </p:nvGrpSpPr>
          <p:grpSpPr>
            <a:xfrm>
              <a:off x="4070" y="2553"/>
              <a:ext cx="757" cy="359"/>
              <a:chOff x="3910" y="2339"/>
              <a:chExt cx="757" cy="359"/>
            </a:xfrm>
          </p:grpSpPr>
          <p:sp>
            <p:nvSpPr>
              <p:cNvPr id="247857" name="Line 50"/>
              <p:cNvSpPr/>
              <p:nvPr/>
            </p:nvSpPr>
            <p:spPr>
              <a:xfrm flipV="1">
                <a:off x="3910" y="2339"/>
                <a:ext cx="0" cy="359"/>
              </a:xfrm>
              <a:prstGeom prst="line">
                <a:avLst/>
              </a:prstGeom>
              <a:ln w="28575" cap="flat" cmpd="sng">
                <a:solidFill>
                  <a:schemeClr val="tx1"/>
                </a:solidFill>
                <a:prstDash val="solid"/>
                <a:round/>
                <a:headEnd type="none" w="med" len="med"/>
                <a:tailEnd type="none" w="med" len="med"/>
              </a:ln>
            </p:spPr>
          </p:sp>
          <p:sp>
            <p:nvSpPr>
              <p:cNvPr id="247858" name="Line 51"/>
              <p:cNvSpPr/>
              <p:nvPr/>
            </p:nvSpPr>
            <p:spPr>
              <a:xfrm>
                <a:off x="3910" y="2339"/>
                <a:ext cx="757" cy="0"/>
              </a:xfrm>
              <a:prstGeom prst="line">
                <a:avLst/>
              </a:prstGeom>
              <a:ln w="28575" cap="flat" cmpd="sng">
                <a:solidFill>
                  <a:schemeClr val="tx1"/>
                </a:solidFill>
                <a:prstDash val="solid"/>
                <a:round/>
                <a:headEnd type="none" w="med" len="med"/>
                <a:tailEnd type="none" w="med" len="med"/>
              </a:ln>
            </p:spPr>
          </p:sp>
        </p:grpSp>
        <p:grpSp>
          <p:nvGrpSpPr>
            <p:cNvPr id="247859" name="Group 52"/>
            <p:cNvGrpSpPr/>
            <p:nvPr/>
          </p:nvGrpSpPr>
          <p:grpSpPr>
            <a:xfrm>
              <a:off x="3767" y="2771"/>
              <a:ext cx="1439" cy="870"/>
              <a:chOff x="3607" y="2557"/>
              <a:chExt cx="1439" cy="870"/>
            </a:xfrm>
          </p:grpSpPr>
          <p:sp>
            <p:nvSpPr>
              <p:cNvPr id="247860" name="Line 53"/>
              <p:cNvSpPr/>
              <p:nvPr/>
            </p:nvSpPr>
            <p:spPr>
              <a:xfrm>
                <a:off x="3607" y="3427"/>
                <a:ext cx="1439" cy="0"/>
              </a:xfrm>
              <a:prstGeom prst="line">
                <a:avLst/>
              </a:prstGeom>
              <a:ln w="28575" cap="flat" cmpd="sng">
                <a:solidFill>
                  <a:schemeClr val="tx1"/>
                </a:solidFill>
                <a:prstDash val="solid"/>
                <a:round/>
                <a:headEnd type="triangle" w="sm" len="med"/>
                <a:tailEnd type="none" w="med" len="med"/>
              </a:ln>
            </p:spPr>
          </p:sp>
          <p:sp>
            <p:nvSpPr>
              <p:cNvPr id="247861" name="Line 54"/>
              <p:cNvSpPr/>
              <p:nvPr/>
            </p:nvSpPr>
            <p:spPr>
              <a:xfrm flipV="1">
                <a:off x="5046" y="2557"/>
                <a:ext cx="0" cy="870"/>
              </a:xfrm>
              <a:prstGeom prst="line">
                <a:avLst/>
              </a:prstGeom>
              <a:ln w="28575" cap="flat" cmpd="sng">
                <a:solidFill>
                  <a:schemeClr val="tx1"/>
                </a:solidFill>
                <a:prstDash val="solid"/>
                <a:round/>
                <a:headEnd type="none" w="med" len="med"/>
                <a:tailEnd type="none" w="med" len="med"/>
              </a:ln>
            </p:spPr>
          </p:sp>
        </p:grpSp>
        <p:sp>
          <p:nvSpPr>
            <p:cNvPr id="247862" name="Line 55"/>
            <p:cNvSpPr/>
            <p:nvPr/>
          </p:nvSpPr>
          <p:spPr>
            <a:xfrm>
              <a:off x="2848" y="2710"/>
              <a:ext cx="199" cy="144"/>
            </a:xfrm>
            <a:prstGeom prst="line">
              <a:avLst/>
            </a:prstGeom>
            <a:ln w="19050" cap="flat" cmpd="sng">
              <a:solidFill>
                <a:schemeClr val="tx1"/>
              </a:solidFill>
              <a:prstDash val="solid"/>
              <a:round/>
              <a:headEnd type="none" w="med" len="med"/>
              <a:tailEnd type="none" w="med" len="med"/>
            </a:ln>
          </p:spPr>
        </p:sp>
        <p:sp>
          <p:nvSpPr>
            <p:cNvPr id="247863" name="Line 56"/>
            <p:cNvSpPr/>
            <p:nvPr/>
          </p:nvSpPr>
          <p:spPr>
            <a:xfrm flipV="1">
              <a:off x="3280" y="2525"/>
              <a:ext cx="283" cy="137"/>
            </a:xfrm>
            <a:prstGeom prst="line">
              <a:avLst/>
            </a:prstGeom>
            <a:ln w="19050" cap="flat" cmpd="sng">
              <a:solidFill>
                <a:schemeClr val="tx1"/>
              </a:solidFill>
              <a:prstDash val="solid"/>
              <a:round/>
              <a:headEnd type="none" w="med" len="med"/>
              <a:tailEnd type="none" w="med" len="med"/>
            </a:ln>
          </p:spPr>
        </p:sp>
        <p:sp>
          <p:nvSpPr>
            <p:cNvPr id="247864" name="Line 57"/>
            <p:cNvSpPr/>
            <p:nvPr/>
          </p:nvSpPr>
          <p:spPr>
            <a:xfrm flipV="1">
              <a:off x="4079" y="2890"/>
              <a:ext cx="188" cy="71"/>
            </a:xfrm>
            <a:prstGeom prst="line">
              <a:avLst/>
            </a:prstGeom>
            <a:ln w="19050" cap="flat" cmpd="sng">
              <a:solidFill>
                <a:schemeClr val="tx1"/>
              </a:solidFill>
              <a:prstDash val="solid"/>
              <a:round/>
              <a:headEnd type="none" w="med" len="med"/>
              <a:tailEnd type="none" w="med" len="med"/>
            </a:ln>
          </p:spPr>
        </p:sp>
        <p:sp>
          <p:nvSpPr>
            <p:cNvPr id="247865" name="Text Box 58"/>
            <p:cNvSpPr txBox="1"/>
            <p:nvPr/>
          </p:nvSpPr>
          <p:spPr>
            <a:xfrm>
              <a:off x="4146" y="3424"/>
              <a:ext cx="670" cy="217"/>
            </a:xfrm>
            <a:prstGeom prst="rect">
              <a:avLst/>
            </a:prstGeom>
            <a:noFill/>
            <a:ln w="9525">
              <a:noFill/>
            </a:ln>
          </p:spPr>
          <p:txBody>
            <a:bodyPr lIns="0" tIns="0" rIns="0" bIns="0" anchor="t" anchorCtr="0"/>
            <a:p>
              <a:pPr algn="just" eaLnBrk="0" hangingPunct="0"/>
              <a:r>
                <a:rPr lang="zh-CN" altLang="en-US" sz="2000" dirty="0">
                  <a:latin typeface="Times New Roman" panose="02020603050405020304" pitchFamily="18" charset="0"/>
                  <a:ea typeface="黑体" panose="02010609060101010101" pitchFamily="49" charset="-122"/>
                </a:rPr>
                <a:t>破损信号</a:t>
              </a:r>
              <a:endParaRPr lang="zh-CN" altLang="en-US" sz="2000" dirty="0">
                <a:latin typeface="Times New Roman" panose="02020603050405020304" pitchFamily="18" charset="0"/>
                <a:ea typeface="黑体" panose="02010609060101010101" pitchFamily="49" charset="-122"/>
              </a:endParaRPr>
            </a:p>
          </p:txBody>
        </p:sp>
        <p:sp>
          <p:nvSpPr>
            <p:cNvPr id="247866" name="Freeform 59"/>
            <p:cNvSpPr/>
            <p:nvPr/>
          </p:nvSpPr>
          <p:spPr>
            <a:xfrm>
              <a:off x="3250" y="2720"/>
              <a:ext cx="807" cy="454"/>
            </a:xfrm>
            <a:custGeom>
              <a:avLst/>
              <a:gdLst/>
              <a:ahLst/>
              <a:cxnLst>
                <a:cxn ang="0">
                  <a:pos x="1" y="0"/>
                </a:cxn>
                <a:cxn ang="0">
                  <a:pos x="1" y="1"/>
                </a:cxn>
                <a:cxn ang="0">
                  <a:pos x="2" y="3"/>
                </a:cxn>
                <a:cxn ang="0">
                  <a:pos x="14" y="3"/>
                </a:cxn>
                <a:cxn ang="0">
                  <a:pos x="16" y="2"/>
                </a:cxn>
              </a:cxnLst>
              <a:pathLst>
                <a:path w="1120" h="695">
                  <a:moveTo>
                    <a:pt x="28" y="0"/>
                  </a:moveTo>
                  <a:cubicBezTo>
                    <a:pt x="28" y="49"/>
                    <a:pt x="7" y="188"/>
                    <a:pt x="28" y="294"/>
                  </a:cubicBezTo>
                  <a:cubicBezTo>
                    <a:pt x="49" y="400"/>
                    <a:pt x="0" y="577"/>
                    <a:pt x="154" y="636"/>
                  </a:cubicBezTo>
                  <a:cubicBezTo>
                    <a:pt x="308" y="695"/>
                    <a:pt x="791" y="680"/>
                    <a:pt x="952" y="648"/>
                  </a:cubicBezTo>
                  <a:cubicBezTo>
                    <a:pt x="1113" y="616"/>
                    <a:pt x="1085" y="486"/>
                    <a:pt x="1120" y="444"/>
                  </a:cubicBezTo>
                </a:path>
              </a:pathLst>
            </a:custGeom>
            <a:noFill/>
            <a:ln w="38100" cap="flat" cmpd="sng">
              <a:solidFill>
                <a:srgbClr val="990000"/>
              </a:solidFill>
              <a:prstDash val="sysDot"/>
              <a:round/>
              <a:headEnd type="none" w="med" len="med"/>
              <a:tailEnd type="none" w="med" len="med"/>
            </a:ln>
          </p:spPr>
          <p:txBody>
            <a:bodyPr/>
            <a:p>
              <a:endParaRPr lang="zh-CN" altLang="en-US"/>
            </a:p>
          </p:txBody>
        </p:sp>
        <p:grpSp>
          <p:nvGrpSpPr>
            <p:cNvPr id="247867" name="Group 60"/>
            <p:cNvGrpSpPr/>
            <p:nvPr/>
          </p:nvGrpSpPr>
          <p:grpSpPr>
            <a:xfrm>
              <a:off x="3086" y="2117"/>
              <a:ext cx="379" cy="305"/>
              <a:chOff x="2926" y="1903"/>
              <a:chExt cx="379" cy="305"/>
            </a:xfrm>
          </p:grpSpPr>
          <p:sp>
            <p:nvSpPr>
              <p:cNvPr id="247868" name="Rectangle 61"/>
              <p:cNvSpPr/>
              <p:nvPr/>
            </p:nvSpPr>
            <p:spPr>
              <a:xfrm>
                <a:off x="3020" y="2160"/>
                <a:ext cx="184" cy="48"/>
              </a:xfrm>
              <a:prstGeom prst="rect">
                <a:avLst/>
              </a:prstGeom>
              <a:solidFill>
                <a:srgbClr val="B1FFB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7869" name="Rectangle 62"/>
              <p:cNvSpPr/>
              <p:nvPr/>
            </p:nvSpPr>
            <p:spPr>
              <a:xfrm>
                <a:off x="2926" y="1903"/>
                <a:ext cx="379" cy="111"/>
              </a:xfrm>
              <a:prstGeom prst="rect">
                <a:avLst/>
              </a:prstGeom>
              <a:solidFill>
                <a:srgbClr val="B1FFB1"/>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870" name="Rectangle 63"/>
              <p:cNvSpPr/>
              <p:nvPr/>
            </p:nvSpPr>
            <p:spPr>
              <a:xfrm>
                <a:off x="3000" y="2015"/>
                <a:ext cx="227" cy="145"/>
              </a:xfrm>
              <a:prstGeom prst="rect">
                <a:avLst/>
              </a:prstGeom>
              <a:solidFill>
                <a:srgbClr val="B1FFB1"/>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grpSp>
            <p:nvGrpSpPr>
              <p:cNvPr id="247871" name="Group 64"/>
              <p:cNvGrpSpPr/>
              <p:nvPr/>
            </p:nvGrpSpPr>
            <p:grpSpPr>
              <a:xfrm>
                <a:off x="2996" y="2160"/>
                <a:ext cx="231" cy="48"/>
                <a:chOff x="2996" y="2160"/>
                <a:chExt cx="240" cy="48"/>
              </a:xfrm>
            </p:grpSpPr>
            <p:sp>
              <p:nvSpPr>
                <p:cNvPr id="247872" name="Line 65"/>
                <p:cNvSpPr/>
                <p:nvPr/>
              </p:nvSpPr>
              <p:spPr>
                <a:xfrm>
                  <a:off x="2996" y="2160"/>
                  <a:ext cx="48" cy="48"/>
                </a:xfrm>
                <a:prstGeom prst="line">
                  <a:avLst/>
                </a:prstGeom>
                <a:ln w="28575" cap="flat" cmpd="sng">
                  <a:solidFill>
                    <a:schemeClr val="tx1"/>
                  </a:solidFill>
                  <a:prstDash val="solid"/>
                  <a:round/>
                  <a:headEnd type="none" w="med" len="med"/>
                  <a:tailEnd type="none" w="med" len="med"/>
                </a:ln>
              </p:spPr>
            </p:sp>
            <p:sp>
              <p:nvSpPr>
                <p:cNvPr id="247873" name="Line 66"/>
                <p:cNvSpPr/>
                <p:nvPr/>
              </p:nvSpPr>
              <p:spPr>
                <a:xfrm flipH="1">
                  <a:off x="3188" y="2160"/>
                  <a:ext cx="48" cy="48"/>
                </a:xfrm>
                <a:prstGeom prst="line">
                  <a:avLst/>
                </a:prstGeom>
                <a:ln w="28575" cap="flat" cmpd="sng">
                  <a:solidFill>
                    <a:schemeClr val="tx1"/>
                  </a:solidFill>
                  <a:prstDash val="solid"/>
                  <a:round/>
                  <a:headEnd type="none" w="med" len="med"/>
                  <a:tailEnd type="none" w="med" len="med"/>
                </a:ln>
              </p:spPr>
            </p:sp>
            <p:sp>
              <p:nvSpPr>
                <p:cNvPr id="247874" name="Line 67"/>
                <p:cNvSpPr/>
                <p:nvPr/>
              </p:nvSpPr>
              <p:spPr>
                <a:xfrm>
                  <a:off x="3044" y="2208"/>
                  <a:ext cx="144" cy="0"/>
                </a:xfrm>
                <a:prstGeom prst="line">
                  <a:avLst/>
                </a:prstGeom>
                <a:ln w="28575" cap="flat" cmpd="sng">
                  <a:solidFill>
                    <a:schemeClr val="tx1"/>
                  </a:solidFill>
                  <a:prstDash val="solid"/>
                  <a:round/>
                  <a:headEnd type="none" w="med" len="med"/>
                  <a:tailEnd type="none" w="med" len="med"/>
                </a:ln>
              </p:spPr>
            </p:sp>
          </p:grpSp>
        </p:grpSp>
        <p:sp>
          <p:nvSpPr>
            <p:cNvPr id="247875" name="Line 68"/>
            <p:cNvSpPr/>
            <p:nvPr/>
          </p:nvSpPr>
          <p:spPr>
            <a:xfrm>
              <a:off x="3266" y="1682"/>
              <a:ext cx="6" cy="1412"/>
            </a:xfrm>
            <a:prstGeom prst="line">
              <a:avLst/>
            </a:prstGeom>
            <a:ln w="12700" cap="flat" cmpd="sng">
              <a:solidFill>
                <a:schemeClr val="tx1"/>
              </a:solidFill>
              <a:prstDash val="lgDashDot"/>
              <a:round/>
              <a:headEnd type="none" w="med" len="med"/>
              <a:tailEnd type="none" w="med" len="med"/>
            </a:ln>
          </p:spPr>
        </p:sp>
        <p:grpSp>
          <p:nvGrpSpPr>
            <p:cNvPr id="247876" name="Group 69"/>
            <p:cNvGrpSpPr/>
            <p:nvPr/>
          </p:nvGrpSpPr>
          <p:grpSpPr>
            <a:xfrm>
              <a:off x="1920" y="1682"/>
              <a:ext cx="379" cy="1364"/>
              <a:chOff x="1728" y="1468"/>
              <a:chExt cx="379" cy="1364"/>
            </a:xfrm>
          </p:grpSpPr>
          <p:sp>
            <p:nvSpPr>
              <p:cNvPr id="247877" name="AutoShape 70"/>
              <p:cNvSpPr/>
              <p:nvPr/>
            </p:nvSpPr>
            <p:spPr>
              <a:xfrm rot="10800000">
                <a:off x="1789" y="1492"/>
                <a:ext cx="262" cy="422"/>
              </a:xfrm>
              <a:custGeom>
                <a:avLst/>
                <a:gdLst/>
                <a:ahLst/>
                <a:cxnLst>
                  <a:cxn ang="0">
                    <a:pos x="0" y="0"/>
                  </a:cxn>
                  <a:cxn ang="0">
                    <a:pos x="0" y="0"/>
                  </a:cxn>
                  <a:cxn ang="0">
                    <a:pos x="0" y="0"/>
                  </a:cxn>
                  <a:cxn ang="0">
                    <a:pos x="0" y="0"/>
                  </a:cxn>
                </a:cxnLst>
                <a:pathLst>
                  <a:path w="21600" h="21600">
                    <a:moveTo>
                      <a:pt x="0" y="0"/>
                    </a:moveTo>
                    <a:lnTo>
                      <a:pt x="5400" y="21600"/>
                    </a:lnTo>
                    <a:lnTo>
                      <a:pt x="16200" y="21600"/>
                    </a:lnTo>
                    <a:lnTo>
                      <a:pt x="21600" y="0"/>
                    </a:lnTo>
                    <a:lnTo>
                      <a:pt x="0" y="0"/>
                    </a:lnTo>
                    <a:close/>
                  </a:path>
                </a:pathLst>
              </a:custGeom>
              <a:solidFill>
                <a:srgbClr val="B1FFB1"/>
              </a:solidFill>
              <a:ln w="28575" cap="flat" cmpd="sng">
                <a:solidFill>
                  <a:schemeClr val="tx1"/>
                </a:solidFill>
                <a:prstDash val="solid"/>
                <a:miter/>
                <a:headEnd type="none" w="med" len="med"/>
                <a:tailEnd type="none" w="med" len="med"/>
              </a:ln>
            </p:spPr>
            <p:txBody>
              <a:bodyPr/>
              <a:p>
                <a:endParaRPr lang="zh-CN" altLang="en-US"/>
              </a:p>
            </p:txBody>
          </p:sp>
          <p:grpSp>
            <p:nvGrpSpPr>
              <p:cNvPr id="247878" name="Group 71"/>
              <p:cNvGrpSpPr/>
              <p:nvPr/>
            </p:nvGrpSpPr>
            <p:grpSpPr>
              <a:xfrm>
                <a:off x="1872" y="2088"/>
                <a:ext cx="96" cy="700"/>
                <a:chOff x="2949" y="5562"/>
                <a:chExt cx="111" cy="723"/>
              </a:xfrm>
            </p:grpSpPr>
            <p:sp>
              <p:nvSpPr>
                <p:cNvPr id="247879" name="Line 72"/>
                <p:cNvSpPr/>
                <p:nvPr/>
              </p:nvSpPr>
              <p:spPr>
                <a:xfrm flipH="1">
                  <a:off x="2952" y="5598"/>
                  <a:ext cx="108" cy="108"/>
                </a:xfrm>
                <a:prstGeom prst="line">
                  <a:avLst/>
                </a:prstGeom>
                <a:ln w="19050" cap="flat" cmpd="sng">
                  <a:solidFill>
                    <a:schemeClr val="tx1"/>
                  </a:solidFill>
                  <a:prstDash val="solid"/>
                  <a:round/>
                  <a:headEnd type="none" w="med" len="med"/>
                  <a:tailEnd type="none" w="med" len="med"/>
                </a:ln>
              </p:spPr>
            </p:sp>
            <p:sp>
              <p:nvSpPr>
                <p:cNvPr id="247880" name="Line 73"/>
                <p:cNvSpPr/>
                <p:nvPr/>
              </p:nvSpPr>
              <p:spPr>
                <a:xfrm flipH="1">
                  <a:off x="2949" y="5562"/>
                  <a:ext cx="108" cy="108"/>
                </a:xfrm>
                <a:prstGeom prst="line">
                  <a:avLst/>
                </a:prstGeom>
                <a:ln w="19050" cap="flat" cmpd="sng">
                  <a:solidFill>
                    <a:schemeClr val="tx1"/>
                  </a:solidFill>
                  <a:prstDash val="solid"/>
                  <a:round/>
                  <a:headEnd type="none" w="med" len="med"/>
                  <a:tailEnd type="none" w="med" len="med"/>
                </a:ln>
              </p:spPr>
            </p:sp>
            <p:sp>
              <p:nvSpPr>
                <p:cNvPr id="247881" name="Line 74"/>
                <p:cNvSpPr/>
                <p:nvPr/>
              </p:nvSpPr>
              <p:spPr>
                <a:xfrm>
                  <a:off x="2949" y="5574"/>
                  <a:ext cx="0" cy="666"/>
                </a:xfrm>
                <a:prstGeom prst="line">
                  <a:avLst/>
                </a:prstGeom>
                <a:ln w="19050" cap="flat" cmpd="sng">
                  <a:solidFill>
                    <a:schemeClr val="tx1"/>
                  </a:solidFill>
                  <a:prstDash val="solid"/>
                  <a:round/>
                  <a:headEnd type="none" w="med" len="med"/>
                  <a:tailEnd type="none" w="med" len="med"/>
                </a:ln>
              </p:spPr>
            </p:sp>
            <p:sp>
              <p:nvSpPr>
                <p:cNvPr id="247882" name="Line 75"/>
                <p:cNvSpPr/>
                <p:nvPr/>
              </p:nvSpPr>
              <p:spPr>
                <a:xfrm>
                  <a:off x="3054" y="5574"/>
                  <a:ext cx="0" cy="666"/>
                </a:xfrm>
                <a:prstGeom prst="line">
                  <a:avLst/>
                </a:prstGeom>
                <a:ln w="19050" cap="flat" cmpd="sng">
                  <a:solidFill>
                    <a:schemeClr val="tx1"/>
                  </a:solidFill>
                  <a:prstDash val="solid"/>
                  <a:round/>
                  <a:headEnd type="none" w="med" len="med"/>
                  <a:tailEnd type="none" w="med" len="med"/>
                </a:ln>
              </p:spPr>
            </p:sp>
            <p:sp>
              <p:nvSpPr>
                <p:cNvPr id="247883" name="Line 76"/>
                <p:cNvSpPr/>
                <p:nvPr/>
              </p:nvSpPr>
              <p:spPr>
                <a:xfrm>
                  <a:off x="2949" y="6234"/>
                  <a:ext cx="51" cy="51"/>
                </a:xfrm>
                <a:prstGeom prst="line">
                  <a:avLst/>
                </a:prstGeom>
                <a:ln w="19050" cap="flat" cmpd="sng">
                  <a:solidFill>
                    <a:schemeClr val="tx1"/>
                  </a:solidFill>
                  <a:prstDash val="solid"/>
                  <a:round/>
                  <a:headEnd type="none" w="med" len="med"/>
                  <a:tailEnd type="none" w="med" len="med"/>
                </a:ln>
              </p:spPr>
            </p:sp>
            <p:sp>
              <p:nvSpPr>
                <p:cNvPr id="247884" name="Line 77"/>
                <p:cNvSpPr/>
                <p:nvPr/>
              </p:nvSpPr>
              <p:spPr>
                <a:xfrm flipH="1">
                  <a:off x="3006" y="6234"/>
                  <a:ext cx="51" cy="51"/>
                </a:xfrm>
                <a:prstGeom prst="line">
                  <a:avLst/>
                </a:prstGeom>
                <a:ln w="19050" cap="flat" cmpd="sng">
                  <a:solidFill>
                    <a:schemeClr val="tx1"/>
                  </a:solidFill>
                  <a:prstDash val="solid"/>
                  <a:round/>
                  <a:headEnd type="none" w="med" len="med"/>
                  <a:tailEnd type="none" w="med" len="med"/>
                </a:ln>
              </p:spPr>
            </p:sp>
            <p:grpSp>
              <p:nvGrpSpPr>
                <p:cNvPr id="247885" name="Group 78"/>
                <p:cNvGrpSpPr/>
                <p:nvPr/>
              </p:nvGrpSpPr>
              <p:grpSpPr>
                <a:xfrm>
                  <a:off x="2949" y="5841"/>
                  <a:ext cx="111" cy="144"/>
                  <a:chOff x="4947" y="5757"/>
                  <a:chExt cx="111" cy="144"/>
                </a:xfrm>
              </p:grpSpPr>
              <p:sp>
                <p:nvSpPr>
                  <p:cNvPr id="247886" name="Line 79"/>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87" name="Line 80"/>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88" name="Group 81"/>
                <p:cNvGrpSpPr/>
                <p:nvPr/>
              </p:nvGrpSpPr>
              <p:grpSpPr>
                <a:xfrm>
                  <a:off x="2949" y="5694"/>
                  <a:ext cx="111" cy="144"/>
                  <a:chOff x="4947" y="5757"/>
                  <a:chExt cx="111" cy="144"/>
                </a:xfrm>
              </p:grpSpPr>
              <p:sp>
                <p:nvSpPr>
                  <p:cNvPr id="247889" name="Line 82"/>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90" name="Line 83"/>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91" name="Group 84"/>
                <p:cNvGrpSpPr/>
                <p:nvPr/>
              </p:nvGrpSpPr>
              <p:grpSpPr>
                <a:xfrm>
                  <a:off x="2949" y="6108"/>
                  <a:ext cx="111" cy="144"/>
                  <a:chOff x="4947" y="5757"/>
                  <a:chExt cx="111" cy="144"/>
                </a:xfrm>
              </p:grpSpPr>
              <p:sp>
                <p:nvSpPr>
                  <p:cNvPr id="247892" name="Line 85"/>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93" name="Line 86"/>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nvGrpSpPr>
                <p:cNvPr id="247894" name="Group 87"/>
                <p:cNvGrpSpPr/>
                <p:nvPr/>
              </p:nvGrpSpPr>
              <p:grpSpPr>
                <a:xfrm>
                  <a:off x="2949" y="5979"/>
                  <a:ext cx="111" cy="144"/>
                  <a:chOff x="4947" y="5757"/>
                  <a:chExt cx="111" cy="144"/>
                </a:xfrm>
              </p:grpSpPr>
              <p:sp>
                <p:nvSpPr>
                  <p:cNvPr id="247895" name="Line 88"/>
                  <p:cNvSpPr/>
                  <p:nvPr/>
                </p:nvSpPr>
                <p:spPr>
                  <a:xfrm flipH="1">
                    <a:off x="4950" y="5793"/>
                    <a:ext cx="108" cy="108"/>
                  </a:xfrm>
                  <a:prstGeom prst="line">
                    <a:avLst/>
                  </a:prstGeom>
                  <a:ln w="19050" cap="flat" cmpd="sng">
                    <a:solidFill>
                      <a:schemeClr val="tx1"/>
                    </a:solidFill>
                    <a:prstDash val="solid"/>
                    <a:round/>
                    <a:headEnd type="none" w="med" len="med"/>
                    <a:tailEnd type="none" w="med" len="med"/>
                  </a:ln>
                </p:spPr>
              </p:sp>
              <p:sp>
                <p:nvSpPr>
                  <p:cNvPr id="247896" name="Line 89"/>
                  <p:cNvSpPr/>
                  <p:nvPr/>
                </p:nvSpPr>
                <p:spPr>
                  <a:xfrm flipH="1">
                    <a:off x="4947" y="5757"/>
                    <a:ext cx="108" cy="108"/>
                  </a:xfrm>
                  <a:prstGeom prst="line">
                    <a:avLst/>
                  </a:prstGeom>
                  <a:ln w="19050" cap="flat" cmpd="sng">
                    <a:solidFill>
                      <a:schemeClr val="tx1"/>
                    </a:solidFill>
                    <a:prstDash val="solid"/>
                    <a:round/>
                    <a:headEnd type="none" w="med" len="med"/>
                    <a:tailEnd type="none" w="med" len="med"/>
                  </a:ln>
                </p:spPr>
              </p:sp>
            </p:grpSp>
          </p:grpSp>
          <p:grpSp>
            <p:nvGrpSpPr>
              <p:cNvPr id="247897" name="Group 90"/>
              <p:cNvGrpSpPr/>
              <p:nvPr/>
            </p:nvGrpSpPr>
            <p:grpSpPr>
              <a:xfrm>
                <a:off x="1728" y="1912"/>
                <a:ext cx="379" cy="305"/>
                <a:chOff x="2926" y="1903"/>
                <a:chExt cx="379" cy="305"/>
              </a:xfrm>
            </p:grpSpPr>
            <p:sp>
              <p:nvSpPr>
                <p:cNvPr id="247898" name="Rectangle 91"/>
                <p:cNvSpPr/>
                <p:nvPr/>
              </p:nvSpPr>
              <p:spPr>
                <a:xfrm>
                  <a:off x="3020" y="2160"/>
                  <a:ext cx="184" cy="48"/>
                </a:xfrm>
                <a:prstGeom prst="rect">
                  <a:avLst/>
                </a:prstGeom>
                <a:solidFill>
                  <a:srgbClr val="B1FFB1"/>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7899" name="Rectangle 92"/>
                <p:cNvSpPr/>
                <p:nvPr/>
              </p:nvSpPr>
              <p:spPr>
                <a:xfrm>
                  <a:off x="2926" y="1903"/>
                  <a:ext cx="379" cy="111"/>
                </a:xfrm>
                <a:prstGeom prst="rect">
                  <a:avLst/>
                </a:prstGeom>
                <a:solidFill>
                  <a:srgbClr val="B1FFB1"/>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7900" name="Rectangle 93"/>
                <p:cNvSpPr/>
                <p:nvPr/>
              </p:nvSpPr>
              <p:spPr>
                <a:xfrm>
                  <a:off x="3000" y="2015"/>
                  <a:ext cx="227" cy="145"/>
                </a:xfrm>
                <a:prstGeom prst="rect">
                  <a:avLst/>
                </a:prstGeom>
                <a:solidFill>
                  <a:srgbClr val="B1FFB1"/>
                </a:solidFill>
                <a:ln w="2857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grpSp>
              <p:nvGrpSpPr>
                <p:cNvPr id="247901" name="Group 94"/>
                <p:cNvGrpSpPr/>
                <p:nvPr/>
              </p:nvGrpSpPr>
              <p:grpSpPr>
                <a:xfrm>
                  <a:off x="2996" y="2160"/>
                  <a:ext cx="231" cy="48"/>
                  <a:chOff x="2996" y="2160"/>
                  <a:chExt cx="240" cy="48"/>
                </a:xfrm>
              </p:grpSpPr>
              <p:sp>
                <p:nvSpPr>
                  <p:cNvPr id="247902" name="Line 95"/>
                  <p:cNvSpPr/>
                  <p:nvPr/>
                </p:nvSpPr>
                <p:spPr>
                  <a:xfrm>
                    <a:off x="2996" y="2160"/>
                    <a:ext cx="48" cy="48"/>
                  </a:xfrm>
                  <a:prstGeom prst="line">
                    <a:avLst/>
                  </a:prstGeom>
                  <a:ln w="28575" cap="flat" cmpd="sng">
                    <a:solidFill>
                      <a:schemeClr val="tx1"/>
                    </a:solidFill>
                    <a:prstDash val="solid"/>
                    <a:round/>
                    <a:headEnd type="none" w="med" len="med"/>
                    <a:tailEnd type="none" w="med" len="med"/>
                  </a:ln>
                </p:spPr>
              </p:sp>
              <p:sp>
                <p:nvSpPr>
                  <p:cNvPr id="247903" name="Line 96"/>
                  <p:cNvSpPr/>
                  <p:nvPr/>
                </p:nvSpPr>
                <p:spPr>
                  <a:xfrm flipH="1">
                    <a:off x="3188" y="2160"/>
                    <a:ext cx="48" cy="48"/>
                  </a:xfrm>
                  <a:prstGeom prst="line">
                    <a:avLst/>
                  </a:prstGeom>
                  <a:ln w="28575" cap="flat" cmpd="sng">
                    <a:solidFill>
                      <a:schemeClr val="tx1"/>
                    </a:solidFill>
                    <a:prstDash val="solid"/>
                    <a:round/>
                    <a:headEnd type="none" w="med" len="med"/>
                    <a:tailEnd type="none" w="med" len="med"/>
                  </a:ln>
                </p:spPr>
              </p:sp>
              <p:sp>
                <p:nvSpPr>
                  <p:cNvPr id="247904" name="Line 97"/>
                  <p:cNvSpPr/>
                  <p:nvPr/>
                </p:nvSpPr>
                <p:spPr>
                  <a:xfrm>
                    <a:off x="3044" y="2208"/>
                    <a:ext cx="144" cy="0"/>
                  </a:xfrm>
                  <a:prstGeom prst="line">
                    <a:avLst/>
                  </a:prstGeom>
                  <a:ln w="28575" cap="flat" cmpd="sng">
                    <a:solidFill>
                      <a:schemeClr val="tx1"/>
                    </a:solidFill>
                    <a:prstDash val="solid"/>
                    <a:round/>
                    <a:headEnd type="none" w="med" len="med"/>
                    <a:tailEnd type="none" w="med" len="med"/>
                  </a:ln>
                </p:spPr>
              </p:sp>
            </p:grpSp>
          </p:grpSp>
          <p:sp>
            <p:nvSpPr>
              <p:cNvPr id="247905" name="Line 98"/>
              <p:cNvSpPr/>
              <p:nvPr/>
            </p:nvSpPr>
            <p:spPr>
              <a:xfrm flipH="1">
                <a:off x="1920" y="1468"/>
                <a:ext cx="0" cy="1364"/>
              </a:xfrm>
              <a:prstGeom prst="line">
                <a:avLst/>
              </a:prstGeom>
              <a:ln w="12700" cap="flat" cmpd="sng">
                <a:solidFill>
                  <a:schemeClr val="tx1"/>
                </a:solidFill>
                <a:prstDash val="lgDashDot"/>
                <a:round/>
                <a:headEnd type="none" w="med" len="med"/>
                <a:tailEnd type="none" w="med" len="med"/>
              </a:ln>
            </p:spPr>
          </p:sp>
        </p:grpSp>
      </p:grpSp>
    </p:spTree>
  </p:cSld>
  <p:clrMapOvr>
    <a:masterClrMapping/>
  </p:clrMapOvr>
  <p:transition spd="slow">
    <p:randomBar dir="ver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2658" name="Rectangle 2"/>
          <p:cNvSpPr>
            <a:spLocks noGrp="1" noChangeArrowheads="1"/>
          </p:cNvSpPr>
          <p:nvPr>
            <p:ph type="title"/>
          </p:nvPr>
        </p:nvSpPr>
        <p:spPr>
          <a:xfrm>
            <a:off x="3252788" y="379413"/>
            <a:ext cx="4343400"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49858"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9859"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49860" name="Rectangle 5"/>
          <p:cNvSpPr/>
          <p:nvPr/>
        </p:nvSpPr>
        <p:spPr>
          <a:xfrm>
            <a:off x="323850" y="1316038"/>
            <a:ext cx="2370138" cy="457200"/>
          </a:xfrm>
          <a:prstGeom prst="rect">
            <a:avLst/>
          </a:prstGeom>
          <a:noFill/>
          <a:ln w="9525">
            <a:noFill/>
          </a:ln>
        </p:spPr>
        <p:txBody>
          <a:bodyPr wrap="none" anchor="ctr" anchorCtr="0">
            <a:spAutoFit/>
          </a:bodyPr>
          <a:p>
            <a:pPr>
              <a:buFont typeface="Wingdings" panose="05000000000000000000" pitchFamily="2" charset="2"/>
              <a:buChar char="q"/>
            </a:pPr>
            <a:r>
              <a:rPr lang="en-US" altLang="zh-CN" sz="2400" dirty="0">
                <a:solidFill>
                  <a:srgbClr val="990000"/>
                </a:solidFill>
                <a:latin typeface="Times New Roman" panose="02020603050405020304" pitchFamily="18" charset="0"/>
                <a:ea typeface="黑体" panose="02010609060101010101" pitchFamily="49" charset="-122"/>
              </a:rPr>
              <a:t> </a:t>
            </a:r>
            <a:r>
              <a:rPr lang="zh-CN" altLang="en-US" sz="2400" b="1" dirty="0">
                <a:solidFill>
                  <a:srgbClr val="990000"/>
                </a:solidFill>
                <a:latin typeface="Times New Roman" panose="02020603050405020304" pitchFamily="18" charset="0"/>
                <a:ea typeface="楷体_GB2312"/>
              </a:rPr>
              <a:t>物料传输系统</a:t>
            </a:r>
            <a:endParaRPr lang="zh-CN" altLang="en-US" sz="2400" b="1" dirty="0">
              <a:solidFill>
                <a:srgbClr val="990000"/>
              </a:solidFill>
              <a:latin typeface="黑体" panose="02010609060101010101" pitchFamily="49" charset="-122"/>
              <a:ea typeface="楷体_GB2312"/>
            </a:endParaRPr>
          </a:p>
        </p:txBody>
      </p:sp>
      <p:sp>
        <p:nvSpPr>
          <p:cNvPr id="249861" name="Rectangle 6"/>
          <p:cNvSpPr/>
          <p:nvPr/>
        </p:nvSpPr>
        <p:spPr>
          <a:xfrm>
            <a:off x="250825" y="2232025"/>
            <a:ext cx="3889375" cy="3933825"/>
          </a:xfrm>
          <a:prstGeom prst="rect">
            <a:avLst/>
          </a:prstGeom>
          <a:noFill/>
          <a:ln w="9525">
            <a:noFill/>
          </a:ln>
        </p:spPr>
        <p:txBody>
          <a:bodyPr anchor="t" anchorCtr="0">
            <a:spAutoFit/>
          </a:bodyPr>
          <a:p>
            <a:pPr eaLnBrk="0" hangingPunct="0">
              <a:lnSpc>
                <a:spcPct val="105000"/>
              </a:lnSpc>
            </a:pPr>
            <a:r>
              <a:rPr lang="zh-CN" altLang="en-US" sz="2400" b="1" dirty="0">
                <a:latin typeface="楷体_GB2312"/>
                <a:ea typeface="楷体_GB2312"/>
              </a:rPr>
              <a:t>又称立体仓库或自动化仓库系统（</a:t>
            </a:r>
            <a:r>
              <a:rPr lang="en-US" altLang="zh-CN" sz="2400" b="1" dirty="0">
                <a:latin typeface="楷体_GB2312"/>
                <a:ea typeface="楷体_GB2312"/>
              </a:rPr>
              <a:t>Automated Storage and Retrieval System</a:t>
            </a:r>
            <a:r>
              <a:rPr lang="zh-CN" altLang="en-US" sz="2400" b="1" dirty="0">
                <a:latin typeface="楷体_GB2312"/>
                <a:ea typeface="楷体_GB2312"/>
              </a:rPr>
              <a:t>一</a:t>
            </a:r>
            <a:r>
              <a:rPr lang="en-US" altLang="zh-CN" sz="2400" b="1" dirty="0">
                <a:latin typeface="楷体_GB2312"/>
                <a:ea typeface="楷体_GB2312"/>
              </a:rPr>
              <a:t>AS</a:t>
            </a:r>
            <a:r>
              <a:rPr lang="zh-CN" altLang="en-US" sz="2400" b="1" dirty="0">
                <a:latin typeface="楷体_GB2312"/>
                <a:ea typeface="楷体_GB2312"/>
              </a:rPr>
              <a:t>／</a:t>
            </a:r>
            <a:r>
              <a:rPr lang="en-US" altLang="zh-CN" sz="2400" b="1" dirty="0">
                <a:latin typeface="楷体_GB2312"/>
                <a:ea typeface="楷体_GB2312"/>
              </a:rPr>
              <a:t>RS</a:t>
            </a:r>
            <a:r>
              <a:rPr lang="zh-CN" altLang="en-US" sz="2400" b="1" dirty="0">
                <a:latin typeface="楷体_GB2312"/>
                <a:ea typeface="楷体_GB2312"/>
              </a:rPr>
              <a:t>），由高层料架 、堆垛机、控制计算机和物料识别装置等组成。具有自动化程度高、料位空间尺寸和额定存放重量大、料位总数可根据实际需求扩展、占地面积小等优点。</a:t>
            </a:r>
            <a:r>
              <a:rPr lang="zh-CN" altLang="en-US" sz="2400" dirty="0">
                <a:latin typeface="Times New Roman" panose="02020603050405020304" pitchFamily="18" charset="0"/>
                <a:ea typeface="黑体" panose="02010609060101010101" pitchFamily="49" charset="-122"/>
              </a:rPr>
              <a:t>   </a:t>
            </a:r>
            <a:endParaRPr lang="zh-CN" altLang="en-US" sz="2400" dirty="0">
              <a:latin typeface="Times New Roman" panose="02020603050405020304" pitchFamily="18" charset="0"/>
              <a:ea typeface="黑体" panose="02010609060101010101" pitchFamily="49" charset="-122"/>
            </a:endParaRPr>
          </a:p>
        </p:txBody>
      </p:sp>
      <p:sp>
        <p:nvSpPr>
          <p:cNvPr id="1222663" name="Rectangle 7"/>
          <p:cNvSpPr>
            <a:spLocks noChangeArrowheads="1"/>
          </p:cNvSpPr>
          <p:nvPr/>
        </p:nvSpPr>
        <p:spPr bwMode="auto">
          <a:xfrm>
            <a:off x="306388" y="1747838"/>
            <a:ext cx="3325813"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自动仓库</a:t>
            </a:r>
            <a:r>
              <a:rPr kumimoji="1" lang="zh-CN" altLang="en-GB"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图</a:t>
            </a:r>
            <a:r>
              <a:rPr kumimoji="1"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2-30</a:t>
            </a:r>
            <a:r>
              <a:rPr kumimoji="1" lang="zh-CN" altLang="en-GB"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grpSp>
        <p:nvGrpSpPr>
          <p:cNvPr id="249863" name="Group 8"/>
          <p:cNvGrpSpPr/>
          <p:nvPr/>
        </p:nvGrpSpPr>
        <p:grpSpPr>
          <a:xfrm>
            <a:off x="4419600" y="1476375"/>
            <a:ext cx="4038600" cy="4635500"/>
            <a:chOff x="2784" y="930"/>
            <a:chExt cx="2544" cy="2920"/>
          </a:xfrm>
        </p:grpSpPr>
        <p:sp>
          <p:nvSpPr>
            <p:cNvPr id="249864" name="Rectangle 9"/>
            <p:cNvSpPr/>
            <p:nvPr/>
          </p:nvSpPr>
          <p:spPr>
            <a:xfrm>
              <a:off x="3315" y="1692"/>
              <a:ext cx="216" cy="428"/>
            </a:xfrm>
            <a:prstGeom prst="rect">
              <a:avLst/>
            </a:prstGeom>
            <a:solidFill>
              <a:srgbClr val="DDDDDD"/>
            </a:solidFill>
            <a:ln w="38100"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65" name="Rectangle 10"/>
            <p:cNvSpPr/>
            <p:nvPr/>
          </p:nvSpPr>
          <p:spPr>
            <a:xfrm>
              <a:off x="3315" y="2408"/>
              <a:ext cx="216" cy="425"/>
            </a:xfrm>
            <a:prstGeom prst="rect">
              <a:avLst/>
            </a:prstGeom>
            <a:solidFill>
              <a:srgbClr val="DDDDDD"/>
            </a:solidFill>
            <a:ln w="38100"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66" name="Line 11"/>
            <p:cNvSpPr/>
            <p:nvPr/>
          </p:nvSpPr>
          <p:spPr>
            <a:xfrm flipH="1">
              <a:off x="3265" y="2688"/>
              <a:ext cx="167" cy="493"/>
            </a:xfrm>
            <a:prstGeom prst="line">
              <a:avLst/>
            </a:prstGeom>
            <a:ln w="19050" cap="flat" cmpd="sng">
              <a:solidFill>
                <a:schemeClr val="tx1"/>
              </a:solidFill>
              <a:prstDash val="solid"/>
              <a:round/>
              <a:headEnd type="none" w="med" len="med"/>
              <a:tailEnd type="none" w="med" len="med"/>
            </a:ln>
          </p:spPr>
        </p:sp>
        <p:sp>
          <p:nvSpPr>
            <p:cNvPr id="249867" name="Rectangle 12"/>
            <p:cNvSpPr/>
            <p:nvPr/>
          </p:nvSpPr>
          <p:spPr>
            <a:xfrm>
              <a:off x="2946" y="2023"/>
              <a:ext cx="248" cy="401"/>
            </a:xfrm>
            <a:prstGeom prst="rect">
              <a:avLst/>
            </a:prstGeom>
            <a:solidFill>
              <a:srgbClr val="EACDFF"/>
            </a:solidFill>
            <a:ln w="38100" cap="flat" cmpd="sng">
              <a:solidFill>
                <a:srgbClr val="660066"/>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68" name="Text Box 13"/>
            <p:cNvSpPr txBox="1"/>
            <p:nvPr/>
          </p:nvSpPr>
          <p:spPr>
            <a:xfrm>
              <a:off x="3079" y="3600"/>
              <a:ext cx="2205" cy="250"/>
            </a:xfrm>
            <a:prstGeom prst="rect">
              <a:avLst/>
            </a:prstGeom>
            <a:noFill/>
            <a:ln w="9525">
              <a:noFill/>
            </a:ln>
          </p:spPr>
          <p:txBody>
            <a:bodyPr anchor="t" anchorCtr="0">
              <a:spAutoFit/>
            </a:bodyPr>
            <a:p>
              <a:pPr algn="ctr">
                <a:spcBef>
                  <a:spcPct val="50000"/>
                </a:spcBef>
              </a:pPr>
              <a:r>
                <a:rPr lang="zh-CN" altLang="en-US" sz="2000" b="1" dirty="0">
                  <a:latin typeface="楷体_GB2312"/>
                  <a:ea typeface="楷体_GB2312"/>
                </a:rPr>
                <a:t>图</a:t>
              </a:r>
              <a:r>
                <a:rPr lang="en-GB" altLang="zh-CN" sz="2000" b="1" dirty="0">
                  <a:latin typeface="楷体_GB2312"/>
                  <a:ea typeface="楷体_GB2312"/>
                </a:rPr>
                <a:t>2</a:t>
              </a:r>
              <a:r>
                <a:rPr lang="en-US" altLang="zh-CN" sz="2000" b="1" dirty="0">
                  <a:latin typeface="楷体_GB2312"/>
                  <a:ea typeface="楷体_GB2312"/>
                </a:rPr>
                <a:t>-3</a:t>
              </a:r>
              <a:r>
                <a:rPr lang="en-GB" altLang="zh-CN" sz="2000" b="1" dirty="0">
                  <a:latin typeface="楷体_GB2312"/>
                  <a:ea typeface="楷体_GB2312"/>
                </a:rPr>
                <a:t>0</a:t>
              </a:r>
              <a:r>
                <a:rPr lang="en-US" altLang="zh-CN" sz="2000" b="1" dirty="0">
                  <a:latin typeface="楷体_GB2312"/>
                  <a:ea typeface="楷体_GB2312"/>
                </a:rPr>
                <a:t>    </a:t>
              </a:r>
              <a:r>
                <a:rPr lang="zh-CN" altLang="en-US" sz="2000" b="1" dirty="0">
                  <a:latin typeface="楷体_GB2312"/>
                  <a:ea typeface="楷体_GB2312"/>
                </a:rPr>
                <a:t>自动仓库</a:t>
              </a:r>
              <a:endParaRPr lang="zh-CN" altLang="en-US" sz="2000" b="1" dirty="0">
                <a:latin typeface="楷体_GB2312"/>
                <a:ea typeface="楷体_GB2312"/>
              </a:endParaRPr>
            </a:p>
          </p:txBody>
        </p:sp>
        <p:sp>
          <p:nvSpPr>
            <p:cNvPr id="249869" name="Rectangle 14"/>
            <p:cNvSpPr/>
            <p:nvPr/>
          </p:nvSpPr>
          <p:spPr>
            <a:xfrm>
              <a:off x="2912" y="1056"/>
              <a:ext cx="640" cy="192"/>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运输小车</a:t>
              </a:r>
              <a:endParaRPr lang="zh-CN" altLang="en-US" sz="2000" dirty="0">
                <a:latin typeface="Times New Roman" panose="02020603050405020304" pitchFamily="18" charset="0"/>
                <a:ea typeface="宋体" panose="02010600030101010101" pitchFamily="2" charset="-122"/>
              </a:endParaRPr>
            </a:p>
          </p:txBody>
        </p:sp>
        <p:grpSp>
          <p:nvGrpSpPr>
            <p:cNvPr id="249870" name="Group 15"/>
            <p:cNvGrpSpPr/>
            <p:nvPr/>
          </p:nvGrpSpPr>
          <p:grpSpPr>
            <a:xfrm>
              <a:off x="3827" y="2948"/>
              <a:ext cx="1467" cy="297"/>
              <a:chOff x="3827" y="3332"/>
              <a:chExt cx="1597" cy="297"/>
            </a:xfrm>
          </p:grpSpPr>
          <p:sp>
            <p:nvSpPr>
              <p:cNvPr id="249871" name="Rectangle 16"/>
              <p:cNvSpPr/>
              <p:nvPr/>
            </p:nvSpPr>
            <p:spPr>
              <a:xfrm>
                <a:off x="3827" y="3332"/>
                <a:ext cx="1597" cy="297"/>
              </a:xfrm>
              <a:prstGeom prst="rect">
                <a:avLst/>
              </a:prstGeom>
              <a:solidFill>
                <a:srgbClr val="66FFFF"/>
              </a:solidFill>
              <a:ln w="38100" cap="flat" cmpd="sng">
                <a:solidFill>
                  <a:srgbClr val="000066"/>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72" name="Line 17"/>
              <p:cNvSpPr/>
              <p:nvPr/>
            </p:nvSpPr>
            <p:spPr>
              <a:xfrm>
                <a:off x="4089" y="3332"/>
                <a:ext cx="2" cy="293"/>
              </a:xfrm>
              <a:prstGeom prst="line">
                <a:avLst/>
              </a:prstGeom>
              <a:ln w="28575" cap="flat" cmpd="sng">
                <a:solidFill>
                  <a:srgbClr val="000066"/>
                </a:solidFill>
                <a:prstDash val="solid"/>
                <a:round/>
                <a:headEnd type="none" w="med" len="med"/>
                <a:tailEnd type="none" w="med" len="med"/>
              </a:ln>
            </p:spPr>
          </p:sp>
          <p:sp>
            <p:nvSpPr>
              <p:cNvPr id="249873" name="Line 18"/>
              <p:cNvSpPr/>
              <p:nvPr/>
            </p:nvSpPr>
            <p:spPr>
              <a:xfrm>
                <a:off x="4351" y="3332"/>
                <a:ext cx="2" cy="293"/>
              </a:xfrm>
              <a:prstGeom prst="line">
                <a:avLst/>
              </a:prstGeom>
              <a:ln w="28575" cap="flat" cmpd="sng">
                <a:solidFill>
                  <a:srgbClr val="000066"/>
                </a:solidFill>
                <a:prstDash val="solid"/>
                <a:round/>
                <a:headEnd type="none" w="med" len="med"/>
                <a:tailEnd type="none" w="med" len="med"/>
              </a:ln>
            </p:spPr>
          </p:sp>
          <p:sp>
            <p:nvSpPr>
              <p:cNvPr id="249874" name="Line 19"/>
              <p:cNvSpPr/>
              <p:nvPr/>
            </p:nvSpPr>
            <p:spPr>
              <a:xfrm>
                <a:off x="4622" y="3332"/>
                <a:ext cx="2" cy="293"/>
              </a:xfrm>
              <a:prstGeom prst="line">
                <a:avLst/>
              </a:prstGeom>
              <a:ln w="28575" cap="flat" cmpd="sng">
                <a:solidFill>
                  <a:srgbClr val="000066"/>
                </a:solidFill>
                <a:prstDash val="solid"/>
                <a:round/>
                <a:headEnd type="none" w="med" len="med"/>
                <a:tailEnd type="none" w="med" len="med"/>
              </a:ln>
            </p:spPr>
          </p:sp>
          <p:sp>
            <p:nvSpPr>
              <p:cNvPr id="249875" name="Line 20"/>
              <p:cNvSpPr/>
              <p:nvPr/>
            </p:nvSpPr>
            <p:spPr>
              <a:xfrm>
                <a:off x="4894" y="3332"/>
                <a:ext cx="3" cy="293"/>
              </a:xfrm>
              <a:prstGeom prst="line">
                <a:avLst/>
              </a:prstGeom>
              <a:ln w="28575" cap="flat" cmpd="sng">
                <a:solidFill>
                  <a:srgbClr val="000066"/>
                </a:solidFill>
                <a:prstDash val="solid"/>
                <a:round/>
                <a:headEnd type="none" w="med" len="med"/>
                <a:tailEnd type="none" w="med" len="med"/>
              </a:ln>
            </p:spPr>
          </p:sp>
          <p:sp>
            <p:nvSpPr>
              <p:cNvPr id="249876" name="Line 21"/>
              <p:cNvSpPr/>
              <p:nvPr/>
            </p:nvSpPr>
            <p:spPr>
              <a:xfrm>
                <a:off x="5159" y="3332"/>
                <a:ext cx="2" cy="293"/>
              </a:xfrm>
              <a:prstGeom prst="line">
                <a:avLst/>
              </a:prstGeom>
              <a:ln w="28575" cap="flat" cmpd="sng">
                <a:solidFill>
                  <a:srgbClr val="000066"/>
                </a:solidFill>
                <a:prstDash val="solid"/>
                <a:round/>
                <a:headEnd type="none" w="med" len="med"/>
                <a:tailEnd type="none" w="med" len="med"/>
              </a:ln>
            </p:spPr>
          </p:sp>
        </p:grpSp>
        <p:sp>
          <p:nvSpPr>
            <p:cNvPr id="249877" name="Rectangle 22"/>
            <p:cNvSpPr/>
            <p:nvPr/>
          </p:nvSpPr>
          <p:spPr>
            <a:xfrm>
              <a:off x="2784" y="3215"/>
              <a:ext cx="960" cy="192"/>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出入库装卸站</a:t>
              </a:r>
              <a:endParaRPr lang="zh-CN" altLang="en-US" sz="2000" dirty="0">
                <a:latin typeface="Times New Roman" panose="02020603050405020304" pitchFamily="18" charset="0"/>
                <a:ea typeface="宋体" panose="02010600030101010101" pitchFamily="2" charset="-122"/>
              </a:endParaRPr>
            </a:p>
          </p:txBody>
        </p:sp>
        <p:sp>
          <p:nvSpPr>
            <p:cNvPr id="249878" name="Rectangle 23"/>
            <p:cNvSpPr/>
            <p:nvPr/>
          </p:nvSpPr>
          <p:spPr>
            <a:xfrm>
              <a:off x="4416" y="932"/>
              <a:ext cx="480" cy="192"/>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堆垛机</a:t>
              </a:r>
              <a:endParaRPr lang="zh-CN" altLang="en-US" sz="2000" dirty="0">
                <a:latin typeface="Times New Roman" panose="02020603050405020304" pitchFamily="18" charset="0"/>
                <a:ea typeface="宋体" panose="02010600030101010101" pitchFamily="2" charset="-122"/>
              </a:endParaRPr>
            </a:p>
          </p:txBody>
        </p:sp>
        <p:sp>
          <p:nvSpPr>
            <p:cNvPr id="249879" name="Rectangle 24"/>
            <p:cNvSpPr/>
            <p:nvPr/>
          </p:nvSpPr>
          <p:spPr>
            <a:xfrm>
              <a:off x="3065" y="2442"/>
              <a:ext cx="17" cy="668"/>
            </a:xfrm>
            <a:prstGeom prst="rect">
              <a:avLst/>
            </a:prstGeom>
            <a:solidFill>
              <a:srgbClr val="000000"/>
            </a:solidFill>
            <a:ln w="952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80" name="Rectangle 25"/>
            <p:cNvSpPr/>
            <p:nvPr/>
          </p:nvSpPr>
          <p:spPr>
            <a:xfrm>
              <a:off x="3065" y="1378"/>
              <a:ext cx="17" cy="666"/>
            </a:xfrm>
            <a:prstGeom prst="rect">
              <a:avLst/>
            </a:prstGeom>
            <a:solidFill>
              <a:srgbClr val="000000"/>
            </a:solidFill>
            <a:ln w="9525"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grpSp>
          <p:nvGrpSpPr>
            <p:cNvPr id="249881" name="Group 26"/>
            <p:cNvGrpSpPr/>
            <p:nvPr/>
          </p:nvGrpSpPr>
          <p:grpSpPr>
            <a:xfrm>
              <a:off x="3527" y="1470"/>
              <a:ext cx="1801" cy="1640"/>
              <a:chOff x="3501" y="1854"/>
              <a:chExt cx="1960" cy="1640"/>
            </a:xfrm>
          </p:grpSpPr>
          <p:sp>
            <p:nvSpPr>
              <p:cNvPr id="249882" name="Line 27"/>
              <p:cNvSpPr/>
              <p:nvPr/>
            </p:nvSpPr>
            <p:spPr>
              <a:xfrm>
                <a:off x="3646" y="3213"/>
                <a:ext cx="1802" cy="2"/>
              </a:xfrm>
              <a:prstGeom prst="line">
                <a:avLst/>
              </a:prstGeom>
              <a:ln w="28575" cap="flat" cmpd="sng">
                <a:solidFill>
                  <a:schemeClr val="tx1"/>
                </a:solidFill>
                <a:prstDash val="solid"/>
                <a:round/>
                <a:headEnd type="none" w="med" len="med"/>
                <a:tailEnd type="none" w="med" len="med"/>
              </a:ln>
            </p:spPr>
          </p:sp>
          <p:grpSp>
            <p:nvGrpSpPr>
              <p:cNvPr id="249883" name="Group 28"/>
              <p:cNvGrpSpPr/>
              <p:nvPr/>
            </p:nvGrpSpPr>
            <p:grpSpPr>
              <a:xfrm>
                <a:off x="3501" y="1854"/>
                <a:ext cx="1960" cy="1640"/>
                <a:chOff x="3501" y="1854"/>
                <a:chExt cx="1960" cy="1640"/>
              </a:xfrm>
            </p:grpSpPr>
            <p:sp>
              <p:nvSpPr>
                <p:cNvPr id="249884" name="Line 29"/>
                <p:cNvSpPr/>
                <p:nvPr/>
              </p:nvSpPr>
              <p:spPr>
                <a:xfrm>
                  <a:off x="3659" y="2124"/>
                  <a:ext cx="1802" cy="2"/>
                </a:xfrm>
                <a:prstGeom prst="line">
                  <a:avLst/>
                </a:prstGeom>
                <a:ln w="28575" cap="flat" cmpd="sng">
                  <a:solidFill>
                    <a:schemeClr val="tx1"/>
                  </a:solidFill>
                  <a:prstDash val="solid"/>
                  <a:round/>
                  <a:headEnd type="none" w="med" len="med"/>
                  <a:tailEnd type="none" w="med" len="med"/>
                </a:ln>
              </p:spPr>
            </p:sp>
            <p:sp>
              <p:nvSpPr>
                <p:cNvPr id="249885" name="Line 30"/>
                <p:cNvSpPr/>
                <p:nvPr/>
              </p:nvSpPr>
              <p:spPr>
                <a:xfrm>
                  <a:off x="3659" y="2677"/>
                  <a:ext cx="1802" cy="1"/>
                </a:xfrm>
                <a:prstGeom prst="line">
                  <a:avLst/>
                </a:prstGeom>
                <a:ln w="28575" cap="flat" cmpd="sng">
                  <a:solidFill>
                    <a:schemeClr val="tx1"/>
                  </a:solidFill>
                  <a:prstDash val="solid"/>
                  <a:round/>
                  <a:headEnd type="none" w="med" len="med"/>
                  <a:tailEnd type="none" w="med" len="med"/>
                </a:ln>
              </p:spPr>
            </p:sp>
            <p:sp>
              <p:nvSpPr>
                <p:cNvPr id="249886" name="Line 31"/>
                <p:cNvSpPr/>
                <p:nvPr/>
              </p:nvSpPr>
              <p:spPr>
                <a:xfrm>
                  <a:off x="3659" y="1854"/>
                  <a:ext cx="1" cy="1640"/>
                </a:xfrm>
                <a:prstGeom prst="line">
                  <a:avLst/>
                </a:prstGeom>
                <a:ln w="28575" cap="flat" cmpd="sng">
                  <a:solidFill>
                    <a:schemeClr val="tx1"/>
                  </a:solidFill>
                  <a:prstDash val="solid"/>
                  <a:round/>
                  <a:headEnd type="none" w="med" len="med"/>
                  <a:tailEnd type="none" w="med" len="med"/>
                </a:ln>
              </p:spPr>
            </p:sp>
            <p:sp>
              <p:nvSpPr>
                <p:cNvPr id="249887" name="Line 32"/>
                <p:cNvSpPr/>
                <p:nvPr/>
              </p:nvSpPr>
              <p:spPr>
                <a:xfrm>
                  <a:off x="3501" y="2302"/>
                  <a:ext cx="158" cy="2"/>
                </a:xfrm>
                <a:prstGeom prst="line">
                  <a:avLst/>
                </a:prstGeom>
                <a:ln w="28575" cap="flat" cmpd="sng">
                  <a:solidFill>
                    <a:schemeClr val="tx1"/>
                  </a:solidFill>
                  <a:prstDash val="solid"/>
                  <a:round/>
                  <a:headEnd type="none" w="med" len="med"/>
                  <a:tailEnd type="none" w="med" len="med"/>
                </a:ln>
              </p:spPr>
            </p:sp>
            <p:sp>
              <p:nvSpPr>
                <p:cNvPr id="249888" name="Line 33"/>
                <p:cNvSpPr/>
                <p:nvPr/>
              </p:nvSpPr>
              <p:spPr>
                <a:xfrm>
                  <a:off x="3501" y="3014"/>
                  <a:ext cx="158" cy="2"/>
                </a:xfrm>
                <a:prstGeom prst="line">
                  <a:avLst/>
                </a:prstGeom>
                <a:ln w="28575" cap="flat" cmpd="sng">
                  <a:solidFill>
                    <a:schemeClr val="tx1"/>
                  </a:solidFill>
                  <a:prstDash val="solid"/>
                  <a:round/>
                  <a:headEnd type="none" w="med" len="med"/>
                  <a:tailEnd type="none" w="med" len="med"/>
                </a:ln>
              </p:spPr>
            </p:sp>
          </p:grpSp>
        </p:grpSp>
        <p:sp>
          <p:nvSpPr>
            <p:cNvPr id="249889" name="Rectangle 34"/>
            <p:cNvSpPr/>
            <p:nvPr/>
          </p:nvSpPr>
          <p:spPr>
            <a:xfrm>
              <a:off x="4366" y="2762"/>
              <a:ext cx="349" cy="124"/>
            </a:xfrm>
            <a:prstGeom prst="rect">
              <a:avLst/>
            </a:prstGeom>
            <a:solidFill>
              <a:srgbClr val="FFCC99"/>
            </a:solidFill>
            <a:ln w="38100"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90" name="Rectangle 35"/>
            <p:cNvSpPr/>
            <p:nvPr/>
          </p:nvSpPr>
          <p:spPr>
            <a:xfrm>
              <a:off x="4040" y="1682"/>
              <a:ext cx="348" cy="126"/>
            </a:xfrm>
            <a:prstGeom prst="rect">
              <a:avLst/>
            </a:prstGeom>
            <a:solidFill>
              <a:srgbClr val="FFCC99"/>
            </a:solidFill>
            <a:ln w="38100"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91" name="Rectangle 36"/>
            <p:cNvSpPr/>
            <p:nvPr/>
          </p:nvSpPr>
          <p:spPr>
            <a:xfrm>
              <a:off x="4760" y="2232"/>
              <a:ext cx="349" cy="125"/>
            </a:xfrm>
            <a:prstGeom prst="rect">
              <a:avLst/>
            </a:prstGeom>
            <a:solidFill>
              <a:srgbClr val="FFCC99"/>
            </a:solidFill>
            <a:ln w="38100" cap="flat" cmpd="sng">
              <a:solidFill>
                <a:schemeClr val="tx1"/>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grpSp>
          <p:nvGrpSpPr>
            <p:cNvPr id="249892" name="Group 37"/>
            <p:cNvGrpSpPr/>
            <p:nvPr/>
          </p:nvGrpSpPr>
          <p:grpSpPr>
            <a:xfrm>
              <a:off x="3839" y="2408"/>
              <a:ext cx="1467" cy="297"/>
              <a:chOff x="3827" y="3332"/>
              <a:chExt cx="1597" cy="297"/>
            </a:xfrm>
          </p:grpSpPr>
          <p:sp>
            <p:nvSpPr>
              <p:cNvPr id="249893" name="Rectangle 38"/>
              <p:cNvSpPr/>
              <p:nvPr/>
            </p:nvSpPr>
            <p:spPr>
              <a:xfrm>
                <a:off x="3827" y="3332"/>
                <a:ext cx="1597" cy="297"/>
              </a:xfrm>
              <a:prstGeom prst="rect">
                <a:avLst/>
              </a:prstGeom>
              <a:solidFill>
                <a:srgbClr val="66FFFF"/>
              </a:solidFill>
              <a:ln w="38100" cap="flat" cmpd="sng">
                <a:solidFill>
                  <a:srgbClr val="000066"/>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894" name="Line 39"/>
              <p:cNvSpPr/>
              <p:nvPr/>
            </p:nvSpPr>
            <p:spPr>
              <a:xfrm>
                <a:off x="4089" y="3332"/>
                <a:ext cx="2" cy="293"/>
              </a:xfrm>
              <a:prstGeom prst="line">
                <a:avLst/>
              </a:prstGeom>
              <a:ln w="28575" cap="flat" cmpd="sng">
                <a:solidFill>
                  <a:srgbClr val="000066"/>
                </a:solidFill>
                <a:prstDash val="solid"/>
                <a:round/>
                <a:headEnd type="none" w="med" len="med"/>
                <a:tailEnd type="none" w="med" len="med"/>
              </a:ln>
            </p:spPr>
          </p:sp>
          <p:sp>
            <p:nvSpPr>
              <p:cNvPr id="249895" name="Line 40"/>
              <p:cNvSpPr/>
              <p:nvPr/>
            </p:nvSpPr>
            <p:spPr>
              <a:xfrm>
                <a:off x="4351" y="3332"/>
                <a:ext cx="2" cy="293"/>
              </a:xfrm>
              <a:prstGeom prst="line">
                <a:avLst/>
              </a:prstGeom>
              <a:ln w="28575" cap="flat" cmpd="sng">
                <a:solidFill>
                  <a:srgbClr val="000066"/>
                </a:solidFill>
                <a:prstDash val="solid"/>
                <a:round/>
                <a:headEnd type="none" w="med" len="med"/>
                <a:tailEnd type="none" w="med" len="med"/>
              </a:ln>
            </p:spPr>
          </p:sp>
          <p:sp>
            <p:nvSpPr>
              <p:cNvPr id="249896" name="Line 41"/>
              <p:cNvSpPr/>
              <p:nvPr/>
            </p:nvSpPr>
            <p:spPr>
              <a:xfrm>
                <a:off x="4622" y="3332"/>
                <a:ext cx="2" cy="293"/>
              </a:xfrm>
              <a:prstGeom prst="line">
                <a:avLst/>
              </a:prstGeom>
              <a:ln w="28575" cap="flat" cmpd="sng">
                <a:solidFill>
                  <a:srgbClr val="000066"/>
                </a:solidFill>
                <a:prstDash val="solid"/>
                <a:round/>
                <a:headEnd type="none" w="med" len="med"/>
                <a:tailEnd type="none" w="med" len="med"/>
              </a:ln>
            </p:spPr>
          </p:sp>
          <p:sp>
            <p:nvSpPr>
              <p:cNvPr id="249897" name="Line 42"/>
              <p:cNvSpPr/>
              <p:nvPr/>
            </p:nvSpPr>
            <p:spPr>
              <a:xfrm>
                <a:off x="4894" y="3332"/>
                <a:ext cx="3" cy="293"/>
              </a:xfrm>
              <a:prstGeom prst="line">
                <a:avLst/>
              </a:prstGeom>
              <a:ln w="28575" cap="flat" cmpd="sng">
                <a:solidFill>
                  <a:srgbClr val="000066"/>
                </a:solidFill>
                <a:prstDash val="solid"/>
                <a:round/>
                <a:headEnd type="none" w="med" len="med"/>
                <a:tailEnd type="none" w="med" len="med"/>
              </a:ln>
            </p:spPr>
          </p:sp>
          <p:sp>
            <p:nvSpPr>
              <p:cNvPr id="249898" name="Line 43"/>
              <p:cNvSpPr/>
              <p:nvPr/>
            </p:nvSpPr>
            <p:spPr>
              <a:xfrm>
                <a:off x="5159" y="3332"/>
                <a:ext cx="2" cy="293"/>
              </a:xfrm>
              <a:prstGeom prst="line">
                <a:avLst/>
              </a:prstGeom>
              <a:ln w="28575" cap="flat" cmpd="sng">
                <a:solidFill>
                  <a:srgbClr val="000066"/>
                </a:solidFill>
                <a:prstDash val="solid"/>
                <a:round/>
                <a:headEnd type="none" w="med" len="med"/>
                <a:tailEnd type="none" w="med" len="med"/>
              </a:ln>
            </p:spPr>
          </p:sp>
        </p:grpSp>
        <p:grpSp>
          <p:nvGrpSpPr>
            <p:cNvPr id="249899" name="Group 44"/>
            <p:cNvGrpSpPr/>
            <p:nvPr/>
          </p:nvGrpSpPr>
          <p:grpSpPr>
            <a:xfrm>
              <a:off x="3839" y="1872"/>
              <a:ext cx="1467" cy="297"/>
              <a:chOff x="3827" y="3332"/>
              <a:chExt cx="1597" cy="297"/>
            </a:xfrm>
          </p:grpSpPr>
          <p:sp>
            <p:nvSpPr>
              <p:cNvPr id="249900" name="Rectangle 45"/>
              <p:cNvSpPr/>
              <p:nvPr/>
            </p:nvSpPr>
            <p:spPr>
              <a:xfrm>
                <a:off x="3827" y="3332"/>
                <a:ext cx="1597" cy="297"/>
              </a:xfrm>
              <a:prstGeom prst="rect">
                <a:avLst/>
              </a:prstGeom>
              <a:solidFill>
                <a:srgbClr val="66FFFF"/>
              </a:solidFill>
              <a:ln w="38100" cap="flat" cmpd="sng">
                <a:solidFill>
                  <a:srgbClr val="000066"/>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901" name="Line 46"/>
              <p:cNvSpPr/>
              <p:nvPr/>
            </p:nvSpPr>
            <p:spPr>
              <a:xfrm>
                <a:off x="4089" y="3332"/>
                <a:ext cx="2" cy="293"/>
              </a:xfrm>
              <a:prstGeom prst="line">
                <a:avLst/>
              </a:prstGeom>
              <a:ln w="28575" cap="flat" cmpd="sng">
                <a:solidFill>
                  <a:srgbClr val="000066"/>
                </a:solidFill>
                <a:prstDash val="solid"/>
                <a:round/>
                <a:headEnd type="none" w="med" len="med"/>
                <a:tailEnd type="none" w="med" len="med"/>
              </a:ln>
            </p:spPr>
          </p:sp>
          <p:sp>
            <p:nvSpPr>
              <p:cNvPr id="249902" name="Line 47"/>
              <p:cNvSpPr/>
              <p:nvPr/>
            </p:nvSpPr>
            <p:spPr>
              <a:xfrm>
                <a:off x="4351" y="3332"/>
                <a:ext cx="2" cy="293"/>
              </a:xfrm>
              <a:prstGeom prst="line">
                <a:avLst/>
              </a:prstGeom>
              <a:ln w="28575" cap="flat" cmpd="sng">
                <a:solidFill>
                  <a:srgbClr val="000066"/>
                </a:solidFill>
                <a:prstDash val="solid"/>
                <a:round/>
                <a:headEnd type="none" w="med" len="med"/>
                <a:tailEnd type="none" w="med" len="med"/>
              </a:ln>
            </p:spPr>
          </p:sp>
          <p:sp>
            <p:nvSpPr>
              <p:cNvPr id="249903" name="Line 48"/>
              <p:cNvSpPr/>
              <p:nvPr/>
            </p:nvSpPr>
            <p:spPr>
              <a:xfrm>
                <a:off x="4622" y="3332"/>
                <a:ext cx="2" cy="293"/>
              </a:xfrm>
              <a:prstGeom prst="line">
                <a:avLst/>
              </a:prstGeom>
              <a:ln w="28575" cap="flat" cmpd="sng">
                <a:solidFill>
                  <a:srgbClr val="000066"/>
                </a:solidFill>
                <a:prstDash val="solid"/>
                <a:round/>
                <a:headEnd type="none" w="med" len="med"/>
                <a:tailEnd type="none" w="med" len="med"/>
              </a:ln>
            </p:spPr>
          </p:sp>
          <p:sp>
            <p:nvSpPr>
              <p:cNvPr id="249904" name="Line 49"/>
              <p:cNvSpPr/>
              <p:nvPr/>
            </p:nvSpPr>
            <p:spPr>
              <a:xfrm>
                <a:off x="4894" y="3332"/>
                <a:ext cx="3" cy="293"/>
              </a:xfrm>
              <a:prstGeom prst="line">
                <a:avLst/>
              </a:prstGeom>
              <a:ln w="28575" cap="flat" cmpd="sng">
                <a:solidFill>
                  <a:srgbClr val="000066"/>
                </a:solidFill>
                <a:prstDash val="solid"/>
                <a:round/>
                <a:headEnd type="none" w="med" len="med"/>
                <a:tailEnd type="none" w="med" len="med"/>
              </a:ln>
            </p:spPr>
          </p:sp>
          <p:sp>
            <p:nvSpPr>
              <p:cNvPr id="249905" name="Line 50"/>
              <p:cNvSpPr/>
              <p:nvPr/>
            </p:nvSpPr>
            <p:spPr>
              <a:xfrm>
                <a:off x="5159" y="3332"/>
                <a:ext cx="2" cy="293"/>
              </a:xfrm>
              <a:prstGeom prst="line">
                <a:avLst/>
              </a:prstGeom>
              <a:ln w="28575" cap="flat" cmpd="sng">
                <a:solidFill>
                  <a:srgbClr val="000066"/>
                </a:solidFill>
                <a:prstDash val="solid"/>
                <a:round/>
                <a:headEnd type="none" w="med" len="med"/>
                <a:tailEnd type="none" w="med" len="med"/>
              </a:ln>
            </p:spPr>
          </p:sp>
        </p:grpSp>
        <p:grpSp>
          <p:nvGrpSpPr>
            <p:cNvPr id="249906" name="Group 51"/>
            <p:cNvGrpSpPr/>
            <p:nvPr/>
          </p:nvGrpSpPr>
          <p:grpSpPr>
            <a:xfrm>
              <a:off x="3839" y="1296"/>
              <a:ext cx="1467" cy="297"/>
              <a:chOff x="3827" y="3332"/>
              <a:chExt cx="1597" cy="297"/>
            </a:xfrm>
          </p:grpSpPr>
          <p:sp>
            <p:nvSpPr>
              <p:cNvPr id="249907" name="Rectangle 52"/>
              <p:cNvSpPr/>
              <p:nvPr/>
            </p:nvSpPr>
            <p:spPr>
              <a:xfrm>
                <a:off x="3827" y="3332"/>
                <a:ext cx="1597" cy="297"/>
              </a:xfrm>
              <a:prstGeom prst="rect">
                <a:avLst/>
              </a:prstGeom>
              <a:solidFill>
                <a:srgbClr val="66FFFF"/>
              </a:solidFill>
              <a:ln w="38100" cap="flat" cmpd="sng">
                <a:solidFill>
                  <a:srgbClr val="000066"/>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49908" name="Line 53"/>
              <p:cNvSpPr/>
              <p:nvPr/>
            </p:nvSpPr>
            <p:spPr>
              <a:xfrm>
                <a:off x="4089" y="3332"/>
                <a:ext cx="2" cy="293"/>
              </a:xfrm>
              <a:prstGeom prst="line">
                <a:avLst/>
              </a:prstGeom>
              <a:ln w="28575" cap="flat" cmpd="sng">
                <a:solidFill>
                  <a:srgbClr val="000066"/>
                </a:solidFill>
                <a:prstDash val="solid"/>
                <a:round/>
                <a:headEnd type="none" w="med" len="med"/>
                <a:tailEnd type="none" w="med" len="med"/>
              </a:ln>
            </p:spPr>
          </p:sp>
          <p:sp>
            <p:nvSpPr>
              <p:cNvPr id="249909" name="Line 54"/>
              <p:cNvSpPr/>
              <p:nvPr/>
            </p:nvSpPr>
            <p:spPr>
              <a:xfrm>
                <a:off x="4351" y="3332"/>
                <a:ext cx="2" cy="293"/>
              </a:xfrm>
              <a:prstGeom prst="line">
                <a:avLst/>
              </a:prstGeom>
              <a:ln w="28575" cap="flat" cmpd="sng">
                <a:solidFill>
                  <a:srgbClr val="000066"/>
                </a:solidFill>
                <a:prstDash val="solid"/>
                <a:round/>
                <a:headEnd type="none" w="med" len="med"/>
                <a:tailEnd type="none" w="med" len="med"/>
              </a:ln>
            </p:spPr>
          </p:sp>
          <p:sp>
            <p:nvSpPr>
              <p:cNvPr id="249910" name="Line 55"/>
              <p:cNvSpPr/>
              <p:nvPr/>
            </p:nvSpPr>
            <p:spPr>
              <a:xfrm>
                <a:off x="4622" y="3332"/>
                <a:ext cx="2" cy="293"/>
              </a:xfrm>
              <a:prstGeom prst="line">
                <a:avLst/>
              </a:prstGeom>
              <a:ln w="28575" cap="flat" cmpd="sng">
                <a:solidFill>
                  <a:srgbClr val="000066"/>
                </a:solidFill>
                <a:prstDash val="solid"/>
                <a:round/>
                <a:headEnd type="none" w="med" len="med"/>
                <a:tailEnd type="none" w="med" len="med"/>
              </a:ln>
            </p:spPr>
          </p:sp>
          <p:sp>
            <p:nvSpPr>
              <p:cNvPr id="249911" name="Line 56"/>
              <p:cNvSpPr/>
              <p:nvPr/>
            </p:nvSpPr>
            <p:spPr>
              <a:xfrm>
                <a:off x="4894" y="3332"/>
                <a:ext cx="3" cy="293"/>
              </a:xfrm>
              <a:prstGeom prst="line">
                <a:avLst/>
              </a:prstGeom>
              <a:ln w="28575" cap="flat" cmpd="sng">
                <a:solidFill>
                  <a:srgbClr val="000066"/>
                </a:solidFill>
                <a:prstDash val="solid"/>
                <a:round/>
                <a:headEnd type="none" w="med" len="med"/>
                <a:tailEnd type="none" w="med" len="med"/>
              </a:ln>
            </p:spPr>
          </p:sp>
          <p:sp>
            <p:nvSpPr>
              <p:cNvPr id="249912" name="Line 57"/>
              <p:cNvSpPr/>
              <p:nvPr/>
            </p:nvSpPr>
            <p:spPr>
              <a:xfrm>
                <a:off x="5159" y="3332"/>
                <a:ext cx="2" cy="293"/>
              </a:xfrm>
              <a:prstGeom prst="line">
                <a:avLst/>
              </a:prstGeom>
              <a:ln w="28575" cap="flat" cmpd="sng">
                <a:solidFill>
                  <a:srgbClr val="000066"/>
                </a:solidFill>
                <a:prstDash val="solid"/>
                <a:round/>
                <a:headEnd type="none" w="med" len="med"/>
                <a:tailEnd type="none" w="med" len="med"/>
              </a:ln>
            </p:spPr>
          </p:sp>
        </p:grpSp>
        <p:sp>
          <p:nvSpPr>
            <p:cNvPr id="249913" name="Line 58"/>
            <p:cNvSpPr/>
            <p:nvPr/>
          </p:nvSpPr>
          <p:spPr>
            <a:xfrm flipH="1">
              <a:off x="4267" y="1152"/>
              <a:ext cx="365" cy="619"/>
            </a:xfrm>
            <a:prstGeom prst="line">
              <a:avLst/>
            </a:prstGeom>
            <a:ln w="19050" cap="flat" cmpd="sng">
              <a:solidFill>
                <a:schemeClr val="tx1"/>
              </a:solidFill>
              <a:prstDash val="solid"/>
              <a:round/>
              <a:headEnd type="none" w="med" len="med"/>
              <a:tailEnd type="none" w="med" len="med"/>
            </a:ln>
          </p:spPr>
        </p:sp>
        <p:sp>
          <p:nvSpPr>
            <p:cNvPr id="249914" name="Line 59"/>
            <p:cNvSpPr/>
            <p:nvPr/>
          </p:nvSpPr>
          <p:spPr>
            <a:xfrm>
              <a:off x="3883" y="1152"/>
              <a:ext cx="88" cy="283"/>
            </a:xfrm>
            <a:prstGeom prst="line">
              <a:avLst/>
            </a:prstGeom>
            <a:ln w="19050" cap="flat" cmpd="sng">
              <a:solidFill>
                <a:schemeClr val="tx1"/>
              </a:solidFill>
              <a:prstDash val="solid"/>
              <a:round/>
              <a:headEnd type="none" w="med" len="med"/>
              <a:tailEnd type="none" w="med" len="med"/>
            </a:ln>
          </p:spPr>
        </p:sp>
        <p:sp>
          <p:nvSpPr>
            <p:cNvPr id="249915" name="Rectangle 60"/>
            <p:cNvSpPr/>
            <p:nvPr/>
          </p:nvSpPr>
          <p:spPr>
            <a:xfrm>
              <a:off x="3706" y="930"/>
              <a:ext cx="320" cy="192"/>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料架</a:t>
              </a:r>
              <a:endParaRPr lang="zh-CN" altLang="en-US" sz="2000" dirty="0">
                <a:latin typeface="Times New Roman" panose="02020603050405020304" pitchFamily="18" charset="0"/>
                <a:ea typeface="宋体" panose="02010600030101010101" pitchFamily="2" charset="-122"/>
              </a:endParaRPr>
            </a:p>
          </p:txBody>
        </p:sp>
        <p:sp>
          <p:nvSpPr>
            <p:cNvPr id="249916" name="Line 61"/>
            <p:cNvSpPr/>
            <p:nvPr/>
          </p:nvSpPr>
          <p:spPr>
            <a:xfrm flipV="1">
              <a:off x="3079" y="1296"/>
              <a:ext cx="176" cy="912"/>
            </a:xfrm>
            <a:prstGeom prst="line">
              <a:avLst/>
            </a:prstGeom>
            <a:ln w="19050" cap="flat" cmpd="sng">
              <a:solidFill>
                <a:schemeClr val="tx1"/>
              </a:solidFill>
              <a:prstDash val="solid"/>
              <a:round/>
              <a:headEnd type="none" w="med" len="med"/>
              <a:tailEnd type="none" w="med" len="med"/>
            </a:ln>
          </p:spPr>
        </p:sp>
      </p:grpSp>
    </p:spTree>
  </p:cSld>
  <p:clrMapOvr>
    <a:masterClrMapping/>
  </p:clrMapOvr>
  <p:transition spd="slow">
    <p:randomBar dir="ver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4706" name="Rectangle 2"/>
          <p:cNvSpPr>
            <a:spLocks noGrp="1" noChangeArrowheads="1"/>
          </p:cNvSpPr>
          <p:nvPr>
            <p:ph type="title"/>
          </p:nvPr>
        </p:nvSpPr>
        <p:spPr>
          <a:xfrm>
            <a:off x="2819400" y="379413"/>
            <a:ext cx="5208588"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51906"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51907" name="Group 30"/>
          <p:cNvGrpSpPr/>
          <p:nvPr/>
        </p:nvGrpSpPr>
        <p:grpSpPr>
          <a:xfrm>
            <a:off x="34925" y="1557338"/>
            <a:ext cx="9304338" cy="4456112"/>
            <a:chOff x="240" y="601"/>
            <a:chExt cx="5362" cy="2807"/>
          </a:xfrm>
        </p:grpSpPr>
        <p:sp>
          <p:nvSpPr>
            <p:cNvPr id="1224709" name="Rectangle 5"/>
            <p:cNvSpPr>
              <a:spLocks noChangeArrowheads="1"/>
            </p:cNvSpPr>
            <p:nvPr/>
          </p:nvSpPr>
          <p:spPr bwMode="auto">
            <a:xfrm>
              <a:off x="240" y="601"/>
              <a:ext cx="1488" cy="311"/>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传输装置</a:t>
              </a:r>
              <a:r>
                <a:rPr kumimoji="1" lang="zh-CN" altLang="en-US" sz="2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grpSp>
          <p:nvGrpSpPr>
            <p:cNvPr id="251909" name="Group 6"/>
            <p:cNvGrpSpPr/>
            <p:nvPr/>
          </p:nvGrpSpPr>
          <p:grpSpPr>
            <a:xfrm>
              <a:off x="1440" y="960"/>
              <a:ext cx="4032" cy="817"/>
              <a:chOff x="1440" y="960"/>
              <a:chExt cx="4032" cy="817"/>
            </a:xfrm>
          </p:grpSpPr>
          <p:sp>
            <p:nvSpPr>
              <p:cNvPr id="251910" name="Rectangle 7"/>
              <p:cNvSpPr/>
              <p:nvPr/>
            </p:nvSpPr>
            <p:spPr>
              <a:xfrm>
                <a:off x="1584" y="960"/>
                <a:ext cx="3888" cy="817"/>
              </a:xfrm>
              <a:prstGeom prst="rect">
                <a:avLst/>
              </a:prstGeom>
              <a:noFill/>
              <a:ln w="9525">
                <a:noFill/>
              </a:ln>
            </p:spPr>
            <p:txBody>
              <a:bodyPr anchor="t" anchorCtr="0">
                <a:spAutoFit/>
              </a:bodyPr>
              <a:p>
                <a:pPr>
                  <a:lnSpc>
                    <a:spcPct val="110000"/>
                  </a:lnSpc>
                </a:pPr>
                <a:r>
                  <a:rPr lang="zh-CN" altLang="en-US" sz="2400" b="1" dirty="0">
                    <a:latin typeface="楷体_GB2312"/>
                    <a:ea typeface="楷体_GB2312"/>
                  </a:rPr>
                  <a:t>滚式</a:t>
                </a:r>
                <a:endParaRPr lang="zh-CN" altLang="en-US" sz="2400" b="1" dirty="0">
                  <a:latin typeface="楷体_GB2312"/>
                  <a:ea typeface="楷体_GB2312"/>
                </a:endParaRPr>
              </a:p>
              <a:p>
                <a:pPr>
                  <a:lnSpc>
                    <a:spcPct val="110000"/>
                  </a:lnSpc>
                </a:pPr>
                <a:r>
                  <a:rPr lang="zh-CN" altLang="en-US" sz="2400" b="1" dirty="0">
                    <a:latin typeface="楷体_GB2312"/>
                    <a:ea typeface="楷体_GB2312"/>
                  </a:rPr>
                  <a:t>链式（传送带由于柔性差，目前较少使用）</a:t>
                </a:r>
                <a:endParaRPr lang="zh-CN" altLang="en-US" sz="2400" b="1" dirty="0">
                  <a:latin typeface="楷体_GB2312"/>
                  <a:ea typeface="楷体_GB2312"/>
                </a:endParaRPr>
              </a:p>
              <a:p>
                <a:pPr>
                  <a:lnSpc>
                    <a:spcPct val="110000"/>
                  </a:lnSpc>
                </a:pPr>
                <a:r>
                  <a:rPr lang="zh-CN" altLang="en-US" sz="2400" b="1" dirty="0">
                    <a:latin typeface="楷体_GB2312"/>
                    <a:ea typeface="楷体_GB2312"/>
                  </a:rPr>
                  <a:t>带式</a:t>
                </a:r>
                <a:endParaRPr lang="zh-CN" altLang="en-US" sz="2400" b="1" dirty="0">
                  <a:latin typeface="楷体_GB2312"/>
                  <a:ea typeface="楷体_GB2312"/>
                </a:endParaRPr>
              </a:p>
            </p:txBody>
          </p:sp>
          <p:sp>
            <p:nvSpPr>
              <p:cNvPr id="251911" name="AutoShape 8"/>
              <p:cNvSpPr/>
              <p:nvPr/>
            </p:nvSpPr>
            <p:spPr>
              <a:xfrm>
                <a:off x="1440" y="1083"/>
                <a:ext cx="144" cy="597"/>
              </a:xfrm>
              <a:prstGeom prst="leftBrace">
                <a:avLst>
                  <a:gd name="adj1" fmla="val 34414"/>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1912" name="Group 9"/>
            <p:cNvGrpSpPr/>
            <p:nvPr/>
          </p:nvGrpSpPr>
          <p:grpSpPr>
            <a:xfrm>
              <a:off x="1610" y="1888"/>
              <a:ext cx="1429" cy="632"/>
              <a:chOff x="1632" y="1888"/>
              <a:chExt cx="1248" cy="632"/>
            </a:xfrm>
          </p:grpSpPr>
          <p:sp>
            <p:nvSpPr>
              <p:cNvPr id="251913" name="Rectangle 10"/>
              <p:cNvSpPr/>
              <p:nvPr/>
            </p:nvSpPr>
            <p:spPr>
              <a:xfrm>
                <a:off x="1728" y="1888"/>
                <a:ext cx="720" cy="288"/>
              </a:xfrm>
              <a:prstGeom prst="rect">
                <a:avLst/>
              </a:prstGeom>
              <a:noFill/>
              <a:ln w="9525">
                <a:noFill/>
              </a:ln>
            </p:spPr>
            <p:txBody>
              <a:bodyPr anchor="t" anchorCtr="0">
                <a:spAutoFit/>
              </a:bodyPr>
              <a:p>
                <a:r>
                  <a:rPr lang="zh-CN" altLang="en-US" sz="2400" b="1" dirty="0">
                    <a:latin typeface="楷体_GB2312"/>
                    <a:ea typeface="楷体_GB2312"/>
                  </a:rPr>
                  <a:t>有轨</a:t>
                </a:r>
                <a:endParaRPr lang="zh-CN" altLang="en-US" sz="2400" b="1" dirty="0">
                  <a:latin typeface="楷体_GB2312"/>
                  <a:ea typeface="楷体_GB2312"/>
                </a:endParaRPr>
              </a:p>
            </p:txBody>
          </p:sp>
          <p:sp>
            <p:nvSpPr>
              <p:cNvPr id="251914" name="Rectangle 11"/>
              <p:cNvSpPr/>
              <p:nvPr/>
            </p:nvSpPr>
            <p:spPr>
              <a:xfrm>
                <a:off x="1728" y="2232"/>
                <a:ext cx="1152" cy="288"/>
              </a:xfrm>
              <a:prstGeom prst="rect">
                <a:avLst/>
              </a:prstGeom>
              <a:noFill/>
              <a:ln w="9525">
                <a:noFill/>
              </a:ln>
            </p:spPr>
            <p:txBody>
              <a:bodyPr anchor="t" anchorCtr="0">
                <a:spAutoFit/>
              </a:bodyPr>
              <a:p>
                <a:r>
                  <a:rPr lang="zh-CN" altLang="en-US" sz="2400" b="1" dirty="0">
                    <a:latin typeface="楷体_GB2312"/>
                    <a:ea typeface="楷体_GB2312"/>
                  </a:rPr>
                  <a:t>无轨（</a:t>
                </a:r>
                <a:r>
                  <a:rPr lang="en-US" altLang="zh-CN" sz="2400" b="1" dirty="0">
                    <a:latin typeface="楷体_GB2312"/>
                    <a:ea typeface="楷体_GB2312"/>
                  </a:rPr>
                  <a:t>AGV</a:t>
                </a:r>
                <a:r>
                  <a:rPr lang="zh-CN" altLang="en-US" sz="2400" b="1" dirty="0">
                    <a:latin typeface="楷体_GB2312"/>
                    <a:ea typeface="楷体_GB2312"/>
                  </a:rPr>
                  <a:t>）</a:t>
                </a:r>
                <a:endParaRPr lang="zh-CN" altLang="en-US" sz="2400" b="1" dirty="0">
                  <a:latin typeface="楷体_GB2312"/>
                  <a:ea typeface="楷体_GB2312"/>
                </a:endParaRPr>
              </a:p>
            </p:txBody>
          </p:sp>
          <p:sp>
            <p:nvSpPr>
              <p:cNvPr id="251915" name="AutoShape 12"/>
              <p:cNvSpPr/>
              <p:nvPr/>
            </p:nvSpPr>
            <p:spPr>
              <a:xfrm>
                <a:off x="1632" y="2019"/>
                <a:ext cx="96" cy="366"/>
              </a:xfrm>
              <a:prstGeom prst="leftBrace">
                <a:avLst>
                  <a:gd name="adj1" fmla="val 31647"/>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1916" name="Group 13"/>
            <p:cNvGrpSpPr/>
            <p:nvPr/>
          </p:nvGrpSpPr>
          <p:grpSpPr>
            <a:xfrm>
              <a:off x="2928" y="1973"/>
              <a:ext cx="978" cy="760"/>
              <a:chOff x="2928" y="1973"/>
              <a:chExt cx="978" cy="760"/>
            </a:xfrm>
          </p:grpSpPr>
          <p:sp>
            <p:nvSpPr>
              <p:cNvPr id="251917" name="Rectangle 14"/>
              <p:cNvSpPr/>
              <p:nvPr/>
            </p:nvSpPr>
            <p:spPr>
              <a:xfrm>
                <a:off x="2994" y="1973"/>
                <a:ext cx="912" cy="287"/>
              </a:xfrm>
              <a:prstGeom prst="rect">
                <a:avLst/>
              </a:prstGeom>
              <a:noFill/>
              <a:ln w="9525">
                <a:noFill/>
              </a:ln>
            </p:spPr>
            <p:txBody>
              <a:bodyPr anchor="t" anchorCtr="0">
                <a:spAutoFit/>
              </a:bodyPr>
              <a:p>
                <a:r>
                  <a:rPr lang="zh-CN" altLang="en-US" sz="2400" b="1" dirty="0">
                    <a:latin typeface="楷体_GB2312"/>
                    <a:ea typeface="楷体_GB2312"/>
                  </a:rPr>
                  <a:t>固定路线</a:t>
                </a:r>
                <a:endParaRPr lang="zh-CN" altLang="en-US" sz="2400" b="1" dirty="0">
                  <a:latin typeface="楷体_GB2312"/>
                  <a:ea typeface="楷体_GB2312"/>
                </a:endParaRPr>
              </a:p>
            </p:txBody>
          </p:sp>
          <p:sp>
            <p:nvSpPr>
              <p:cNvPr id="251918" name="Rectangle 15"/>
              <p:cNvSpPr/>
              <p:nvPr/>
            </p:nvSpPr>
            <p:spPr>
              <a:xfrm>
                <a:off x="2994" y="2444"/>
                <a:ext cx="912" cy="289"/>
              </a:xfrm>
              <a:prstGeom prst="rect">
                <a:avLst/>
              </a:prstGeom>
              <a:noFill/>
              <a:ln w="9525">
                <a:noFill/>
              </a:ln>
            </p:spPr>
            <p:txBody>
              <a:bodyPr anchor="t" anchorCtr="0">
                <a:spAutoFit/>
              </a:bodyPr>
              <a:p>
                <a:r>
                  <a:rPr lang="zh-CN" altLang="en-US" sz="2400" b="1" dirty="0">
                    <a:latin typeface="楷体_GB2312"/>
                    <a:ea typeface="楷体_GB2312"/>
                  </a:rPr>
                  <a:t>随机路线</a:t>
                </a:r>
                <a:endParaRPr lang="zh-CN" altLang="en-US" sz="2400" b="1" dirty="0">
                  <a:latin typeface="楷体_GB2312"/>
                  <a:ea typeface="楷体_GB2312"/>
                </a:endParaRPr>
              </a:p>
            </p:txBody>
          </p:sp>
          <p:sp>
            <p:nvSpPr>
              <p:cNvPr id="251919" name="AutoShape 16"/>
              <p:cNvSpPr/>
              <p:nvPr/>
            </p:nvSpPr>
            <p:spPr>
              <a:xfrm>
                <a:off x="2928" y="2137"/>
                <a:ext cx="96" cy="460"/>
              </a:xfrm>
              <a:prstGeom prst="leftBrace">
                <a:avLst>
                  <a:gd name="adj1" fmla="val 39775"/>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1920" name="Group 17"/>
            <p:cNvGrpSpPr/>
            <p:nvPr/>
          </p:nvGrpSpPr>
          <p:grpSpPr>
            <a:xfrm>
              <a:off x="3894" y="1712"/>
              <a:ext cx="1708" cy="763"/>
              <a:chOff x="3894" y="1712"/>
              <a:chExt cx="1626" cy="763"/>
            </a:xfrm>
          </p:grpSpPr>
          <p:sp>
            <p:nvSpPr>
              <p:cNvPr id="251921" name="Rectangle 18"/>
              <p:cNvSpPr/>
              <p:nvPr/>
            </p:nvSpPr>
            <p:spPr>
              <a:xfrm>
                <a:off x="3984" y="1712"/>
                <a:ext cx="1536" cy="288"/>
              </a:xfrm>
              <a:prstGeom prst="rect">
                <a:avLst/>
              </a:prstGeom>
              <a:noFill/>
              <a:ln w="9525">
                <a:noFill/>
              </a:ln>
            </p:spPr>
            <p:txBody>
              <a:bodyPr anchor="t" anchorCtr="0">
                <a:spAutoFit/>
              </a:bodyPr>
              <a:p>
                <a:r>
                  <a:rPr lang="zh-CN" altLang="en-US" sz="2400" b="1" dirty="0">
                    <a:latin typeface="楷体_GB2312"/>
                    <a:ea typeface="楷体_GB2312"/>
                  </a:rPr>
                  <a:t>电磁式（图</a:t>
                </a:r>
                <a:r>
                  <a:rPr lang="en-US" altLang="zh-CN" sz="2400" b="1" dirty="0">
                    <a:latin typeface="楷体_GB2312"/>
                    <a:ea typeface="楷体_GB2312"/>
                  </a:rPr>
                  <a:t>2-31</a:t>
                </a:r>
                <a:r>
                  <a:rPr lang="zh-CN" altLang="en-US" sz="2400" b="1" dirty="0">
                    <a:latin typeface="楷体_GB2312"/>
                    <a:ea typeface="楷体_GB2312"/>
                  </a:rPr>
                  <a:t>）</a:t>
                </a:r>
                <a:endParaRPr lang="zh-CN" altLang="en-US" sz="2400" b="1" dirty="0">
                  <a:latin typeface="楷体_GB2312"/>
                  <a:ea typeface="楷体_GB2312"/>
                </a:endParaRPr>
              </a:p>
            </p:txBody>
          </p:sp>
          <p:sp>
            <p:nvSpPr>
              <p:cNvPr id="251922" name="Rectangle 19"/>
              <p:cNvSpPr/>
              <p:nvPr/>
            </p:nvSpPr>
            <p:spPr>
              <a:xfrm>
                <a:off x="3984" y="1980"/>
                <a:ext cx="1488" cy="288"/>
              </a:xfrm>
              <a:prstGeom prst="rect">
                <a:avLst/>
              </a:prstGeom>
              <a:noFill/>
              <a:ln w="9525">
                <a:noFill/>
              </a:ln>
            </p:spPr>
            <p:txBody>
              <a:bodyPr anchor="t" anchorCtr="0">
                <a:spAutoFit/>
              </a:bodyPr>
              <a:p>
                <a:r>
                  <a:rPr lang="zh-CN" altLang="en-US" sz="2400" b="1" dirty="0">
                    <a:latin typeface="楷体_GB2312"/>
                    <a:ea typeface="楷体_GB2312"/>
                  </a:rPr>
                  <a:t>光电式（图</a:t>
                </a:r>
                <a:r>
                  <a:rPr lang="en-US" altLang="zh-CN" sz="2400" b="1" dirty="0">
                    <a:latin typeface="楷体_GB2312"/>
                    <a:ea typeface="楷体_GB2312"/>
                  </a:rPr>
                  <a:t>2-32</a:t>
                </a:r>
                <a:r>
                  <a:rPr lang="zh-CN" altLang="en-US" sz="2400" b="1" dirty="0">
                    <a:latin typeface="楷体_GB2312"/>
                    <a:ea typeface="楷体_GB2312"/>
                  </a:rPr>
                  <a:t>）</a:t>
                </a:r>
                <a:endParaRPr lang="zh-CN" altLang="en-US" sz="2400" b="1" dirty="0">
                  <a:latin typeface="楷体_GB2312"/>
                  <a:ea typeface="楷体_GB2312"/>
                </a:endParaRPr>
              </a:p>
            </p:txBody>
          </p:sp>
          <p:sp>
            <p:nvSpPr>
              <p:cNvPr id="251923" name="Rectangle 20"/>
              <p:cNvSpPr/>
              <p:nvPr/>
            </p:nvSpPr>
            <p:spPr>
              <a:xfrm>
                <a:off x="4080" y="2188"/>
                <a:ext cx="720" cy="287"/>
              </a:xfrm>
              <a:prstGeom prst="rect">
                <a:avLst/>
              </a:prstGeom>
              <a:noFill/>
              <a:ln w="9525">
                <a:noFill/>
              </a:ln>
            </p:spPr>
            <p:txBody>
              <a:bodyPr anchor="t" anchorCtr="0">
                <a:spAutoFit/>
              </a:bodyPr>
              <a:p>
                <a:r>
                  <a:rPr lang="en-US" altLang="zh-CN" sz="2400" b="1" dirty="0">
                    <a:latin typeface="Times New Roman" panose="02020603050405020304" pitchFamily="18" charset="0"/>
                    <a:ea typeface="黑体" panose="02010609060101010101" pitchFamily="49" charset="-122"/>
                  </a:rPr>
                  <a:t>……</a:t>
                </a:r>
                <a:endParaRPr lang="en-US" altLang="zh-CN" sz="2400" b="1" dirty="0">
                  <a:latin typeface="黑体" panose="02010609060101010101" pitchFamily="49" charset="-122"/>
                  <a:ea typeface="黑体" panose="02010609060101010101" pitchFamily="49" charset="-122"/>
                </a:endParaRPr>
              </a:p>
            </p:txBody>
          </p:sp>
          <p:sp>
            <p:nvSpPr>
              <p:cNvPr id="251924" name="AutoShape 21"/>
              <p:cNvSpPr/>
              <p:nvPr/>
            </p:nvSpPr>
            <p:spPr>
              <a:xfrm>
                <a:off x="3894" y="1854"/>
                <a:ext cx="96" cy="535"/>
              </a:xfrm>
              <a:prstGeom prst="leftBrace">
                <a:avLst>
                  <a:gd name="adj1" fmla="val 46260"/>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1925" name="Group 22"/>
            <p:cNvGrpSpPr/>
            <p:nvPr/>
          </p:nvGrpSpPr>
          <p:grpSpPr>
            <a:xfrm>
              <a:off x="576" y="1214"/>
              <a:ext cx="1077" cy="2058"/>
              <a:chOff x="576" y="1214"/>
              <a:chExt cx="1077" cy="2058"/>
            </a:xfrm>
          </p:grpSpPr>
          <p:sp>
            <p:nvSpPr>
              <p:cNvPr id="251926" name="AutoShape 23"/>
              <p:cNvSpPr/>
              <p:nvPr/>
            </p:nvSpPr>
            <p:spPr>
              <a:xfrm>
                <a:off x="576" y="1392"/>
                <a:ext cx="144" cy="1776"/>
              </a:xfrm>
              <a:prstGeom prst="leftBrace">
                <a:avLst>
                  <a:gd name="adj1" fmla="val 102378"/>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1927" name="Rectangle 24"/>
              <p:cNvSpPr/>
              <p:nvPr/>
            </p:nvSpPr>
            <p:spPr>
              <a:xfrm>
                <a:off x="750" y="1214"/>
                <a:ext cx="720" cy="311"/>
              </a:xfrm>
              <a:prstGeom prst="rect">
                <a:avLst/>
              </a:prstGeom>
              <a:noFill/>
              <a:ln w="9525">
                <a:noFill/>
              </a:ln>
            </p:spPr>
            <p:txBody>
              <a:bodyPr anchor="t" anchorCtr="0">
                <a:spAutoFit/>
              </a:bodyPr>
              <a:p>
                <a:pPr>
                  <a:lnSpc>
                    <a:spcPct val="110000"/>
                  </a:lnSpc>
                </a:pPr>
                <a:r>
                  <a:rPr lang="zh-CN" altLang="en-US" sz="2400" b="1" dirty="0">
                    <a:latin typeface="楷体_GB2312"/>
                    <a:ea typeface="楷体_GB2312"/>
                  </a:rPr>
                  <a:t>传送带</a:t>
                </a:r>
                <a:endParaRPr lang="zh-CN" altLang="en-US" sz="2400" b="1" dirty="0">
                  <a:latin typeface="楷体_GB2312"/>
                  <a:ea typeface="楷体_GB2312"/>
                </a:endParaRPr>
              </a:p>
            </p:txBody>
          </p:sp>
          <p:sp>
            <p:nvSpPr>
              <p:cNvPr id="251928" name="Rectangle 25"/>
              <p:cNvSpPr/>
              <p:nvPr/>
            </p:nvSpPr>
            <p:spPr>
              <a:xfrm>
                <a:off x="741" y="2042"/>
                <a:ext cx="912" cy="288"/>
              </a:xfrm>
              <a:prstGeom prst="rect">
                <a:avLst/>
              </a:prstGeom>
              <a:noFill/>
              <a:ln w="9525">
                <a:noFill/>
              </a:ln>
            </p:spPr>
            <p:txBody>
              <a:bodyPr anchor="t" anchorCtr="0">
                <a:spAutoFit/>
              </a:bodyPr>
              <a:p>
                <a:r>
                  <a:rPr lang="zh-CN" altLang="en-US" sz="2400" b="1" dirty="0">
                    <a:latin typeface="楷体_GB2312"/>
                    <a:ea typeface="楷体_GB2312"/>
                  </a:rPr>
                  <a:t>运输小车</a:t>
                </a:r>
                <a:endParaRPr lang="zh-CN" altLang="en-US" sz="2400" b="1" dirty="0">
                  <a:latin typeface="楷体_GB2312"/>
                  <a:ea typeface="楷体_GB2312"/>
                </a:endParaRPr>
              </a:p>
            </p:txBody>
          </p:sp>
          <p:sp>
            <p:nvSpPr>
              <p:cNvPr id="251929" name="Rectangle 26"/>
              <p:cNvSpPr/>
              <p:nvPr/>
            </p:nvSpPr>
            <p:spPr>
              <a:xfrm>
                <a:off x="768" y="2939"/>
                <a:ext cx="768" cy="333"/>
              </a:xfrm>
              <a:prstGeom prst="rect">
                <a:avLst/>
              </a:prstGeom>
              <a:noFill/>
              <a:ln w="9525">
                <a:noFill/>
              </a:ln>
            </p:spPr>
            <p:txBody>
              <a:bodyPr anchor="t" anchorCtr="0">
                <a:spAutoFit/>
              </a:bodyPr>
              <a:p>
                <a:pPr>
                  <a:lnSpc>
                    <a:spcPct val="120000"/>
                  </a:lnSpc>
                </a:pPr>
                <a:r>
                  <a:rPr lang="zh-CN" altLang="en-US" sz="2400" b="1" dirty="0">
                    <a:latin typeface="楷体_GB2312"/>
                    <a:ea typeface="楷体_GB2312"/>
                  </a:rPr>
                  <a:t>机器人</a:t>
                </a:r>
                <a:endParaRPr lang="zh-CN" altLang="en-US" sz="2400" b="1" dirty="0">
                  <a:latin typeface="楷体_GB2312"/>
                  <a:ea typeface="楷体_GB2312"/>
                </a:endParaRPr>
              </a:p>
            </p:txBody>
          </p:sp>
        </p:grpSp>
        <p:grpSp>
          <p:nvGrpSpPr>
            <p:cNvPr id="251930" name="Group 27"/>
            <p:cNvGrpSpPr/>
            <p:nvPr/>
          </p:nvGrpSpPr>
          <p:grpSpPr>
            <a:xfrm>
              <a:off x="1440" y="2798"/>
              <a:ext cx="1494" cy="610"/>
              <a:chOff x="1440" y="2798"/>
              <a:chExt cx="1494" cy="610"/>
            </a:xfrm>
          </p:grpSpPr>
          <p:sp>
            <p:nvSpPr>
              <p:cNvPr id="251931" name="Rectangle 28"/>
              <p:cNvSpPr/>
              <p:nvPr/>
            </p:nvSpPr>
            <p:spPr>
              <a:xfrm>
                <a:off x="1542" y="2798"/>
                <a:ext cx="1392" cy="610"/>
              </a:xfrm>
              <a:prstGeom prst="rect">
                <a:avLst/>
              </a:prstGeom>
              <a:noFill/>
              <a:ln w="9525">
                <a:noFill/>
              </a:ln>
            </p:spPr>
            <p:txBody>
              <a:bodyPr anchor="t" anchorCtr="0">
                <a:spAutoFit/>
              </a:bodyPr>
              <a:p>
                <a:pPr>
                  <a:lnSpc>
                    <a:spcPct val="120000"/>
                  </a:lnSpc>
                </a:pPr>
                <a:r>
                  <a:rPr lang="zh-CN" altLang="en-US" sz="2400" b="1" dirty="0">
                    <a:latin typeface="楷体_GB2312"/>
                    <a:ea typeface="楷体_GB2312"/>
                  </a:rPr>
                  <a:t>固定式机器人</a:t>
                </a:r>
                <a:endParaRPr lang="zh-CN" altLang="en-US" sz="2400" b="1" dirty="0">
                  <a:latin typeface="楷体_GB2312"/>
                  <a:ea typeface="楷体_GB2312"/>
                </a:endParaRPr>
              </a:p>
              <a:p>
                <a:pPr>
                  <a:lnSpc>
                    <a:spcPct val="120000"/>
                  </a:lnSpc>
                </a:pPr>
                <a:r>
                  <a:rPr lang="zh-CN" altLang="en-US" sz="2400" b="1" dirty="0">
                    <a:latin typeface="楷体_GB2312"/>
                    <a:ea typeface="楷体_GB2312"/>
                  </a:rPr>
                  <a:t>行走式机器人</a:t>
                </a:r>
                <a:endParaRPr lang="zh-CN" altLang="en-US" sz="2400" b="1" dirty="0">
                  <a:latin typeface="楷体_GB2312"/>
                  <a:ea typeface="楷体_GB2312"/>
                </a:endParaRPr>
              </a:p>
            </p:txBody>
          </p:sp>
          <p:sp>
            <p:nvSpPr>
              <p:cNvPr id="251932" name="AutoShape 29"/>
              <p:cNvSpPr/>
              <p:nvPr/>
            </p:nvSpPr>
            <p:spPr>
              <a:xfrm>
                <a:off x="1440" y="2918"/>
                <a:ext cx="96" cy="430"/>
              </a:xfrm>
              <a:prstGeom prst="leftBrace">
                <a:avLst>
                  <a:gd name="adj1" fmla="val 37181"/>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Tree>
  </p:cSld>
  <p:clrMapOvr>
    <a:masterClrMapping/>
  </p:clrMapOvr>
  <p:transition spd="slow">
    <p:randomBar dir="ver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6754" name="Rectangle 2"/>
          <p:cNvSpPr>
            <a:spLocks noGrp="1" noChangeArrowheads="1"/>
          </p:cNvSpPr>
          <p:nvPr>
            <p:ph type="title"/>
          </p:nvPr>
        </p:nvSpPr>
        <p:spPr>
          <a:xfrm>
            <a:off x="3684588" y="379413"/>
            <a:ext cx="4056063"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53954"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53955"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53956" name="Group 5"/>
          <p:cNvGrpSpPr/>
          <p:nvPr/>
        </p:nvGrpSpPr>
        <p:grpSpPr>
          <a:xfrm>
            <a:off x="1835150" y="3141663"/>
            <a:ext cx="5270500" cy="3525837"/>
            <a:chOff x="1156" y="1979"/>
            <a:chExt cx="3320" cy="2221"/>
          </a:xfrm>
        </p:grpSpPr>
        <p:grpSp>
          <p:nvGrpSpPr>
            <p:cNvPr id="253957" name="Group 6"/>
            <p:cNvGrpSpPr/>
            <p:nvPr/>
          </p:nvGrpSpPr>
          <p:grpSpPr>
            <a:xfrm>
              <a:off x="2016" y="2767"/>
              <a:ext cx="2036" cy="916"/>
              <a:chOff x="624" y="3120"/>
              <a:chExt cx="1152" cy="577"/>
            </a:xfrm>
          </p:grpSpPr>
          <p:grpSp>
            <p:nvGrpSpPr>
              <p:cNvPr id="253958" name="Group 7"/>
              <p:cNvGrpSpPr/>
              <p:nvPr/>
            </p:nvGrpSpPr>
            <p:grpSpPr>
              <a:xfrm>
                <a:off x="719" y="3215"/>
                <a:ext cx="962" cy="481"/>
                <a:chOff x="719" y="3215"/>
                <a:chExt cx="962" cy="481"/>
              </a:xfrm>
            </p:grpSpPr>
            <p:sp>
              <p:nvSpPr>
                <p:cNvPr id="253959" name="Arc 8"/>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60" name="Arc 9"/>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nvGrpSpPr>
              <p:cNvPr id="253961" name="Group 10"/>
              <p:cNvGrpSpPr/>
              <p:nvPr/>
            </p:nvGrpSpPr>
            <p:grpSpPr>
              <a:xfrm>
                <a:off x="624" y="3120"/>
                <a:ext cx="1152" cy="577"/>
                <a:chOff x="719" y="3215"/>
                <a:chExt cx="962" cy="481"/>
              </a:xfrm>
            </p:grpSpPr>
            <p:sp>
              <p:nvSpPr>
                <p:cNvPr id="253962" name="Arc 11"/>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63" name="Arc 12"/>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nvGrpSpPr>
              <p:cNvPr id="253964" name="Group 13"/>
              <p:cNvGrpSpPr/>
              <p:nvPr/>
            </p:nvGrpSpPr>
            <p:grpSpPr>
              <a:xfrm>
                <a:off x="816" y="3312"/>
                <a:ext cx="768" cy="385"/>
                <a:chOff x="719" y="3215"/>
                <a:chExt cx="962" cy="481"/>
              </a:xfrm>
            </p:grpSpPr>
            <p:sp>
              <p:nvSpPr>
                <p:cNvPr id="253965" name="Arc 14"/>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66" name="Arc 15"/>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nvGrpSpPr>
              <p:cNvPr id="253967" name="Group 16"/>
              <p:cNvGrpSpPr/>
              <p:nvPr/>
            </p:nvGrpSpPr>
            <p:grpSpPr>
              <a:xfrm>
                <a:off x="912" y="3408"/>
                <a:ext cx="576" cy="289"/>
                <a:chOff x="719" y="3215"/>
                <a:chExt cx="962" cy="481"/>
              </a:xfrm>
            </p:grpSpPr>
            <p:sp>
              <p:nvSpPr>
                <p:cNvPr id="253968" name="Arc 17"/>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69" name="Arc 18"/>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nvGrpSpPr>
              <p:cNvPr id="253970" name="Group 19"/>
              <p:cNvGrpSpPr/>
              <p:nvPr/>
            </p:nvGrpSpPr>
            <p:grpSpPr>
              <a:xfrm>
                <a:off x="1008" y="3504"/>
                <a:ext cx="384" cy="193"/>
                <a:chOff x="719" y="3215"/>
                <a:chExt cx="962" cy="481"/>
              </a:xfrm>
            </p:grpSpPr>
            <p:sp>
              <p:nvSpPr>
                <p:cNvPr id="253971" name="Arc 20"/>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72" name="Arc 21"/>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nvGrpSpPr>
              <p:cNvPr id="253973" name="Group 22"/>
              <p:cNvGrpSpPr/>
              <p:nvPr/>
            </p:nvGrpSpPr>
            <p:grpSpPr>
              <a:xfrm>
                <a:off x="1104" y="3600"/>
                <a:ext cx="192" cy="97"/>
                <a:chOff x="719" y="3215"/>
                <a:chExt cx="962" cy="481"/>
              </a:xfrm>
            </p:grpSpPr>
            <p:sp>
              <p:nvSpPr>
                <p:cNvPr id="253974" name="Arc 23"/>
                <p:cNvSpPr/>
                <p:nvPr/>
              </p:nvSpPr>
              <p:spPr>
                <a:xfrm rot="-5400000">
                  <a:off x="712" y="3208"/>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sp>
              <p:nvSpPr>
                <p:cNvPr id="253975" name="Arc 24"/>
                <p:cNvSpPr/>
                <p:nvPr/>
              </p:nvSpPr>
              <p:spPr>
                <a:xfrm rot="5400000" flipH="1">
                  <a:off x="1193" y="3207"/>
                  <a:ext cx="480" cy="48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333399"/>
                  </a:solidFill>
                  <a:prstDash val="solid"/>
                  <a:round/>
                  <a:headEnd type="none" w="med" len="med"/>
                  <a:tailEnd type="none" w="med" len="med"/>
                </a:ln>
              </p:spPr>
              <p:txBody>
                <a:bodyPr/>
                <a:p>
                  <a:endParaRPr lang="zh-CN" altLang="en-US"/>
                </a:p>
              </p:txBody>
            </p:sp>
          </p:grpSp>
        </p:grpSp>
        <p:sp>
          <p:nvSpPr>
            <p:cNvPr id="253976" name="Line 25"/>
            <p:cNvSpPr/>
            <p:nvPr/>
          </p:nvSpPr>
          <p:spPr>
            <a:xfrm flipV="1">
              <a:off x="2223" y="2838"/>
              <a:ext cx="0" cy="297"/>
            </a:xfrm>
            <a:prstGeom prst="line">
              <a:avLst/>
            </a:prstGeom>
            <a:ln w="38100" cap="flat" cmpd="sng">
              <a:solidFill>
                <a:schemeClr val="tx1"/>
              </a:solidFill>
              <a:prstDash val="solid"/>
              <a:round/>
              <a:headEnd type="none" w="med" len="med"/>
              <a:tailEnd type="none" w="med" len="med"/>
            </a:ln>
          </p:spPr>
        </p:sp>
        <p:sp>
          <p:nvSpPr>
            <p:cNvPr id="253977" name="Line 26"/>
            <p:cNvSpPr/>
            <p:nvPr/>
          </p:nvSpPr>
          <p:spPr>
            <a:xfrm flipV="1">
              <a:off x="3834" y="2838"/>
              <a:ext cx="0" cy="297"/>
            </a:xfrm>
            <a:prstGeom prst="line">
              <a:avLst/>
            </a:prstGeom>
            <a:ln w="38100" cap="flat" cmpd="sng">
              <a:solidFill>
                <a:schemeClr val="tx1"/>
              </a:solidFill>
              <a:prstDash val="solid"/>
              <a:round/>
              <a:headEnd type="none" w="med" len="med"/>
              <a:tailEnd type="none" w="med" len="med"/>
            </a:ln>
          </p:spPr>
        </p:sp>
        <p:grpSp>
          <p:nvGrpSpPr>
            <p:cNvPr id="253978" name="Group 27"/>
            <p:cNvGrpSpPr/>
            <p:nvPr/>
          </p:nvGrpSpPr>
          <p:grpSpPr>
            <a:xfrm>
              <a:off x="2053" y="1979"/>
              <a:ext cx="1951" cy="856"/>
              <a:chOff x="2225" y="1979"/>
              <a:chExt cx="1951" cy="856"/>
            </a:xfrm>
          </p:grpSpPr>
          <p:sp>
            <p:nvSpPr>
              <p:cNvPr id="253979" name="Oval 28"/>
              <p:cNvSpPr/>
              <p:nvPr/>
            </p:nvSpPr>
            <p:spPr>
              <a:xfrm>
                <a:off x="2649" y="1979"/>
                <a:ext cx="1103" cy="458"/>
              </a:xfrm>
              <a:prstGeom prst="ellipse">
                <a:avLst/>
              </a:prstGeom>
              <a:solidFill>
                <a:srgbClr val="D5FFAB"/>
              </a:solidFill>
              <a:ln w="28575" cap="flat" cmpd="sng">
                <a:solidFill>
                  <a:schemeClr val="tx1"/>
                </a:solidFill>
                <a:prstDash val="solid"/>
                <a:round/>
                <a:headEnd type="none" w="med" len="med"/>
                <a:tailEnd type="none" w="med" len="med"/>
              </a:ln>
            </p:spPr>
            <p:txBody>
              <a:bodyPr wrap="none" anchor="ctr" anchorCtr="0"/>
              <a:p>
                <a:pPr algn="ctr"/>
                <a:r>
                  <a:rPr lang="zh-CN" altLang="en-US" sz="2000" dirty="0">
                    <a:latin typeface="黑体" panose="02010609060101010101" pitchFamily="49" charset="-122"/>
                    <a:ea typeface="黑体" panose="02010609060101010101" pitchFamily="49" charset="-122"/>
                  </a:rPr>
                  <a:t>转向舵</a:t>
                </a:r>
                <a:endParaRPr lang="zh-CN" altLang="en-US" sz="2000" dirty="0">
                  <a:latin typeface="黑体" panose="02010609060101010101" pitchFamily="49" charset="-122"/>
                  <a:ea typeface="黑体" panose="02010609060101010101" pitchFamily="49" charset="-122"/>
                </a:endParaRPr>
              </a:p>
            </p:txBody>
          </p:sp>
          <p:sp>
            <p:nvSpPr>
              <p:cNvPr id="253980" name="Text Box 29"/>
              <p:cNvSpPr txBox="1"/>
              <p:nvPr/>
            </p:nvSpPr>
            <p:spPr>
              <a:xfrm>
                <a:off x="2225" y="2589"/>
                <a:ext cx="1951" cy="246"/>
              </a:xfrm>
              <a:prstGeom prst="rect">
                <a:avLst/>
              </a:prstGeom>
              <a:solidFill>
                <a:srgbClr val="EACDFF"/>
              </a:solidFill>
              <a:ln w="28575" cap="flat" cmpd="sng">
                <a:solidFill>
                  <a:srgbClr val="660066"/>
                </a:solidFill>
                <a:prstDash val="solid"/>
                <a:miter/>
                <a:headEnd type="none" w="med" len="med"/>
                <a:tailEnd type="none" w="med" len="med"/>
              </a:ln>
            </p:spPr>
            <p:txBody>
              <a:bodyPr tIns="10800" anchor="t" anchorCtr="0">
                <a:spAutoFit/>
              </a:bodyPr>
              <a:p>
                <a:pPr algn="ctr"/>
                <a:r>
                  <a:rPr lang="zh-CN" altLang="en-US" sz="2000" dirty="0">
                    <a:solidFill>
                      <a:srgbClr val="660066"/>
                    </a:solidFill>
                    <a:latin typeface="Times New Roman" panose="02020603050405020304" pitchFamily="18" charset="0"/>
                    <a:ea typeface="黑体" panose="02010609060101010101" pitchFamily="49" charset="-122"/>
                  </a:rPr>
                  <a:t>比较放大电路</a:t>
                </a:r>
                <a:endParaRPr lang="zh-CN" altLang="en-US" sz="2000" dirty="0">
                  <a:solidFill>
                    <a:srgbClr val="660066"/>
                  </a:solidFill>
                  <a:latin typeface="Times New Roman" panose="02020603050405020304" pitchFamily="18" charset="0"/>
                  <a:ea typeface="黑体" panose="02010609060101010101" pitchFamily="49" charset="-122"/>
                </a:endParaRPr>
              </a:p>
            </p:txBody>
          </p:sp>
          <p:sp>
            <p:nvSpPr>
              <p:cNvPr id="253981" name="Line 30"/>
              <p:cNvSpPr/>
              <p:nvPr/>
            </p:nvSpPr>
            <p:spPr>
              <a:xfrm flipV="1">
                <a:off x="2395" y="2208"/>
                <a:ext cx="0" cy="381"/>
              </a:xfrm>
              <a:prstGeom prst="line">
                <a:avLst/>
              </a:prstGeom>
              <a:ln w="38100" cap="flat" cmpd="sng">
                <a:solidFill>
                  <a:schemeClr val="tx1"/>
                </a:solidFill>
                <a:prstDash val="solid"/>
                <a:round/>
                <a:headEnd type="none" w="med" len="med"/>
                <a:tailEnd type="none" w="med" len="med"/>
              </a:ln>
            </p:spPr>
          </p:sp>
          <p:sp>
            <p:nvSpPr>
              <p:cNvPr id="253982" name="Line 31"/>
              <p:cNvSpPr/>
              <p:nvPr/>
            </p:nvSpPr>
            <p:spPr>
              <a:xfrm flipH="1" flipV="1">
                <a:off x="2395" y="2208"/>
                <a:ext cx="254" cy="0"/>
              </a:xfrm>
              <a:prstGeom prst="line">
                <a:avLst/>
              </a:prstGeom>
              <a:ln w="38100" cap="flat" cmpd="sng">
                <a:solidFill>
                  <a:schemeClr val="tx1"/>
                </a:solidFill>
                <a:prstDash val="solid"/>
                <a:round/>
                <a:headEnd type="none" w="med" len="med"/>
                <a:tailEnd type="none" w="med" len="med"/>
              </a:ln>
            </p:spPr>
          </p:sp>
          <p:sp>
            <p:nvSpPr>
              <p:cNvPr id="253983" name="Line 32"/>
              <p:cNvSpPr/>
              <p:nvPr/>
            </p:nvSpPr>
            <p:spPr>
              <a:xfrm flipV="1">
                <a:off x="4006" y="2208"/>
                <a:ext cx="0" cy="381"/>
              </a:xfrm>
              <a:prstGeom prst="line">
                <a:avLst/>
              </a:prstGeom>
              <a:ln w="38100" cap="flat" cmpd="sng">
                <a:solidFill>
                  <a:schemeClr val="tx1"/>
                </a:solidFill>
                <a:prstDash val="solid"/>
                <a:round/>
                <a:headEnd type="none" w="med" len="med"/>
                <a:tailEnd type="none" w="med" len="med"/>
              </a:ln>
            </p:spPr>
          </p:sp>
          <p:sp>
            <p:nvSpPr>
              <p:cNvPr id="253984" name="Line 33"/>
              <p:cNvSpPr/>
              <p:nvPr/>
            </p:nvSpPr>
            <p:spPr>
              <a:xfrm flipH="1" flipV="1">
                <a:off x="3752" y="2208"/>
                <a:ext cx="254" cy="0"/>
              </a:xfrm>
              <a:prstGeom prst="line">
                <a:avLst/>
              </a:prstGeom>
              <a:ln w="38100" cap="flat" cmpd="sng">
                <a:solidFill>
                  <a:schemeClr val="tx1"/>
                </a:solidFill>
                <a:prstDash val="solid"/>
                <a:round/>
                <a:headEnd type="none" w="med" len="med"/>
                <a:tailEnd type="none" w="med" len="med"/>
              </a:ln>
            </p:spPr>
          </p:sp>
        </p:grpSp>
        <p:sp>
          <p:nvSpPr>
            <p:cNvPr id="253985" name="AutoShape 34"/>
            <p:cNvSpPr/>
            <p:nvPr/>
          </p:nvSpPr>
          <p:spPr>
            <a:xfrm>
              <a:off x="2095" y="3139"/>
              <a:ext cx="255" cy="229"/>
            </a:xfrm>
            <a:custGeom>
              <a:avLst/>
              <a:gdLst/>
              <a:ahLst/>
              <a:cxnLst>
                <a:cxn ang="0">
                  <a:pos x="0" y="0"/>
                </a:cxn>
                <a:cxn ang="0">
                  <a:pos x="0" y="0"/>
                </a:cxn>
                <a:cxn ang="0">
                  <a:pos x="0" y="0"/>
                </a:cxn>
                <a:cxn ang="0">
                  <a:pos x="0" y="0"/>
                </a:cxn>
                <a:cxn ang="0">
                  <a:pos x="0" y="0"/>
                </a:cxn>
                <a:cxn ang="0">
                  <a:pos x="0" y="0"/>
                </a:cxn>
                <a:cxn ang="0">
                  <a:pos x="0" y="0"/>
                </a:cxn>
                <a:cxn ang="0">
                  <a:pos x="0" y="0"/>
                </a:cxn>
              </a:cxnLst>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CC"/>
            </a:solidFill>
            <a:ln w="28575" cap="flat" cmpd="sng">
              <a:solidFill>
                <a:srgbClr val="663300"/>
              </a:solidFill>
              <a:prstDash val="solid"/>
              <a:round/>
              <a:headEnd type="none" w="med" len="med"/>
              <a:tailEnd type="none" w="med" len="med"/>
            </a:ln>
          </p:spPr>
          <p:txBody>
            <a:bodyPr/>
            <a:p>
              <a:endParaRPr lang="zh-CN" altLang="en-US"/>
            </a:p>
          </p:txBody>
        </p:sp>
        <p:sp>
          <p:nvSpPr>
            <p:cNvPr id="253986" name="AutoShape 35"/>
            <p:cNvSpPr/>
            <p:nvPr/>
          </p:nvSpPr>
          <p:spPr>
            <a:xfrm>
              <a:off x="3707" y="3139"/>
              <a:ext cx="255" cy="229"/>
            </a:xfrm>
            <a:custGeom>
              <a:avLst/>
              <a:gdLst/>
              <a:ahLst/>
              <a:cxnLst>
                <a:cxn ang="0">
                  <a:pos x="0" y="0"/>
                </a:cxn>
                <a:cxn ang="0">
                  <a:pos x="0" y="0"/>
                </a:cxn>
                <a:cxn ang="0">
                  <a:pos x="0" y="0"/>
                </a:cxn>
                <a:cxn ang="0">
                  <a:pos x="0" y="0"/>
                </a:cxn>
                <a:cxn ang="0">
                  <a:pos x="0" y="0"/>
                </a:cxn>
                <a:cxn ang="0">
                  <a:pos x="0" y="0"/>
                </a:cxn>
                <a:cxn ang="0">
                  <a:pos x="0" y="0"/>
                </a:cxn>
                <a:cxn ang="0">
                  <a:pos x="0" y="0"/>
                </a:cxn>
              </a:cxnLst>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CC"/>
            </a:solidFill>
            <a:ln w="28575" cap="flat" cmpd="sng">
              <a:solidFill>
                <a:srgbClr val="663300"/>
              </a:solidFill>
              <a:prstDash val="solid"/>
              <a:round/>
              <a:headEnd type="none" w="med" len="med"/>
              <a:tailEnd type="none" w="med" len="med"/>
            </a:ln>
          </p:spPr>
          <p:txBody>
            <a:bodyPr/>
            <a:p>
              <a:endParaRPr lang="zh-CN" altLang="en-US"/>
            </a:p>
          </p:txBody>
        </p:sp>
        <p:sp>
          <p:nvSpPr>
            <p:cNvPr id="253987" name="Oval 36"/>
            <p:cNvSpPr/>
            <p:nvPr/>
          </p:nvSpPr>
          <p:spPr>
            <a:xfrm>
              <a:off x="2971" y="3682"/>
              <a:ext cx="129" cy="116"/>
            </a:xfrm>
            <a:prstGeom prst="ellipse">
              <a:avLst/>
            </a:prstGeom>
            <a:solidFill>
              <a:srgbClr val="FFFF00"/>
            </a:solidFill>
            <a:ln w="28575" cap="flat" cmpd="sng">
              <a:solidFill>
                <a:srgbClr val="660066"/>
              </a:solidFill>
              <a:prstDash val="solid"/>
              <a:round/>
              <a:headEnd type="none" w="med" len="med"/>
              <a:tailEnd type="none" w="med" len="med"/>
            </a:ln>
          </p:spPr>
          <p:txBody>
            <a:bodyPr wrap="none" anchor="ctr" anchorCtr="0"/>
            <a:p>
              <a:pPr algn="ctr"/>
              <a:endParaRPr lang="zh-CN" altLang="zh-CN" dirty="0">
                <a:latin typeface="Arial" panose="020B0604020202020204" pitchFamily="34" charset="0"/>
                <a:ea typeface="宋体" panose="02010600030101010101" pitchFamily="2" charset="-122"/>
              </a:endParaRPr>
            </a:p>
          </p:txBody>
        </p:sp>
        <p:grpSp>
          <p:nvGrpSpPr>
            <p:cNvPr id="253988" name="Group 37"/>
            <p:cNvGrpSpPr/>
            <p:nvPr/>
          </p:nvGrpSpPr>
          <p:grpSpPr>
            <a:xfrm>
              <a:off x="1592" y="3682"/>
              <a:ext cx="2884" cy="152"/>
              <a:chOff x="1052" y="3434"/>
              <a:chExt cx="2884" cy="152"/>
            </a:xfrm>
          </p:grpSpPr>
          <p:sp>
            <p:nvSpPr>
              <p:cNvPr id="253989" name="Line 38"/>
              <p:cNvSpPr/>
              <p:nvPr/>
            </p:nvSpPr>
            <p:spPr>
              <a:xfrm>
                <a:off x="1052" y="3434"/>
                <a:ext cx="1357" cy="0"/>
              </a:xfrm>
              <a:prstGeom prst="line">
                <a:avLst/>
              </a:prstGeom>
              <a:ln w="28575" cap="flat" cmpd="sng">
                <a:solidFill>
                  <a:schemeClr val="tx1"/>
                </a:solidFill>
                <a:prstDash val="solid"/>
                <a:round/>
                <a:headEnd type="none" w="med" len="med"/>
                <a:tailEnd type="none" w="med" len="med"/>
              </a:ln>
            </p:spPr>
          </p:sp>
          <p:sp>
            <p:nvSpPr>
              <p:cNvPr id="253990" name="Line 39"/>
              <p:cNvSpPr/>
              <p:nvPr/>
            </p:nvSpPr>
            <p:spPr>
              <a:xfrm flipV="1">
                <a:off x="2409" y="3434"/>
                <a:ext cx="0" cy="152"/>
              </a:xfrm>
              <a:prstGeom prst="line">
                <a:avLst/>
              </a:prstGeom>
              <a:ln w="28575" cap="flat" cmpd="sng">
                <a:solidFill>
                  <a:schemeClr val="tx1"/>
                </a:solidFill>
                <a:prstDash val="solid"/>
                <a:round/>
                <a:headEnd type="none" w="med" len="med"/>
                <a:tailEnd type="none" w="med" len="med"/>
              </a:ln>
            </p:spPr>
          </p:sp>
          <p:sp>
            <p:nvSpPr>
              <p:cNvPr id="253991" name="Line 40"/>
              <p:cNvSpPr/>
              <p:nvPr/>
            </p:nvSpPr>
            <p:spPr>
              <a:xfrm flipV="1">
                <a:off x="2409" y="3586"/>
                <a:ext cx="170" cy="0"/>
              </a:xfrm>
              <a:prstGeom prst="line">
                <a:avLst/>
              </a:prstGeom>
              <a:ln w="28575" cap="flat" cmpd="sng">
                <a:solidFill>
                  <a:schemeClr val="tx1"/>
                </a:solidFill>
                <a:prstDash val="solid"/>
                <a:round/>
                <a:headEnd type="none" w="med" len="med"/>
                <a:tailEnd type="none" w="med" len="med"/>
              </a:ln>
            </p:spPr>
          </p:sp>
          <p:sp>
            <p:nvSpPr>
              <p:cNvPr id="253992" name="Line 41"/>
              <p:cNvSpPr/>
              <p:nvPr/>
            </p:nvSpPr>
            <p:spPr>
              <a:xfrm flipV="1">
                <a:off x="2579" y="3434"/>
                <a:ext cx="0" cy="152"/>
              </a:xfrm>
              <a:prstGeom prst="line">
                <a:avLst/>
              </a:prstGeom>
              <a:ln w="28575" cap="flat" cmpd="sng">
                <a:solidFill>
                  <a:schemeClr val="tx1"/>
                </a:solidFill>
                <a:prstDash val="solid"/>
                <a:round/>
                <a:headEnd type="none" w="med" len="med"/>
                <a:tailEnd type="none" w="med" len="med"/>
              </a:ln>
            </p:spPr>
          </p:sp>
          <p:sp>
            <p:nvSpPr>
              <p:cNvPr id="253993" name="Line 42"/>
              <p:cNvSpPr/>
              <p:nvPr/>
            </p:nvSpPr>
            <p:spPr>
              <a:xfrm>
                <a:off x="2579" y="3434"/>
                <a:ext cx="1357" cy="0"/>
              </a:xfrm>
              <a:prstGeom prst="line">
                <a:avLst/>
              </a:prstGeom>
              <a:ln w="28575" cap="flat" cmpd="sng">
                <a:solidFill>
                  <a:schemeClr val="tx1"/>
                </a:solidFill>
                <a:prstDash val="solid"/>
                <a:round/>
                <a:headEnd type="none" w="med" len="med"/>
                <a:tailEnd type="none" w="med" len="med"/>
              </a:ln>
            </p:spPr>
          </p:sp>
          <p:sp>
            <p:nvSpPr>
              <p:cNvPr id="253994" name="Line 43"/>
              <p:cNvSpPr/>
              <p:nvPr/>
            </p:nvSpPr>
            <p:spPr>
              <a:xfrm>
                <a:off x="1052" y="3434"/>
                <a:ext cx="170" cy="152"/>
              </a:xfrm>
              <a:prstGeom prst="line">
                <a:avLst/>
              </a:prstGeom>
              <a:ln w="28575" cap="flat" cmpd="sng">
                <a:solidFill>
                  <a:schemeClr val="tx1"/>
                </a:solidFill>
                <a:prstDash val="solid"/>
                <a:round/>
                <a:headEnd type="none" w="med" len="med"/>
                <a:tailEnd type="none" w="med" len="med"/>
              </a:ln>
            </p:spPr>
          </p:sp>
          <p:sp>
            <p:nvSpPr>
              <p:cNvPr id="253995" name="Line 44"/>
              <p:cNvSpPr/>
              <p:nvPr/>
            </p:nvSpPr>
            <p:spPr>
              <a:xfrm>
                <a:off x="1306" y="3434"/>
                <a:ext cx="170" cy="152"/>
              </a:xfrm>
              <a:prstGeom prst="line">
                <a:avLst/>
              </a:prstGeom>
              <a:ln w="28575" cap="flat" cmpd="sng">
                <a:solidFill>
                  <a:schemeClr val="tx1"/>
                </a:solidFill>
                <a:prstDash val="solid"/>
                <a:round/>
                <a:headEnd type="none" w="med" len="med"/>
                <a:tailEnd type="none" w="med" len="med"/>
              </a:ln>
            </p:spPr>
          </p:sp>
          <p:sp>
            <p:nvSpPr>
              <p:cNvPr id="253996" name="Line 45"/>
              <p:cNvSpPr/>
              <p:nvPr/>
            </p:nvSpPr>
            <p:spPr>
              <a:xfrm>
                <a:off x="1561" y="3434"/>
                <a:ext cx="170" cy="152"/>
              </a:xfrm>
              <a:prstGeom prst="line">
                <a:avLst/>
              </a:prstGeom>
              <a:ln w="28575" cap="flat" cmpd="sng">
                <a:solidFill>
                  <a:schemeClr val="tx1"/>
                </a:solidFill>
                <a:prstDash val="solid"/>
                <a:round/>
                <a:headEnd type="none" w="med" len="med"/>
                <a:tailEnd type="none" w="med" len="med"/>
              </a:ln>
            </p:spPr>
          </p:sp>
          <p:sp>
            <p:nvSpPr>
              <p:cNvPr id="253997" name="Line 46"/>
              <p:cNvSpPr/>
              <p:nvPr/>
            </p:nvSpPr>
            <p:spPr>
              <a:xfrm>
                <a:off x="1815" y="3434"/>
                <a:ext cx="170" cy="152"/>
              </a:xfrm>
              <a:prstGeom prst="line">
                <a:avLst/>
              </a:prstGeom>
              <a:ln w="28575" cap="flat" cmpd="sng">
                <a:solidFill>
                  <a:schemeClr val="tx1"/>
                </a:solidFill>
                <a:prstDash val="solid"/>
                <a:round/>
                <a:headEnd type="none" w="med" len="med"/>
                <a:tailEnd type="none" w="med" len="med"/>
              </a:ln>
            </p:spPr>
          </p:sp>
          <p:sp>
            <p:nvSpPr>
              <p:cNvPr id="253998" name="Line 47"/>
              <p:cNvSpPr/>
              <p:nvPr/>
            </p:nvSpPr>
            <p:spPr>
              <a:xfrm>
                <a:off x="2070" y="3434"/>
                <a:ext cx="170" cy="152"/>
              </a:xfrm>
              <a:prstGeom prst="line">
                <a:avLst/>
              </a:prstGeom>
              <a:ln w="28575" cap="flat" cmpd="sng">
                <a:solidFill>
                  <a:schemeClr val="tx1"/>
                </a:solidFill>
                <a:prstDash val="solid"/>
                <a:round/>
                <a:headEnd type="none" w="med" len="med"/>
                <a:tailEnd type="none" w="med" len="med"/>
              </a:ln>
            </p:spPr>
          </p:sp>
          <p:sp>
            <p:nvSpPr>
              <p:cNvPr id="253999" name="Line 48"/>
              <p:cNvSpPr/>
              <p:nvPr/>
            </p:nvSpPr>
            <p:spPr>
              <a:xfrm>
                <a:off x="2324" y="3434"/>
                <a:ext cx="85" cy="76"/>
              </a:xfrm>
              <a:prstGeom prst="line">
                <a:avLst/>
              </a:prstGeom>
              <a:ln w="28575" cap="flat" cmpd="sng">
                <a:solidFill>
                  <a:schemeClr val="tx1"/>
                </a:solidFill>
                <a:prstDash val="solid"/>
                <a:round/>
                <a:headEnd type="none" w="med" len="med"/>
                <a:tailEnd type="none" w="med" len="med"/>
              </a:ln>
            </p:spPr>
          </p:sp>
          <p:sp>
            <p:nvSpPr>
              <p:cNvPr id="254000" name="Line 49"/>
              <p:cNvSpPr/>
              <p:nvPr/>
            </p:nvSpPr>
            <p:spPr>
              <a:xfrm>
                <a:off x="2579" y="3434"/>
                <a:ext cx="169" cy="152"/>
              </a:xfrm>
              <a:prstGeom prst="line">
                <a:avLst/>
              </a:prstGeom>
              <a:ln w="28575" cap="flat" cmpd="sng">
                <a:solidFill>
                  <a:schemeClr val="tx1"/>
                </a:solidFill>
                <a:prstDash val="solid"/>
                <a:round/>
                <a:headEnd type="none" w="med" len="med"/>
                <a:tailEnd type="none" w="med" len="med"/>
              </a:ln>
            </p:spPr>
          </p:sp>
          <p:sp>
            <p:nvSpPr>
              <p:cNvPr id="254001" name="Line 50"/>
              <p:cNvSpPr/>
              <p:nvPr/>
            </p:nvSpPr>
            <p:spPr>
              <a:xfrm>
                <a:off x="2833" y="3434"/>
                <a:ext cx="170" cy="152"/>
              </a:xfrm>
              <a:prstGeom prst="line">
                <a:avLst/>
              </a:prstGeom>
              <a:ln w="28575" cap="flat" cmpd="sng">
                <a:solidFill>
                  <a:schemeClr val="tx1"/>
                </a:solidFill>
                <a:prstDash val="solid"/>
                <a:round/>
                <a:headEnd type="none" w="med" len="med"/>
                <a:tailEnd type="none" w="med" len="med"/>
              </a:ln>
            </p:spPr>
          </p:sp>
          <p:sp>
            <p:nvSpPr>
              <p:cNvPr id="254002" name="Line 51"/>
              <p:cNvSpPr/>
              <p:nvPr/>
            </p:nvSpPr>
            <p:spPr>
              <a:xfrm>
                <a:off x="3088" y="3434"/>
                <a:ext cx="169" cy="152"/>
              </a:xfrm>
              <a:prstGeom prst="line">
                <a:avLst/>
              </a:prstGeom>
              <a:ln w="28575" cap="flat" cmpd="sng">
                <a:solidFill>
                  <a:schemeClr val="tx1"/>
                </a:solidFill>
                <a:prstDash val="solid"/>
                <a:round/>
                <a:headEnd type="none" w="med" len="med"/>
                <a:tailEnd type="none" w="med" len="med"/>
              </a:ln>
            </p:spPr>
          </p:sp>
          <p:sp>
            <p:nvSpPr>
              <p:cNvPr id="254003" name="Line 52"/>
              <p:cNvSpPr/>
              <p:nvPr/>
            </p:nvSpPr>
            <p:spPr>
              <a:xfrm>
                <a:off x="3342" y="3434"/>
                <a:ext cx="170" cy="152"/>
              </a:xfrm>
              <a:prstGeom prst="line">
                <a:avLst/>
              </a:prstGeom>
              <a:ln w="28575" cap="flat" cmpd="sng">
                <a:solidFill>
                  <a:schemeClr val="tx1"/>
                </a:solidFill>
                <a:prstDash val="solid"/>
                <a:round/>
                <a:headEnd type="none" w="med" len="med"/>
                <a:tailEnd type="none" w="med" len="med"/>
              </a:ln>
            </p:spPr>
          </p:sp>
          <p:sp>
            <p:nvSpPr>
              <p:cNvPr id="254004" name="Line 53"/>
              <p:cNvSpPr/>
              <p:nvPr/>
            </p:nvSpPr>
            <p:spPr>
              <a:xfrm>
                <a:off x="3597" y="3434"/>
                <a:ext cx="169" cy="152"/>
              </a:xfrm>
              <a:prstGeom prst="line">
                <a:avLst/>
              </a:prstGeom>
              <a:ln w="28575" cap="flat" cmpd="sng">
                <a:solidFill>
                  <a:schemeClr val="tx1"/>
                </a:solidFill>
                <a:prstDash val="solid"/>
                <a:round/>
                <a:headEnd type="none" w="med" len="med"/>
                <a:tailEnd type="none" w="med" len="med"/>
              </a:ln>
            </p:spPr>
          </p:sp>
          <p:sp>
            <p:nvSpPr>
              <p:cNvPr id="254005" name="Line 54"/>
              <p:cNvSpPr/>
              <p:nvPr/>
            </p:nvSpPr>
            <p:spPr>
              <a:xfrm>
                <a:off x="3851" y="3434"/>
                <a:ext cx="85" cy="76"/>
              </a:xfrm>
              <a:prstGeom prst="line">
                <a:avLst/>
              </a:prstGeom>
              <a:ln w="28575" cap="flat" cmpd="sng">
                <a:solidFill>
                  <a:schemeClr val="tx1"/>
                </a:solidFill>
                <a:prstDash val="solid"/>
                <a:round/>
                <a:headEnd type="none" w="med" len="med"/>
                <a:tailEnd type="none" w="med" len="med"/>
              </a:ln>
            </p:spPr>
          </p:sp>
        </p:grpSp>
        <p:sp>
          <p:nvSpPr>
            <p:cNvPr id="254006" name="Rectangle 55"/>
            <p:cNvSpPr/>
            <p:nvPr/>
          </p:nvSpPr>
          <p:spPr>
            <a:xfrm>
              <a:off x="1257" y="2476"/>
              <a:ext cx="632" cy="404"/>
            </a:xfrm>
            <a:prstGeom prst="rect">
              <a:avLst/>
            </a:prstGeom>
            <a:noFill/>
            <a:ln w="9525">
              <a:noFill/>
            </a:ln>
          </p:spPr>
          <p:txBody>
            <a:bodyPr anchor="t" anchorCtr="0">
              <a:spAutoFit/>
            </a:bodyPr>
            <a:p>
              <a:pPr algn="r">
                <a:lnSpc>
                  <a:spcPct val="90000"/>
                </a:lnSpc>
              </a:pPr>
              <a:r>
                <a:rPr lang="zh-CN" altLang="en-US" sz="2000" dirty="0">
                  <a:latin typeface="黑体" panose="02010609060101010101" pitchFamily="49" charset="-122"/>
                  <a:ea typeface="黑体" panose="02010609060101010101" pitchFamily="49" charset="-122"/>
                </a:rPr>
                <a:t>信号拾取线圈</a:t>
              </a:r>
              <a:endParaRPr lang="zh-CN" altLang="en-US" sz="2000" dirty="0">
                <a:latin typeface="黑体" panose="02010609060101010101" pitchFamily="49" charset="-122"/>
                <a:ea typeface="黑体" panose="02010609060101010101" pitchFamily="49" charset="-122"/>
              </a:endParaRPr>
            </a:p>
          </p:txBody>
        </p:sp>
        <p:sp>
          <p:nvSpPr>
            <p:cNvPr id="254007" name="Rectangle 56"/>
            <p:cNvSpPr/>
            <p:nvPr/>
          </p:nvSpPr>
          <p:spPr>
            <a:xfrm>
              <a:off x="1156" y="3247"/>
              <a:ext cx="781" cy="231"/>
            </a:xfrm>
            <a:prstGeom prst="rect">
              <a:avLst/>
            </a:prstGeom>
            <a:noFill/>
            <a:ln w="9525">
              <a:noFill/>
            </a:ln>
          </p:spPr>
          <p:txBody>
            <a:bodyPr anchor="t" anchorCtr="0">
              <a:spAutoFit/>
            </a:bodyPr>
            <a:p>
              <a:pPr algn="r">
                <a:lnSpc>
                  <a:spcPct val="90000"/>
                </a:lnSpc>
              </a:pPr>
              <a:r>
                <a:rPr lang="zh-CN" altLang="en-US" sz="2000" dirty="0">
                  <a:latin typeface="黑体" panose="02010609060101010101" pitchFamily="49" charset="-122"/>
                  <a:ea typeface="黑体" panose="02010609060101010101" pitchFamily="49" charset="-122"/>
                </a:rPr>
                <a:t>引导电缆</a:t>
              </a:r>
              <a:endParaRPr lang="zh-CN" altLang="en-US" sz="2000" dirty="0">
                <a:latin typeface="黑体" panose="02010609060101010101" pitchFamily="49" charset="-122"/>
                <a:ea typeface="黑体" panose="02010609060101010101" pitchFamily="49" charset="-122"/>
              </a:endParaRPr>
            </a:p>
          </p:txBody>
        </p:sp>
        <p:sp>
          <p:nvSpPr>
            <p:cNvPr id="254008" name="Line 57"/>
            <p:cNvSpPr/>
            <p:nvPr/>
          </p:nvSpPr>
          <p:spPr>
            <a:xfrm flipH="1" flipV="1">
              <a:off x="1884" y="3464"/>
              <a:ext cx="1102" cy="268"/>
            </a:xfrm>
            <a:prstGeom prst="line">
              <a:avLst/>
            </a:prstGeom>
            <a:ln w="19050" cap="flat" cmpd="sng">
              <a:solidFill>
                <a:schemeClr val="tx1"/>
              </a:solidFill>
              <a:prstDash val="solid"/>
              <a:round/>
              <a:headEnd type="none" w="med" len="med"/>
              <a:tailEnd type="none" w="med" len="med"/>
            </a:ln>
          </p:spPr>
        </p:sp>
        <p:sp>
          <p:nvSpPr>
            <p:cNvPr id="254009" name="Line 58"/>
            <p:cNvSpPr/>
            <p:nvPr/>
          </p:nvSpPr>
          <p:spPr>
            <a:xfrm flipH="1" flipV="1">
              <a:off x="1755" y="2880"/>
              <a:ext cx="382" cy="344"/>
            </a:xfrm>
            <a:prstGeom prst="line">
              <a:avLst/>
            </a:prstGeom>
            <a:ln w="19050" cap="flat" cmpd="sng">
              <a:solidFill>
                <a:schemeClr val="tx1"/>
              </a:solidFill>
              <a:prstDash val="solid"/>
              <a:round/>
              <a:headEnd type="none" w="med" len="med"/>
              <a:tailEnd type="none" w="med" len="med"/>
            </a:ln>
          </p:spPr>
        </p:sp>
        <p:sp>
          <p:nvSpPr>
            <p:cNvPr id="254010" name="Rectangle 59"/>
            <p:cNvSpPr/>
            <p:nvPr/>
          </p:nvSpPr>
          <p:spPr>
            <a:xfrm>
              <a:off x="2087" y="3950"/>
              <a:ext cx="1729" cy="250"/>
            </a:xfrm>
            <a:prstGeom prst="rect">
              <a:avLst/>
            </a:prstGeom>
            <a:noFill/>
            <a:ln w="9525">
              <a:noFill/>
            </a:ln>
          </p:spPr>
          <p:txBody>
            <a:bodyPr wrap="none" anchor="t" anchorCtr="0">
              <a:spAutoFit/>
            </a:bodyPr>
            <a:p>
              <a:r>
                <a:rPr lang="zh-CN" altLang="en-US" sz="2000" b="1" dirty="0">
                  <a:latin typeface="楷体_GB2312"/>
                  <a:ea typeface="楷体_GB2312"/>
                </a:rPr>
                <a:t>图</a:t>
              </a:r>
              <a:r>
                <a:rPr lang="en-US" altLang="zh-CN" sz="2000" b="1" dirty="0">
                  <a:latin typeface="楷体_GB2312"/>
                  <a:ea typeface="楷体_GB2312"/>
                </a:rPr>
                <a:t>2-31  </a:t>
              </a:r>
              <a:r>
                <a:rPr lang="zh-CN" altLang="en-US" sz="2000" b="1" dirty="0">
                  <a:latin typeface="楷体_GB2312"/>
                  <a:ea typeface="楷体_GB2312"/>
                </a:rPr>
                <a:t>电磁引导原理</a:t>
              </a:r>
              <a:endParaRPr lang="zh-CN" altLang="en-US" sz="2000" b="1" dirty="0">
                <a:latin typeface="楷体_GB2312"/>
                <a:ea typeface="楷体_GB2312"/>
              </a:endParaRPr>
            </a:p>
          </p:txBody>
        </p:sp>
      </p:grpSp>
      <p:sp>
        <p:nvSpPr>
          <p:cNvPr id="254011" name="Rectangle 60"/>
          <p:cNvSpPr/>
          <p:nvPr/>
        </p:nvSpPr>
        <p:spPr>
          <a:xfrm>
            <a:off x="179388" y="1731963"/>
            <a:ext cx="8640762" cy="1552575"/>
          </a:xfrm>
          <a:prstGeom prst="rect">
            <a:avLst/>
          </a:prstGeom>
          <a:noFill/>
          <a:ln w="9525">
            <a:noFill/>
          </a:ln>
        </p:spPr>
        <p:txBody>
          <a:bodyPr anchor="t" anchorCtr="0">
            <a:spAutoFit/>
          </a:bodyPr>
          <a:p>
            <a:pPr algn="just">
              <a:spcBef>
                <a:spcPct val="25000"/>
              </a:spcBef>
            </a:pPr>
            <a:r>
              <a:rPr lang="en-US" altLang="zh-CN" sz="2400" dirty="0">
                <a:latin typeface="Times New Roman" panose="02020603050405020304" pitchFamily="18" charset="0"/>
                <a:ea typeface="黑体" panose="02010609060101010101" pitchFamily="49" charset="-122"/>
              </a:rPr>
              <a:t>       </a:t>
            </a:r>
            <a:r>
              <a:rPr lang="zh-CN" altLang="en-US" sz="2400" b="1" dirty="0">
                <a:latin typeface="楷体_GB2312"/>
                <a:ea typeface="楷体_GB2312"/>
              </a:rPr>
              <a:t>在地面上埋设引导电缆，并通以</a:t>
            </a:r>
            <a:r>
              <a:rPr lang="en-US" altLang="zh-CN" sz="2400" b="1" dirty="0">
                <a:latin typeface="楷体_GB2312"/>
                <a:ea typeface="楷体_GB2312"/>
              </a:rPr>
              <a:t>5</a:t>
            </a:r>
            <a:r>
              <a:rPr lang="zh-CN" altLang="en-US" sz="2400" b="1" dirty="0">
                <a:latin typeface="楷体_GB2312"/>
                <a:ea typeface="楷体_GB2312"/>
              </a:rPr>
              <a:t>～</a:t>
            </a:r>
            <a:r>
              <a:rPr lang="en-US" altLang="zh-CN" sz="2400" b="1" dirty="0">
                <a:latin typeface="楷体_GB2312"/>
                <a:ea typeface="楷体_GB2312"/>
              </a:rPr>
              <a:t>10kHz</a:t>
            </a:r>
            <a:r>
              <a:rPr lang="zh-CN" altLang="en-US" sz="2400" b="1" dirty="0">
                <a:latin typeface="楷体_GB2312"/>
                <a:ea typeface="楷体_GB2312"/>
              </a:rPr>
              <a:t>的低压电流。小车上装有对称的一组信号拾取线圈。当小车偏向右方时，右方的感应信号减弱，左方的增强，控制器根据这些信号的强弱，控制小车的舵轮。</a:t>
            </a:r>
            <a:endParaRPr lang="zh-CN" altLang="en-US" sz="2400" b="1" dirty="0">
              <a:latin typeface="楷体_GB2312"/>
              <a:ea typeface="楷体_GB2312"/>
            </a:endParaRPr>
          </a:p>
        </p:txBody>
      </p:sp>
      <p:sp>
        <p:nvSpPr>
          <p:cNvPr id="1226813" name="Rectangle 61"/>
          <p:cNvSpPr>
            <a:spLocks noChangeArrowheads="1"/>
          </p:cNvSpPr>
          <p:nvPr/>
        </p:nvSpPr>
        <p:spPr bwMode="auto">
          <a:xfrm>
            <a:off x="168275" y="1316038"/>
            <a:ext cx="5051425"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电磁导向方式原理（图</a:t>
            </a:r>
            <a:r>
              <a:rPr kumimoji="1" lang="en-GB"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2</a:t>
            </a:r>
            <a:r>
              <a:rPr kumimoji="1" lang="en-US"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-3</a:t>
            </a:r>
            <a:r>
              <a:rPr kumimoji="1" lang="en-GB"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1</a:t>
            </a:r>
            <a:r>
              <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a:t>
            </a:r>
            <a:endPar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endParaRPr>
          </a:p>
        </p:txBody>
      </p:sp>
    </p:spTree>
  </p:cSld>
  <p:clrMapOvr>
    <a:masterClrMapping/>
  </p:clrMapOvr>
  <p:transition spd="slow">
    <p:randomBar dir="ver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02" name="Rectangle 2"/>
          <p:cNvSpPr>
            <a:spLocks noGrp="1" noChangeArrowheads="1"/>
          </p:cNvSpPr>
          <p:nvPr>
            <p:ph type="title"/>
          </p:nvPr>
        </p:nvSpPr>
        <p:spPr>
          <a:xfrm>
            <a:off x="2676525" y="379413"/>
            <a:ext cx="5064125"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56002"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56003"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56004" name="Rectangle 5"/>
          <p:cNvSpPr/>
          <p:nvPr/>
        </p:nvSpPr>
        <p:spPr>
          <a:xfrm>
            <a:off x="142875" y="1700213"/>
            <a:ext cx="8893175" cy="1296987"/>
          </a:xfrm>
          <a:prstGeom prst="rect">
            <a:avLst/>
          </a:prstGeom>
          <a:noFill/>
          <a:ln w="9525">
            <a:noFill/>
          </a:ln>
        </p:spPr>
        <p:txBody>
          <a:bodyPr anchor="t" anchorCtr="0">
            <a:spAutoFit/>
          </a:bodyPr>
          <a:p>
            <a:pPr algn="just">
              <a:lnSpc>
                <a:spcPct val="110000"/>
              </a:lnSpc>
              <a:spcBef>
                <a:spcPct val="25000"/>
              </a:spcBef>
            </a:pPr>
            <a:r>
              <a:rPr lang="en-US" altLang="zh-CN" sz="2400" dirty="0">
                <a:latin typeface="Times New Roman" panose="02020603050405020304" pitchFamily="18" charset="0"/>
                <a:ea typeface="黑体" panose="02010609060101010101" pitchFamily="49" charset="-122"/>
              </a:rPr>
              <a:t>       </a:t>
            </a:r>
            <a:r>
              <a:rPr lang="zh-CN" altLang="en-US" sz="2400" b="1" dirty="0">
                <a:latin typeface="Times New Roman" panose="02020603050405020304" pitchFamily="18" charset="0"/>
                <a:ea typeface="楷体_GB2312"/>
              </a:rPr>
              <a:t>沿小车预定路径在地面上粘贴易反光的反光带（铝带或尼龙带），小车上装有发光器和受光器。发出的光经反光带反射后由受光器接受，并将该光信号转换成电信号控制小车的舵轮。</a:t>
            </a:r>
            <a:r>
              <a:rPr lang="zh-CN" altLang="en-US" sz="2400" dirty="0">
                <a:latin typeface="Times New Roman" panose="02020603050405020304" pitchFamily="18" charset="0"/>
                <a:ea typeface="黑体" panose="02010609060101010101" pitchFamily="49" charset="-122"/>
              </a:rPr>
              <a:t> </a:t>
            </a:r>
            <a:endParaRPr lang="zh-CN" altLang="en-US" sz="2400" dirty="0">
              <a:latin typeface="Times New Roman" panose="02020603050405020304" pitchFamily="18" charset="0"/>
              <a:ea typeface="黑体" panose="02010609060101010101" pitchFamily="49" charset="-122"/>
            </a:endParaRPr>
          </a:p>
        </p:txBody>
      </p:sp>
      <p:sp>
        <p:nvSpPr>
          <p:cNvPr id="1228806" name="Rectangle 6"/>
          <p:cNvSpPr>
            <a:spLocks noChangeArrowheads="1"/>
          </p:cNvSpPr>
          <p:nvPr/>
        </p:nvSpPr>
        <p:spPr bwMode="auto">
          <a:xfrm>
            <a:off x="179388" y="1243013"/>
            <a:ext cx="4906963" cy="45720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光学引导方式原理（图</a:t>
            </a:r>
            <a:r>
              <a:rPr kumimoji="1" lang="en-GB"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2</a:t>
            </a:r>
            <a:r>
              <a:rPr kumimoji="1" lang="en-US"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-3</a:t>
            </a:r>
            <a:r>
              <a:rPr kumimoji="1" lang="en-GB" altLang="zh-CN"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2</a:t>
            </a:r>
            <a:r>
              <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rPr>
              <a:t>）</a:t>
            </a:r>
            <a:endParaRPr kumimoji="1" lang="zh-CN" altLang="en-US" sz="2400" b="1" i="0" u="none" strike="noStrike" kern="1200" cap="none" spc="0" normalizeH="0" baseline="0" noProof="0">
              <a:ln>
                <a:noFill/>
              </a:ln>
              <a:solidFill>
                <a:srgbClr val="FF3300"/>
              </a:solidFill>
              <a:effectLst/>
              <a:uLnTx/>
              <a:uFillTx/>
              <a:latin typeface="楷体_GB2312" pitchFamily="49" charset="-122"/>
              <a:ea typeface="楷体_GB2312" pitchFamily="49" charset="-122"/>
              <a:cs typeface="+mn-cs"/>
            </a:endParaRPr>
          </a:p>
        </p:txBody>
      </p:sp>
      <p:grpSp>
        <p:nvGrpSpPr>
          <p:cNvPr id="256006" name="Group 7"/>
          <p:cNvGrpSpPr/>
          <p:nvPr/>
        </p:nvGrpSpPr>
        <p:grpSpPr>
          <a:xfrm>
            <a:off x="1104900" y="2997200"/>
            <a:ext cx="6667500" cy="3475038"/>
            <a:chOff x="696" y="2001"/>
            <a:chExt cx="4200" cy="2189"/>
          </a:xfrm>
        </p:grpSpPr>
        <p:sp>
          <p:nvSpPr>
            <p:cNvPr id="256007" name="Line 8"/>
            <p:cNvSpPr/>
            <p:nvPr/>
          </p:nvSpPr>
          <p:spPr>
            <a:xfrm>
              <a:off x="2663" y="3637"/>
              <a:ext cx="377" cy="0"/>
            </a:xfrm>
            <a:prstGeom prst="line">
              <a:avLst/>
            </a:prstGeom>
            <a:ln w="76200" cap="flat" cmpd="sng">
              <a:solidFill>
                <a:srgbClr val="CC00FF"/>
              </a:solidFill>
              <a:prstDash val="solid"/>
              <a:round/>
              <a:headEnd type="none" w="med" len="med"/>
              <a:tailEnd type="none" w="med" len="med"/>
            </a:ln>
          </p:spPr>
        </p:sp>
        <p:sp>
          <p:nvSpPr>
            <p:cNvPr id="256008" name="Rectangle 9"/>
            <p:cNvSpPr/>
            <p:nvPr/>
          </p:nvSpPr>
          <p:spPr>
            <a:xfrm>
              <a:off x="2007" y="2001"/>
              <a:ext cx="596" cy="250"/>
            </a:xfrm>
            <a:prstGeom prst="rect">
              <a:avLst/>
            </a:prstGeom>
            <a:noFill/>
            <a:ln w="9525">
              <a:noFill/>
            </a:ln>
          </p:spPr>
          <p:txBody>
            <a:bodyPr wrap="none" anchor="t" anchorCtr="0">
              <a:spAutoFit/>
            </a:bodyPr>
            <a:p>
              <a:r>
                <a:rPr lang="zh-CN" altLang="en-US" sz="2000" dirty="0">
                  <a:latin typeface="黑体" panose="02010609060101010101" pitchFamily="49" charset="-122"/>
                  <a:ea typeface="黑体" panose="02010609060101010101" pitchFamily="49" charset="-122"/>
                </a:rPr>
                <a:t>信号孔</a:t>
              </a:r>
              <a:endParaRPr lang="zh-CN" altLang="en-US" sz="2000" dirty="0">
                <a:latin typeface="黑体" panose="02010609060101010101" pitchFamily="49" charset="-122"/>
                <a:ea typeface="黑体" panose="02010609060101010101" pitchFamily="49" charset="-122"/>
              </a:endParaRPr>
            </a:p>
          </p:txBody>
        </p:sp>
        <p:sp>
          <p:nvSpPr>
            <p:cNvPr id="256009" name="Rectangle 10"/>
            <p:cNvSpPr/>
            <p:nvPr/>
          </p:nvSpPr>
          <p:spPr>
            <a:xfrm>
              <a:off x="3356" y="2046"/>
              <a:ext cx="756" cy="250"/>
            </a:xfrm>
            <a:prstGeom prst="rect">
              <a:avLst/>
            </a:prstGeom>
            <a:noFill/>
            <a:ln w="9525">
              <a:noFill/>
            </a:ln>
          </p:spPr>
          <p:txBody>
            <a:bodyPr wrap="none" anchor="t" anchorCtr="0">
              <a:spAutoFit/>
            </a:bodyPr>
            <a:p>
              <a:r>
                <a:rPr lang="zh-CN" altLang="en-US" sz="2000" dirty="0">
                  <a:latin typeface="黑体" panose="02010609060101010101" pitchFamily="49" charset="-122"/>
                  <a:ea typeface="黑体" panose="02010609060101010101" pitchFamily="49" charset="-122"/>
                </a:rPr>
                <a:t>感光元件</a:t>
              </a:r>
              <a:endParaRPr lang="zh-CN" altLang="en-US" sz="2000" dirty="0">
                <a:latin typeface="黑体" panose="02010609060101010101" pitchFamily="49" charset="-122"/>
                <a:ea typeface="黑体" panose="02010609060101010101" pitchFamily="49" charset="-122"/>
              </a:endParaRPr>
            </a:p>
          </p:txBody>
        </p:sp>
        <p:sp>
          <p:nvSpPr>
            <p:cNvPr id="256010" name="Rectangle 11"/>
            <p:cNvSpPr/>
            <p:nvPr/>
          </p:nvSpPr>
          <p:spPr>
            <a:xfrm>
              <a:off x="4425" y="2249"/>
              <a:ext cx="436" cy="250"/>
            </a:xfrm>
            <a:prstGeom prst="rect">
              <a:avLst/>
            </a:prstGeom>
            <a:noFill/>
            <a:ln w="9525">
              <a:noFill/>
            </a:ln>
          </p:spPr>
          <p:txBody>
            <a:bodyPr wrap="none" anchor="t" anchorCtr="0">
              <a:spAutoFit/>
            </a:bodyPr>
            <a:p>
              <a:r>
                <a:rPr lang="zh-CN" altLang="en-US" sz="2000" dirty="0">
                  <a:latin typeface="黑体" panose="02010609060101010101" pitchFamily="49" charset="-122"/>
                  <a:ea typeface="黑体" panose="02010609060101010101" pitchFamily="49" charset="-122"/>
                </a:rPr>
                <a:t>光道</a:t>
              </a:r>
              <a:endParaRPr lang="zh-CN" altLang="en-US" sz="2000" dirty="0">
                <a:latin typeface="黑体" panose="02010609060101010101" pitchFamily="49" charset="-122"/>
                <a:ea typeface="黑体" panose="02010609060101010101" pitchFamily="49" charset="-122"/>
              </a:endParaRPr>
            </a:p>
          </p:txBody>
        </p:sp>
        <p:sp>
          <p:nvSpPr>
            <p:cNvPr id="256011" name="Rectangle 12"/>
            <p:cNvSpPr/>
            <p:nvPr/>
          </p:nvSpPr>
          <p:spPr>
            <a:xfrm>
              <a:off x="4425" y="3215"/>
              <a:ext cx="436" cy="250"/>
            </a:xfrm>
            <a:prstGeom prst="rect">
              <a:avLst/>
            </a:prstGeom>
            <a:noFill/>
            <a:ln w="9525">
              <a:noFill/>
            </a:ln>
          </p:spPr>
          <p:txBody>
            <a:bodyPr wrap="none" anchor="t" anchorCtr="0">
              <a:spAutoFit/>
            </a:bodyPr>
            <a:p>
              <a:r>
                <a:rPr lang="zh-CN" altLang="en-US" sz="2000" dirty="0">
                  <a:latin typeface="黑体" panose="02010609060101010101" pitchFamily="49" charset="-122"/>
                  <a:ea typeface="黑体" panose="02010609060101010101" pitchFamily="49" charset="-122"/>
                </a:rPr>
                <a:t>光源</a:t>
              </a:r>
              <a:endParaRPr lang="zh-CN" altLang="en-US" sz="2000" dirty="0">
                <a:latin typeface="黑体" panose="02010609060101010101" pitchFamily="49" charset="-122"/>
                <a:ea typeface="黑体" panose="02010609060101010101" pitchFamily="49" charset="-122"/>
              </a:endParaRPr>
            </a:p>
          </p:txBody>
        </p:sp>
        <p:sp>
          <p:nvSpPr>
            <p:cNvPr id="256012" name="Rectangle 13"/>
            <p:cNvSpPr/>
            <p:nvPr/>
          </p:nvSpPr>
          <p:spPr>
            <a:xfrm>
              <a:off x="696" y="3215"/>
              <a:ext cx="596" cy="250"/>
            </a:xfrm>
            <a:prstGeom prst="rect">
              <a:avLst/>
            </a:prstGeom>
            <a:noFill/>
            <a:ln w="9525">
              <a:noFill/>
            </a:ln>
          </p:spPr>
          <p:txBody>
            <a:bodyPr wrap="none" anchor="t" anchorCtr="0">
              <a:spAutoFit/>
            </a:bodyPr>
            <a:p>
              <a:r>
                <a:rPr lang="zh-CN" altLang="en-US" sz="2000" dirty="0">
                  <a:latin typeface="黑体" panose="02010609060101010101" pitchFamily="49" charset="-122"/>
                  <a:ea typeface="黑体" panose="02010609060101010101" pitchFamily="49" charset="-122"/>
                </a:rPr>
                <a:t>反光带</a:t>
              </a:r>
              <a:endParaRPr lang="zh-CN" altLang="en-US" sz="2000" dirty="0">
                <a:latin typeface="黑体" panose="02010609060101010101" pitchFamily="49" charset="-122"/>
                <a:ea typeface="黑体" panose="02010609060101010101" pitchFamily="49" charset="-122"/>
              </a:endParaRPr>
            </a:p>
          </p:txBody>
        </p:sp>
        <p:sp>
          <p:nvSpPr>
            <p:cNvPr id="256013" name="Oval 14"/>
            <p:cNvSpPr/>
            <p:nvPr/>
          </p:nvSpPr>
          <p:spPr>
            <a:xfrm>
              <a:off x="2663" y="2369"/>
              <a:ext cx="126" cy="121"/>
            </a:xfrm>
            <a:prstGeom prst="ellipse">
              <a:avLst/>
            </a:prstGeom>
            <a:solidFill>
              <a:srgbClr val="FFCCFF"/>
            </a:solidFill>
            <a:ln w="28575" cap="flat" cmpd="sng">
              <a:solidFill>
                <a:srgbClr val="660066"/>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14" name="Oval 15"/>
            <p:cNvSpPr/>
            <p:nvPr/>
          </p:nvSpPr>
          <p:spPr>
            <a:xfrm>
              <a:off x="2914" y="2369"/>
              <a:ext cx="126" cy="121"/>
            </a:xfrm>
            <a:prstGeom prst="ellipse">
              <a:avLst/>
            </a:prstGeom>
            <a:solidFill>
              <a:srgbClr val="FFCCFF"/>
            </a:solidFill>
            <a:ln w="28575" cap="flat" cmpd="sng">
              <a:solidFill>
                <a:srgbClr val="660066"/>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256015" name="Group 16"/>
            <p:cNvGrpSpPr/>
            <p:nvPr/>
          </p:nvGrpSpPr>
          <p:grpSpPr>
            <a:xfrm>
              <a:off x="1404" y="2369"/>
              <a:ext cx="2895" cy="121"/>
              <a:chOff x="1404" y="2413"/>
              <a:chExt cx="2895" cy="121"/>
            </a:xfrm>
          </p:grpSpPr>
          <p:sp>
            <p:nvSpPr>
              <p:cNvPr id="256016" name="Oval 17"/>
              <p:cNvSpPr/>
              <p:nvPr/>
            </p:nvSpPr>
            <p:spPr>
              <a:xfrm>
                <a:off x="1404"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17" name="Oval 18"/>
              <p:cNvSpPr/>
              <p:nvPr/>
            </p:nvSpPr>
            <p:spPr>
              <a:xfrm>
                <a:off x="1656"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18" name="Oval 19"/>
              <p:cNvSpPr/>
              <p:nvPr/>
            </p:nvSpPr>
            <p:spPr>
              <a:xfrm>
                <a:off x="1907"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19" name="Oval 20"/>
              <p:cNvSpPr/>
              <p:nvPr/>
            </p:nvSpPr>
            <p:spPr>
              <a:xfrm>
                <a:off x="2159"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0" name="Oval 21"/>
              <p:cNvSpPr/>
              <p:nvPr/>
            </p:nvSpPr>
            <p:spPr>
              <a:xfrm>
                <a:off x="2411"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1" name="Oval 22"/>
              <p:cNvSpPr/>
              <p:nvPr/>
            </p:nvSpPr>
            <p:spPr>
              <a:xfrm>
                <a:off x="3166"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2" name="Oval 23"/>
              <p:cNvSpPr/>
              <p:nvPr/>
            </p:nvSpPr>
            <p:spPr>
              <a:xfrm>
                <a:off x="3418"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3" name="Oval 24"/>
              <p:cNvSpPr/>
              <p:nvPr/>
            </p:nvSpPr>
            <p:spPr>
              <a:xfrm>
                <a:off x="3670"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4" name="Oval 25"/>
              <p:cNvSpPr/>
              <p:nvPr/>
            </p:nvSpPr>
            <p:spPr>
              <a:xfrm>
                <a:off x="3921"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25" name="Oval 26"/>
              <p:cNvSpPr/>
              <p:nvPr/>
            </p:nvSpPr>
            <p:spPr>
              <a:xfrm>
                <a:off x="4173" y="2413"/>
                <a:ext cx="126" cy="121"/>
              </a:xfrm>
              <a:prstGeom prst="ellipse">
                <a:avLst/>
              </a:prstGeom>
              <a:noFill/>
              <a:ln w="2857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6026" name="Group 27"/>
            <p:cNvGrpSpPr/>
            <p:nvPr/>
          </p:nvGrpSpPr>
          <p:grpSpPr>
            <a:xfrm>
              <a:off x="1467" y="3215"/>
              <a:ext cx="2769" cy="362"/>
              <a:chOff x="2784" y="3504"/>
              <a:chExt cx="2112" cy="288"/>
            </a:xfrm>
          </p:grpSpPr>
          <p:sp>
            <p:nvSpPr>
              <p:cNvPr id="256027" name="Line 28"/>
              <p:cNvSpPr/>
              <p:nvPr/>
            </p:nvSpPr>
            <p:spPr>
              <a:xfrm>
                <a:off x="2784" y="3504"/>
                <a:ext cx="0" cy="288"/>
              </a:xfrm>
              <a:prstGeom prst="line">
                <a:avLst/>
              </a:prstGeom>
              <a:ln w="19050" cap="flat" cmpd="sng">
                <a:solidFill>
                  <a:schemeClr val="tx1"/>
                </a:solidFill>
                <a:prstDash val="solid"/>
                <a:round/>
                <a:headEnd type="triangle" w="sm" len="med"/>
                <a:tailEnd type="triangle" w="sm" len="med"/>
              </a:ln>
            </p:spPr>
          </p:sp>
          <p:sp>
            <p:nvSpPr>
              <p:cNvPr id="256028" name="Line 29"/>
              <p:cNvSpPr/>
              <p:nvPr/>
            </p:nvSpPr>
            <p:spPr>
              <a:xfrm>
                <a:off x="2976" y="3504"/>
                <a:ext cx="0" cy="288"/>
              </a:xfrm>
              <a:prstGeom prst="line">
                <a:avLst/>
              </a:prstGeom>
              <a:ln w="19050" cap="flat" cmpd="sng">
                <a:solidFill>
                  <a:schemeClr val="tx1"/>
                </a:solidFill>
                <a:prstDash val="solid"/>
                <a:round/>
                <a:headEnd type="triangle" w="sm" len="med"/>
                <a:tailEnd type="triangle" w="sm" len="med"/>
              </a:ln>
            </p:spPr>
          </p:sp>
          <p:sp>
            <p:nvSpPr>
              <p:cNvPr id="256029" name="Line 30"/>
              <p:cNvSpPr/>
              <p:nvPr/>
            </p:nvSpPr>
            <p:spPr>
              <a:xfrm>
                <a:off x="3168" y="3504"/>
                <a:ext cx="0" cy="288"/>
              </a:xfrm>
              <a:prstGeom prst="line">
                <a:avLst/>
              </a:prstGeom>
              <a:ln w="19050" cap="flat" cmpd="sng">
                <a:solidFill>
                  <a:schemeClr val="tx1"/>
                </a:solidFill>
                <a:prstDash val="solid"/>
                <a:round/>
                <a:headEnd type="triangle" w="sm" len="med"/>
                <a:tailEnd type="triangle" w="sm" len="med"/>
              </a:ln>
            </p:spPr>
          </p:sp>
          <p:sp>
            <p:nvSpPr>
              <p:cNvPr id="256030" name="Line 31"/>
              <p:cNvSpPr/>
              <p:nvPr/>
            </p:nvSpPr>
            <p:spPr>
              <a:xfrm>
                <a:off x="3360" y="3504"/>
                <a:ext cx="0" cy="288"/>
              </a:xfrm>
              <a:prstGeom prst="line">
                <a:avLst/>
              </a:prstGeom>
              <a:ln w="19050" cap="flat" cmpd="sng">
                <a:solidFill>
                  <a:schemeClr val="tx1"/>
                </a:solidFill>
                <a:prstDash val="solid"/>
                <a:round/>
                <a:headEnd type="triangle" w="sm" len="med"/>
                <a:tailEnd type="triangle" w="sm" len="med"/>
              </a:ln>
            </p:spPr>
          </p:sp>
          <p:sp>
            <p:nvSpPr>
              <p:cNvPr id="256031" name="Line 32"/>
              <p:cNvSpPr/>
              <p:nvPr/>
            </p:nvSpPr>
            <p:spPr>
              <a:xfrm>
                <a:off x="3552" y="3504"/>
                <a:ext cx="0" cy="288"/>
              </a:xfrm>
              <a:prstGeom prst="line">
                <a:avLst/>
              </a:prstGeom>
              <a:ln w="19050" cap="flat" cmpd="sng">
                <a:solidFill>
                  <a:schemeClr val="tx1"/>
                </a:solidFill>
                <a:prstDash val="solid"/>
                <a:round/>
                <a:headEnd type="triangle" w="sm" len="med"/>
                <a:tailEnd type="triangle" w="sm" len="med"/>
              </a:ln>
            </p:spPr>
          </p:sp>
          <p:sp>
            <p:nvSpPr>
              <p:cNvPr id="256032" name="Line 33"/>
              <p:cNvSpPr/>
              <p:nvPr/>
            </p:nvSpPr>
            <p:spPr>
              <a:xfrm>
                <a:off x="3744" y="3504"/>
                <a:ext cx="0" cy="288"/>
              </a:xfrm>
              <a:prstGeom prst="line">
                <a:avLst/>
              </a:prstGeom>
              <a:ln w="19050" cap="flat" cmpd="sng">
                <a:solidFill>
                  <a:schemeClr val="tx1"/>
                </a:solidFill>
                <a:prstDash val="solid"/>
                <a:round/>
                <a:headEnd type="triangle" w="sm" len="med"/>
                <a:tailEnd type="triangle" w="sm" len="med"/>
              </a:ln>
            </p:spPr>
          </p:sp>
          <p:sp>
            <p:nvSpPr>
              <p:cNvPr id="256033" name="Line 34"/>
              <p:cNvSpPr/>
              <p:nvPr/>
            </p:nvSpPr>
            <p:spPr>
              <a:xfrm>
                <a:off x="3936" y="3504"/>
                <a:ext cx="0" cy="288"/>
              </a:xfrm>
              <a:prstGeom prst="line">
                <a:avLst/>
              </a:prstGeom>
              <a:ln w="19050" cap="flat" cmpd="sng">
                <a:solidFill>
                  <a:schemeClr val="tx1"/>
                </a:solidFill>
                <a:prstDash val="solid"/>
                <a:round/>
                <a:headEnd type="triangle" w="sm" len="med"/>
                <a:tailEnd type="triangle" w="sm" len="med"/>
              </a:ln>
            </p:spPr>
          </p:sp>
          <p:sp>
            <p:nvSpPr>
              <p:cNvPr id="256034" name="Line 35"/>
              <p:cNvSpPr/>
              <p:nvPr/>
            </p:nvSpPr>
            <p:spPr>
              <a:xfrm>
                <a:off x="4128" y="3504"/>
                <a:ext cx="0" cy="288"/>
              </a:xfrm>
              <a:prstGeom prst="line">
                <a:avLst/>
              </a:prstGeom>
              <a:ln w="19050" cap="flat" cmpd="sng">
                <a:solidFill>
                  <a:schemeClr val="tx1"/>
                </a:solidFill>
                <a:prstDash val="solid"/>
                <a:round/>
                <a:headEnd type="triangle" w="sm" len="med"/>
                <a:tailEnd type="triangle" w="sm" len="med"/>
              </a:ln>
            </p:spPr>
          </p:sp>
          <p:sp>
            <p:nvSpPr>
              <p:cNvPr id="256035" name="Line 36"/>
              <p:cNvSpPr/>
              <p:nvPr/>
            </p:nvSpPr>
            <p:spPr>
              <a:xfrm>
                <a:off x="4320" y="3504"/>
                <a:ext cx="0" cy="288"/>
              </a:xfrm>
              <a:prstGeom prst="line">
                <a:avLst/>
              </a:prstGeom>
              <a:ln w="19050" cap="flat" cmpd="sng">
                <a:solidFill>
                  <a:schemeClr val="tx1"/>
                </a:solidFill>
                <a:prstDash val="solid"/>
                <a:round/>
                <a:headEnd type="triangle" w="sm" len="med"/>
                <a:tailEnd type="triangle" w="sm" len="med"/>
              </a:ln>
            </p:spPr>
          </p:sp>
          <p:sp>
            <p:nvSpPr>
              <p:cNvPr id="256036" name="Line 37"/>
              <p:cNvSpPr/>
              <p:nvPr/>
            </p:nvSpPr>
            <p:spPr>
              <a:xfrm>
                <a:off x="4512" y="3504"/>
                <a:ext cx="0" cy="288"/>
              </a:xfrm>
              <a:prstGeom prst="line">
                <a:avLst/>
              </a:prstGeom>
              <a:ln w="19050" cap="flat" cmpd="sng">
                <a:solidFill>
                  <a:schemeClr val="tx1"/>
                </a:solidFill>
                <a:prstDash val="solid"/>
                <a:round/>
                <a:headEnd type="triangle" w="sm" len="med"/>
                <a:tailEnd type="triangle" w="sm" len="med"/>
              </a:ln>
            </p:spPr>
          </p:sp>
          <p:sp>
            <p:nvSpPr>
              <p:cNvPr id="256037" name="Line 38"/>
              <p:cNvSpPr/>
              <p:nvPr/>
            </p:nvSpPr>
            <p:spPr>
              <a:xfrm>
                <a:off x="4704" y="3504"/>
                <a:ext cx="0" cy="288"/>
              </a:xfrm>
              <a:prstGeom prst="line">
                <a:avLst/>
              </a:prstGeom>
              <a:ln w="19050" cap="flat" cmpd="sng">
                <a:solidFill>
                  <a:schemeClr val="tx1"/>
                </a:solidFill>
                <a:prstDash val="solid"/>
                <a:round/>
                <a:headEnd type="triangle" w="sm" len="med"/>
                <a:tailEnd type="triangle" w="sm" len="med"/>
              </a:ln>
            </p:spPr>
          </p:sp>
          <p:sp>
            <p:nvSpPr>
              <p:cNvPr id="256038" name="Line 39"/>
              <p:cNvSpPr/>
              <p:nvPr/>
            </p:nvSpPr>
            <p:spPr>
              <a:xfrm>
                <a:off x="4896" y="3504"/>
                <a:ext cx="0" cy="288"/>
              </a:xfrm>
              <a:prstGeom prst="line">
                <a:avLst/>
              </a:prstGeom>
              <a:ln w="19050" cap="flat" cmpd="sng">
                <a:solidFill>
                  <a:schemeClr val="tx1"/>
                </a:solidFill>
                <a:prstDash val="solid"/>
                <a:round/>
                <a:headEnd type="triangle" w="sm" len="med"/>
                <a:tailEnd type="triangle" w="sm" len="med"/>
              </a:ln>
            </p:spPr>
          </p:sp>
        </p:grpSp>
        <p:grpSp>
          <p:nvGrpSpPr>
            <p:cNvPr id="256039" name="Group 40"/>
            <p:cNvGrpSpPr/>
            <p:nvPr/>
          </p:nvGrpSpPr>
          <p:grpSpPr>
            <a:xfrm>
              <a:off x="1121" y="2883"/>
              <a:ext cx="3461" cy="302"/>
              <a:chOff x="2520" y="3240"/>
              <a:chExt cx="2640" cy="240"/>
            </a:xfrm>
          </p:grpSpPr>
          <p:sp>
            <p:nvSpPr>
              <p:cNvPr id="256040" name="Rectangle 41"/>
              <p:cNvSpPr/>
              <p:nvPr/>
            </p:nvSpPr>
            <p:spPr>
              <a:xfrm>
                <a:off x="2616"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1" name="Rectangle 42"/>
              <p:cNvSpPr/>
              <p:nvPr/>
            </p:nvSpPr>
            <p:spPr>
              <a:xfrm>
                <a:off x="2808"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2" name="Rectangle 43"/>
              <p:cNvSpPr/>
              <p:nvPr/>
            </p:nvSpPr>
            <p:spPr>
              <a:xfrm>
                <a:off x="3000"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3" name="Rectangle 44"/>
              <p:cNvSpPr/>
              <p:nvPr/>
            </p:nvSpPr>
            <p:spPr>
              <a:xfrm>
                <a:off x="3192"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4" name="Rectangle 45"/>
              <p:cNvSpPr/>
              <p:nvPr/>
            </p:nvSpPr>
            <p:spPr>
              <a:xfrm>
                <a:off x="3384"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5" name="Rectangle 46"/>
              <p:cNvSpPr/>
              <p:nvPr/>
            </p:nvSpPr>
            <p:spPr>
              <a:xfrm>
                <a:off x="3576"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6" name="Rectangle 47"/>
              <p:cNvSpPr/>
              <p:nvPr/>
            </p:nvSpPr>
            <p:spPr>
              <a:xfrm>
                <a:off x="3768"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7" name="Rectangle 48"/>
              <p:cNvSpPr/>
              <p:nvPr/>
            </p:nvSpPr>
            <p:spPr>
              <a:xfrm>
                <a:off x="3960"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8" name="Rectangle 49"/>
              <p:cNvSpPr/>
              <p:nvPr/>
            </p:nvSpPr>
            <p:spPr>
              <a:xfrm>
                <a:off x="4152"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49" name="Rectangle 50"/>
              <p:cNvSpPr/>
              <p:nvPr/>
            </p:nvSpPr>
            <p:spPr>
              <a:xfrm>
                <a:off x="4344"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50" name="Rectangle 51"/>
              <p:cNvSpPr/>
              <p:nvPr/>
            </p:nvSpPr>
            <p:spPr>
              <a:xfrm>
                <a:off x="4536"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51" name="Rectangle 52"/>
              <p:cNvSpPr/>
              <p:nvPr/>
            </p:nvSpPr>
            <p:spPr>
              <a:xfrm>
                <a:off x="4728"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52" name="Rectangle 53"/>
              <p:cNvSpPr/>
              <p:nvPr/>
            </p:nvSpPr>
            <p:spPr>
              <a:xfrm>
                <a:off x="2520" y="3240"/>
                <a:ext cx="96" cy="240"/>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53" name="Rectangle 54"/>
              <p:cNvSpPr/>
              <p:nvPr/>
            </p:nvSpPr>
            <p:spPr>
              <a:xfrm>
                <a:off x="5064" y="3240"/>
                <a:ext cx="96" cy="240"/>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54" name="Rectangle 55"/>
              <p:cNvSpPr/>
              <p:nvPr/>
            </p:nvSpPr>
            <p:spPr>
              <a:xfrm>
                <a:off x="4920" y="3312"/>
                <a:ext cx="144" cy="96"/>
              </a:xfrm>
              <a:prstGeom prst="rect">
                <a:avLst/>
              </a:prstGeom>
              <a:solidFill>
                <a:srgbClr val="DDDDDD"/>
              </a:solidFill>
              <a:ln w="2857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256055" name="Group 56"/>
            <p:cNvGrpSpPr/>
            <p:nvPr/>
          </p:nvGrpSpPr>
          <p:grpSpPr>
            <a:xfrm>
              <a:off x="806" y="3675"/>
              <a:ext cx="4090" cy="121"/>
              <a:chOff x="2304" y="3888"/>
              <a:chExt cx="3120" cy="96"/>
            </a:xfrm>
          </p:grpSpPr>
          <p:sp>
            <p:nvSpPr>
              <p:cNvPr id="256056" name="Line 57"/>
              <p:cNvSpPr/>
              <p:nvPr/>
            </p:nvSpPr>
            <p:spPr>
              <a:xfrm>
                <a:off x="2304" y="3888"/>
                <a:ext cx="3120" cy="0"/>
              </a:xfrm>
              <a:prstGeom prst="line">
                <a:avLst/>
              </a:prstGeom>
              <a:ln w="28575" cap="flat" cmpd="sng">
                <a:solidFill>
                  <a:schemeClr val="tx1"/>
                </a:solidFill>
                <a:prstDash val="solid"/>
                <a:round/>
                <a:headEnd type="none" w="med" len="med"/>
                <a:tailEnd type="none" w="med" len="med"/>
              </a:ln>
            </p:spPr>
          </p:sp>
          <p:grpSp>
            <p:nvGrpSpPr>
              <p:cNvPr id="256057" name="Group 58"/>
              <p:cNvGrpSpPr/>
              <p:nvPr/>
            </p:nvGrpSpPr>
            <p:grpSpPr>
              <a:xfrm>
                <a:off x="2304" y="3888"/>
                <a:ext cx="528" cy="96"/>
                <a:chOff x="2304" y="3888"/>
                <a:chExt cx="528" cy="96"/>
              </a:xfrm>
            </p:grpSpPr>
            <p:sp>
              <p:nvSpPr>
                <p:cNvPr id="256058" name="Line 59"/>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59" name="Line 60"/>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60" name="Line 61"/>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61" name="Line 62"/>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nvGrpSpPr>
              <p:cNvPr id="256062" name="Group 63"/>
              <p:cNvGrpSpPr/>
              <p:nvPr/>
            </p:nvGrpSpPr>
            <p:grpSpPr>
              <a:xfrm>
                <a:off x="2880" y="3888"/>
                <a:ext cx="528" cy="96"/>
                <a:chOff x="2304" y="3888"/>
                <a:chExt cx="528" cy="96"/>
              </a:xfrm>
            </p:grpSpPr>
            <p:sp>
              <p:nvSpPr>
                <p:cNvPr id="256063" name="Line 64"/>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64" name="Line 65"/>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65" name="Line 66"/>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66" name="Line 67"/>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nvGrpSpPr>
              <p:cNvPr id="256067" name="Group 68"/>
              <p:cNvGrpSpPr/>
              <p:nvPr/>
            </p:nvGrpSpPr>
            <p:grpSpPr>
              <a:xfrm>
                <a:off x="3456" y="3888"/>
                <a:ext cx="528" cy="96"/>
                <a:chOff x="2304" y="3888"/>
                <a:chExt cx="528" cy="96"/>
              </a:xfrm>
            </p:grpSpPr>
            <p:sp>
              <p:nvSpPr>
                <p:cNvPr id="256068" name="Line 69"/>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69" name="Line 70"/>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70" name="Line 71"/>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71" name="Line 72"/>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nvGrpSpPr>
              <p:cNvPr id="256072" name="Group 73"/>
              <p:cNvGrpSpPr/>
              <p:nvPr/>
            </p:nvGrpSpPr>
            <p:grpSpPr>
              <a:xfrm>
                <a:off x="4032" y="3888"/>
                <a:ext cx="528" cy="96"/>
                <a:chOff x="2304" y="3888"/>
                <a:chExt cx="528" cy="96"/>
              </a:xfrm>
            </p:grpSpPr>
            <p:sp>
              <p:nvSpPr>
                <p:cNvPr id="256073" name="Line 74"/>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74" name="Line 75"/>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75" name="Line 76"/>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76" name="Line 77"/>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nvGrpSpPr>
              <p:cNvPr id="256077" name="Group 78"/>
              <p:cNvGrpSpPr/>
              <p:nvPr/>
            </p:nvGrpSpPr>
            <p:grpSpPr>
              <a:xfrm>
                <a:off x="4608" y="3888"/>
                <a:ext cx="528" cy="96"/>
                <a:chOff x="2304" y="3888"/>
                <a:chExt cx="528" cy="96"/>
              </a:xfrm>
            </p:grpSpPr>
            <p:sp>
              <p:nvSpPr>
                <p:cNvPr id="256078" name="Line 79"/>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79" name="Line 80"/>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80" name="Line 81"/>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81" name="Line 82"/>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nvGrpSpPr>
              <p:cNvPr id="256082" name="Group 83"/>
              <p:cNvGrpSpPr/>
              <p:nvPr/>
            </p:nvGrpSpPr>
            <p:grpSpPr>
              <a:xfrm>
                <a:off x="4896" y="3888"/>
                <a:ext cx="528" cy="96"/>
                <a:chOff x="2304" y="3888"/>
                <a:chExt cx="528" cy="96"/>
              </a:xfrm>
            </p:grpSpPr>
            <p:sp>
              <p:nvSpPr>
                <p:cNvPr id="256083" name="Line 84"/>
                <p:cNvSpPr/>
                <p:nvPr/>
              </p:nvSpPr>
              <p:spPr>
                <a:xfrm>
                  <a:off x="2304" y="3888"/>
                  <a:ext cx="96" cy="96"/>
                </a:xfrm>
                <a:prstGeom prst="line">
                  <a:avLst/>
                </a:prstGeom>
                <a:ln w="28575" cap="flat" cmpd="sng">
                  <a:solidFill>
                    <a:schemeClr val="tx1"/>
                  </a:solidFill>
                  <a:prstDash val="solid"/>
                  <a:round/>
                  <a:headEnd type="none" w="med" len="med"/>
                  <a:tailEnd type="none" w="med" len="med"/>
                </a:ln>
              </p:spPr>
            </p:sp>
            <p:sp>
              <p:nvSpPr>
                <p:cNvPr id="256084" name="Line 85"/>
                <p:cNvSpPr/>
                <p:nvPr/>
              </p:nvSpPr>
              <p:spPr>
                <a:xfrm>
                  <a:off x="2448" y="3888"/>
                  <a:ext cx="96" cy="96"/>
                </a:xfrm>
                <a:prstGeom prst="line">
                  <a:avLst/>
                </a:prstGeom>
                <a:ln w="28575" cap="flat" cmpd="sng">
                  <a:solidFill>
                    <a:schemeClr val="tx1"/>
                  </a:solidFill>
                  <a:prstDash val="solid"/>
                  <a:round/>
                  <a:headEnd type="none" w="med" len="med"/>
                  <a:tailEnd type="none" w="med" len="med"/>
                </a:ln>
              </p:spPr>
            </p:sp>
            <p:sp>
              <p:nvSpPr>
                <p:cNvPr id="256085" name="Line 86"/>
                <p:cNvSpPr/>
                <p:nvPr/>
              </p:nvSpPr>
              <p:spPr>
                <a:xfrm>
                  <a:off x="2592" y="3888"/>
                  <a:ext cx="96" cy="96"/>
                </a:xfrm>
                <a:prstGeom prst="line">
                  <a:avLst/>
                </a:prstGeom>
                <a:ln w="28575" cap="flat" cmpd="sng">
                  <a:solidFill>
                    <a:schemeClr val="tx1"/>
                  </a:solidFill>
                  <a:prstDash val="solid"/>
                  <a:round/>
                  <a:headEnd type="none" w="med" len="med"/>
                  <a:tailEnd type="none" w="med" len="med"/>
                </a:ln>
              </p:spPr>
            </p:sp>
            <p:sp>
              <p:nvSpPr>
                <p:cNvPr id="256086" name="Line 87"/>
                <p:cNvSpPr/>
                <p:nvPr/>
              </p:nvSpPr>
              <p:spPr>
                <a:xfrm>
                  <a:off x="2736" y="3888"/>
                  <a:ext cx="96" cy="96"/>
                </a:xfrm>
                <a:prstGeom prst="line">
                  <a:avLst/>
                </a:prstGeom>
                <a:ln w="28575" cap="flat" cmpd="sng">
                  <a:solidFill>
                    <a:schemeClr val="tx1"/>
                  </a:solidFill>
                  <a:prstDash val="solid"/>
                  <a:round/>
                  <a:headEnd type="none" w="med" len="med"/>
                  <a:tailEnd type="none" w="med" len="med"/>
                </a:ln>
              </p:spPr>
            </p:sp>
          </p:grpSp>
        </p:grpSp>
        <p:grpSp>
          <p:nvGrpSpPr>
            <p:cNvPr id="256087" name="Group 88"/>
            <p:cNvGrpSpPr/>
            <p:nvPr/>
          </p:nvGrpSpPr>
          <p:grpSpPr>
            <a:xfrm>
              <a:off x="1404" y="2671"/>
              <a:ext cx="2895" cy="483"/>
              <a:chOff x="1404" y="2671"/>
              <a:chExt cx="2895" cy="483"/>
            </a:xfrm>
          </p:grpSpPr>
          <p:sp>
            <p:nvSpPr>
              <p:cNvPr id="256088" name="Rectangle 89"/>
              <p:cNvSpPr/>
              <p:nvPr/>
            </p:nvSpPr>
            <p:spPr>
              <a:xfrm>
                <a:off x="1404"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89" name="Rectangle 90"/>
              <p:cNvSpPr/>
              <p:nvPr/>
            </p:nvSpPr>
            <p:spPr>
              <a:xfrm>
                <a:off x="1656"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0" name="Rectangle 91"/>
              <p:cNvSpPr/>
              <p:nvPr/>
            </p:nvSpPr>
            <p:spPr>
              <a:xfrm>
                <a:off x="1907"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1" name="Rectangle 92"/>
              <p:cNvSpPr/>
              <p:nvPr/>
            </p:nvSpPr>
            <p:spPr>
              <a:xfrm>
                <a:off x="2159"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2" name="Rectangle 93"/>
              <p:cNvSpPr/>
              <p:nvPr/>
            </p:nvSpPr>
            <p:spPr>
              <a:xfrm>
                <a:off x="2411"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3" name="Rectangle 94"/>
              <p:cNvSpPr/>
              <p:nvPr/>
            </p:nvSpPr>
            <p:spPr>
              <a:xfrm>
                <a:off x="2663"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4" name="Rectangle 95"/>
              <p:cNvSpPr/>
              <p:nvPr/>
            </p:nvSpPr>
            <p:spPr>
              <a:xfrm>
                <a:off x="2914"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5" name="Rectangle 96"/>
              <p:cNvSpPr/>
              <p:nvPr/>
            </p:nvSpPr>
            <p:spPr>
              <a:xfrm>
                <a:off x="3166"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6" name="Rectangle 97"/>
              <p:cNvSpPr/>
              <p:nvPr/>
            </p:nvSpPr>
            <p:spPr>
              <a:xfrm>
                <a:off x="3418"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7" name="Rectangle 98"/>
              <p:cNvSpPr/>
              <p:nvPr/>
            </p:nvSpPr>
            <p:spPr>
              <a:xfrm>
                <a:off x="3670"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8" name="Rectangle 99"/>
              <p:cNvSpPr/>
              <p:nvPr/>
            </p:nvSpPr>
            <p:spPr>
              <a:xfrm>
                <a:off x="3921"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099" name="Rectangle 100"/>
              <p:cNvSpPr/>
              <p:nvPr/>
            </p:nvSpPr>
            <p:spPr>
              <a:xfrm>
                <a:off x="4173" y="2671"/>
                <a:ext cx="126" cy="121"/>
              </a:xfrm>
              <a:prstGeom prst="rect">
                <a:avLst/>
              </a:prstGeom>
              <a:solidFill>
                <a:srgbClr val="D5FFAB"/>
              </a:solidFill>
              <a:ln w="28575" cap="flat" cmpd="sng">
                <a:solidFill>
                  <a:srgbClr val="004C00"/>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256100" name="Group 101"/>
              <p:cNvGrpSpPr/>
              <p:nvPr/>
            </p:nvGrpSpPr>
            <p:grpSpPr>
              <a:xfrm>
                <a:off x="1436" y="2792"/>
                <a:ext cx="2832" cy="362"/>
                <a:chOff x="1436" y="2792"/>
                <a:chExt cx="2832" cy="362"/>
              </a:xfrm>
            </p:grpSpPr>
            <p:sp>
              <p:nvSpPr>
                <p:cNvPr id="256101" name="Rectangle 102"/>
                <p:cNvSpPr/>
                <p:nvPr/>
              </p:nvSpPr>
              <p:spPr>
                <a:xfrm>
                  <a:off x="1436"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2" name="Rectangle 103"/>
                <p:cNvSpPr/>
                <p:nvPr/>
              </p:nvSpPr>
              <p:spPr>
                <a:xfrm>
                  <a:off x="1688"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3" name="Rectangle 104"/>
                <p:cNvSpPr/>
                <p:nvPr/>
              </p:nvSpPr>
              <p:spPr>
                <a:xfrm>
                  <a:off x="1939"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4" name="Rectangle 105"/>
                <p:cNvSpPr/>
                <p:nvPr/>
              </p:nvSpPr>
              <p:spPr>
                <a:xfrm>
                  <a:off x="2191"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5" name="Rectangle 106"/>
                <p:cNvSpPr/>
                <p:nvPr/>
              </p:nvSpPr>
              <p:spPr>
                <a:xfrm>
                  <a:off x="2443"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6" name="Rectangle 107"/>
                <p:cNvSpPr/>
                <p:nvPr/>
              </p:nvSpPr>
              <p:spPr>
                <a:xfrm>
                  <a:off x="2695"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7" name="Rectangle 108"/>
                <p:cNvSpPr/>
                <p:nvPr/>
              </p:nvSpPr>
              <p:spPr>
                <a:xfrm>
                  <a:off x="2946"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8" name="Rectangle 109"/>
                <p:cNvSpPr/>
                <p:nvPr/>
              </p:nvSpPr>
              <p:spPr>
                <a:xfrm>
                  <a:off x="3198"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09" name="Rectangle 110"/>
                <p:cNvSpPr/>
                <p:nvPr/>
              </p:nvSpPr>
              <p:spPr>
                <a:xfrm>
                  <a:off x="3450"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10" name="Rectangle 111"/>
                <p:cNvSpPr/>
                <p:nvPr/>
              </p:nvSpPr>
              <p:spPr>
                <a:xfrm>
                  <a:off x="3702"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11" name="Rectangle 112"/>
                <p:cNvSpPr/>
                <p:nvPr/>
              </p:nvSpPr>
              <p:spPr>
                <a:xfrm>
                  <a:off x="3953"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12" name="Rectangle 113"/>
                <p:cNvSpPr/>
                <p:nvPr/>
              </p:nvSpPr>
              <p:spPr>
                <a:xfrm>
                  <a:off x="4205" y="2792"/>
                  <a:ext cx="63" cy="362"/>
                </a:xfrm>
                <a:prstGeom prst="rect">
                  <a:avLst/>
                </a:prstGeom>
                <a:solidFill>
                  <a:schemeClr val="accent1"/>
                </a:solidFill>
                <a:ln w="28575" cap="flat" cmpd="sng">
                  <a:solidFill>
                    <a:schemeClr val="accent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sp>
          <p:nvSpPr>
            <p:cNvPr id="256113" name="Line 114"/>
            <p:cNvSpPr/>
            <p:nvPr/>
          </p:nvSpPr>
          <p:spPr>
            <a:xfrm flipV="1">
              <a:off x="2222" y="2249"/>
              <a:ext cx="189" cy="181"/>
            </a:xfrm>
            <a:prstGeom prst="line">
              <a:avLst/>
            </a:prstGeom>
            <a:ln w="19050" cap="flat" cmpd="sng">
              <a:solidFill>
                <a:schemeClr val="tx1"/>
              </a:solidFill>
              <a:prstDash val="solid"/>
              <a:round/>
              <a:headEnd type="none" w="med" len="med"/>
              <a:tailEnd type="none" w="med" len="med"/>
            </a:ln>
          </p:spPr>
        </p:sp>
        <p:sp>
          <p:nvSpPr>
            <p:cNvPr id="256114" name="Line 115"/>
            <p:cNvSpPr/>
            <p:nvPr/>
          </p:nvSpPr>
          <p:spPr>
            <a:xfrm flipH="1" flipV="1">
              <a:off x="2411" y="2249"/>
              <a:ext cx="315" cy="181"/>
            </a:xfrm>
            <a:prstGeom prst="line">
              <a:avLst/>
            </a:prstGeom>
            <a:ln w="19050" cap="flat" cmpd="sng">
              <a:solidFill>
                <a:schemeClr val="tx1"/>
              </a:solidFill>
              <a:prstDash val="solid"/>
              <a:round/>
              <a:headEnd type="none" w="med" len="med"/>
              <a:tailEnd type="none" w="med" len="med"/>
            </a:ln>
          </p:spPr>
        </p:sp>
        <p:sp>
          <p:nvSpPr>
            <p:cNvPr id="256115" name="Line 116"/>
            <p:cNvSpPr/>
            <p:nvPr/>
          </p:nvSpPr>
          <p:spPr>
            <a:xfrm flipH="1">
              <a:off x="2977" y="2309"/>
              <a:ext cx="692" cy="423"/>
            </a:xfrm>
            <a:prstGeom prst="line">
              <a:avLst/>
            </a:prstGeom>
            <a:ln w="19050" cap="flat" cmpd="sng">
              <a:solidFill>
                <a:schemeClr val="tx1"/>
              </a:solidFill>
              <a:prstDash val="solid"/>
              <a:round/>
              <a:headEnd type="none" w="med" len="med"/>
              <a:tailEnd type="none" w="med" len="med"/>
            </a:ln>
          </p:spPr>
        </p:sp>
        <p:sp>
          <p:nvSpPr>
            <p:cNvPr id="256116" name="Line 117"/>
            <p:cNvSpPr/>
            <p:nvPr/>
          </p:nvSpPr>
          <p:spPr>
            <a:xfrm flipH="1">
              <a:off x="3481" y="2309"/>
              <a:ext cx="188" cy="423"/>
            </a:xfrm>
            <a:prstGeom prst="line">
              <a:avLst/>
            </a:prstGeom>
            <a:ln w="19050" cap="flat" cmpd="sng">
              <a:solidFill>
                <a:schemeClr val="tx1"/>
              </a:solidFill>
              <a:prstDash val="solid"/>
              <a:round/>
              <a:headEnd type="none" w="med" len="med"/>
              <a:tailEnd type="none" w="med" len="med"/>
            </a:ln>
          </p:spPr>
        </p:sp>
        <p:sp>
          <p:nvSpPr>
            <p:cNvPr id="256117" name="Line 118"/>
            <p:cNvSpPr/>
            <p:nvPr/>
          </p:nvSpPr>
          <p:spPr>
            <a:xfrm flipH="1">
              <a:off x="4236" y="2551"/>
              <a:ext cx="251" cy="483"/>
            </a:xfrm>
            <a:prstGeom prst="line">
              <a:avLst/>
            </a:prstGeom>
            <a:ln w="19050" cap="flat" cmpd="sng">
              <a:solidFill>
                <a:schemeClr val="tx1"/>
              </a:solidFill>
              <a:prstDash val="solid"/>
              <a:round/>
              <a:headEnd type="none" w="med" len="med"/>
              <a:tailEnd type="none" w="med" len="med"/>
            </a:ln>
          </p:spPr>
        </p:sp>
        <p:sp>
          <p:nvSpPr>
            <p:cNvPr id="256118" name="Line 119"/>
            <p:cNvSpPr/>
            <p:nvPr/>
          </p:nvSpPr>
          <p:spPr>
            <a:xfrm flipH="1">
              <a:off x="3984" y="2551"/>
              <a:ext cx="503" cy="483"/>
            </a:xfrm>
            <a:prstGeom prst="line">
              <a:avLst/>
            </a:prstGeom>
            <a:ln w="19050" cap="flat" cmpd="sng">
              <a:solidFill>
                <a:schemeClr val="tx1"/>
              </a:solidFill>
              <a:prstDash val="solid"/>
              <a:round/>
              <a:headEnd type="none" w="med" len="med"/>
              <a:tailEnd type="none" w="med" len="med"/>
            </a:ln>
          </p:spPr>
        </p:sp>
        <p:sp>
          <p:nvSpPr>
            <p:cNvPr id="256119" name="Line 120"/>
            <p:cNvSpPr/>
            <p:nvPr/>
          </p:nvSpPr>
          <p:spPr>
            <a:xfrm flipH="1" flipV="1">
              <a:off x="4299" y="3034"/>
              <a:ext cx="188" cy="302"/>
            </a:xfrm>
            <a:prstGeom prst="line">
              <a:avLst/>
            </a:prstGeom>
            <a:ln w="19050" cap="flat" cmpd="sng">
              <a:solidFill>
                <a:schemeClr val="tx1"/>
              </a:solidFill>
              <a:prstDash val="solid"/>
              <a:round/>
              <a:headEnd type="none" w="med" len="med"/>
              <a:tailEnd type="none" w="med" len="med"/>
            </a:ln>
          </p:spPr>
        </p:sp>
        <p:sp>
          <p:nvSpPr>
            <p:cNvPr id="256120" name="Line 121"/>
            <p:cNvSpPr/>
            <p:nvPr/>
          </p:nvSpPr>
          <p:spPr>
            <a:xfrm flipH="1" flipV="1">
              <a:off x="1248" y="3412"/>
              <a:ext cx="1603" cy="225"/>
            </a:xfrm>
            <a:prstGeom prst="line">
              <a:avLst/>
            </a:prstGeom>
            <a:ln w="19050" cap="flat" cmpd="sng">
              <a:solidFill>
                <a:schemeClr val="tx1"/>
              </a:solidFill>
              <a:prstDash val="solid"/>
              <a:round/>
              <a:headEnd type="none" w="med" len="med"/>
              <a:tailEnd type="none" w="med" len="med"/>
            </a:ln>
          </p:spPr>
        </p:sp>
        <p:sp>
          <p:nvSpPr>
            <p:cNvPr id="256121" name="Rectangle 122"/>
            <p:cNvSpPr/>
            <p:nvPr/>
          </p:nvSpPr>
          <p:spPr>
            <a:xfrm>
              <a:off x="1467" y="3940"/>
              <a:ext cx="2894" cy="250"/>
            </a:xfrm>
            <a:prstGeom prst="rect">
              <a:avLst/>
            </a:prstGeom>
            <a:noFill/>
            <a:ln w="9525">
              <a:noFill/>
            </a:ln>
          </p:spPr>
          <p:txBody>
            <a:bodyPr anchor="t" anchorCtr="0">
              <a:spAutoFit/>
            </a:bodyPr>
            <a:p>
              <a:pPr algn="ctr"/>
              <a:r>
                <a:rPr lang="zh-CN" altLang="en-US" sz="2000" b="1" dirty="0">
                  <a:latin typeface="楷体_GB2312"/>
                  <a:ea typeface="楷体_GB2312"/>
                </a:rPr>
                <a:t>图</a:t>
              </a:r>
              <a:r>
                <a:rPr lang="en-GB" altLang="zh-CN" sz="2000" b="1" dirty="0">
                  <a:latin typeface="楷体_GB2312"/>
                  <a:ea typeface="楷体_GB2312"/>
                </a:rPr>
                <a:t>2</a:t>
              </a:r>
              <a:r>
                <a:rPr lang="en-US" altLang="zh-CN" sz="2000" b="1" dirty="0">
                  <a:latin typeface="楷体_GB2312"/>
                  <a:ea typeface="楷体_GB2312"/>
                </a:rPr>
                <a:t>-3</a:t>
              </a:r>
              <a:r>
                <a:rPr lang="en-GB" altLang="zh-CN" sz="2000" b="1" dirty="0">
                  <a:latin typeface="楷体_GB2312"/>
                  <a:ea typeface="楷体_GB2312"/>
                </a:rPr>
                <a:t>2</a:t>
              </a:r>
              <a:r>
                <a:rPr lang="en-US" altLang="zh-CN" sz="2000" b="1" dirty="0">
                  <a:latin typeface="楷体_GB2312"/>
                  <a:ea typeface="楷体_GB2312"/>
                </a:rPr>
                <a:t>  </a:t>
              </a:r>
              <a:r>
                <a:rPr lang="zh-CN" altLang="en-US" sz="2000" b="1" dirty="0">
                  <a:latin typeface="楷体_GB2312"/>
                  <a:ea typeface="楷体_GB2312"/>
                </a:rPr>
                <a:t>光学引导原理</a:t>
              </a:r>
              <a:endParaRPr lang="zh-CN" altLang="en-US" sz="2000" b="1" dirty="0">
                <a:latin typeface="楷体_GB2312"/>
                <a:ea typeface="楷体_GB2312"/>
              </a:endParaRPr>
            </a:p>
          </p:txBody>
        </p:sp>
      </p:grpSp>
    </p:spTree>
  </p:cSld>
  <p:clrMapOvr>
    <a:masterClrMapping/>
  </p:clrMapOvr>
  <p:transition spd="slow">
    <p:randomBar dir="vert"/>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0850" name="Rectangle 2"/>
          <p:cNvSpPr>
            <a:spLocks noGrp="1" noChangeArrowheads="1"/>
          </p:cNvSpPr>
          <p:nvPr>
            <p:ph type="title"/>
          </p:nvPr>
        </p:nvSpPr>
        <p:spPr>
          <a:xfrm>
            <a:off x="2605088" y="404813"/>
            <a:ext cx="5135563"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58050"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58051"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30853" name="Rectangle 5"/>
          <p:cNvSpPr>
            <a:spLocks noChangeArrowheads="1"/>
          </p:cNvSpPr>
          <p:nvPr/>
        </p:nvSpPr>
        <p:spPr bwMode="auto">
          <a:xfrm>
            <a:off x="533400" y="1422400"/>
            <a:ext cx="2667000" cy="493713"/>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a:ln>
                  <a:noFill/>
                </a:ln>
                <a:solidFill>
                  <a:schemeClr val="tx2"/>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rgbClr val="FF3300"/>
                </a:solidFill>
                <a:effectLst/>
                <a:uLnTx/>
                <a:uFillTx/>
                <a:latin typeface="宋体" panose="02010600030101010101" pitchFamily="2" charset="-122"/>
                <a:ea typeface="楷体_GB2312" pitchFamily="49" charset="-122"/>
                <a:cs typeface="+mn-cs"/>
              </a:rPr>
              <a:t>切屑处理系统</a:t>
            </a:r>
            <a:endParaRPr kumimoji="1" lang="zh-CN" altLang="en-US" sz="2400" b="1" i="0" u="none" strike="noStrike" kern="1200" cap="none" spc="0" normalizeH="0" baseline="0" noProof="0">
              <a:ln>
                <a:noFill/>
              </a:ln>
              <a:solidFill>
                <a:srgbClr val="FF3300"/>
              </a:solidFill>
              <a:effectLst/>
              <a:uLnTx/>
              <a:uFillTx/>
              <a:latin typeface="Times New Roman" panose="02020603050405020304" pitchFamily="18" charset="0"/>
              <a:ea typeface="楷体_GB2312" pitchFamily="49" charset="-122"/>
              <a:cs typeface="+mn-cs"/>
            </a:endParaRPr>
          </a:p>
        </p:txBody>
      </p:sp>
      <p:grpSp>
        <p:nvGrpSpPr>
          <p:cNvPr id="258053" name="Group 6"/>
          <p:cNvGrpSpPr/>
          <p:nvPr/>
        </p:nvGrpSpPr>
        <p:grpSpPr>
          <a:xfrm>
            <a:off x="990600" y="1989138"/>
            <a:ext cx="6019800" cy="2995612"/>
            <a:chOff x="624" y="912"/>
            <a:chExt cx="3792" cy="1887"/>
          </a:xfrm>
        </p:grpSpPr>
        <p:sp>
          <p:nvSpPr>
            <p:cNvPr id="258054" name="Text Box 7"/>
            <p:cNvSpPr txBox="1"/>
            <p:nvPr/>
          </p:nvSpPr>
          <p:spPr>
            <a:xfrm>
              <a:off x="816" y="912"/>
              <a:ext cx="3600" cy="1887"/>
            </a:xfrm>
            <a:prstGeom prst="rect">
              <a:avLst/>
            </a:prstGeom>
            <a:noFill/>
            <a:ln w="12700">
              <a:noFill/>
            </a:ln>
          </p:spPr>
          <p:txBody>
            <a:bodyPr lIns="0" anchor="t" anchorCtr="0">
              <a:spAutoFit/>
            </a:bodyPr>
            <a:p>
              <a:pPr algn="just" eaLnBrk="0" hangingPunct="0">
                <a:lnSpc>
                  <a:spcPct val="120000"/>
                </a:lnSpc>
              </a:pPr>
              <a:r>
                <a:rPr lang="zh-CN" altLang="en-US" sz="2400" b="1" dirty="0">
                  <a:latin typeface="楷体_GB2312"/>
                  <a:ea typeface="楷体_GB2312"/>
                </a:rPr>
                <a:t>断屑</a:t>
              </a:r>
              <a:endParaRPr lang="zh-CN" altLang="en-US" sz="2400" b="1" dirty="0">
                <a:latin typeface="楷体_GB2312"/>
                <a:ea typeface="楷体_GB2312"/>
              </a:endParaRPr>
            </a:p>
            <a:p>
              <a:pPr algn="just" eaLnBrk="0" hangingPunct="0">
                <a:lnSpc>
                  <a:spcPct val="120000"/>
                </a:lnSpc>
                <a:spcBef>
                  <a:spcPct val="30000"/>
                </a:spcBef>
              </a:pPr>
              <a:r>
                <a:rPr lang="zh-CN" altLang="en-US" sz="2400" dirty="0">
                  <a:latin typeface="黑体" panose="02010609060101010101" pitchFamily="49" charset="-122"/>
                  <a:ea typeface="黑体" panose="02010609060101010101" pitchFamily="49" charset="-122"/>
                </a:rPr>
                <a:t>       </a:t>
              </a:r>
              <a:r>
                <a:rPr lang="zh-CN" altLang="en-US" sz="2400" b="1" dirty="0">
                  <a:latin typeface="楷体_GB2312"/>
                  <a:ea typeface="楷体_GB2312"/>
                </a:rPr>
                <a:t>加工部位封闭</a:t>
              </a:r>
              <a:endParaRPr lang="zh-CN" altLang="en-US" sz="2400" b="1" dirty="0">
                <a:latin typeface="楷体_GB2312"/>
                <a:ea typeface="楷体_GB2312"/>
              </a:endParaRPr>
            </a:p>
            <a:p>
              <a:pPr algn="just" eaLnBrk="0" hangingPunct="0">
                <a:lnSpc>
                  <a:spcPct val="120000"/>
                </a:lnSpc>
              </a:pPr>
              <a:r>
                <a:rPr lang="zh-CN" altLang="en-US" sz="2400" b="1" dirty="0">
                  <a:latin typeface="楷体_GB2312"/>
                  <a:ea typeface="楷体_GB2312"/>
                </a:rPr>
                <a:t>排屑   机床、工夹具设计要便于排屑</a:t>
              </a:r>
              <a:endParaRPr lang="zh-CN" altLang="en-US" sz="2400" b="1" dirty="0">
                <a:latin typeface="楷体_GB2312"/>
                <a:ea typeface="楷体_GB2312"/>
              </a:endParaRPr>
            </a:p>
            <a:p>
              <a:pPr algn="just" eaLnBrk="0" hangingPunct="0">
                <a:lnSpc>
                  <a:spcPct val="120000"/>
                </a:lnSpc>
              </a:pPr>
              <a:r>
                <a:rPr lang="zh-CN" altLang="en-US" sz="2400" b="1" dirty="0">
                  <a:latin typeface="楷体_GB2312"/>
                  <a:ea typeface="楷体_GB2312"/>
                </a:rPr>
                <a:t>       冷却液冲，或压缩空气吹</a:t>
              </a:r>
              <a:endParaRPr lang="zh-CN" altLang="en-US" sz="2400" b="1" dirty="0">
                <a:latin typeface="楷体_GB2312"/>
                <a:ea typeface="楷体_GB2312"/>
              </a:endParaRPr>
            </a:p>
            <a:p>
              <a:pPr algn="just" eaLnBrk="0" hangingPunct="0">
                <a:lnSpc>
                  <a:spcPct val="120000"/>
                </a:lnSpc>
                <a:spcBef>
                  <a:spcPct val="30000"/>
                </a:spcBef>
              </a:pPr>
              <a:r>
                <a:rPr lang="zh-CN" altLang="en-US" sz="2400" b="1" dirty="0">
                  <a:latin typeface="楷体_GB2312"/>
                  <a:ea typeface="楷体_GB2312"/>
                </a:rPr>
                <a:t>切屑输送</a:t>
              </a:r>
              <a:r>
                <a:rPr lang="zh-CN" altLang="en-US" sz="2400" b="1" dirty="0">
                  <a:latin typeface="黑体" panose="02010609060101010101" pitchFamily="49" charset="-122"/>
                  <a:ea typeface="楷体_GB2312"/>
                </a:rPr>
                <a:t>（通常采用地下输送管道）</a:t>
              </a:r>
              <a:endParaRPr lang="zh-CN" altLang="en-US" sz="2400" b="1" dirty="0">
                <a:latin typeface="黑体" panose="02010609060101010101" pitchFamily="49" charset="-122"/>
                <a:ea typeface="楷体_GB2312"/>
              </a:endParaRPr>
            </a:p>
            <a:p>
              <a:pPr algn="just" eaLnBrk="0" hangingPunct="0">
                <a:lnSpc>
                  <a:spcPct val="120000"/>
                </a:lnSpc>
                <a:spcBef>
                  <a:spcPct val="15000"/>
                </a:spcBef>
              </a:pPr>
              <a:r>
                <a:rPr lang="zh-CN" altLang="en-US" sz="2400" b="1" dirty="0">
                  <a:latin typeface="黑体" panose="02010609060101010101" pitchFamily="49" charset="-122"/>
                  <a:ea typeface="楷体_GB2312"/>
                </a:rPr>
                <a:t>切屑再处理（打包）</a:t>
              </a:r>
              <a:endParaRPr lang="zh-CN" altLang="en-US" sz="2400" b="1" dirty="0">
                <a:solidFill>
                  <a:schemeClr val="tx2"/>
                </a:solidFill>
                <a:latin typeface="黑体" panose="02010609060101010101" pitchFamily="49" charset="-122"/>
                <a:ea typeface="楷体_GB2312"/>
              </a:endParaRPr>
            </a:p>
          </p:txBody>
        </p:sp>
        <p:sp>
          <p:nvSpPr>
            <p:cNvPr id="258055" name="AutoShape 8"/>
            <p:cNvSpPr/>
            <p:nvPr/>
          </p:nvSpPr>
          <p:spPr>
            <a:xfrm>
              <a:off x="624" y="1094"/>
              <a:ext cx="96" cy="1594"/>
            </a:xfrm>
            <a:prstGeom prst="leftBrace">
              <a:avLst>
                <a:gd name="adj1" fmla="val 137829"/>
                <a:gd name="adj2" fmla="val 50000"/>
              </a:avLst>
            </a:prstGeom>
            <a:noFill/>
            <a:ln w="28575" cap="sq"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8056" name="AutoShape 9"/>
            <p:cNvSpPr/>
            <p:nvPr/>
          </p:nvSpPr>
          <p:spPr>
            <a:xfrm>
              <a:off x="1296" y="1372"/>
              <a:ext cx="95" cy="692"/>
            </a:xfrm>
            <a:prstGeom prst="leftBrace">
              <a:avLst>
                <a:gd name="adj1" fmla="val 60465"/>
                <a:gd name="adj2" fmla="val 50000"/>
              </a:avLst>
            </a:prstGeom>
            <a:noFill/>
            <a:ln w="28575" cap="sq"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spd="slow">
    <p:randomBar dir="ver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2898" name="Rectangle 2"/>
          <p:cNvSpPr>
            <a:spLocks noGrp="1" noChangeArrowheads="1"/>
          </p:cNvSpPr>
          <p:nvPr>
            <p:ph type="title"/>
          </p:nvPr>
        </p:nvSpPr>
        <p:spPr>
          <a:xfrm>
            <a:off x="2676525" y="523875"/>
            <a:ext cx="5064125"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60098"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0099"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60100" name="Group 11"/>
          <p:cNvGrpSpPr/>
          <p:nvPr/>
        </p:nvGrpSpPr>
        <p:grpSpPr>
          <a:xfrm>
            <a:off x="468313" y="1368425"/>
            <a:ext cx="8215312" cy="5300663"/>
            <a:chOff x="339" y="693"/>
            <a:chExt cx="5175" cy="3339"/>
          </a:xfrm>
        </p:grpSpPr>
        <p:sp>
          <p:nvSpPr>
            <p:cNvPr id="1232901" name="Text Box 5"/>
            <p:cNvSpPr txBox="1">
              <a:spLocks noChangeArrowheads="1"/>
            </p:cNvSpPr>
            <p:nvPr/>
          </p:nvSpPr>
          <p:spPr bwMode="auto">
            <a:xfrm>
              <a:off x="506" y="1019"/>
              <a:ext cx="4992" cy="564"/>
            </a:xfrm>
            <a:prstGeom prst="rect">
              <a:avLst/>
            </a:prstGeom>
            <a:noFill/>
            <a:ln w="12700" cap="sq">
              <a:noFill/>
              <a:miter lim="800000"/>
              <a:headEnd type="none" w="sm" len="sm"/>
              <a:tailEnd type="none" w="sm" len="sm"/>
            </a:ln>
            <a:effectLst/>
          </p:spPr>
          <p:txBody>
            <a:bodyPr lIns="0">
              <a:spAutoFit/>
            </a:bodyPr>
            <a:lstStyle/>
            <a:p>
              <a:pPr marR="0" defTabSz="914400" eaLnBrk="0" hangingPunct="0">
                <a:lnSpc>
                  <a:spcPct val="110000"/>
                </a:lnSpc>
                <a:buClrTx/>
                <a:buSzTx/>
                <a:buFontTx/>
                <a:buNone/>
                <a:defRPr/>
              </a:pPr>
              <a:r>
                <a:rPr kumimoji="1" lang="en-US" altLang="zh-CN" sz="2400" kern="1200" cap="none" spc="0" normalizeH="0" baseline="0" noProof="0">
                  <a:solidFill>
                    <a:srgbClr val="FF9900"/>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a:t>
              </a:r>
              <a:r>
                <a:rPr kumimoji="1" lang="en-US" altLang="zh-CN" sz="2400"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49" charset="-122"/>
                  <a:cs typeface="+mn-cs"/>
                </a:rPr>
                <a:t> </a:t>
              </a:r>
              <a:r>
                <a:rPr kumimoji="1" lang="zh-CN" altLang="en-US" sz="2400" b="1" kern="1200" cap="none" spc="0" normalizeH="0" baseline="0" noProof="0">
                  <a:latin typeface="楷体_GB2312" pitchFamily="49" charset="-122"/>
                  <a:ea typeface="楷体_GB2312" pitchFamily="49" charset="-122"/>
                  <a:cs typeface="+mn-cs"/>
                </a:rPr>
                <a:t>工厂计算机：制定、修改、更新生产（作业）计划；</a:t>
              </a:r>
              <a:endParaRPr kumimoji="1" lang="zh-CN" altLang="en-US" sz="2400" b="1" kern="1200" cap="none" spc="0" normalizeH="0" baseline="0" noProof="0">
                <a:latin typeface="楷体_GB2312" pitchFamily="49" charset="-122"/>
                <a:ea typeface="楷体_GB2312" pitchFamily="49" charset="-122"/>
                <a:cs typeface="+mn-cs"/>
              </a:endParaRPr>
            </a:p>
            <a:p>
              <a:pPr marR="0" defTabSz="914400" eaLnBrk="0" hangingPunct="0">
                <a:lnSpc>
                  <a:spcPct val="110000"/>
                </a:lnSpc>
                <a:buClrTx/>
                <a:buSzTx/>
                <a:buFontTx/>
                <a:buNone/>
                <a:defRPr/>
              </a:pPr>
              <a:r>
                <a:rPr kumimoji="1" lang="zh-CN" altLang="en-US" sz="2400" b="1" kern="1200" cap="none" spc="0" normalizeH="0" baseline="0" noProof="0">
                  <a:latin typeface="楷体_GB2312" pitchFamily="49" charset="-122"/>
                  <a:ea typeface="楷体_GB2312" pitchFamily="49" charset="-122"/>
                  <a:cs typeface="+mn-cs"/>
                </a:rPr>
                <a:t>               对中央计算机和物流计算机进行控制。</a:t>
              </a:r>
              <a:endParaRPr kumimoji="1" lang="zh-CN" altLang="en-US" sz="2400" b="1" kern="1200" cap="none" spc="0" normalizeH="0" baseline="0" noProof="0">
                <a:latin typeface="楷体_GB2312" pitchFamily="49" charset="-122"/>
                <a:ea typeface="楷体_GB2312" pitchFamily="49" charset="-122"/>
                <a:cs typeface="+mn-cs"/>
              </a:endParaRPr>
            </a:p>
          </p:txBody>
        </p:sp>
        <p:sp>
          <p:nvSpPr>
            <p:cNvPr id="1232902" name="Rectangle 6"/>
            <p:cNvSpPr>
              <a:spLocks noChangeArrowheads="1"/>
            </p:cNvSpPr>
            <p:nvPr/>
          </p:nvSpPr>
          <p:spPr bwMode="auto">
            <a:xfrm>
              <a:off x="448" y="3086"/>
              <a:ext cx="4891" cy="311"/>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10000"/>
                </a:lnSpc>
                <a:spcBef>
                  <a:spcPct val="1000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单元控制器：监视与控制机床加工、检测、上下料 </a:t>
              </a:r>
              <a:r>
                <a:rPr kumimoji="1" lang="en-US" altLang="zh-CN" sz="2400" b="1" i="0" u="none" strike="noStrike" kern="1200" cap="none" spc="0" normalizeH="0" baseline="0" noProof="0">
                  <a:ln>
                    <a:noFill/>
                  </a:ln>
                  <a:solidFill>
                    <a:schemeClr val="tx1"/>
                  </a:solidFill>
                  <a:effectLst/>
                  <a:uLnTx/>
                  <a:uFillTx/>
                  <a:latin typeface="Times New Roman" panose="02020603050405020304"/>
                  <a:ea typeface="楷体_GB2312" pitchFamily="49" charset="-122"/>
                  <a:cs typeface="+mn-cs"/>
                </a:rPr>
                <a:t>…</a:t>
              </a:r>
              <a:endParaRPr kumimoji="1"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232903" name="Rectangle 7"/>
            <p:cNvSpPr>
              <a:spLocks noChangeArrowheads="1"/>
            </p:cNvSpPr>
            <p:nvPr/>
          </p:nvSpPr>
          <p:spPr bwMode="auto">
            <a:xfrm>
              <a:off x="442" y="2240"/>
              <a:ext cx="5048" cy="817"/>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物流计算机：根据工厂计算机制定的作业计划对自动仓</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库、堆垛机、缓冲站、运输小车等进行监</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视与控制。</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232904" name="Rectangle 8"/>
            <p:cNvSpPr>
              <a:spLocks noChangeArrowheads="1"/>
            </p:cNvSpPr>
            <p:nvPr/>
          </p:nvSpPr>
          <p:spPr bwMode="auto">
            <a:xfrm>
              <a:off x="449" y="1632"/>
              <a:ext cx="5065" cy="564"/>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中央计算机：根据工厂计算机制定的作业计划对各加工</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0" fontAlgn="base" latinLnBrk="0" hangingPunct="0">
                <a:lnSpc>
                  <a:spcPct val="11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单元进行监视与控制。</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232905" name="Rectangle 9"/>
            <p:cNvSpPr>
              <a:spLocks noChangeArrowheads="1"/>
            </p:cNvSpPr>
            <p:nvPr/>
          </p:nvSpPr>
          <p:spPr bwMode="auto">
            <a:xfrm>
              <a:off x="448" y="3445"/>
              <a:ext cx="4992" cy="587"/>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10000"/>
                </a:spcBef>
                <a:spcAft>
                  <a:spcPct val="0"/>
                </a:spcAft>
                <a:buClrTx/>
                <a:buSzTx/>
                <a:buFontTx/>
                <a:buNone/>
                <a:defRPr/>
              </a:pPr>
              <a:r>
                <a:rPr kumimoji="1" lang="en-US" altLang="zh-CN" sz="2400" b="0"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 </a:t>
              </a: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信息传输网络：在控制计算机与单元控制器之间进行信</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0" fontAlgn="base" latinLnBrk="0" hangingPunct="0">
                <a:lnSpc>
                  <a:spcPct val="110000"/>
                </a:lnSpc>
                <a:spcBef>
                  <a:spcPct val="10000"/>
                </a:spcBef>
                <a:spcAft>
                  <a:spcPct val="0"/>
                </a:spcAft>
                <a:buClrTx/>
                <a:buSzTx/>
                <a:buFontTx/>
                <a:buNone/>
                <a:defRPr/>
              </a:pPr>
              <a:r>
                <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息传递。</a:t>
              </a:r>
              <a:endParaRPr kumimoji="1"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60106" name="Rectangle 10"/>
            <p:cNvSpPr/>
            <p:nvPr/>
          </p:nvSpPr>
          <p:spPr>
            <a:xfrm>
              <a:off x="339" y="693"/>
              <a:ext cx="1686" cy="288"/>
            </a:xfrm>
            <a:prstGeom prst="rect">
              <a:avLst/>
            </a:prstGeom>
            <a:noFill/>
            <a:ln w="9525">
              <a:noFill/>
            </a:ln>
          </p:spPr>
          <p:txBody>
            <a:bodyPr wrap="none" anchor="ctr" anchorCtr="0">
              <a:spAutoFit/>
            </a:bodyPr>
            <a:p>
              <a:pPr>
                <a:buFont typeface="Wingdings" panose="05000000000000000000" pitchFamily="2" charset="2"/>
                <a:buChar char="q"/>
              </a:pPr>
              <a:r>
                <a:rPr lang="en-US" altLang="zh-CN" sz="2400" dirty="0">
                  <a:solidFill>
                    <a:srgbClr val="990000"/>
                  </a:solidFill>
                  <a:latin typeface="Times New Roman" panose="02020603050405020304" pitchFamily="18" charset="0"/>
                  <a:ea typeface="黑体" panose="02010609060101010101" pitchFamily="49" charset="-122"/>
                </a:rPr>
                <a:t> </a:t>
              </a:r>
              <a:r>
                <a:rPr lang="zh-CN" altLang="en-US" sz="2400" b="1" dirty="0">
                  <a:solidFill>
                    <a:srgbClr val="990000"/>
                  </a:solidFill>
                  <a:latin typeface="Times New Roman" panose="02020603050405020304" pitchFamily="18" charset="0"/>
                  <a:ea typeface="楷体_GB2312"/>
                </a:rPr>
                <a:t>计算机控制系统</a:t>
              </a:r>
              <a:endParaRPr lang="zh-CN" altLang="en-US" sz="2400" b="1" dirty="0">
                <a:solidFill>
                  <a:srgbClr val="990000"/>
                </a:solidFill>
                <a:latin typeface="Times New Roman" panose="02020603050405020304" pitchFamily="18" charset="0"/>
                <a:ea typeface="楷体_GB2312"/>
              </a:endParaRPr>
            </a:p>
          </p:txBody>
        </p:sp>
      </p:grpSp>
    </p:spTree>
  </p:cSld>
  <p:clrMapOvr>
    <a:masterClrMapping/>
  </p:clrMapOvr>
  <p:transition spd="slow">
    <p:randomBar dir="vert"/>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0130" name="Rectangle 2"/>
          <p:cNvSpPr>
            <a:spLocks noGrp="1" noChangeArrowheads="1"/>
          </p:cNvSpPr>
          <p:nvPr>
            <p:ph type="title"/>
          </p:nvPr>
        </p:nvSpPr>
        <p:spPr>
          <a:xfrm>
            <a:off x="3563938" y="307975"/>
            <a:ext cx="3984625"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62146"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2147"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1200133" name="Text Box 5"/>
          <p:cNvSpPr txBox="1">
            <a:spLocks noChangeArrowheads="1"/>
          </p:cNvSpPr>
          <p:nvPr/>
        </p:nvSpPr>
        <p:spPr bwMode="auto">
          <a:xfrm>
            <a:off x="250825" y="1268413"/>
            <a:ext cx="8291513" cy="476250"/>
          </a:xfrm>
          <a:prstGeom prst="rect">
            <a:avLst/>
          </a:prstGeom>
          <a:noFill/>
          <a:ln w="12700" cap="sq">
            <a:noFill/>
            <a:miter lim="800000"/>
            <a:headEnd type="none" w="sm" len="sm"/>
            <a:tailEnd type="none" w="sm" len="sm"/>
          </a:ln>
          <a:effectLst/>
        </p:spPr>
        <p:txBody>
          <a:bodyPr>
            <a:spAutoFit/>
          </a:bodyPr>
          <a:lstStyle/>
          <a:p>
            <a:pPr marR="0" algn="just" defTabSz="914400" eaLnBrk="0" hangingPunct="0">
              <a:lnSpc>
                <a:spcPct val="105000"/>
              </a:lnSpc>
              <a:buClrTx/>
              <a:buSzTx/>
              <a:buFontTx/>
              <a:buNone/>
              <a:defRPr/>
            </a:pPr>
            <a:r>
              <a:rPr kumimoji="1" lang="en-US" altLang="zh-CN" sz="2400" kern="1200" cap="none" spc="0" normalizeH="0" baseline="0" noProof="0">
                <a:solidFill>
                  <a:srgbClr val="FF99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a:t>
            </a:r>
            <a:r>
              <a:rPr kumimoji="1" lang="en-US" altLang="zh-CN" kern="1200" cap="none" spc="0" normalizeH="0" baseline="0" noProof="0">
                <a:latin typeface="Arial" panose="020B0604020202020204" pitchFamily="34" charset="0"/>
                <a:ea typeface="宋体" panose="02010600030101010101" pitchFamily="2" charset="-122"/>
                <a:cs typeface="+mn-cs"/>
              </a:rPr>
              <a:t> </a:t>
            </a:r>
            <a:r>
              <a:rPr kumimoji="1" lang="en-US" altLang="zh-CN" sz="2400" b="1" kern="1200" cap="none" spc="0" normalizeH="0" baseline="0" noProof="0">
                <a:latin typeface="楷体_GB2312" pitchFamily="49" charset="-122"/>
                <a:ea typeface="楷体_GB2312" pitchFamily="49" charset="-122"/>
                <a:cs typeface="+mn-cs"/>
              </a:rPr>
              <a:t>JCS-FMS-1</a:t>
            </a:r>
            <a:r>
              <a:rPr kumimoji="1" lang="zh-CN" altLang="en-US" sz="2400" b="1" kern="1200" cap="none" spc="0" normalizeH="0" baseline="0" noProof="0">
                <a:latin typeface="楷体_GB2312" pitchFamily="49" charset="-122"/>
                <a:ea typeface="楷体_GB2312" pitchFamily="49" charset="-122"/>
                <a:cs typeface="+mn-cs"/>
              </a:rPr>
              <a:t>控制级结构</a:t>
            </a:r>
            <a:endParaRPr kumimoji="1" lang="zh-CN" altLang="en-US" sz="2400" b="1" kern="1200" cap="none" spc="0" normalizeH="0" baseline="0" noProof="0">
              <a:latin typeface="楷体_GB2312" pitchFamily="49" charset="-122"/>
              <a:ea typeface="楷体_GB2312" pitchFamily="49" charset="-122"/>
              <a:cs typeface="+mn-cs"/>
            </a:endParaRPr>
          </a:p>
        </p:txBody>
      </p:sp>
      <p:grpSp>
        <p:nvGrpSpPr>
          <p:cNvPr id="262149" name="Group 6"/>
          <p:cNvGrpSpPr/>
          <p:nvPr/>
        </p:nvGrpSpPr>
        <p:grpSpPr>
          <a:xfrm>
            <a:off x="395288" y="1892300"/>
            <a:ext cx="8355012" cy="4532313"/>
            <a:chOff x="249" y="1192"/>
            <a:chExt cx="5263" cy="2855"/>
          </a:xfrm>
        </p:grpSpPr>
        <p:sp>
          <p:nvSpPr>
            <p:cNvPr id="262150" name="Text Box 7"/>
            <p:cNvSpPr txBox="1"/>
            <p:nvPr/>
          </p:nvSpPr>
          <p:spPr>
            <a:xfrm>
              <a:off x="2199" y="1192"/>
              <a:ext cx="1225" cy="460"/>
            </a:xfrm>
            <a:prstGeom prst="rect">
              <a:avLst/>
            </a:prstGeom>
            <a:solidFill>
              <a:srgbClr val="FFCDD7"/>
            </a:solidFill>
            <a:ln w="28575" cap="flat" cmpd="sng">
              <a:solidFill>
                <a:srgbClr val="800000"/>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800000"/>
                  </a:solidFill>
                  <a:latin typeface="Times New Roman" panose="02020603050405020304" pitchFamily="18" charset="0"/>
                  <a:ea typeface="黑体" panose="02010609060101010101" pitchFamily="49" charset="-122"/>
                </a:rPr>
                <a:t>中央管理计算机</a:t>
              </a:r>
              <a:endParaRPr lang="zh-CN" altLang="en-US" sz="2000" dirty="0">
                <a:solidFill>
                  <a:srgbClr val="800000"/>
                </a:solidFill>
                <a:latin typeface="Times New Roman" panose="02020603050405020304" pitchFamily="18" charset="0"/>
                <a:ea typeface="黑体" panose="02010609060101010101" pitchFamily="49" charset="-122"/>
              </a:endParaRPr>
            </a:p>
            <a:p>
              <a:pPr algn="ctr"/>
              <a:r>
                <a:rPr lang="en-US" altLang="zh-CN" sz="2000" dirty="0">
                  <a:solidFill>
                    <a:srgbClr val="800000"/>
                  </a:solidFill>
                  <a:latin typeface="Times New Roman" panose="02020603050405020304" pitchFamily="18" charset="0"/>
                  <a:ea typeface="黑体" panose="02010609060101010101" pitchFamily="49" charset="-122"/>
                </a:rPr>
                <a:t>FM-11AD2</a:t>
              </a:r>
              <a:r>
                <a:rPr lang="en-US" altLang="zh-CN" sz="2000" baseline="30000" dirty="0">
                  <a:solidFill>
                    <a:srgbClr val="800000"/>
                  </a:solidFill>
                  <a:latin typeface="Times New Roman" panose="02020603050405020304" pitchFamily="18" charset="0"/>
                  <a:ea typeface="黑体" panose="02010609060101010101" pitchFamily="49" charset="-122"/>
                </a:rPr>
                <a:t>+</a:t>
              </a:r>
              <a:endParaRPr lang="en-US" altLang="zh-CN" sz="2000" dirty="0">
                <a:solidFill>
                  <a:srgbClr val="800000"/>
                </a:solidFill>
                <a:latin typeface="Times New Roman" panose="02020603050405020304" pitchFamily="18" charset="0"/>
                <a:ea typeface="黑体" panose="02010609060101010101" pitchFamily="49" charset="-122"/>
              </a:endParaRPr>
            </a:p>
          </p:txBody>
        </p:sp>
        <p:sp>
          <p:nvSpPr>
            <p:cNvPr id="262151" name="Text Box 8"/>
            <p:cNvSpPr txBox="1"/>
            <p:nvPr/>
          </p:nvSpPr>
          <p:spPr>
            <a:xfrm>
              <a:off x="4014" y="1287"/>
              <a:ext cx="1225" cy="268"/>
            </a:xfrm>
            <a:prstGeom prst="rect">
              <a:avLst/>
            </a:prstGeom>
            <a:solidFill>
              <a:srgbClr val="FFEAD5"/>
            </a:solidFill>
            <a:ln w="28575" cap="flat" cmpd="sng">
              <a:solidFill>
                <a:srgbClr val="800000"/>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800000"/>
                  </a:solidFill>
                  <a:latin typeface="Times New Roman" panose="02020603050405020304" pitchFamily="18" charset="0"/>
                  <a:ea typeface="黑体" panose="02010609060101010101" pitchFamily="49" charset="-122"/>
                </a:rPr>
                <a:t>物流控制计算机</a:t>
              </a:r>
              <a:endParaRPr lang="zh-CN" altLang="en-US" sz="2000" dirty="0">
                <a:solidFill>
                  <a:srgbClr val="800000"/>
                </a:solidFill>
                <a:latin typeface="Times New Roman" panose="02020603050405020304" pitchFamily="18" charset="0"/>
                <a:ea typeface="黑体" panose="02010609060101010101" pitchFamily="49" charset="-122"/>
              </a:endParaRPr>
            </a:p>
          </p:txBody>
        </p:sp>
        <p:sp>
          <p:nvSpPr>
            <p:cNvPr id="262152" name="Text Box 9"/>
            <p:cNvSpPr txBox="1"/>
            <p:nvPr/>
          </p:nvSpPr>
          <p:spPr>
            <a:xfrm>
              <a:off x="2245" y="1872"/>
              <a:ext cx="1134" cy="268"/>
            </a:xfrm>
            <a:prstGeom prst="rect">
              <a:avLst/>
            </a:prstGeom>
            <a:solidFill>
              <a:srgbClr val="E6D5FF"/>
            </a:solidFill>
            <a:ln w="28575" cap="flat" cmpd="sng">
              <a:solidFill>
                <a:srgbClr val="003366"/>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003366"/>
                  </a:solidFill>
                  <a:latin typeface="Times New Roman" panose="02020603050405020304" pitchFamily="18" charset="0"/>
                  <a:ea typeface="黑体" panose="02010609060101010101" pitchFamily="49" charset="-122"/>
                </a:rPr>
                <a:t>局域网络</a:t>
              </a:r>
              <a:r>
                <a:rPr lang="en-US" altLang="zh-CN" sz="2000" dirty="0">
                  <a:solidFill>
                    <a:srgbClr val="003366"/>
                  </a:solidFill>
                  <a:latin typeface="Times New Roman" panose="02020603050405020304" pitchFamily="18" charset="0"/>
                  <a:ea typeface="黑体" panose="02010609060101010101" pitchFamily="49" charset="-122"/>
                </a:rPr>
                <a:t>LAN</a:t>
              </a:r>
              <a:endParaRPr lang="en-US" altLang="zh-CN" sz="2000" dirty="0">
                <a:solidFill>
                  <a:srgbClr val="003366"/>
                </a:solidFill>
                <a:latin typeface="Times New Roman" panose="02020603050405020304" pitchFamily="18" charset="0"/>
                <a:ea typeface="黑体" panose="02010609060101010101" pitchFamily="49" charset="-122"/>
              </a:endParaRPr>
            </a:p>
          </p:txBody>
        </p:sp>
        <p:sp>
          <p:nvSpPr>
            <p:cNvPr id="262153" name="Text Box 10"/>
            <p:cNvSpPr txBox="1"/>
            <p:nvPr/>
          </p:nvSpPr>
          <p:spPr>
            <a:xfrm>
              <a:off x="3696" y="1872"/>
              <a:ext cx="590" cy="268"/>
            </a:xfrm>
            <a:prstGeom prst="rect">
              <a:avLst/>
            </a:prstGeom>
            <a:solidFill>
              <a:srgbClr val="FFE5FF"/>
            </a:solidFill>
            <a:ln w="28575" cap="flat" cmpd="sng">
              <a:solidFill>
                <a:srgbClr val="6600CC"/>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6600CC"/>
                  </a:solidFill>
                  <a:latin typeface="Times New Roman" panose="02020603050405020304" pitchFamily="18" charset="0"/>
                  <a:ea typeface="黑体" panose="02010609060101010101" pitchFamily="49" charset="-122"/>
                </a:rPr>
                <a:t>文件库</a:t>
              </a:r>
              <a:endParaRPr lang="zh-CN" altLang="en-US" sz="2000" dirty="0">
                <a:solidFill>
                  <a:srgbClr val="6600CC"/>
                </a:solidFill>
                <a:latin typeface="Times New Roman" panose="02020603050405020304" pitchFamily="18" charset="0"/>
                <a:ea typeface="黑体" panose="02010609060101010101" pitchFamily="49" charset="-122"/>
              </a:endParaRPr>
            </a:p>
          </p:txBody>
        </p:sp>
        <p:sp>
          <p:nvSpPr>
            <p:cNvPr id="262154" name="Text Box 11"/>
            <p:cNvSpPr txBox="1"/>
            <p:nvPr/>
          </p:nvSpPr>
          <p:spPr>
            <a:xfrm>
              <a:off x="4604" y="1872"/>
              <a:ext cx="908" cy="268"/>
            </a:xfrm>
            <a:prstGeom prst="rect">
              <a:avLst/>
            </a:prstGeom>
            <a:solidFill>
              <a:srgbClr val="CCECFF"/>
            </a:solidFill>
            <a:ln w="28575" cap="flat" cmpd="sng">
              <a:solidFill>
                <a:schemeClr val="tx1"/>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latin typeface="Times New Roman" panose="02020603050405020304" pitchFamily="18" charset="0"/>
                  <a:ea typeface="黑体" panose="02010609060101010101" pitchFamily="49" charset="-122"/>
                </a:rPr>
                <a:t>自动编程机</a:t>
              </a:r>
              <a:endParaRPr lang="zh-CN" altLang="en-US" sz="2000" dirty="0">
                <a:latin typeface="Times New Roman" panose="02020603050405020304" pitchFamily="18" charset="0"/>
                <a:ea typeface="黑体" panose="02010609060101010101" pitchFamily="49" charset="-122"/>
              </a:endParaRPr>
            </a:p>
          </p:txBody>
        </p:sp>
        <p:sp>
          <p:nvSpPr>
            <p:cNvPr id="262155" name="Line 12"/>
            <p:cNvSpPr/>
            <p:nvPr/>
          </p:nvSpPr>
          <p:spPr>
            <a:xfrm>
              <a:off x="3424" y="1419"/>
              <a:ext cx="590" cy="0"/>
            </a:xfrm>
            <a:prstGeom prst="line">
              <a:avLst/>
            </a:prstGeom>
            <a:ln w="28575" cap="flat" cmpd="sng">
              <a:solidFill>
                <a:schemeClr val="tx1"/>
              </a:solidFill>
              <a:prstDash val="solid"/>
              <a:round/>
              <a:headEnd type="none" w="med" len="med"/>
              <a:tailEnd type="none" w="med" len="med"/>
            </a:ln>
          </p:spPr>
        </p:sp>
        <p:sp>
          <p:nvSpPr>
            <p:cNvPr id="262156" name="Line 13"/>
            <p:cNvSpPr/>
            <p:nvPr/>
          </p:nvSpPr>
          <p:spPr>
            <a:xfrm>
              <a:off x="2835" y="1645"/>
              <a:ext cx="0" cy="227"/>
            </a:xfrm>
            <a:prstGeom prst="line">
              <a:avLst/>
            </a:prstGeom>
            <a:ln w="28575" cap="flat" cmpd="sng">
              <a:solidFill>
                <a:schemeClr val="tx1"/>
              </a:solidFill>
              <a:prstDash val="solid"/>
              <a:round/>
              <a:headEnd type="none" w="med" len="med"/>
              <a:tailEnd type="none" w="med" len="med"/>
            </a:ln>
          </p:spPr>
        </p:sp>
        <p:sp>
          <p:nvSpPr>
            <p:cNvPr id="262157" name="Line 14"/>
            <p:cNvSpPr/>
            <p:nvPr/>
          </p:nvSpPr>
          <p:spPr>
            <a:xfrm>
              <a:off x="3379" y="2008"/>
              <a:ext cx="317" cy="0"/>
            </a:xfrm>
            <a:prstGeom prst="line">
              <a:avLst/>
            </a:prstGeom>
            <a:ln w="28575" cap="flat" cmpd="sng">
              <a:solidFill>
                <a:schemeClr val="tx1"/>
              </a:solidFill>
              <a:prstDash val="solid"/>
              <a:round/>
              <a:headEnd type="none" w="med" len="med"/>
              <a:tailEnd type="none" w="med" len="med"/>
            </a:ln>
          </p:spPr>
        </p:sp>
        <p:sp>
          <p:nvSpPr>
            <p:cNvPr id="262158" name="Line 15"/>
            <p:cNvSpPr/>
            <p:nvPr/>
          </p:nvSpPr>
          <p:spPr>
            <a:xfrm>
              <a:off x="4286" y="2008"/>
              <a:ext cx="317" cy="0"/>
            </a:xfrm>
            <a:prstGeom prst="line">
              <a:avLst/>
            </a:prstGeom>
            <a:ln w="28575" cap="flat" cmpd="sng">
              <a:solidFill>
                <a:schemeClr val="tx1"/>
              </a:solidFill>
              <a:prstDash val="solid"/>
              <a:round/>
              <a:headEnd type="none" w="med" len="med"/>
              <a:tailEnd type="none" w="med" len="med"/>
            </a:ln>
          </p:spPr>
        </p:sp>
        <p:sp>
          <p:nvSpPr>
            <p:cNvPr id="262159" name="Text Box 16"/>
            <p:cNvSpPr txBox="1"/>
            <p:nvPr/>
          </p:nvSpPr>
          <p:spPr>
            <a:xfrm>
              <a:off x="1065" y="2553"/>
              <a:ext cx="908" cy="265"/>
            </a:xfrm>
            <a:prstGeom prst="rect">
              <a:avLst/>
            </a:prstGeom>
            <a:solidFill>
              <a:srgbClr val="C5FFC5"/>
            </a:solidFill>
            <a:ln w="28575" cap="flat" cmpd="sng">
              <a:solidFill>
                <a:srgbClr val="004C00"/>
              </a:solidFill>
              <a:prstDash val="solid"/>
              <a:miter/>
              <a:headEnd type="none" w="med" len="med"/>
              <a:tailEnd type="none" w="med" len="med"/>
            </a:ln>
            <a:effectLst>
              <a:outerShdw dist="107763" dir="2699999" algn="ctr" rotWithShape="0">
                <a:schemeClr val="bg2">
                  <a:alpha val="50000"/>
                </a:schemeClr>
              </a:outerShdw>
            </a:effectLst>
          </p:spPr>
          <p:txBody>
            <a:bodyPr lIns="54000" rIns="54000" bIns="72000" anchor="t" anchorCtr="0">
              <a:spAutoFit/>
            </a:bodyPr>
            <a:p>
              <a:pPr algn="ctr">
                <a:spcBef>
                  <a:spcPct val="50000"/>
                </a:spcBef>
              </a:pPr>
              <a:r>
                <a:rPr lang="zh-CN" altLang="en-US" dirty="0">
                  <a:solidFill>
                    <a:srgbClr val="004C00"/>
                  </a:solidFill>
                  <a:latin typeface="Times New Roman" panose="02020603050405020304" pitchFamily="18" charset="0"/>
                  <a:ea typeface="黑体" panose="02010609060101010101" pitchFamily="49" charset="-122"/>
                </a:rPr>
                <a:t>单元控制机</a:t>
              </a:r>
              <a:endParaRPr lang="zh-CN" altLang="en-US" dirty="0">
                <a:solidFill>
                  <a:srgbClr val="004C00"/>
                </a:solidFill>
                <a:latin typeface="Times New Roman" panose="02020603050405020304" pitchFamily="18" charset="0"/>
                <a:ea typeface="黑体" panose="02010609060101010101" pitchFamily="49" charset="-122"/>
              </a:endParaRPr>
            </a:p>
          </p:txBody>
        </p:sp>
        <p:sp>
          <p:nvSpPr>
            <p:cNvPr id="262160" name="Text Box 17"/>
            <p:cNvSpPr txBox="1"/>
            <p:nvPr/>
          </p:nvSpPr>
          <p:spPr>
            <a:xfrm>
              <a:off x="974" y="3090"/>
              <a:ext cx="454" cy="460"/>
            </a:xfrm>
            <a:prstGeom prst="rect">
              <a:avLst/>
            </a:prstGeom>
            <a:solidFill>
              <a:srgbClr val="FFDDFF"/>
            </a:solidFill>
            <a:ln w="28575" cap="flat" cmpd="sng">
              <a:solidFill>
                <a:srgbClr val="660066"/>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en-US" altLang="zh-CN" sz="2000" dirty="0">
                  <a:solidFill>
                    <a:srgbClr val="660066"/>
                  </a:solidFill>
                  <a:latin typeface="Times New Roman" panose="02020603050405020304" pitchFamily="18" charset="0"/>
                  <a:ea typeface="黑体" panose="02010609060101010101" pitchFamily="49" charset="-122"/>
                </a:rPr>
                <a:t>CNC</a:t>
              </a:r>
              <a:r>
                <a:rPr lang="zh-CN" altLang="en-US" sz="2000" dirty="0">
                  <a:solidFill>
                    <a:srgbClr val="660066"/>
                  </a:solidFill>
                  <a:latin typeface="Times New Roman" panose="02020603050405020304" pitchFamily="18" charset="0"/>
                  <a:ea typeface="黑体" panose="02010609060101010101" pitchFamily="49" charset="-122"/>
                </a:rPr>
                <a:t>车床</a:t>
              </a:r>
              <a:endParaRPr lang="zh-CN" altLang="en-US" sz="2000" dirty="0">
                <a:solidFill>
                  <a:srgbClr val="660066"/>
                </a:solidFill>
                <a:latin typeface="Times New Roman" panose="02020603050405020304" pitchFamily="18" charset="0"/>
                <a:ea typeface="黑体" panose="02010609060101010101" pitchFamily="49" charset="-122"/>
              </a:endParaRPr>
            </a:p>
          </p:txBody>
        </p:sp>
        <p:sp>
          <p:nvSpPr>
            <p:cNvPr id="262161" name="Text Box 18"/>
            <p:cNvSpPr txBox="1"/>
            <p:nvPr/>
          </p:nvSpPr>
          <p:spPr>
            <a:xfrm>
              <a:off x="1655" y="3090"/>
              <a:ext cx="454" cy="460"/>
            </a:xfrm>
            <a:prstGeom prst="rect">
              <a:avLst/>
            </a:prstGeom>
            <a:solidFill>
              <a:srgbClr val="FFEBB3"/>
            </a:solidFill>
            <a:ln w="28575" cap="flat" cmpd="sng">
              <a:solidFill>
                <a:srgbClr val="663300"/>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en-US" altLang="zh-CN" sz="2000" dirty="0">
                  <a:solidFill>
                    <a:srgbClr val="663300"/>
                  </a:solidFill>
                  <a:latin typeface="Times New Roman" panose="02020603050405020304" pitchFamily="18" charset="0"/>
                  <a:ea typeface="黑体" panose="02010609060101010101" pitchFamily="49" charset="-122"/>
                </a:rPr>
                <a:t>CNC</a:t>
              </a:r>
              <a:r>
                <a:rPr lang="zh-CN" altLang="en-US" sz="2000" dirty="0">
                  <a:solidFill>
                    <a:srgbClr val="663300"/>
                  </a:solidFill>
                  <a:latin typeface="Times New Roman" panose="02020603050405020304" pitchFamily="18" charset="0"/>
                  <a:ea typeface="黑体" panose="02010609060101010101" pitchFamily="49" charset="-122"/>
                </a:rPr>
                <a:t>磨床</a:t>
              </a:r>
              <a:endParaRPr lang="zh-CN" altLang="en-US" sz="2000" dirty="0">
                <a:solidFill>
                  <a:srgbClr val="663300"/>
                </a:solidFill>
                <a:latin typeface="Times New Roman" panose="02020603050405020304" pitchFamily="18" charset="0"/>
                <a:ea typeface="黑体" panose="02010609060101010101" pitchFamily="49" charset="-122"/>
              </a:endParaRPr>
            </a:p>
          </p:txBody>
        </p:sp>
        <p:sp>
          <p:nvSpPr>
            <p:cNvPr id="262162" name="Line 19"/>
            <p:cNvSpPr/>
            <p:nvPr/>
          </p:nvSpPr>
          <p:spPr>
            <a:xfrm>
              <a:off x="1519" y="2371"/>
              <a:ext cx="0" cy="182"/>
            </a:xfrm>
            <a:prstGeom prst="line">
              <a:avLst/>
            </a:prstGeom>
            <a:ln w="28575" cap="flat" cmpd="sng">
              <a:solidFill>
                <a:schemeClr val="tx1"/>
              </a:solidFill>
              <a:prstDash val="solid"/>
              <a:round/>
              <a:headEnd type="none" w="med" len="med"/>
              <a:tailEnd type="none" w="med" len="med"/>
            </a:ln>
          </p:spPr>
        </p:sp>
        <p:grpSp>
          <p:nvGrpSpPr>
            <p:cNvPr id="262163" name="Group 20"/>
            <p:cNvGrpSpPr/>
            <p:nvPr/>
          </p:nvGrpSpPr>
          <p:grpSpPr>
            <a:xfrm>
              <a:off x="1201" y="2825"/>
              <a:ext cx="680" cy="272"/>
              <a:chOff x="1111" y="2750"/>
              <a:chExt cx="680" cy="272"/>
            </a:xfrm>
          </p:grpSpPr>
          <p:sp>
            <p:nvSpPr>
              <p:cNvPr id="262164" name="Line 21"/>
              <p:cNvSpPr/>
              <p:nvPr/>
            </p:nvSpPr>
            <p:spPr>
              <a:xfrm>
                <a:off x="1429" y="2750"/>
                <a:ext cx="0" cy="136"/>
              </a:xfrm>
              <a:prstGeom prst="line">
                <a:avLst/>
              </a:prstGeom>
              <a:ln w="28575" cap="flat" cmpd="sng">
                <a:solidFill>
                  <a:schemeClr val="tx1"/>
                </a:solidFill>
                <a:prstDash val="solid"/>
                <a:round/>
                <a:headEnd type="none" w="med" len="med"/>
                <a:tailEnd type="none" w="med" len="med"/>
              </a:ln>
            </p:spPr>
          </p:sp>
          <p:sp>
            <p:nvSpPr>
              <p:cNvPr id="262165" name="Line 22"/>
              <p:cNvSpPr/>
              <p:nvPr/>
            </p:nvSpPr>
            <p:spPr>
              <a:xfrm>
                <a:off x="1111" y="2886"/>
                <a:ext cx="0" cy="136"/>
              </a:xfrm>
              <a:prstGeom prst="line">
                <a:avLst/>
              </a:prstGeom>
              <a:ln w="28575" cap="flat" cmpd="sng">
                <a:solidFill>
                  <a:schemeClr val="tx1"/>
                </a:solidFill>
                <a:prstDash val="solid"/>
                <a:round/>
                <a:headEnd type="none" w="med" len="med"/>
                <a:tailEnd type="none" w="med" len="med"/>
              </a:ln>
            </p:spPr>
          </p:sp>
          <p:sp>
            <p:nvSpPr>
              <p:cNvPr id="262166" name="Line 23"/>
              <p:cNvSpPr/>
              <p:nvPr/>
            </p:nvSpPr>
            <p:spPr>
              <a:xfrm>
                <a:off x="1791" y="2886"/>
                <a:ext cx="0" cy="136"/>
              </a:xfrm>
              <a:prstGeom prst="line">
                <a:avLst/>
              </a:prstGeom>
              <a:ln w="28575" cap="flat" cmpd="sng">
                <a:solidFill>
                  <a:schemeClr val="tx1"/>
                </a:solidFill>
                <a:prstDash val="solid"/>
                <a:round/>
                <a:headEnd type="none" w="med" len="med"/>
                <a:tailEnd type="none" w="med" len="med"/>
              </a:ln>
            </p:spPr>
          </p:sp>
          <p:sp>
            <p:nvSpPr>
              <p:cNvPr id="262167" name="Line 24"/>
              <p:cNvSpPr/>
              <p:nvPr/>
            </p:nvSpPr>
            <p:spPr>
              <a:xfrm flipH="1">
                <a:off x="1111" y="2886"/>
                <a:ext cx="680" cy="0"/>
              </a:xfrm>
              <a:prstGeom prst="line">
                <a:avLst/>
              </a:prstGeom>
              <a:ln w="28575" cap="flat" cmpd="sng">
                <a:solidFill>
                  <a:schemeClr val="tx1"/>
                </a:solidFill>
                <a:prstDash val="solid"/>
                <a:round/>
                <a:headEnd type="none" w="med" len="med"/>
                <a:tailEnd type="none" w="med" len="med"/>
              </a:ln>
            </p:spPr>
          </p:sp>
        </p:grpSp>
        <p:sp>
          <p:nvSpPr>
            <p:cNvPr id="262168" name="Text Box 25"/>
            <p:cNvSpPr txBox="1"/>
            <p:nvPr/>
          </p:nvSpPr>
          <p:spPr>
            <a:xfrm>
              <a:off x="3832" y="2553"/>
              <a:ext cx="908" cy="265"/>
            </a:xfrm>
            <a:prstGeom prst="rect">
              <a:avLst/>
            </a:prstGeom>
            <a:solidFill>
              <a:srgbClr val="C5FFC5"/>
            </a:solidFill>
            <a:ln w="28575" cap="flat" cmpd="sng">
              <a:solidFill>
                <a:srgbClr val="004C00"/>
              </a:solidFill>
              <a:prstDash val="solid"/>
              <a:miter/>
              <a:headEnd type="none" w="med" len="med"/>
              <a:tailEnd type="none" w="med" len="med"/>
            </a:ln>
            <a:effectLst>
              <a:outerShdw dist="107763" dir="2699999" algn="ctr" rotWithShape="0">
                <a:schemeClr val="bg2">
                  <a:alpha val="50000"/>
                </a:schemeClr>
              </a:outerShdw>
            </a:effectLst>
          </p:spPr>
          <p:txBody>
            <a:bodyPr lIns="54000" rIns="54000" bIns="72000" anchor="t" anchorCtr="0">
              <a:spAutoFit/>
            </a:bodyPr>
            <a:p>
              <a:pPr algn="ctr">
                <a:spcBef>
                  <a:spcPct val="50000"/>
                </a:spcBef>
              </a:pPr>
              <a:r>
                <a:rPr lang="zh-CN" altLang="en-US" dirty="0">
                  <a:solidFill>
                    <a:srgbClr val="004C00"/>
                  </a:solidFill>
                  <a:latin typeface="Times New Roman" panose="02020603050405020304" pitchFamily="18" charset="0"/>
                  <a:ea typeface="黑体" panose="02010609060101010101" pitchFamily="49" charset="-122"/>
                </a:rPr>
                <a:t>单元控制机</a:t>
              </a:r>
              <a:endParaRPr lang="zh-CN" altLang="en-US" dirty="0">
                <a:solidFill>
                  <a:srgbClr val="004C00"/>
                </a:solidFill>
                <a:latin typeface="Times New Roman" panose="02020603050405020304" pitchFamily="18" charset="0"/>
                <a:ea typeface="黑体" panose="02010609060101010101" pitchFamily="49" charset="-122"/>
              </a:endParaRPr>
            </a:p>
          </p:txBody>
        </p:sp>
        <p:sp>
          <p:nvSpPr>
            <p:cNvPr id="262169" name="Text Box 26"/>
            <p:cNvSpPr txBox="1"/>
            <p:nvPr/>
          </p:nvSpPr>
          <p:spPr>
            <a:xfrm>
              <a:off x="3742" y="3090"/>
              <a:ext cx="454" cy="460"/>
            </a:xfrm>
            <a:prstGeom prst="rect">
              <a:avLst/>
            </a:prstGeom>
            <a:solidFill>
              <a:srgbClr val="CCFFFF"/>
            </a:solidFill>
            <a:ln w="28575" cap="flat" cmpd="sng">
              <a:solidFill>
                <a:srgbClr val="003366"/>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003366"/>
                  </a:solidFill>
                  <a:latin typeface="Times New Roman" panose="02020603050405020304" pitchFamily="18" charset="0"/>
                  <a:ea typeface="黑体" panose="02010609060101010101" pitchFamily="49" charset="-122"/>
                </a:rPr>
                <a:t>立式</a:t>
              </a:r>
              <a:r>
                <a:rPr lang="en-US" altLang="zh-CN" sz="2000" dirty="0">
                  <a:solidFill>
                    <a:srgbClr val="003366"/>
                  </a:solidFill>
                  <a:latin typeface="Times New Roman" panose="02020603050405020304" pitchFamily="18" charset="0"/>
                  <a:ea typeface="黑体" panose="02010609060101010101" pitchFamily="49" charset="-122"/>
                </a:rPr>
                <a:t>MC</a:t>
              </a:r>
              <a:endParaRPr lang="en-US" altLang="zh-CN" sz="2000" dirty="0">
                <a:solidFill>
                  <a:srgbClr val="003366"/>
                </a:solidFill>
                <a:latin typeface="Times New Roman" panose="02020603050405020304" pitchFamily="18" charset="0"/>
                <a:ea typeface="黑体" panose="02010609060101010101" pitchFamily="49" charset="-122"/>
              </a:endParaRPr>
            </a:p>
          </p:txBody>
        </p:sp>
        <p:sp>
          <p:nvSpPr>
            <p:cNvPr id="262170" name="Text Box 27"/>
            <p:cNvSpPr txBox="1"/>
            <p:nvPr/>
          </p:nvSpPr>
          <p:spPr>
            <a:xfrm>
              <a:off x="4422" y="3090"/>
              <a:ext cx="454" cy="460"/>
            </a:xfrm>
            <a:prstGeom prst="rect">
              <a:avLst/>
            </a:prstGeom>
            <a:solidFill>
              <a:srgbClr val="CCFFFF"/>
            </a:solidFill>
            <a:ln w="28575" cap="flat" cmpd="sng">
              <a:solidFill>
                <a:srgbClr val="003366"/>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zh-CN" altLang="en-US" sz="2000" dirty="0">
                  <a:solidFill>
                    <a:srgbClr val="003366"/>
                  </a:solidFill>
                  <a:latin typeface="Times New Roman" panose="02020603050405020304" pitchFamily="18" charset="0"/>
                  <a:ea typeface="黑体" panose="02010609060101010101" pitchFamily="49" charset="-122"/>
                </a:rPr>
                <a:t>卧式</a:t>
              </a:r>
              <a:r>
                <a:rPr lang="en-US" altLang="zh-CN" sz="2000" dirty="0">
                  <a:solidFill>
                    <a:srgbClr val="003366"/>
                  </a:solidFill>
                  <a:latin typeface="Times New Roman" panose="02020603050405020304" pitchFamily="18" charset="0"/>
                  <a:ea typeface="黑体" panose="02010609060101010101" pitchFamily="49" charset="-122"/>
                </a:rPr>
                <a:t>MC</a:t>
              </a:r>
              <a:endParaRPr lang="en-US" altLang="zh-CN" sz="2000" dirty="0">
                <a:solidFill>
                  <a:srgbClr val="003366"/>
                </a:solidFill>
                <a:latin typeface="Times New Roman" panose="02020603050405020304" pitchFamily="18" charset="0"/>
                <a:ea typeface="黑体" panose="02010609060101010101" pitchFamily="49" charset="-122"/>
              </a:endParaRPr>
            </a:p>
          </p:txBody>
        </p:sp>
        <p:sp>
          <p:nvSpPr>
            <p:cNvPr id="262171" name="Line 28"/>
            <p:cNvSpPr/>
            <p:nvPr/>
          </p:nvSpPr>
          <p:spPr>
            <a:xfrm>
              <a:off x="4286" y="2371"/>
              <a:ext cx="0" cy="182"/>
            </a:xfrm>
            <a:prstGeom prst="line">
              <a:avLst/>
            </a:prstGeom>
            <a:ln w="28575" cap="flat" cmpd="sng">
              <a:solidFill>
                <a:schemeClr val="tx1"/>
              </a:solidFill>
              <a:prstDash val="solid"/>
              <a:round/>
              <a:headEnd type="none" w="med" len="med"/>
              <a:tailEnd type="none" w="med" len="med"/>
            </a:ln>
          </p:spPr>
        </p:sp>
        <p:grpSp>
          <p:nvGrpSpPr>
            <p:cNvPr id="262172" name="Group 29"/>
            <p:cNvGrpSpPr/>
            <p:nvPr/>
          </p:nvGrpSpPr>
          <p:grpSpPr>
            <a:xfrm>
              <a:off x="3968" y="2825"/>
              <a:ext cx="680" cy="272"/>
              <a:chOff x="1111" y="2750"/>
              <a:chExt cx="680" cy="272"/>
            </a:xfrm>
          </p:grpSpPr>
          <p:sp>
            <p:nvSpPr>
              <p:cNvPr id="262173" name="Line 30"/>
              <p:cNvSpPr/>
              <p:nvPr/>
            </p:nvSpPr>
            <p:spPr>
              <a:xfrm>
                <a:off x="1429" y="2750"/>
                <a:ext cx="0" cy="136"/>
              </a:xfrm>
              <a:prstGeom prst="line">
                <a:avLst/>
              </a:prstGeom>
              <a:ln w="28575" cap="flat" cmpd="sng">
                <a:solidFill>
                  <a:schemeClr val="tx1"/>
                </a:solidFill>
                <a:prstDash val="solid"/>
                <a:round/>
                <a:headEnd type="none" w="med" len="med"/>
                <a:tailEnd type="none" w="med" len="med"/>
              </a:ln>
            </p:spPr>
          </p:sp>
          <p:sp>
            <p:nvSpPr>
              <p:cNvPr id="262174" name="Line 31"/>
              <p:cNvSpPr/>
              <p:nvPr/>
            </p:nvSpPr>
            <p:spPr>
              <a:xfrm>
                <a:off x="1111" y="2886"/>
                <a:ext cx="0" cy="136"/>
              </a:xfrm>
              <a:prstGeom prst="line">
                <a:avLst/>
              </a:prstGeom>
              <a:ln w="28575" cap="flat" cmpd="sng">
                <a:solidFill>
                  <a:schemeClr val="tx1"/>
                </a:solidFill>
                <a:prstDash val="solid"/>
                <a:round/>
                <a:headEnd type="none" w="med" len="med"/>
                <a:tailEnd type="none" w="med" len="med"/>
              </a:ln>
            </p:spPr>
          </p:sp>
          <p:sp>
            <p:nvSpPr>
              <p:cNvPr id="262175" name="Line 32"/>
              <p:cNvSpPr/>
              <p:nvPr/>
            </p:nvSpPr>
            <p:spPr>
              <a:xfrm>
                <a:off x="1791" y="2886"/>
                <a:ext cx="0" cy="136"/>
              </a:xfrm>
              <a:prstGeom prst="line">
                <a:avLst/>
              </a:prstGeom>
              <a:ln w="28575" cap="flat" cmpd="sng">
                <a:solidFill>
                  <a:schemeClr val="tx1"/>
                </a:solidFill>
                <a:prstDash val="solid"/>
                <a:round/>
                <a:headEnd type="none" w="med" len="med"/>
                <a:tailEnd type="none" w="med" len="med"/>
              </a:ln>
            </p:spPr>
          </p:sp>
          <p:sp>
            <p:nvSpPr>
              <p:cNvPr id="262176" name="Line 33"/>
              <p:cNvSpPr/>
              <p:nvPr/>
            </p:nvSpPr>
            <p:spPr>
              <a:xfrm flipH="1">
                <a:off x="1111" y="2886"/>
                <a:ext cx="680" cy="0"/>
              </a:xfrm>
              <a:prstGeom prst="line">
                <a:avLst/>
              </a:prstGeom>
              <a:ln w="28575" cap="flat" cmpd="sng">
                <a:solidFill>
                  <a:schemeClr val="tx1"/>
                </a:solidFill>
                <a:prstDash val="solid"/>
                <a:round/>
                <a:headEnd type="none" w="med" len="med"/>
                <a:tailEnd type="none" w="med" len="med"/>
              </a:ln>
            </p:spPr>
          </p:sp>
        </p:grpSp>
        <p:sp>
          <p:nvSpPr>
            <p:cNvPr id="262177" name="Text Box 34"/>
            <p:cNvSpPr txBox="1"/>
            <p:nvPr/>
          </p:nvSpPr>
          <p:spPr>
            <a:xfrm>
              <a:off x="2381" y="2553"/>
              <a:ext cx="908" cy="265"/>
            </a:xfrm>
            <a:prstGeom prst="rect">
              <a:avLst/>
            </a:prstGeom>
            <a:solidFill>
              <a:srgbClr val="C5FFC5"/>
            </a:solidFill>
            <a:ln w="28575" cap="flat" cmpd="sng">
              <a:solidFill>
                <a:srgbClr val="004C00"/>
              </a:solidFill>
              <a:prstDash val="solid"/>
              <a:miter/>
              <a:headEnd type="none" w="med" len="med"/>
              <a:tailEnd type="none" w="med" len="med"/>
            </a:ln>
            <a:effectLst>
              <a:outerShdw dist="107763" dir="2699999" algn="ctr" rotWithShape="0">
                <a:schemeClr val="bg2">
                  <a:alpha val="50000"/>
                </a:schemeClr>
              </a:outerShdw>
            </a:effectLst>
          </p:spPr>
          <p:txBody>
            <a:bodyPr lIns="54000" rIns="54000" bIns="72000" anchor="t" anchorCtr="0">
              <a:spAutoFit/>
            </a:bodyPr>
            <a:p>
              <a:pPr algn="ctr">
                <a:spcBef>
                  <a:spcPct val="50000"/>
                </a:spcBef>
              </a:pPr>
              <a:r>
                <a:rPr lang="zh-CN" altLang="en-US" dirty="0">
                  <a:solidFill>
                    <a:srgbClr val="004C00"/>
                  </a:solidFill>
                  <a:latin typeface="Times New Roman" panose="02020603050405020304" pitchFamily="18" charset="0"/>
                  <a:ea typeface="黑体" panose="02010609060101010101" pitchFamily="49" charset="-122"/>
                </a:rPr>
                <a:t>单元控制机</a:t>
              </a:r>
              <a:endParaRPr lang="zh-CN" altLang="en-US" dirty="0">
                <a:solidFill>
                  <a:srgbClr val="004C00"/>
                </a:solidFill>
                <a:latin typeface="Times New Roman" panose="02020603050405020304" pitchFamily="18" charset="0"/>
                <a:ea typeface="黑体" panose="02010609060101010101" pitchFamily="49" charset="-122"/>
              </a:endParaRPr>
            </a:p>
          </p:txBody>
        </p:sp>
        <p:sp>
          <p:nvSpPr>
            <p:cNvPr id="262178" name="Text Box 35"/>
            <p:cNvSpPr txBox="1"/>
            <p:nvPr/>
          </p:nvSpPr>
          <p:spPr>
            <a:xfrm>
              <a:off x="2608" y="3090"/>
              <a:ext cx="454" cy="460"/>
            </a:xfrm>
            <a:prstGeom prst="rect">
              <a:avLst/>
            </a:prstGeom>
            <a:solidFill>
              <a:srgbClr val="FFDDFF"/>
            </a:solidFill>
            <a:ln w="28575" cap="flat" cmpd="sng">
              <a:solidFill>
                <a:srgbClr val="660066"/>
              </a:solidFill>
              <a:prstDash val="solid"/>
              <a:miter/>
              <a:headEnd type="none" w="med" len="med"/>
              <a:tailEnd type="none" w="med" len="med"/>
            </a:ln>
            <a:effectLst>
              <a:outerShdw dist="107763" dir="2699999" algn="ctr" rotWithShape="0">
                <a:schemeClr val="bg2">
                  <a:alpha val="50000"/>
                </a:schemeClr>
              </a:outerShdw>
            </a:effectLst>
          </p:spPr>
          <p:txBody>
            <a:bodyPr lIns="54000" rIns="54000" anchor="t" anchorCtr="0">
              <a:spAutoFit/>
            </a:bodyPr>
            <a:p>
              <a:pPr algn="ctr">
                <a:spcBef>
                  <a:spcPct val="50000"/>
                </a:spcBef>
              </a:pPr>
              <a:r>
                <a:rPr lang="en-US" altLang="zh-CN" sz="2000" dirty="0">
                  <a:solidFill>
                    <a:srgbClr val="660066"/>
                  </a:solidFill>
                  <a:latin typeface="Times New Roman" panose="02020603050405020304" pitchFamily="18" charset="0"/>
                  <a:ea typeface="黑体" panose="02010609060101010101" pitchFamily="49" charset="-122"/>
                </a:rPr>
                <a:t>CNC</a:t>
              </a:r>
              <a:r>
                <a:rPr lang="zh-CN" altLang="en-US" sz="2000" dirty="0">
                  <a:solidFill>
                    <a:srgbClr val="660066"/>
                  </a:solidFill>
                  <a:latin typeface="Times New Roman" panose="02020603050405020304" pitchFamily="18" charset="0"/>
                  <a:ea typeface="黑体" panose="02010609060101010101" pitchFamily="49" charset="-122"/>
                </a:rPr>
                <a:t>车床</a:t>
              </a:r>
              <a:endParaRPr lang="zh-CN" altLang="en-US" sz="2000" dirty="0">
                <a:solidFill>
                  <a:srgbClr val="660066"/>
                </a:solidFill>
                <a:latin typeface="Times New Roman" panose="02020603050405020304" pitchFamily="18" charset="0"/>
                <a:ea typeface="黑体" panose="02010609060101010101" pitchFamily="49" charset="-122"/>
              </a:endParaRPr>
            </a:p>
          </p:txBody>
        </p:sp>
        <p:sp>
          <p:nvSpPr>
            <p:cNvPr id="262179" name="Line 36"/>
            <p:cNvSpPr/>
            <p:nvPr/>
          </p:nvSpPr>
          <p:spPr>
            <a:xfrm>
              <a:off x="2835" y="2144"/>
              <a:ext cx="0" cy="409"/>
            </a:xfrm>
            <a:prstGeom prst="line">
              <a:avLst/>
            </a:prstGeom>
            <a:ln w="28575" cap="flat" cmpd="sng">
              <a:solidFill>
                <a:schemeClr val="tx1"/>
              </a:solidFill>
              <a:prstDash val="solid"/>
              <a:round/>
              <a:headEnd type="none" w="med" len="med"/>
              <a:tailEnd type="none" w="med" len="med"/>
            </a:ln>
          </p:spPr>
        </p:sp>
        <p:sp>
          <p:nvSpPr>
            <p:cNvPr id="262180" name="Line 37"/>
            <p:cNvSpPr/>
            <p:nvPr/>
          </p:nvSpPr>
          <p:spPr>
            <a:xfrm>
              <a:off x="1520" y="2371"/>
              <a:ext cx="2766" cy="0"/>
            </a:xfrm>
            <a:prstGeom prst="line">
              <a:avLst/>
            </a:prstGeom>
            <a:ln w="28575" cap="flat" cmpd="sng">
              <a:solidFill>
                <a:schemeClr val="tx1"/>
              </a:solidFill>
              <a:prstDash val="solid"/>
              <a:round/>
              <a:headEnd type="none" w="med" len="med"/>
              <a:tailEnd type="none" w="med" len="med"/>
            </a:ln>
          </p:spPr>
        </p:sp>
        <p:sp>
          <p:nvSpPr>
            <p:cNvPr id="262181" name="Line 38"/>
            <p:cNvSpPr/>
            <p:nvPr/>
          </p:nvSpPr>
          <p:spPr>
            <a:xfrm>
              <a:off x="2835" y="2825"/>
              <a:ext cx="0" cy="272"/>
            </a:xfrm>
            <a:prstGeom prst="line">
              <a:avLst/>
            </a:prstGeom>
            <a:ln w="28575" cap="flat" cmpd="sng">
              <a:solidFill>
                <a:schemeClr val="tx1"/>
              </a:solidFill>
              <a:prstDash val="solid"/>
              <a:round/>
              <a:headEnd type="none" w="med" len="med"/>
              <a:tailEnd type="none" w="med" len="med"/>
            </a:ln>
          </p:spPr>
        </p:sp>
        <p:sp>
          <p:nvSpPr>
            <p:cNvPr id="262182" name="Text Box 39"/>
            <p:cNvSpPr txBox="1"/>
            <p:nvPr/>
          </p:nvSpPr>
          <p:spPr>
            <a:xfrm>
              <a:off x="249" y="1555"/>
              <a:ext cx="590" cy="250"/>
            </a:xfrm>
            <a:prstGeom prst="rect">
              <a:avLst/>
            </a:prstGeom>
            <a:noFill/>
            <a:ln w="28575">
              <a:noFill/>
            </a:ln>
          </p:spPr>
          <p:txBody>
            <a:bodyPr lIns="54000" rIns="54000" anchor="t" anchorCtr="0">
              <a:spAutoFit/>
            </a:bodyPr>
            <a:p>
              <a:pPr algn="ctr">
                <a:spcBef>
                  <a:spcPct val="50000"/>
                </a:spcBef>
              </a:pPr>
              <a:r>
                <a:rPr lang="zh-CN" altLang="en-US" sz="2000" dirty="0">
                  <a:latin typeface="Times New Roman" panose="02020603050405020304" pitchFamily="18" charset="0"/>
                  <a:ea typeface="黑体" panose="02010609060101010101" pitchFamily="49" charset="-122"/>
                </a:rPr>
                <a:t>管理级</a:t>
              </a:r>
              <a:endParaRPr lang="zh-CN" altLang="en-US" sz="2000" dirty="0">
                <a:latin typeface="Times New Roman" panose="02020603050405020304" pitchFamily="18" charset="0"/>
                <a:ea typeface="黑体" panose="02010609060101010101" pitchFamily="49" charset="-122"/>
              </a:endParaRPr>
            </a:p>
          </p:txBody>
        </p:sp>
        <p:sp>
          <p:nvSpPr>
            <p:cNvPr id="262183" name="Text Box 40"/>
            <p:cNvSpPr txBox="1"/>
            <p:nvPr/>
          </p:nvSpPr>
          <p:spPr>
            <a:xfrm>
              <a:off x="249" y="2529"/>
              <a:ext cx="590" cy="250"/>
            </a:xfrm>
            <a:prstGeom prst="rect">
              <a:avLst/>
            </a:prstGeom>
            <a:noFill/>
            <a:ln w="28575">
              <a:noFill/>
            </a:ln>
          </p:spPr>
          <p:txBody>
            <a:bodyPr lIns="54000" rIns="54000" anchor="t" anchorCtr="0">
              <a:spAutoFit/>
            </a:bodyPr>
            <a:p>
              <a:pPr algn="ctr">
                <a:spcBef>
                  <a:spcPct val="50000"/>
                </a:spcBef>
              </a:pPr>
              <a:r>
                <a:rPr lang="zh-CN" altLang="en-US" sz="2000" dirty="0">
                  <a:latin typeface="Times New Roman" panose="02020603050405020304" pitchFamily="18" charset="0"/>
                  <a:ea typeface="黑体" panose="02010609060101010101" pitchFamily="49" charset="-122"/>
                </a:rPr>
                <a:t>单元级</a:t>
              </a:r>
              <a:endParaRPr lang="zh-CN" altLang="en-US" sz="2000" dirty="0">
                <a:latin typeface="Times New Roman" panose="02020603050405020304" pitchFamily="18" charset="0"/>
                <a:ea typeface="黑体" panose="02010609060101010101" pitchFamily="49" charset="-122"/>
              </a:endParaRPr>
            </a:p>
          </p:txBody>
        </p:sp>
        <p:sp>
          <p:nvSpPr>
            <p:cNvPr id="262184" name="Text Box 41"/>
            <p:cNvSpPr txBox="1"/>
            <p:nvPr/>
          </p:nvSpPr>
          <p:spPr>
            <a:xfrm>
              <a:off x="249" y="3188"/>
              <a:ext cx="590" cy="250"/>
            </a:xfrm>
            <a:prstGeom prst="rect">
              <a:avLst/>
            </a:prstGeom>
            <a:noFill/>
            <a:ln w="28575">
              <a:noFill/>
            </a:ln>
          </p:spPr>
          <p:txBody>
            <a:bodyPr lIns="54000" rIns="54000" anchor="t" anchorCtr="0">
              <a:spAutoFit/>
            </a:bodyPr>
            <a:p>
              <a:pPr algn="ctr">
                <a:spcBef>
                  <a:spcPct val="50000"/>
                </a:spcBef>
              </a:pPr>
              <a:r>
                <a:rPr lang="zh-CN" altLang="en-US" sz="2000" dirty="0">
                  <a:latin typeface="Times New Roman" panose="02020603050405020304" pitchFamily="18" charset="0"/>
                  <a:ea typeface="黑体" panose="02010609060101010101" pitchFamily="49" charset="-122"/>
                </a:rPr>
                <a:t>设备级</a:t>
              </a:r>
              <a:endParaRPr lang="zh-CN" altLang="en-US" sz="2000" dirty="0">
                <a:latin typeface="Times New Roman" panose="02020603050405020304" pitchFamily="18" charset="0"/>
                <a:ea typeface="黑体" panose="02010609060101010101" pitchFamily="49" charset="-122"/>
              </a:endParaRPr>
            </a:p>
          </p:txBody>
        </p:sp>
        <p:sp>
          <p:nvSpPr>
            <p:cNvPr id="262185" name="Rectangle 42"/>
            <p:cNvSpPr/>
            <p:nvPr/>
          </p:nvSpPr>
          <p:spPr>
            <a:xfrm>
              <a:off x="1780" y="3797"/>
              <a:ext cx="2297" cy="250"/>
            </a:xfrm>
            <a:prstGeom prst="rect">
              <a:avLst/>
            </a:prstGeom>
            <a:noFill/>
            <a:ln w="9525">
              <a:noFill/>
            </a:ln>
          </p:spPr>
          <p:txBody>
            <a:bodyPr wrap="none" anchor="t" anchorCtr="0">
              <a:spAutoFit/>
            </a:bodyPr>
            <a:p>
              <a:pPr algn="ctr"/>
              <a:r>
                <a:rPr lang="zh-CN" altLang="en-US" sz="2000" b="1" dirty="0">
                  <a:latin typeface="楷体_GB2312"/>
                  <a:ea typeface="楷体_GB2312"/>
                </a:rPr>
                <a:t>图</a:t>
              </a:r>
              <a:r>
                <a:rPr lang="en-US" altLang="zh-CN" sz="2000" b="1" dirty="0">
                  <a:latin typeface="楷体_GB2312"/>
                  <a:ea typeface="楷体_GB2312"/>
                </a:rPr>
                <a:t>2-33  JCS-FMS-1</a:t>
              </a:r>
              <a:r>
                <a:rPr lang="zh-CN" altLang="en-US" sz="2000" b="1" dirty="0">
                  <a:latin typeface="楷体_GB2312"/>
                  <a:ea typeface="楷体_GB2312"/>
                </a:rPr>
                <a:t>控制级结构</a:t>
              </a:r>
              <a:endParaRPr lang="zh-CN" altLang="en-US" sz="2000" b="1" dirty="0">
                <a:latin typeface="楷体_GB2312"/>
                <a:ea typeface="楷体_GB2312"/>
              </a:endParaRPr>
            </a:p>
          </p:txBody>
        </p:sp>
      </p:grpSp>
    </p:spTree>
  </p:cSld>
  <p:clrMapOvr>
    <a:masterClrMapping/>
  </p:clrMapOvr>
  <p:transition spd="slow">
    <p:randomBar dir="vert"/>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2178" name="Rectangle 2"/>
          <p:cNvSpPr>
            <a:spLocks noGrp="1" noChangeArrowheads="1"/>
          </p:cNvSpPr>
          <p:nvPr>
            <p:ph type="title"/>
          </p:nvPr>
        </p:nvSpPr>
        <p:spPr>
          <a:xfrm>
            <a:off x="3036888" y="450850"/>
            <a:ext cx="4487863"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64194"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4195"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64196" name="Group 19"/>
          <p:cNvGrpSpPr/>
          <p:nvPr/>
        </p:nvGrpSpPr>
        <p:grpSpPr>
          <a:xfrm>
            <a:off x="323850" y="1135063"/>
            <a:ext cx="8466138" cy="5246687"/>
            <a:chOff x="204" y="624"/>
            <a:chExt cx="5333" cy="3305"/>
          </a:xfrm>
        </p:grpSpPr>
        <p:sp>
          <p:nvSpPr>
            <p:cNvPr id="264197" name="Rectangle 5"/>
            <p:cNvSpPr/>
            <p:nvPr/>
          </p:nvSpPr>
          <p:spPr>
            <a:xfrm>
              <a:off x="240" y="624"/>
              <a:ext cx="1012" cy="288"/>
            </a:xfrm>
            <a:prstGeom prst="rect">
              <a:avLst/>
            </a:prstGeom>
            <a:noFill/>
            <a:ln w="9525">
              <a:noFill/>
            </a:ln>
          </p:spPr>
          <p:txBody>
            <a:bodyPr wrap="none" anchor="ctr" anchorCtr="0">
              <a:spAutoFit/>
            </a:bodyPr>
            <a:p>
              <a:pPr>
                <a:buFont typeface="Wingdings" panose="05000000000000000000" pitchFamily="2" charset="2"/>
                <a:buChar char="q"/>
              </a:pPr>
              <a:r>
                <a:rPr lang="en-US" altLang="zh-CN" sz="2400" dirty="0">
                  <a:solidFill>
                    <a:srgbClr val="990000"/>
                  </a:solidFill>
                  <a:latin typeface="Times New Roman" panose="02020603050405020304" pitchFamily="18" charset="0"/>
                  <a:ea typeface="黑体" panose="02010609060101010101" pitchFamily="49" charset="-122"/>
                </a:rPr>
                <a:t> </a:t>
              </a:r>
              <a:r>
                <a:rPr lang="en-US" altLang="zh-CN" sz="2400" b="1" dirty="0">
                  <a:solidFill>
                    <a:srgbClr val="990000"/>
                  </a:solidFill>
                  <a:latin typeface="楷体_GB2312"/>
                  <a:ea typeface="楷体_GB2312"/>
                </a:rPr>
                <a:t>FMS</a:t>
              </a:r>
              <a:r>
                <a:rPr lang="zh-CN" altLang="en-US" sz="2400" b="1" dirty="0">
                  <a:solidFill>
                    <a:srgbClr val="990000"/>
                  </a:solidFill>
                  <a:latin typeface="楷体_GB2312"/>
                  <a:ea typeface="楷体_GB2312"/>
                </a:rPr>
                <a:t>特点</a:t>
              </a:r>
              <a:endParaRPr lang="zh-CN" altLang="en-US" sz="2400" b="1" dirty="0">
                <a:solidFill>
                  <a:srgbClr val="990000"/>
                </a:solidFill>
                <a:latin typeface="楷体_GB2312"/>
                <a:ea typeface="楷体_GB2312"/>
              </a:endParaRPr>
            </a:p>
          </p:txBody>
        </p:sp>
        <p:grpSp>
          <p:nvGrpSpPr>
            <p:cNvPr id="264198" name="Group 6"/>
            <p:cNvGrpSpPr/>
            <p:nvPr/>
          </p:nvGrpSpPr>
          <p:grpSpPr>
            <a:xfrm>
              <a:off x="204" y="3145"/>
              <a:ext cx="4848" cy="784"/>
              <a:chOff x="528" y="3167"/>
              <a:chExt cx="4848" cy="784"/>
            </a:xfrm>
          </p:grpSpPr>
          <p:sp>
            <p:nvSpPr>
              <p:cNvPr id="264199" name="Text Box 7"/>
              <p:cNvSpPr txBox="1"/>
              <p:nvPr/>
            </p:nvSpPr>
            <p:spPr>
              <a:xfrm>
                <a:off x="528" y="3167"/>
                <a:ext cx="4848" cy="784"/>
              </a:xfrm>
              <a:prstGeom prst="rect">
                <a:avLst/>
              </a:prstGeom>
              <a:noFill/>
              <a:ln w="12700">
                <a:noFill/>
              </a:ln>
            </p:spPr>
            <p:txBody>
              <a:bodyPr anchor="t" anchorCtr="0">
                <a:spAutoFit/>
              </a:bodyPr>
              <a:p>
                <a:pPr eaLnBrk="0" hangingPunct="0">
                  <a:lnSpc>
                    <a:spcPct val="105000"/>
                  </a:lnSpc>
                </a:pPr>
                <a:r>
                  <a:rPr lang="en-US" altLang="zh-CN" sz="2400" dirty="0">
                    <a:latin typeface="Times New Roman" panose="02020603050405020304" pitchFamily="18" charset="0"/>
                    <a:ea typeface="黑体" panose="02010609060101010101" pitchFamily="49" charset="-122"/>
                  </a:rPr>
                  <a:t>	</a:t>
                </a:r>
                <a:r>
                  <a:rPr lang="zh-CN" altLang="en-US" sz="2400" b="1" dirty="0">
                    <a:latin typeface="楷体_GB2312"/>
                    <a:ea typeface="楷体_GB2312"/>
                  </a:rPr>
                  <a:t>除毛坯准备与毛坯安装外全部自动化</a:t>
                </a:r>
                <a:endParaRPr lang="zh-CN" altLang="en-US" sz="2400" b="1" dirty="0">
                  <a:latin typeface="楷体_GB2312"/>
                  <a:ea typeface="楷体_GB2312"/>
                </a:endParaRPr>
              </a:p>
              <a:p>
                <a:pPr eaLnBrk="0" hangingPunct="0">
                  <a:lnSpc>
                    <a:spcPct val="105000"/>
                  </a:lnSpc>
                </a:pPr>
                <a:r>
                  <a:rPr lang="zh-CN" altLang="en-US" sz="2400" b="1" dirty="0">
                    <a:latin typeface="楷体_GB2312"/>
                    <a:ea typeface="楷体_GB2312"/>
                  </a:rPr>
                  <a:t>	可在不停机的条件下实现加工工件的自动转换</a:t>
                </a:r>
                <a:endParaRPr lang="zh-CN" altLang="en-US" sz="2400" b="1" dirty="0">
                  <a:latin typeface="楷体_GB2312"/>
                  <a:ea typeface="楷体_GB2312"/>
                </a:endParaRPr>
              </a:p>
              <a:p>
                <a:pPr eaLnBrk="0" hangingPunct="0">
                  <a:lnSpc>
                    <a:spcPct val="105000"/>
                  </a:lnSpc>
                </a:pPr>
                <a:r>
                  <a:rPr lang="zh-CN" altLang="en-US" sz="2400" b="1" dirty="0">
                    <a:latin typeface="楷体_GB2312"/>
                    <a:ea typeface="楷体_GB2312"/>
                  </a:rPr>
                  <a:t>	</a:t>
                </a:r>
                <a:r>
                  <a:rPr lang="en-US" altLang="zh-CN" sz="2400" b="1" dirty="0">
                    <a:latin typeface="楷体_GB2312"/>
                    <a:ea typeface="楷体_GB2312"/>
                  </a:rPr>
                  <a:t>24</a:t>
                </a:r>
                <a:r>
                  <a:rPr lang="zh-CN" altLang="en-US" sz="2400" b="1" dirty="0">
                    <a:latin typeface="楷体_GB2312"/>
                    <a:ea typeface="楷体_GB2312"/>
                  </a:rPr>
                  <a:t>小时运行，只一班有人</a:t>
                </a:r>
                <a:endParaRPr lang="zh-CN" altLang="en-US" sz="2400" b="1" dirty="0">
                  <a:latin typeface="楷体_GB2312"/>
                  <a:ea typeface="楷体_GB2312"/>
                </a:endParaRPr>
              </a:p>
            </p:txBody>
          </p:sp>
          <p:sp>
            <p:nvSpPr>
              <p:cNvPr id="264200" name="AutoShape 8"/>
              <p:cNvSpPr/>
              <p:nvPr/>
            </p:nvSpPr>
            <p:spPr>
              <a:xfrm>
                <a:off x="994" y="3284"/>
                <a:ext cx="62" cy="604"/>
              </a:xfrm>
              <a:prstGeom prst="leftBrace">
                <a:avLst>
                  <a:gd name="adj1" fmla="val 80867"/>
                  <a:gd name="adj2" fmla="val 50000"/>
                </a:avLst>
              </a:prstGeom>
              <a:noFill/>
              <a:ln w="28575" cap="sq"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202185" name="Rectangle 9"/>
            <p:cNvSpPr>
              <a:spLocks noChangeArrowheads="1"/>
            </p:cNvSpPr>
            <p:nvPr/>
          </p:nvSpPr>
          <p:spPr bwMode="auto">
            <a:xfrm>
              <a:off x="433" y="844"/>
              <a:ext cx="2722" cy="311"/>
            </a:xfrm>
            <a:prstGeom prst="rect">
              <a:avLst/>
            </a:prstGeom>
            <a:noFill/>
            <a:ln w="9525">
              <a:noFill/>
              <a:miter lim="800000"/>
            </a:ln>
            <a:effectLst/>
          </p:spPr>
          <p:txBody>
            <a:bodyPr wrap="none">
              <a:spAutoFit/>
            </a:bodyPr>
            <a:lstStyle/>
            <a:p>
              <a:pPr marL="0" marR="0" lvl="0" indent="0" algn="l" defTabSz="914400" rtl="0" eaLnBrk="0" fontAlgn="base" latinLnBrk="0" hangingPunct="0">
                <a:lnSpc>
                  <a:spcPct val="11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以</a:t>
              </a:r>
              <a:r>
                <a:rPr kumimoji="1" lang="en-US" altLang="zh-CN"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GT(</a:t>
              </a:r>
              <a:r>
                <a:rPr kumimoji="1" lang="zh-CN" altLang="en-US"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成组技术</a:t>
              </a:r>
              <a:r>
                <a:rPr kumimoji="1" lang="en-US" altLang="zh-CN"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a:t>
              </a:r>
              <a:r>
                <a:rPr kumimoji="1" lang="zh-CN" altLang="en-US"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为基础 </a:t>
              </a:r>
              <a:r>
                <a:rPr kumimoji="1" lang="en-US" altLang="zh-CN" sz="2400" b="1" i="0" u="none" strike="noStrike" kern="1200" cap="none" spc="0" normalizeH="0" baseline="0" noProof="0">
                  <a:ln>
                    <a:noFill/>
                  </a:ln>
                  <a:solidFill>
                    <a:srgbClr val="008000"/>
                  </a:solidFill>
                  <a:effectLst/>
                  <a:uLnTx/>
                  <a:uFillTx/>
                  <a:latin typeface="Times New Roman" panose="02020603050405020304"/>
                  <a:ea typeface="楷体_GB2312" pitchFamily="49" charset="-122"/>
                  <a:cs typeface="+mn-cs"/>
                </a:rPr>
                <a:t>——</a:t>
              </a:r>
              <a:endParaRPr kumimoji="1" lang="en-US" altLang="zh-CN"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endParaRPr>
            </a:p>
          </p:txBody>
        </p:sp>
        <p:grpSp>
          <p:nvGrpSpPr>
            <p:cNvPr id="264202" name="Group 10"/>
            <p:cNvGrpSpPr/>
            <p:nvPr/>
          </p:nvGrpSpPr>
          <p:grpSpPr>
            <a:xfrm>
              <a:off x="703" y="1099"/>
              <a:ext cx="4753" cy="784"/>
              <a:chOff x="1008" y="1065"/>
              <a:chExt cx="4753" cy="784"/>
            </a:xfrm>
          </p:grpSpPr>
          <p:sp>
            <p:nvSpPr>
              <p:cNvPr id="264203" name="AutoShape 11"/>
              <p:cNvSpPr/>
              <p:nvPr/>
            </p:nvSpPr>
            <p:spPr>
              <a:xfrm>
                <a:off x="1008" y="1187"/>
                <a:ext cx="48" cy="589"/>
              </a:xfrm>
              <a:prstGeom prst="leftBrace">
                <a:avLst>
                  <a:gd name="adj1" fmla="val 101859"/>
                  <a:gd name="adj2" fmla="val 50000"/>
                </a:avLst>
              </a:prstGeom>
              <a:noFill/>
              <a:ln w="28575" cap="sq"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64204" name="Rectangle 12"/>
              <p:cNvSpPr/>
              <p:nvPr/>
            </p:nvSpPr>
            <p:spPr>
              <a:xfrm>
                <a:off x="1104" y="1065"/>
                <a:ext cx="4657" cy="784"/>
              </a:xfrm>
              <a:prstGeom prst="rect">
                <a:avLst/>
              </a:prstGeom>
              <a:noFill/>
              <a:ln w="9525">
                <a:noFill/>
              </a:ln>
            </p:spPr>
            <p:txBody>
              <a:bodyPr wrap="none" anchor="t" anchorCtr="0">
                <a:spAutoFit/>
              </a:bodyPr>
              <a:p>
                <a:pPr eaLnBrk="0" hangingPunct="0">
                  <a:lnSpc>
                    <a:spcPct val="105000"/>
                  </a:lnSpc>
                </a:pPr>
                <a:r>
                  <a:rPr lang="zh-CN" altLang="en-US" sz="2400" b="1" dirty="0">
                    <a:latin typeface="楷体_GB2312"/>
                    <a:ea typeface="楷体_GB2312"/>
                  </a:rPr>
                  <a:t>生产零件的品种由</a:t>
                </a:r>
                <a:r>
                  <a:rPr lang="en-US" altLang="zh-CN" sz="2400" b="1" dirty="0">
                    <a:latin typeface="楷体_GB2312"/>
                    <a:ea typeface="楷体_GB2312"/>
                  </a:rPr>
                  <a:t>4</a:t>
                </a:r>
                <a:r>
                  <a:rPr lang="zh-CN" altLang="en-US" sz="2400" b="1" dirty="0">
                    <a:latin typeface="楷体_GB2312"/>
                    <a:ea typeface="楷体_GB2312"/>
                  </a:rPr>
                  <a:t>至</a:t>
                </a:r>
                <a:r>
                  <a:rPr lang="en-US" altLang="zh-CN" sz="2400" b="1" dirty="0">
                    <a:latin typeface="楷体_GB2312"/>
                    <a:ea typeface="楷体_GB2312"/>
                  </a:rPr>
                  <a:t>100</a:t>
                </a:r>
                <a:r>
                  <a:rPr lang="zh-CN" altLang="en-US" sz="2400" b="1" dirty="0">
                    <a:latin typeface="楷体_GB2312"/>
                    <a:ea typeface="楷体_GB2312"/>
                  </a:rPr>
                  <a:t>种不等（</a:t>
                </a:r>
                <a:r>
                  <a:rPr lang="en-US" altLang="zh-CN" sz="2400" b="1" dirty="0">
                    <a:latin typeface="楷体_GB2312"/>
                    <a:ea typeface="楷体_GB2312"/>
                  </a:rPr>
                  <a:t>20</a:t>
                </a:r>
                <a:r>
                  <a:rPr lang="zh-CN" altLang="en-US" sz="2400" b="1" dirty="0">
                    <a:latin typeface="楷体_GB2312"/>
                    <a:ea typeface="楷体_GB2312"/>
                  </a:rPr>
                  <a:t>～</a:t>
                </a:r>
                <a:r>
                  <a:rPr lang="en-US" altLang="zh-CN" sz="2400" b="1" dirty="0">
                    <a:latin typeface="楷体_GB2312"/>
                    <a:ea typeface="楷体_GB2312"/>
                  </a:rPr>
                  <a:t>30</a:t>
                </a:r>
                <a:r>
                  <a:rPr lang="zh-CN" altLang="en-US" sz="2400" b="1" dirty="0">
                    <a:latin typeface="楷体_GB2312"/>
                    <a:ea typeface="楷体_GB2312"/>
                  </a:rPr>
                  <a:t>种居多）</a:t>
                </a:r>
                <a:endParaRPr lang="zh-CN" altLang="en-US" sz="2400" b="1" dirty="0">
                  <a:latin typeface="楷体_GB2312"/>
                  <a:ea typeface="楷体_GB2312"/>
                </a:endParaRPr>
              </a:p>
              <a:p>
                <a:pPr eaLnBrk="0" hangingPunct="0">
                  <a:lnSpc>
                    <a:spcPct val="105000"/>
                  </a:lnSpc>
                </a:pPr>
                <a:r>
                  <a:rPr lang="zh-CN" altLang="en-US" sz="2400" b="1" dirty="0">
                    <a:latin typeface="楷体_GB2312"/>
                    <a:ea typeface="楷体_GB2312"/>
                  </a:rPr>
                  <a:t>生产零件的批量由</a:t>
                </a:r>
                <a:r>
                  <a:rPr lang="en-US" altLang="zh-CN" sz="2400" b="1" dirty="0">
                    <a:latin typeface="楷体_GB2312"/>
                    <a:ea typeface="楷体_GB2312"/>
                  </a:rPr>
                  <a:t>40</a:t>
                </a:r>
                <a:r>
                  <a:rPr lang="zh-CN" altLang="en-US" sz="2400" b="1" dirty="0">
                    <a:latin typeface="楷体_GB2312"/>
                    <a:ea typeface="楷体_GB2312"/>
                  </a:rPr>
                  <a:t>至</a:t>
                </a:r>
                <a:r>
                  <a:rPr lang="en-US" altLang="zh-CN" sz="2400" b="1" dirty="0">
                    <a:latin typeface="楷体_GB2312"/>
                    <a:ea typeface="楷体_GB2312"/>
                  </a:rPr>
                  <a:t>2000</a:t>
                </a:r>
                <a:r>
                  <a:rPr lang="zh-CN" altLang="en-US" sz="2400" b="1" dirty="0">
                    <a:latin typeface="楷体_GB2312"/>
                    <a:ea typeface="楷体_GB2312"/>
                  </a:rPr>
                  <a:t>件不等（</a:t>
                </a:r>
                <a:r>
                  <a:rPr lang="en-US" altLang="zh-CN" sz="2400" b="1" dirty="0">
                    <a:latin typeface="楷体_GB2312"/>
                    <a:ea typeface="楷体_GB2312"/>
                  </a:rPr>
                  <a:t>50</a:t>
                </a:r>
                <a:r>
                  <a:rPr lang="zh-CN" altLang="en-US" sz="2400" b="1" dirty="0">
                    <a:latin typeface="楷体_GB2312"/>
                    <a:ea typeface="楷体_GB2312"/>
                  </a:rPr>
                  <a:t>～</a:t>
                </a:r>
                <a:r>
                  <a:rPr lang="en-US" altLang="zh-CN" sz="2400" b="1" dirty="0">
                    <a:latin typeface="楷体_GB2312"/>
                    <a:ea typeface="楷体_GB2312"/>
                  </a:rPr>
                  <a:t>200</a:t>
                </a:r>
                <a:r>
                  <a:rPr lang="zh-CN" altLang="en-US" sz="2400" b="1" dirty="0">
                    <a:latin typeface="楷体_GB2312"/>
                    <a:ea typeface="楷体_GB2312"/>
                  </a:rPr>
                  <a:t>件居多）</a:t>
                </a:r>
                <a:endParaRPr lang="zh-CN" altLang="en-US" sz="2400" b="1" dirty="0">
                  <a:latin typeface="楷体_GB2312"/>
                  <a:ea typeface="楷体_GB2312"/>
                </a:endParaRPr>
              </a:p>
              <a:p>
                <a:pPr eaLnBrk="0" hangingPunct="0">
                  <a:lnSpc>
                    <a:spcPct val="105000"/>
                  </a:lnSpc>
                </a:pPr>
                <a:r>
                  <a:rPr lang="zh-CN" altLang="en-US" sz="2400" b="1" dirty="0">
                    <a:latin typeface="楷体_GB2312"/>
                    <a:ea typeface="楷体_GB2312"/>
                  </a:rPr>
                  <a:t>大部分加工对象为相似零件（个别例外）</a:t>
                </a:r>
                <a:endParaRPr lang="zh-CN" altLang="en-US" sz="2400" b="1" dirty="0">
                  <a:latin typeface="楷体_GB2312"/>
                  <a:ea typeface="楷体_GB2312"/>
                </a:endParaRPr>
              </a:p>
            </p:txBody>
          </p:sp>
        </p:grpSp>
        <p:sp>
          <p:nvSpPr>
            <p:cNvPr id="1202189" name="Rectangle 13"/>
            <p:cNvSpPr>
              <a:spLocks noChangeArrowheads="1"/>
            </p:cNvSpPr>
            <p:nvPr/>
          </p:nvSpPr>
          <p:spPr bwMode="auto">
            <a:xfrm>
              <a:off x="434" y="1895"/>
              <a:ext cx="1948" cy="288"/>
            </a:xfrm>
            <a:prstGeom prst="rect">
              <a:avLst/>
            </a:prstGeom>
            <a:noFill/>
            <a:ln w="9525">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具有较大柔性 </a:t>
              </a:r>
              <a:r>
                <a:rPr kumimoji="1" lang="en-US" altLang="zh-CN" sz="2400" b="1" i="0" u="none" strike="noStrike" kern="1200" cap="none" spc="0" normalizeH="0" baseline="0" noProof="0">
                  <a:ln>
                    <a:noFill/>
                  </a:ln>
                  <a:solidFill>
                    <a:srgbClr val="008000"/>
                  </a:solidFill>
                  <a:effectLst/>
                  <a:uLnTx/>
                  <a:uFillTx/>
                  <a:latin typeface="Times New Roman" panose="02020603050405020304"/>
                  <a:ea typeface="楷体_GB2312" pitchFamily="49" charset="-122"/>
                  <a:cs typeface="+mn-cs"/>
                </a:rPr>
                <a:t>——</a:t>
              </a:r>
              <a:endParaRPr kumimoji="1" lang="en-US" altLang="zh-CN"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endParaRPr>
            </a:p>
          </p:txBody>
        </p:sp>
        <p:grpSp>
          <p:nvGrpSpPr>
            <p:cNvPr id="264206" name="Group 14"/>
            <p:cNvGrpSpPr/>
            <p:nvPr/>
          </p:nvGrpSpPr>
          <p:grpSpPr>
            <a:xfrm>
              <a:off x="703" y="2097"/>
              <a:ext cx="4834" cy="784"/>
              <a:chOff x="1001" y="2122"/>
              <a:chExt cx="4834" cy="784"/>
            </a:xfrm>
          </p:grpSpPr>
          <p:sp>
            <p:nvSpPr>
              <p:cNvPr id="264207" name="AutoShape 15"/>
              <p:cNvSpPr/>
              <p:nvPr/>
            </p:nvSpPr>
            <p:spPr>
              <a:xfrm>
                <a:off x="1001" y="2276"/>
                <a:ext cx="55" cy="556"/>
              </a:xfrm>
              <a:prstGeom prst="leftBrace">
                <a:avLst>
                  <a:gd name="adj1" fmla="val 83914"/>
                  <a:gd name="adj2" fmla="val 50000"/>
                </a:avLst>
              </a:prstGeom>
              <a:noFill/>
              <a:ln w="28575" cap="sq" cmpd="sng">
                <a:solidFill>
                  <a:schemeClr val="tx1"/>
                </a:solidFill>
                <a:prstDash val="solid"/>
                <a:round/>
                <a:headEnd type="none" w="sm" len="sm"/>
                <a:tailEnd type="none" w="sm" len="sm"/>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64208" name="Rectangle 16"/>
              <p:cNvSpPr/>
              <p:nvPr/>
            </p:nvSpPr>
            <p:spPr>
              <a:xfrm>
                <a:off x="1087" y="2122"/>
                <a:ext cx="4748" cy="784"/>
              </a:xfrm>
              <a:prstGeom prst="rect">
                <a:avLst/>
              </a:prstGeom>
              <a:noFill/>
              <a:ln w="9525">
                <a:noFill/>
              </a:ln>
            </p:spPr>
            <p:txBody>
              <a:bodyPr wrap="none" anchor="t" anchorCtr="0">
                <a:spAutoFit/>
              </a:bodyPr>
              <a:p>
                <a:pPr eaLnBrk="0" hangingPunct="0">
                  <a:lnSpc>
                    <a:spcPct val="105000"/>
                  </a:lnSpc>
                </a:pPr>
                <a:r>
                  <a:rPr lang="zh-CN" altLang="en-US" sz="2400" b="1" dirty="0">
                    <a:latin typeface="Times New Roman" panose="02020603050405020304" pitchFamily="18" charset="0"/>
                    <a:ea typeface="楷体_GB2312"/>
                  </a:rPr>
                  <a:t>可加工多种零件</a:t>
                </a:r>
                <a:endParaRPr lang="zh-CN" altLang="en-US" sz="2400" b="1" dirty="0">
                  <a:latin typeface="Times New Roman" panose="02020603050405020304" pitchFamily="18" charset="0"/>
                  <a:ea typeface="楷体_GB2312"/>
                </a:endParaRPr>
              </a:p>
              <a:p>
                <a:pPr eaLnBrk="0" hangingPunct="0">
                  <a:lnSpc>
                    <a:spcPct val="105000"/>
                  </a:lnSpc>
                </a:pPr>
                <a:r>
                  <a:rPr lang="zh-CN" altLang="en-US" sz="2400" b="1" dirty="0">
                    <a:latin typeface="Times New Roman" panose="02020603050405020304" pitchFamily="18" charset="0"/>
                    <a:ea typeface="楷体_GB2312"/>
                  </a:rPr>
                  <a:t>没有固定的生产节拍</a:t>
                </a:r>
                <a:endParaRPr lang="zh-CN" altLang="en-US" sz="2400" b="1" dirty="0">
                  <a:latin typeface="Times New Roman" panose="02020603050405020304" pitchFamily="18" charset="0"/>
                  <a:ea typeface="楷体_GB2312"/>
                </a:endParaRPr>
              </a:p>
              <a:p>
                <a:pPr eaLnBrk="0" hangingPunct="0">
                  <a:lnSpc>
                    <a:spcPct val="105000"/>
                  </a:lnSpc>
                </a:pPr>
                <a:r>
                  <a:rPr lang="zh-CN" altLang="en-US" sz="2400" b="1" dirty="0">
                    <a:latin typeface="Times New Roman" panose="02020603050405020304" pitchFamily="18" charset="0"/>
                    <a:ea typeface="楷体_GB2312"/>
                  </a:rPr>
                  <a:t>故障可容（一台机床出现故障，其它机床可进行拟补）</a:t>
                </a:r>
                <a:endParaRPr lang="zh-CN" altLang="en-US" sz="2400" b="1" dirty="0">
                  <a:latin typeface="Times New Roman" panose="02020603050405020304" pitchFamily="18" charset="0"/>
                  <a:ea typeface="楷体_GB2312"/>
                </a:endParaRPr>
              </a:p>
            </p:txBody>
          </p:sp>
        </p:grpSp>
        <p:sp>
          <p:nvSpPr>
            <p:cNvPr id="1202193" name="Rectangle 17"/>
            <p:cNvSpPr>
              <a:spLocks noChangeArrowheads="1"/>
            </p:cNvSpPr>
            <p:nvPr/>
          </p:nvSpPr>
          <p:spPr bwMode="auto">
            <a:xfrm>
              <a:off x="455" y="2893"/>
              <a:ext cx="1755" cy="288"/>
            </a:xfrm>
            <a:prstGeom prst="rect">
              <a:avLst/>
            </a:prstGeom>
            <a:noFill/>
            <a:ln w="9525">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rPr>
                <a:t>高度自动化 </a:t>
              </a:r>
              <a:r>
                <a:rPr kumimoji="1" lang="en-US" altLang="zh-CN" sz="2400" b="1" i="0" u="none" strike="noStrike" kern="1200" cap="none" spc="0" normalizeH="0" baseline="0" noProof="0">
                  <a:ln>
                    <a:noFill/>
                  </a:ln>
                  <a:solidFill>
                    <a:srgbClr val="008000"/>
                  </a:solidFill>
                  <a:effectLst/>
                  <a:uLnTx/>
                  <a:uFillTx/>
                  <a:latin typeface="Times New Roman" panose="02020603050405020304"/>
                  <a:ea typeface="楷体_GB2312" pitchFamily="49" charset="-122"/>
                  <a:cs typeface="+mn-cs"/>
                </a:rPr>
                <a:t>——</a:t>
              </a:r>
              <a:endParaRPr kumimoji="1" lang="en-US" altLang="zh-CN" sz="2400" b="1" i="0" u="none" strike="noStrike" kern="1200" cap="none" spc="0" normalizeH="0" baseline="0" noProof="0">
                <a:ln>
                  <a:noFill/>
                </a:ln>
                <a:solidFill>
                  <a:srgbClr val="008000"/>
                </a:solidFill>
                <a:effectLst/>
                <a:uLnTx/>
                <a:uFillTx/>
                <a:latin typeface="楷体_GB2312" pitchFamily="49" charset="-122"/>
                <a:ea typeface="楷体_GB2312" pitchFamily="49" charset="-122"/>
                <a:cs typeface="+mn-cs"/>
              </a:endParaRPr>
            </a:p>
          </p:txBody>
        </p:sp>
      </p:grpSp>
      <p:sp>
        <p:nvSpPr>
          <p:cNvPr id="1202194" name="Rectangle 18"/>
          <p:cNvSpPr>
            <a:spLocks noChangeArrowheads="1"/>
          </p:cNvSpPr>
          <p:nvPr/>
        </p:nvSpPr>
        <p:spPr bwMode="auto">
          <a:xfrm>
            <a:off x="692150" y="6308725"/>
            <a:ext cx="8301038" cy="493713"/>
          </a:xfrm>
          <a:prstGeom prst="rect">
            <a:avLst/>
          </a:prstGeom>
          <a:noFill/>
          <a:ln w="9525">
            <a:noFill/>
            <a:miter lim="800000"/>
          </a:ln>
          <a:effectLst/>
        </p:spPr>
        <p:txBody>
          <a:bodyPr>
            <a:spAutoFit/>
          </a:bodyPr>
          <a:lstStyle/>
          <a:p>
            <a:pPr marL="0" marR="0" lvl="0" indent="0" algn="l" defTabSz="914400" rtl="0" eaLnBrk="0" fontAlgn="base" latinLnBrk="0" hangingPunct="0">
              <a:lnSpc>
                <a:spcPct val="110000"/>
              </a:lnSpc>
              <a:spcBef>
                <a:spcPct val="30000"/>
              </a:spcBef>
              <a:spcAft>
                <a:spcPct val="0"/>
              </a:spcAft>
              <a:buClrTx/>
              <a:buSzTx/>
              <a:buFontTx/>
              <a:buNone/>
              <a:defRPr/>
            </a:pPr>
            <a:r>
              <a:rPr kumimoji="1" lang="en-US" altLang="zh-CN" sz="2400" b="1" i="0" u="none" strike="noStrike" kern="1200" cap="none" spc="0" normalizeH="0" baseline="0" noProof="0">
                <a:ln>
                  <a:noFill/>
                </a:ln>
                <a:solidFill>
                  <a:srgbClr val="FF99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a:ln>
                  <a:noFill/>
                </a:ln>
                <a:solidFill>
                  <a:srgbClr val="008000"/>
                </a:solidFill>
                <a:effectLst/>
                <a:uLnTx/>
                <a:uFillTx/>
                <a:latin typeface="Times New Roman" panose="02020603050405020304" pitchFamily="18" charset="0"/>
                <a:ea typeface="楷体_GB2312" pitchFamily="49" charset="-122"/>
                <a:cs typeface="+mn-cs"/>
              </a:rPr>
              <a:t>控制与管理相结合</a:t>
            </a:r>
            <a:r>
              <a:rPr kumimoji="1" lang="en-US" altLang="zh-CN" sz="2400" b="1" i="0" u="none" strike="noStrike" kern="1200" cap="none" spc="0" normalizeH="0" baseline="0" noProof="0">
                <a:ln>
                  <a:noFill/>
                </a:ln>
                <a:solidFill>
                  <a:srgbClr val="008000"/>
                </a:solidFill>
                <a:effectLst/>
                <a:uLnTx/>
                <a:uFillTx/>
                <a:latin typeface="Times New Roman" panose="02020603050405020304" pitchFamily="18" charset="0"/>
                <a:ea typeface="楷体_GB2312" pitchFamily="49" charset="-122"/>
                <a:cs typeface="+mn-cs"/>
              </a:rPr>
              <a:t>——</a:t>
            </a:r>
            <a:r>
              <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可自动实现系统内的计划、调度</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randomBar dir="vert"/>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4226" name="Rectangle 2"/>
          <p:cNvSpPr>
            <a:spLocks noGrp="1" noChangeArrowheads="1"/>
          </p:cNvSpPr>
          <p:nvPr>
            <p:ph type="title"/>
          </p:nvPr>
        </p:nvSpPr>
        <p:spPr>
          <a:xfrm>
            <a:off x="3827463" y="450850"/>
            <a:ext cx="3768725" cy="4572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66242"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6243"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6244" name="Rectangle 5"/>
          <p:cNvSpPr/>
          <p:nvPr/>
        </p:nvSpPr>
        <p:spPr>
          <a:xfrm>
            <a:off x="381000" y="1316038"/>
            <a:ext cx="1606550" cy="457200"/>
          </a:xfrm>
          <a:prstGeom prst="rect">
            <a:avLst/>
          </a:prstGeom>
          <a:noFill/>
          <a:ln w="9525">
            <a:noFill/>
          </a:ln>
        </p:spPr>
        <p:txBody>
          <a:bodyPr wrap="none" anchor="ctr" anchorCtr="0">
            <a:spAutoFit/>
          </a:bodyPr>
          <a:p>
            <a:pPr>
              <a:buFont typeface="Wingdings" panose="05000000000000000000" pitchFamily="2" charset="2"/>
              <a:buChar char="q"/>
            </a:pPr>
            <a:r>
              <a:rPr lang="en-US" altLang="zh-CN" sz="2400" dirty="0">
                <a:solidFill>
                  <a:srgbClr val="990000"/>
                </a:solidFill>
                <a:latin typeface="Times New Roman" panose="02020603050405020304" pitchFamily="18" charset="0"/>
                <a:ea typeface="黑体" panose="02010609060101010101" pitchFamily="49" charset="-122"/>
              </a:rPr>
              <a:t> </a:t>
            </a:r>
            <a:r>
              <a:rPr lang="en-US" altLang="zh-CN" sz="2400" b="1" dirty="0">
                <a:solidFill>
                  <a:srgbClr val="990000"/>
                </a:solidFill>
                <a:latin typeface="楷体_GB2312"/>
                <a:ea typeface="楷体_GB2312"/>
              </a:rPr>
              <a:t>FMS</a:t>
            </a:r>
            <a:r>
              <a:rPr lang="zh-CN" altLang="en-US" sz="2400" b="1" dirty="0">
                <a:solidFill>
                  <a:srgbClr val="990000"/>
                </a:solidFill>
                <a:latin typeface="楷体_GB2312"/>
                <a:ea typeface="楷体_GB2312"/>
              </a:rPr>
              <a:t>应用</a:t>
            </a:r>
            <a:endParaRPr lang="zh-CN" altLang="en-US" sz="2400" b="1" dirty="0">
              <a:solidFill>
                <a:srgbClr val="990000"/>
              </a:solidFill>
              <a:latin typeface="楷体_GB2312"/>
              <a:ea typeface="楷体_GB2312"/>
            </a:endParaRPr>
          </a:p>
        </p:txBody>
      </p:sp>
      <p:grpSp>
        <p:nvGrpSpPr>
          <p:cNvPr id="266245" name="Group 6"/>
          <p:cNvGrpSpPr/>
          <p:nvPr/>
        </p:nvGrpSpPr>
        <p:grpSpPr>
          <a:xfrm>
            <a:off x="611188" y="2036763"/>
            <a:ext cx="7554912" cy="4487862"/>
            <a:chOff x="385" y="1162"/>
            <a:chExt cx="4759" cy="2827"/>
          </a:xfrm>
        </p:grpSpPr>
        <p:sp>
          <p:nvSpPr>
            <p:cNvPr id="266246" name="Rectangle 7"/>
            <p:cNvSpPr/>
            <p:nvPr/>
          </p:nvSpPr>
          <p:spPr>
            <a:xfrm>
              <a:off x="4724" y="3394"/>
              <a:ext cx="320" cy="192"/>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品种</a:t>
              </a:r>
              <a:endParaRPr lang="zh-CN" altLang="en-US" sz="2000" dirty="0">
                <a:latin typeface="Times New Roman" panose="02020603050405020304" pitchFamily="18" charset="0"/>
                <a:ea typeface="黑体" panose="02010609060101010101" pitchFamily="49" charset="-122"/>
              </a:endParaRPr>
            </a:p>
          </p:txBody>
        </p:sp>
        <p:sp>
          <p:nvSpPr>
            <p:cNvPr id="266247" name="Line 8"/>
            <p:cNvSpPr/>
            <p:nvPr/>
          </p:nvSpPr>
          <p:spPr>
            <a:xfrm flipV="1">
              <a:off x="1183" y="1172"/>
              <a:ext cx="0" cy="2195"/>
            </a:xfrm>
            <a:prstGeom prst="line">
              <a:avLst/>
            </a:prstGeom>
            <a:ln w="28575" cap="flat" cmpd="sng">
              <a:solidFill>
                <a:schemeClr val="tx1"/>
              </a:solidFill>
              <a:prstDash val="solid"/>
              <a:round/>
              <a:headEnd type="none" w="med" len="med"/>
              <a:tailEnd type="triangle" w="med" len="lg"/>
            </a:ln>
          </p:spPr>
        </p:sp>
        <p:grpSp>
          <p:nvGrpSpPr>
            <p:cNvPr id="266248" name="Group 9"/>
            <p:cNvGrpSpPr/>
            <p:nvPr/>
          </p:nvGrpSpPr>
          <p:grpSpPr>
            <a:xfrm>
              <a:off x="385" y="1256"/>
              <a:ext cx="4759" cy="2733"/>
              <a:chOff x="173" y="1112"/>
              <a:chExt cx="5107" cy="3108"/>
            </a:xfrm>
          </p:grpSpPr>
          <p:sp>
            <p:nvSpPr>
              <p:cNvPr id="266249" name="Rectangle 10"/>
              <p:cNvSpPr/>
              <p:nvPr/>
            </p:nvSpPr>
            <p:spPr>
              <a:xfrm>
                <a:off x="432" y="3936"/>
                <a:ext cx="4848" cy="284"/>
              </a:xfrm>
              <a:prstGeom prst="rect">
                <a:avLst/>
              </a:prstGeom>
              <a:noFill/>
              <a:ln w="9525">
                <a:noFill/>
              </a:ln>
            </p:spPr>
            <p:txBody>
              <a:bodyPr anchor="t" anchorCtr="0">
                <a:spAutoFit/>
              </a:bodyPr>
              <a:p>
                <a:pPr algn="ctr" eaLnBrk="0" hangingPunct="0"/>
                <a:r>
                  <a:rPr lang="zh-CN" altLang="en-US" sz="2000" b="1" dirty="0">
                    <a:latin typeface="楷体_GB2312"/>
                    <a:ea typeface="楷体_GB2312"/>
                  </a:rPr>
                  <a:t>图</a:t>
                </a:r>
                <a:r>
                  <a:rPr lang="en-US" altLang="zh-CN" sz="2000" b="1" dirty="0">
                    <a:latin typeface="楷体_GB2312"/>
                    <a:ea typeface="楷体_GB2312"/>
                  </a:rPr>
                  <a:t>2-34   </a:t>
                </a:r>
                <a:r>
                  <a:rPr lang="zh-CN" altLang="en-US" sz="2000" b="1" dirty="0">
                    <a:latin typeface="楷体_GB2312"/>
                    <a:ea typeface="楷体_GB2312"/>
                  </a:rPr>
                  <a:t>零件品种、批量与自动化加工方式</a:t>
                </a:r>
                <a:endParaRPr lang="zh-CN" altLang="en-US" sz="2000" b="1" dirty="0">
                  <a:latin typeface="楷体_GB2312"/>
                  <a:ea typeface="楷体_GB2312"/>
                </a:endParaRPr>
              </a:p>
            </p:txBody>
          </p:sp>
          <p:sp>
            <p:nvSpPr>
              <p:cNvPr id="266250" name="Rectangle 11"/>
              <p:cNvSpPr/>
              <p:nvPr/>
            </p:nvSpPr>
            <p:spPr>
              <a:xfrm>
                <a:off x="901" y="3563"/>
                <a:ext cx="85" cy="218"/>
              </a:xfrm>
              <a:prstGeom prst="rect">
                <a:avLst/>
              </a:prstGeom>
              <a:noFill/>
              <a:ln w="9525">
                <a:noFill/>
              </a:ln>
            </p:spPr>
            <p:txBody>
              <a:bodyPr wrap="none" lIns="0" tIns="0" rIns="0" bIns="0" anchor="t" anchorCtr="0">
                <a:spAutoFit/>
              </a:bodyPr>
              <a:p>
                <a:r>
                  <a:rPr lang="en-US" altLang="zh-CN" sz="2000" b="1" dirty="0">
                    <a:latin typeface="Times New Roman" panose="02020603050405020304" pitchFamily="18" charset="0"/>
                    <a:ea typeface="黑体" panose="02010609060101010101" pitchFamily="49" charset="-122"/>
                  </a:rPr>
                  <a:t>0</a:t>
                </a:r>
                <a:endParaRPr lang="en-US" altLang="zh-CN" sz="2000" b="1" dirty="0">
                  <a:latin typeface="Times New Roman" panose="02020603050405020304" pitchFamily="18" charset="0"/>
                  <a:ea typeface="宋体" panose="02010600030101010101" pitchFamily="2" charset="-122"/>
                </a:endParaRPr>
              </a:p>
            </p:txBody>
          </p:sp>
          <p:sp>
            <p:nvSpPr>
              <p:cNvPr id="266251" name="Rectangle 12"/>
              <p:cNvSpPr/>
              <p:nvPr/>
            </p:nvSpPr>
            <p:spPr>
              <a:xfrm>
                <a:off x="2076" y="3563"/>
                <a:ext cx="2575" cy="218"/>
              </a:xfrm>
              <a:prstGeom prst="rect">
                <a:avLst/>
              </a:prstGeom>
              <a:noFill/>
              <a:ln w="9525">
                <a:noFill/>
              </a:ln>
            </p:spPr>
            <p:txBody>
              <a:bodyPr wrap="none" lIns="0" tIns="0" rIns="0" bIns="0" anchor="t" anchorCtr="0">
                <a:spAutoFit/>
              </a:bodyPr>
              <a:p>
                <a:r>
                  <a:rPr lang="en-US" altLang="zh-CN" sz="2000" b="1" dirty="0">
                    <a:latin typeface="Times New Roman" panose="02020603050405020304" pitchFamily="18" charset="0"/>
                    <a:ea typeface="黑体" panose="02010609060101010101" pitchFamily="49" charset="-122"/>
                  </a:rPr>
                  <a:t>10   </a:t>
                </a:r>
                <a:r>
                  <a:rPr lang="zh-CN" altLang="en-GB"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    100    </a:t>
                </a:r>
                <a:r>
                  <a:rPr lang="zh-CN" altLang="en-GB"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   1000</a:t>
                </a:r>
                <a:r>
                  <a:rPr lang="en-US" altLang="zh-CN" sz="2000" dirty="0">
                    <a:solidFill>
                      <a:srgbClr val="000000"/>
                    </a:solidFill>
                    <a:latin typeface="黑体" panose="02010609060101010101" pitchFamily="49" charset="-122"/>
                    <a:ea typeface="黑体" panose="02010609060101010101" pitchFamily="49" charset="-122"/>
                  </a:rPr>
                  <a:t>   </a:t>
                </a:r>
                <a:endParaRPr lang="en-US" altLang="zh-CN" sz="2000" dirty="0">
                  <a:latin typeface="Times New Roman" panose="02020603050405020304" pitchFamily="18" charset="0"/>
                  <a:ea typeface="宋体" panose="02010600030101010101" pitchFamily="2" charset="-122"/>
                </a:endParaRPr>
              </a:p>
            </p:txBody>
          </p:sp>
          <p:sp>
            <p:nvSpPr>
              <p:cNvPr id="266252" name="Line 13"/>
              <p:cNvSpPr/>
              <p:nvPr/>
            </p:nvSpPr>
            <p:spPr>
              <a:xfrm flipV="1">
                <a:off x="2160" y="3452"/>
                <a:ext cx="0" cy="54"/>
              </a:xfrm>
              <a:prstGeom prst="line">
                <a:avLst/>
              </a:prstGeom>
              <a:ln w="19050" cap="flat" cmpd="sng">
                <a:solidFill>
                  <a:schemeClr val="tx1"/>
                </a:solidFill>
                <a:prstDash val="solid"/>
                <a:round/>
                <a:headEnd type="none" w="med" len="med"/>
                <a:tailEnd type="none" w="med" len="med"/>
              </a:ln>
            </p:spPr>
          </p:sp>
          <p:sp>
            <p:nvSpPr>
              <p:cNvPr id="266253" name="Line 14"/>
              <p:cNvSpPr/>
              <p:nvPr/>
            </p:nvSpPr>
            <p:spPr>
              <a:xfrm flipV="1">
                <a:off x="4483" y="3457"/>
                <a:ext cx="0" cy="54"/>
              </a:xfrm>
              <a:prstGeom prst="line">
                <a:avLst/>
              </a:prstGeom>
              <a:ln w="19050" cap="flat" cmpd="sng">
                <a:solidFill>
                  <a:schemeClr val="tx1"/>
                </a:solidFill>
                <a:prstDash val="solid"/>
                <a:round/>
                <a:headEnd type="none" w="med" len="med"/>
                <a:tailEnd type="none" w="med" len="med"/>
              </a:ln>
            </p:spPr>
          </p:sp>
          <p:sp>
            <p:nvSpPr>
              <p:cNvPr id="266254" name="Line 15"/>
              <p:cNvSpPr/>
              <p:nvPr/>
            </p:nvSpPr>
            <p:spPr>
              <a:xfrm flipV="1">
                <a:off x="3319" y="3452"/>
                <a:ext cx="0" cy="54"/>
              </a:xfrm>
              <a:prstGeom prst="line">
                <a:avLst/>
              </a:prstGeom>
              <a:ln w="19050" cap="flat" cmpd="sng">
                <a:solidFill>
                  <a:schemeClr val="tx1"/>
                </a:solidFill>
                <a:prstDash val="solid"/>
                <a:round/>
                <a:headEnd type="none" w="med" len="med"/>
                <a:tailEnd type="none" w="med" len="med"/>
              </a:ln>
            </p:spPr>
          </p:sp>
          <p:sp>
            <p:nvSpPr>
              <p:cNvPr id="266255" name="Rectangle 16"/>
              <p:cNvSpPr/>
              <p:nvPr/>
            </p:nvSpPr>
            <p:spPr>
              <a:xfrm>
                <a:off x="469" y="1112"/>
                <a:ext cx="344" cy="218"/>
              </a:xfrm>
              <a:prstGeom prst="rect">
                <a:avLst/>
              </a:prstGeom>
              <a:noFill/>
              <a:ln w="9525">
                <a:noFill/>
              </a:ln>
            </p:spPr>
            <p:txBody>
              <a:bodyPr wrap="none" lIns="0" tIns="0" rIns="0" bIns="0" anchor="t" anchorCtr="0">
                <a:spAutoFit/>
              </a:bodyPr>
              <a:p>
                <a:r>
                  <a:rPr lang="zh-CN" altLang="en-US" sz="2000" dirty="0">
                    <a:latin typeface="黑体" panose="02010609060101010101" pitchFamily="49" charset="-122"/>
                    <a:ea typeface="黑体" panose="02010609060101010101" pitchFamily="49" charset="-122"/>
                  </a:rPr>
                  <a:t>批量</a:t>
                </a:r>
                <a:endParaRPr lang="zh-CN" altLang="en-US" sz="2000" dirty="0">
                  <a:latin typeface="Times New Roman" panose="02020603050405020304" pitchFamily="18" charset="0"/>
                  <a:ea typeface="宋体" panose="02010600030101010101" pitchFamily="2" charset="-122"/>
                </a:endParaRPr>
              </a:p>
            </p:txBody>
          </p:sp>
          <p:sp>
            <p:nvSpPr>
              <p:cNvPr id="266256" name="Rectangle 17"/>
              <p:cNvSpPr/>
              <p:nvPr/>
            </p:nvSpPr>
            <p:spPr>
              <a:xfrm>
                <a:off x="173" y="1460"/>
                <a:ext cx="760" cy="218"/>
              </a:xfrm>
              <a:prstGeom prst="rect">
                <a:avLst/>
              </a:prstGeom>
              <a:noFill/>
              <a:ln w="9525">
                <a:noFill/>
              </a:ln>
            </p:spPr>
            <p:txBody>
              <a:bodyPr lIns="0" tIns="0" rIns="0" bIns="0" anchor="t" anchorCtr="0">
                <a:spAutoFit/>
              </a:bodyPr>
              <a:p>
                <a:pPr algn="r"/>
                <a:r>
                  <a:rPr lang="en-US" altLang="zh-CN" sz="2000" b="1" dirty="0">
                    <a:latin typeface="Times New Roman" panose="02020603050405020304" pitchFamily="18" charset="0"/>
                    <a:ea typeface="黑体" panose="02010609060101010101" pitchFamily="49" charset="-122"/>
                  </a:rPr>
                  <a:t>10,000</a:t>
                </a:r>
                <a:endParaRPr lang="en-US" altLang="zh-CN" sz="2000" b="1" dirty="0">
                  <a:latin typeface="Times New Roman" panose="02020603050405020304" pitchFamily="18" charset="0"/>
                  <a:ea typeface="宋体" panose="02010600030101010101" pitchFamily="2" charset="-122"/>
                </a:endParaRPr>
              </a:p>
            </p:txBody>
          </p:sp>
          <p:sp>
            <p:nvSpPr>
              <p:cNvPr id="266257" name="Rectangle 18"/>
              <p:cNvSpPr/>
              <p:nvPr/>
            </p:nvSpPr>
            <p:spPr>
              <a:xfrm>
                <a:off x="192" y="1959"/>
                <a:ext cx="720" cy="219"/>
              </a:xfrm>
              <a:prstGeom prst="rect">
                <a:avLst/>
              </a:prstGeom>
              <a:noFill/>
              <a:ln w="9525">
                <a:noFill/>
              </a:ln>
            </p:spPr>
            <p:txBody>
              <a:bodyPr lIns="0" tIns="0" rIns="0" bIns="0" anchor="t" anchorCtr="0">
                <a:spAutoFit/>
              </a:bodyPr>
              <a:p>
                <a:pPr algn="r"/>
                <a:r>
                  <a:rPr lang="en-US" altLang="zh-CN" sz="2000" b="1" dirty="0">
                    <a:latin typeface="Times New Roman" panose="02020603050405020304" pitchFamily="18" charset="0"/>
                    <a:ea typeface="黑体" panose="02010609060101010101" pitchFamily="49" charset="-122"/>
                  </a:rPr>
                  <a:t>       1000</a:t>
                </a:r>
                <a:endParaRPr lang="en-US" altLang="zh-CN" sz="2000" b="1" dirty="0">
                  <a:latin typeface="Times New Roman" panose="02020603050405020304" pitchFamily="18" charset="0"/>
                  <a:ea typeface="宋体" panose="02010600030101010101" pitchFamily="2" charset="-122"/>
                </a:endParaRPr>
              </a:p>
            </p:txBody>
          </p:sp>
          <p:sp>
            <p:nvSpPr>
              <p:cNvPr id="266258" name="Rectangle 19"/>
              <p:cNvSpPr/>
              <p:nvPr/>
            </p:nvSpPr>
            <p:spPr>
              <a:xfrm>
                <a:off x="216" y="2454"/>
                <a:ext cx="680" cy="218"/>
              </a:xfrm>
              <a:prstGeom prst="rect">
                <a:avLst/>
              </a:prstGeom>
              <a:noFill/>
              <a:ln w="9525">
                <a:noFill/>
              </a:ln>
            </p:spPr>
            <p:txBody>
              <a:bodyPr lIns="0" tIns="0" rIns="0" bIns="0" anchor="t" anchorCtr="0">
                <a:spAutoFit/>
              </a:bodyPr>
              <a:p>
                <a:pPr algn="r"/>
                <a:r>
                  <a:rPr lang="en-US" altLang="zh-CN" sz="2000" b="1" dirty="0">
                    <a:latin typeface="Times New Roman" panose="02020603050405020304" pitchFamily="18" charset="0"/>
                    <a:ea typeface="黑体" panose="02010609060101010101" pitchFamily="49" charset="-122"/>
                  </a:rPr>
                  <a:t>        100</a:t>
                </a:r>
                <a:endParaRPr lang="en-US" altLang="zh-CN" sz="2000" b="1" dirty="0">
                  <a:latin typeface="Times New Roman" panose="02020603050405020304" pitchFamily="18" charset="0"/>
                  <a:ea typeface="宋体" panose="02010600030101010101" pitchFamily="2" charset="-122"/>
                </a:endParaRPr>
              </a:p>
            </p:txBody>
          </p:sp>
          <p:sp>
            <p:nvSpPr>
              <p:cNvPr id="266259" name="Rectangle 20"/>
              <p:cNvSpPr/>
              <p:nvPr/>
            </p:nvSpPr>
            <p:spPr>
              <a:xfrm>
                <a:off x="286" y="2940"/>
                <a:ext cx="600" cy="218"/>
              </a:xfrm>
              <a:prstGeom prst="rect">
                <a:avLst/>
              </a:prstGeom>
              <a:noFill/>
              <a:ln w="9525">
                <a:noFill/>
              </a:ln>
            </p:spPr>
            <p:txBody>
              <a:bodyPr lIns="0" tIns="0" rIns="0" bIns="0" anchor="t" anchorCtr="0">
                <a:spAutoFit/>
              </a:bodyPr>
              <a:p>
                <a:pPr algn="r"/>
                <a:r>
                  <a:rPr lang="en-US" altLang="zh-CN" sz="2000" b="1" dirty="0">
                    <a:latin typeface="Times New Roman" panose="02020603050405020304" pitchFamily="18" charset="0"/>
                    <a:ea typeface="黑体" panose="02010609060101010101" pitchFamily="49" charset="-122"/>
                  </a:rPr>
                  <a:t>        10</a:t>
                </a:r>
                <a:endParaRPr lang="en-US" altLang="zh-CN" sz="2000" b="1" dirty="0">
                  <a:latin typeface="Times New Roman" panose="02020603050405020304" pitchFamily="18" charset="0"/>
                  <a:ea typeface="宋体" panose="02010600030101010101" pitchFamily="2" charset="-122"/>
                </a:endParaRPr>
              </a:p>
            </p:txBody>
          </p:sp>
          <p:sp>
            <p:nvSpPr>
              <p:cNvPr id="266260" name="Line 21"/>
              <p:cNvSpPr/>
              <p:nvPr/>
            </p:nvSpPr>
            <p:spPr>
              <a:xfrm>
                <a:off x="1037" y="3045"/>
                <a:ext cx="54" cy="0"/>
              </a:xfrm>
              <a:prstGeom prst="line">
                <a:avLst/>
              </a:prstGeom>
              <a:ln w="19050" cap="flat" cmpd="sng">
                <a:solidFill>
                  <a:schemeClr val="tx1"/>
                </a:solidFill>
                <a:prstDash val="solid"/>
                <a:round/>
                <a:headEnd type="none" w="med" len="med"/>
                <a:tailEnd type="none" w="med" len="med"/>
              </a:ln>
            </p:spPr>
          </p:sp>
          <p:sp>
            <p:nvSpPr>
              <p:cNvPr id="266261" name="Line 22"/>
              <p:cNvSpPr/>
              <p:nvPr/>
            </p:nvSpPr>
            <p:spPr>
              <a:xfrm>
                <a:off x="1037" y="2548"/>
                <a:ext cx="54" cy="0"/>
              </a:xfrm>
              <a:prstGeom prst="line">
                <a:avLst/>
              </a:prstGeom>
              <a:ln w="19050" cap="flat" cmpd="sng">
                <a:solidFill>
                  <a:schemeClr val="tx1"/>
                </a:solidFill>
                <a:prstDash val="solid"/>
                <a:round/>
                <a:headEnd type="none" w="med" len="med"/>
                <a:tailEnd type="none" w="med" len="med"/>
              </a:ln>
            </p:spPr>
          </p:sp>
          <p:sp>
            <p:nvSpPr>
              <p:cNvPr id="266262" name="Line 23"/>
              <p:cNvSpPr/>
              <p:nvPr/>
            </p:nvSpPr>
            <p:spPr>
              <a:xfrm>
                <a:off x="1037" y="2037"/>
                <a:ext cx="54" cy="0"/>
              </a:xfrm>
              <a:prstGeom prst="line">
                <a:avLst/>
              </a:prstGeom>
              <a:ln w="19050" cap="flat" cmpd="sng">
                <a:solidFill>
                  <a:schemeClr val="tx1"/>
                </a:solidFill>
                <a:prstDash val="solid"/>
                <a:round/>
                <a:headEnd type="none" w="med" len="med"/>
                <a:tailEnd type="none" w="med" len="med"/>
              </a:ln>
            </p:spPr>
          </p:sp>
          <p:sp>
            <p:nvSpPr>
              <p:cNvPr id="266263" name="Line 24"/>
              <p:cNvSpPr/>
              <p:nvPr/>
            </p:nvSpPr>
            <p:spPr>
              <a:xfrm>
                <a:off x="1038" y="1543"/>
                <a:ext cx="54" cy="0"/>
              </a:xfrm>
              <a:prstGeom prst="line">
                <a:avLst/>
              </a:prstGeom>
              <a:ln w="19050" cap="flat" cmpd="sng">
                <a:solidFill>
                  <a:schemeClr val="tx1"/>
                </a:solidFill>
                <a:prstDash val="solid"/>
                <a:round/>
                <a:headEnd type="none" w="med" len="med"/>
                <a:tailEnd type="none" w="med" len="med"/>
              </a:ln>
            </p:spPr>
          </p:sp>
        </p:grpSp>
        <p:sp>
          <p:nvSpPr>
            <p:cNvPr id="266264" name="Line 25"/>
            <p:cNvSpPr/>
            <p:nvPr/>
          </p:nvSpPr>
          <p:spPr>
            <a:xfrm flipV="1">
              <a:off x="1174" y="3374"/>
              <a:ext cx="3847" cy="1"/>
            </a:xfrm>
            <a:prstGeom prst="line">
              <a:avLst/>
            </a:prstGeom>
            <a:ln w="28575" cap="flat" cmpd="sng">
              <a:solidFill>
                <a:schemeClr val="tx1"/>
              </a:solidFill>
              <a:prstDash val="solid"/>
              <a:round/>
              <a:headEnd type="none" w="med" len="med"/>
              <a:tailEnd type="triangle" w="med" len="lg"/>
            </a:ln>
          </p:spPr>
        </p:sp>
        <p:sp>
          <p:nvSpPr>
            <p:cNvPr id="266265" name="Rectangle 26"/>
            <p:cNvSpPr/>
            <p:nvPr/>
          </p:nvSpPr>
          <p:spPr>
            <a:xfrm>
              <a:off x="1513" y="1500"/>
              <a:ext cx="676" cy="678"/>
            </a:xfrm>
            <a:prstGeom prst="rect">
              <a:avLst/>
            </a:prstGeom>
            <a:solidFill>
              <a:srgbClr val="CCFF66"/>
            </a:solidFill>
            <a:ln w="28575" cap="flat" cmpd="sng">
              <a:solidFill>
                <a:srgbClr val="525129"/>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66266" name="Rectangle 27"/>
            <p:cNvSpPr/>
            <p:nvPr/>
          </p:nvSpPr>
          <p:spPr>
            <a:xfrm>
              <a:off x="1644" y="1679"/>
              <a:ext cx="426" cy="230"/>
            </a:xfrm>
            <a:prstGeom prst="rect">
              <a:avLst/>
            </a:prstGeom>
            <a:solidFill>
              <a:srgbClr val="CCFF66"/>
            </a:solidFill>
            <a:ln w="9525">
              <a:noFill/>
            </a:ln>
          </p:spPr>
          <p:txBody>
            <a:bodyPr wrap="none" lIns="0" tIns="0" rIns="0" bIns="0" anchor="t" anchorCtr="0">
              <a:spAutoFit/>
            </a:bodyPr>
            <a:p>
              <a:r>
                <a:rPr lang="en-US" altLang="zh-CN" sz="2400" b="1" dirty="0">
                  <a:solidFill>
                    <a:srgbClr val="525129"/>
                  </a:solidFill>
                  <a:latin typeface="Times New Roman" panose="02020603050405020304" pitchFamily="18" charset="0"/>
                  <a:ea typeface="宋体" panose="02010600030101010101" pitchFamily="2" charset="-122"/>
                </a:rPr>
                <a:t>FML</a:t>
              </a:r>
              <a:endParaRPr lang="en-US" altLang="zh-CN" sz="2400" dirty="0">
                <a:solidFill>
                  <a:srgbClr val="525129"/>
                </a:solidFill>
                <a:latin typeface="Times New Roman" panose="02020603050405020304" pitchFamily="18" charset="0"/>
                <a:ea typeface="宋体" panose="02010600030101010101" pitchFamily="2" charset="-122"/>
              </a:endParaRPr>
            </a:p>
          </p:txBody>
        </p:sp>
        <p:sp>
          <p:nvSpPr>
            <p:cNvPr id="266267" name="Rectangle 28"/>
            <p:cNvSpPr/>
            <p:nvPr/>
          </p:nvSpPr>
          <p:spPr>
            <a:xfrm>
              <a:off x="2950" y="2417"/>
              <a:ext cx="1014" cy="519"/>
            </a:xfrm>
            <a:prstGeom prst="rect">
              <a:avLst/>
            </a:prstGeom>
            <a:solidFill>
              <a:srgbClr val="EEDDFF"/>
            </a:solidFill>
            <a:ln w="28575" cap="flat" cmpd="sng">
              <a:solidFill>
                <a:srgbClr val="6600CC"/>
              </a:solidFill>
              <a:prstDash val="solid"/>
              <a:miter/>
              <a:headEnd type="none" w="med" len="med"/>
              <a:tailEnd type="none" w="med" len="med"/>
            </a:ln>
          </p:spPr>
          <p:txBody>
            <a:bodyPr anchor="t" anchorCtr="0"/>
            <a:p>
              <a:endParaRPr lang="zh-CN" altLang="zh-CN" dirty="0">
                <a:solidFill>
                  <a:srgbClr val="6600CC"/>
                </a:solidFill>
                <a:latin typeface="Arial" panose="020B0604020202020204" pitchFamily="34" charset="0"/>
                <a:ea typeface="宋体" panose="02010600030101010101" pitchFamily="2" charset="-122"/>
              </a:endParaRPr>
            </a:p>
          </p:txBody>
        </p:sp>
        <p:sp>
          <p:nvSpPr>
            <p:cNvPr id="266268" name="Rectangle 29"/>
            <p:cNvSpPr/>
            <p:nvPr/>
          </p:nvSpPr>
          <p:spPr>
            <a:xfrm>
              <a:off x="3273" y="2567"/>
              <a:ext cx="437" cy="230"/>
            </a:xfrm>
            <a:prstGeom prst="rect">
              <a:avLst/>
            </a:prstGeom>
            <a:noFill/>
            <a:ln w="9525">
              <a:noFill/>
            </a:ln>
          </p:spPr>
          <p:txBody>
            <a:bodyPr wrap="none" lIns="0" tIns="0" rIns="0" bIns="0" anchor="t" anchorCtr="0">
              <a:spAutoFit/>
            </a:bodyPr>
            <a:p>
              <a:r>
                <a:rPr lang="en-US" altLang="zh-CN" sz="2400" b="1" dirty="0">
                  <a:solidFill>
                    <a:srgbClr val="6600CC"/>
                  </a:solidFill>
                  <a:latin typeface="Times New Roman" panose="02020603050405020304" pitchFamily="18" charset="0"/>
                  <a:ea typeface="宋体" panose="02010600030101010101" pitchFamily="2" charset="-122"/>
                </a:rPr>
                <a:t>FMC</a:t>
              </a:r>
              <a:endParaRPr lang="en-US" altLang="zh-CN" sz="2400" dirty="0">
                <a:solidFill>
                  <a:srgbClr val="6600CC"/>
                </a:solidFill>
                <a:latin typeface="Times New Roman" panose="02020603050405020304" pitchFamily="18" charset="0"/>
                <a:ea typeface="宋体" panose="02010600030101010101" pitchFamily="2" charset="-122"/>
              </a:endParaRPr>
            </a:p>
          </p:txBody>
        </p:sp>
        <p:sp>
          <p:nvSpPr>
            <p:cNvPr id="266269" name="Rectangle 30"/>
            <p:cNvSpPr/>
            <p:nvPr/>
          </p:nvSpPr>
          <p:spPr>
            <a:xfrm>
              <a:off x="1893" y="1939"/>
              <a:ext cx="1353" cy="735"/>
            </a:xfrm>
            <a:prstGeom prst="rect">
              <a:avLst/>
            </a:prstGeom>
            <a:solidFill>
              <a:srgbClr val="FFE1E1"/>
            </a:solidFill>
            <a:ln w="28575" cap="flat" cmpd="sng">
              <a:solidFill>
                <a:srgbClr val="800000"/>
              </a:solidFill>
              <a:prstDash val="solid"/>
              <a:miter/>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266270" name="Rectangle 31"/>
            <p:cNvSpPr/>
            <p:nvPr/>
          </p:nvSpPr>
          <p:spPr>
            <a:xfrm>
              <a:off x="2358" y="2182"/>
              <a:ext cx="405" cy="230"/>
            </a:xfrm>
            <a:prstGeom prst="rect">
              <a:avLst/>
            </a:prstGeom>
            <a:noFill/>
            <a:ln w="9525">
              <a:noFill/>
            </a:ln>
          </p:spPr>
          <p:txBody>
            <a:bodyPr wrap="none" lIns="0" tIns="0" rIns="0" bIns="0" anchor="t" anchorCtr="0">
              <a:spAutoFit/>
            </a:bodyPr>
            <a:p>
              <a:r>
                <a:rPr lang="en-US" altLang="zh-CN" sz="2400" b="1" dirty="0">
                  <a:solidFill>
                    <a:srgbClr val="800000"/>
                  </a:solidFill>
                  <a:latin typeface="Times New Roman" panose="02020603050405020304" pitchFamily="18" charset="0"/>
                  <a:ea typeface="宋体" panose="02010600030101010101" pitchFamily="2" charset="-122"/>
                </a:rPr>
                <a:t>FMS</a:t>
              </a:r>
              <a:endParaRPr lang="en-US" altLang="zh-CN" sz="2400" dirty="0">
                <a:solidFill>
                  <a:srgbClr val="800000"/>
                </a:solidFill>
                <a:latin typeface="Times New Roman" panose="02020603050405020304" pitchFamily="18" charset="0"/>
                <a:ea typeface="宋体" panose="02010600030101010101" pitchFamily="2" charset="-122"/>
              </a:endParaRPr>
            </a:p>
          </p:txBody>
        </p:sp>
        <p:sp>
          <p:nvSpPr>
            <p:cNvPr id="266271" name="Rectangle 32"/>
            <p:cNvSpPr/>
            <p:nvPr/>
          </p:nvSpPr>
          <p:spPr>
            <a:xfrm>
              <a:off x="1474" y="1434"/>
              <a:ext cx="2702" cy="1701"/>
            </a:xfrm>
            <a:prstGeom prst="rect">
              <a:avLst/>
            </a:prstGeom>
            <a:noFill/>
            <a:ln w="28575" cap="flat" cmpd="sng">
              <a:solidFill>
                <a:srgbClr val="003300"/>
              </a:solidFill>
              <a:prstDash val="lgDash"/>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66272" name="Rectangle 33"/>
            <p:cNvSpPr/>
            <p:nvPr/>
          </p:nvSpPr>
          <p:spPr>
            <a:xfrm>
              <a:off x="4083" y="2856"/>
              <a:ext cx="726" cy="384"/>
            </a:xfrm>
            <a:prstGeom prst="rect">
              <a:avLst/>
            </a:prstGeom>
            <a:noFill/>
            <a:ln w="9525">
              <a:noFill/>
            </a:ln>
          </p:spPr>
          <p:txBody>
            <a:bodyPr lIns="0" tIns="0" rIns="0" bIns="0" anchor="t" anchorCtr="0">
              <a:spAutoFit/>
            </a:bodyPr>
            <a:p>
              <a:r>
                <a:rPr lang="zh-CN" altLang="en-US" sz="2000" dirty="0">
                  <a:latin typeface="黑体" panose="02010609060101010101" pitchFamily="49" charset="-122"/>
                  <a:ea typeface="黑体" panose="02010609060101010101" pitchFamily="49" charset="-122"/>
                </a:rPr>
                <a:t>数控机床通用机床</a:t>
              </a:r>
              <a:endParaRPr lang="zh-CN" altLang="en-US" sz="2000" dirty="0">
                <a:latin typeface="黑体" panose="02010609060101010101" pitchFamily="49" charset="-122"/>
                <a:ea typeface="黑体" panose="02010609060101010101" pitchFamily="49" charset="-122"/>
              </a:endParaRPr>
            </a:p>
          </p:txBody>
        </p:sp>
        <p:sp>
          <p:nvSpPr>
            <p:cNvPr id="266273" name="Line 34"/>
            <p:cNvSpPr/>
            <p:nvPr/>
          </p:nvSpPr>
          <p:spPr>
            <a:xfrm flipV="1">
              <a:off x="3838" y="2776"/>
              <a:ext cx="0" cy="598"/>
            </a:xfrm>
            <a:prstGeom prst="line">
              <a:avLst/>
            </a:prstGeom>
            <a:ln w="28575" cap="flat" cmpd="sng">
              <a:solidFill>
                <a:schemeClr val="tx1"/>
              </a:solidFill>
              <a:prstDash val="lgDash"/>
              <a:round/>
              <a:headEnd type="none" w="med" len="med"/>
              <a:tailEnd type="none" w="med" len="med"/>
            </a:ln>
          </p:spPr>
        </p:sp>
        <p:sp>
          <p:nvSpPr>
            <p:cNvPr id="266274" name="Line 35"/>
            <p:cNvSpPr/>
            <p:nvPr/>
          </p:nvSpPr>
          <p:spPr>
            <a:xfrm flipH="1" flipV="1">
              <a:off x="3838" y="2776"/>
              <a:ext cx="1056" cy="0"/>
            </a:xfrm>
            <a:prstGeom prst="line">
              <a:avLst/>
            </a:prstGeom>
            <a:ln w="28575" cap="flat" cmpd="sng">
              <a:solidFill>
                <a:schemeClr val="tx1"/>
              </a:solidFill>
              <a:prstDash val="lgDash"/>
              <a:round/>
              <a:headEnd type="none" w="med" len="med"/>
              <a:tailEnd type="none" w="med" len="med"/>
            </a:ln>
          </p:spPr>
        </p:sp>
        <p:sp>
          <p:nvSpPr>
            <p:cNvPr id="266275" name="Rectangle 36"/>
            <p:cNvSpPr/>
            <p:nvPr/>
          </p:nvSpPr>
          <p:spPr>
            <a:xfrm>
              <a:off x="1251" y="1186"/>
              <a:ext cx="223" cy="576"/>
            </a:xfrm>
            <a:prstGeom prst="rect">
              <a:avLst/>
            </a:prstGeom>
            <a:noFill/>
            <a:ln w="9525">
              <a:noFill/>
            </a:ln>
          </p:spPr>
          <p:txBody>
            <a:bodyPr lIns="0" tIns="0" rIns="0" bIns="0" anchor="t" anchorCtr="0">
              <a:spAutoFit/>
            </a:bodyPr>
            <a:p>
              <a:r>
                <a:rPr lang="zh-CN" altLang="en-US" sz="2000" dirty="0">
                  <a:latin typeface="黑体" panose="02010609060101010101" pitchFamily="49" charset="-122"/>
                  <a:ea typeface="黑体" panose="02010609060101010101" pitchFamily="49" charset="-122"/>
                </a:rPr>
                <a:t>刚性线</a:t>
              </a:r>
              <a:endParaRPr lang="zh-CN" altLang="en-US" sz="2000" dirty="0">
                <a:latin typeface="黑体" panose="02010609060101010101" pitchFamily="49" charset="-122"/>
                <a:ea typeface="黑体" panose="02010609060101010101" pitchFamily="49" charset="-122"/>
              </a:endParaRPr>
            </a:p>
          </p:txBody>
        </p:sp>
        <p:sp>
          <p:nvSpPr>
            <p:cNvPr id="266276" name="Line 37"/>
            <p:cNvSpPr/>
            <p:nvPr/>
          </p:nvSpPr>
          <p:spPr>
            <a:xfrm flipH="1" flipV="1">
              <a:off x="1174" y="1858"/>
              <a:ext cx="508" cy="0"/>
            </a:xfrm>
            <a:prstGeom prst="line">
              <a:avLst/>
            </a:prstGeom>
            <a:ln w="28575" cap="flat" cmpd="sng">
              <a:solidFill>
                <a:schemeClr val="tx1"/>
              </a:solidFill>
              <a:prstDash val="lgDash"/>
              <a:round/>
              <a:headEnd type="none" w="med" len="med"/>
              <a:tailEnd type="none" w="med" len="med"/>
            </a:ln>
          </p:spPr>
        </p:sp>
        <p:sp>
          <p:nvSpPr>
            <p:cNvPr id="266277" name="Line 38"/>
            <p:cNvSpPr/>
            <p:nvPr/>
          </p:nvSpPr>
          <p:spPr>
            <a:xfrm flipV="1">
              <a:off x="1682" y="1180"/>
              <a:ext cx="0" cy="679"/>
            </a:xfrm>
            <a:prstGeom prst="line">
              <a:avLst/>
            </a:prstGeom>
            <a:ln w="28575" cap="flat" cmpd="sng">
              <a:solidFill>
                <a:schemeClr val="tx1"/>
              </a:solidFill>
              <a:prstDash val="lgDash"/>
              <a:round/>
              <a:headEnd type="none" w="med" len="med"/>
              <a:tailEnd type="none" w="med" len="med"/>
            </a:ln>
          </p:spPr>
        </p:sp>
        <p:sp>
          <p:nvSpPr>
            <p:cNvPr id="266278" name="Rectangle 39"/>
            <p:cNvSpPr/>
            <p:nvPr/>
          </p:nvSpPr>
          <p:spPr>
            <a:xfrm rot="1560000">
              <a:off x="3258" y="1280"/>
              <a:ext cx="727" cy="192"/>
            </a:xfrm>
            <a:prstGeom prst="rect">
              <a:avLst/>
            </a:prstGeom>
            <a:noFill/>
            <a:ln w="9525">
              <a:noFill/>
            </a:ln>
          </p:spPr>
          <p:txBody>
            <a:bodyPr lIns="0" tIns="0" rIns="0" bIns="0" anchor="t" anchorCtr="0">
              <a:spAutoFit/>
            </a:bodyPr>
            <a:p>
              <a:pPr algn="ctr"/>
              <a:r>
                <a:rPr lang="zh-CN" altLang="en-US" sz="2000" dirty="0">
                  <a:solidFill>
                    <a:srgbClr val="003300"/>
                  </a:solidFill>
                  <a:latin typeface="黑体" panose="02010609060101010101" pitchFamily="49" charset="-122"/>
                  <a:ea typeface="黑体" panose="02010609060101010101" pitchFamily="49" charset="-122"/>
                </a:rPr>
                <a:t>生产柔性</a:t>
              </a:r>
              <a:endParaRPr lang="zh-CN" altLang="en-US" sz="2000" dirty="0">
                <a:solidFill>
                  <a:srgbClr val="003300"/>
                </a:solidFill>
                <a:latin typeface="黑体" panose="02010609060101010101" pitchFamily="49" charset="-122"/>
                <a:ea typeface="黑体" panose="02010609060101010101" pitchFamily="49" charset="-122"/>
              </a:endParaRPr>
            </a:p>
          </p:txBody>
        </p:sp>
        <p:sp>
          <p:nvSpPr>
            <p:cNvPr id="266279" name="Rectangle 40"/>
            <p:cNvSpPr/>
            <p:nvPr/>
          </p:nvSpPr>
          <p:spPr>
            <a:xfrm rot="1560000">
              <a:off x="3046" y="1520"/>
              <a:ext cx="727" cy="192"/>
            </a:xfrm>
            <a:prstGeom prst="rect">
              <a:avLst/>
            </a:prstGeom>
            <a:noFill/>
            <a:ln w="9525">
              <a:noFill/>
            </a:ln>
          </p:spPr>
          <p:txBody>
            <a:bodyPr lIns="0" tIns="0" rIns="0" bIns="0" anchor="t" anchorCtr="0">
              <a:spAutoFit/>
            </a:bodyPr>
            <a:p>
              <a:pPr algn="ctr"/>
              <a:r>
                <a:rPr lang="zh-CN" altLang="en-US" sz="2000" dirty="0">
                  <a:solidFill>
                    <a:srgbClr val="800000"/>
                  </a:solidFill>
                  <a:latin typeface="黑体" panose="02010609060101010101" pitchFamily="49" charset="-122"/>
                  <a:ea typeface="黑体" panose="02010609060101010101" pitchFamily="49" charset="-122"/>
                </a:rPr>
                <a:t>产量</a:t>
              </a:r>
              <a:endParaRPr lang="zh-CN" altLang="en-US" sz="2000" dirty="0">
                <a:solidFill>
                  <a:srgbClr val="800000"/>
                </a:solidFill>
                <a:latin typeface="黑体" panose="02010609060101010101" pitchFamily="49" charset="-122"/>
                <a:ea typeface="黑体" panose="02010609060101010101" pitchFamily="49" charset="-122"/>
              </a:endParaRPr>
            </a:p>
          </p:txBody>
        </p:sp>
        <p:sp>
          <p:nvSpPr>
            <p:cNvPr id="266280" name="Line 41"/>
            <p:cNvSpPr/>
            <p:nvPr/>
          </p:nvSpPr>
          <p:spPr>
            <a:xfrm>
              <a:off x="2749" y="1162"/>
              <a:ext cx="1648" cy="758"/>
            </a:xfrm>
            <a:prstGeom prst="line">
              <a:avLst/>
            </a:prstGeom>
            <a:ln w="38100" cap="flat" cmpd="sng">
              <a:solidFill>
                <a:srgbClr val="003300"/>
              </a:solidFill>
              <a:prstDash val="solid"/>
              <a:round/>
              <a:headEnd type="none" w="med" len="med"/>
              <a:tailEnd type="triangle" w="med" len="lg"/>
            </a:ln>
          </p:spPr>
        </p:sp>
        <p:sp>
          <p:nvSpPr>
            <p:cNvPr id="266281" name="Line 42"/>
            <p:cNvSpPr/>
            <p:nvPr/>
          </p:nvSpPr>
          <p:spPr>
            <a:xfrm>
              <a:off x="2580" y="1401"/>
              <a:ext cx="1648" cy="758"/>
            </a:xfrm>
            <a:prstGeom prst="line">
              <a:avLst/>
            </a:prstGeom>
            <a:ln w="38100" cap="flat" cmpd="sng">
              <a:solidFill>
                <a:srgbClr val="800000"/>
              </a:solidFill>
              <a:prstDash val="solid"/>
              <a:round/>
              <a:headEnd type="triangle" w="med" len="lg"/>
              <a:tailEnd type="none" w="med" len="lg"/>
            </a:ln>
          </p:spPr>
        </p:sp>
      </p:grpSp>
    </p:spTree>
  </p:cSld>
  <p:clrMapOvr>
    <a:masterClrMapping/>
  </p:clrMapOvr>
  <p:transition spd="slow">
    <p:randomBar dir="ver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6274" name="Rectangle 2"/>
          <p:cNvSpPr>
            <a:spLocks noGrp="1" noChangeArrowheads="1"/>
          </p:cNvSpPr>
          <p:nvPr>
            <p:ph type="title"/>
          </p:nvPr>
        </p:nvSpPr>
        <p:spPr>
          <a:xfrm>
            <a:off x="3252788" y="307975"/>
            <a:ext cx="3911600"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68290"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68291"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68292" name="Group 12"/>
          <p:cNvGrpSpPr/>
          <p:nvPr/>
        </p:nvGrpSpPr>
        <p:grpSpPr>
          <a:xfrm>
            <a:off x="179388" y="1155700"/>
            <a:ext cx="8785225" cy="5657850"/>
            <a:chOff x="204" y="728"/>
            <a:chExt cx="5534" cy="3564"/>
          </a:xfrm>
        </p:grpSpPr>
        <p:grpSp>
          <p:nvGrpSpPr>
            <p:cNvPr id="268293" name="Group 6"/>
            <p:cNvGrpSpPr/>
            <p:nvPr/>
          </p:nvGrpSpPr>
          <p:grpSpPr>
            <a:xfrm>
              <a:off x="205" y="728"/>
              <a:ext cx="5533" cy="3020"/>
              <a:chOff x="0" y="546"/>
              <a:chExt cx="5760" cy="3066"/>
            </a:xfrm>
          </p:grpSpPr>
          <p:pic>
            <p:nvPicPr>
              <p:cNvPr id="268294" name="Picture 7" descr="f1"/>
              <p:cNvPicPr>
                <a:picLocks noChangeAspect="1"/>
              </p:cNvPicPr>
              <p:nvPr/>
            </p:nvPicPr>
            <p:blipFill>
              <a:blip r:embed="rId1"/>
              <a:srcRect l="1511" t="1904" r="2518" b="8572"/>
              <a:stretch>
                <a:fillRect/>
              </a:stretch>
            </p:blipFill>
            <p:spPr>
              <a:xfrm>
                <a:off x="0" y="546"/>
                <a:ext cx="5760" cy="3066"/>
              </a:xfrm>
              <a:prstGeom prst="rect">
                <a:avLst/>
              </a:prstGeom>
              <a:noFill/>
              <a:ln w="9525">
                <a:noFill/>
              </a:ln>
            </p:spPr>
          </p:pic>
          <p:sp>
            <p:nvSpPr>
              <p:cNvPr id="268295" name="Rectangle 8"/>
              <p:cNvSpPr/>
              <p:nvPr/>
            </p:nvSpPr>
            <p:spPr>
              <a:xfrm>
                <a:off x="1111" y="2976"/>
                <a:ext cx="318" cy="181"/>
              </a:xfrm>
              <a:prstGeom prst="rect">
                <a:avLst/>
              </a:prstGeom>
              <a:solidFill>
                <a:srgbClr val="FFFFFF"/>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68296" name="Rectangle 9"/>
              <p:cNvSpPr/>
              <p:nvPr/>
            </p:nvSpPr>
            <p:spPr>
              <a:xfrm>
                <a:off x="5284" y="1480"/>
                <a:ext cx="318" cy="181"/>
              </a:xfrm>
              <a:prstGeom prst="rect">
                <a:avLst/>
              </a:prstGeom>
              <a:solidFill>
                <a:srgbClr val="FFFFFF"/>
              </a:soli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268297" name="Rectangle 10"/>
            <p:cNvSpPr/>
            <p:nvPr/>
          </p:nvSpPr>
          <p:spPr>
            <a:xfrm>
              <a:off x="204" y="3703"/>
              <a:ext cx="5510" cy="589"/>
            </a:xfrm>
            <a:prstGeom prst="rect">
              <a:avLst/>
            </a:prstGeom>
            <a:solidFill>
              <a:srgbClr val="FFFFFF"/>
            </a:solidFill>
            <a:ln w="9525">
              <a:noFill/>
            </a:ln>
          </p:spPr>
          <p:txBody>
            <a:bodyPr anchor="t" anchorCtr="0">
              <a:spAutoFit/>
            </a:bodyPr>
            <a:p>
              <a:pPr algn="ctr"/>
              <a:r>
                <a:rPr lang="zh-CN" altLang="en-US" sz="2000" b="1" dirty="0">
                  <a:latin typeface="楷体_GB2312"/>
                  <a:ea typeface="楷体_GB2312"/>
                </a:rPr>
                <a:t>图</a:t>
              </a:r>
              <a:r>
                <a:rPr lang="en-US" altLang="zh-CN" sz="2000" b="1" dirty="0">
                  <a:latin typeface="楷体_GB2312"/>
                  <a:ea typeface="楷体_GB2312"/>
                </a:rPr>
                <a:t>2-35  </a:t>
              </a:r>
              <a:r>
                <a:rPr lang="zh-CN" altLang="en-US" sz="2000" b="1" dirty="0">
                  <a:latin typeface="楷体_GB2312"/>
                  <a:ea typeface="楷体_GB2312"/>
                </a:rPr>
                <a:t>飞机零件加工</a:t>
              </a:r>
              <a:r>
                <a:rPr lang="en-US" altLang="zh-CN" sz="2000" b="1" dirty="0">
                  <a:latin typeface="楷体_GB2312"/>
                  <a:ea typeface="楷体_GB2312"/>
                </a:rPr>
                <a:t>FMS</a:t>
              </a:r>
              <a:r>
                <a:rPr lang="zh-CN" altLang="en-US" sz="2000" b="1" dirty="0">
                  <a:latin typeface="楷体_GB2312"/>
                  <a:ea typeface="楷体_GB2312"/>
                </a:rPr>
                <a:t>（ </a:t>
              </a:r>
              <a:r>
                <a:rPr lang="en-US" altLang="zh-CN" sz="2000" b="1" dirty="0">
                  <a:latin typeface="楷体_GB2312"/>
                  <a:ea typeface="楷体_GB2312"/>
                </a:rPr>
                <a:t>Cincinnati </a:t>
              </a:r>
              <a:r>
                <a:rPr lang="zh-CN" altLang="en-US" sz="2000" b="1" dirty="0">
                  <a:latin typeface="楷体_GB2312"/>
                  <a:ea typeface="楷体_GB2312"/>
                </a:rPr>
                <a:t>）</a:t>
              </a:r>
              <a:endParaRPr lang="zh-CN" altLang="en-US" sz="2000" b="1" dirty="0">
                <a:latin typeface="楷体_GB2312"/>
                <a:ea typeface="楷体_GB2312"/>
              </a:endParaRPr>
            </a:p>
            <a:p>
              <a:pPr algn="ctr">
                <a:spcBef>
                  <a:spcPct val="20000"/>
                </a:spcBef>
              </a:pPr>
              <a:r>
                <a:rPr lang="en-US" altLang="zh-CN" sz="1600" b="1" dirty="0">
                  <a:latin typeface="楷体_GB2312"/>
                  <a:ea typeface="楷体_GB2312"/>
                </a:rPr>
                <a:t>1</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装卸站  </a:t>
              </a:r>
              <a:r>
                <a:rPr lang="en-US" altLang="zh-CN" sz="1600" b="1" dirty="0">
                  <a:latin typeface="楷体_GB2312"/>
                  <a:ea typeface="楷体_GB2312"/>
                </a:rPr>
                <a:t>2</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运输小车  </a:t>
              </a:r>
              <a:r>
                <a:rPr lang="en-US" altLang="zh-CN" sz="1600" b="1" dirty="0">
                  <a:latin typeface="楷体_GB2312"/>
                  <a:ea typeface="楷体_GB2312"/>
                </a:rPr>
                <a:t>3</a:t>
              </a:r>
              <a:r>
                <a:rPr lang="en-US" altLang="zh-CN" sz="1600" b="1" dirty="0">
                  <a:latin typeface="Times New Roman" panose="02020603050405020304" pitchFamily="18" charset="0"/>
                  <a:ea typeface="楷体_GB2312"/>
                </a:rPr>
                <a:t>—</a:t>
              </a:r>
              <a:r>
                <a:rPr lang="en-US" altLang="zh-CN" sz="1600" b="1" dirty="0">
                  <a:latin typeface="楷体_GB2312"/>
                  <a:ea typeface="楷体_GB2312"/>
                </a:rPr>
                <a:t>MC  4</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切屑处理站  </a:t>
              </a:r>
              <a:r>
                <a:rPr lang="en-US" altLang="zh-CN" sz="1600" b="1" dirty="0">
                  <a:latin typeface="楷体_GB2312"/>
                  <a:ea typeface="楷体_GB2312"/>
                </a:rPr>
                <a:t>5</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清洗站  </a:t>
              </a:r>
              <a:r>
                <a:rPr lang="en-US" altLang="zh-CN" sz="1600" b="1" dirty="0">
                  <a:latin typeface="楷体_GB2312"/>
                  <a:ea typeface="楷体_GB2312"/>
                </a:rPr>
                <a:t>6</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检测站   </a:t>
              </a:r>
              <a:r>
                <a:rPr lang="en-US" altLang="zh-CN" sz="1600" b="1" dirty="0">
                  <a:latin typeface="楷体_GB2312"/>
                  <a:ea typeface="楷体_GB2312"/>
                </a:rPr>
                <a:t>7</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手工检测站  </a:t>
              </a:r>
              <a:r>
                <a:rPr lang="en-US" altLang="zh-CN" sz="1600" b="1" dirty="0">
                  <a:latin typeface="楷体_GB2312"/>
                  <a:ea typeface="楷体_GB2312"/>
                </a:rPr>
                <a:t>8</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计算机室  </a:t>
              </a:r>
              <a:r>
                <a:rPr lang="en-US" altLang="zh-CN" sz="1600" b="1" dirty="0">
                  <a:latin typeface="楷体_GB2312"/>
                  <a:ea typeface="楷体_GB2312"/>
                </a:rPr>
                <a:t>9 </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小车维修站  </a:t>
              </a:r>
              <a:r>
                <a:rPr lang="en-US" altLang="zh-CN" sz="1600" b="1" dirty="0">
                  <a:latin typeface="楷体_GB2312"/>
                  <a:ea typeface="楷体_GB2312"/>
                </a:rPr>
                <a:t>10 </a:t>
              </a:r>
              <a:r>
                <a:rPr lang="en-US" altLang="zh-CN" sz="1600" b="1" dirty="0">
                  <a:latin typeface="Times New Roman" panose="02020603050405020304" pitchFamily="18" charset="0"/>
                  <a:ea typeface="楷体_GB2312"/>
                </a:rPr>
                <a:t>—</a:t>
              </a:r>
              <a:r>
                <a:rPr lang="zh-CN" altLang="en-US" sz="1600" b="1" dirty="0">
                  <a:latin typeface="楷体_GB2312"/>
                  <a:ea typeface="楷体_GB2312"/>
                </a:rPr>
                <a:t>包装站</a:t>
              </a:r>
              <a:endParaRPr lang="zh-CN" altLang="en-US" sz="1600" b="1" dirty="0">
                <a:latin typeface="楷体_GB2312"/>
                <a:ea typeface="楷体_GB2312"/>
              </a:endParaRPr>
            </a:p>
          </p:txBody>
        </p:sp>
        <p:sp>
          <p:nvSpPr>
            <p:cNvPr id="268298" name="Rectangle 11"/>
            <p:cNvSpPr/>
            <p:nvPr/>
          </p:nvSpPr>
          <p:spPr>
            <a:xfrm>
              <a:off x="240" y="738"/>
              <a:ext cx="1543" cy="288"/>
            </a:xfrm>
            <a:prstGeom prst="rect">
              <a:avLst/>
            </a:prstGeom>
            <a:noFill/>
            <a:ln w="9525">
              <a:noFill/>
            </a:ln>
          </p:spPr>
          <p:txBody>
            <a:bodyPr wrap="none" anchor="ctr" anchorCtr="0">
              <a:spAutoFit/>
            </a:bodyPr>
            <a:p>
              <a:pPr>
                <a:buFont typeface="Wingdings" panose="05000000000000000000" pitchFamily="2" charset="2"/>
                <a:buChar char="q"/>
              </a:pPr>
              <a:r>
                <a:rPr lang="en-US" altLang="zh-CN" sz="2400" dirty="0">
                  <a:solidFill>
                    <a:srgbClr val="000000"/>
                  </a:solidFill>
                  <a:latin typeface="楷体_GB2312"/>
                  <a:ea typeface="楷体_GB2312"/>
                </a:rPr>
                <a:t> </a:t>
              </a:r>
              <a:r>
                <a:rPr lang="en-US" altLang="zh-CN" sz="2400" b="1" dirty="0">
                  <a:solidFill>
                    <a:srgbClr val="FF3300"/>
                  </a:solidFill>
                  <a:latin typeface="楷体_GB2312"/>
                  <a:ea typeface="楷体_GB2312"/>
                </a:rPr>
                <a:t>FMS</a:t>
              </a:r>
              <a:r>
                <a:rPr lang="zh-CN" altLang="en-US" sz="2400" b="1" dirty="0">
                  <a:solidFill>
                    <a:srgbClr val="FF3300"/>
                  </a:solidFill>
                  <a:latin typeface="楷体_GB2312"/>
                  <a:ea typeface="楷体_GB2312"/>
                </a:rPr>
                <a:t>实例（</a:t>
              </a:r>
              <a:r>
                <a:rPr lang="en-US" altLang="zh-CN" sz="2400" b="1" dirty="0">
                  <a:solidFill>
                    <a:srgbClr val="FF3300"/>
                  </a:solidFill>
                  <a:latin typeface="楷体_GB2312"/>
                  <a:ea typeface="楷体_GB2312"/>
                </a:rPr>
                <a:t>1</a:t>
              </a:r>
              <a:r>
                <a:rPr lang="zh-CN" altLang="en-US" sz="2400" b="1" dirty="0">
                  <a:solidFill>
                    <a:srgbClr val="FF3300"/>
                  </a:solidFill>
                  <a:latin typeface="楷体_GB2312"/>
                  <a:ea typeface="楷体_GB2312"/>
                </a:rPr>
                <a:t>）</a:t>
              </a:r>
              <a:endParaRPr lang="zh-CN" altLang="en-US" sz="2400" b="1" dirty="0">
                <a:solidFill>
                  <a:srgbClr val="FF3300"/>
                </a:solidFill>
                <a:latin typeface="楷体_GB2312"/>
                <a:ea typeface="楷体_GB2312"/>
              </a:endParaRPr>
            </a:p>
          </p:txBody>
        </p:sp>
      </p:grpSp>
    </p:spTree>
  </p:cSld>
  <p:clrMapOvr>
    <a:masterClrMapping/>
  </p:clrMapOvr>
  <p:transition spd="slow">
    <p:randomBar dir="vert"/>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22" name="Rectangle 2"/>
          <p:cNvSpPr>
            <a:spLocks noGrp="1" noChangeArrowheads="1"/>
          </p:cNvSpPr>
          <p:nvPr>
            <p:ph type="title"/>
          </p:nvPr>
        </p:nvSpPr>
        <p:spPr>
          <a:xfrm>
            <a:off x="2892425" y="379413"/>
            <a:ext cx="5280025" cy="457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uLnTx/>
                <a:uFillTx/>
                <a:latin typeface="Times New Roman" panose="02020603050405020304" pitchFamily="18" charset="0"/>
                <a:ea typeface="楷体_GB2312" pitchFamily="49" charset="-122"/>
                <a:cs typeface="+mj-cs"/>
              </a:rPr>
              <a:t>自动化加工技术</a:t>
            </a:r>
            <a:r>
              <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rPr>
              <a:t> </a:t>
            </a:r>
            <a:endParaRPr kumimoji="0" lang="zh-CN" altLang="en-US" sz="2800" b="0" i="0" u="none" strike="noStrike" kern="0" cap="none" spc="0" normalizeH="0" baseline="0" noProof="0" smtClean="0">
              <a:ln>
                <a:noFill/>
              </a:ln>
              <a:solidFill>
                <a:srgbClr val="FF6600"/>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j-cs"/>
            </a:endParaRPr>
          </a:p>
        </p:txBody>
      </p:sp>
      <p:sp>
        <p:nvSpPr>
          <p:cNvPr id="270338" name="Rectangle 3"/>
          <p:cNvSpPr/>
          <p:nvPr/>
        </p:nvSpPr>
        <p:spPr>
          <a:xfrm>
            <a:off x="3175" y="-2481262"/>
            <a:ext cx="1000125"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sp>
        <p:nvSpPr>
          <p:cNvPr id="270339" name="Rectangle 4"/>
          <p:cNvSpPr/>
          <p:nvPr/>
        </p:nvSpPr>
        <p:spPr>
          <a:xfrm>
            <a:off x="3175" y="-5348287"/>
            <a:ext cx="4000500" cy="457200"/>
          </a:xfrm>
          <a:prstGeom prst="rect">
            <a:avLst/>
          </a:prstGeom>
          <a:noFill/>
          <a:ln w="9525">
            <a:noFill/>
          </a:ln>
        </p:spPr>
        <p:txBody>
          <a:bodyPr anchor="t" anchorCtr="0">
            <a:spAutoFit/>
          </a:bodyPr>
          <a:p>
            <a:pPr algn="ctr" eaLnBrk="0" hangingPunct="0"/>
            <a:endParaRPr lang="zh-CN" altLang="zh-CN" sz="2400" dirty="0">
              <a:latin typeface="Times New Roman" panose="02020603050405020304" pitchFamily="18" charset="0"/>
              <a:ea typeface="宋体" panose="02010600030101010101" pitchFamily="2" charset="-122"/>
            </a:endParaRPr>
          </a:p>
        </p:txBody>
      </p:sp>
      <p:grpSp>
        <p:nvGrpSpPr>
          <p:cNvPr id="270340" name="Group 5"/>
          <p:cNvGrpSpPr/>
          <p:nvPr/>
        </p:nvGrpSpPr>
        <p:grpSpPr>
          <a:xfrm>
            <a:off x="539750" y="1196975"/>
            <a:ext cx="8280400" cy="5616575"/>
            <a:chOff x="113" y="572"/>
            <a:chExt cx="5489" cy="3584"/>
          </a:xfrm>
        </p:grpSpPr>
        <p:grpSp>
          <p:nvGrpSpPr>
            <p:cNvPr id="270341" name="Group 6"/>
            <p:cNvGrpSpPr/>
            <p:nvPr/>
          </p:nvGrpSpPr>
          <p:grpSpPr>
            <a:xfrm>
              <a:off x="113" y="572"/>
              <a:ext cx="5489" cy="3584"/>
              <a:chOff x="204" y="572"/>
              <a:chExt cx="5398" cy="3481"/>
            </a:xfrm>
          </p:grpSpPr>
          <p:grpSp>
            <p:nvGrpSpPr>
              <p:cNvPr id="270342" name="Group 7"/>
              <p:cNvGrpSpPr/>
              <p:nvPr/>
            </p:nvGrpSpPr>
            <p:grpSpPr>
              <a:xfrm>
                <a:off x="204" y="572"/>
                <a:ext cx="5398" cy="3481"/>
                <a:chOff x="204" y="572"/>
                <a:chExt cx="5398" cy="3481"/>
              </a:xfrm>
            </p:grpSpPr>
            <p:pic>
              <p:nvPicPr>
                <p:cNvPr id="270343" name="Picture 8" descr="f2"/>
                <p:cNvPicPr>
                  <a:picLocks noChangeAspect="1"/>
                </p:cNvPicPr>
                <p:nvPr/>
              </p:nvPicPr>
              <p:blipFill>
                <a:blip r:embed="rId1"/>
                <a:srcRect l="1038" t="3262" r="2596" b="1631"/>
                <a:stretch>
                  <a:fillRect/>
                </a:stretch>
              </p:blipFill>
              <p:spPr>
                <a:xfrm>
                  <a:off x="204" y="572"/>
                  <a:ext cx="5398" cy="3481"/>
                </a:xfrm>
                <a:prstGeom prst="rect">
                  <a:avLst/>
                </a:prstGeom>
                <a:noFill/>
                <a:ln w="9525">
                  <a:noFill/>
                </a:ln>
              </p:spPr>
            </p:pic>
            <p:sp>
              <p:nvSpPr>
                <p:cNvPr id="270344" name="Text Box 9"/>
                <p:cNvSpPr txBox="1"/>
                <p:nvPr/>
              </p:nvSpPr>
              <p:spPr>
                <a:xfrm>
                  <a:off x="2427" y="3237"/>
                  <a:ext cx="288" cy="95"/>
                </a:xfrm>
                <a:prstGeom prst="rect">
                  <a:avLst/>
                </a:prstGeom>
                <a:noFill/>
                <a:ln w="9525">
                  <a:noFill/>
                </a:ln>
              </p:spPr>
              <p:txBody>
                <a:bodyPr lIns="0" tIns="0" rIns="0" bIns="0" anchor="t" anchorCtr="0">
                  <a:spAutoFit/>
                </a:bodyPr>
                <a:p>
                  <a:pPr>
                    <a:spcBef>
                      <a:spcPct val="50000"/>
                    </a:spcBef>
                  </a:pPr>
                  <a:r>
                    <a:rPr lang="zh-CN" altLang="en-US" sz="1000" dirty="0">
                      <a:solidFill>
                        <a:schemeClr val="bg2"/>
                      </a:solidFill>
                      <a:latin typeface="Times New Roman" panose="02020603050405020304" pitchFamily="18" charset="0"/>
                      <a:ea typeface="宋体" panose="02010600030101010101" pitchFamily="2" charset="-122"/>
                    </a:rPr>
                    <a:t>冲床</a:t>
                  </a:r>
                  <a:endParaRPr lang="zh-CN" altLang="en-US" sz="1000" dirty="0">
                    <a:solidFill>
                      <a:schemeClr val="bg2"/>
                    </a:solidFill>
                    <a:latin typeface="Times New Roman" panose="02020603050405020304" pitchFamily="18" charset="0"/>
                    <a:ea typeface="宋体" panose="02010600030101010101" pitchFamily="2" charset="-122"/>
                  </a:endParaRPr>
                </a:p>
              </p:txBody>
            </p:sp>
          </p:grpSp>
          <p:sp>
            <p:nvSpPr>
              <p:cNvPr id="270345" name="Text Box 10"/>
              <p:cNvSpPr txBox="1"/>
              <p:nvPr/>
            </p:nvSpPr>
            <p:spPr>
              <a:xfrm>
                <a:off x="1837" y="3793"/>
                <a:ext cx="2086" cy="246"/>
              </a:xfrm>
              <a:prstGeom prst="rect">
                <a:avLst/>
              </a:prstGeom>
              <a:noFill/>
              <a:ln w="9525">
                <a:noFill/>
              </a:ln>
            </p:spPr>
            <p:txBody>
              <a:bodyPr anchor="t" anchorCtr="0">
                <a:spAutoFit/>
              </a:bodyPr>
              <a:p>
                <a:pPr algn="ctr">
                  <a:spcBef>
                    <a:spcPct val="50000"/>
                  </a:spcBef>
                </a:pPr>
                <a:r>
                  <a:rPr lang="zh-CN" altLang="en-US" sz="2000" b="1" dirty="0">
                    <a:latin typeface="楷体_GB2312"/>
                    <a:ea typeface="楷体_GB2312"/>
                  </a:rPr>
                  <a:t>图</a:t>
                </a:r>
                <a:r>
                  <a:rPr lang="en-US" altLang="zh-CN" sz="2000" b="1" dirty="0">
                    <a:latin typeface="楷体_GB2312"/>
                    <a:ea typeface="楷体_GB2312"/>
                  </a:rPr>
                  <a:t>2-36  </a:t>
                </a:r>
                <a:r>
                  <a:rPr lang="zh-CN" altLang="en-US" sz="2000" b="1" dirty="0">
                    <a:latin typeface="楷体_GB2312"/>
                    <a:ea typeface="楷体_GB2312"/>
                  </a:rPr>
                  <a:t>冲压</a:t>
                </a:r>
                <a:r>
                  <a:rPr lang="en-US" altLang="zh-CN" sz="2000" b="1" dirty="0">
                    <a:latin typeface="楷体_GB2312"/>
                    <a:ea typeface="楷体_GB2312"/>
                  </a:rPr>
                  <a:t>FMS</a:t>
                </a:r>
                <a:endParaRPr lang="en-US" altLang="zh-CN" sz="2000" b="1" dirty="0">
                  <a:latin typeface="楷体_GB2312"/>
                  <a:ea typeface="楷体_GB2312"/>
                </a:endParaRPr>
              </a:p>
            </p:txBody>
          </p:sp>
        </p:grpSp>
        <p:sp>
          <p:nvSpPr>
            <p:cNvPr id="270346" name="Rectangle 11"/>
            <p:cNvSpPr/>
            <p:nvPr/>
          </p:nvSpPr>
          <p:spPr>
            <a:xfrm>
              <a:off x="113" y="3838"/>
              <a:ext cx="1573" cy="292"/>
            </a:xfrm>
            <a:prstGeom prst="rect">
              <a:avLst/>
            </a:prstGeom>
            <a:noFill/>
            <a:ln w="9525">
              <a:noFill/>
            </a:ln>
          </p:spPr>
          <p:txBody>
            <a:bodyPr wrap="none" anchor="t" anchorCtr="0">
              <a:spAutoFit/>
            </a:bodyPr>
            <a:p>
              <a:pPr>
                <a:buFont typeface="Wingdings" panose="05000000000000000000" pitchFamily="2" charset="2"/>
                <a:buChar char="q"/>
              </a:pPr>
              <a:r>
                <a:rPr lang="en-US" altLang="zh-CN" sz="2400" dirty="0">
                  <a:solidFill>
                    <a:srgbClr val="990000"/>
                  </a:solidFill>
                  <a:latin typeface="Times New Roman" panose="02020603050405020304" pitchFamily="18" charset="0"/>
                  <a:ea typeface="黑体" panose="02010609060101010101" pitchFamily="49" charset="-122"/>
                </a:rPr>
                <a:t> </a:t>
              </a:r>
              <a:r>
                <a:rPr lang="en-US" altLang="zh-CN" sz="2400" b="1" dirty="0">
                  <a:solidFill>
                    <a:srgbClr val="FF3300"/>
                  </a:solidFill>
                  <a:latin typeface="楷体_GB2312"/>
                  <a:ea typeface="楷体_GB2312"/>
                </a:rPr>
                <a:t>FMS</a:t>
              </a:r>
              <a:r>
                <a:rPr lang="zh-CN" altLang="en-US" sz="2400" b="1" dirty="0">
                  <a:solidFill>
                    <a:srgbClr val="FF3300"/>
                  </a:solidFill>
                  <a:latin typeface="楷体_GB2312"/>
                  <a:ea typeface="楷体_GB2312"/>
                </a:rPr>
                <a:t>实例（</a:t>
              </a:r>
              <a:r>
                <a:rPr lang="en-US" altLang="zh-CN" sz="2400" b="1" dirty="0">
                  <a:solidFill>
                    <a:srgbClr val="FF3300"/>
                  </a:solidFill>
                  <a:latin typeface="楷体_GB2312"/>
                  <a:ea typeface="楷体_GB2312"/>
                </a:rPr>
                <a:t>2</a:t>
              </a:r>
              <a:r>
                <a:rPr lang="zh-CN" altLang="en-US" sz="2400" b="1" dirty="0">
                  <a:solidFill>
                    <a:srgbClr val="FF3300"/>
                  </a:solidFill>
                  <a:latin typeface="楷体_GB2312"/>
                  <a:ea typeface="楷体_GB2312"/>
                </a:rPr>
                <a:t>）</a:t>
              </a:r>
              <a:endParaRPr lang="zh-CN" altLang="en-US" sz="2400" b="1" dirty="0">
                <a:solidFill>
                  <a:srgbClr val="FF3300"/>
                </a:solidFill>
                <a:latin typeface="楷体_GB2312"/>
                <a:ea typeface="楷体_GB2312"/>
              </a:endParaRPr>
            </a:p>
          </p:txBody>
        </p:sp>
      </p:grpSp>
    </p:spTree>
  </p:cSld>
  <p:clrMapOvr>
    <a:masterClrMapping/>
  </p:clrMapOvr>
  <p:transition spd="slow">
    <p:randomBar dir="ver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5" name="Text Box 4"/>
          <p:cNvSpPr txBox="1"/>
          <p:nvPr/>
        </p:nvSpPr>
        <p:spPr>
          <a:xfrm>
            <a:off x="533400" y="2195513"/>
            <a:ext cx="7423150" cy="519112"/>
          </a:xfrm>
          <a:prstGeom prst="rect">
            <a:avLst/>
          </a:prstGeom>
          <a:noFill/>
          <a:ln w="9525">
            <a:noFill/>
          </a:ln>
        </p:spPr>
        <p:txBody>
          <a:bodyPr anchor="t" anchorCtr="0">
            <a:spAutoFit/>
          </a:bodyPr>
          <a:p>
            <a:r>
              <a:rPr lang="zh-CN" altLang="en-US" sz="2800" b="1" dirty="0">
                <a:solidFill>
                  <a:srgbClr val="000000"/>
                </a:solidFill>
                <a:latin typeface="楷体_GB2312"/>
                <a:ea typeface="楷体_GB2312"/>
              </a:rPr>
              <a:t>作业：</a:t>
            </a:r>
            <a:r>
              <a:rPr lang="en-US" altLang="zh-CN" sz="2800" b="1" dirty="0">
                <a:solidFill>
                  <a:srgbClr val="000000"/>
                </a:solidFill>
                <a:latin typeface="楷体_GB2312"/>
                <a:ea typeface="楷体_GB2312"/>
              </a:rPr>
              <a:t>P48, (1), (2), (5). </a:t>
            </a:r>
            <a:r>
              <a:rPr lang="zh-CN" altLang="en-US" sz="2800" b="1" dirty="0">
                <a:solidFill>
                  <a:srgbClr val="000000"/>
                </a:solidFill>
                <a:latin typeface="楷体_GB2312"/>
                <a:ea typeface="楷体_GB2312"/>
              </a:rPr>
              <a:t>及 （</a:t>
            </a:r>
            <a:r>
              <a:rPr lang="en-US" altLang="zh-CN" sz="2800" b="1" dirty="0">
                <a:solidFill>
                  <a:srgbClr val="000000"/>
                </a:solidFill>
                <a:latin typeface="楷体_GB2312"/>
                <a:ea typeface="楷体_GB2312"/>
              </a:rPr>
              <a:t>2</a:t>
            </a:r>
            <a:r>
              <a:rPr lang="zh-CN" altLang="en-US" sz="2800" b="1" dirty="0">
                <a:solidFill>
                  <a:srgbClr val="000000"/>
                </a:solidFill>
                <a:latin typeface="楷体_GB2312"/>
                <a:ea typeface="楷体_GB2312"/>
              </a:rPr>
              <a:t>），</a:t>
            </a:r>
            <a:r>
              <a:rPr lang="en-US" altLang="zh-CN" sz="2800" b="1" dirty="0">
                <a:solidFill>
                  <a:srgbClr val="000000"/>
                </a:solidFill>
                <a:latin typeface="楷体_GB2312"/>
                <a:ea typeface="楷体_GB2312"/>
              </a:rPr>
              <a:t>(6).</a:t>
            </a:r>
            <a:endParaRPr lang="en-US" altLang="zh-CN" sz="2800" b="1" dirty="0">
              <a:solidFill>
                <a:srgbClr val="000000"/>
              </a:solidFill>
              <a:latin typeface="楷体_GB2312"/>
              <a:ea typeface="楷体_GB2312"/>
            </a:endParaRPr>
          </a:p>
        </p:txBody>
      </p:sp>
    </p:spTree>
  </p:cSld>
  <p:clrMapOvr>
    <a:masterClrMapping/>
  </p:clrMapOvr>
  <p:transition spd="slow">
    <p:randomBar dir="vert"/>
  </p:transition>
</p:sld>
</file>

<file path=ppt/tags/tag1.xml><?xml version="1.0" encoding="utf-8"?>
<p:tagLst xmlns:p="http://schemas.openxmlformats.org/presentationml/2006/main">
  <p:tag name="KSO_WM_MEDIACOVER_FLAG" val="1"/>
  <p:tag name="KSO_WM_UNIT_MEDIACOVER_BTN_STATE" val="1"/>
  <p:tag name="KSO_WM_UNIT_MEDIACOVER_BTNRECT" val="4609*2689*721*721"/>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heme/theme1.xml><?xml version="1.0" encoding="utf-8"?>
<a:theme xmlns:a="http://schemas.openxmlformats.org/drawingml/2006/main" name="麦田夕照">
  <a:themeElements>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fontScheme name="麦田夕照">
      <a:majorFont>
        <a:latin typeface="Tahom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麦田夕照 1">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麦田夕照 2">
        <a:dk1>
          <a:srgbClr val="000000"/>
        </a:dk1>
        <a:lt1>
          <a:srgbClr val="FFFFD9"/>
        </a:lt1>
        <a:dk2>
          <a:srgbClr val="000000"/>
        </a:dk2>
        <a:lt2>
          <a:srgbClr val="777777"/>
        </a:lt2>
        <a:accent1>
          <a:srgbClr val="FFFFF7"/>
        </a:accent1>
        <a:accent2>
          <a:srgbClr val="CC9900"/>
        </a:accent2>
        <a:accent3>
          <a:srgbClr val="FFFFE9"/>
        </a:accent3>
        <a:accent4>
          <a:srgbClr val="000000"/>
        </a:accent4>
        <a:accent5>
          <a:srgbClr val="FFFFFA"/>
        </a:accent5>
        <a:accent6>
          <a:srgbClr val="B98A00"/>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麦田夕照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麦田夕照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C5B303"/>
        </a:folHlink>
      </a:clrScheme>
      <a:clrMap bg1="lt1" tx1="dk1" bg2="lt2" tx2="dk2" accent1="accent1" accent2="accent2" accent3="accent3" accent4="accent4" accent5="accent5" accent6="accent6" hlink="hlink" folHlink="folHlink"/>
    </a:extraClrScheme>
    <a:extraClrScheme>
      <a:clrScheme name="麦田夕照 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CC9900"/>
        </a:folHlink>
      </a:clrScheme>
      <a:clrMap bg1="lt1" tx1="dk1" bg2="lt2" tx2="dk2" accent1="accent1" accent2="accent2" accent3="accent3" accent4="accent4" accent5="accent5" accent6="accent6" hlink="hlink" folHlink="folHlink"/>
    </a:extraClrScheme>
    <a:extraClrScheme>
      <a:clrScheme name="麦田夕照 6">
        <a:dk1>
          <a:srgbClr val="000000"/>
        </a:dk1>
        <a:lt1>
          <a:srgbClr val="FFFFFF"/>
        </a:lt1>
        <a:dk2>
          <a:srgbClr val="000000"/>
        </a:dk2>
        <a:lt2>
          <a:srgbClr val="808080"/>
        </a:lt2>
        <a:accent1>
          <a:srgbClr val="FFCC66"/>
        </a:accent1>
        <a:accent2>
          <a:srgbClr val="EAEAEA"/>
        </a:accent2>
        <a:accent3>
          <a:srgbClr val="FFFFFF"/>
        </a:accent3>
        <a:accent4>
          <a:srgbClr val="000000"/>
        </a:accent4>
        <a:accent5>
          <a:srgbClr val="FFE2B8"/>
        </a:accent5>
        <a:accent6>
          <a:srgbClr val="D4D4D4"/>
        </a:accent6>
        <a:hlink>
          <a:srgbClr val="CC6600"/>
        </a:hlink>
        <a:folHlink>
          <a:srgbClr val="993300"/>
        </a:folHlink>
      </a:clrScheme>
      <a:clrMap bg1="lt1" tx1="dk1" bg2="lt2" tx2="dk2" accent1="accent1" accent2="accent2" accent3="accent3" accent4="accent4" accent5="accent5" accent6="accent6" hlink="hlink" folHlink="folHlink"/>
    </a:extraClrScheme>
    <a:extraClrScheme>
      <a:clrScheme name="麦田夕照 7">
        <a:dk1>
          <a:srgbClr val="003366"/>
        </a:dk1>
        <a:lt1>
          <a:srgbClr val="361B00"/>
        </a:lt1>
        <a:dk2>
          <a:srgbClr val="000099"/>
        </a:dk2>
        <a:lt2>
          <a:srgbClr val="333333"/>
        </a:lt2>
        <a:accent1>
          <a:srgbClr val="3366CC"/>
        </a:accent1>
        <a:accent2>
          <a:srgbClr val="F09A00"/>
        </a:accent2>
        <a:accent3>
          <a:srgbClr val="AAAACA"/>
        </a:accent3>
        <a:accent4>
          <a:srgbClr val="2D1500"/>
        </a:accent4>
        <a:accent5>
          <a:srgbClr val="ADB8E2"/>
        </a:accent5>
        <a:accent6>
          <a:srgbClr val="D98B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麦田夕照 8">
        <a:dk1>
          <a:srgbClr val="777777"/>
        </a:dk1>
        <a:lt1>
          <a:srgbClr val="926C00"/>
        </a:lt1>
        <a:dk2>
          <a:srgbClr val="686B5D"/>
        </a:dk2>
        <a:lt2>
          <a:srgbClr val="4D4D4D"/>
        </a:lt2>
        <a:accent1>
          <a:srgbClr val="B2B2B2"/>
        </a:accent1>
        <a:accent2>
          <a:srgbClr val="809EA8"/>
        </a:accent2>
        <a:accent3>
          <a:srgbClr val="B9BAB6"/>
        </a:accent3>
        <a:accent4>
          <a:srgbClr val="7C5B00"/>
        </a:accent4>
        <a:accent5>
          <a:srgbClr val="D5D5D5"/>
        </a:accent5>
        <a:accent6>
          <a:srgbClr val="738F98"/>
        </a:accent6>
        <a:hlink>
          <a:srgbClr val="FFCC66"/>
        </a:hlink>
        <a:folHlink>
          <a:srgbClr val="F7F3E7"/>
        </a:folHlink>
      </a:clrScheme>
      <a:clrMap bg1="dk2" tx1="lt1" bg2="dk1" tx2="lt2" accent1="accent1" accent2="accent2" accent3="accent3" accent4="accent4" accent5="accent5" accent6="accent6" hlink="hlink" folHlink="folHlink"/>
    </a:extraClrScheme>
    <a:extraClrScheme>
      <a:clrScheme name="麦田夕照 9">
        <a:dk1>
          <a:srgbClr val="005A58"/>
        </a:dk1>
        <a:lt1>
          <a:srgbClr val="CC9900"/>
        </a:lt1>
        <a:dk2>
          <a:srgbClr val="008080"/>
        </a:dk2>
        <a:lt2>
          <a:srgbClr val="006666"/>
        </a:lt2>
        <a:accent1>
          <a:srgbClr val="006462"/>
        </a:accent1>
        <a:accent2>
          <a:srgbClr val="6D6FC7"/>
        </a:accent2>
        <a:accent3>
          <a:srgbClr val="AAC0C0"/>
        </a:accent3>
        <a:accent4>
          <a:srgbClr val="AE8200"/>
        </a:accent4>
        <a:accent5>
          <a:srgbClr val="AAB8B7"/>
        </a:accent5>
        <a:accent6>
          <a:srgbClr val="6264B4"/>
        </a:accent6>
        <a:hlink>
          <a:srgbClr val="FFC41F"/>
        </a:hlink>
        <a:folHlink>
          <a:srgbClr val="FFFFCC"/>
        </a:folHlink>
      </a:clrScheme>
      <a:clrMap bg1="dk2" tx1="lt1" bg2="dk1" tx2="lt2" accent1="accent1" accent2="accent2" accent3="accent3" accent4="accent4" accent5="accent5" accent6="accent6" hlink="hlink" folHlink="folHlink"/>
    </a:extraClrScheme>
    <a:extraClrScheme>
      <a:clrScheme name="麦田夕照 10">
        <a:dk1>
          <a:srgbClr val="111111"/>
        </a:dk1>
        <a:lt1>
          <a:srgbClr val="800000"/>
        </a:lt1>
        <a:dk2>
          <a:srgbClr val="663300"/>
        </a:dk2>
        <a:lt2>
          <a:srgbClr val="5C1F00"/>
        </a:lt2>
        <a:accent1>
          <a:srgbClr val="CC3300"/>
        </a:accent1>
        <a:accent2>
          <a:srgbClr val="BE7960"/>
        </a:accent2>
        <a:accent3>
          <a:srgbClr val="C0AAAA"/>
        </a:accent3>
        <a:accent4>
          <a:srgbClr val="0D0D0D"/>
        </a:accent4>
        <a:accent5>
          <a:srgbClr val="E2ADAA"/>
        </a:accent5>
        <a:accent6>
          <a:srgbClr val="AC6D56"/>
        </a:accent6>
        <a:hlink>
          <a:srgbClr val="FFCC66"/>
        </a:hlink>
        <a:folHlink>
          <a:srgbClr val="D3A219"/>
        </a:folHlink>
      </a:clrScheme>
      <a:clrMap bg1="lt1" tx1="dk1" bg2="lt2" tx2="dk2" accent1="accent1" accent2="accent2" accent3="accent3" accent4="accent4" accent5="accent5" accent6="accent6" hlink="hlink" folHlink="folHlink"/>
    </a:extraClrScheme>
    <a:extraClrScheme>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麦田夕照">
  <a:themeElements>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fontScheme name="麦田夕照">
      <a:majorFont>
        <a:latin typeface="Tahom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麦田夕照 1">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麦田夕照 2">
        <a:dk1>
          <a:srgbClr val="000000"/>
        </a:dk1>
        <a:lt1>
          <a:srgbClr val="FFFFD9"/>
        </a:lt1>
        <a:dk2>
          <a:srgbClr val="000000"/>
        </a:dk2>
        <a:lt2>
          <a:srgbClr val="777777"/>
        </a:lt2>
        <a:accent1>
          <a:srgbClr val="FFFFF7"/>
        </a:accent1>
        <a:accent2>
          <a:srgbClr val="CC9900"/>
        </a:accent2>
        <a:accent3>
          <a:srgbClr val="FFFFE9"/>
        </a:accent3>
        <a:accent4>
          <a:srgbClr val="000000"/>
        </a:accent4>
        <a:accent5>
          <a:srgbClr val="FFFFFA"/>
        </a:accent5>
        <a:accent6>
          <a:srgbClr val="B98A00"/>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麦田夕照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麦田夕照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C5B303"/>
        </a:folHlink>
      </a:clrScheme>
      <a:clrMap bg1="lt1" tx1="dk1" bg2="lt2" tx2="dk2" accent1="accent1" accent2="accent2" accent3="accent3" accent4="accent4" accent5="accent5" accent6="accent6" hlink="hlink" folHlink="folHlink"/>
    </a:extraClrScheme>
    <a:extraClrScheme>
      <a:clrScheme name="麦田夕照 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CC9900"/>
        </a:folHlink>
      </a:clrScheme>
      <a:clrMap bg1="lt1" tx1="dk1" bg2="lt2" tx2="dk2" accent1="accent1" accent2="accent2" accent3="accent3" accent4="accent4" accent5="accent5" accent6="accent6" hlink="hlink" folHlink="folHlink"/>
    </a:extraClrScheme>
    <a:extraClrScheme>
      <a:clrScheme name="麦田夕照 6">
        <a:dk1>
          <a:srgbClr val="000000"/>
        </a:dk1>
        <a:lt1>
          <a:srgbClr val="FFFFFF"/>
        </a:lt1>
        <a:dk2>
          <a:srgbClr val="000000"/>
        </a:dk2>
        <a:lt2>
          <a:srgbClr val="808080"/>
        </a:lt2>
        <a:accent1>
          <a:srgbClr val="FFCC66"/>
        </a:accent1>
        <a:accent2>
          <a:srgbClr val="EAEAEA"/>
        </a:accent2>
        <a:accent3>
          <a:srgbClr val="FFFFFF"/>
        </a:accent3>
        <a:accent4>
          <a:srgbClr val="000000"/>
        </a:accent4>
        <a:accent5>
          <a:srgbClr val="FFE2B8"/>
        </a:accent5>
        <a:accent6>
          <a:srgbClr val="D4D4D4"/>
        </a:accent6>
        <a:hlink>
          <a:srgbClr val="CC6600"/>
        </a:hlink>
        <a:folHlink>
          <a:srgbClr val="993300"/>
        </a:folHlink>
      </a:clrScheme>
      <a:clrMap bg1="lt1" tx1="dk1" bg2="lt2" tx2="dk2" accent1="accent1" accent2="accent2" accent3="accent3" accent4="accent4" accent5="accent5" accent6="accent6" hlink="hlink" folHlink="folHlink"/>
    </a:extraClrScheme>
    <a:extraClrScheme>
      <a:clrScheme name="麦田夕照 7">
        <a:dk1>
          <a:srgbClr val="003366"/>
        </a:dk1>
        <a:lt1>
          <a:srgbClr val="361B00"/>
        </a:lt1>
        <a:dk2>
          <a:srgbClr val="000099"/>
        </a:dk2>
        <a:lt2>
          <a:srgbClr val="333333"/>
        </a:lt2>
        <a:accent1>
          <a:srgbClr val="3366CC"/>
        </a:accent1>
        <a:accent2>
          <a:srgbClr val="F09A00"/>
        </a:accent2>
        <a:accent3>
          <a:srgbClr val="AAAACA"/>
        </a:accent3>
        <a:accent4>
          <a:srgbClr val="2D1500"/>
        </a:accent4>
        <a:accent5>
          <a:srgbClr val="ADB8E2"/>
        </a:accent5>
        <a:accent6>
          <a:srgbClr val="D98B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麦田夕照 8">
        <a:dk1>
          <a:srgbClr val="777777"/>
        </a:dk1>
        <a:lt1>
          <a:srgbClr val="926C00"/>
        </a:lt1>
        <a:dk2>
          <a:srgbClr val="686B5D"/>
        </a:dk2>
        <a:lt2>
          <a:srgbClr val="4D4D4D"/>
        </a:lt2>
        <a:accent1>
          <a:srgbClr val="B2B2B2"/>
        </a:accent1>
        <a:accent2>
          <a:srgbClr val="809EA8"/>
        </a:accent2>
        <a:accent3>
          <a:srgbClr val="B9BAB6"/>
        </a:accent3>
        <a:accent4>
          <a:srgbClr val="7C5B00"/>
        </a:accent4>
        <a:accent5>
          <a:srgbClr val="D5D5D5"/>
        </a:accent5>
        <a:accent6>
          <a:srgbClr val="738F98"/>
        </a:accent6>
        <a:hlink>
          <a:srgbClr val="FFCC66"/>
        </a:hlink>
        <a:folHlink>
          <a:srgbClr val="F7F3E7"/>
        </a:folHlink>
      </a:clrScheme>
      <a:clrMap bg1="dk2" tx1="lt1" bg2="dk1" tx2="lt2" accent1="accent1" accent2="accent2" accent3="accent3" accent4="accent4" accent5="accent5" accent6="accent6" hlink="hlink" folHlink="folHlink"/>
    </a:extraClrScheme>
    <a:extraClrScheme>
      <a:clrScheme name="麦田夕照 9">
        <a:dk1>
          <a:srgbClr val="005A58"/>
        </a:dk1>
        <a:lt1>
          <a:srgbClr val="CC9900"/>
        </a:lt1>
        <a:dk2>
          <a:srgbClr val="008080"/>
        </a:dk2>
        <a:lt2>
          <a:srgbClr val="006666"/>
        </a:lt2>
        <a:accent1>
          <a:srgbClr val="006462"/>
        </a:accent1>
        <a:accent2>
          <a:srgbClr val="6D6FC7"/>
        </a:accent2>
        <a:accent3>
          <a:srgbClr val="AAC0C0"/>
        </a:accent3>
        <a:accent4>
          <a:srgbClr val="AE8200"/>
        </a:accent4>
        <a:accent5>
          <a:srgbClr val="AAB8B7"/>
        </a:accent5>
        <a:accent6>
          <a:srgbClr val="6264B4"/>
        </a:accent6>
        <a:hlink>
          <a:srgbClr val="FFC41F"/>
        </a:hlink>
        <a:folHlink>
          <a:srgbClr val="FFFFCC"/>
        </a:folHlink>
      </a:clrScheme>
      <a:clrMap bg1="dk2" tx1="lt1" bg2="dk1" tx2="lt2" accent1="accent1" accent2="accent2" accent3="accent3" accent4="accent4" accent5="accent5" accent6="accent6" hlink="hlink" folHlink="folHlink"/>
    </a:extraClrScheme>
    <a:extraClrScheme>
      <a:clrScheme name="麦田夕照 10">
        <a:dk1>
          <a:srgbClr val="111111"/>
        </a:dk1>
        <a:lt1>
          <a:srgbClr val="800000"/>
        </a:lt1>
        <a:dk2>
          <a:srgbClr val="663300"/>
        </a:dk2>
        <a:lt2>
          <a:srgbClr val="5C1F00"/>
        </a:lt2>
        <a:accent1>
          <a:srgbClr val="CC3300"/>
        </a:accent1>
        <a:accent2>
          <a:srgbClr val="BE7960"/>
        </a:accent2>
        <a:accent3>
          <a:srgbClr val="C0AAAA"/>
        </a:accent3>
        <a:accent4>
          <a:srgbClr val="0D0D0D"/>
        </a:accent4>
        <a:accent5>
          <a:srgbClr val="E2ADAA"/>
        </a:accent5>
        <a:accent6>
          <a:srgbClr val="AC6D56"/>
        </a:accent6>
        <a:hlink>
          <a:srgbClr val="FFCC66"/>
        </a:hlink>
        <a:folHlink>
          <a:srgbClr val="D3A219"/>
        </a:folHlink>
      </a:clrScheme>
      <a:clrMap bg1="lt1" tx1="dk1" bg2="lt2" tx2="dk2" accent1="accent1" accent2="accent2" accent3="accent3" accent4="accent4" accent5="accent5" accent6="accent6" hlink="hlink" folHlink="folHlink"/>
    </a:extraClrScheme>
    <a:extraClrScheme>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CDESIGNF</Template>
  <TotalTime>0</TotalTime>
  <Words>18883</Words>
  <Application>WPS 演示</Application>
  <PresentationFormat>全屏显示(4:3)</PresentationFormat>
  <Paragraphs>1581</Paragraphs>
  <Slides>140</Slides>
  <Notes>125</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31</vt:i4>
      </vt:variant>
      <vt:variant>
        <vt:lpstr>幻灯片标题</vt:lpstr>
      </vt:variant>
      <vt:variant>
        <vt:i4>140</vt:i4>
      </vt:variant>
    </vt:vector>
  </HeadingPairs>
  <TitlesOfParts>
    <vt:vector size="190" baseType="lpstr">
      <vt:lpstr>Arial</vt:lpstr>
      <vt:lpstr>宋体</vt:lpstr>
      <vt:lpstr>Wingdings</vt:lpstr>
      <vt:lpstr>Tahoma</vt:lpstr>
      <vt:lpstr>Century</vt:lpstr>
      <vt:lpstr>华文行楷</vt:lpstr>
      <vt:lpstr>楷体_GB2312</vt:lpstr>
      <vt:lpstr>新宋体</vt:lpstr>
      <vt:lpstr>Times New Roman</vt:lpstr>
      <vt:lpstr>黑体</vt:lpstr>
      <vt:lpstr>GreekS</vt:lpstr>
      <vt:lpstr>Segoe Print</vt:lpstr>
      <vt:lpstr>Symbol</vt:lpstr>
      <vt:lpstr>微软雅黑</vt:lpstr>
      <vt:lpstr>Arial Unicode MS</vt:lpstr>
      <vt:lpstr>楷体_GB2312</vt:lpstr>
      <vt:lpstr>Times New Roman</vt:lpstr>
      <vt:lpstr>麦田夕照</vt:lpstr>
      <vt:lpstr>1_麦田夕照</vt:lpstr>
      <vt:lpstr>Paint.Picture</vt:lpstr>
      <vt:lpstr>Equation.3</vt:lpstr>
      <vt:lpstr>Equation.3</vt:lpstr>
      <vt:lpstr>Equation.3</vt:lpstr>
      <vt:lpstr>Paint.Picture</vt:lpstr>
      <vt:lpstr>Paint.Picture</vt:lpstr>
      <vt:lpstr>Paint.Picture</vt:lpstr>
      <vt:lpstr>Equation.3</vt:lpstr>
      <vt:lpstr>Equation.3</vt:lpstr>
      <vt:lpstr>Equation.3</vt:lpstr>
      <vt:lpstr>Paint.Picture</vt:lpstr>
      <vt:lpstr>Paint.Picture</vt:lpstr>
      <vt:lpstr>Paint.Picture</vt:lpstr>
      <vt:lpstr>Equation.3</vt:lpstr>
      <vt:lpstr>Equation.3</vt:lpstr>
      <vt:lpstr>Equation.3</vt:lpstr>
      <vt:lpstr>Paint.Picture</vt:lpstr>
      <vt:lpstr>Paint.Picture</vt:lpstr>
      <vt:lpstr>Paint.Picture</vt:lpstr>
      <vt:lpstr>Equation.3</vt:lpstr>
      <vt:lpstr>Equation.3</vt:lpstr>
      <vt:lpstr>Equation.3</vt:lpstr>
      <vt:lpstr>Equation.DSMT4</vt:lpstr>
      <vt:lpstr>Equation.3</vt:lpstr>
      <vt:lpstr>MSPhotoEd.3</vt:lpstr>
      <vt:lpstr>Equation.DSMT4</vt:lpstr>
      <vt:lpstr>Equation.DSMT4</vt:lpstr>
      <vt:lpstr>Equation.3</vt:lpstr>
      <vt:lpstr>Equation.3</vt:lpstr>
      <vt:lpstr>Equation.3</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cws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机械制造基础</dc:title>
  <dc:creator>cdd</dc:creator>
  <cp:lastModifiedBy>rainbow</cp:lastModifiedBy>
  <cp:revision>1028</cp:revision>
  <dcterms:created xsi:type="dcterms:W3CDTF">2003-11-04T05:35:54Z</dcterms:created>
  <dcterms:modified xsi:type="dcterms:W3CDTF">2021-12-09T00:58:19Z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4DC7900758344CCD8B013864E6718534</vt:lpwstr>
  </property>
  <property fmtid="{D5CDD505-2E9C-101B-9397-08002B2CF9AE}" pid="3" name="KSOProductBuildVer">
    <vt:lpwstr>2052-11.1.0.11115</vt:lpwstr>
  </property>
</Properties>
</file>