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activeX/activeX2.bin" ContentType="application/vnd.ms-office.activeX"/>
  <Override PartName="/ppt/activeX/activeX2.xml" ContentType="application/vnd.ms-office.activeX+xml"/>
  <Override PartName="/ppt/activeX/activeX3.bin" ContentType="application/vnd.ms-office.activeX"/>
  <Override PartName="/ppt/activeX/activeX3.xml" ContentType="application/vnd.ms-office.activeX+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Lst>
  <p:notesMasterIdLst>
    <p:notesMasterId r:id="rId196"/>
  </p:notesMasterIdLst>
  <p:sldIdLst>
    <p:sldId id="256" r:id="rId5"/>
    <p:sldId id="1066" r:id="rId6"/>
    <p:sldId id="1079" r:id="rId7"/>
    <p:sldId id="259" r:id="rId8"/>
    <p:sldId id="1129" r:id="rId9"/>
    <p:sldId id="1130" r:id="rId10"/>
    <p:sldId id="1067" r:id="rId11"/>
    <p:sldId id="839" r:id="rId12"/>
    <p:sldId id="560" r:id="rId13"/>
    <p:sldId id="378" r:id="rId14"/>
    <p:sldId id="1064" r:id="rId15"/>
    <p:sldId id="690" r:id="rId16"/>
    <p:sldId id="1068" r:id="rId17"/>
    <p:sldId id="1128" r:id="rId18"/>
    <p:sldId id="638" r:id="rId19"/>
    <p:sldId id="693" r:id="rId20"/>
    <p:sldId id="834" r:id="rId21"/>
    <p:sldId id="1084" r:id="rId22"/>
    <p:sldId id="1094" r:id="rId23"/>
    <p:sldId id="758" r:id="rId24"/>
    <p:sldId id="1071" r:id="rId25"/>
    <p:sldId id="1099" r:id="rId26"/>
    <p:sldId id="1069" r:id="rId27"/>
    <p:sldId id="1074" r:id="rId28"/>
    <p:sldId id="1076" r:id="rId29"/>
    <p:sldId id="835" r:id="rId30"/>
    <p:sldId id="326" r:id="rId31"/>
    <p:sldId id="634" r:id="rId32"/>
    <p:sldId id="628" r:id="rId33"/>
    <p:sldId id="1096" r:id="rId34"/>
    <p:sldId id="1097" r:id="rId35"/>
    <p:sldId id="327" r:id="rId36"/>
    <p:sldId id="328" r:id="rId37"/>
    <p:sldId id="1081" r:id="rId38"/>
    <p:sldId id="635" r:id="rId39"/>
    <p:sldId id="329" r:id="rId40"/>
    <p:sldId id="744" r:id="rId41"/>
    <p:sldId id="1102" r:id="rId42"/>
    <p:sldId id="330" r:id="rId43"/>
    <p:sldId id="629" r:id="rId44"/>
    <p:sldId id="331" r:id="rId45"/>
    <p:sldId id="332" r:id="rId46"/>
    <p:sldId id="774" r:id="rId47"/>
    <p:sldId id="773" r:id="rId48"/>
    <p:sldId id="772" r:id="rId49"/>
    <p:sldId id="766" r:id="rId50"/>
    <p:sldId id="767" r:id="rId51"/>
    <p:sldId id="768" r:id="rId52"/>
    <p:sldId id="631" r:id="rId53"/>
    <p:sldId id="1103" r:id="rId54"/>
    <p:sldId id="1107" r:id="rId55"/>
    <p:sldId id="1335" r:id="rId56"/>
    <p:sldId id="1331" r:id="rId57"/>
    <p:sldId id="1332" r:id="rId58"/>
    <p:sldId id="1333" r:id="rId59"/>
    <p:sldId id="1108" r:id="rId60"/>
    <p:sldId id="1491" r:id="rId61"/>
    <p:sldId id="778" r:id="rId62"/>
    <p:sldId id="775" r:id="rId63"/>
    <p:sldId id="776" r:id="rId64"/>
    <p:sldId id="779" r:id="rId65"/>
    <p:sldId id="335" r:id="rId66"/>
    <p:sldId id="738" r:id="rId67"/>
    <p:sldId id="739" r:id="rId68"/>
    <p:sldId id="1109" r:id="rId69"/>
    <p:sldId id="737" r:id="rId70"/>
    <p:sldId id="336" r:id="rId71"/>
    <p:sldId id="836" r:id="rId72"/>
    <p:sldId id="740" r:id="rId73"/>
    <p:sldId id="837" r:id="rId74"/>
    <p:sldId id="698" r:id="rId75"/>
    <p:sldId id="838" r:id="rId76"/>
    <p:sldId id="694" r:id="rId77"/>
    <p:sldId id="804" r:id="rId78"/>
    <p:sldId id="1122" r:id="rId79"/>
    <p:sldId id="339" r:id="rId80"/>
    <p:sldId id="788" r:id="rId81"/>
    <p:sldId id="782" r:id="rId82"/>
    <p:sldId id="783" r:id="rId83"/>
    <p:sldId id="784" r:id="rId84"/>
    <p:sldId id="1125" r:id="rId85"/>
    <p:sldId id="785" r:id="rId86"/>
    <p:sldId id="786" r:id="rId87"/>
    <p:sldId id="787" r:id="rId88"/>
    <p:sldId id="340" r:id="rId89"/>
    <p:sldId id="1126" r:id="rId90"/>
    <p:sldId id="1115" r:id="rId91"/>
    <p:sldId id="633" r:id="rId92"/>
    <p:sldId id="652" r:id="rId93"/>
    <p:sldId id="1110" r:id="rId94"/>
    <p:sldId id="794" r:id="rId95"/>
    <p:sldId id="797" r:id="rId96"/>
    <p:sldId id="798" r:id="rId97"/>
    <p:sldId id="805" r:id="rId98"/>
    <p:sldId id="806" r:id="rId99"/>
    <p:sldId id="807" r:id="rId100"/>
    <p:sldId id="800" r:id="rId101"/>
    <p:sldId id="802" r:id="rId102"/>
    <p:sldId id="655" r:id="rId103"/>
    <p:sldId id="701" r:id="rId104"/>
    <p:sldId id="725" r:id="rId105"/>
    <p:sldId id="803" r:id="rId106"/>
    <p:sldId id="726" r:id="rId107"/>
    <p:sldId id="809" r:id="rId108"/>
    <p:sldId id="808" r:id="rId109"/>
    <p:sldId id="642" r:id="rId110"/>
    <p:sldId id="1111" r:id="rId111"/>
    <p:sldId id="703" r:id="rId112"/>
    <p:sldId id="344" r:id="rId113"/>
    <p:sldId id="345" r:id="rId114"/>
    <p:sldId id="349" r:id="rId115"/>
    <p:sldId id="707" r:id="rId116"/>
    <p:sldId id="346" r:id="rId117"/>
    <p:sldId id="735" r:id="rId118"/>
    <p:sldId id="736" r:id="rId119"/>
    <p:sldId id="734" r:id="rId120"/>
    <p:sldId id="706" r:id="rId121"/>
    <p:sldId id="1112" r:id="rId122"/>
    <p:sldId id="1113" r:id="rId123"/>
    <p:sldId id="708" r:id="rId124"/>
    <p:sldId id="1639" r:id="rId125"/>
    <p:sldId id="986" r:id="rId126"/>
    <p:sldId id="987" r:id="rId127"/>
    <p:sldId id="1709" r:id="rId128"/>
    <p:sldId id="989" r:id="rId129"/>
    <p:sldId id="1710" r:id="rId130"/>
    <p:sldId id="991" r:id="rId131"/>
    <p:sldId id="992" r:id="rId132"/>
    <p:sldId id="993" r:id="rId133"/>
    <p:sldId id="994" r:id="rId134"/>
    <p:sldId id="995" r:id="rId135"/>
    <p:sldId id="1711" r:id="rId136"/>
    <p:sldId id="997" r:id="rId137"/>
    <p:sldId id="998" r:id="rId138"/>
    <p:sldId id="999" r:id="rId139"/>
    <p:sldId id="1000" r:id="rId140"/>
    <p:sldId id="1001" r:id="rId141"/>
    <p:sldId id="1002" r:id="rId142"/>
    <p:sldId id="1003" r:id="rId143"/>
    <p:sldId id="1004" r:id="rId144"/>
    <p:sldId id="1005" r:id="rId145"/>
    <p:sldId id="1006" r:id="rId146"/>
    <p:sldId id="1712" r:id="rId147"/>
    <p:sldId id="1007" r:id="rId148"/>
    <p:sldId id="1008" r:id="rId149"/>
    <p:sldId id="1009" r:id="rId150"/>
    <p:sldId id="1010" r:id="rId151"/>
    <p:sldId id="1114" r:id="rId152"/>
    <p:sldId id="1011" r:id="rId153"/>
    <p:sldId id="1012" r:id="rId154"/>
    <p:sldId id="1713" r:id="rId155"/>
    <p:sldId id="1014" r:id="rId156"/>
    <p:sldId id="1015" r:id="rId157"/>
    <p:sldId id="1016" r:id="rId158"/>
    <p:sldId id="1017" r:id="rId159"/>
    <p:sldId id="1018" r:id="rId160"/>
    <p:sldId id="1019" r:id="rId161"/>
    <p:sldId id="667" r:id="rId162"/>
    <p:sldId id="350" r:id="rId163"/>
    <p:sldId id="351" r:id="rId164"/>
    <p:sldId id="820" r:id="rId165"/>
    <p:sldId id="645" r:id="rId166"/>
    <p:sldId id="352" r:id="rId167"/>
    <p:sldId id="821" r:id="rId168"/>
    <p:sldId id="1124" r:id="rId169"/>
    <p:sldId id="646" r:id="rId170"/>
    <p:sldId id="822" r:id="rId171"/>
    <p:sldId id="354" r:id="rId172"/>
    <p:sldId id="278" r:id="rId173"/>
    <p:sldId id="823" r:id="rId174"/>
    <p:sldId id="647" r:id="rId175"/>
    <p:sldId id="824" r:id="rId176"/>
    <p:sldId id="649" r:id="rId177"/>
    <p:sldId id="1045" r:id="rId178"/>
    <p:sldId id="1046" r:id="rId179"/>
    <p:sldId id="1047" r:id="rId180"/>
    <p:sldId id="1048" r:id="rId181"/>
    <p:sldId id="1049" r:id="rId182"/>
    <p:sldId id="1050" r:id="rId183"/>
    <p:sldId id="1051" r:id="rId184"/>
    <p:sldId id="1052" r:id="rId185"/>
    <p:sldId id="1053" r:id="rId186"/>
    <p:sldId id="1054" r:id="rId187"/>
    <p:sldId id="1055" r:id="rId188"/>
    <p:sldId id="1056" r:id="rId189"/>
    <p:sldId id="1057" r:id="rId190"/>
    <p:sldId id="1058" r:id="rId191"/>
    <p:sldId id="1059" r:id="rId192"/>
    <p:sldId id="1060" r:id="rId193"/>
    <p:sldId id="1061" r:id="rId194"/>
    <p:sldId id="1062" r:id="rId195"/>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FF0000"/>
    <a:srgbClr val="0000FF"/>
    <a:srgbClr val="A50021"/>
    <a:srgbClr val="F19BFD"/>
    <a:srgbClr val="990033"/>
    <a:srgbClr val="00CC99"/>
    <a:srgbClr val="00CC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3" d="100"/>
          <a:sy n="63" d="100"/>
        </p:scale>
        <p:origin x="1380" y="48"/>
      </p:cViewPr>
      <p:guideLst>
        <p:guide orient="horz" pos="2205"/>
        <p:guide pos="294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Master" Target="slideMasters/slideMaster3.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9" Type="http://schemas.openxmlformats.org/officeDocument/2006/relationships/tableStyles" Target="tableStyles.xml"/><Relationship Id="rId198" Type="http://schemas.openxmlformats.org/officeDocument/2006/relationships/viewProps" Target="viewProps.xml"/><Relationship Id="rId197" Type="http://schemas.openxmlformats.org/officeDocument/2006/relationships/presProps" Target="presProps.xml"/><Relationship Id="rId196" Type="http://schemas.openxmlformats.org/officeDocument/2006/relationships/notesMaster" Target="notesMasters/notesMaster1.xml"/><Relationship Id="rId195" Type="http://schemas.openxmlformats.org/officeDocument/2006/relationships/slide" Target="slides/slide191.xml"/><Relationship Id="rId194" Type="http://schemas.openxmlformats.org/officeDocument/2006/relationships/slide" Target="slides/slide190.xml"/><Relationship Id="rId193" Type="http://schemas.openxmlformats.org/officeDocument/2006/relationships/slide" Target="slides/slide189.xml"/><Relationship Id="rId192" Type="http://schemas.openxmlformats.org/officeDocument/2006/relationships/slide" Target="slides/slide188.xml"/><Relationship Id="rId191" Type="http://schemas.openxmlformats.org/officeDocument/2006/relationships/slide" Target="slides/slide187.xml"/><Relationship Id="rId190" Type="http://schemas.openxmlformats.org/officeDocument/2006/relationships/slide" Target="slides/slide186.xml"/><Relationship Id="rId19" Type="http://schemas.openxmlformats.org/officeDocument/2006/relationships/slide" Target="slides/slide15.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4.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5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7.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4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0213" cy="457200"/>
          </a:xfrm>
          <a:prstGeom prst="rect">
            <a:avLst/>
          </a:prstGeom>
          <a:noFill/>
          <a:ln>
            <a:noFill/>
          </a:ln>
          <a:effectLst/>
        </p:spPr>
        <p:txBody>
          <a:bodyPr vert="horz" wrap="square" lIns="91440" tIns="45720" rIns="91440" bIns="45720" numCol="1" anchor="t" anchorCtr="0" compatLnSpc="1"/>
          <a:lstStyle>
            <a:lvl1pPr eaLnBrk="1" hangingPunct="1">
              <a:buFont typeface="Arial" panose="020B0604020202020204" pitchFamily="34" charset="0"/>
              <a:buNone/>
              <a:defRPr sz="1200">
                <a:latin typeface="GreekS" pitchFamily="2"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GreekS" pitchFamily="2"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GreekS" pitchFamily="2"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GreekS" pitchFamily="2" charset="0"/>
              <a:ea typeface="宋体" panose="02010600030101010101" pitchFamily="2" charset="-122"/>
              <a:cs typeface="+mn-cs"/>
            </a:endParaRPr>
          </a:p>
        </p:txBody>
      </p:sp>
      <p:sp>
        <p:nvSpPr>
          <p:cNvPr id="3076" name="Rectangle 4"/>
          <p:cNvSpPr>
            <a:spLocks noGrp="1"/>
          </p:cNvSpPr>
          <p:nvPr>
            <p:ph type="sldImg" idx="2"/>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6800"/>
            <a:ext cx="2970213"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atin typeface="GreekS" pitchFamily="2"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GreekS" pitchFamily="2"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
            <a:pPr lvl="0" algn="r" eaLnBrk="1" hangingPunct="1">
              <a:buNone/>
            </a:pPr>
            <a:fld id="{9A0DB2DC-4C9A-4742-B13C-FB6460FD3503}" type="slidenum">
              <a:rPr lang="en-US" altLang="zh-CN" sz="1200" dirty="0">
                <a:latin typeface="GreekS" pitchFamily="2" charset="0"/>
              </a:rPr>
            </a:fld>
            <a:endParaRPr lang="en-US" altLang="zh-CN" sz="1200" dirty="0">
              <a:latin typeface="GreekS" pitchFamily="2"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370013" y="1827213"/>
            <a:ext cx="3579812"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02225" y="1827213"/>
            <a:ext cx="35814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6413" y="301625"/>
            <a:ext cx="1827212" cy="56403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370013" y="301625"/>
            <a:ext cx="5334000" cy="56403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370013" y="1827213"/>
            <a:ext cx="7313612"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1370013" y="3960813"/>
            <a:ext cx="7313612"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370013" y="1827213"/>
            <a:ext cx="3579812"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02225" y="1827213"/>
            <a:ext cx="35814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6413" y="301625"/>
            <a:ext cx="1827212" cy="56403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370013" y="301625"/>
            <a:ext cx="5334000" cy="56403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1370013" y="1827213"/>
            <a:ext cx="3579812"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102225" y="1827213"/>
            <a:ext cx="35814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7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6413" y="301625"/>
            <a:ext cx="1827212" cy="56403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1370013" y="301625"/>
            <a:ext cx="5334000" cy="56403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370013" y="1827213"/>
            <a:ext cx="7313612"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1370013" y="3960813"/>
            <a:ext cx="7313612"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3" Type="http://schemas.openxmlformats.org/officeDocument/2006/relationships/theme" Target="../theme/theme3.xml"/><Relationship Id="rId12" Type="http://schemas.openxmlformats.org/officeDocument/2006/relationships/slideLayout" Target="../slideLayouts/slideLayout3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2"/>
          <p:cNvGrpSpPr/>
          <p:nvPr/>
        </p:nvGrpSpPr>
        <p:grpSpPr>
          <a:xfrm>
            <a:off x="-3235325" y="0"/>
            <a:ext cx="11922125" cy="3810000"/>
            <a:chOff x="0" y="0"/>
            <a:chExt cx="7512" cy="2400"/>
          </a:xfrm>
        </p:grpSpPr>
        <p:sp>
          <p:nvSpPr>
            <p:cNvPr id="1032" name="AutoShape 3"/>
            <p:cNvSpPr/>
            <p:nvPr/>
          </p:nvSpPr>
          <p:spPr>
            <a:xfrm>
              <a:off x="0" y="432"/>
              <a:ext cx="2592" cy="1968"/>
            </a:xfrm>
            <a:custGeom>
              <a:avLst/>
              <a:gdLst>
                <a:gd name="txL" fmla="*/ 50296 w 64000"/>
                <a:gd name="txT" fmla="*/ -26244 h 64000"/>
                <a:gd name="txR" fmla="*/ 50296 w 64000"/>
                <a:gd name="txB" fmla="*/ 26244 h 640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alpha val="100000"/>
              </a:schemeClr>
            </a:solidFill>
            <a:ln w="9525">
              <a:noFill/>
            </a:ln>
          </p:spPr>
          <p:txBody>
            <a:bodyPr/>
            <a:p>
              <a:endParaRPr lang="zh-CN" altLang="en-US"/>
            </a:p>
          </p:txBody>
        </p:sp>
        <p:sp>
          <p:nvSpPr>
            <p:cNvPr id="1033" name="AutoShape 4"/>
            <p:cNvSpPr/>
            <p:nvPr/>
          </p:nvSpPr>
          <p:spPr>
            <a:xfrm>
              <a:off x="512" y="0"/>
              <a:ext cx="1949" cy="1987"/>
            </a:xfrm>
            <a:custGeom>
              <a:avLst/>
              <a:gdLst>
                <a:gd name="txL" fmla="*/ 50077 w 64000"/>
                <a:gd name="txT" fmla="*/ -26412 h 64000"/>
                <a:gd name="txR" fmla="*/ 50077 w 64000"/>
                <a:gd name="txB" fmla="*/ 26412 h 640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alpha val="100000"/>
              </a:schemeClr>
            </a:solidFill>
            <a:ln w="9525">
              <a:noFill/>
            </a:ln>
          </p:spPr>
          <p:txBody>
            <a:bodyPr/>
            <a:p>
              <a:endParaRPr lang="zh-CN" altLang="en-US"/>
            </a:p>
          </p:txBody>
        </p:sp>
        <p:sp>
          <p:nvSpPr>
            <p:cNvPr id="1034" name="Line 5"/>
            <p:cNvSpPr/>
            <p:nvPr/>
          </p:nvSpPr>
          <p:spPr>
            <a:xfrm>
              <a:off x="2904" y="960"/>
              <a:ext cx="4608" cy="0"/>
            </a:xfrm>
            <a:prstGeom prst="line">
              <a:avLst/>
            </a:prstGeom>
            <a:ln w="12700" cap="flat" cmpd="sng">
              <a:solidFill>
                <a:schemeClr val="tx1"/>
              </a:solidFill>
              <a:prstDash val="solid"/>
              <a:headEnd type="none" w="med" len="med"/>
              <a:tailEnd type="none" w="med" len="med"/>
            </a:ln>
          </p:spPr>
        </p:sp>
      </p:grpSp>
      <p:sp>
        <p:nvSpPr>
          <p:cNvPr id="1027" name="Rectangle 6"/>
          <p:cNvSpPr>
            <a:spLocks noGrp="1"/>
          </p:cNvSpPr>
          <p:nvPr>
            <p:ph type="title"/>
          </p:nvPr>
        </p:nvSpPr>
        <p:spPr>
          <a:xfrm>
            <a:off x="1370013" y="301625"/>
            <a:ext cx="7313612" cy="1143000"/>
          </a:xfrm>
          <a:prstGeom prst="rect">
            <a:avLst/>
          </a:prstGeom>
          <a:noFill/>
          <a:ln w="9525">
            <a:noFill/>
          </a:ln>
        </p:spPr>
        <p:txBody>
          <a:bodyPr anchor="b" anchorCtr="0"/>
          <a:p>
            <a:pPr lvl="0"/>
            <a:r>
              <a:rPr lang="zh-CN" altLang="zh-CN" dirty="0"/>
              <a:t>单击此处编辑母版标题样式</a:t>
            </a:r>
            <a:endParaRPr lang="zh-CN" altLang="zh-CN" dirty="0"/>
          </a:p>
        </p:txBody>
      </p:sp>
      <p:sp>
        <p:nvSpPr>
          <p:cNvPr id="1028" name="Rectangle 7"/>
          <p:cNvSpPr>
            <a:spLocks noGrp="1"/>
          </p:cNvSpPr>
          <p:nvPr>
            <p:ph type="body" idx="1"/>
          </p:nvPr>
        </p:nvSpPr>
        <p:spPr>
          <a:xfrm>
            <a:off x="1370013" y="1827213"/>
            <a:ext cx="7313612" cy="4114800"/>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2" name="Rectangle 8"/>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Rectangle 9"/>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lstStyle>
            <a:lvl1pPr algn="ctr" eaLnBrk="1" hangingPunct="1">
              <a:buFont typeface="Arial" panose="020B0604020202020204" pitchFamily="34" charset="0"/>
              <a:buNone/>
              <a:defRPr sz="1200"/>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Rectangle 10"/>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lstStyle>
            <a:lvl1pPr algn="r">
              <a:defRPr sz="1200"/>
            </a:lvl1pPr>
          </a:lstStyle>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2050" name="Group 2"/>
          <p:cNvGrpSpPr/>
          <p:nvPr/>
        </p:nvGrpSpPr>
        <p:grpSpPr>
          <a:xfrm>
            <a:off x="-3219450" y="304800"/>
            <a:ext cx="11906250" cy="4724400"/>
            <a:chOff x="0" y="0"/>
            <a:chExt cx="7502" cy="2976"/>
          </a:xfrm>
        </p:grpSpPr>
        <p:sp>
          <p:nvSpPr>
            <p:cNvPr id="2056" name="Line 3"/>
            <p:cNvSpPr/>
            <p:nvPr/>
          </p:nvSpPr>
          <p:spPr>
            <a:xfrm>
              <a:off x="2942" y="1392"/>
              <a:ext cx="4560" cy="0"/>
            </a:xfrm>
            <a:prstGeom prst="line">
              <a:avLst/>
            </a:prstGeom>
            <a:ln w="12700" cap="flat" cmpd="sng">
              <a:solidFill>
                <a:schemeClr val="tx1"/>
              </a:solidFill>
              <a:prstDash val="solid"/>
              <a:headEnd type="none" w="med" len="med"/>
              <a:tailEnd type="none" w="med" len="med"/>
            </a:ln>
          </p:spPr>
        </p:sp>
        <p:sp>
          <p:nvSpPr>
            <p:cNvPr id="2057" name="AutoShape 4"/>
            <p:cNvSpPr/>
            <p:nvPr/>
          </p:nvSpPr>
          <p:spPr>
            <a:xfrm>
              <a:off x="446" y="672"/>
              <a:ext cx="2304" cy="2304"/>
            </a:xfrm>
            <a:custGeom>
              <a:avLst/>
              <a:gdLst>
                <a:gd name="txL" fmla="*/ 44083 w 64000"/>
                <a:gd name="txT" fmla="*/ -29639 h 64000"/>
                <a:gd name="txR" fmla="*/ 44083 w 64000"/>
                <a:gd name="txB" fmla="*/ 29639 h 640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alpha val="100000"/>
              </a:schemeClr>
            </a:solidFill>
            <a:ln w="9525">
              <a:noFill/>
            </a:ln>
          </p:spPr>
          <p:txBody>
            <a:bodyPr/>
            <a:p>
              <a:endParaRPr lang="zh-CN" altLang="en-US"/>
            </a:p>
          </p:txBody>
        </p:sp>
        <p:sp>
          <p:nvSpPr>
            <p:cNvPr id="2058" name="AutoShape 5"/>
            <p:cNvSpPr/>
            <p:nvPr/>
          </p:nvSpPr>
          <p:spPr>
            <a:xfrm>
              <a:off x="0" y="0"/>
              <a:ext cx="2544" cy="2544"/>
            </a:xfrm>
            <a:custGeom>
              <a:avLst/>
              <a:gdLst>
                <a:gd name="txL" fmla="*/ 50994 w 64000"/>
                <a:gd name="txT" fmla="*/ -25761 h 64000"/>
                <a:gd name="txR" fmla="*/ 50994 w 64000"/>
                <a:gd name="txB" fmla="*/ 25761 h 640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alpha val="100000"/>
              </a:schemeClr>
            </a:solidFill>
            <a:ln w="9525">
              <a:noFill/>
            </a:ln>
          </p:spPr>
          <p:txBody>
            <a:bodyPr/>
            <a:p>
              <a:endParaRPr lang="zh-CN" altLang="en-US"/>
            </a:p>
          </p:txBody>
        </p:sp>
      </p:grpSp>
      <p:sp>
        <p:nvSpPr>
          <p:cNvPr id="2051" name="Rectangle 6"/>
          <p:cNvSpPr>
            <a:spLocks noGrp="1"/>
          </p:cNvSpPr>
          <p:nvPr>
            <p:ph type="title"/>
          </p:nvPr>
        </p:nvSpPr>
        <p:spPr>
          <a:xfrm>
            <a:off x="1370013" y="301625"/>
            <a:ext cx="7313612" cy="1143000"/>
          </a:xfrm>
          <a:prstGeom prst="rect">
            <a:avLst/>
          </a:prstGeom>
          <a:noFill/>
          <a:ln w="9525">
            <a:noFill/>
          </a:ln>
        </p:spPr>
        <p:txBody>
          <a:bodyPr anchor="b" anchorCtr="0"/>
          <a:p>
            <a:pPr lvl="0"/>
            <a:r>
              <a:rPr lang="zh-CN" altLang="zh-CN" dirty="0"/>
              <a:t>单击此处编辑母版标题样式</a:t>
            </a:r>
            <a:endParaRPr lang="zh-CN" altLang="zh-CN" dirty="0"/>
          </a:p>
        </p:txBody>
      </p:sp>
      <p:sp>
        <p:nvSpPr>
          <p:cNvPr id="2052" name="Rectangle 7"/>
          <p:cNvSpPr>
            <a:spLocks noGrp="1"/>
          </p:cNvSpPr>
          <p:nvPr>
            <p:ph type="body" idx="1"/>
          </p:nvPr>
        </p:nvSpPr>
        <p:spPr>
          <a:xfrm>
            <a:off x="1370013" y="1827213"/>
            <a:ext cx="7313612" cy="4114800"/>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2" name="Rectangle 8"/>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Rectangle 9"/>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lstStyle>
            <a:lvl1pPr algn="ctr" eaLnBrk="1" hangingPunct="1">
              <a:buFont typeface="Arial" panose="020B0604020202020204" pitchFamily="34" charset="0"/>
              <a:buNone/>
              <a:defRPr sz="1200"/>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Rectangle 10"/>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lstStyle>
            <a:lvl1pPr algn="r">
              <a:defRPr sz="1200"/>
            </a:lvl1pPr>
          </a:lstStyle>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1026" name="Group 2"/>
          <p:cNvGrpSpPr/>
          <p:nvPr/>
        </p:nvGrpSpPr>
        <p:grpSpPr>
          <a:xfrm>
            <a:off x="-3235325" y="0"/>
            <a:ext cx="11922125" cy="3810000"/>
            <a:chOff x="0" y="0"/>
            <a:chExt cx="7512" cy="2400"/>
          </a:xfrm>
        </p:grpSpPr>
        <p:sp>
          <p:nvSpPr>
            <p:cNvPr id="1032" name="AutoShape 3"/>
            <p:cNvSpPr/>
            <p:nvPr/>
          </p:nvSpPr>
          <p:spPr>
            <a:xfrm>
              <a:off x="0" y="432"/>
              <a:ext cx="2592" cy="1968"/>
            </a:xfrm>
            <a:custGeom>
              <a:avLst/>
              <a:gdLst>
                <a:gd name="txL" fmla="*/ 50296 w 64000"/>
                <a:gd name="txT" fmla="*/ -26244 h 64000"/>
                <a:gd name="txR" fmla="*/ 50296 w 64000"/>
                <a:gd name="txB" fmla="*/ 26244 h 640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alpha val="100000"/>
              </a:schemeClr>
            </a:solidFill>
            <a:ln w="9525">
              <a:noFill/>
            </a:ln>
          </p:spPr>
          <p:txBody>
            <a:bodyPr/>
            <a:p>
              <a:endParaRPr lang="zh-CN" altLang="en-US"/>
            </a:p>
          </p:txBody>
        </p:sp>
        <p:sp>
          <p:nvSpPr>
            <p:cNvPr id="1033" name="AutoShape 4"/>
            <p:cNvSpPr/>
            <p:nvPr/>
          </p:nvSpPr>
          <p:spPr>
            <a:xfrm>
              <a:off x="512" y="0"/>
              <a:ext cx="1949" cy="1987"/>
            </a:xfrm>
            <a:custGeom>
              <a:avLst/>
              <a:gdLst>
                <a:gd name="txL" fmla="*/ 50077 w 64000"/>
                <a:gd name="txT" fmla="*/ -26412 h 64000"/>
                <a:gd name="txR" fmla="*/ 50077 w 64000"/>
                <a:gd name="txB" fmla="*/ 26412 h 640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alpha val="100000"/>
              </a:schemeClr>
            </a:solidFill>
            <a:ln w="9525">
              <a:noFill/>
            </a:ln>
          </p:spPr>
          <p:txBody>
            <a:bodyPr/>
            <a:p>
              <a:endParaRPr lang="zh-CN" altLang="en-US"/>
            </a:p>
          </p:txBody>
        </p:sp>
        <p:sp>
          <p:nvSpPr>
            <p:cNvPr id="1034" name="Line 5"/>
            <p:cNvSpPr/>
            <p:nvPr/>
          </p:nvSpPr>
          <p:spPr>
            <a:xfrm>
              <a:off x="2904" y="960"/>
              <a:ext cx="4608" cy="0"/>
            </a:xfrm>
            <a:prstGeom prst="line">
              <a:avLst/>
            </a:prstGeom>
            <a:ln w="12700" cap="flat" cmpd="sng">
              <a:solidFill>
                <a:schemeClr val="tx1"/>
              </a:solidFill>
              <a:prstDash val="solid"/>
              <a:headEnd type="none" w="med" len="med"/>
              <a:tailEnd type="none" w="med" len="med"/>
            </a:ln>
          </p:spPr>
        </p:sp>
      </p:grpSp>
      <p:sp>
        <p:nvSpPr>
          <p:cNvPr id="1027" name="Rectangle 6"/>
          <p:cNvSpPr>
            <a:spLocks noGrp="1"/>
          </p:cNvSpPr>
          <p:nvPr>
            <p:ph type="title"/>
          </p:nvPr>
        </p:nvSpPr>
        <p:spPr>
          <a:xfrm>
            <a:off x="1370013" y="301625"/>
            <a:ext cx="7313612" cy="1143000"/>
          </a:xfrm>
          <a:prstGeom prst="rect">
            <a:avLst/>
          </a:prstGeom>
          <a:noFill/>
          <a:ln w="9525">
            <a:noFill/>
          </a:ln>
        </p:spPr>
        <p:txBody>
          <a:bodyPr anchor="b" anchorCtr="0"/>
          <a:p>
            <a:pPr lvl="0"/>
            <a:r>
              <a:rPr lang="zh-CN" altLang="zh-CN" dirty="0"/>
              <a:t>单击此处编辑母版标题样式</a:t>
            </a:r>
            <a:endParaRPr lang="zh-CN" altLang="zh-CN" dirty="0"/>
          </a:p>
        </p:txBody>
      </p:sp>
      <p:sp>
        <p:nvSpPr>
          <p:cNvPr id="1028" name="Rectangle 7"/>
          <p:cNvSpPr>
            <a:spLocks noGrp="1"/>
          </p:cNvSpPr>
          <p:nvPr>
            <p:ph type="body" idx="1"/>
          </p:nvPr>
        </p:nvSpPr>
        <p:spPr>
          <a:xfrm>
            <a:off x="1370013" y="1827213"/>
            <a:ext cx="7313612" cy="4114800"/>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2" name="Rectangle 8"/>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Rectangle 9"/>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lstStyle>
            <a:lvl1pPr algn="ctr" eaLnBrk="1" hangingPunct="1">
              <a:buFont typeface="Arial" panose="020B0604020202020204" pitchFamily="34" charset="0"/>
              <a:buNone/>
              <a:defRPr sz="1200"/>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Rectangle 10"/>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lstStyle>
            <a:lvl1pPr algn="r">
              <a:defRPr sz="1200"/>
            </a:lvl1pPr>
          </a:lstStyle>
          <a:p>
            <a:pPr lvl="0" eaLnBrk="1" hangingPunct="1">
              <a:buNone/>
            </a:pPr>
            <a:fld id="{9A0DB2DC-4C9A-4742-B13C-FB6460FD3503}" type="slidenum">
              <a:rPr lang="en-US" altLang="zh-CN" dirty="0">
                <a:latin typeface="Verdana" panose="020B0604030504040204" pitchFamily="34" charset="0"/>
              </a:rPr>
            </a:fld>
            <a:endParaRPr lang="en-US" altLang="zh-CN" dirty="0">
              <a:latin typeface="Verdan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hyperlink" Target="https://baike.baidu.com/item/%E6%96%B9%E6%B3%95/2444" TargetMode="External"/><Relationship Id="rId3" Type="http://schemas.openxmlformats.org/officeDocument/2006/relationships/hyperlink" Target="https://baike.baidu.com/item/%E5%A4%84%E7%90%86" TargetMode="External"/><Relationship Id="rId2" Type="http://schemas.openxmlformats.org/officeDocument/2006/relationships/hyperlink" Target="https://baike.baidu.com/item/%E5%8D%8A%E6%88%90%E5%93%81" TargetMode="External"/><Relationship Id="rId1" Type="http://schemas.openxmlformats.org/officeDocument/2006/relationships/hyperlink" Target="https://baike.baidu.com/item/%E5%8A%B3%E5%8A%A8%E8%80%85" TargetMode="External"/></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2.emf"/><Relationship Id="rId3" Type="http://schemas.openxmlformats.org/officeDocument/2006/relationships/oleObject" Target="../embeddings/oleObject2.bin"/><Relationship Id="rId2" Type="http://schemas.openxmlformats.org/officeDocument/2006/relationships/image" Target="../media/image1.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GIF"/><Relationship Id="rId1" Type="http://schemas.openxmlformats.org/officeDocument/2006/relationships/image" Target="../media/image3.GIF"/></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14.emf"/><Relationship Id="rId2" Type="http://schemas.openxmlformats.org/officeDocument/2006/relationships/oleObject" Target="../embeddings/oleObject3.bin"/><Relationship Id="rId1" Type="http://schemas.openxmlformats.org/officeDocument/2006/relationships/slide" Target="slide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jpeg"/><Relationship Id="rId2" Type="http://schemas.openxmlformats.org/officeDocument/2006/relationships/hyperlink" Target="https://haokan.baidu.com/v?vid=16566004696735053846&amp;pd=bjh&amp;fr=bjhauthor&amp;type=video" TargetMode="External"/><Relationship Id="rId1" Type="http://schemas.openxmlformats.org/officeDocument/2006/relationships/hyperlink" Target="https://haokan.baidu.com/v?vid=15272360448994675303&amp;pd=bjh&amp;fr=bjhauthor&amp;type=video" TargetMode="Externa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2.jpeg"/><Relationship Id="rId3" Type="http://schemas.openxmlformats.org/officeDocument/2006/relationships/image" Target="../media/image21.jpeg"/><Relationship Id="rId2" Type="http://schemas.openxmlformats.org/officeDocument/2006/relationships/hyperlink" Target="https://haokan.baidu.com/v?vid=1558956395175017684&amp;pd=bjh&amp;fr=bjhauthor&amp;type=video" TargetMode="External"/><Relationship Id="rId1" Type="http://schemas.openxmlformats.org/officeDocument/2006/relationships/hyperlink" Target="http://www.iqiyi.com/w_19rvfdm4vh.html" TargetMode="Externa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wmf"/></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slide" Target="slide1.xml"/><Relationship Id="rId5" Type="http://schemas.openxmlformats.org/officeDocument/2006/relationships/slide" Target="slide159.xml"/><Relationship Id="rId4" Type="http://schemas.openxmlformats.org/officeDocument/2006/relationships/slide" Target="slide73.xml"/><Relationship Id="rId3" Type="http://schemas.openxmlformats.org/officeDocument/2006/relationships/slide" Target="slide49.xml"/><Relationship Id="rId2" Type="http://schemas.openxmlformats.org/officeDocument/2006/relationships/slide" Target="slide36.xml"/><Relationship Id="rId1" Type="http://schemas.openxmlformats.org/officeDocument/2006/relationships/slide" Target="slide20.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5.png"/><Relationship Id="rId3" Type="http://schemas.microsoft.com/office/2007/relationships/media" Target="file:///F:\cast\&#27975;&#19981;&#21040;&#21644;&#20919;&#38548;.MPG" TargetMode="External"/><Relationship Id="rId2" Type="http://schemas.openxmlformats.org/officeDocument/2006/relationships/video" Target="file:///F:\cast\&#27975;&#19981;&#21040;&#21644;&#20919;&#38548;.MPG" TargetMode="External"/><Relationship Id="rId1" Type="http://schemas.openxmlformats.org/officeDocument/2006/relationships/image" Target="../media/image24.jpe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6.jpe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image" Target="../media/image29.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slide" Target="slide49.xml"/><Relationship Id="rId2" Type="http://schemas.openxmlformats.org/officeDocument/2006/relationships/slide" Target="slide36.xml"/><Relationship Id="rId1" Type="http://schemas.openxmlformats.org/officeDocument/2006/relationships/slide" Target="slide2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jpeg"/><Relationship Id="rId1" Type="http://schemas.openxmlformats.org/officeDocument/2006/relationships/image" Target="../media/image34.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7.png"/><Relationship Id="rId1" Type="http://schemas.openxmlformats.org/officeDocument/2006/relationships/hyperlink" Target="file:///L:\0\cast2\a62.bmp" TargetMode="Externa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8.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41.emf"/><Relationship Id="rId1" Type="http://schemas.openxmlformats.org/officeDocument/2006/relationships/oleObject" Target="../embeddings/oleObject4.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9.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3.png"/><Relationship Id="rId1" Type="http://schemas.openxmlformats.org/officeDocument/2006/relationships/hyperlink" Target="file:///L:\0\cast2\a63.bmp" TargetMode="Externa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6.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8.png"/><Relationship Id="rId1" Type="http://schemas.openxmlformats.org/officeDocument/2006/relationships/image" Target="../media/image47.jpeg"/></Relationships>
</file>

<file path=ppt/slides/_rels/slide51.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49.wmf"/><Relationship Id="rId1" Type="http://schemas.openxmlformats.org/officeDocument/2006/relationships/control" Target="../activeX/activeX1.xml"/></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51.wmf"/><Relationship Id="rId3" Type="http://schemas.openxmlformats.org/officeDocument/2006/relationships/oleObject" Target="../embeddings/oleObject6.bin"/><Relationship Id="rId2" Type="http://schemas.openxmlformats.org/officeDocument/2006/relationships/image" Target="../media/image50.wmf"/><Relationship Id="rId1" Type="http://schemas.openxmlformats.org/officeDocument/2006/relationships/oleObject" Target="../embeddings/oleObject5.bin"/></Relationships>
</file>

<file path=ppt/slides/_rels/slide53.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30.xml"/><Relationship Id="rId4" Type="http://schemas.openxmlformats.org/officeDocument/2006/relationships/image" Target="../media/image53.wmf"/><Relationship Id="rId3" Type="http://schemas.openxmlformats.org/officeDocument/2006/relationships/oleObject" Target="../embeddings/oleObject8.bin"/><Relationship Id="rId2" Type="http://schemas.openxmlformats.org/officeDocument/2006/relationships/image" Target="../media/image52.wmf"/><Relationship Id="rId1" Type="http://schemas.openxmlformats.org/officeDocument/2006/relationships/oleObject" Target="../embeddings/oleObject7.bin"/></Relationships>
</file>

<file path=ppt/slides/_rels/slide54.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30.xml"/><Relationship Id="rId4" Type="http://schemas.openxmlformats.org/officeDocument/2006/relationships/image" Target="../media/image55.wmf"/><Relationship Id="rId3" Type="http://schemas.openxmlformats.org/officeDocument/2006/relationships/oleObject" Target="../embeddings/oleObject10.bin"/><Relationship Id="rId2" Type="http://schemas.openxmlformats.org/officeDocument/2006/relationships/image" Target="../media/image54.wmf"/><Relationship Id="rId1" Type="http://schemas.openxmlformats.org/officeDocument/2006/relationships/oleObject" Target="../embeddings/oleObject9.bin"/></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30.xml"/><Relationship Id="rId2" Type="http://schemas.openxmlformats.org/officeDocument/2006/relationships/image" Target="../media/image56.wmf"/><Relationship Id="rId1" Type="http://schemas.openxmlformats.org/officeDocument/2006/relationships/oleObject" Target="../embeddings/oleObject11.bin"/></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8.jpeg"/><Relationship Id="rId1" Type="http://schemas.openxmlformats.org/officeDocument/2006/relationships/image" Target="../media/image57.png"/></Relationships>
</file>

<file path=ppt/slides/_rels/slide57.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7.xml"/><Relationship Id="rId3" Type="http://schemas.openxmlformats.org/officeDocument/2006/relationships/image" Target="../media/image59.wmf"/><Relationship Id="rId2" Type="http://schemas.openxmlformats.org/officeDocument/2006/relationships/oleObject" Target="../embeddings/oleObject12.bin"/><Relationship Id="rId1" Type="http://schemas.openxmlformats.org/officeDocument/2006/relationships/image" Target="../media/image57.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0.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1.png"/><Relationship Id="rId1" Type="http://schemas.openxmlformats.org/officeDocument/2006/relationships/hyperlink" Target="file:///L:\0\cast2\a66.bmp" TargetMode="Externa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2.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3.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4.png"/></Relationships>
</file>

<file path=ppt/slides/_rels/slide65.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7.xml"/><Relationship Id="rId3" Type="http://schemas.openxmlformats.org/officeDocument/2006/relationships/image" Target="../media/image59.wmf"/><Relationship Id="rId2" Type="http://schemas.openxmlformats.org/officeDocument/2006/relationships/oleObject" Target="../embeddings/oleObject13.bin"/><Relationship Id="rId1" Type="http://schemas.openxmlformats.org/officeDocument/2006/relationships/image" Target="../media/image6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slide" Target="slide1.xml"/><Relationship Id="rId5" Type="http://schemas.openxmlformats.org/officeDocument/2006/relationships/slide" Target="slide159.xml"/><Relationship Id="rId4" Type="http://schemas.openxmlformats.org/officeDocument/2006/relationships/slide" Target="slide73.xml"/><Relationship Id="rId3" Type="http://schemas.openxmlformats.org/officeDocument/2006/relationships/slide" Target="slide49.xml"/><Relationship Id="rId2" Type="http://schemas.openxmlformats.org/officeDocument/2006/relationships/slide" Target="slide36.xml"/><Relationship Id="rId1" Type="http://schemas.openxmlformats.org/officeDocument/2006/relationships/slide" Target="slide20.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jpe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jpeg"/><Relationship Id="rId1" Type="http://schemas.openxmlformats.org/officeDocument/2006/relationships/image" Target="../media/image68.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9.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1.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3.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4.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5.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6.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8.jpeg"/></Relationships>
</file>

<file path=ppt/slides/_rels/slide8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9.png"/><Relationship Id="rId2" Type="http://schemas.microsoft.com/office/2007/relationships/media" Target="file:///F:\&#35768;&#34425;&#24037;&#20316;\2018&#25152;&#26377;&#35838;&#31243;&#35838;&#20214;\&#26426;&#26800;&#21046;&#36896;&#22522;&#30784;2018\&#38136;&#36896;2018\22&#38663;&#21387;&#36896;&#22411;.MPG" TargetMode="External"/><Relationship Id="rId1" Type="http://schemas.openxmlformats.org/officeDocument/2006/relationships/video" Target="file:///F:\&#35768;&#34425;&#24037;&#20316;\2018&#25152;&#26377;&#35838;&#31243;&#35838;&#20214;\&#26426;&#26800;&#21046;&#36896;&#22522;&#30784;2018\&#38136;&#36896;2018\22&#38663;&#21387;&#36896;&#22411;.MPG" TargetMode="Externa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0.wmf"/></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jpe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jpe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2.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4.png"/><Relationship Id="rId1" Type="http://schemas.openxmlformats.org/officeDocument/2006/relationships/image" Target="../media/image83.jpe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6.jpeg"/><Relationship Id="rId1" Type="http://schemas.openxmlformats.org/officeDocument/2006/relationships/image" Target="../media/image85.jpe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7.jpe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8.jpe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0.jpeg"/><Relationship Id="rId1" Type="http://schemas.openxmlformats.org/officeDocument/2006/relationships/image" Target="../media/image89.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2.jpeg"/><Relationship Id="rId1" Type="http://schemas.openxmlformats.org/officeDocument/2006/relationships/image" Target="../media/image91.jpe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4.jpeg"/><Relationship Id="rId1" Type="http://schemas.openxmlformats.org/officeDocument/2006/relationships/image" Target="../media/image93.jpe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6.png"/><Relationship Id="rId1" Type="http://schemas.openxmlformats.org/officeDocument/2006/relationships/image" Target="../media/image95.png"/></Relationships>
</file>

<file path=ppt/slides/_rels/slide101.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97.png"/><Relationship Id="rId1" Type="http://schemas.openxmlformats.org/officeDocument/2006/relationships/oleObject" Target="../embeddings/oleObject14.bin"/></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9.jpeg"/><Relationship Id="rId1" Type="http://schemas.openxmlformats.org/officeDocument/2006/relationships/image" Target="../media/image98.jpe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1.jpeg"/><Relationship Id="rId1" Type="http://schemas.openxmlformats.org/officeDocument/2006/relationships/image" Target="../media/image100.jpe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2.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4.jpeg"/><Relationship Id="rId1" Type="http://schemas.openxmlformats.org/officeDocument/2006/relationships/image" Target="../media/image103.jpe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5.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7.wm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8.wmf"/></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9.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0.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1.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2.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2.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2.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2.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6.jpeg"/><Relationship Id="rId2" Type="http://schemas.openxmlformats.org/officeDocument/2006/relationships/image" Target="../media/image115.jpeg"/><Relationship Id="rId1" Type="http://schemas.openxmlformats.org/officeDocument/2006/relationships/image" Target="../media/image114.jpeg"/></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7.jpeg"/></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8.png"/></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0.png"/><Relationship Id="rId1" Type="http://schemas.openxmlformats.org/officeDocument/2006/relationships/image" Target="../media/image119.jpe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2.jpeg"/><Relationship Id="rId1" Type="http://schemas.openxmlformats.org/officeDocument/2006/relationships/image" Target="../media/image121.jpeg"/></Relationships>
</file>

<file path=ppt/slides/_rels/slide1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4.png"/><Relationship Id="rId1" Type="http://schemas.openxmlformats.org/officeDocument/2006/relationships/image" Target="../media/image123.png"/></Relationships>
</file>

<file path=ppt/slides/_rels/slide1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6.jpeg"/><Relationship Id="rId1" Type="http://schemas.openxmlformats.org/officeDocument/2006/relationships/image" Target="../media/image125.jpeg"/></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7.jpeg"/></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8.jpeg"/></Relationships>
</file>

<file path=ppt/slides/_rels/slide1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0.png"/><Relationship Id="rId1" Type="http://schemas.openxmlformats.org/officeDocument/2006/relationships/image" Target="../media/image129.jpeg"/></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1.png"/></Relationships>
</file>

<file path=ppt/slides/_rels/slide1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3.jpeg"/><Relationship Id="rId1" Type="http://schemas.openxmlformats.org/officeDocument/2006/relationships/image" Target="../media/image132.jpeg"/></Relationships>
</file>

<file path=ppt/slides/_rels/slide1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5.png"/><Relationship Id="rId1" Type="http://schemas.openxmlformats.org/officeDocument/2006/relationships/image" Target="../media/image134.wmf"/></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7.jpeg"/><Relationship Id="rId1" Type="http://schemas.openxmlformats.org/officeDocument/2006/relationships/image" Target="../media/image136.jpe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8.png"/></Relationships>
</file>

<file path=ppt/slides/_rels/slide1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0.png"/><Relationship Id="rId1" Type="http://schemas.openxmlformats.org/officeDocument/2006/relationships/image" Target="../media/image139.jpeg"/></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1.png"/></Relationships>
</file>

<file path=ppt/slides/_rels/slide1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2.GIF"/></Relationships>
</file>

<file path=ppt/slides/_rels/slide1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3.jpeg"/></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4.png"/></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5.png"/></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6.jpeg"/></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7.png"/></Relationships>
</file>

<file path=ppt/slides/_rels/slide149.xml.rels><?xml version="1.0" encoding="UTF-8" standalone="yes"?>
<Relationships xmlns="http://schemas.openxmlformats.org/package/2006/relationships"><Relationship Id="rId7" Type="http://schemas.openxmlformats.org/officeDocument/2006/relationships/vmlDrawing" Target="../drawings/vmlDrawing12.vml"/><Relationship Id="rId6" Type="http://schemas.openxmlformats.org/officeDocument/2006/relationships/slideLayout" Target="../slideLayouts/slideLayout7.xml"/><Relationship Id="rId5" Type="http://schemas.openxmlformats.org/officeDocument/2006/relationships/tags" Target="../tags/tag2.xml"/><Relationship Id="rId4" Type="http://schemas.openxmlformats.org/officeDocument/2006/relationships/image" Target="../media/image149.wmf"/><Relationship Id="rId3" Type="http://schemas.openxmlformats.org/officeDocument/2006/relationships/oleObject" Target="../embeddings/oleObject15.bin"/><Relationship Id="rId2" Type="http://schemas.openxmlformats.org/officeDocument/2006/relationships/image" Target="NULL" TargetMode="External"/><Relationship Id="rId1" Type="http://schemas.openxmlformats.org/officeDocument/2006/relationships/image" Target="../media/image148.jpeg"/></Relationships>
</file>

<file path=ppt/slides/_rels/slide15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1.jpeg"/><Relationship Id="rId1" Type="http://schemas.openxmlformats.org/officeDocument/2006/relationships/image" Target="../media/image150.jpeg"/></Relationships>
</file>

<file path=ppt/slides/_rels/slide15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54.jpeg"/><Relationship Id="rId3" Type="http://schemas.openxmlformats.org/officeDocument/2006/relationships/image" Target="../media/image153.jpeg"/><Relationship Id="rId2" Type="http://schemas.openxmlformats.org/officeDocument/2006/relationships/image" Target="NULL" TargetMode="External"/><Relationship Id="rId1" Type="http://schemas.openxmlformats.org/officeDocument/2006/relationships/image" Target="../media/image152.jpeg"/></Relationships>
</file>

<file path=ppt/slides/_rels/slide15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image" Target="../media/image155.png"/></Relationships>
</file>

<file path=ppt/slides/_rels/slide1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9.png"/><Relationship Id="rId1" Type="http://schemas.openxmlformats.org/officeDocument/2006/relationships/image" Target="../media/image158.png"/></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0.png"/></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1.png"/></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2.jpeg"/></Relationships>
</file>

<file path=ppt/slides/_rels/slide1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3.jpe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4.wmf"/></Relationships>
</file>

<file path=ppt/slides/_rels/slide1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6.png"/><Relationship Id="rId1" Type="http://schemas.openxmlformats.org/officeDocument/2006/relationships/image" Target="../media/image165.png"/></Relationships>
</file>

<file path=ppt/slides/_rels/slide1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7.jpe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8.jpeg"/><Relationship Id="rId1" Type="http://schemas.openxmlformats.org/officeDocument/2006/relationships/hyperlink" Target="../../&#26700;&#38754;/Home-page/&#29076;&#27169;&#38136;&#36896;1.swf" TargetMode="External"/></Relationships>
</file>

<file path=ppt/slides/_rels/slide1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4.wmf"/><Relationship Id="rId1" Type="http://schemas.openxmlformats.org/officeDocument/2006/relationships/image" Target="../media/image169.wmf"/></Relationships>
</file>

<file path=ppt/slides/_rels/slide165.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170.wmf"/><Relationship Id="rId1" Type="http://schemas.openxmlformats.org/officeDocument/2006/relationships/control" Target="../activeX/activeX2.xml"/></Relationships>
</file>

<file path=ppt/slides/_rels/slide1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1.jpeg"/></Relationships>
</file>

<file path=ppt/slides/_rels/slide1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2.png"/></Relationships>
</file>

<file path=ppt/slides/_rels/slide168.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173.wmf"/><Relationship Id="rId1" Type="http://schemas.openxmlformats.org/officeDocument/2006/relationships/control" Target="../activeX/activeX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5.wmf"/><Relationship Id="rId1" Type="http://schemas.openxmlformats.org/officeDocument/2006/relationships/image" Target="../media/image174.wmf"/></Relationships>
</file>

<file path=ppt/slides/_rels/slide17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7.jpeg"/><Relationship Id="rId1" Type="http://schemas.openxmlformats.org/officeDocument/2006/relationships/image" Target="../media/image176.jpeg"/></Relationships>
</file>

<file path=ppt/slides/_rels/slide17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0.wmf"/><Relationship Id="rId2" Type="http://schemas.openxmlformats.org/officeDocument/2006/relationships/image" Target="../media/image179.png"/><Relationship Id="rId1" Type="http://schemas.openxmlformats.org/officeDocument/2006/relationships/image" Target="../media/image178.wmf"/></Relationships>
</file>

<file path=ppt/slides/_rels/slide1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1.png"/></Relationships>
</file>

<file path=ppt/slides/_rels/slide17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7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7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86.png"/><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7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87.jpeg"/><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7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88.wmf"/><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7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90.jpeg"/><Relationship Id="rId5" Type="http://schemas.openxmlformats.org/officeDocument/2006/relationships/image" Target="../media/image189.wmf"/><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8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92.wmf"/><Relationship Id="rId5" Type="http://schemas.openxmlformats.org/officeDocument/2006/relationships/image" Target="../media/image191.wmf"/><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8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93.wmf"/><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8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94.wmf"/><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8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95.wmf"/><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8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96.png"/><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8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97.png"/><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8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98.jpeg"/><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8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99.jpeg"/><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8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00.jpeg"/><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8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99.jpeg"/><Relationship Id="rId5" Type="http://schemas.openxmlformats.org/officeDocument/2006/relationships/image" Target="../media/image201.jpeg"/><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9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03.png"/><Relationship Id="rId5" Type="http://schemas.openxmlformats.org/officeDocument/2006/relationships/image" Target="../media/image202.png"/><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_rels/slide19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04.wmf"/><Relationship Id="rId4" Type="http://schemas.openxmlformats.org/officeDocument/2006/relationships/image" Target="../media/image185.jpeg"/><Relationship Id="rId3" Type="http://schemas.openxmlformats.org/officeDocument/2006/relationships/image" Target="../media/image184.jpeg"/><Relationship Id="rId2" Type="http://schemas.openxmlformats.org/officeDocument/2006/relationships/image" Target="../media/image183.jpeg"/><Relationship Id="rId1" Type="http://schemas.openxmlformats.org/officeDocument/2006/relationships/image" Target="../media/image18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ctrTitle"/>
          </p:nvPr>
        </p:nvSpPr>
        <p:spPr>
          <a:xfrm>
            <a:off x="1042988" y="1485900"/>
            <a:ext cx="5184775" cy="935038"/>
          </a:xfrm>
        </p:spPr>
        <p:txBody>
          <a:bodyPr vert="horz" wrap="square" lIns="91440" tIns="45720" rIns="91440" bIns="45720" anchor="b" anchorCtr="0"/>
          <a:lstStyle>
            <a:lvl1pPr lvl="0">
              <a:buClrTx/>
              <a:buSzTx/>
              <a:buFontTx/>
              <a:defRPr/>
            </a:lvl1pPr>
          </a:lstStyle>
          <a:p>
            <a:pPr lvl="0" algn="ctr" eaLnBrk="1" hangingPunct="1"/>
            <a:r>
              <a:rPr lang="zh-CN" altLang="zh-CN" sz="5400" b="1" dirty="0">
                <a:solidFill>
                  <a:srgbClr val="FF6600"/>
                </a:solidFill>
                <a:latin typeface="华文楷体" panose="02010600040101010101" pitchFamily="2" charset="-122"/>
                <a:ea typeface="华文楷体" panose="02010600040101010101" pitchFamily="2" charset="-122"/>
              </a:rPr>
              <a:t>机械制造基础</a:t>
            </a:r>
            <a:endParaRPr lang="zh-CN" altLang="zh-CN" sz="5400" b="1" dirty="0">
              <a:solidFill>
                <a:srgbClr val="FF6600"/>
              </a:solidFill>
              <a:latin typeface="华文楷体" panose="02010600040101010101" pitchFamily="2" charset="-122"/>
              <a:ea typeface="华文楷体" panose="02010600040101010101" pitchFamily="2" charset="-122"/>
            </a:endParaRPr>
          </a:p>
        </p:txBody>
      </p:sp>
      <p:sp>
        <p:nvSpPr>
          <p:cNvPr id="4099" name="Rectangle 3"/>
          <p:cNvSpPr>
            <a:spLocks noGrp="1"/>
          </p:cNvSpPr>
          <p:nvPr>
            <p:ph type="subTitle"/>
          </p:nvPr>
        </p:nvSpPr>
        <p:spPr>
          <a:xfrm>
            <a:off x="1943100" y="3429000"/>
            <a:ext cx="5508625" cy="2357438"/>
          </a:xfrm>
        </p:spPr>
        <p:txBody>
          <a:bodyPr vert="horz" wrap="square" lIns="91440" tIns="45720" rIns="91440" bIns="45720" anchor="t" anchorCtr="0"/>
          <a:lstStyle>
            <a:lvl1pPr marL="0" lvl="0" indent="0" algn="ctr">
              <a:buClr>
                <a:schemeClr val="tx2"/>
              </a:buClr>
              <a:buSzPct val="70000"/>
              <a:buFont typeface="Wingdings" panose="05000000000000000000" pitchFamily="2" charset="2"/>
              <a:buNone/>
              <a:defRPr/>
            </a:lvl1pPr>
            <a:lvl2pPr marL="457200" lvl="1" indent="0" algn="ctr">
              <a:buClr>
                <a:schemeClr val="accent2"/>
              </a:buClr>
              <a:buSzPct val="70000"/>
              <a:buFont typeface="Wingdings" panose="05000000000000000000" pitchFamily="2" charset="2"/>
              <a:buNone/>
              <a:defRPr/>
            </a:lvl2pPr>
            <a:lvl3pPr marL="914400" lvl="2" indent="0" algn="ctr">
              <a:buClr>
                <a:schemeClr val="tx2"/>
              </a:buClr>
              <a:buSzPct val="65000"/>
              <a:buFont typeface="Wingdings" panose="05000000000000000000" pitchFamily="2" charset="2"/>
              <a:buNone/>
              <a:defRPr/>
            </a:lvl3pPr>
            <a:lvl4pPr marL="1371600" lvl="3" indent="0" algn="ctr">
              <a:buClr>
                <a:schemeClr val="accent2"/>
              </a:buClr>
              <a:buSzPct val="70000"/>
              <a:buFont typeface="Wingdings" panose="05000000000000000000" pitchFamily="2" charset="2"/>
              <a:buNone/>
              <a:defRPr/>
            </a:lvl4pPr>
            <a:lvl5pPr marL="1828800" lvl="4" indent="0" algn="ctr">
              <a:buClr>
                <a:schemeClr val="tx2"/>
              </a:buClr>
              <a:buSzPct val="60000"/>
              <a:buFont typeface="Wingdings" panose="05000000000000000000" pitchFamily="2" charset="2"/>
              <a:buNone/>
              <a:defRPr/>
            </a:lvl5pPr>
          </a:lstStyle>
          <a:p>
            <a:pPr lvl="0" algn="l" eaLnBrk="1" hangingPunct="1">
              <a:lnSpc>
                <a:spcPct val="90000"/>
              </a:lnSpc>
            </a:pPr>
            <a:r>
              <a:rPr lang="zh-CN" altLang="en-US" sz="2800" b="1" dirty="0">
                <a:latin typeface="华文楷体" panose="02010600040101010101" pitchFamily="2" charset="-122"/>
                <a:ea typeface="华文楷体" panose="02010600040101010101" pitchFamily="2" charset="-122"/>
              </a:rPr>
              <a:t>许虹（机械与动力工程学院）</a:t>
            </a:r>
            <a:endParaRPr lang="zh-CN" altLang="en-US" sz="2800" b="1" dirty="0">
              <a:latin typeface="华文楷体" panose="02010600040101010101" pitchFamily="2" charset="-122"/>
              <a:ea typeface="华文楷体" panose="02010600040101010101" pitchFamily="2" charset="-122"/>
            </a:endParaRPr>
          </a:p>
          <a:p>
            <a:pPr lvl="0" algn="l" eaLnBrk="1" hangingPunct="1">
              <a:lnSpc>
                <a:spcPct val="90000"/>
              </a:lnSpc>
            </a:pPr>
            <a:r>
              <a:rPr lang="zh-CN" altLang="en-US" sz="2800" b="1" dirty="0">
                <a:latin typeface="华文楷体" panose="02010600040101010101" pitchFamily="2" charset="-122"/>
                <a:ea typeface="华文楷体" panose="02010600040101010101" pitchFamily="2" charset="-122"/>
              </a:rPr>
              <a:t>机制教研室</a:t>
            </a:r>
            <a:r>
              <a:rPr lang="en-US" altLang="zh-CN" sz="2800" b="1" dirty="0">
                <a:latin typeface="华文楷体" panose="02010600040101010101" pitchFamily="2" charset="-122"/>
                <a:ea typeface="华文楷体" panose="02010600040101010101" pitchFamily="2" charset="-122"/>
              </a:rPr>
              <a:t>-</a:t>
            </a:r>
            <a:r>
              <a:rPr lang="zh-CN" altLang="en-US" sz="2800" b="1" dirty="0">
                <a:latin typeface="华文楷体" panose="02010600040101010101" pitchFamily="2" charset="-122"/>
                <a:ea typeface="华文楷体" panose="02010600040101010101" pitchFamily="2" charset="-122"/>
              </a:rPr>
              <a:t>实验</a:t>
            </a:r>
            <a:r>
              <a:rPr lang="en-US" altLang="zh-CN" sz="2800" b="1" dirty="0">
                <a:latin typeface="华文楷体" panose="02010600040101010101" pitchFamily="2" charset="-122"/>
                <a:ea typeface="华文楷体" panose="02010600040101010101" pitchFamily="2" charset="-122"/>
              </a:rPr>
              <a:t>17</a:t>
            </a:r>
            <a:r>
              <a:rPr lang="zh-CN" altLang="en-US" sz="2800" b="1" dirty="0">
                <a:latin typeface="华文楷体" panose="02010600040101010101" pitchFamily="2" charset="-122"/>
                <a:ea typeface="华文楷体" panose="02010600040101010101" pitchFamily="2" charset="-122"/>
              </a:rPr>
              <a:t>楼</a:t>
            </a:r>
            <a:r>
              <a:rPr lang="en-US" altLang="zh-CN" sz="2800" b="1" dirty="0">
                <a:latin typeface="华文楷体" panose="02010600040101010101" pitchFamily="2" charset="-122"/>
                <a:ea typeface="华文楷体" panose="02010600040101010101" pitchFamily="2" charset="-122"/>
              </a:rPr>
              <a:t>405</a:t>
            </a:r>
            <a:r>
              <a:rPr lang="zh-CN" altLang="en-US" sz="2800" b="1" dirty="0">
                <a:latin typeface="华文楷体" panose="02010600040101010101" pitchFamily="2" charset="-122"/>
                <a:ea typeface="华文楷体" panose="02010600040101010101" pitchFamily="2" charset="-122"/>
              </a:rPr>
              <a:t>室</a:t>
            </a:r>
            <a:endParaRPr lang="zh-CN" altLang="en-US" sz="2800" b="1" dirty="0">
              <a:latin typeface="华文楷体" panose="02010600040101010101" pitchFamily="2" charset="-122"/>
              <a:ea typeface="华文楷体" panose="02010600040101010101" pitchFamily="2" charset="-122"/>
            </a:endParaRPr>
          </a:p>
          <a:p>
            <a:pPr lvl="0" algn="l" eaLnBrk="1" hangingPunct="1">
              <a:lnSpc>
                <a:spcPct val="90000"/>
              </a:lnSpc>
            </a:pPr>
            <a:r>
              <a:rPr lang="en-US" altLang="zh-CN" sz="2800" b="1" dirty="0">
                <a:latin typeface="华文楷体" panose="02010600040101010101" pitchFamily="2" charset="-122"/>
                <a:ea typeface="华文楷体" panose="02010600040101010101" pitchFamily="2" charset="-122"/>
              </a:rPr>
              <a:t>xuhong@ecust.edu.cn</a:t>
            </a:r>
            <a:endParaRPr lang="en-US" altLang="zh-CN" sz="2800" b="1" dirty="0">
              <a:latin typeface="华文楷体" panose="02010600040101010101" pitchFamily="2" charset="-122"/>
              <a:ea typeface="华文楷体" panose="02010600040101010101" pitchFamily="2" charset="-122"/>
            </a:endParaRPr>
          </a:p>
          <a:p>
            <a:pPr lvl="0" algn="l" eaLnBrk="1" hangingPunct="1">
              <a:lnSpc>
                <a:spcPct val="90000"/>
              </a:lnSpc>
            </a:pPr>
            <a:r>
              <a:rPr lang="en-US" altLang="zh-CN" sz="2800" b="1" dirty="0">
                <a:latin typeface="华文楷体" panose="02010600040101010101" pitchFamily="2" charset="-122"/>
                <a:ea typeface="华文楷体" panose="02010600040101010101" pitchFamily="2" charset="-122"/>
              </a:rPr>
              <a:t>32</a:t>
            </a:r>
            <a:r>
              <a:rPr lang="zh-CN" altLang="en-US" sz="2800" b="1" dirty="0">
                <a:latin typeface="华文楷体" panose="02010600040101010101" pitchFamily="2" charset="-122"/>
                <a:ea typeface="华文楷体" panose="02010600040101010101" pitchFamily="2" charset="-122"/>
              </a:rPr>
              <a:t>学时（理论）</a:t>
            </a:r>
            <a:endParaRPr lang="en-US" altLang="zh-CN" sz="2800" b="1" dirty="0">
              <a:latin typeface="华文楷体" panose="02010600040101010101" pitchFamily="2" charset="-122"/>
              <a:ea typeface="华文楷体" panose="02010600040101010101" pitchFamily="2" charset="-122"/>
            </a:endParaRPr>
          </a:p>
          <a:p>
            <a:pPr lvl="0" algn="l" eaLnBrk="1" hangingPunct="1">
              <a:lnSpc>
                <a:spcPct val="90000"/>
              </a:lnSpc>
            </a:pPr>
            <a:r>
              <a:rPr lang="en-US" altLang="zh-CN" sz="2800" b="1" dirty="0">
                <a:solidFill>
                  <a:srgbClr val="FF0000"/>
                </a:solidFill>
                <a:latin typeface="华文楷体" panose="02010600040101010101" pitchFamily="2" charset="-122"/>
                <a:ea typeface="华文楷体" panose="02010600040101010101" pitchFamily="2" charset="-122"/>
              </a:rPr>
              <a:t>QQ</a:t>
            </a:r>
            <a:r>
              <a:rPr lang="zh-CN" altLang="en-US" sz="2800" b="1" dirty="0">
                <a:solidFill>
                  <a:srgbClr val="FF0000"/>
                </a:solidFill>
                <a:latin typeface="华文楷体" panose="02010600040101010101" pitchFamily="2" charset="-122"/>
                <a:ea typeface="华文楷体" panose="02010600040101010101" pitchFamily="2" charset="-122"/>
              </a:rPr>
              <a:t>群：</a:t>
            </a:r>
            <a:r>
              <a:rPr lang="en-US" altLang="zh-CN" sz="2800" b="1" dirty="0">
                <a:solidFill>
                  <a:srgbClr val="FF0000"/>
                </a:solidFill>
                <a:latin typeface="华文楷体" panose="02010600040101010101" pitchFamily="2" charset="-122"/>
                <a:ea typeface="华文楷体" panose="02010600040101010101" pitchFamily="2" charset="-122"/>
              </a:rPr>
              <a:t>169862655</a:t>
            </a:r>
            <a:endParaRPr lang="zh-CN" altLang="en-US" sz="2800" b="1" dirty="0">
              <a:solidFill>
                <a:srgbClr val="FF0000"/>
              </a:solidFill>
              <a:latin typeface="华文楷体" panose="02010600040101010101" pitchFamily="2" charset="-122"/>
              <a:ea typeface="华文楷体" panose="02010600040101010101" pitchFamily="2" charset="-122"/>
            </a:endParaRPr>
          </a:p>
          <a:p>
            <a:pPr lvl="0" algn="l" eaLnBrk="1" hangingPunct="1">
              <a:lnSpc>
                <a:spcPct val="90000"/>
              </a:lnSpc>
            </a:pPr>
            <a:endParaRPr lang="en-US" altLang="zh-CN" sz="2800" b="1" dirty="0">
              <a:latin typeface="华文楷体" panose="02010600040101010101" pitchFamily="2" charset="-122"/>
              <a:ea typeface="华文楷体" panose="02010600040101010101" pitchFamily="2" charset="-122"/>
            </a:endParaRPr>
          </a:p>
        </p:txBody>
      </p:sp>
      <p:sp>
        <p:nvSpPr>
          <p:cNvPr id="4100" name="WordArt 8"/>
          <p:cNvSpPr>
            <a:spLocks noTextEdit="1"/>
          </p:cNvSpPr>
          <p:nvPr/>
        </p:nvSpPr>
        <p:spPr>
          <a:xfrm>
            <a:off x="6443663" y="1557338"/>
            <a:ext cx="1585912" cy="863600"/>
          </a:xfrm>
          <a:prstGeom prst="rect">
            <a:avLst/>
          </a:prstGeom>
        </p:spPr>
        <p:txBody>
          <a:bodyPr wrap="none" fromWordArt="1">
            <a:prstTxWarp prst="textWave1">
              <a:avLst>
                <a:gd name="adj1" fmla="val 13005"/>
                <a:gd name="adj2" fmla="val 0"/>
              </a:avLst>
            </a:prstTxWarp>
            <a:normAutofit/>
          </a:bodyPr>
          <a:p>
            <a:pPr algn="ctr"/>
            <a:r>
              <a:rPr lang="zh-CN" altLang="en-US" sz="3600" spc="-360">
                <a:ln w="12700" cap="flat" cmpd="sng">
                  <a:solidFill>
                    <a:srgbClr val="FF6600"/>
                  </a:solidFill>
                  <a:prstDash val="solid"/>
                  <a:headEnd type="none" w="med" len="med"/>
                  <a:tailEnd type="none" w="med" len="med"/>
                </a:ln>
                <a:solidFill>
                  <a:srgbClr val="00FF00"/>
                </a:solidFill>
                <a:effectLst>
                  <a:outerShdw dist="125724" dir="18900000" algn="ctr" rotWithShape="0">
                    <a:srgbClr val="000099"/>
                  </a:outerShdw>
                </a:effectLst>
                <a:latin typeface="宋体" panose="02010600030101010101" pitchFamily="2" charset="-122"/>
                <a:ea typeface="宋体" panose="02010600030101010101" pitchFamily="2" charset="-122"/>
              </a:rPr>
              <a:t>ECUST</a:t>
            </a:r>
            <a:endParaRPr lang="zh-CN" altLang="en-US" sz="3600" spc="-360">
              <a:ln w="12700" cap="flat" cmpd="sng">
                <a:solidFill>
                  <a:srgbClr val="FF6600"/>
                </a:solidFill>
                <a:prstDash val="solid"/>
                <a:headEnd type="none" w="med" len="med"/>
                <a:tailEnd type="none" w="med" len="med"/>
              </a:ln>
              <a:solidFill>
                <a:srgbClr val="00FF00"/>
              </a:solidFill>
              <a:effectLst>
                <a:outerShdw dist="125724" dir="18900000" algn="ctr" rotWithShape="0">
                  <a:srgbClr val="000099"/>
                </a:outerShdw>
              </a:effectLst>
              <a:latin typeface="宋体" panose="02010600030101010101" pitchFamily="2" charset="-122"/>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xfrm>
            <a:off x="457200" y="273050"/>
            <a:ext cx="8229600" cy="1139825"/>
          </a:xfrm>
        </p:spPr>
        <p:txBody>
          <a:bodyPr vert="horz" wrap="square" lIns="91440" tIns="45720" rIns="91440" bIns="45720" anchor="b" anchorCtr="0"/>
          <a:p>
            <a:pPr algn="ctr" eaLnBrk="1" hangingPunct="1"/>
            <a:r>
              <a:rPr lang="zh-CN" altLang="zh-CN" sz="5400" b="1" dirty="0">
                <a:latin typeface="华文楷体" panose="02010600040101010101" pitchFamily="2" charset="-122"/>
                <a:ea typeface="华文楷体" panose="02010600040101010101" pitchFamily="2" charset="-122"/>
              </a:rPr>
              <a:t>课程性质</a:t>
            </a:r>
            <a:endParaRPr lang="zh-CN" altLang="zh-CN" sz="5400" b="1" dirty="0">
              <a:latin typeface="华文楷体" panose="02010600040101010101" pitchFamily="2" charset="-122"/>
              <a:ea typeface="华文楷体" panose="02010600040101010101" pitchFamily="2" charset="-122"/>
            </a:endParaRPr>
          </a:p>
        </p:txBody>
      </p:sp>
      <p:sp>
        <p:nvSpPr>
          <p:cNvPr id="5123" name="Rectangle 3"/>
          <p:cNvSpPr>
            <a:spLocks noGrp="1" noChangeArrowheads="1"/>
          </p:cNvSpPr>
          <p:nvPr>
            <p:ph type="body" sz="half" idx="1"/>
          </p:nvPr>
        </p:nvSpPr>
        <p:spPr>
          <a:xfrm>
            <a:off x="817563" y="1922463"/>
            <a:ext cx="8002588" cy="4864100"/>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tx2"/>
              </a:buClr>
              <a:buSzPct val="70000"/>
              <a:buFont typeface="Wingdings" panose="05000000000000000000" pitchFamily="2" charset="2"/>
              <a:buChar char="¡"/>
              <a:defRPr/>
            </a:pPr>
            <a:r>
              <a:rPr kumimoji="0" lang="zh-CN" altLang="en-US" sz="32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性质</a:t>
            </a:r>
            <a:endParaRPr kumimoji="0" lang="en-US" altLang="zh-CN" sz="32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80000"/>
              </a:lnSpc>
              <a:spcBef>
                <a:spcPct val="20000"/>
              </a:spcBef>
              <a:spcAft>
                <a:spcPct val="0"/>
              </a:spcAft>
              <a:buClr>
                <a:schemeClr val="accent2"/>
              </a:buClr>
              <a:buSzPct val="70000"/>
              <a:buFont typeface="Wingdings" panose="05000000000000000000" pitchFamily="2" charset="2"/>
              <a:buChar char="l"/>
              <a:defRPr/>
            </a:pPr>
            <a:r>
              <a:rPr kumimoji="0" lang="zh-CN" altLang="en-US" sz="2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机械制造基础</a:t>
            </a:r>
            <a:r>
              <a:rPr kumimoji="0" lang="en-US" altLang="zh-CN" sz="2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金属工艺学</a:t>
            </a:r>
            <a:r>
              <a:rPr kumimoji="0" lang="en-US" altLang="zh-CN" sz="2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是一门传授有关制造金属零件</a:t>
            </a:r>
            <a:r>
              <a:rPr kumimoji="0" lang="zh-CN" altLang="en-US" sz="2800" b="0" i="1" u="sng" strike="noStrike" kern="1200" cap="none" spc="0" normalizeH="0" baseline="0" noProof="0" dirty="0">
                <a:ln>
                  <a:noFill/>
                </a:ln>
                <a:solidFill>
                  <a:srgbClr val="FF0000"/>
                </a:solidFill>
                <a:effectLst>
                  <a:outerShdw blurRad="38100" dist="38100" dir="2700000" algn="tl">
                    <a:srgbClr val="C0C0C0"/>
                  </a:outerShdw>
                </a:effectLst>
                <a:uLnTx/>
                <a:uFillTx/>
                <a:latin typeface="华文楷体" panose="02010600040101010101" pitchFamily="2" charset="-122"/>
                <a:ea typeface="华文楷体" panose="02010600040101010101" pitchFamily="2" charset="-122"/>
                <a:cs typeface="+mn-cs"/>
              </a:rPr>
              <a:t>工艺方法</a:t>
            </a:r>
            <a:r>
              <a:rPr kumimoji="0" lang="zh-CN" altLang="en-US" sz="2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的</a:t>
            </a:r>
            <a:r>
              <a:rPr kumimoji="0" lang="zh-CN" altLang="en-US" sz="2800" b="0" i="0" u="sng"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综合</a:t>
            </a:r>
            <a:r>
              <a:rPr kumimoji="0" lang="zh-CN" altLang="en-US" sz="2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性技术基础课。主要研究：</a:t>
            </a:r>
            <a:endParaRPr kumimoji="0" lang="en-US" altLang="zh-CN" sz="28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1143000" marR="0" lvl="2" indent="-228600" algn="l" defTabSz="914400" rtl="0" eaLnBrk="1" fontAlgn="base" latinLnBrk="0" hangingPunct="1">
              <a:lnSpc>
                <a:spcPct val="80000"/>
              </a:lnSpc>
              <a:spcBef>
                <a:spcPct val="20000"/>
              </a:spcBef>
              <a:spcAft>
                <a:spcPct val="0"/>
              </a:spcAft>
              <a:buClr>
                <a:schemeClr val="tx2"/>
              </a:buClr>
              <a:buSzPct val="65000"/>
              <a:buFont typeface="Wingdings" panose="05000000000000000000" pitchFamily="2" charset="2"/>
              <a:buChar char="¡"/>
              <a:defRPr/>
            </a:pPr>
            <a:r>
              <a:rPr kumimoji="0" lang="zh-CN" altLang="en-US" sz="25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各种工艺方法本身的规律性及其应用和相互联系；</a:t>
            </a:r>
            <a:endParaRPr kumimoji="0" lang="en-US" altLang="zh-CN" sz="25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1143000" marR="0" lvl="2" indent="-228600" algn="l" defTabSz="914400" rtl="0" eaLnBrk="1" fontAlgn="base" latinLnBrk="0" hangingPunct="1">
              <a:lnSpc>
                <a:spcPct val="80000"/>
              </a:lnSpc>
              <a:spcBef>
                <a:spcPct val="20000"/>
              </a:spcBef>
              <a:spcAft>
                <a:spcPct val="0"/>
              </a:spcAft>
              <a:buClr>
                <a:schemeClr val="tx2"/>
              </a:buClr>
              <a:buSzPct val="65000"/>
              <a:buFont typeface="Wingdings" panose="05000000000000000000" pitchFamily="2" charset="2"/>
              <a:buChar char="¡"/>
              <a:defRPr/>
            </a:pPr>
            <a:r>
              <a:rPr kumimoji="0" lang="zh-CN" altLang="en-US" sz="25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金属零件的加工工艺过程和结构工艺性；</a:t>
            </a:r>
            <a:endParaRPr kumimoji="0" lang="en-US" altLang="zh-CN" sz="25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1143000" marR="0" lvl="2" indent="-228600" algn="l" defTabSz="914400" rtl="0" eaLnBrk="1" fontAlgn="base" latinLnBrk="0" hangingPunct="1">
              <a:lnSpc>
                <a:spcPct val="80000"/>
              </a:lnSpc>
              <a:spcBef>
                <a:spcPct val="20000"/>
              </a:spcBef>
              <a:spcAft>
                <a:spcPct val="0"/>
              </a:spcAft>
              <a:buClr>
                <a:schemeClr val="tx2"/>
              </a:buClr>
              <a:buSzPct val="65000"/>
              <a:buFont typeface="Wingdings" panose="05000000000000000000" pitchFamily="2" charset="2"/>
              <a:buChar char="¡"/>
              <a:defRPr/>
            </a:pPr>
            <a:r>
              <a:rPr kumimoji="0" lang="zh-CN" altLang="en-US" sz="25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工艺方法的综合比较等。</a:t>
            </a:r>
            <a:endParaRPr kumimoji="0" lang="en-US" altLang="zh-CN" sz="2500" b="0"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80000"/>
              </a:lnSpc>
              <a:spcBef>
                <a:spcPct val="20000"/>
              </a:spcBef>
              <a:spcAft>
                <a:spcPct val="0"/>
              </a:spcAft>
              <a:buClr>
                <a:schemeClr val="accent2"/>
              </a:buClr>
              <a:buSzPct val="70000"/>
              <a:buFont typeface="Wingdings" panose="05000000000000000000" pitchFamily="2" charset="2"/>
              <a:buChar char="l"/>
              <a:defRPr/>
            </a:pP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综合即是创造。多思考 （改进</a:t>
            </a:r>
            <a:r>
              <a:rPr kumimoji="0" lang="en-US" altLang="zh-CN"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引进</a:t>
            </a:r>
            <a:r>
              <a:rPr kumimoji="0" lang="en-US" altLang="zh-CN"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a:t>
            </a: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创新）</a:t>
            </a:r>
            <a:endParaRPr kumimoji="0" lang="en-US" altLang="zh-CN"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a:p>
            <a:pPr marL="742950" marR="0" lvl="1" indent="-285750" algn="l" defTabSz="914400" rtl="0" eaLnBrk="1" fontAlgn="base" latinLnBrk="0" hangingPunct="1">
              <a:lnSpc>
                <a:spcPct val="80000"/>
              </a:lnSpc>
              <a:spcBef>
                <a:spcPct val="20000"/>
              </a:spcBef>
              <a:spcAft>
                <a:spcPct val="0"/>
              </a:spcAft>
              <a:buClr>
                <a:schemeClr val="accent2"/>
              </a:buClr>
              <a:buSzPct val="70000"/>
              <a:buFont typeface="Wingdings" panose="05000000000000000000" pitchFamily="2" charset="2"/>
              <a:buChar char="l"/>
              <a:defRPr/>
            </a:pPr>
            <a:r>
              <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rPr>
              <a:t>将知识借助技能训练转化为能力。多实践。</a:t>
            </a:r>
            <a:endParaRPr kumimoji="0" lang="zh-CN" altLang="en-US" sz="2800" b="1" i="0" u="none" strike="noStrike" kern="1200" cap="none" spc="0" normalizeH="0" baseline="0" noProof="0" dirty="0">
              <a:ln>
                <a:noFill/>
              </a:ln>
              <a:solidFill>
                <a:schemeClr val="tx1"/>
              </a:solidFill>
              <a:effectLst/>
              <a:uLnTx/>
              <a:uFillTx/>
              <a:latin typeface="华文楷体" panose="02010600040101010101" pitchFamily="2" charset="-122"/>
              <a:ea typeface="华文楷体" panose="0201060004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charRg st="0"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3">
                                            <p:txEl>
                                              <p:charRg st="3" end="49"/>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23">
                                            <p:txEl>
                                              <p:charRg st="49" end="7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23">
                                            <p:txEl>
                                              <p:charRg st="72" end="9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23">
                                            <p:txEl>
                                              <p:charRg st="91" end="10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123">
                                            <p:txEl>
                                              <p:charRg st="103" end="12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23">
                                            <p:txEl>
                                              <p:charRg st="125" end="14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xfrm>
            <a:off x="457200" y="273050"/>
            <a:ext cx="8229600" cy="1139825"/>
          </a:xfrm>
        </p:spPr>
        <p:txBody>
          <a:bodyPr vert="horz" wrap="square" lIns="91440" tIns="45720" rIns="91440" bIns="45720" anchor="b" anchorCtr="0"/>
          <a:p>
            <a:pPr algn="ctr" eaLnBrk="1" hangingPunct="1"/>
            <a:r>
              <a:rPr lang="zh-CN" altLang="en-US" sz="5400" b="1" dirty="0">
                <a:latin typeface="华文楷体" panose="02010600040101010101" pitchFamily="2" charset="-122"/>
                <a:ea typeface="华文楷体" panose="02010600040101010101" pitchFamily="2" charset="-122"/>
              </a:rPr>
              <a:t>术语解释</a:t>
            </a:r>
            <a:endParaRPr lang="zh-CN" altLang="zh-CN" sz="5400" b="1" dirty="0">
              <a:latin typeface="华文楷体" panose="02010600040101010101" pitchFamily="2" charset="-122"/>
              <a:ea typeface="华文楷体" panose="02010600040101010101" pitchFamily="2" charset="-122"/>
            </a:endParaRPr>
          </a:p>
        </p:txBody>
      </p:sp>
      <p:sp>
        <p:nvSpPr>
          <p:cNvPr id="5123" name="Rectangle 3"/>
          <p:cNvSpPr>
            <a:spLocks noGrp="1"/>
          </p:cNvSpPr>
          <p:nvPr>
            <p:ph type="body" sz="half"/>
          </p:nvPr>
        </p:nvSpPr>
        <p:spPr>
          <a:xfrm>
            <a:off x="817563" y="1922463"/>
            <a:ext cx="8002587" cy="486410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lnSpc>
                <a:spcPct val="80000"/>
              </a:lnSpc>
            </a:pPr>
            <a:r>
              <a:rPr lang="zh-CN" altLang="en-US" sz="3200" b="1" dirty="0">
                <a:latin typeface="华文楷体" panose="02010600040101010101" pitchFamily="2" charset="-122"/>
                <a:ea typeface="华文楷体" panose="02010600040101010101" pitchFamily="2" charset="-122"/>
              </a:rPr>
              <a:t>工艺、金属工艺及工艺方法</a:t>
            </a:r>
            <a:endParaRPr lang="en-US" altLang="zh-CN" sz="3200"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800" dirty="0">
                <a:latin typeface="华文楷体" panose="02010600040101010101" pitchFamily="2" charset="-122"/>
                <a:ea typeface="华文楷体" panose="02010600040101010101" pitchFamily="2" charset="-122"/>
              </a:rPr>
              <a:t>工艺：是指</a:t>
            </a:r>
            <a:r>
              <a:rPr lang="zh-CN" altLang="en-US" sz="2800" dirty="0">
                <a:latin typeface="华文楷体" panose="02010600040101010101" pitchFamily="2" charset="-122"/>
                <a:ea typeface="华文楷体" panose="02010600040101010101" pitchFamily="2" charset="-122"/>
                <a:hlinkClick r:id="rId1"/>
              </a:rPr>
              <a:t>劳动者</a:t>
            </a:r>
            <a:r>
              <a:rPr lang="zh-CN" altLang="en-US" sz="2800" dirty="0">
                <a:latin typeface="华文楷体" panose="02010600040101010101" pitchFamily="2" charset="-122"/>
                <a:ea typeface="华文楷体" panose="02010600040101010101" pitchFamily="2" charset="-122"/>
              </a:rPr>
              <a:t>利用各类生产工具对各种原材料、</a:t>
            </a:r>
            <a:r>
              <a:rPr lang="zh-CN" altLang="en-US" sz="2800" dirty="0">
                <a:latin typeface="华文楷体" panose="02010600040101010101" pitchFamily="2" charset="-122"/>
                <a:ea typeface="华文楷体" panose="02010600040101010101" pitchFamily="2" charset="-122"/>
                <a:hlinkClick r:id="rId2"/>
              </a:rPr>
              <a:t>半成品</a:t>
            </a:r>
            <a:r>
              <a:rPr lang="zh-CN" altLang="en-US" sz="2800" dirty="0">
                <a:latin typeface="华文楷体" panose="02010600040101010101" pitchFamily="2" charset="-122"/>
                <a:ea typeface="华文楷体" panose="02010600040101010101" pitchFamily="2" charset="-122"/>
              </a:rPr>
              <a:t>进行加工或</a:t>
            </a:r>
            <a:r>
              <a:rPr lang="zh-CN" altLang="en-US" sz="2800" dirty="0">
                <a:latin typeface="华文楷体" panose="02010600040101010101" pitchFamily="2" charset="-122"/>
                <a:ea typeface="华文楷体" panose="02010600040101010101" pitchFamily="2" charset="-122"/>
                <a:hlinkClick r:id="rId3"/>
              </a:rPr>
              <a:t>处理</a:t>
            </a:r>
            <a:r>
              <a:rPr lang="zh-CN" altLang="en-US" sz="2800" dirty="0">
                <a:latin typeface="华文楷体" panose="02010600040101010101" pitchFamily="2" charset="-122"/>
                <a:ea typeface="华文楷体" panose="02010600040101010101" pitchFamily="2" charset="-122"/>
              </a:rPr>
              <a:t>，最终使之成为成品的</a:t>
            </a:r>
            <a:r>
              <a:rPr lang="zh-CN" altLang="en-US" sz="2800" u="sng" dirty="0">
                <a:latin typeface="华文楷体" panose="02010600040101010101" pitchFamily="2" charset="-122"/>
                <a:ea typeface="华文楷体" panose="02010600040101010101" pitchFamily="2" charset="-122"/>
                <a:hlinkClick r:id="rId4"/>
              </a:rPr>
              <a:t>方法</a:t>
            </a:r>
            <a:r>
              <a:rPr lang="zh-CN" altLang="en-US" sz="2800" u="sng" dirty="0">
                <a:latin typeface="华文楷体" panose="02010600040101010101" pitchFamily="2" charset="-122"/>
                <a:ea typeface="华文楷体" panose="02010600040101010101" pitchFamily="2" charset="-122"/>
              </a:rPr>
              <a:t>与过程</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800" dirty="0">
                <a:latin typeface="华文楷体" panose="02010600040101010101" pitchFamily="2" charset="-122"/>
                <a:ea typeface="华文楷体" panose="02010600040101010101" pitchFamily="2" charset="-122"/>
              </a:rPr>
              <a:t>金属工艺：按照图纸的图样和尺寸，利用各种工具通过改变</a:t>
            </a:r>
            <a:r>
              <a:rPr lang="zh-CN" altLang="en-US" sz="2800" dirty="0">
                <a:solidFill>
                  <a:srgbClr val="FF0000"/>
                </a:solidFill>
                <a:latin typeface="华文楷体" panose="02010600040101010101" pitchFamily="2" charset="-122"/>
                <a:ea typeface="华文楷体" panose="02010600040101010101" pitchFamily="2" charset="-122"/>
              </a:rPr>
              <a:t>金属原材料</a:t>
            </a:r>
            <a:r>
              <a:rPr lang="zh-CN" altLang="en-US" sz="2800" dirty="0">
                <a:latin typeface="华文楷体" panose="02010600040101010101" pitchFamily="2" charset="-122"/>
                <a:ea typeface="华文楷体" panose="02010600040101010101" pitchFamily="2" charset="-122"/>
              </a:rPr>
              <a:t>性质、形状、尺寸、相对位置，使之成为合格零件的全过程。</a:t>
            </a:r>
            <a:endParaRPr lang="en-US" altLang="zh-CN" sz="2800"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800" dirty="0">
                <a:latin typeface="华文楷体" panose="02010600040101010101" pitchFamily="2" charset="-122"/>
                <a:ea typeface="华文楷体" panose="02010600040101010101" pitchFamily="2" charset="-122"/>
              </a:rPr>
              <a:t>工艺方法：方法是指为达到某种目的而采取的途径、步骤、手段等 。工艺方法是具有一定流程的技术手段。（传承）</a:t>
            </a:r>
            <a:endParaRPr lang="en-US" altLang="zh-CN" sz="2800" dirty="0">
              <a:latin typeface="华文楷体" panose="02010600040101010101" pitchFamily="2" charset="-122"/>
              <a:ea typeface="华文楷体" panose="02010600040101010101" pitchFamily="2" charset="-122"/>
            </a:endParaRPr>
          </a:p>
          <a:p>
            <a:pPr lvl="1" eaLnBrk="1" hangingPunct="1">
              <a:lnSpc>
                <a:spcPct val="80000"/>
              </a:lnSpc>
            </a:pPr>
            <a:endParaRPr lang="en-US" altLang="zh-CN" sz="28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charRg st="0" end="1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3">
                                            <p:txEl>
                                              <p:charRg st="13" end="6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23">
                                            <p:txEl>
                                              <p:charRg st="63" end="12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23">
                                            <p:txEl>
                                              <p:charRg st="122" end="17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xfrm>
            <a:off x="457200" y="273050"/>
            <a:ext cx="8229600" cy="1139825"/>
          </a:xfrm>
        </p:spPr>
        <p:txBody>
          <a:bodyPr vert="horz" wrap="square" lIns="91440" tIns="45720" rIns="91440" bIns="45720" anchor="b" anchorCtr="0"/>
          <a:p>
            <a:pPr algn="ctr" eaLnBrk="1" hangingPunct="1"/>
            <a:r>
              <a:rPr lang="zh-CN" altLang="en-US" sz="5400" b="1" dirty="0">
                <a:latin typeface="华文楷体" panose="02010600040101010101" pitchFamily="2" charset="-122"/>
                <a:ea typeface="华文楷体" panose="02010600040101010101" pitchFamily="2" charset="-122"/>
              </a:rPr>
              <a:t>工艺方法</a:t>
            </a:r>
            <a:endParaRPr lang="zh-CN" altLang="zh-CN" sz="5400" b="1" dirty="0">
              <a:latin typeface="华文楷体" panose="02010600040101010101" pitchFamily="2" charset="-122"/>
              <a:ea typeface="华文楷体" panose="02010600040101010101" pitchFamily="2" charset="-122"/>
            </a:endParaRPr>
          </a:p>
        </p:txBody>
      </p:sp>
      <p:sp>
        <p:nvSpPr>
          <p:cNvPr id="5123" name="Rectangle 3"/>
          <p:cNvSpPr>
            <a:spLocks noGrp="1"/>
          </p:cNvSpPr>
          <p:nvPr>
            <p:ph type="body" sz="half"/>
          </p:nvPr>
        </p:nvSpPr>
        <p:spPr>
          <a:xfrm>
            <a:off x="803275" y="1412875"/>
            <a:ext cx="8002588" cy="486410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lnSpc>
                <a:spcPct val="80000"/>
              </a:lnSpc>
            </a:pPr>
            <a:endParaRPr lang="en-US" altLang="zh-CN" sz="2800"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800" b="1" dirty="0">
                <a:latin typeface="华文楷体" panose="02010600040101010101" pitchFamily="2" charset="-122"/>
                <a:ea typeface="华文楷体" panose="02010600040101010101" pitchFamily="2" charset="-122"/>
              </a:rPr>
              <a:t>铸造</a:t>
            </a:r>
            <a:endParaRPr lang="zh-CN" altLang="en-US" sz="2800"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800" b="1" dirty="0">
                <a:latin typeface="华文楷体" panose="02010600040101010101" pitchFamily="2" charset="-122"/>
                <a:ea typeface="华文楷体" panose="02010600040101010101" pitchFamily="2" charset="-122"/>
              </a:rPr>
              <a:t>塑性加工</a:t>
            </a:r>
            <a:endParaRPr lang="zh-CN" altLang="en-US" sz="2800"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800" b="1" dirty="0">
                <a:latin typeface="华文楷体" panose="02010600040101010101" pitchFamily="2" charset="-122"/>
                <a:ea typeface="华文楷体" panose="02010600040101010101" pitchFamily="2" charset="-122"/>
              </a:rPr>
              <a:t>焊接</a:t>
            </a:r>
            <a:endParaRPr lang="zh-CN" altLang="en-US" sz="2800" b="1" dirty="0">
              <a:latin typeface="华文楷体" panose="02010600040101010101" pitchFamily="2" charset="-122"/>
              <a:ea typeface="华文楷体" panose="02010600040101010101" pitchFamily="2" charset="-122"/>
            </a:endParaRPr>
          </a:p>
          <a:p>
            <a:pPr lvl="1" eaLnBrk="1" hangingPunct="1">
              <a:lnSpc>
                <a:spcPct val="80000"/>
              </a:lnSpc>
            </a:pPr>
            <a:endParaRPr lang="zh-CN" altLang="en-US" sz="2800"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800" b="1" dirty="0">
                <a:latin typeface="华文楷体" panose="02010600040101010101" pitchFamily="2" charset="-122"/>
                <a:ea typeface="华文楷体" panose="02010600040101010101" pitchFamily="2" charset="-122"/>
              </a:rPr>
              <a:t>热处理</a:t>
            </a:r>
            <a:endParaRPr lang="zh-CN" altLang="en-US" sz="2800" b="1" dirty="0">
              <a:latin typeface="华文楷体" panose="02010600040101010101" pitchFamily="2" charset="-122"/>
              <a:ea typeface="华文楷体" panose="02010600040101010101" pitchFamily="2" charset="-122"/>
            </a:endParaRPr>
          </a:p>
          <a:p>
            <a:pPr lvl="1" eaLnBrk="1" hangingPunct="1">
              <a:lnSpc>
                <a:spcPct val="80000"/>
              </a:lnSpc>
              <a:buNone/>
            </a:pPr>
            <a:r>
              <a:rPr lang="zh-CN" altLang="en-US" sz="2800" b="1" dirty="0">
                <a:latin typeface="华文楷体" panose="02010600040101010101" pitchFamily="2" charset="-122"/>
                <a:ea typeface="华文楷体" panose="02010600040101010101" pitchFamily="2" charset="-122"/>
              </a:rPr>
              <a:t> </a:t>
            </a:r>
            <a:endParaRPr lang="en-US" altLang="zh-CN" sz="2800" b="1" dirty="0">
              <a:latin typeface="华文楷体" panose="02010600040101010101" pitchFamily="2" charset="-122"/>
              <a:ea typeface="华文楷体" panose="02010600040101010101" pitchFamily="2" charset="-122"/>
            </a:endParaRPr>
          </a:p>
          <a:p>
            <a:pPr lvl="1" eaLnBrk="1" hangingPunct="1">
              <a:lnSpc>
                <a:spcPct val="80000"/>
              </a:lnSpc>
              <a:buNone/>
            </a:pPr>
            <a:endParaRPr lang="en-US" altLang="zh-CN" sz="2800" b="1" dirty="0">
              <a:latin typeface="华文楷体" panose="02010600040101010101" pitchFamily="2" charset="-122"/>
              <a:ea typeface="华文楷体" panose="02010600040101010101" pitchFamily="2" charset="-122"/>
            </a:endParaRPr>
          </a:p>
          <a:p>
            <a:pPr lvl="1" eaLnBrk="1" hangingPunct="1">
              <a:lnSpc>
                <a:spcPct val="80000"/>
              </a:lnSpc>
            </a:pPr>
            <a:r>
              <a:rPr lang="zh-CN" altLang="en-US" sz="2800" b="1" dirty="0">
                <a:latin typeface="华文楷体" panose="02010600040101010101" pitchFamily="2" charset="-122"/>
                <a:ea typeface="华文楷体" panose="02010600040101010101" pitchFamily="2" charset="-122"/>
              </a:rPr>
              <a:t>切削加工</a:t>
            </a:r>
            <a:endParaRPr lang="zh-CN" altLang="en-US" sz="2800" b="1" dirty="0">
              <a:latin typeface="华文楷体" panose="02010600040101010101" pitchFamily="2" charset="-122"/>
              <a:ea typeface="华文楷体" panose="02010600040101010101" pitchFamily="2" charset="-122"/>
            </a:endParaRPr>
          </a:p>
          <a:p>
            <a:pPr lvl="1" eaLnBrk="1" hangingPunct="1">
              <a:lnSpc>
                <a:spcPct val="80000"/>
              </a:lnSpc>
              <a:spcBef>
                <a:spcPct val="50000"/>
              </a:spcBef>
              <a:buNone/>
            </a:pPr>
            <a:endParaRPr lang="zh-CN" altLang="en-US" sz="2800" b="1" dirty="0">
              <a:latin typeface="华文楷体" panose="02010600040101010101" pitchFamily="2" charset="-122"/>
              <a:ea typeface="华文楷体" panose="02010600040101010101" pitchFamily="2" charset="-122"/>
            </a:endParaRPr>
          </a:p>
        </p:txBody>
      </p:sp>
      <p:graphicFrame>
        <p:nvGraphicFramePr>
          <p:cNvPr id="5124" name="Object 20"/>
          <p:cNvGraphicFramePr>
            <a:graphicFrameLocks noChangeAspect="1"/>
          </p:cNvGraphicFramePr>
          <p:nvPr>
            <p:ph sz="quarter" idx="1"/>
          </p:nvPr>
        </p:nvGraphicFramePr>
        <p:xfrm>
          <a:off x="7072313" y="2714625"/>
          <a:ext cx="928687" cy="865188"/>
        </p:xfrm>
        <a:graphic>
          <a:graphicData uri="http://schemas.openxmlformats.org/presentationml/2006/ole">
            <mc:AlternateContent xmlns:mc="http://schemas.openxmlformats.org/markup-compatibility/2006">
              <mc:Choice xmlns:v="urn:schemas-microsoft-com:vml" Requires="v">
                <p:oleObj spid="_x0000_s3076" name="" r:id="rId1" imgW="1275715" imgH="1162685" progId="Visio.Drawing.6">
                  <p:embed/>
                </p:oleObj>
              </mc:Choice>
              <mc:Fallback>
                <p:oleObj name="" r:id="rId1" imgW="1275715" imgH="1162685" progId="Visio.Drawing.6">
                  <p:embed/>
                  <p:pic>
                    <p:nvPicPr>
                      <p:cNvPr id="0" name="图片 3075"/>
                      <p:cNvPicPr/>
                      <p:nvPr/>
                    </p:nvPicPr>
                    <p:blipFill>
                      <a:blip r:embed="rId2"/>
                      <a:srcRect/>
                      <a:stretch>
                        <a:fillRect/>
                      </a:stretch>
                    </p:blipFill>
                    <p:spPr>
                      <a:xfrm>
                        <a:off x="7072313" y="2714625"/>
                        <a:ext cx="928687" cy="865188"/>
                      </a:xfrm>
                      <a:prstGeom prst="rect">
                        <a:avLst/>
                      </a:prstGeom>
                      <a:solidFill>
                        <a:srgbClr val="00CC99">
                          <a:alpha val="100000"/>
                        </a:srgbClr>
                      </a:solidFill>
                      <a:ln w="38100">
                        <a:miter/>
                      </a:ln>
                    </p:spPr>
                  </p:pic>
                </p:oleObj>
              </mc:Fallback>
            </mc:AlternateContent>
          </a:graphicData>
        </a:graphic>
      </p:graphicFrame>
      <p:grpSp>
        <p:nvGrpSpPr>
          <p:cNvPr id="2" name="Group 17"/>
          <p:cNvGrpSpPr/>
          <p:nvPr/>
        </p:nvGrpSpPr>
        <p:grpSpPr>
          <a:xfrm>
            <a:off x="3071813" y="1928813"/>
            <a:ext cx="2016125" cy="936625"/>
            <a:chOff x="0" y="0"/>
            <a:chExt cx="1271" cy="726"/>
          </a:xfrm>
        </p:grpSpPr>
        <p:sp>
          <p:nvSpPr>
            <p:cNvPr id="7186" name="AutoShape 4"/>
            <p:cNvSpPr/>
            <p:nvPr/>
          </p:nvSpPr>
          <p:spPr>
            <a:xfrm>
              <a:off x="0" y="0"/>
              <a:ext cx="136" cy="726"/>
            </a:xfrm>
            <a:prstGeom prst="rightBrace">
              <a:avLst>
                <a:gd name="adj1" fmla="val 44485"/>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7187" name="Text Box 5"/>
            <p:cNvSpPr txBox="1"/>
            <p:nvPr/>
          </p:nvSpPr>
          <p:spPr>
            <a:xfrm>
              <a:off x="182" y="226"/>
              <a:ext cx="1089" cy="308"/>
            </a:xfrm>
            <a:prstGeom prst="rect">
              <a:avLst/>
            </a:prstGeom>
            <a:solidFill>
              <a:srgbClr val="66FFFF"/>
            </a:solid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000" b="1" dirty="0">
                  <a:latin typeface="Arial" panose="020B0604020202020204" pitchFamily="34" charset="0"/>
                  <a:ea typeface="楷体_GB2312" pitchFamily="49" charset="-122"/>
                </a:rPr>
                <a:t>热加工工艺</a:t>
              </a:r>
              <a:endParaRPr lang="zh-CN" altLang="zh-CN" sz="2000" b="1" dirty="0">
                <a:latin typeface="Arial" panose="020B0604020202020204" pitchFamily="34" charset="0"/>
                <a:ea typeface="楷体_GB2312" pitchFamily="49" charset="-122"/>
              </a:endParaRPr>
            </a:p>
          </p:txBody>
        </p:sp>
      </p:grpSp>
      <p:grpSp>
        <p:nvGrpSpPr>
          <p:cNvPr id="3" name="Group 18"/>
          <p:cNvGrpSpPr/>
          <p:nvPr/>
        </p:nvGrpSpPr>
        <p:grpSpPr>
          <a:xfrm>
            <a:off x="4786313" y="2928938"/>
            <a:ext cx="1512887" cy="396875"/>
            <a:chOff x="0" y="0"/>
            <a:chExt cx="1089" cy="336"/>
          </a:xfrm>
        </p:grpSpPr>
        <p:sp>
          <p:nvSpPr>
            <p:cNvPr id="7184" name="AutoShape 8"/>
            <p:cNvSpPr/>
            <p:nvPr/>
          </p:nvSpPr>
          <p:spPr>
            <a:xfrm>
              <a:off x="0" y="45"/>
              <a:ext cx="454" cy="227"/>
            </a:xfrm>
            <a:custGeom>
              <a:avLst/>
              <a:gdLst>
                <a:gd name="txL" fmla="*/ 3378 w 21600"/>
                <a:gd name="txT" fmla="*/ 5424 h 21600"/>
                <a:gd name="txR" fmla="*/ 18888 w 21600"/>
                <a:gd name="txB" fmla="*/ 16176 h 2160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99FF33">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7185" name="Text Box 9"/>
            <p:cNvSpPr txBox="1"/>
            <p:nvPr/>
          </p:nvSpPr>
          <p:spPr>
            <a:xfrm>
              <a:off x="499" y="0"/>
              <a:ext cx="590" cy="336"/>
            </a:xfrm>
            <a:prstGeom prst="rect">
              <a:avLst/>
            </a:prstGeom>
            <a:solidFill>
              <a:srgbClr val="99FF33"/>
            </a:solid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000" b="1" dirty="0">
                  <a:latin typeface="Arial" panose="020B0604020202020204" pitchFamily="34" charset="0"/>
                  <a:ea typeface="楷体_GB2312" pitchFamily="49" charset="-122"/>
                </a:rPr>
                <a:t>毛坯</a:t>
              </a:r>
              <a:endParaRPr lang="zh-CN" altLang="zh-CN" sz="2000" b="1" dirty="0">
                <a:latin typeface="Arial" panose="020B0604020202020204" pitchFamily="34" charset="0"/>
                <a:ea typeface="楷体_GB2312" pitchFamily="49" charset="-122"/>
              </a:endParaRPr>
            </a:p>
          </p:txBody>
        </p:sp>
      </p:grpSp>
      <p:sp>
        <p:nvSpPr>
          <p:cNvPr id="5131" name="Text Box 10"/>
          <p:cNvSpPr txBox="1"/>
          <p:nvPr/>
        </p:nvSpPr>
        <p:spPr>
          <a:xfrm>
            <a:off x="3357563" y="2928938"/>
            <a:ext cx="1225550" cy="396875"/>
          </a:xfrm>
          <a:prstGeom prst="rect">
            <a:avLst/>
          </a:prstGeom>
          <a:solidFill>
            <a:srgbClr val="99FF33"/>
          </a:solid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000" b="1" dirty="0">
                <a:latin typeface="Arial" panose="020B0604020202020204" pitchFamily="34" charset="0"/>
                <a:ea typeface="楷体_GB2312" pitchFamily="49" charset="-122"/>
              </a:rPr>
              <a:t>金属材料</a:t>
            </a:r>
            <a:endParaRPr lang="zh-CN" altLang="zh-CN" sz="2000" b="1" dirty="0">
              <a:latin typeface="Arial" panose="020B0604020202020204" pitchFamily="34" charset="0"/>
              <a:ea typeface="楷体_GB2312" pitchFamily="49" charset="-122"/>
            </a:endParaRPr>
          </a:p>
        </p:txBody>
      </p:sp>
      <p:sp>
        <p:nvSpPr>
          <p:cNvPr id="5132" name="Text Box 6"/>
          <p:cNvSpPr txBox="1"/>
          <p:nvPr/>
        </p:nvSpPr>
        <p:spPr>
          <a:xfrm>
            <a:off x="3357563" y="4786313"/>
            <a:ext cx="1512887" cy="396875"/>
          </a:xfrm>
          <a:prstGeom prst="rect">
            <a:avLst/>
          </a:prstGeom>
          <a:solidFill>
            <a:srgbClr val="66FFFF"/>
          </a:solid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000" b="1" dirty="0">
                <a:latin typeface="华文楷体" panose="02010600040101010101" pitchFamily="2" charset="-122"/>
                <a:ea typeface="华文楷体" panose="02010600040101010101" pitchFamily="2" charset="-122"/>
              </a:rPr>
              <a:t>冷加工工艺</a:t>
            </a:r>
            <a:endParaRPr lang="zh-CN" altLang="zh-CN" sz="2000" b="1" dirty="0">
              <a:latin typeface="华文楷体" panose="02010600040101010101" pitchFamily="2" charset="-122"/>
              <a:ea typeface="华文楷体" panose="02010600040101010101" pitchFamily="2" charset="-122"/>
            </a:endParaRPr>
          </a:p>
        </p:txBody>
      </p:sp>
      <p:grpSp>
        <p:nvGrpSpPr>
          <p:cNvPr id="4" name="Group 19"/>
          <p:cNvGrpSpPr/>
          <p:nvPr/>
        </p:nvGrpSpPr>
        <p:grpSpPr>
          <a:xfrm>
            <a:off x="4000500" y="5643563"/>
            <a:ext cx="1584325" cy="396875"/>
            <a:chOff x="0" y="0"/>
            <a:chExt cx="1010" cy="317"/>
          </a:xfrm>
        </p:grpSpPr>
        <p:sp>
          <p:nvSpPr>
            <p:cNvPr id="7182" name="AutoShape 12"/>
            <p:cNvSpPr/>
            <p:nvPr/>
          </p:nvSpPr>
          <p:spPr>
            <a:xfrm>
              <a:off x="0" y="45"/>
              <a:ext cx="454" cy="227"/>
            </a:xfrm>
            <a:custGeom>
              <a:avLst/>
              <a:gdLst>
                <a:gd name="txL" fmla="*/ 3378 w 21600"/>
                <a:gd name="txT" fmla="*/ 5424 h 21600"/>
                <a:gd name="txR" fmla="*/ 18888 w 21600"/>
                <a:gd name="txB" fmla="*/ 16176 h 2160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99FF33">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7183" name="Text Box 13"/>
            <p:cNvSpPr txBox="1"/>
            <p:nvPr/>
          </p:nvSpPr>
          <p:spPr>
            <a:xfrm>
              <a:off x="499" y="0"/>
              <a:ext cx="511" cy="317"/>
            </a:xfrm>
            <a:prstGeom prst="rect">
              <a:avLst/>
            </a:prstGeom>
            <a:solidFill>
              <a:srgbClr val="99FF33"/>
            </a:solid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000" b="1" dirty="0">
                  <a:latin typeface="Arial" panose="020B0604020202020204" pitchFamily="34" charset="0"/>
                  <a:ea typeface="楷体_GB2312" pitchFamily="49" charset="-122"/>
                </a:rPr>
                <a:t>零件</a:t>
              </a:r>
              <a:endParaRPr lang="zh-CN" altLang="zh-CN" sz="2000" b="1" dirty="0">
                <a:latin typeface="Arial" panose="020B0604020202020204" pitchFamily="34" charset="0"/>
                <a:ea typeface="楷体_GB2312" pitchFamily="49" charset="-122"/>
              </a:endParaRPr>
            </a:p>
          </p:txBody>
        </p:sp>
      </p:grpSp>
      <p:sp>
        <p:nvSpPr>
          <p:cNvPr id="5136" name="Text Box 14"/>
          <p:cNvSpPr txBox="1"/>
          <p:nvPr/>
        </p:nvSpPr>
        <p:spPr>
          <a:xfrm>
            <a:off x="1643063" y="5643563"/>
            <a:ext cx="2108200" cy="396875"/>
          </a:xfrm>
          <a:prstGeom prst="rect">
            <a:avLst/>
          </a:prstGeom>
          <a:solidFill>
            <a:srgbClr val="99FF33"/>
          </a:solid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000" b="1" dirty="0">
                <a:latin typeface="Arial" panose="020B0604020202020204" pitchFamily="34" charset="0"/>
                <a:ea typeface="楷体_GB2312" pitchFamily="49" charset="-122"/>
              </a:rPr>
              <a:t>金属材料或毛坯</a:t>
            </a:r>
            <a:endParaRPr lang="zh-CN" altLang="zh-CN" sz="2000" b="1" dirty="0">
              <a:latin typeface="Arial" panose="020B0604020202020204" pitchFamily="34" charset="0"/>
              <a:ea typeface="楷体_GB2312" pitchFamily="49" charset="-122"/>
            </a:endParaRPr>
          </a:p>
        </p:txBody>
      </p:sp>
      <p:sp>
        <p:nvSpPr>
          <p:cNvPr id="5137" name="Text Box 15"/>
          <p:cNvSpPr txBox="1"/>
          <p:nvPr/>
        </p:nvSpPr>
        <p:spPr>
          <a:xfrm>
            <a:off x="1643063" y="4071938"/>
            <a:ext cx="5257800" cy="396875"/>
          </a:xfrm>
          <a:prstGeom prst="rect">
            <a:avLst/>
          </a:prstGeom>
          <a:solidFill>
            <a:srgbClr val="99FF33"/>
          </a:solid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000" b="1" dirty="0">
                <a:latin typeface="华文楷体" panose="02010600040101010101" pitchFamily="2" charset="-122"/>
                <a:ea typeface="华文楷体" panose="02010600040101010101" pitchFamily="2" charset="-122"/>
              </a:rPr>
              <a:t>改善金属材料或毛坯的加工性能和力学性能</a:t>
            </a:r>
            <a:endParaRPr lang="zh-CN" altLang="zh-CN" sz="2000" b="1" dirty="0">
              <a:latin typeface="华文楷体" panose="02010600040101010101" pitchFamily="2" charset="-122"/>
              <a:ea typeface="华文楷体" panose="02010600040101010101" pitchFamily="2" charset="-122"/>
            </a:endParaRPr>
          </a:p>
        </p:txBody>
      </p:sp>
      <p:graphicFrame>
        <p:nvGraphicFramePr>
          <p:cNvPr id="5138" name="Object 24"/>
          <p:cNvGraphicFramePr>
            <a:graphicFrameLocks noChangeAspect="1"/>
          </p:cNvGraphicFramePr>
          <p:nvPr>
            <p:ph sz="quarter" idx="1"/>
          </p:nvPr>
        </p:nvGraphicFramePr>
        <p:xfrm>
          <a:off x="7072313" y="5000625"/>
          <a:ext cx="998537" cy="928688"/>
        </p:xfrm>
        <a:graphic>
          <a:graphicData uri="http://schemas.openxmlformats.org/presentationml/2006/ole">
            <mc:AlternateContent xmlns:mc="http://schemas.openxmlformats.org/markup-compatibility/2006">
              <mc:Choice xmlns:v="urn:schemas-microsoft-com:vml" Requires="v">
                <p:oleObj spid="_x0000_s3077" name="" r:id="rId3" imgW="1275715" imgH="1162685" progId="Visio.Drawing.6">
                  <p:embed/>
                </p:oleObj>
              </mc:Choice>
              <mc:Fallback>
                <p:oleObj name="" r:id="rId3" imgW="1275715" imgH="1162685" progId="Visio.Drawing.6">
                  <p:embed/>
                  <p:pic>
                    <p:nvPicPr>
                      <p:cNvPr id="0" name="图片 3076"/>
                      <p:cNvPicPr/>
                      <p:nvPr/>
                    </p:nvPicPr>
                    <p:blipFill>
                      <a:blip r:embed="rId4"/>
                      <a:srcRect/>
                      <a:stretch>
                        <a:fillRect/>
                      </a:stretch>
                    </p:blipFill>
                    <p:spPr>
                      <a:xfrm>
                        <a:off x="7072313" y="5000625"/>
                        <a:ext cx="998537" cy="928688"/>
                      </a:xfrm>
                      <a:prstGeom prst="rect">
                        <a:avLst/>
                      </a:prstGeom>
                      <a:solidFill>
                        <a:srgbClr val="00CC99">
                          <a:alpha val="100000"/>
                        </a:srgbClr>
                      </a:solidFill>
                      <a:ln w="38100">
                        <a:miter/>
                      </a:ln>
                    </p:spPr>
                  </p:pic>
                </p:oleObj>
              </mc:Fallback>
            </mc:AlternateContent>
          </a:graphicData>
        </a:graphic>
      </p:graphicFrame>
      <p:sp>
        <p:nvSpPr>
          <p:cNvPr id="7181" name="下箭头 4"/>
          <p:cNvSpPr/>
          <p:nvPr/>
        </p:nvSpPr>
        <p:spPr>
          <a:xfrm>
            <a:off x="7358063" y="4000500"/>
            <a:ext cx="339725" cy="590550"/>
          </a:xfrm>
          <a:prstGeom prst="downArrow">
            <a:avLst>
              <a:gd name="adj1" fmla="val 50000"/>
              <a:gd name="adj2" fmla="val 50201"/>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charRg st="1"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3">
                                            <p:txEl>
                                              <p:charRg st="4"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3">
                                            <p:txEl>
                                              <p:charRg st="9" end="1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0-#ppt_w/2"/>
                                          </p:val>
                                        </p:tav>
                                        <p:tav tm="100000">
                                          <p:val>
                                            <p:strVal val="#ppt_x"/>
                                          </p:val>
                                        </p:tav>
                                      </p:tavLst>
                                    </p:anim>
                                    <p:anim calcmode="lin" valueType="num">
                                      <p:cBhvr additive="base">
                                        <p:cTn id="30" dur="500" fill="hold"/>
                                        <p:tgtEl>
                                          <p:spTgt spid="3"/>
                                        </p:tgtEl>
                                        <p:attrNameLst>
                                          <p:attrName>ppt_y</p:attrName>
                                        </p:attrNameLst>
                                      </p:cBhvr>
                                      <p:tavLst>
                                        <p:tav tm="0">
                                          <p:val>
                                            <p:strVal val="#ppt_y"/>
                                          </p:val>
                                        </p:tav>
                                        <p:tav tm="100000">
                                          <p:val>
                                            <p:strVal val="#ppt_y"/>
                                          </p:val>
                                        </p:tav>
                                      </p:tavLst>
                                    </p:anim>
                                  </p:childTnLst>
                                </p:cTn>
                              </p:par>
                              <p:par>
                                <p:cTn id="31" presetID="3" presetClass="entr" presetSubtype="10" fill="hold" nodeType="withEffect">
                                  <p:stCondLst>
                                    <p:cond delay="0"/>
                                  </p:stCondLst>
                                  <p:childTnLst>
                                    <p:set>
                                      <p:cBhvr>
                                        <p:cTn id="32" dur="1" fill="hold">
                                          <p:stCondLst>
                                            <p:cond delay="0"/>
                                          </p:stCondLst>
                                        </p:cTn>
                                        <p:tgtEl>
                                          <p:spTgt spid="5124"/>
                                        </p:tgtEl>
                                        <p:attrNameLst>
                                          <p:attrName>style.visibility</p:attrName>
                                        </p:attrNameLst>
                                      </p:cBhvr>
                                      <p:to>
                                        <p:strVal val="visible"/>
                                      </p:to>
                                    </p:set>
                                    <p:animEffect transition="in" filter="blinds(horizontal)">
                                      <p:cBhvr>
                                        <p:cTn id="33" dur="500"/>
                                        <p:tgtEl>
                                          <p:spTgt spid="512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123">
                                            <p:txEl>
                                              <p:charRg st="13" end="17"/>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5137"/>
                                        </p:tgtEl>
                                        <p:attrNameLst>
                                          <p:attrName>style.visibility</p:attrName>
                                        </p:attrNameLst>
                                      </p:cBhvr>
                                      <p:to>
                                        <p:strVal val="visible"/>
                                      </p:to>
                                    </p:set>
                                    <p:anim calcmode="lin" valueType="num">
                                      <p:cBhvr additive="base">
                                        <p:cTn id="42" dur="500" fill="hold"/>
                                        <p:tgtEl>
                                          <p:spTgt spid="5137"/>
                                        </p:tgtEl>
                                        <p:attrNameLst>
                                          <p:attrName>ppt_x</p:attrName>
                                        </p:attrNameLst>
                                      </p:cBhvr>
                                      <p:tavLst>
                                        <p:tav tm="0">
                                          <p:val>
                                            <p:strVal val="#ppt_x"/>
                                          </p:val>
                                        </p:tav>
                                        <p:tav tm="100000">
                                          <p:val>
                                            <p:strVal val="#ppt_x"/>
                                          </p:val>
                                        </p:tav>
                                      </p:tavLst>
                                    </p:anim>
                                    <p:anim calcmode="lin" valueType="num">
                                      <p:cBhvr additive="base">
                                        <p:cTn id="43" dur="500" fill="hold"/>
                                        <p:tgtEl>
                                          <p:spTgt spid="5137"/>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5132"/>
                                        </p:tgtEl>
                                        <p:attrNameLst>
                                          <p:attrName>style.visibility</p:attrName>
                                        </p:attrNameLst>
                                      </p:cBhvr>
                                      <p:to>
                                        <p:strVal val="visible"/>
                                      </p:to>
                                    </p:set>
                                    <p:anim calcmode="lin" valueType="num">
                                      <p:cBhvr additive="base">
                                        <p:cTn id="48" dur="500" fill="hold"/>
                                        <p:tgtEl>
                                          <p:spTgt spid="5132"/>
                                        </p:tgtEl>
                                        <p:attrNameLst>
                                          <p:attrName>ppt_x</p:attrName>
                                        </p:attrNameLst>
                                      </p:cBhvr>
                                      <p:tavLst>
                                        <p:tav tm="0">
                                          <p:val>
                                            <p:strVal val="#ppt_x"/>
                                          </p:val>
                                        </p:tav>
                                        <p:tav tm="100000">
                                          <p:val>
                                            <p:strVal val="#ppt_x"/>
                                          </p:val>
                                        </p:tav>
                                      </p:tavLst>
                                    </p:anim>
                                    <p:anim calcmode="lin" valueType="num">
                                      <p:cBhvr additive="base">
                                        <p:cTn id="49" dur="500" fill="hold"/>
                                        <p:tgtEl>
                                          <p:spTgt spid="5132"/>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5136"/>
                                        </p:tgtEl>
                                        <p:attrNameLst>
                                          <p:attrName>style.visibility</p:attrName>
                                        </p:attrNameLst>
                                      </p:cBhvr>
                                      <p:to>
                                        <p:strVal val="visible"/>
                                      </p:to>
                                    </p:set>
                                    <p:anim calcmode="lin" valueType="num">
                                      <p:cBhvr additive="base">
                                        <p:cTn id="54" dur="500" fill="hold"/>
                                        <p:tgtEl>
                                          <p:spTgt spid="5136"/>
                                        </p:tgtEl>
                                        <p:attrNameLst>
                                          <p:attrName>ppt_x</p:attrName>
                                        </p:attrNameLst>
                                      </p:cBhvr>
                                      <p:tavLst>
                                        <p:tav tm="0">
                                          <p:val>
                                            <p:strVal val="#ppt_x"/>
                                          </p:val>
                                        </p:tav>
                                        <p:tav tm="100000">
                                          <p:val>
                                            <p:strVal val="#ppt_x"/>
                                          </p:val>
                                        </p:tav>
                                      </p:tavLst>
                                    </p:anim>
                                    <p:anim calcmode="lin" valueType="num">
                                      <p:cBhvr additive="base">
                                        <p:cTn id="55" dur="500" fill="hold"/>
                                        <p:tgtEl>
                                          <p:spTgt spid="5136"/>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8"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 calcmode="lin" valueType="num">
                                      <p:cBhvr additive="base">
                                        <p:cTn id="60" dur="500" fill="hold"/>
                                        <p:tgtEl>
                                          <p:spTgt spid="4"/>
                                        </p:tgtEl>
                                        <p:attrNameLst>
                                          <p:attrName>ppt_x</p:attrName>
                                        </p:attrNameLst>
                                      </p:cBhvr>
                                      <p:tavLst>
                                        <p:tav tm="0">
                                          <p:val>
                                            <p:strVal val="0-#ppt_w/2"/>
                                          </p:val>
                                        </p:tav>
                                        <p:tav tm="100000">
                                          <p:val>
                                            <p:strVal val="#ppt_x"/>
                                          </p:val>
                                        </p:tav>
                                      </p:tavLst>
                                    </p:anim>
                                    <p:anim calcmode="lin" valueType="num">
                                      <p:cBhvr additive="base">
                                        <p:cTn id="61" dur="500" fill="hold"/>
                                        <p:tgtEl>
                                          <p:spTgt spid="4"/>
                                        </p:tgtEl>
                                        <p:attrNameLst>
                                          <p:attrName>ppt_y</p:attrName>
                                        </p:attrNameLst>
                                      </p:cBhvr>
                                      <p:tavLst>
                                        <p:tav tm="0">
                                          <p:val>
                                            <p:strVal val="#ppt_y"/>
                                          </p:val>
                                        </p:tav>
                                        <p:tav tm="100000">
                                          <p:val>
                                            <p:strVal val="#ppt_y"/>
                                          </p:val>
                                        </p:tav>
                                      </p:tavLst>
                                    </p:anim>
                                  </p:childTnLst>
                                </p:cTn>
                              </p:par>
                              <p:par>
                                <p:cTn id="62" presetID="3" presetClass="entr" presetSubtype="10" fill="hold" nodeType="withEffect">
                                  <p:stCondLst>
                                    <p:cond delay="0"/>
                                  </p:stCondLst>
                                  <p:childTnLst>
                                    <p:set>
                                      <p:cBhvr>
                                        <p:cTn id="63" dur="1" fill="hold">
                                          <p:stCondLst>
                                            <p:cond delay="0"/>
                                          </p:stCondLst>
                                        </p:cTn>
                                        <p:tgtEl>
                                          <p:spTgt spid="5138"/>
                                        </p:tgtEl>
                                        <p:attrNameLst>
                                          <p:attrName>style.visibility</p:attrName>
                                        </p:attrNameLst>
                                      </p:cBhvr>
                                      <p:to>
                                        <p:strVal val="visible"/>
                                      </p:to>
                                    </p:set>
                                    <p:animEffect transition="in" filter="blinds(horizontal)">
                                      <p:cBhvr>
                                        <p:cTn id="64" dur="5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P spid="5131" grpId="0" animBg="1"/>
      <p:bldP spid="5132" grpId="0" animBg="1"/>
      <p:bldP spid="5136" grpId="0" animBg="1"/>
      <p:bldP spid="513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4" name="Picture 2"/>
          <p:cNvPicPr>
            <a:picLocks noChangeAspect="1"/>
          </p:cNvPicPr>
          <p:nvPr/>
        </p:nvPicPr>
        <p:blipFill>
          <a:blip r:embed="rId1"/>
          <a:stretch>
            <a:fillRect/>
          </a:stretch>
        </p:blipFill>
        <p:spPr>
          <a:xfrm>
            <a:off x="-4762" y="3489325"/>
            <a:ext cx="4762500" cy="3390900"/>
          </a:xfrm>
          <a:prstGeom prst="rect">
            <a:avLst/>
          </a:prstGeom>
          <a:noFill/>
          <a:ln w="9525">
            <a:noFill/>
          </a:ln>
        </p:spPr>
      </p:pic>
      <p:pic>
        <p:nvPicPr>
          <p:cNvPr id="8195" name="Picture 4"/>
          <p:cNvPicPr>
            <a:picLocks noChangeAspect="1"/>
          </p:cNvPicPr>
          <p:nvPr/>
        </p:nvPicPr>
        <p:blipFill>
          <a:blip r:embed="rId2"/>
          <a:stretch>
            <a:fillRect/>
          </a:stretch>
        </p:blipFill>
        <p:spPr>
          <a:xfrm>
            <a:off x="4572000" y="3392488"/>
            <a:ext cx="4762500" cy="3571875"/>
          </a:xfrm>
          <a:prstGeom prst="rect">
            <a:avLst/>
          </a:prstGeom>
          <a:noFill/>
          <a:ln w="9525">
            <a:noFill/>
          </a:ln>
        </p:spPr>
      </p:pic>
      <p:pic>
        <p:nvPicPr>
          <p:cNvPr id="8196" name="Picture 2"/>
          <p:cNvPicPr>
            <a:picLocks noChangeAspect="1"/>
          </p:cNvPicPr>
          <p:nvPr/>
        </p:nvPicPr>
        <p:blipFill>
          <a:blip r:embed="rId3"/>
          <a:stretch>
            <a:fillRect/>
          </a:stretch>
        </p:blipFill>
        <p:spPr>
          <a:xfrm>
            <a:off x="33338" y="549275"/>
            <a:ext cx="4724400" cy="2667000"/>
          </a:xfrm>
          <a:prstGeom prst="rect">
            <a:avLst/>
          </a:prstGeom>
          <a:noFill/>
          <a:ln w="9525">
            <a:noFill/>
          </a:ln>
        </p:spPr>
      </p:pic>
      <p:pic>
        <p:nvPicPr>
          <p:cNvPr id="8197" name="Picture 6"/>
          <p:cNvPicPr>
            <a:picLocks noChangeAspect="1"/>
          </p:cNvPicPr>
          <p:nvPr/>
        </p:nvPicPr>
        <p:blipFill>
          <a:blip r:embed="rId4"/>
          <a:stretch>
            <a:fillRect/>
          </a:stretch>
        </p:blipFill>
        <p:spPr>
          <a:xfrm>
            <a:off x="4683125" y="333375"/>
            <a:ext cx="4457700" cy="2970213"/>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8" name="Picture 2"/>
          <p:cNvPicPr>
            <a:picLocks noChangeAspect="1"/>
          </p:cNvPicPr>
          <p:nvPr/>
        </p:nvPicPr>
        <p:blipFill>
          <a:blip r:embed="rId1"/>
          <a:stretch>
            <a:fillRect/>
          </a:stretch>
        </p:blipFill>
        <p:spPr>
          <a:xfrm>
            <a:off x="468313" y="549275"/>
            <a:ext cx="3333750" cy="2505075"/>
          </a:xfrm>
          <a:prstGeom prst="rect">
            <a:avLst/>
          </a:prstGeom>
          <a:noFill/>
          <a:ln w="9525">
            <a:noFill/>
          </a:ln>
        </p:spPr>
      </p:pic>
      <p:pic>
        <p:nvPicPr>
          <p:cNvPr id="9219" name="Picture 4"/>
          <p:cNvPicPr>
            <a:picLocks noChangeAspect="1"/>
          </p:cNvPicPr>
          <p:nvPr/>
        </p:nvPicPr>
        <p:blipFill>
          <a:blip r:embed="rId2"/>
          <a:stretch>
            <a:fillRect/>
          </a:stretch>
        </p:blipFill>
        <p:spPr>
          <a:xfrm>
            <a:off x="4859338" y="2809875"/>
            <a:ext cx="3676650" cy="4048125"/>
          </a:xfrm>
          <a:prstGeom prst="rect">
            <a:avLst/>
          </a:prstGeom>
          <a:noFill/>
          <a:ln w="9525">
            <a:noFill/>
          </a:ln>
        </p:spPr>
      </p:pic>
      <p:pic>
        <p:nvPicPr>
          <p:cNvPr id="9220" name="Picture 6"/>
          <p:cNvPicPr>
            <a:picLocks noChangeAspect="1"/>
          </p:cNvPicPr>
          <p:nvPr/>
        </p:nvPicPr>
        <p:blipFill>
          <a:blip r:embed="rId3"/>
          <a:stretch>
            <a:fillRect/>
          </a:stretch>
        </p:blipFill>
        <p:spPr>
          <a:xfrm>
            <a:off x="468313" y="3784600"/>
            <a:ext cx="3333750" cy="2543175"/>
          </a:xfrm>
          <a:prstGeom prst="rect">
            <a:avLst/>
          </a:prstGeom>
          <a:noFill/>
          <a:ln w="9525">
            <a:noFill/>
          </a:ln>
        </p:spPr>
      </p:pic>
      <p:pic>
        <p:nvPicPr>
          <p:cNvPr id="9221" name="Picture 8"/>
          <p:cNvPicPr>
            <a:picLocks noChangeAspect="1"/>
          </p:cNvPicPr>
          <p:nvPr/>
        </p:nvPicPr>
        <p:blipFill>
          <a:blip r:embed="rId4"/>
          <a:stretch>
            <a:fillRect/>
          </a:stretch>
        </p:blipFill>
        <p:spPr>
          <a:xfrm>
            <a:off x="4833938" y="141288"/>
            <a:ext cx="3671887" cy="2668587"/>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4" descr="https://timgsa.baidu.com/timg?image&amp;quality=80&amp;size=b9999_10000&amp;sec=1536295565422&amp;di=dcccc87261e53280b3bc1ea62c506a94&amp;imgtype=0&amp;src=http%3A%2F%2Fwww.yugan.com.cn%2FUploadFiles%2F2014-04%2Fygzcadmin2012%2F20140418103719394.jpg"/>
          <p:cNvPicPr>
            <a:picLocks noChangeAspect="1"/>
          </p:cNvPicPr>
          <p:nvPr/>
        </p:nvPicPr>
        <p:blipFill>
          <a:blip r:embed="rId1"/>
          <a:stretch>
            <a:fillRect/>
          </a:stretch>
        </p:blipFill>
        <p:spPr>
          <a:xfrm>
            <a:off x="1693863" y="2516188"/>
            <a:ext cx="6477000" cy="4314825"/>
          </a:xfrm>
          <a:prstGeom prst="rect">
            <a:avLst/>
          </a:prstGeom>
          <a:noFill/>
          <a:ln w="9525">
            <a:noFill/>
          </a:ln>
        </p:spPr>
      </p:pic>
      <p:pic>
        <p:nvPicPr>
          <p:cNvPr id="10243" name="Picture 8" descr="https://timgsa.baidu.com/timg?image&amp;quality=80&amp;size=b9999_10000&amp;sec=1536296387358&amp;di=473e202af36262c65c810fb32e42b1a8&amp;imgtype=0&amp;src=http%3A%2F%2Fimg1.cache.netease.com%2Fcatchpic%2F0%2F07%2F0776A34435041EC5956C504B38B4E525.jpg"/>
          <p:cNvPicPr>
            <a:picLocks noChangeAspect="1"/>
          </p:cNvPicPr>
          <p:nvPr/>
        </p:nvPicPr>
        <p:blipFill>
          <a:blip r:embed="rId2"/>
          <a:stretch>
            <a:fillRect/>
          </a:stretch>
        </p:blipFill>
        <p:spPr>
          <a:xfrm>
            <a:off x="4932363" y="0"/>
            <a:ext cx="3810000" cy="2533650"/>
          </a:xfrm>
          <a:prstGeom prst="rect">
            <a:avLst/>
          </a:prstGeom>
          <a:noFill/>
          <a:ln w="9525">
            <a:noFill/>
          </a:ln>
        </p:spPr>
      </p:pic>
      <p:pic>
        <p:nvPicPr>
          <p:cNvPr id="10244" name="Picture 6" descr="https://timgsa.baidu.com/timg?image&amp;quality=80&amp;size=b9999_10000&amp;sec=1536295729338&amp;di=a3bf574b37aa8fc2b641ad94975036e9&amp;imgtype=0&amp;src=http%3A%2F%2Fimg1.gtimg.com%2Fcq%2Fpics%2F24273%2F24273649.jpg"/>
          <p:cNvPicPr>
            <a:picLocks noChangeAspect="1"/>
          </p:cNvPicPr>
          <p:nvPr/>
        </p:nvPicPr>
        <p:blipFill>
          <a:blip r:embed="rId3"/>
          <a:stretch>
            <a:fillRect/>
          </a:stretch>
        </p:blipFill>
        <p:spPr>
          <a:xfrm>
            <a:off x="395288" y="-206375"/>
            <a:ext cx="4281487" cy="286067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266" name="Group 2"/>
          <p:cNvGrpSpPr/>
          <p:nvPr/>
        </p:nvGrpSpPr>
        <p:grpSpPr>
          <a:xfrm>
            <a:off x="381000" y="1530350"/>
            <a:ext cx="8534400" cy="5715000"/>
            <a:chOff x="0" y="0"/>
            <a:chExt cx="5376" cy="3600"/>
          </a:xfrm>
        </p:grpSpPr>
        <p:grpSp>
          <p:nvGrpSpPr>
            <p:cNvPr id="11272" name="Group 3"/>
            <p:cNvGrpSpPr/>
            <p:nvPr/>
          </p:nvGrpSpPr>
          <p:grpSpPr>
            <a:xfrm>
              <a:off x="0" y="0"/>
              <a:ext cx="5376" cy="3168"/>
              <a:chOff x="0" y="0"/>
              <a:chExt cx="5376" cy="3168"/>
            </a:xfrm>
          </p:grpSpPr>
          <p:grpSp>
            <p:nvGrpSpPr>
              <p:cNvPr id="11274" name="Group 4"/>
              <p:cNvGrpSpPr/>
              <p:nvPr/>
            </p:nvGrpSpPr>
            <p:grpSpPr>
              <a:xfrm>
                <a:off x="0" y="0"/>
                <a:ext cx="5376" cy="3168"/>
                <a:chOff x="0" y="0"/>
                <a:chExt cx="5376" cy="3168"/>
              </a:xfrm>
            </p:grpSpPr>
            <p:grpSp>
              <p:nvGrpSpPr>
                <p:cNvPr id="11276" name="Group 5"/>
                <p:cNvGrpSpPr/>
                <p:nvPr/>
              </p:nvGrpSpPr>
              <p:grpSpPr>
                <a:xfrm>
                  <a:off x="3894" y="2668"/>
                  <a:ext cx="338" cy="212"/>
                  <a:chOff x="0" y="0"/>
                  <a:chExt cx="338" cy="212"/>
                </a:xfrm>
              </p:grpSpPr>
              <p:grpSp>
                <p:nvGrpSpPr>
                  <p:cNvPr id="12471" name="Group 6"/>
                  <p:cNvGrpSpPr/>
                  <p:nvPr/>
                </p:nvGrpSpPr>
                <p:grpSpPr>
                  <a:xfrm>
                    <a:off x="87" y="0"/>
                    <a:ext cx="81" cy="122"/>
                    <a:chOff x="0" y="0"/>
                    <a:chExt cx="81" cy="122"/>
                  </a:xfrm>
                </p:grpSpPr>
                <p:sp>
                  <p:nvSpPr>
                    <p:cNvPr id="12483" name="Oval 7"/>
                    <p:cNvSpPr/>
                    <p:nvPr/>
                  </p:nvSpPr>
                  <p:spPr>
                    <a:xfrm>
                      <a:off x="27" y="0"/>
                      <a:ext cx="28" cy="38"/>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84" name="Freeform 8"/>
                    <p:cNvSpPr/>
                    <p:nvPr/>
                  </p:nvSpPr>
                  <p:spPr>
                    <a:xfrm rot="5722454">
                      <a:off x="-21" y="73"/>
                      <a:ext cx="66" cy="24"/>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485" name="Freeform 9"/>
                    <p:cNvSpPr/>
                    <p:nvPr/>
                  </p:nvSpPr>
                  <p:spPr>
                    <a:xfrm>
                      <a:off x="56" y="55"/>
                      <a:ext cx="25" cy="62"/>
                    </a:xfrm>
                    <a:custGeom>
                      <a:avLst/>
                      <a:gdLst>
                        <a:gd name="txL" fmla="*/ 0 w 525"/>
                        <a:gd name="txT" fmla="*/ 0 h 936"/>
                        <a:gd name="txR" fmla="*/ 525 w 525"/>
                        <a:gd name="txB" fmla="*/ 936 h 936"/>
                      </a:gdLst>
                      <a:ahLst/>
                      <a:cxnLst>
                        <a:cxn ang="0">
                          <a:pos x="0" y="0"/>
                        </a:cxn>
                        <a:cxn ang="0">
                          <a:pos x="0" y="0"/>
                        </a:cxn>
                        <a:cxn ang="0">
                          <a:pos x="0" y="0"/>
                        </a:cxn>
                      </a:cxnLst>
                      <a:rect l="txL" t="txT" r="txR" b="txB"/>
                      <a:pathLst>
                        <a:path w="525" h="936">
                          <a:moveTo>
                            <a:pt x="0" y="0"/>
                          </a:moveTo>
                          <a:cubicBezTo>
                            <a:pt x="166" y="0"/>
                            <a:pt x="333" y="0"/>
                            <a:pt x="420" y="156"/>
                          </a:cubicBezTo>
                          <a:cubicBezTo>
                            <a:pt x="507" y="312"/>
                            <a:pt x="516" y="624"/>
                            <a:pt x="525" y="93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486" name="Line 10"/>
                    <p:cNvSpPr/>
                    <p:nvPr/>
                  </p:nvSpPr>
                  <p:spPr>
                    <a:xfrm>
                      <a:off x="41" y="40"/>
                      <a:ext cx="0" cy="82"/>
                    </a:xfrm>
                    <a:prstGeom prst="line">
                      <a:avLst/>
                    </a:prstGeom>
                    <a:ln w="12700" cap="flat" cmpd="sng">
                      <a:solidFill>
                        <a:schemeClr val="tx1"/>
                      </a:solidFill>
                      <a:prstDash val="solid"/>
                      <a:headEnd type="none" w="med" len="med"/>
                      <a:tailEnd type="none" w="med" len="med"/>
                    </a:ln>
                  </p:spPr>
                </p:sp>
                <p:sp>
                  <p:nvSpPr>
                    <p:cNvPr id="12487" name="Line 11"/>
                    <p:cNvSpPr/>
                    <p:nvPr/>
                  </p:nvSpPr>
                  <p:spPr>
                    <a:xfrm>
                      <a:off x="27" y="54"/>
                      <a:ext cx="31" cy="0"/>
                    </a:xfrm>
                    <a:prstGeom prst="line">
                      <a:avLst/>
                    </a:prstGeom>
                    <a:ln w="12700" cap="flat" cmpd="sng">
                      <a:solidFill>
                        <a:schemeClr val="tx1"/>
                      </a:solidFill>
                      <a:prstDash val="solid"/>
                      <a:headEnd type="none" w="med" len="med"/>
                      <a:tailEnd type="none" w="med" len="med"/>
                    </a:ln>
                  </p:spPr>
                </p:sp>
              </p:grpSp>
              <p:sp>
                <p:nvSpPr>
                  <p:cNvPr id="12472" name="Rectangle 12"/>
                  <p:cNvSpPr/>
                  <p:nvPr/>
                </p:nvSpPr>
                <p:spPr>
                  <a:xfrm>
                    <a:off x="196" y="12"/>
                    <a:ext cx="122" cy="29"/>
                  </a:xfrm>
                  <a:prstGeom prst="rect">
                    <a:avLst/>
                  </a:prstGeom>
                  <a:solidFill>
                    <a:srgbClr val="99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73" name="Rectangle 13"/>
                  <p:cNvSpPr/>
                  <p:nvPr/>
                </p:nvSpPr>
                <p:spPr>
                  <a:xfrm>
                    <a:off x="196" y="41"/>
                    <a:ext cx="122" cy="28"/>
                  </a:xfrm>
                  <a:prstGeom prst="rect">
                    <a:avLst/>
                  </a:prstGeom>
                  <a:solidFill>
                    <a:srgbClr val="99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74" name="Rectangle 14"/>
                  <p:cNvSpPr/>
                  <p:nvPr/>
                </p:nvSpPr>
                <p:spPr>
                  <a:xfrm>
                    <a:off x="196" y="69"/>
                    <a:ext cx="122" cy="29"/>
                  </a:xfrm>
                  <a:prstGeom prst="rect">
                    <a:avLst/>
                  </a:prstGeom>
                  <a:solidFill>
                    <a:srgbClr val="99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75" name="Rectangle 15"/>
                  <p:cNvSpPr/>
                  <p:nvPr/>
                </p:nvSpPr>
                <p:spPr>
                  <a:xfrm>
                    <a:off x="196" y="98"/>
                    <a:ext cx="122" cy="28"/>
                  </a:xfrm>
                  <a:prstGeom prst="rect">
                    <a:avLst/>
                  </a:prstGeom>
                  <a:solidFill>
                    <a:srgbClr val="99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476" name="Group 16"/>
                  <p:cNvGrpSpPr/>
                  <p:nvPr/>
                </p:nvGrpSpPr>
                <p:grpSpPr>
                  <a:xfrm>
                    <a:off x="175" y="126"/>
                    <a:ext cx="163" cy="86"/>
                    <a:chOff x="0" y="0"/>
                    <a:chExt cx="163" cy="86"/>
                  </a:xfrm>
                </p:grpSpPr>
                <p:sp>
                  <p:nvSpPr>
                    <p:cNvPr id="12481" name="Rectangle 17"/>
                    <p:cNvSpPr/>
                    <p:nvPr/>
                  </p:nvSpPr>
                  <p:spPr>
                    <a:xfrm>
                      <a:off x="21" y="0"/>
                      <a:ext cx="122" cy="86"/>
                    </a:xfrm>
                    <a:prstGeom prst="rect">
                      <a:avLst/>
                    </a:prstGeom>
                    <a:solidFill>
                      <a:srgbClr val="AFC2A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82" name="Rectangle 18"/>
                    <p:cNvSpPr/>
                    <p:nvPr/>
                  </p:nvSpPr>
                  <p:spPr>
                    <a:xfrm>
                      <a:off x="0" y="1"/>
                      <a:ext cx="163" cy="8"/>
                    </a:xfrm>
                    <a:prstGeom prst="rect">
                      <a:avLst/>
                    </a:prstGeom>
                    <a:solidFill>
                      <a:srgbClr val="AFC2A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2477" name="Group 19"/>
                  <p:cNvGrpSpPr/>
                  <p:nvPr/>
                </p:nvGrpSpPr>
                <p:grpSpPr>
                  <a:xfrm>
                    <a:off x="0" y="89"/>
                    <a:ext cx="154" cy="122"/>
                    <a:chOff x="0" y="0"/>
                    <a:chExt cx="154" cy="122"/>
                  </a:xfrm>
                </p:grpSpPr>
                <p:sp>
                  <p:nvSpPr>
                    <p:cNvPr id="12478" name="AutoShape 20"/>
                    <p:cNvSpPr/>
                    <p:nvPr/>
                  </p:nvSpPr>
                  <p:spPr>
                    <a:xfrm rot="10800000">
                      <a:off x="54" y="0"/>
                      <a:ext cx="50" cy="26"/>
                    </a:xfrm>
                    <a:custGeom>
                      <a:avLst/>
                      <a:gdLst>
                        <a:gd name="txL" fmla="*/ 4320 w 21600"/>
                        <a:gd name="txT" fmla="*/ 4154 h 21600"/>
                        <a:gd name="txR" fmla="*/ 17280 w 21600"/>
                        <a:gd name="txB" fmla="*/ 17446 h 21600"/>
                      </a:gdLst>
                      <a:ahLst/>
                      <a:cxnLst>
                        <a:cxn ang="0">
                          <a:pos x="0" y="0"/>
                        </a:cxn>
                        <a:cxn ang="0">
                          <a:pos x="0" y="0"/>
                        </a:cxn>
                        <a:cxn ang="0">
                          <a:pos x="0" y="0"/>
                        </a:cxn>
                        <a:cxn ang="0">
                          <a:pos x="0" y="0"/>
                        </a:cxn>
                        <a:cxn ang="0">
                          <a:pos x="0" y="0"/>
                        </a:cxn>
                      </a:cxnLst>
                      <a:rect l="txL" t="txT" r="txR" b="txB"/>
                      <a:pathLst>
                        <a:path w="21600" h="21600">
                          <a:moveTo>
                            <a:pt x="0" y="0"/>
                          </a:moveTo>
                          <a:lnTo>
                            <a:pt x="5400" y="21600"/>
                          </a:lnTo>
                          <a:lnTo>
                            <a:pt x="16200" y="21600"/>
                          </a:lnTo>
                          <a:lnTo>
                            <a:pt x="21600" y="0"/>
                          </a:lnTo>
                          <a:lnTo>
                            <a:pt x="0" y="0"/>
                          </a:lnTo>
                          <a:close/>
                        </a:path>
                      </a:pathLst>
                    </a:custGeom>
                    <a:solidFill>
                      <a:srgbClr val="5F5F5F">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2479" name="AutoShape 21"/>
                    <p:cNvSpPr/>
                    <p:nvPr/>
                  </p:nvSpPr>
                  <p:spPr>
                    <a:xfrm>
                      <a:off x="25" y="26"/>
                      <a:ext cx="109" cy="25"/>
                    </a:xfrm>
                    <a:prstGeom prst="roundRect">
                      <a:avLst>
                        <a:gd name="adj" fmla="val 16667"/>
                      </a:avLst>
                    </a:prstGeom>
                    <a:solidFill>
                      <a:srgbClr val="9966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80" name="Rectangle 22"/>
                    <p:cNvSpPr/>
                    <p:nvPr/>
                  </p:nvSpPr>
                  <p:spPr>
                    <a:xfrm>
                      <a:off x="0" y="50"/>
                      <a:ext cx="154" cy="72"/>
                    </a:xfrm>
                    <a:prstGeom prst="rect">
                      <a:avLst/>
                    </a:prstGeom>
                    <a:solidFill>
                      <a:srgbClr val="AFC2A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nvGrpSpPr>
                <p:cNvPr id="11277" name="Group 23"/>
                <p:cNvGrpSpPr/>
                <p:nvPr/>
              </p:nvGrpSpPr>
              <p:grpSpPr>
                <a:xfrm>
                  <a:off x="0" y="0"/>
                  <a:ext cx="5376" cy="3168"/>
                  <a:chOff x="0" y="0"/>
                  <a:chExt cx="5376" cy="3168"/>
                </a:xfrm>
              </p:grpSpPr>
              <p:grpSp>
                <p:nvGrpSpPr>
                  <p:cNvPr id="11278" name="Group 24"/>
                  <p:cNvGrpSpPr/>
                  <p:nvPr/>
                </p:nvGrpSpPr>
                <p:grpSpPr>
                  <a:xfrm>
                    <a:off x="2779" y="2587"/>
                    <a:ext cx="598" cy="101"/>
                    <a:chOff x="0" y="0"/>
                    <a:chExt cx="598" cy="101"/>
                  </a:xfrm>
                </p:grpSpPr>
                <p:sp>
                  <p:nvSpPr>
                    <p:cNvPr id="12469" name="Rectangle 25"/>
                    <p:cNvSpPr/>
                    <p:nvPr/>
                  </p:nvSpPr>
                  <p:spPr>
                    <a:xfrm>
                      <a:off x="0" y="50"/>
                      <a:ext cx="598" cy="51"/>
                    </a:xfrm>
                    <a:prstGeom prst="rect">
                      <a:avLst/>
                    </a:prstGeom>
                    <a:solidFill>
                      <a:srgbClr val="FFE4C9"/>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70" name="Rectangle 26"/>
                    <p:cNvSpPr/>
                    <p:nvPr/>
                  </p:nvSpPr>
                  <p:spPr>
                    <a:xfrm>
                      <a:off x="53" y="0"/>
                      <a:ext cx="482" cy="50"/>
                    </a:xfrm>
                    <a:prstGeom prst="rect">
                      <a:avLst/>
                    </a:prstGeom>
                    <a:solidFill>
                      <a:srgbClr val="D5C5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279" name="Group 27"/>
                  <p:cNvGrpSpPr/>
                  <p:nvPr/>
                </p:nvGrpSpPr>
                <p:grpSpPr>
                  <a:xfrm>
                    <a:off x="2846" y="2390"/>
                    <a:ext cx="422" cy="196"/>
                    <a:chOff x="0" y="0"/>
                    <a:chExt cx="422" cy="196"/>
                  </a:xfrm>
                </p:grpSpPr>
                <p:grpSp>
                  <p:nvGrpSpPr>
                    <p:cNvPr id="12446" name="Group 28"/>
                    <p:cNvGrpSpPr/>
                    <p:nvPr/>
                  </p:nvGrpSpPr>
                  <p:grpSpPr>
                    <a:xfrm>
                      <a:off x="107" y="0"/>
                      <a:ext cx="81" cy="196"/>
                      <a:chOff x="0" y="0"/>
                      <a:chExt cx="81" cy="196"/>
                    </a:xfrm>
                  </p:grpSpPr>
                  <p:sp>
                    <p:nvSpPr>
                      <p:cNvPr id="12462" name="Oval 29"/>
                      <p:cNvSpPr/>
                      <p:nvPr/>
                    </p:nvSpPr>
                    <p:spPr>
                      <a:xfrm>
                        <a:off x="27" y="0"/>
                        <a:ext cx="28" cy="39"/>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63" name="Line 30"/>
                      <p:cNvSpPr/>
                      <p:nvPr/>
                    </p:nvSpPr>
                    <p:spPr>
                      <a:xfrm flipH="1">
                        <a:off x="4" y="123"/>
                        <a:ext cx="37" cy="73"/>
                      </a:xfrm>
                      <a:prstGeom prst="line">
                        <a:avLst/>
                      </a:prstGeom>
                      <a:ln w="12700" cap="flat" cmpd="sng">
                        <a:solidFill>
                          <a:schemeClr val="tx1"/>
                        </a:solidFill>
                        <a:prstDash val="solid"/>
                        <a:headEnd type="none" w="med" len="med"/>
                        <a:tailEnd type="none" w="med" len="med"/>
                      </a:ln>
                    </p:spPr>
                  </p:sp>
                  <p:sp>
                    <p:nvSpPr>
                      <p:cNvPr id="12464" name="Freeform 31"/>
                      <p:cNvSpPr/>
                      <p:nvPr/>
                    </p:nvSpPr>
                    <p:spPr>
                      <a:xfrm rot="5722454">
                        <a:off x="-21" y="72"/>
                        <a:ext cx="65" cy="23"/>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465" name="Freeform 32"/>
                      <p:cNvSpPr/>
                      <p:nvPr/>
                    </p:nvSpPr>
                    <p:spPr>
                      <a:xfrm>
                        <a:off x="55" y="55"/>
                        <a:ext cx="26" cy="63"/>
                      </a:xfrm>
                      <a:custGeom>
                        <a:avLst/>
                        <a:gdLst>
                          <a:gd name="txL" fmla="*/ 0 w 525"/>
                          <a:gd name="txT" fmla="*/ 0 h 936"/>
                          <a:gd name="txR" fmla="*/ 525 w 525"/>
                          <a:gd name="txB" fmla="*/ 936 h 936"/>
                        </a:gdLst>
                        <a:ahLst/>
                        <a:cxnLst>
                          <a:cxn ang="0">
                            <a:pos x="0" y="0"/>
                          </a:cxn>
                          <a:cxn ang="0">
                            <a:pos x="0" y="0"/>
                          </a:cxn>
                          <a:cxn ang="0">
                            <a:pos x="0" y="0"/>
                          </a:cxn>
                        </a:cxnLst>
                        <a:rect l="txL" t="txT" r="txR" b="txB"/>
                        <a:pathLst>
                          <a:path w="525" h="936">
                            <a:moveTo>
                              <a:pt x="0" y="0"/>
                            </a:moveTo>
                            <a:cubicBezTo>
                              <a:pt x="166" y="0"/>
                              <a:pt x="333" y="0"/>
                              <a:pt x="420" y="156"/>
                            </a:cubicBezTo>
                            <a:cubicBezTo>
                              <a:pt x="507" y="312"/>
                              <a:pt x="516" y="624"/>
                              <a:pt x="525" y="93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466" name="Line 33"/>
                      <p:cNvSpPr/>
                      <p:nvPr/>
                    </p:nvSpPr>
                    <p:spPr>
                      <a:xfrm>
                        <a:off x="41" y="40"/>
                        <a:ext cx="0" cy="82"/>
                      </a:xfrm>
                      <a:prstGeom prst="line">
                        <a:avLst/>
                      </a:prstGeom>
                      <a:ln w="12700" cap="flat" cmpd="sng">
                        <a:solidFill>
                          <a:schemeClr val="tx1"/>
                        </a:solidFill>
                        <a:prstDash val="solid"/>
                        <a:headEnd type="none" w="med" len="med"/>
                        <a:tailEnd type="none" w="med" len="med"/>
                      </a:ln>
                    </p:spPr>
                  </p:sp>
                  <p:sp>
                    <p:nvSpPr>
                      <p:cNvPr id="12467" name="Line 34"/>
                      <p:cNvSpPr/>
                      <p:nvPr/>
                    </p:nvSpPr>
                    <p:spPr>
                      <a:xfrm>
                        <a:off x="27" y="55"/>
                        <a:ext cx="30" cy="0"/>
                      </a:xfrm>
                      <a:prstGeom prst="line">
                        <a:avLst/>
                      </a:prstGeom>
                      <a:ln w="12700" cap="flat" cmpd="sng">
                        <a:solidFill>
                          <a:schemeClr val="tx1"/>
                        </a:solidFill>
                        <a:prstDash val="solid"/>
                        <a:headEnd type="none" w="med" len="med"/>
                        <a:tailEnd type="none" w="med" len="med"/>
                      </a:ln>
                    </p:spPr>
                  </p:sp>
                  <p:sp>
                    <p:nvSpPr>
                      <p:cNvPr id="12468" name="Line 35"/>
                      <p:cNvSpPr/>
                      <p:nvPr/>
                    </p:nvSpPr>
                    <p:spPr>
                      <a:xfrm>
                        <a:off x="42" y="123"/>
                        <a:ext cx="29" cy="73"/>
                      </a:xfrm>
                      <a:prstGeom prst="line">
                        <a:avLst/>
                      </a:prstGeom>
                      <a:ln w="12700" cap="flat" cmpd="sng">
                        <a:solidFill>
                          <a:schemeClr val="tx1"/>
                        </a:solidFill>
                        <a:prstDash val="solid"/>
                        <a:headEnd type="none" w="med" len="med"/>
                        <a:tailEnd type="none" w="med" len="med"/>
                      </a:ln>
                    </p:spPr>
                  </p:sp>
                </p:grpSp>
                <p:sp>
                  <p:nvSpPr>
                    <p:cNvPr id="12447" name="AutoShape 36"/>
                    <p:cNvSpPr/>
                    <p:nvPr/>
                  </p:nvSpPr>
                  <p:spPr>
                    <a:xfrm>
                      <a:off x="14" y="95"/>
                      <a:ext cx="69" cy="100"/>
                    </a:xfrm>
                    <a:prstGeom prst="octagon">
                      <a:avLst>
                        <a:gd name="adj" fmla="val 29287"/>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48" name="Rectangle 37"/>
                    <p:cNvSpPr/>
                    <p:nvPr/>
                  </p:nvSpPr>
                  <p:spPr>
                    <a:xfrm>
                      <a:off x="0" y="128"/>
                      <a:ext cx="13" cy="33"/>
                    </a:xfrm>
                    <a:prstGeom prst="rect">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49" name="Rectangle 38"/>
                    <p:cNvSpPr/>
                    <p:nvPr/>
                  </p:nvSpPr>
                  <p:spPr>
                    <a:xfrm>
                      <a:off x="83" y="128"/>
                      <a:ext cx="13" cy="33"/>
                    </a:xfrm>
                    <a:prstGeom prst="rect">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50" name="Line 39"/>
                    <p:cNvSpPr/>
                    <p:nvPr/>
                  </p:nvSpPr>
                  <p:spPr>
                    <a:xfrm>
                      <a:off x="54" y="95"/>
                      <a:ext cx="0" cy="100"/>
                    </a:xfrm>
                    <a:prstGeom prst="line">
                      <a:avLst/>
                    </a:prstGeom>
                    <a:ln w="9525" cap="flat" cmpd="sng">
                      <a:solidFill>
                        <a:schemeClr val="tx1"/>
                      </a:solidFill>
                      <a:prstDash val="solid"/>
                      <a:headEnd type="none" w="med" len="med"/>
                      <a:tailEnd type="none" w="med" len="med"/>
                    </a:ln>
                  </p:spPr>
                </p:sp>
                <p:sp>
                  <p:nvSpPr>
                    <p:cNvPr id="12451" name="Line 40"/>
                    <p:cNvSpPr/>
                    <p:nvPr/>
                  </p:nvSpPr>
                  <p:spPr>
                    <a:xfrm>
                      <a:off x="45" y="95"/>
                      <a:ext cx="0" cy="100"/>
                    </a:xfrm>
                    <a:prstGeom prst="line">
                      <a:avLst/>
                    </a:prstGeom>
                    <a:ln w="9525" cap="flat" cmpd="sng">
                      <a:solidFill>
                        <a:schemeClr val="tx1"/>
                      </a:solidFill>
                      <a:prstDash val="solid"/>
                      <a:headEnd type="none" w="med" len="med"/>
                      <a:tailEnd type="none" w="med" len="med"/>
                    </a:ln>
                  </p:spPr>
                </p:sp>
                <p:sp>
                  <p:nvSpPr>
                    <p:cNvPr id="12452" name="AutoShape 41"/>
                    <p:cNvSpPr/>
                    <p:nvPr/>
                  </p:nvSpPr>
                  <p:spPr>
                    <a:xfrm>
                      <a:off x="177" y="95"/>
                      <a:ext cx="69" cy="100"/>
                    </a:xfrm>
                    <a:prstGeom prst="octagon">
                      <a:avLst>
                        <a:gd name="adj" fmla="val 29287"/>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53" name="Rectangle 42"/>
                    <p:cNvSpPr/>
                    <p:nvPr/>
                  </p:nvSpPr>
                  <p:spPr>
                    <a:xfrm>
                      <a:off x="163" y="128"/>
                      <a:ext cx="13" cy="33"/>
                    </a:xfrm>
                    <a:prstGeom prst="rect">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54" name="Rectangle 43"/>
                    <p:cNvSpPr/>
                    <p:nvPr/>
                  </p:nvSpPr>
                  <p:spPr>
                    <a:xfrm>
                      <a:off x="246" y="128"/>
                      <a:ext cx="13" cy="33"/>
                    </a:xfrm>
                    <a:prstGeom prst="rect">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55" name="Line 44"/>
                    <p:cNvSpPr/>
                    <p:nvPr/>
                  </p:nvSpPr>
                  <p:spPr>
                    <a:xfrm>
                      <a:off x="217" y="95"/>
                      <a:ext cx="0" cy="100"/>
                    </a:xfrm>
                    <a:prstGeom prst="line">
                      <a:avLst/>
                    </a:prstGeom>
                    <a:ln w="9525" cap="flat" cmpd="sng">
                      <a:solidFill>
                        <a:schemeClr val="tx1"/>
                      </a:solidFill>
                      <a:prstDash val="solid"/>
                      <a:headEnd type="none" w="med" len="med"/>
                      <a:tailEnd type="none" w="med" len="med"/>
                    </a:ln>
                  </p:spPr>
                </p:sp>
                <p:sp>
                  <p:nvSpPr>
                    <p:cNvPr id="12456" name="Line 45"/>
                    <p:cNvSpPr/>
                    <p:nvPr/>
                  </p:nvSpPr>
                  <p:spPr>
                    <a:xfrm>
                      <a:off x="208" y="95"/>
                      <a:ext cx="0" cy="100"/>
                    </a:xfrm>
                    <a:prstGeom prst="line">
                      <a:avLst/>
                    </a:prstGeom>
                    <a:ln w="9525" cap="flat" cmpd="sng">
                      <a:solidFill>
                        <a:schemeClr val="tx1"/>
                      </a:solidFill>
                      <a:prstDash val="solid"/>
                      <a:headEnd type="none" w="med" len="med"/>
                      <a:tailEnd type="none" w="med" len="med"/>
                    </a:ln>
                  </p:spPr>
                </p:sp>
                <p:sp>
                  <p:nvSpPr>
                    <p:cNvPr id="12457" name="AutoShape 46"/>
                    <p:cNvSpPr/>
                    <p:nvPr/>
                  </p:nvSpPr>
                  <p:spPr>
                    <a:xfrm>
                      <a:off x="340" y="95"/>
                      <a:ext cx="69" cy="100"/>
                    </a:xfrm>
                    <a:prstGeom prst="octagon">
                      <a:avLst>
                        <a:gd name="adj" fmla="val 29287"/>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58" name="Rectangle 47"/>
                    <p:cNvSpPr/>
                    <p:nvPr/>
                  </p:nvSpPr>
                  <p:spPr>
                    <a:xfrm>
                      <a:off x="326" y="128"/>
                      <a:ext cx="13" cy="33"/>
                    </a:xfrm>
                    <a:prstGeom prst="rect">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59" name="Rectangle 48"/>
                    <p:cNvSpPr/>
                    <p:nvPr/>
                  </p:nvSpPr>
                  <p:spPr>
                    <a:xfrm>
                      <a:off x="409" y="128"/>
                      <a:ext cx="13" cy="33"/>
                    </a:xfrm>
                    <a:prstGeom prst="rect">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60" name="Line 49"/>
                    <p:cNvSpPr/>
                    <p:nvPr/>
                  </p:nvSpPr>
                  <p:spPr>
                    <a:xfrm>
                      <a:off x="380" y="95"/>
                      <a:ext cx="0" cy="100"/>
                    </a:xfrm>
                    <a:prstGeom prst="line">
                      <a:avLst/>
                    </a:prstGeom>
                    <a:ln w="9525" cap="flat" cmpd="sng">
                      <a:solidFill>
                        <a:schemeClr val="tx1"/>
                      </a:solidFill>
                      <a:prstDash val="solid"/>
                      <a:headEnd type="none" w="med" len="med"/>
                      <a:tailEnd type="none" w="med" len="med"/>
                    </a:ln>
                  </p:spPr>
                </p:sp>
                <p:sp>
                  <p:nvSpPr>
                    <p:cNvPr id="12461" name="Line 50"/>
                    <p:cNvSpPr/>
                    <p:nvPr/>
                  </p:nvSpPr>
                  <p:spPr>
                    <a:xfrm>
                      <a:off x="371" y="95"/>
                      <a:ext cx="0" cy="100"/>
                    </a:xfrm>
                    <a:prstGeom prst="line">
                      <a:avLst/>
                    </a:prstGeom>
                    <a:ln w="9525" cap="flat" cmpd="sng">
                      <a:solidFill>
                        <a:schemeClr val="tx1"/>
                      </a:solidFill>
                      <a:prstDash val="solid"/>
                      <a:headEnd type="none" w="med" len="med"/>
                      <a:tailEnd type="none" w="med" len="med"/>
                    </a:ln>
                  </p:spPr>
                </p:sp>
              </p:grpSp>
              <p:sp>
                <p:nvSpPr>
                  <p:cNvPr id="11280" name="Line 51"/>
                  <p:cNvSpPr/>
                  <p:nvPr/>
                </p:nvSpPr>
                <p:spPr>
                  <a:xfrm flipV="1">
                    <a:off x="5376" y="2400"/>
                    <a:ext cx="0" cy="192"/>
                  </a:xfrm>
                  <a:prstGeom prst="line">
                    <a:avLst/>
                  </a:prstGeom>
                  <a:ln w="9525" cap="flat" cmpd="sng">
                    <a:solidFill>
                      <a:schemeClr val="tx1"/>
                    </a:solidFill>
                    <a:prstDash val="solid"/>
                    <a:headEnd type="none" w="med" len="med"/>
                    <a:tailEnd type="none" w="med" len="med"/>
                  </a:ln>
                </p:spPr>
              </p:sp>
              <p:grpSp>
                <p:nvGrpSpPr>
                  <p:cNvPr id="11281" name="Group 52"/>
                  <p:cNvGrpSpPr/>
                  <p:nvPr/>
                </p:nvGrpSpPr>
                <p:grpSpPr>
                  <a:xfrm>
                    <a:off x="0" y="0"/>
                    <a:ext cx="5376" cy="3168"/>
                    <a:chOff x="0" y="0"/>
                    <a:chExt cx="5376" cy="3168"/>
                  </a:xfrm>
                </p:grpSpPr>
                <p:sp>
                  <p:nvSpPr>
                    <p:cNvPr id="11283" name="Rectangle 53"/>
                    <p:cNvSpPr/>
                    <p:nvPr/>
                  </p:nvSpPr>
                  <p:spPr>
                    <a:xfrm>
                      <a:off x="48" y="500"/>
                      <a:ext cx="2772" cy="163"/>
                    </a:xfrm>
                    <a:prstGeom prst="rect">
                      <a:avLst/>
                    </a:prstGeom>
                    <a:solidFill>
                      <a:srgbClr val="FFD9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284" name="Group 54"/>
                    <p:cNvGrpSpPr/>
                    <p:nvPr/>
                  </p:nvGrpSpPr>
                  <p:grpSpPr>
                    <a:xfrm>
                      <a:off x="664" y="200"/>
                      <a:ext cx="163" cy="300"/>
                      <a:chOff x="0" y="0"/>
                      <a:chExt cx="163" cy="300"/>
                    </a:xfrm>
                  </p:grpSpPr>
                  <p:sp>
                    <p:nvSpPr>
                      <p:cNvPr id="12440" name="Rectangle 55"/>
                      <p:cNvSpPr/>
                      <p:nvPr/>
                    </p:nvSpPr>
                    <p:spPr>
                      <a:xfrm>
                        <a:off x="0" y="0"/>
                        <a:ext cx="163" cy="300"/>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41" name="Rectangle 56"/>
                      <p:cNvSpPr/>
                      <p:nvPr/>
                    </p:nvSpPr>
                    <p:spPr>
                      <a:xfrm>
                        <a:off x="27" y="100"/>
                        <a:ext cx="108" cy="200"/>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sp>
                    <p:nvSpPr>
                      <p:cNvPr id="12442" name="Rectangle 57"/>
                      <p:cNvSpPr/>
                      <p:nvPr/>
                    </p:nvSpPr>
                    <p:spPr>
                      <a:xfrm>
                        <a:off x="46" y="100"/>
                        <a:ext cx="70" cy="51"/>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43" name="Rectangle 58"/>
                      <p:cNvSpPr/>
                      <p:nvPr/>
                    </p:nvSpPr>
                    <p:spPr>
                      <a:xfrm>
                        <a:off x="46" y="213"/>
                        <a:ext cx="70" cy="87"/>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44" name="Rectangle 59"/>
                      <p:cNvSpPr/>
                      <p:nvPr/>
                    </p:nvSpPr>
                    <p:spPr>
                      <a:xfrm>
                        <a:off x="52" y="151"/>
                        <a:ext cx="53" cy="22"/>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45" name="Rectangle 60"/>
                      <p:cNvSpPr/>
                      <p:nvPr/>
                    </p:nvSpPr>
                    <p:spPr>
                      <a:xfrm>
                        <a:off x="67" y="175"/>
                        <a:ext cx="24" cy="36"/>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285" name="Group 61"/>
                    <p:cNvGrpSpPr/>
                    <p:nvPr/>
                  </p:nvGrpSpPr>
                  <p:grpSpPr>
                    <a:xfrm>
                      <a:off x="592" y="300"/>
                      <a:ext cx="72" cy="200"/>
                      <a:chOff x="0" y="0"/>
                      <a:chExt cx="72" cy="200"/>
                    </a:xfrm>
                  </p:grpSpPr>
                  <p:sp>
                    <p:nvSpPr>
                      <p:cNvPr id="12435" name="Oval 62"/>
                      <p:cNvSpPr/>
                      <p:nvPr/>
                    </p:nvSpPr>
                    <p:spPr>
                      <a:xfrm>
                        <a:off x="2" y="0"/>
                        <a:ext cx="30" cy="35"/>
                      </a:xfrm>
                      <a:prstGeom prst="ellipse">
                        <a:avLst/>
                      </a:prstGeom>
                      <a:solidFill>
                        <a:schemeClr val="tx2"/>
                      </a:solid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436" name="Group 63"/>
                      <p:cNvGrpSpPr/>
                      <p:nvPr/>
                    </p:nvGrpSpPr>
                    <p:grpSpPr>
                      <a:xfrm>
                        <a:off x="0" y="33"/>
                        <a:ext cx="72" cy="167"/>
                        <a:chOff x="0" y="0"/>
                        <a:chExt cx="72" cy="167"/>
                      </a:xfrm>
                    </p:grpSpPr>
                    <p:sp>
                      <p:nvSpPr>
                        <p:cNvPr id="12437" name="Freeform 64"/>
                        <p:cNvSpPr/>
                        <p:nvPr/>
                      </p:nvSpPr>
                      <p:spPr>
                        <a:xfrm>
                          <a:off x="15" y="0"/>
                          <a:ext cx="41" cy="167"/>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438" name="Line 65"/>
                        <p:cNvSpPr/>
                        <p:nvPr/>
                      </p:nvSpPr>
                      <p:spPr>
                        <a:xfrm flipH="1">
                          <a:off x="0" y="100"/>
                          <a:ext cx="38" cy="67"/>
                        </a:xfrm>
                        <a:prstGeom prst="line">
                          <a:avLst/>
                        </a:prstGeom>
                        <a:ln w="12700" cap="flat" cmpd="sng">
                          <a:solidFill>
                            <a:schemeClr val="tx1"/>
                          </a:solidFill>
                          <a:prstDash val="solid"/>
                          <a:headEnd type="none" w="med" len="med"/>
                          <a:tailEnd type="none" w="med" len="med"/>
                        </a:ln>
                      </p:spPr>
                    </p:sp>
                    <p:sp>
                      <p:nvSpPr>
                        <p:cNvPr id="12439" name="Freeform 66"/>
                        <p:cNvSpPr/>
                        <p:nvPr/>
                      </p:nvSpPr>
                      <p:spPr>
                        <a:xfrm>
                          <a:off x="17" y="12"/>
                          <a:ext cx="55" cy="22"/>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grpSp>
                <p:grpSp>
                  <p:nvGrpSpPr>
                    <p:cNvPr id="11286" name="Group 67"/>
                    <p:cNvGrpSpPr/>
                    <p:nvPr/>
                  </p:nvGrpSpPr>
                  <p:grpSpPr>
                    <a:xfrm>
                      <a:off x="863" y="363"/>
                      <a:ext cx="215" cy="135"/>
                      <a:chOff x="0" y="0"/>
                      <a:chExt cx="215" cy="135"/>
                    </a:xfrm>
                  </p:grpSpPr>
                  <p:sp>
                    <p:nvSpPr>
                      <p:cNvPr id="12431" name="Rectangle 68"/>
                      <p:cNvSpPr/>
                      <p:nvPr/>
                    </p:nvSpPr>
                    <p:spPr>
                      <a:xfrm>
                        <a:off x="13" y="35"/>
                        <a:ext cx="185" cy="100"/>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sp>
                    <p:nvSpPr>
                      <p:cNvPr id="12432" name="Rectangle 69"/>
                      <p:cNvSpPr/>
                      <p:nvPr/>
                    </p:nvSpPr>
                    <p:spPr>
                      <a:xfrm>
                        <a:off x="39" y="0"/>
                        <a:ext cx="55" cy="37"/>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33" name="Rectangle 70"/>
                      <p:cNvSpPr/>
                      <p:nvPr/>
                    </p:nvSpPr>
                    <p:spPr>
                      <a:xfrm>
                        <a:off x="130" y="0"/>
                        <a:ext cx="54" cy="37"/>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34" name="Rectangle 71"/>
                      <p:cNvSpPr/>
                      <p:nvPr/>
                    </p:nvSpPr>
                    <p:spPr>
                      <a:xfrm>
                        <a:off x="0" y="35"/>
                        <a:ext cx="215" cy="29"/>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287" name="Group 72"/>
                    <p:cNvGrpSpPr/>
                    <p:nvPr/>
                  </p:nvGrpSpPr>
                  <p:grpSpPr>
                    <a:xfrm>
                      <a:off x="1227" y="219"/>
                      <a:ext cx="81" cy="122"/>
                      <a:chOff x="0" y="0"/>
                      <a:chExt cx="81" cy="122"/>
                    </a:xfrm>
                  </p:grpSpPr>
                  <p:sp>
                    <p:nvSpPr>
                      <p:cNvPr id="12426" name="Oval 73"/>
                      <p:cNvSpPr/>
                      <p:nvPr/>
                    </p:nvSpPr>
                    <p:spPr>
                      <a:xfrm>
                        <a:off x="27" y="0"/>
                        <a:ext cx="28" cy="38"/>
                      </a:xfrm>
                      <a:prstGeom prst="ellipse">
                        <a:avLst/>
                      </a:prstGeom>
                      <a:solidFill>
                        <a:srgbClr val="E7FFE7"/>
                      </a:solid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27" name="Freeform 74"/>
                      <p:cNvSpPr/>
                      <p:nvPr/>
                    </p:nvSpPr>
                    <p:spPr>
                      <a:xfrm rot="5722454">
                        <a:off x="-21" y="73"/>
                        <a:ext cx="66" cy="24"/>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428" name="Freeform 75"/>
                      <p:cNvSpPr/>
                      <p:nvPr/>
                    </p:nvSpPr>
                    <p:spPr>
                      <a:xfrm>
                        <a:off x="56" y="55"/>
                        <a:ext cx="25" cy="62"/>
                      </a:xfrm>
                      <a:custGeom>
                        <a:avLst/>
                        <a:gdLst>
                          <a:gd name="txL" fmla="*/ 0 w 525"/>
                          <a:gd name="txT" fmla="*/ 0 h 936"/>
                          <a:gd name="txR" fmla="*/ 525 w 525"/>
                          <a:gd name="txB" fmla="*/ 936 h 936"/>
                        </a:gdLst>
                        <a:ahLst/>
                        <a:cxnLst>
                          <a:cxn ang="0">
                            <a:pos x="0" y="0"/>
                          </a:cxn>
                          <a:cxn ang="0">
                            <a:pos x="0" y="0"/>
                          </a:cxn>
                          <a:cxn ang="0">
                            <a:pos x="0" y="0"/>
                          </a:cxn>
                        </a:cxnLst>
                        <a:rect l="txL" t="txT" r="txR" b="txB"/>
                        <a:pathLst>
                          <a:path w="525" h="936">
                            <a:moveTo>
                              <a:pt x="0" y="0"/>
                            </a:moveTo>
                            <a:cubicBezTo>
                              <a:pt x="166" y="0"/>
                              <a:pt x="333" y="0"/>
                              <a:pt x="420" y="156"/>
                            </a:cubicBezTo>
                            <a:cubicBezTo>
                              <a:pt x="507" y="312"/>
                              <a:pt x="516" y="624"/>
                              <a:pt x="525" y="93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429" name="Line 76"/>
                      <p:cNvSpPr/>
                      <p:nvPr/>
                    </p:nvSpPr>
                    <p:spPr>
                      <a:xfrm>
                        <a:off x="41" y="40"/>
                        <a:ext cx="0" cy="82"/>
                      </a:xfrm>
                      <a:prstGeom prst="line">
                        <a:avLst/>
                      </a:prstGeom>
                      <a:ln w="12700" cap="flat" cmpd="sng">
                        <a:solidFill>
                          <a:schemeClr val="tx1"/>
                        </a:solidFill>
                        <a:prstDash val="solid"/>
                        <a:headEnd type="none" w="med" len="med"/>
                        <a:tailEnd type="none" w="med" len="med"/>
                      </a:ln>
                    </p:spPr>
                  </p:sp>
                  <p:sp>
                    <p:nvSpPr>
                      <p:cNvPr id="12430" name="Line 77"/>
                      <p:cNvSpPr/>
                      <p:nvPr/>
                    </p:nvSpPr>
                    <p:spPr>
                      <a:xfrm>
                        <a:off x="27" y="54"/>
                        <a:ext cx="30" cy="0"/>
                      </a:xfrm>
                      <a:prstGeom prst="line">
                        <a:avLst/>
                      </a:prstGeom>
                      <a:ln w="12700" cap="flat" cmpd="sng">
                        <a:solidFill>
                          <a:schemeClr val="tx1"/>
                        </a:solidFill>
                        <a:prstDash val="solid"/>
                        <a:headEnd type="none" w="med" len="med"/>
                        <a:tailEnd type="none" w="med" len="med"/>
                      </a:ln>
                    </p:spPr>
                  </p:sp>
                </p:grpSp>
                <p:grpSp>
                  <p:nvGrpSpPr>
                    <p:cNvPr id="11288" name="Group 78"/>
                    <p:cNvGrpSpPr/>
                    <p:nvPr/>
                  </p:nvGrpSpPr>
                  <p:grpSpPr>
                    <a:xfrm>
                      <a:off x="1216" y="332"/>
                      <a:ext cx="551" cy="166"/>
                      <a:chOff x="0" y="0"/>
                      <a:chExt cx="551" cy="166"/>
                    </a:xfrm>
                  </p:grpSpPr>
                  <p:sp>
                    <p:nvSpPr>
                      <p:cNvPr id="12423" name="Rectangle 79"/>
                      <p:cNvSpPr/>
                      <p:nvPr/>
                    </p:nvSpPr>
                    <p:spPr>
                      <a:xfrm>
                        <a:off x="1" y="66"/>
                        <a:ext cx="550" cy="100"/>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sp>
                    <p:nvSpPr>
                      <p:cNvPr id="12424" name="Rectangle 80"/>
                      <p:cNvSpPr/>
                      <p:nvPr/>
                    </p:nvSpPr>
                    <p:spPr>
                      <a:xfrm>
                        <a:off x="0" y="48"/>
                        <a:ext cx="551" cy="22"/>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425" name="Rectangle 81"/>
                      <p:cNvSpPr/>
                      <p:nvPr/>
                    </p:nvSpPr>
                    <p:spPr>
                      <a:xfrm>
                        <a:off x="28" y="0"/>
                        <a:ext cx="84" cy="47"/>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289" name="Group 82"/>
                    <p:cNvGrpSpPr/>
                    <p:nvPr/>
                  </p:nvGrpSpPr>
                  <p:grpSpPr>
                    <a:xfrm>
                      <a:off x="1351" y="278"/>
                      <a:ext cx="54" cy="99"/>
                      <a:chOff x="0" y="0"/>
                      <a:chExt cx="54" cy="99"/>
                    </a:xfrm>
                  </p:grpSpPr>
                  <p:grpSp>
                    <p:nvGrpSpPr>
                      <p:cNvPr id="12416" name="Group 83"/>
                      <p:cNvGrpSpPr/>
                      <p:nvPr/>
                    </p:nvGrpSpPr>
                    <p:grpSpPr>
                      <a:xfrm>
                        <a:off x="0" y="0"/>
                        <a:ext cx="54" cy="99"/>
                        <a:chOff x="0" y="0"/>
                        <a:chExt cx="54" cy="99"/>
                      </a:xfrm>
                    </p:grpSpPr>
                    <p:sp>
                      <p:nvSpPr>
                        <p:cNvPr id="12418" name="Line 84"/>
                        <p:cNvSpPr/>
                        <p:nvPr/>
                      </p:nvSpPr>
                      <p:spPr>
                        <a:xfrm flipV="1">
                          <a:off x="0" y="0"/>
                          <a:ext cx="0" cy="99"/>
                        </a:xfrm>
                        <a:prstGeom prst="line">
                          <a:avLst/>
                        </a:prstGeom>
                        <a:ln w="9525" cap="flat" cmpd="sng">
                          <a:solidFill>
                            <a:schemeClr val="tx1"/>
                          </a:solidFill>
                          <a:prstDash val="solid"/>
                          <a:headEnd type="none" w="med" len="med"/>
                          <a:tailEnd type="none" w="med" len="med"/>
                        </a:ln>
                      </p:spPr>
                    </p:sp>
                    <p:sp>
                      <p:nvSpPr>
                        <p:cNvPr id="12419" name="Line 85"/>
                        <p:cNvSpPr/>
                        <p:nvPr/>
                      </p:nvSpPr>
                      <p:spPr>
                        <a:xfrm>
                          <a:off x="0" y="0"/>
                          <a:ext cx="41" cy="0"/>
                        </a:xfrm>
                        <a:prstGeom prst="line">
                          <a:avLst/>
                        </a:prstGeom>
                        <a:ln w="9525" cap="flat" cmpd="sng">
                          <a:solidFill>
                            <a:schemeClr val="tx1"/>
                          </a:solidFill>
                          <a:prstDash val="solid"/>
                          <a:headEnd type="none" w="med" len="med"/>
                          <a:tailEnd type="none" w="med" len="med"/>
                        </a:ln>
                      </p:spPr>
                    </p:sp>
                    <p:sp>
                      <p:nvSpPr>
                        <p:cNvPr id="12420" name="Line 86"/>
                        <p:cNvSpPr/>
                        <p:nvPr/>
                      </p:nvSpPr>
                      <p:spPr>
                        <a:xfrm>
                          <a:off x="40" y="0"/>
                          <a:ext cx="13" cy="50"/>
                        </a:xfrm>
                        <a:prstGeom prst="line">
                          <a:avLst/>
                        </a:prstGeom>
                        <a:ln w="9525" cap="flat" cmpd="sng">
                          <a:solidFill>
                            <a:schemeClr val="tx1"/>
                          </a:solidFill>
                          <a:prstDash val="solid"/>
                          <a:headEnd type="none" w="med" len="med"/>
                          <a:tailEnd type="none" w="med" len="med"/>
                        </a:ln>
                      </p:spPr>
                    </p:sp>
                    <p:sp>
                      <p:nvSpPr>
                        <p:cNvPr id="12421" name="Line 87"/>
                        <p:cNvSpPr/>
                        <p:nvPr/>
                      </p:nvSpPr>
                      <p:spPr>
                        <a:xfrm>
                          <a:off x="54" y="50"/>
                          <a:ext cx="0" cy="49"/>
                        </a:xfrm>
                        <a:prstGeom prst="line">
                          <a:avLst/>
                        </a:prstGeom>
                        <a:ln w="9525" cap="flat" cmpd="sng">
                          <a:solidFill>
                            <a:schemeClr val="tx1"/>
                          </a:solidFill>
                          <a:prstDash val="solid"/>
                          <a:headEnd type="none" w="med" len="med"/>
                          <a:tailEnd type="none" w="med" len="med"/>
                        </a:ln>
                      </p:spPr>
                    </p:sp>
                    <p:sp>
                      <p:nvSpPr>
                        <p:cNvPr id="12422" name="Line 88"/>
                        <p:cNvSpPr/>
                        <p:nvPr/>
                      </p:nvSpPr>
                      <p:spPr>
                        <a:xfrm flipH="1">
                          <a:off x="0" y="99"/>
                          <a:ext cx="52" cy="0"/>
                        </a:xfrm>
                        <a:prstGeom prst="line">
                          <a:avLst/>
                        </a:prstGeom>
                        <a:ln w="9525" cap="flat" cmpd="sng">
                          <a:solidFill>
                            <a:schemeClr val="tx1"/>
                          </a:solidFill>
                          <a:prstDash val="solid"/>
                          <a:headEnd type="none" w="med" len="med"/>
                          <a:tailEnd type="none" w="med" len="med"/>
                        </a:ln>
                      </p:spPr>
                    </p:sp>
                  </p:grpSp>
                  <p:sp>
                    <p:nvSpPr>
                      <p:cNvPr id="12417" name="Rectangle 89"/>
                      <p:cNvSpPr/>
                      <p:nvPr/>
                    </p:nvSpPr>
                    <p:spPr>
                      <a:xfrm>
                        <a:off x="10" y="15"/>
                        <a:ext cx="25" cy="35"/>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290" name="Group 90"/>
                    <p:cNvGrpSpPr/>
                    <p:nvPr/>
                  </p:nvGrpSpPr>
                  <p:grpSpPr>
                    <a:xfrm>
                      <a:off x="1842" y="198"/>
                      <a:ext cx="978" cy="118"/>
                      <a:chOff x="0" y="0"/>
                      <a:chExt cx="978" cy="118"/>
                    </a:xfrm>
                  </p:grpSpPr>
                  <p:sp>
                    <p:nvSpPr>
                      <p:cNvPr id="12406" name="Line 91"/>
                      <p:cNvSpPr/>
                      <p:nvPr/>
                    </p:nvSpPr>
                    <p:spPr>
                      <a:xfrm>
                        <a:off x="0" y="2"/>
                        <a:ext cx="978" cy="0"/>
                      </a:xfrm>
                      <a:prstGeom prst="line">
                        <a:avLst/>
                      </a:prstGeom>
                      <a:ln w="19050" cap="flat" cmpd="sng">
                        <a:solidFill>
                          <a:schemeClr val="tx1"/>
                        </a:solidFill>
                        <a:prstDash val="solid"/>
                        <a:headEnd type="none" w="med" len="med"/>
                        <a:tailEnd type="none" w="med" len="med"/>
                      </a:ln>
                    </p:spPr>
                  </p:sp>
                  <p:sp>
                    <p:nvSpPr>
                      <p:cNvPr id="12407" name="Line 92"/>
                      <p:cNvSpPr/>
                      <p:nvPr/>
                    </p:nvSpPr>
                    <p:spPr>
                      <a:xfrm>
                        <a:off x="79" y="0"/>
                        <a:ext cx="0" cy="116"/>
                      </a:xfrm>
                      <a:prstGeom prst="line">
                        <a:avLst/>
                      </a:prstGeom>
                      <a:ln w="9525" cap="flat" cmpd="sng">
                        <a:solidFill>
                          <a:schemeClr val="tx1"/>
                        </a:solidFill>
                        <a:prstDash val="solid"/>
                        <a:headEnd type="none" w="med" len="med"/>
                        <a:tailEnd type="none" w="med" len="med"/>
                      </a:ln>
                    </p:spPr>
                  </p:sp>
                  <p:sp>
                    <p:nvSpPr>
                      <p:cNvPr id="12408" name="Line 93"/>
                      <p:cNvSpPr/>
                      <p:nvPr/>
                    </p:nvSpPr>
                    <p:spPr>
                      <a:xfrm>
                        <a:off x="188" y="0"/>
                        <a:ext cx="0" cy="116"/>
                      </a:xfrm>
                      <a:prstGeom prst="line">
                        <a:avLst/>
                      </a:prstGeom>
                      <a:ln w="9525" cap="flat" cmpd="sng">
                        <a:solidFill>
                          <a:schemeClr val="tx1"/>
                        </a:solidFill>
                        <a:prstDash val="solid"/>
                        <a:headEnd type="none" w="med" len="med"/>
                        <a:tailEnd type="none" w="med" len="med"/>
                      </a:ln>
                    </p:spPr>
                  </p:sp>
                  <p:sp>
                    <p:nvSpPr>
                      <p:cNvPr id="12409" name="Line 94"/>
                      <p:cNvSpPr/>
                      <p:nvPr/>
                    </p:nvSpPr>
                    <p:spPr>
                      <a:xfrm>
                        <a:off x="79" y="62"/>
                        <a:ext cx="109" cy="0"/>
                      </a:xfrm>
                      <a:prstGeom prst="line">
                        <a:avLst/>
                      </a:prstGeom>
                      <a:ln w="9525" cap="flat" cmpd="sng">
                        <a:solidFill>
                          <a:schemeClr val="tx1"/>
                        </a:solidFill>
                        <a:prstDash val="solid"/>
                        <a:headEnd type="none" w="med" len="med"/>
                        <a:tailEnd type="none" w="med" len="med"/>
                      </a:ln>
                    </p:spPr>
                  </p:sp>
                  <p:sp>
                    <p:nvSpPr>
                      <p:cNvPr id="12410" name="Line 95"/>
                      <p:cNvSpPr/>
                      <p:nvPr/>
                    </p:nvSpPr>
                    <p:spPr>
                      <a:xfrm>
                        <a:off x="405" y="2"/>
                        <a:ext cx="0" cy="116"/>
                      </a:xfrm>
                      <a:prstGeom prst="line">
                        <a:avLst/>
                      </a:prstGeom>
                      <a:ln w="9525" cap="flat" cmpd="sng">
                        <a:solidFill>
                          <a:schemeClr val="tx1"/>
                        </a:solidFill>
                        <a:prstDash val="solid"/>
                        <a:headEnd type="none" w="med" len="med"/>
                        <a:tailEnd type="none" w="med" len="med"/>
                      </a:ln>
                    </p:spPr>
                  </p:sp>
                  <p:sp>
                    <p:nvSpPr>
                      <p:cNvPr id="12411" name="Line 96"/>
                      <p:cNvSpPr/>
                      <p:nvPr/>
                    </p:nvSpPr>
                    <p:spPr>
                      <a:xfrm>
                        <a:off x="514" y="2"/>
                        <a:ext cx="0" cy="116"/>
                      </a:xfrm>
                      <a:prstGeom prst="line">
                        <a:avLst/>
                      </a:prstGeom>
                      <a:ln w="9525" cap="flat" cmpd="sng">
                        <a:solidFill>
                          <a:schemeClr val="tx1"/>
                        </a:solidFill>
                        <a:prstDash val="solid"/>
                        <a:headEnd type="none" w="med" len="med"/>
                        <a:tailEnd type="none" w="med" len="med"/>
                      </a:ln>
                    </p:spPr>
                  </p:sp>
                  <p:sp>
                    <p:nvSpPr>
                      <p:cNvPr id="12412" name="Line 97"/>
                      <p:cNvSpPr/>
                      <p:nvPr/>
                    </p:nvSpPr>
                    <p:spPr>
                      <a:xfrm>
                        <a:off x="405" y="64"/>
                        <a:ext cx="109" cy="0"/>
                      </a:xfrm>
                      <a:prstGeom prst="line">
                        <a:avLst/>
                      </a:prstGeom>
                      <a:ln w="9525" cap="flat" cmpd="sng">
                        <a:solidFill>
                          <a:schemeClr val="tx1"/>
                        </a:solidFill>
                        <a:prstDash val="solid"/>
                        <a:headEnd type="none" w="med" len="med"/>
                        <a:tailEnd type="none" w="med" len="med"/>
                      </a:ln>
                    </p:spPr>
                  </p:sp>
                  <p:sp>
                    <p:nvSpPr>
                      <p:cNvPr id="12413" name="Line 98"/>
                      <p:cNvSpPr/>
                      <p:nvPr/>
                    </p:nvSpPr>
                    <p:spPr>
                      <a:xfrm>
                        <a:off x="731" y="2"/>
                        <a:ext cx="0" cy="116"/>
                      </a:xfrm>
                      <a:prstGeom prst="line">
                        <a:avLst/>
                      </a:prstGeom>
                      <a:ln w="9525" cap="flat" cmpd="sng">
                        <a:solidFill>
                          <a:schemeClr val="tx1"/>
                        </a:solidFill>
                        <a:prstDash val="solid"/>
                        <a:headEnd type="none" w="med" len="med"/>
                        <a:tailEnd type="none" w="med" len="med"/>
                      </a:ln>
                    </p:spPr>
                  </p:sp>
                  <p:sp>
                    <p:nvSpPr>
                      <p:cNvPr id="12414" name="Line 99"/>
                      <p:cNvSpPr/>
                      <p:nvPr/>
                    </p:nvSpPr>
                    <p:spPr>
                      <a:xfrm>
                        <a:off x="840" y="2"/>
                        <a:ext cx="0" cy="116"/>
                      </a:xfrm>
                      <a:prstGeom prst="line">
                        <a:avLst/>
                      </a:prstGeom>
                      <a:ln w="9525" cap="flat" cmpd="sng">
                        <a:solidFill>
                          <a:schemeClr val="tx1"/>
                        </a:solidFill>
                        <a:prstDash val="solid"/>
                        <a:headEnd type="none" w="med" len="med"/>
                        <a:tailEnd type="none" w="med" len="med"/>
                      </a:ln>
                    </p:spPr>
                  </p:sp>
                  <p:sp>
                    <p:nvSpPr>
                      <p:cNvPr id="12415" name="Line 100"/>
                      <p:cNvSpPr/>
                      <p:nvPr/>
                    </p:nvSpPr>
                    <p:spPr>
                      <a:xfrm>
                        <a:off x="731" y="64"/>
                        <a:ext cx="109" cy="0"/>
                      </a:xfrm>
                      <a:prstGeom prst="line">
                        <a:avLst/>
                      </a:prstGeom>
                      <a:ln w="9525" cap="flat" cmpd="sng">
                        <a:solidFill>
                          <a:schemeClr val="tx1"/>
                        </a:solidFill>
                        <a:prstDash val="solid"/>
                        <a:headEnd type="none" w="med" len="med"/>
                        <a:tailEnd type="none" w="med" len="med"/>
                      </a:ln>
                    </p:spPr>
                  </p:sp>
                </p:grpSp>
                <p:sp>
                  <p:nvSpPr>
                    <p:cNvPr id="11291" name="Text Box 101"/>
                    <p:cNvSpPr txBox="1"/>
                    <p:nvPr/>
                  </p:nvSpPr>
                  <p:spPr>
                    <a:xfrm>
                      <a:off x="348" y="482"/>
                      <a:ext cx="484" cy="200"/>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en-US" sz="1400" dirty="0">
                          <a:latin typeface="Times New Roman" panose="02020603050405020304" pitchFamily="18" charset="0"/>
                          <a:ea typeface="黑体" panose="02010609060101010101" pitchFamily="49" charset="-122"/>
                        </a:rPr>
                        <a:t>压力</a:t>
                      </a:r>
                      <a:r>
                        <a:rPr lang="zh-CN" altLang="zh-CN" sz="1400" dirty="0">
                          <a:latin typeface="Times New Roman" panose="02020603050405020304" pitchFamily="18" charset="0"/>
                          <a:ea typeface="黑体" panose="02010609060101010101" pitchFamily="49" charset="-122"/>
                        </a:rPr>
                        <a:t>加工</a:t>
                      </a:r>
                      <a:endParaRPr lang="zh-CN" altLang="zh-CN" sz="1400" dirty="0">
                        <a:latin typeface="Times New Roman" panose="02020603050405020304" pitchFamily="18" charset="0"/>
                        <a:ea typeface="黑体" panose="02010609060101010101" pitchFamily="49" charset="-122"/>
                      </a:endParaRPr>
                    </a:p>
                  </p:txBody>
                </p:sp>
                <p:grpSp>
                  <p:nvGrpSpPr>
                    <p:cNvPr id="11292" name="Group 102"/>
                    <p:cNvGrpSpPr/>
                    <p:nvPr/>
                  </p:nvGrpSpPr>
                  <p:grpSpPr>
                    <a:xfrm>
                      <a:off x="1842" y="300"/>
                      <a:ext cx="294" cy="94"/>
                      <a:chOff x="0" y="0"/>
                      <a:chExt cx="294" cy="94"/>
                    </a:xfrm>
                  </p:grpSpPr>
                  <p:grpSp>
                    <p:nvGrpSpPr>
                      <p:cNvPr id="12385" name="Group 103"/>
                      <p:cNvGrpSpPr/>
                      <p:nvPr/>
                    </p:nvGrpSpPr>
                    <p:grpSpPr>
                      <a:xfrm>
                        <a:off x="0" y="0"/>
                        <a:ext cx="294" cy="94"/>
                        <a:chOff x="0" y="0"/>
                        <a:chExt cx="294" cy="94"/>
                      </a:xfrm>
                    </p:grpSpPr>
                    <p:grpSp>
                      <p:nvGrpSpPr>
                        <p:cNvPr id="12387" name="Group 104"/>
                        <p:cNvGrpSpPr/>
                        <p:nvPr/>
                      </p:nvGrpSpPr>
                      <p:grpSpPr>
                        <a:xfrm>
                          <a:off x="0" y="0"/>
                          <a:ext cx="294" cy="94"/>
                          <a:chOff x="0" y="0"/>
                          <a:chExt cx="294" cy="94"/>
                        </a:xfrm>
                      </p:grpSpPr>
                      <p:sp>
                        <p:nvSpPr>
                          <p:cNvPr id="12389" name="Line 105"/>
                          <p:cNvSpPr/>
                          <p:nvPr/>
                        </p:nvSpPr>
                        <p:spPr>
                          <a:xfrm flipV="1">
                            <a:off x="1" y="28"/>
                            <a:ext cx="75" cy="19"/>
                          </a:xfrm>
                          <a:prstGeom prst="line">
                            <a:avLst/>
                          </a:prstGeom>
                          <a:ln w="9525" cap="flat" cmpd="sng">
                            <a:solidFill>
                              <a:srgbClr val="800000"/>
                            </a:solidFill>
                            <a:prstDash val="solid"/>
                            <a:headEnd type="none" w="med" len="med"/>
                            <a:tailEnd type="none" w="med" len="med"/>
                          </a:ln>
                        </p:spPr>
                      </p:sp>
                      <p:sp>
                        <p:nvSpPr>
                          <p:cNvPr id="12390" name="Line 106"/>
                          <p:cNvSpPr/>
                          <p:nvPr/>
                        </p:nvSpPr>
                        <p:spPr>
                          <a:xfrm flipV="1">
                            <a:off x="77" y="1"/>
                            <a:ext cx="15" cy="25"/>
                          </a:xfrm>
                          <a:prstGeom prst="line">
                            <a:avLst/>
                          </a:prstGeom>
                          <a:ln w="9525" cap="flat" cmpd="sng">
                            <a:solidFill>
                              <a:srgbClr val="800000"/>
                            </a:solidFill>
                            <a:prstDash val="solid"/>
                            <a:headEnd type="none" w="med" len="med"/>
                            <a:tailEnd type="none" w="med" len="med"/>
                          </a:ln>
                        </p:spPr>
                      </p:sp>
                      <p:sp>
                        <p:nvSpPr>
                          <p:cNvPr id="12391" name="Line 107"/>
                          <p:cNvSpPr/>
                          <p:nvPr/>
                        </p:nvSpPr>
                        <p:spPr>
                          <a:xfrm>
                            <a:off x="93" y="0"/>
                            <a:ext cx="70" cy="0"/>
                          </a:xfrm>
                          <a:prstGeom prst="line">
                            <a:avLst/>
                          </a:prstGeom>
                          <a:ln w="9525" cap="flat" cmpd="sng">
                            <a:solidFill>
                              <a:srgbClr val="800000"/>
                            </a:solidFill>
                            <a:prstDash val="solid"/>
                            <a:headEnd type="none" w="med" len="med"/>
                            <a:tailEnd type="none" w="med" len="med"/>
                          </a:ln>
                        </p:spPr>
                      </p:sp>
                      <p:sp>
                        <p:nvSpPr>
                          <p:cNvPr id="12392" name="Line 108"/>
                          <p:cNvSpPr/>
                          <p:nvPr/>
                        </p:nvSpPr>
                        <p:spPr>
                          <a:xfrm>
                            <a:off x="163" y="0"/>
                            <a:ext cx="50" cy="38"/>
                          </a:xfrm>
                          <a:prstGeom prst="line">
                            <a:avLst/>
                          </a:prstGeom>
                          <a:ln w="9525" cap="flat" cmpd="sng">
                            <a:solidFill>
                              <a:srgbClr val="800000"/>
                            </a:solidFill>
                            <a:prstDash val="solid"/>
                            <a:headEnd type="none" w="med" len="med"/>
                            <a:tailEnd type="none" w="med" len="med"/>
                          </a:ln>
                        </p:spPr>
                      </p:sp>
                      <p:sp>
                        <p:nvSpPr>
                          <p:cNvPr id="12393" name="Line 109"/>
                          <p:cNvSpPr/>
                          <p:nvPr/>
                        </p:nvSpPr>
                        <p:spPr>
                          <a:xfrm>
                            <a:off x="213" y="38"/>
                            <a:ext cx="74" cy="7"/>
                          </a:xfrm>
                          <a:prstGeom prst="line">
                            <a:avLst/>
                          </a:prstGeom>
                          <a:ln w="9525" cap="flat" cmpd="sng">
                            <a:solidFill>
                              <a:srgbClr val="800000"/>
                            </a:solidFill>
                            <a:prstDash val="solid"/>
                            <a:headEnd type="none" w="med" len="med"/>
                            <a:tailEnd type="none" w="med" len="med"/>
                          </a:ln>
                        </p:spPr>
                      </p:sp>
                      <p:sp>
                        <p:nvSpPr>
                          <p:cNvPr id="12394" name="Line 110"/>
                          <p:cNvSpPr/>
                          <p:nvPr/>
                        </p:nvSpPr>
                        <p:spPr>
                          <a:xfrm>
                            <a:off x="294" y="52"/>
                            <a:ext cx="0" cy="31"/>
                          </a:xfrm>
                          <a:prstGeom prst="line">
                            <a:avLst/>
                          </a:prstGeom>
                          <a:ln w="9525" cap="flat" cmpd="sng">
                            <a:solidFill>
                              <a:srgbClr val="800000"/>
                            </a:solidFill>
                            <a:prstDash val="solid"/>
                            <a:headEnd type="none" w="med" len="med"/>
                            <a:tailEnd type="none" w="med" len="med"/>
                          </a:ln>
                        </p:spPr>
                      </p:sp>
                      <p:sp>
                        <p:nvSpPr>
                          <p:cNvPr id="12395" name="Line 111"/>
                          <p:cNvSpPr/>
                          <p:nvPr/>
                        </p:nvSpPr>
                        <p:spPr>
                          <a:xfrm>
                            <a:off x="104" y="94"/>
                            <a:ext cx="69" cy="0"/>
                          </a:xfrm>
                          <a:prstGeom prst="line">
                            <a:avLst/>
                          </a:prstGeom>
                          <a:ln w="9525" cap="flat" cmpd="sng">
                            <a:solidFill>
                              <a:srgbClr val="800000"/>
                            </a:solidFill>
                            <a:prstDash val="solid"/>
                            <a:headEnd type="none" w="med" len="med"/>
                            <a:tailEnd type="none" w="med" len="med"/>
                          </a:ln>
                        </p:spPr>
                      </p:sp>
                      <p:sp>
                        <p:nvSpPr>
                          <p:cNvPr id="12396" name="Line 112"/>
                          <p:cNvSpPr/>
                          <p:nvPr/>
                        </p:nvSpPr>
                        <p:spPr>
                          <a:xfrm flipV="1">
                            <a:off x="173" y="76"/>
                            <a:ext cx="20" cy="18"/>
                          </a:xfrm>
                          <a:prstGeom prst="line">
                            <a:avLst/>
                          </a:prstGeom>
                          <a:ln w="9525" cap="flat" cmpd="sng">
                            <a:solidFill>
                              <a:srgbClr val="800000"/>
                            </a:solidFill>
                            <a:prstDash val="solid"/>
                            <a:headEnd type="none" w="med" len="med"/>
                            <a:tailEnd type="none" w="med" len="med"/>
                          </a:ln>
                        </p:spPr>
                      </p:sp>
                      <p:sp>
                        <p:nvSpPr>
                          <p:cNvPr id="12397" name="Line 113"/>
                          <p:cNvSpPr/>
                          <p:nvPr/>
                        </p:nvSpPr>
                        <p:spPr>
                          <a:xfrm>
                            <a:off x="193" y="76"/>
                            <a:ext cx="30" cy="0"/>
                          </a:xfrm>
                          <a:prstGeom prst="line">
                            <a:avLst/>
                          </a:prstGeom>
                          <a:ln w="9525" cap="flat" cmpd="sng">
                            <a:solidFill>
                              <a:srgbClr val="800000"/>
                            </a:solidFill>
                            <a:prstDash val="solid"/>
                            <a:headEnd type="none" w="med" len="med"/>
                            <a:tailEnd type="none" w="med" len="med"/>
                          </a:ln>
                        </p:spPr>
                      </p:sp>
                      <p:sp>
                        <p:nvSpPr>
                          <p:cNvPr id="12398" name="Line 114"/>
                          <p:cNvSpPr/>
                          <p:nvPr/>
                        </p:nvSpPr>
                        <p:spPr>
                          <a:xfrm>
                            <a:off x="223" y="76"/>
                            <a:ext cx="15" cy="12"/>
                          </a:xfrm>
                          <a:prstGeom prst="line">
                            <a:avLst/>
                          </a:prstGeom>
                          <a:ln w="9525" cap="flat" cmpd="sng">
                            <a:solidFill>
                              <a:srgbClr val="800000"/>
                            </a:solidFill>
                            <a:prstDash val="solid"/>
                            <a:headEnd type="none" w="med" len="med"/>
                            <a:tailEnd type="none" w="med" len="med"/>
                          </a:ln>
                        </p:spPr>
                      </p:sp>
                      <p:sp>
                        <p:nvSpPr>
                          <p:cNvPr id="12399" name="Line 115"/>
                          <p:cNvSpPr/>
                          <p:nvPr/>
                        </p:nvSpPr>
                        <p:spPr>
                          <a:xfrm>
                            <a:off x="239" y="88"/>
                            <a:ext cx="34" cy="0"/>
                          </a:xfrm>
                          <a:prstGeom prst="line">
                            <a:avLst/>
                          </a:prstGeom>
                          <a:ln w="9525" cap="flat" cmpd="sng">
                            <a:solidFill>
                              <a:srgbClr val="800000"/>
                            </a:solidFill>
                            <a:prstDash val="solid"/>
                            <a:headEnd type="none" w="med" len="med"/>
                            <a:tailEnd type="none" w="med" len="med"/>
                          </a:ln>
                        </p:spPr>
                      </p:sp>
                      <p:sp>
                        <p:nvSpPr>
                          <p:cNvPr id="12400" name="Line 116"/>
                          <p:cNvSpPr/>
                          <p:nvPr/>
                        </p:nvSpPr>
                        <p:spPr>
                          <a:xfrm flipV="1">
                            <a:off x="272" y="83"/>
                            <a:ext cx="21" cy="5"/>
                          </a:xfrm>
                          <a:prstGeom prst="line">
                            <a:avLst/>
                          </a:prstGeom>
                          <a:ln w="9525" cap="flat" cmpd="sng">
                            <a:solidFill>
                              <a:srgbClr val="800000"/>
                            </a:solidFill>
                            <a:prstDash val="solid"/>
                            <a:headEnd type="none" w="med" len="med"/>
                            <a:tailEnd type="none" w="med" len="med"/>
                          </a:ln>
                        </p:spPr>
                      </p:sp>
                      <p:sp>
                        <p:nvSpPr>
                          <p:cNvPr id="12401" name="Line 117"/>
                          <p:cNvSpPr/>
                          <p:nvPr/>
                        </p:nvSpPr>
                        <p:spPr>
                          <a:xfrm flipH="1" flipV="1">
                            <a:off x="81" y="76"/>
                            <a:ext cx="21" cy="18"/>
                          </a:xfrm>
                          <a:prstGeom prst="line">
                            <a:avLst/>
                          </a:prstGeom>
                          <a:ln w="9525" cap="flat" cmpd="sng">
                            <a:solidFill>
                              <a:srgbClr val="800000"/>
                            </a:solidFill>
                            <a:prstDash val="solid"/>
                            <a:headEnd type="none" w="med" len="med"/>
                            <a:tailEnd type="none" w="med" len="med"/>
                          </a:ln>
                        </p:spPr>
                      </p:sp>
                      <p:sp>
                        <p:nvSpPr>
                          <p:cNvPr id="12402" name="Line 118"/>
                          <p:cNvSpPr/>
                          <p:nvPr/>
                        </p:nvSpPr>
                        <p:spPr>
                          <a:xfrm>
                            <a:off x="51" y="76"/>
                            <a:ext cx="30" cy="0"/>
                          </a:xfrm>
                          <a:prstGeom prst="line">
                            <a:avLst/>
                          </a:prstGeom>
                          <a:ln w="9525" cap="flat" cmpd="sng">
                            <a:solidFill>
                              <a:srgbClr val="800000"/>
                            </a:solidFill>
                            <a:prstDash val="solid"/>
                            <a:headEnd type="none" w="med" len="med"/>
                            <a:tailEnd type="none" w="med" len="med"/>
                          </a:ln>
                        </p:spPr>
                      </p:sp>
                      <p:sp>
                        <p:nvSpPr>
                          <p:cNvPr id="12403" name="Line 119"/>
                          <p:cNvSpPr/>
                          <p:nvPr/>
                        </p:nvSpPr>
                        <p:spPr>
                          <a:xfrm flipH="1">
                            <a:off x="35" y="76"/>
                            <a:ext cx="15" cy="12"/>
                          </a:xfrm>
                          <a:prstGeom prst="line">
                            <a:avLst/>
                          </a:prstGeom>
                          <a:ln w="9525" cap="flat" cmpd="sng">
                            <a:solidFill>
                              <a:srgbClr val="800000"/>
                            </a:solidFill>
                            <a:prstDash val="solid"/>
                            <a:headEnd type="none" w="med" len="med"/>
                            <a:tailEnd type="none" w="med" len="med"/>
                          </a:ln>
                        </p:spPr>
                      </p:sp>
                      <p:sp>
                        <p:nvSpPr>
                          <p:cNvPr id="12404" name="Line 120"/>
                          <p:cNvSpPr/>
                          <p:nvPr/>
                        </p:nvSpPr>
                        <p:spPr>
                          <a:xfrm flipH="1">
                            <a:off x="3" y="88"/>
                            <a:ext cx="31" cy="0"/>
                          </a:xfrm>
                          <a:prstGeom prst="line">
                            <a:avLst/>
                          </a:prstGeom>
                          <a:ln w="9525" cap="flat" cmpd="sng">
                            <a:solidFill>
                              <a:srgbClr val="800000"/>
                            </a:solidFill>
                            <a:prstDash val="solid"/>
                            <a:headEnd type="none" w="med" len="med"/>
                            <a:tailEnd type="none" w="med" len="med"/>
                          </a:ln>
                        </p:spPr>
                      </p:sp>
                      <p:sp>
                        <p:nvSpPr>
                          <p:cNvPr id="12405" name="Line 121"/>
                          <p:cNvSpPr/>
                          <p:nvPr/>
                        </p:nvSpPr>
                        <p:spPr>
                          <a:xfrm flipH="1" flipV="1">
                            <a:off x="0" y="49"/>
                            <a:ext cx="3" cy="37"/>
                          </a:xfrm>
                          <a:prstGeom prst="line">
                            <a:avLst/>
                          </a:prstGeom>
                          <a:ln w="9525" cap="flat" cmpd="sng">
                            <a:solidFill>
                              <a:srgbClr val="800000"/>
                            </a:solidFill>
                            <a:prstDash val="solid"/>
                            <a:headEnd type="none" w="med" len="med"/>
                            <a:tailEnd type="none" w="med" len="med"/>
                          </a:ln>
                        </p:spPr>
                      </p:sp>
                    </p:grpSp>
                    <p:sp>
                      <p:nvSpPr>
                        <p:cNvPr id="12388" name="Line 122"/>
                        <p:cNvSpPr/>
                        <p:nvPr/>
                      </p:nvSpPr>
                      <p:spPr>
                        <a:xfrm>
                          <a:off x="286" y="44"/>
                          <a:ext cx="7" cy="9"/>
                        </a:xfrm>
                        <a:prstGeom prst="line">
                          <a:avLst/>
                        </a:prstGeom>
                        <a:ln w="9525" cap="flat" cmpd="sng">
                          <a:solidFill>
                            <a:srgbClr val="800000"/>
                          </a:solidFill>
                          <a:prstDash val="solid"/>
                          <a:headEnd type="none" w="med" len="med"/>
                          <a:tailEnd type="none" w="med" len="med"/>
                        </a:ln>
                      </p:spPr>
                    </p:sp>
                  </p:grpSp>
                  <p:sp>
                    <p:nvSpPr>
                      <p:cNvPr id="12386" name="AutoShape 123"/>
                      <p:cNvSpPr/>
                      <p:nvPr/>
                    </p:nvSpPr>
                    <p:spPr>
                      <a:xfrm>
                        <a:off x="93" y="15"/>
                        <a:ext cx="76" cy="23"/>
                      </a:xfrm>
                      <a:prstGeom prst="roundRect">
                        <a:avLst>
                          <a:gd name="adj" fmla="val 16667"/>
                        </a:avLst>
                      </a:prstGeom>
                      <a:solidFill>
                        <a:srgbClr val="000099"/>
                      </a:solidFill>
                      <a:ln w="9525" cap="flat" cmpd="sng">
                        <a:solidFill>
                          <a:srgbClr val="800000"/>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293" name="Text Box 124"/>
                    <p:cNvSpPr txBox="1"/>
                    <p:nvPr/>
                  </p:nvSpPr>
                  <p:spPr>
                    <a:xfrm>
                      <a:off x="2005" y="480"/>
                      <a:ext cx="489" cy="163"/>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油漆</a:t>
                      </a:r>
                      <a:endParaRPr lang="zh-CN" altLang="zh-CN" sz="1400" dirty="0">
                        <a:latin typeface="Times New Roman" panose="02020603050405020304" pitchFamily="18" charset="0"/>
                        <a:ea typeface="黑体" panose="02010609060101010101" pitchFamily="49" charset="-122"/>
                      </a:endParaRPr>
                    </a:p>
                  </p:txBody>
                </p:sp>
                <p:sp>
                  <p:nvSpPr>
                    <p:cNvPr id="11294" name="Text Box 125"/>
                    <p:cNvSpPr txBox="1"/>
                    <p:nvPr/>
                  </p:nvSpPr>
                  <p:spPr>
                    <a:xfrm>
                      <a:off x="1244" y="477"/>
                      <a:ext cx="489" cy="163"/>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车身装配</a:t>
                      </a:r>
                      <a:endParaRPr lang="zh-CN" altLang="zh-CN" sz="1400" dirty="0">
                        <a:latin typeface="Times New Roman" panose="02020603050405020304" pitchFamily="18" charset="0"/>
                        <a:ea typeface="黑体" panose="02010609060101010101" pitchFamily="49" charset="-122"/>
                      </a:endParaRPr>
                    </a:p>
                  </p:txBody>
                </p:sp>
                <p:grpSp>
                  <p:nvGrpSpPr>
                    <p:cNvPr id="11295" name="Group 126"/>
                    <p:cNvGrpSpPr/>
                    <p:nvPr/>
                  </p:nvGrpSpPr>
                  <p:grpSpPr>
                    <a:xfrm>
                      <a:off x="2167" y="300"/>
                      <a:ext cx="294" cy="94"/>
                      <a:chOff x="0" y="0"/>
                      <a:chExt cx="294" cy="94"/>
                    </a:xfrm>
                  </p:grpSpPr>
                  <p:grpSp>
                    <p:nvGrpSpPr>
                      <p:cNvPr id="12344" name="Group 127"/>
                      <p:cNvGrpSpPr/>
                      <p:nvPr/>
                    </p:nvGrpSpPr>
                    <p:grpSpPr>
                      <a:xfrm>
                        <a:off x="0" y="0"/>
                        <a:ext cx="294" cy="94"/>
                        <a:chOff x="0" y="0"/>
                        <a:chExt cx="294" cy="94"/>
                      </a:xfrm>
                    </p:grpSpPr>
                    <p:sp>
                      <p:nvSpPr>
                        <p:cNvPr id="12348" name="Rectangle 128"/>
                        <p:cNvSpPr/>
                        <p:nvPr/>
                      </p:nvSpPr>
                      <p:spPr>
                        <a:xfrm>
                          <a:off x="283" y="52"/>
                          <a:ext cx="10" cy="2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49" name="AutoShape 129"/>
                        <p:cNvSpPr/>
                        <p:nvPr/>
                      </p:nvSpPr>
                      <p:spPr>
                        <a:xfrm rot="-5400000">
                          <a:off x="57" y="1"/>
                          <a:ext cx="15" cy="53"/>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50" name="AutoShape 130"/>
                        <p:cNvSpPr/>
                        <p:nvPr/>
                      </p:nvSpPr>
                      <p:spPr>
                        <a:xfrm rot="-5400000">
                          <a:off x="14" y="21"/>
                          <a:ext cx="12" cy="40"/>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51" name="AutoShape 131"/>
                        <p:cNvSpPr/>
                        <p:nvPr/>
                      </p:nvSpPr>
                      <p:spPr>
                        <a:xfrm rot="10800000">
                          <a:off x="80" y="74"/>
                          <a:ext cx="21" cy="18"/>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352" name="Group 132"/>
                        <p:cNvGrpSpPr/>
                        <p:nvPr/>
                      </p:nvGrpSpPr>
                      <p:grpSpPr>
                        <a:xfrm>
                          <a:off x="0" y="0"/>
                          <a:ext cx="294" cy="94"/>
                          <a:chOff x="0" y="0"/>
                          <a:chExt cx="294" cy="94"/>
                        </a:xfrm>
                      </p:grpSpPr>
                      <p:grpSp>
                        <p:nvGrpSpPr>
                          <p:cNvPr id="12353" name="Group 133"/>
                          <p:cNvGrpSpPr/>
                          <p:nvPr/>
                        </p:nvGrpSpPr>
                        <p:grpSpPr>
                          <a:xfrm>
                            <a:off x="3" y="0"/>
                            <a:ext cx="282" cy="94"/>
                            <a:chOff x="0" y="0"/>
                            <a:chExt cx="282" cy="94"/>
                          </a:xfrm>
                        </p:grpSpPr>
                        <p:sp>
                          <p:nvSpPr>
                            <p:cNvPr id="12375" name="AutoShape 134"/>
                            <p:cNvSpPr/>
                            <p:nvPr/>
                          </p:nvSpPr>
                          <p:spPr>
                            <a:xfrm rot="5400000">
                              <a:off x="166" y="70"/>
                              <a:ext cx="21" cy="22"/>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76" name="Rectangle 135"/>
                            <p:cNvSpPr/>
                            <p:nvPr/>
                          </p:nvSpPr>
                          <p:spPr>
                            <a:xfrm>
                              <a:off x="89" y="0"/>
                              <a:ext cx="72" cy="1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77" name="Rectangle 136"/>
                            <p:cNvSpPr/>
                            <p:nvPr/>
                          </p:nvSpPr>
                          <p:spPr>
                            <a:xfrm>
                              <a:off x="37" y="37"/>
                              <a:ext cx="6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78" name="Rectangle 137"/>
                            <p:cNvSpPr/>
                            <p:nvPr/>
                          </p:nvSpPr>
                          <p:spPr>
                            <a:xfrm>
                              <a:off x="167" y="37"/>
                              <a:ext cx="5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79" name="Rectangle 138"/>
                            <p:cNvSpPr/>
                            <p:nvPr/>
                          </p:nvSpPr>
                          <p:spPr>
                            <a:xfrm>
                              <a:off x="98" y="37"/>
                              <a:ext cx="69" cy="5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80" name="Rectangle 139"/>
                            <p:cNvSpPr/>
                            <p:nvPr/>
                          </p:nvSpPr>
                          <p:spPr>
                            <a:xfrm>
                              <a:off x="218" y="44"/>
                              <a:ext cx="64" cy="30"/>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81" name="Rectangle 140"/>
                            <p:cNvSpPr/>
                            <p:nvPr/>
                          </p:nvSpPr>
                          <p:spPr>
                            <a:xfrm>
                              <a:off x="232" y="72"/>
                              <a:ext cx="40" cy="14"/>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82" name="Rectangle 141"/>
                            <p:cNvSpPr/>
                            <p:nvPr/>
                          </p:nvSpPr>
                          <p:spPr>
                            <a:xfrm>
                              <a:off x="0" y="46"/>
                              <a:ext cx="34" cy="3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83" name="AutoShape 142"/>
                            <p:cNvSpPr/>
                            <p:nvPr/>
                          </p:nvSpPr>
                          <p:spPr>
                            <a:xfrm rot="-5400000">
                              <a:off x="68" y="5"/>
                              <a:ext cx="25" cy="15"/>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84" name="AutoShape 143"/>
                            <p:cNvSpPr/>
                            <p:nvPr/>
                          </p:nvSpPr>
                          <p:spPr>
                            <a:xfrm>
                              <a:off x="167" y="5"/>
                              <a:ext cx="51" cy="37"/>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354" name="AutoShape 144"/>
                          <p:cNvSpPr/>
                          <p:nvPr/>
                        </p:nvSpPr>
                        <p:spPr>
                          <a:xfrm>
                            <a:off x="92" y="15"/>
                            <a:ext cx="79" cy="25"/>
                          </a:xfrm>
                          <a:prstGeom prst="roundRect">
                            <a:avLst>
                              <a:gd name="adj" fmla="val 16667"/>
                            </a:avLst>
                          </a:prstGeom>
                          <a:solidFill>
                            <a:srgbClr val="000099"/>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355" name="Group 145"/>
                          <p:cNvGrpSpPr/>
                          <p:nvPr/>
                        </p:nvGrpSpPr>
                        <p:grpSpPr>
                          <a:xfrm>
                            <a:off x="0" y="0"/>
                            <a:ext cx="294" cy="92"/>
                            <a:chOff x="0" y="0"/>
                            <a:chExt cx="294" cy="92"/>
                          </a:xfrm>
                        </p:grpSpPr>
                        <p:grpSp>
                          <p:nvGrpSpPr>
                            <p:cNvPr id="12356" name="Group 146"/>
                            <p:cNvGrpSpPr/>
                            <p:nvPr/>
                          </p:nvGrpSpPr>
                          <p:grpSpPr>
                            <a:xfrm>
                              <a:off x="0" y="0"/>
                              <a:ext cx="294" cy="92"/>
                              <a:chOff x="0" y="0"/>
                              <a:chExt cx="294" cy="92"/>
                            </a:xfrm>
                          </p:grpSpPr>
                          <p:sp>
                            <p:nvSpPr>
                              <p:cNvPr id="12358" name="Line 147"/>
                              <p:cNvSpPr/>
                              <p:nvPr/>
                            </p:nvSpPr>
                            <p:spPr>
                              <a:xfrm flipV="1">
                                <a:off x="1" y="27"/>
                                <a:ext cx="75" cy="19"/>
                              </a:xfrm>
                              <a:prstGeom prst="line">
                                <a:avLst/>
                              </a:prstGeom>
                              <a:ln w="9525" cap="flat" cmpd="sng">
                                <a:solidFill>
                                  <a:schemeClr val="tx1"/>
                                </a:solidFill>
                                <a:prstDash val="solid"/>
                                <a:headEnd type="none" w="med" len="med"/>
                                <a:tailEnd type="none" w="med" len="med"/>
                              </a:ln>
                            </p:spPr>
                          </p:sp>
                          <p:sp>
                            <p:nvSpPr>
                              <p:cNvPr id="12359" name="Line 148"/>
                              <p:cNvSpPr/>
                              <p:nvPr/>
                            </p:nvSpPr>
                            <p:spPr>
                              <a:xfrm flipV="1">
                                <a:off x="77" y="0"/>
                                <a:ext cx="15" cy="26"/>
                              </a:xfrm>
                              <a:prstGeom prst="line">
                                <a:avLst/>
                              </a:prstGeom>
                              <a:ln w="9525" cap="flat" cmpd="sng">
                                <a:solidFill>
                                  <a:schemeClr val="tx1"/>
                                </a:solidFill>
                                <a:prstDash val="solid"/>
                                <a:headEnd type="none" w="med" len="med"/>
                                <a:tailEnd type="none" w="med" len="med"/>
                              </a:ln>
                            </p:spPr>
                          </p:sp>
                          <p:sp>
                            <p:nvSpPr>
                              <p:cNvPr id="12360" name="Line 149"/>
                              <p:cNvSpPr/>
                              <p:nvPr/>
                            </p:nvSpPr>
                            <p:spPr>
                              <a:xfrm>
                                <a:off x="94" y="0"/>
                                <a:ext cx="70" cy="0"/>
                              </a:xfrm>
                              <a:prstGeom prst="line">
                                <a:avLst/>
                              </a:prstGeom>
                              <a:ln w="9525" cap="flat" cmpd="sng">
                                <a:solidFill>
                                  <a:schemeClr val="tx1"/>
                                </a:solidFill>
                                <a:prstDash val="solid"/>
                                <a:headEnd type="none" w="med" len="med"/>
                                <a:tailEnd type="none" w="med" len="med"/>
                              </a:ln>
                            </p:spPr>
                          </p:sp>
                          <p:sp>
                            <p:nvSpPr>
                              <p:cNvPr id="12361" name="Line 150"/>
                              <p:cNvSpPr/>
                              <p:nvPr/>
                            </p:nvSpPr>
                            <p:spPr>
                              <a:xfrm>
                                <a:off x="164" y="0"/>
                                <a:ext cx="50" cy="37"/>
                              </a:xfrm>
                              <a:prstGeom prst="line">
                                <a:avLst/>
                              </a:prstGeom>
                              <a:ln w="9525" cap="flat" cmpd="sng">
                                <a:solidFill>
                                  <a:schemeClr val="tx1"/>
                                </a:solidFill>
                                <a:prstDash val="solid"/>
                                <a:headEnd type="none" w="med" len="med"/>
                                <a:tailEnd type="none" w="med" len="med"/>
                              </a:ln>
                            </p:spPr>
                          </p:sp>
                          <p:sp>
                            <p:nvSpPr>
                              <p:cNvPr id="12362" name="Line 151"/>
                              <p:cNvSpPr/>
                              <p:nvPr/>
                            </p:nvSpPr>
                            <p:spPr>
                              <a:xfrm>
                                <a:off x="294" y="51"/>
                                <a:ext cx="0" cy="30"/>
                              </a:xfrm>
                              <a:prstGeom prst="line">
                                <a:avLst/>
                              </a:prstGeom>
                              <a:ln w="9525" cap="flat" cmpd="sng">
                                <a:solidFill>
                                  <a:schemeClr val="tx1"/>
                                </a:solidFill>
                                <a:prstDash val="solid"/>
                                <a:headEnd type="none" w="med" len="med"/>
                                <a:tailEnd type="none" w="med" len="med"/>
                              </a:ln>
                            </p:spPr>
                          </p:sp>
                          <p:sp>
                            <p:nvSpPr>
                              <p:cNvPr id="12363" name="Line 152"/>
                              <p:cNvSpPr/>
                              <p:nvPr/>
                            </p:nvSpPr>
                            <p:spPr>
                              <a:xfrm>
                                <a:off x="104" y="92"/>
                                <a:ext cx="70" cy="0"/>
                              </a:xfrm>
                              <a:prstGeom prst="line">
                                <a:avLst/>
                              </a:prstGeom>
                              <a:ln w="9525" cap="flat" cmpd="sng">
                                <a:solidFill>
                                  <a:schemeClr val="tx1"/>
                                </a:solidFill>
                                <a:prstDash val="solid"/>
                                <a:headEnd type="none" w="med" len="med"/>
                                <a:tailEnd type="none" w="med" len="med"/>
                              </a:ln>
                            </p:spPr>
                          </p:sp>
                          <p:sp>
                            <p:nvSpPr>
                              <p:cNvPr id="12364" name="Line 153"/>
                              <p:cNvSpPr/>
                              <p:nvPr/>
                            </p:nvSpPr>
                            <p:spPr>
                              <a:xfrm flipV="1">
                                <a:off x="174" y="74"/>
                                <a:ext cx="20" cy="18"/>
                              </a:xfrm>
                              <a:prstGeom prst="line">
                                <a:avLst/>
                              </a:prstGeom>
                              <a:ln w="9525" cap="flat" cmpd="sng">
                                <a:solidFill>
                                  <a:schemeClr val="tx1"/>
                                </a:solidFill>
                                <a:prstDash val="solid"/>
                                <a:headEnd type="none" w="med" len="med"/>
                                <a:tailEnd type="none" w="med" len="med"/>
                              </a:ln>
                            </p:spPr>
                          </p:sp>
                          <p:sp>
                            <p:nvSpPr>
                              <p:cNvPr id="12365" name="Line 154"/>
                              <p:cNvSpPr/>
                              <p:nvPr/>
                            </p:nvSpPr>
                            <p:spPr>
                              <a:xfrm>
                                <a:off x="194" y="74"/>
                                <a:ext cx="30" cy="0"/>
                              </a:xfrm>
                              <a:prstGeom prst="line">
                                <a:avLst/>
                              </a:prstGeom>
                              <a:ln w="9525" cap="flat" cmpd="sng">
                                <a:solidFill>
                                  <a:schemeClr val="tx1"/>
                                </a:solidFill>
                                <a:prstDash val="solid"/>
                                <a:headEnd type="none" w="med" len="med"/>
                                <a:tailEnd type="none" w="med" len="med"/>
                              </a:ln>
                            </p:spPr>
                          </p:sp>
                          <p:sp>
                            <p:nvSpPr>
                              <p:cNvPr id="12366" name="Line 155"/>
                              <p:cNvSpPr/>
                              <p:nvPr/>
                            </p:nvSpPr>
                            <p:spPr>
                              <a:xfrm>
                                <a:off x="224" y="74"/>
                                <a:ext cx="14" cy="12"/>
                              </a:xfrm>
                              <a:prstGeom prst="line">
                                <a:avLst/>
                              </a:prstGeom>
                              <a:ln w="9525" cap="flat" cmpd="sng">
                                <a:solidFill>
                                  <a:schemeClr val="tx1"/>
                                </a:solidFill>
                                <a:prstDash val="solid"/>
                                <a:headEnd type="none" w="med" len="med"/>
                                <a:tailEnd type="none" w="med" len="med"/>
                              </a:ln>
                            </p:spPr>
                          </p:sp>
                          <p:sp>
                            <p:nvSpPr>
                              <p:cNvPr id="12367" name="Line 156"/>
                              <p:cNvSpPr/>
                              <p:nvPr/>
                            </p:nvSpPr>
                            <p:spPr>
                              <a:xfrm>
                                <a:off x="239" y="86"/>
                                <a:ext cx="35" cy="0"/>
                              </a:xfrm>
                              <a:prstGeom prst="line">
                                <a:avLst/>
                              </a:prstGeom>
                              <a:ln w="9525" cap="flat" cmpd="sng">
                                <a:solidFill>
                                  <a:schemeClr val="tx1"/>
                                </a:solidFill>
                                <a:prstDash val="solid"/>
                                <a:headEnd type="none" w="med" len="med"/>
                                <a:tailEnd type="none" w="med" len="med"/>
                              </a:ln>
                            </p:spPr>
                          </p:sp>
                          <p:grpSp>
                            <p:nvGrpSpPr>
                              <p:cNvPr id="12368" name="Group 157"/>
                              <p:cNvGrpSpPr/>
                              <p:nvPr/>
                            </p:nvGrpSpPr>
                            <p:grpSpPr>
                              <a:xfrm>
                                <a:off x="35" y="74"/>
                                <a:ext cx="67" cy="18"/>
                                <a:chOff x="0" y="0"/>
                                <a:chExt cx="696" cy="156"/>
                              </a:xfrm>
                            </p:grpSpPr>
                            <p:sp>
                              <p:nvSpPr>
                                <p:cNvPr id="12372" name="Line 158"/>
                                <p:cNvSpPr/>
                                <p:nvPr/>
                              </p:nvSpPr>
                              <p:spPr>
                                <a:xfrm flipH="1" flipV="1">
                                  <a:off x="486" y="0"/>
                                  <a:ext cx="210" cy="156"/>
                                </a:xfrm>
                                <a:prstGeom prst="line">
                                  <a:avLst/>
                                </a:prstGeom>
                                <a:ln w="9525" cap="flat" cmpd="sng">
                                  <a:solidFill>
                                    <a:schemeClr val="tx1"/>
                                  </a:solidFill>
                                  <a:prstDash val="solid"/>
                                  <a:headEnd type="none" w="med" len="med"/>
                                  <a:tailEnd type="none" w="med" len="med"/>
                                </a:ln>
                              </p:spPr>
                            </p:sp>
                            <p:sp>
                              <p:nvSpPr>
                                <p:cNvPr id="12373" name="Line 159"/>
                                <p:cNvSpPr/>
                                <p:nvPr/>
                              </p:nvSpPr>
                              <p:spPr>
                                <a:xfrm>
                                  <a:off x="171" y="0"/>
                                  <a:ext cx="315" cy="0"/>
                                </a:xfrm>
                                <a:prstGeom prst="line">
                                  <a:avLst/>
                                </a:prstGeom>
                                <a:ln w="9525" cap="flat" cmpd="sng">
                                  <a:solidFill>
                                    <a:schemeClr val="tx1"/>
                                  </a:solidFill>
                                  <a:prstDash val="solid"/>
                                  <a:headEnd type="none" w="med" len="med"/>
                                  <a:tailEnd type="none" w="med" len="med"/>
                                </a:ln>
                              </p:spPr>
                            </p:sp>
                            <p:sp>
                              <p:nvSpPr>
                                <p:cNvPr id="12374" name="Line 160"/>
                                <p:cNvSpPr/>
                                <p:nvPr/>
                              </p:nvSpPr>
                              <p:spPr>
                                <a:xfrm flipH="1">
                                  <a:off x="0" y="3"/>
                                  <a:ext cx="153" cy="102"/>
                                </a:xfrm>
                                <a:prstGeom prst="line">
                                  <a:avLst/>
                                </a:prstGeom>
                                <a:ln w="9525" cap="flat" cmpd="sng">
                                  <a:solidFill>
                                    <a:schemeClr val="tx1"/>
                                  </a:solidFill>
                                  <a:prstDash val="solid"/>
                                  <a:headEnd type="none" w="med" len="med"/>
                                  <a:tailEnd type="none" w="med" len="med"/>
                                </a:ln>
                              </p:spPr>
                            </p:sp>
                          </p:grpSp>
                          <p:sp>
                            <p:nvSpPr>
                              <p:cNvPr id="12369" name="Line 161"/>
                              <p:cNvSpPr/>
                              <p:nvPr/>
                            </p:nvSpPr>
                            <p:spPr>
                              <a:xfrm flipH="1">
                                <a:off x="4" y="86"/>
                                <a:ext cx="30" cy="0"/>
                              </a:xfrm>
                              <a:prstGeom prst="line">
                                <a:avLst/>
                              </a:prstGeom>
                              <a:ln w="9525" cap="flat" cmpd="sng">
                                <a:solidFill>
                                  <a:schemeClr val="tx1"/>
                                </a:solidFill>
                                <a:prstDash val="solid"/>
                                <a:headEnd type="none" w="med" len="med"/>
                                <a:tailEnd type="none" w="med" len="med"/>
                              </a:ln>
                            </p:spPr>
                          </p:sp>
                          <p:sp>
                            <p:nvSpPr>
                              <p:cNvPr id="12370" name="Line 162"/>
                              <p:cNvSpPr/>
                              <p:nvPr/>
                            </p:nvSpPr>
                            <p:spPr>
                              <a:xfrm flipH="1" flipV="1">
                                <a:off x="0" y="48"/>
                                <a:ext cx="4" cy="37"/>
                              </a:xfrm>
                              <a:prstGeom prst="line">
                                <a:avLst/>
                              </a:prstGeom>
                              <a:ln w="9525" cap="flat" cmpd="sng">
                                <a:solidFill>
                                  <a:schemeClr val="tx1"/>
                                </a:solidFill>
                                <a:prstDash val="solid"/>
                                <a:headEnd type="none" w="med" len="med"/>
                                <a:tailEnd type="none" w="med" len="med"/>
                              </a:ln>
                            </p:spPr>
                          </p:sp>
                          <p:sp>
                            <p:nvSpPr>
                              <p:cNvPr id="12371" name="AutoShape 163"/>
                              <p:cNvSpPr/>
                              <p:nvPr/>
                            </p:nvSpPr>
                            <p:spPr>
                              <a:xfrm>
                                <a:off x="221" y="39"/>
                                <a:ext cx="70" cy="5"/>
                              </a:xfrm>
                              <a:prstGeom prst="rtTriangle">
                                <a:avLst/>
                              </a:prstGeom>
                              <a:solidFill>
                                <a:srgbClr val="CC33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357" name="Line 164"/>
                            <p:cNvSpPr/>
                            <p:nvPr/>
                          </p:nvSpPr>
                          <p:spPr>
                            <a:xfrm flipV="1">
                              <a:off x="273" y="81"/>
                              <a:ext cx="20" cy="5"/>
                            </a:xfrm>
                            <a:prstGeom prst="line">
                              <a:avLst/>
                            </a:prstGeom>
                            <a:ln w="9525" cap="flat" cmpd="sng">
                              <a:solidFill>
                                <a:schemeClr val="tx1"/>
                              </a:solidFill>
                              <a:prstDash val="solid"/>
                              <a:headEnd type="none" w="med" len="med"/>
                              <a:tailEnd type="none" w="med" len="med"/>
                            </a:ln>
                          </p:spPr>
                        </p:sp>
                      </p:grpSp>
                    </p:grpSp>
                  </p:grpSp>
                  <p:sp>
                    <p:nvSpPr>
                      <p:cNvPr id="12345" name="Rectangle 165"/>
                      <p:cNvSpPr/>
                      <p:nvPr/>
                    </p:nvSpPr>
                    <p:spPr>
                      <a:xfrm>
                        <a:off x="35" y="42"/>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46" name="Rectangle 166"/>
                      <p:cNvSpPr/>
                      <p:nvPr/>
                    </p:nvSpPr>
                    <p:spPr>
                      <a:xfrm>
                        <a:off x="257" y="56"/>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47" name="Rectangle 167"/>
                      <p:cNvSpPr/>
                      <p:nvPr/>
                    </p:nvSpPr>
                    <p:spPr>
                      <a:xfrm>
                        <a:off x="149" y="60"/>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296" name="Group 168"/>
                    <p:cNvGrpSpPr/>
                    <p:nvPr/>
                  </p:nvGrpSpPr>
                  <p:grpSpPr>
                    <a:xfrm>
                      <a:off x="2490" y="298"/>
                      <a:ext cx="294" cy="94"/>
                      <a:chOff x="0" y="0"/>
                      <a:chExt cx="294" cy="94"/>
                    </a:xfrm>
                  </p:grpSpPr>
                  <p:grpSp>
                    <p:nvGrpSpPr>
                      <p:cNvPr id="12303" name="Group 169"/>
                      <p:cNvGrpSpPr/>
                      <p:nvPr/>
                    </p:nvGrpSpPr>
                    <p:grpSpPr>
                      <a:xfrm>
                        <a:off x="0" y="0"/>
                        <a:ext cx="294" cy="94"/>
                        <a:chOff x="0" y="0"/>
                        <a:chExt cx="294" cy="94"/>
                      </a:xfrm>
                    </p:grpSpPr>
                    <p:sp>
                      <p:nvSpPr>
                        <p:cNvPr id="12307" name="Rectangle 170"/>
                        <p:cNvSpPr/>
                        <p:nvPr/>
                      </p:nvSpPr>
                      <p:spPr>
                        <a:xfrm>
                          <a:off x="283" y="52"/>
                          <a:ext cx="10" cy="29"/>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08" name="AutoShape 171"/>
                        <p:cNvSpPr/>
                        <p:nvPr/>
                      </p:nvSpPr>
                      <p:spPr>
                        <a:xfrm rot="-5400000">
                          <a:off x="57" y="1"/>
                          <a:ext cx="15" cy="53"/>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09" name="AutoShape 172"/>
                        <p:cNvSpPr/>
                        <p:nvPr/>
                      </p:nvSpPr>
                      <p:spPr>
                        <a:xfrm rot="-5400000">
                          <a:off x="14" y="21"/>
                          <a:ext cx="12" cy="40"/>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10" name="AutoShape 173"/>
                        <p:cNvSpPr/>
                        <p:nvPr/>
                      </p:nvSpPr>
                      <p:spPr>
                        <a:xfrm rot="10800000">
                          <a:off x="80" y="74"/>
                          <a:ext cx="21" cy="18"/>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311" name="Group 174"/>
                        <p:cNvGrpSpPr/>
                        <p:nvPr/>
                      </p:nvGrpSpPr>
                      <p:grpSpPr>
                        <a:xfrm>
                          <a:off x="0" y="0"/>
                          <a:ext cx="294" cy="94"/>
                          <a:chOff x="0" y="0"/>
                          <a:chExt cx="294" cy="94"/>
                        </a:xfrm>
                      </p:grpSpPr>
                      <p:grpSp>
                        <p:nvGrpSpPr>
                          <p:cNvPr id="12312" name="Group 175"/>
                          <p:cNvGrpSpPr/>
                          <p:nvPr/>
                        </p:nvGrpSpPr>
                        <p:grpSpPr>
                          <a:xfrm>
                            <a:off x="3" y="0"/>
                            <a:ext cx="282" cy="94"/>
                            <a:chOff x="0" y="0"/>
                            <a:chExt cx="282" cy="94"/>
                          </a:xfrm>
                        </p:grpSpPr>
                        <p:sp>
                          <p:nvSpPr>
                            <p:cNvPr id="12334" name="AutoShape 176"/>
                            <p:cNvSpPr/>
                            <p:nvPr/>
                          </p:nvSpPr>
                          <p:spPr>
                            <a:xfrm rot="5400000">
                              <a:off x="166" y="70"/>
                              <a:ext cx="21" cy="22"/>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35" name="Rectangle 177"/>
                            <p:cNvSpPr/>
                            <p:nvPr/>
                          </p:nvSpPr>
                          <p:spPr>
                            <a:xfrm>
                              <a:off x="89" y="0"/>
                              <a:ext cx="72" cy="15"/>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36" name="Rectangle 178"/>
                            <p:cNvSpPr/>
                            <p:nvPr/>
                          </p:nvSpPr>
                          <p:spPr>
                            <a:xfrm>
                              <a:off x="37" y="37"/>
                              <a:ext cx="61" cy="37"/>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37" name="Rectangle 179"/>
                            <p:cNvSpPr/>
                            <p:nvPr/>
                          </p:nvSpPr>
                          <p:spPr>
                            <a:xfrm>
                              <a:off x="167" y="37"/>
                              <a:ext cx="51" cy="37"/>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38" name="Rectangle 180"/>
                            <p:cNvSpPr/>
                            <p:nvPr/>
                          </p:nvSpPr>
                          <p:spPr>
                            <a:xfrm>
                              <a:off x="98" y="37"/>
                              <a:ext cx="69" cy="55"/>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39" name="Rectangle 181"/>
                            <p:cNvSpPr/>
                            <p:nvPr/>
                          </p:nvSpPr>
                          <p:spPr>
                            <a:xfrm>
                              <a:off x="218" y="44"/>
                              <a:ext cx="64" cy="30"/>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40" name="Rectangle 182"/>
                            <p:cNvSpPr/>
                            <p:nvPr/>
                          </p:nvSpPr>
                          <p:spPr>
                            <a:xfrm>
                              <a:off x="232" y="72"/>
                              <a:ext cx="40" cy="14"/>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41" name="Rectangle 183"/>
                            <p:cNvSpPr/>
                            <p:nvPr/>
                          </p:nvSpPr>
                          <p:spPr>
                            <a:xfrm>
                              <a:off x="0" y="46"/>
                              <a:ext cx="34" cy="39"/>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42" name="AutoShape 184"/>
                            <p:cNvSpPr/>
                            <p:nvPr/>
                          </p:nvSpPr>
                          <p:spPr>
                            <a:xfrm rot="-5400000">
                              <a:off x="68" y="5"/>
                              <a:ext cx="25" cy="15"/>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43" name="AutoShape 185"/>
                            <p:cNvSpPr/>
                            <p:nvPr/>
                          </p:nvSpPr>
                          <p:spPr>
                            <a:xfrm>
                              <a:off x="167" y="5"/>
                              <a:ext cx="51" cy="37"/>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313" name="AutoShape 186"/>
                          <p:cNvSpPr/>
                          <p:nvPr/>
                        </p:nvSpPr>
                        <p:spPr>
                          <a:xfrm>
                            <a:off x="92" y="15"/>
                            <a:ext cx="79" cy="25"/>
                          </a:xfrm>
                          <a:prstGeom prst="roundRect">
                            <a:avLst>
                              <a:gd name="adj" fmla="val 16667"/>
                            </a:avLst>
                          </a:prstGeom>
                          <a:solidFill>
                            <a:srgbClr val="3366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314" name="Group 187"/>
                          <p:cNvGrpSpPr/>
                          <p:nvPr/>
                        </p:nvGrpSpPr>
                        <p:grpSpPr>
                          <a:xfrm>
                            <a:off x="0" y="0"/>
                            <a:ext cx="294" cy="92"/>
                            <a:chOff x="0" y="0"/>
                            <a:chExt cx="294" cy="92"/>
                          </a:xfrm>
                        </p:grpSpPr>
                        <p:grpSp>
                          <p:nvGrpSpPr>
                            <p:cNvPr id="12315" name="Group 188"/>
                            <p:cNvGrpSpPr/>
                            <p:nvPr/>
                          </p:nvGrpSpPr>
                          <p:grpSpPr>
                            <a:xfrm>
                              <a:off x="0" y="0"/>
                              <a:ext cx="294" cy="92"/>
                              <a:chOff x="0" y="0"/>
                              <a:chExt cx="294" cy="92"/>
                            </a:xfrm>
                          </p:grpSpPr>
                          <p:sp>
                            <p:nvSpPr>
                              <p:cNvPr id="12317" name="Line 189"/>
                              <p:cNvSpPr/>
                              <p:nvPr/>
                            </p:nvSpPr>
                            <p:spPr>
                              <a:xfrm flipV="1">
                                <a:off x="1" y="27"/>
                                <a:ext cx="75" cy="19"/>
                              </a:xfrm>
                              <a:prstGeom prst="line">
                                <a:avLst/>
                              </a:prstGeom>
                              <a:ln w="9525" cap="flat" cmpd="sng">
                                <a:solidFill>
                                  <a:schemeClr val="tx1"/>
                                </a:solidFill>
                                <a:prstDash val="solid"/>
                                <a:headEnd type="none" w="med" len="med"/>
                                <a:tailEnd type="none" w="med" len="med"/>
                              </a:ln>
                            </p:spPr>
                          </p:sp>
                          <p:sp>
                            <p:nvSpPr>
                              <p:cNvPr id="12318" name="Line 190"/>
                              <p:cNvSpPr/>
                              <p:nvPr/>
                            </p:nvSpPr>
                            <p:spPr>
                              <a:xfrm flipV="1">
                                <a:off x="77" y="0"/>
                                <a:ext cx="15" cy="26"/>
                              </a:xfrm>
                              <a:prstGeom prst="line">
                                <a:avLst/>
                              </a:prstGeom>
                              <a:ln w="9525" cap="flat" cmpd="sng">
                                <a:solidFill>
                                  <a:schemeClr val="tx1"/>
                                </a:solidFill>
                                <a:prstDash val="solid"/>
                                <a:headEnd type="none" w="med" len="med"/>
                                <a:tailEnd type="none" w="med" len="med"/>
                              </a:ln>
                            </p:spPr>
                          </p:sp>
                          <p:sp>
                            <p:nvSpPr>
                              <p:cNvPr id="12319" name="Line 191"/>
                              <p:cNvSpPr/>
                              <p:nvPr/>
                            </p:nvSpPr>
                            <p:spPr>
                              <a:xfrm>
                                <a:off x="94" y="0"/>
                                <a:ext cx="70" cy="0"/>
                              </a:xfrm>
                              <a:prstGeom prst="line">
                                <a:avLst/>
                              </a:prstGeom>
                              <a:ln w="9525" cap="flat" cmpd="sng">
                                <a:solidFill>
                                  <a:schemeClr val="tx1"/>
                                </a:solidFill>
                                <a:prstDash val="solid"/>
                                <a:headEnd type="none" w="med" len="med"/>
                                <a:tailEnd type="none" w="med" len="med"/>
                              </a:ln>
                            </p:spPr>
                          </p:sp>
                          <p:sp>
                            <p:nvSpPr>
                              <p:cNvPr id="12320" name="Line 192"/>
                              <p:cNvSpPr/>
                              <p:nvPr/>
                            </p:nvSpPr>
                            <p:spPr>
                              <a:xfrm>
                                <a:off x="164" y="0"/>
                                <a:ext cx="50" cy="37"/>
                              </a:xfrm>
                              <a:prstGeom prst="line">
                                <a:avLst/>
                              </a:prstGeom>
                              <a:ln w="9525" cap="flat" cmpd="sng">
                                <a:solidFill>
                                  <a:schemeClr val="tx1"/>
                                </a:solidFill>
                                <a:prstDash val="solid"/>
                                <a:headEnd type="none" w="med" len="med"/>
                                <a:tailEnd type="none" w="med" len="med"/>
                              </a:ln>
                            </p:spPr>
                          </p:sp>
                          <p:sp>
                            <p:nvSpPr>
                              <p:cNvPr id="12321" name="Line 193"/>
                              <p:cNvSpPr/>
                              <p:nvPr/>
                            </p:nvSpPr>
                            <p:spPr>
                              <a:xfrm>
                                <a:off x="294" y="51"/>
                                <a:ext cx="0" cy="30"/>
                              </a:xfrm>
                              <a:prstGeom prst="line">
                                <a:avLst/>
                              </a:prstGeom>
                              <a:ln w="9525" cap="flat" cmpd="sng">
                                <a:solidFill>
                                  <a:schemeClr val="tx1"/>
                                </a:solidFill>
                                <a:prstDash val="solid"/>
                                <a:headEnd type="none" w="med" len="med"/>
                                <a:tailEnd type="none" w="med" len="med"/>
                              </a:ln>
                            </p:spPr>
                          </p:sp>
                          <p:sp>
                            <p:nvSpPr>
                              <p:cNvPr id="12322" name="Line 194"/>
                              <p:cNvSpPr/>
                              <p:nvPr/>
                            </p:nvSpPr>
                            <p:spPr>
                              <a:xfrm>
                                <a:off x="104" y="92"/>
                                <a:ext cx="70" cy="0"/>
                              </a:xfrm>
                              <a:prstGeom prst="line">
                                <a:avLst/>
                              </a:prstGeom>
                              <a:ln w="9525" cap="flat" cmpd="sng">
                                <a:solidFill>
                                  <a:schemeClr val="tx1"/>
                                </a:solidFill>
                                <a:prstDash val="solid"/>
                                <a:headEnd type="none" w="med" len="med"/>
                                <a:tailEnd type="none" w="med" len="med"/>
                              </a:ln>
                            </p:spPr>
                          </p:sp>
                          <p:sp>
                            <p:nvSpPr>
                              <p:cNvPr id="12323" name="Line 195"/>
                              <p:cNvSpPr/>
                              <p:nvPr/>
                            </p:nvSpPr>
                            <p:spPr>
                              <a:xfrm flipV="1">
                                <a:off x="174" y="74"/>
                                <a:ext cx="20" cy="18"/>
                              </a:xfrm>
                              <a:prstGeom prst="line">
                                <a:avLst/>
                              </a:prstGeom>
                              <a:ln w="9525" cap="flat" cmpd="sng">
                                <a:solidFill>
                                  <a:schemeClr val="tx1"/>
                                </a:solidFill>
                                <a:prstDash val="solid"/>
                                <a:headEnd type="none" w="med" len="med"/>
                                <a:tailEnd type="none" w="med" len="med"/>
                              </a:ln>
                            </p:spPr>
                          </p:sp>
                          <p:sp>
                            <p:nvSpPr>
                              <p:cNvPr id="12324" name="Line 196"/>
                              <p:cNvSpPr/>
                              <p:nvPr/>
                            </p:nvSpPr>
                            <p:spPr>
                              <a:xfrm>
                                <a:off x="194" y="74"/>
                                <a:ext cx="30" cy="0"/>
                              </a:xfrm>
                              <a:prstGeom prst="line">
                                <a:avLst/>
                              </a:prstGeom>
                              <a:ln w="9525" cap="flat" cmpd="sng">
                                <a:solidFill>
                                  <a:schemeClr val="tx1"/>
                                </a:solidFill>
                                <a:prstDash val="solid"/>
                                <a:headEnd type="none" w="med" len="med"/>
                                <a:tailEnd type="none" w="med" len="med"/>
                              </a:ln>
                            </p:spPr>
                          </p:sp>
                          <p:sp>
                            <p:nvSpPr>
                              <p:cNvPr id="12325" name="Line 197"/>
                              <p:cNvSpPr/>
                              <p:nvPr/>
                            </p:nvSpPr>
                            <p:spPr>
                              <a:xfrm>
                                <a:off x="224" y="74"/>
                                <a:ext cx="14" cy="12"/>
                              </a:xfrm>
                              <a:prstGeom prst="line">
                                <a:avLst/>
                              </a:prstGeom>
                              <a:ln w="9525" cap="flat" cmpd="sng">
                                <a:solidFill>
                                  <a:schemeClr val="tx1"/>
                                </a:solidFill>
                                <a:prstDash val="solid"/>
                                <a:headEnd type="none" w="med" len="med"/>
                                <a:tailEnd type="none" w="med" len="med"/>
                              </a:ln>
                            </p:spPr>
                          </p:sp>
                          <p:sp>
                            <p:nvSpPr>
                              <p:cNvPr id="12326" name="Line 198"/>
                              <p:cNvSpPr/>
                              <p:nvPr/>
                            </p:nvSpPr>
                            <p:spPr>
                              <a:xfrm>
                                <a:off x="239" y="86"/>
                                <a:ext cx="35" cy="0"/>
                              </a:xfrm>
                              <a:prstGeom prst="line">
                                <a:avLst/>
                              </a:prstGeom>
                              <a:ln w="9525" cap="flat" cmpd="sng">
                                <a:solidFill>
                                  <a:schemeClr val="tx1"/>
                                </a:solidFill>
                                <a:prstDash val="solid"/>
                                <a:headEnd type="none" w="med" len="med"/>
                                <a:tailEnd type="none" w="med" len="med"/>
                              </a:ln>
                            </p:spPr>
                          </p:sp>
                          <p:grpSp>
                            <p:nvGrpSpPr>
                              <p:cNvPr id="12327" name="Group 199"/>
                              <p:cNvGrpSpPr/>
                              <p:nvPr/>
                            </p:nvGrpSpPr>
                            <p:grpSpPr>
                              <a:xfrm>
                                <a:off x="35" y="74"/>
                                <a:ext cx="67" cy="18"/>
                                <a:chOff x="0" y="0"/>
                                <a:chExt cx="696" cy="156"/>
                              </a:xfrm>
                            </p:grpSpPr>
                            <p:sp>
                              <p:nvSpPr>
                                <p:cNvPr id="12331" name="Line 200"/>
                                <p:cNvSpPr/>
                                <p:nvPr/>
                              </p:nvSpPr>
                              <p:spPr>
                                <a:xfrm flipH="1" flipV="1">
                                  <a:off x="486" y="0"/>
                                  <a:ext cx="210" cy="156"/>
                                </a:xfrm>
                                <a:prstGeom prst="line">
                                  <a:avLst/>
                                </a:prstGeom>
                                <a:ln w="9525" cap="flat" cmpd="sng">
                                  <a:solidFill>
                                    <a:schemeClr val="tx1"/>
                                  </a:solidFill>
                                  <a:prstDash val="solid"/>
                                  <a:headEnd type="none" w="med" len="med"/>
                                  <a:tailEnd type="none" w="med" len="med"/>
                                </a:ln>
                              </p:spPr>
                            </p:sp>
                            <p:sp>
                              <p:nvSpPr>
                                <p:cNvPr id="12332" name="Line 201"/>
                                <p:cNvSpPr/>
                                <p:nvPr/>
                              </p:nvSpPr>
                              <p:spPr>
                                <a:xfrm>
                                  <a:off x="171" y="0"/>
                                  <a:ext cx="315" cy="0"/>
                                </a:xfrm>
                                <a:prstGeom prst="line">
                                  <a:avLst/>
                                </a:prstGeom>
                                <a:ln w="9525" cap="flat" cmpd="sng">
                                  <a:solidFill>
                                    <a:schemeClr val="tx1"/>
                                  </a:solidFill>
                                  <a:prstDash val="solid"/>
                                  <a:headEnd type="none" w="med" len="med"/>
                                  <a:tailEnd type="none" w="med" len="med"/>
                                </a:ln>
                              </p:spPr>
                            </p:sp>
                            <p:sp>
                              <p:nvSpPr>
                                <p:cNvPr id="12333" name="Line 202"/>
                                <p:cNvSpPr/>
                                <p:nvPr/>
                              </p:nvSpPr>
                              <p:spPr>
                                <a:xfrm flipH="1">
                                  <a:off x="0" y="3"/>
                                  <a:ext cx="153" cy="102"/>
                                </a:xfrm>
                                <a:prstGeom prst="line">
                                  <a:avLst/>
                                </a:prstGeom>
                                <a:ln w="9525" cap="flat" cmpd="sng">
                                  <a:solidFill>
                                    <a:schemeClr val="tx1"/>
                                  </a:solidFill>
                                  <a:prstDash val="solid"/>
                                  <a:headEnd type="none" w="med" len="med"/>
                                  <a:tailEnd type="none" w="med" len="med"/>
                                </a:ln>
                              </p:spPr>
                            </p:sp>
                          </p:grpSp>
                          <p:sp>
                            <p:nvSpPr>
                              <p:cNvPr id="12328" name="Line 203"/>
                              <p:cNvSpPr/>
                              <p:nvPr/>
                            </p:nvSpPr>
                            <p:spPr>
                              <a:xfrm flipH="1">
                                <a:off x="4" y="86"/>
                                <a:ext cx="30" cy="0"/>
                              </a:xfrm>
                              <a:prstGeom prst="line">
                                <a:avLst/>
                              </a:prstGeom>
                              <a:ln w="9525" cap="flat" cmpd="sng">
                                <a:solidFill>
                                  <a:schemeClr val="tx1"/>
                                </a:solidFill>
                                <a:prstDash val="solid"/>
                                <a:headEnd type="none" w="med" len="med"/>
                                <a:tailEnd type="none" w="med" len="med"/>
                              </a:ln>
                            </p:spPr>
                          </p:sp>
                          <p:sp>
                            <p:nvSpPr>
                              <p:cNvPr id="12329" name="Line 204"/>
                              <p:cNvSpPr/>
                              <p:nvPr/>
                            </p:nvSpPr>
                            <p:spPr>
                              <a:xfrm flipH="1" flipV="1">
                                <a:off x="0" y="48"/>
                                <a:ext cx="4" cy="37"/>
                              </a:xfrm>
                              <a:prstGeom prst="line">
                                <a:avLst/>
                              </a:prstGeom>
                              <a:ln w="9525" cap="flat" cmpd="sng">
                                <a:solidFill>
                                  <a:schemeClr val="tx1"/>
                                </a:solidFill>
                                <a:prstDash val="solid"/>
                                <a:headEnd type="none" w="med" len="med"/>
                                <a:tailEnd type="none" w="med" len="med"/>
                              </a:ln>
                            </p:spPr>
                          </p:sp>
                          <p:sp>
                            <p:nvSpPr>
                              <p:cNvPr id="12330" name="AutoShape 205"/>
                              <p:cNvSpPr/>
                              <p:nvPr/>
                            </p:nvSpPr>
                            <p:spPr>
                              <a:xfrm>
                                <a:off x="221" y="39"/>
                                <a:ext cx="70" cy="5"/>
                              </a:xfrm>
                              <a:prstGeom prst="rtTriangle">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316" name="Line 206"/>
                            <p:cNvSpPr/>
                            <p:nvPr/>
                          </p:nvSpPr>
                          <p:spPr>
                            <a:xfrm flipV="1">
                              <a:off x="273" y="81"/>
                              <a:ext cx="20" cy="5"/>
                            </a:xfrm>
                            <a:prstGeom prst="line">
                              <a:avLst/>
                            </a:prstGeom>
                            <a:ln w="9525" cap="flat" cmpd="sng">
                              <a:solidFill>
                                <a:schemeClr val="tx1"/>
                              </a:solidFill>
                              <a:prstDash val="solid"/>
                              <a:headEnd type="none" w="med" len="med"/>
                              <a:tailEnd type="none" w="med" len="med"/>
                            </a:ln>
                          </p:spPr>
                        </p:sp>
                      </p:grpSp>
                    </p:grpSp>
                  </p:grpSp>
                  <p:sp>
                    <p:nvSpPr>
                      <p:cNvPr id="12304" name="Rectangle 207"/>
                      <p:cNvSpPr/>
                      <p:nvPr/>
                    </p:nvSpPr>
                    <p:spPr>
                      <a:xfrm>
                        <a:off x="35" y="42"/>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05" name="Rectangle 208"/>
                      <p:cNvSpPr/>
                      <p:nvPr/>
                    </p:nvSpPr>
                    <p:spPr>
                      <a:xfrm>
                        <a:off x="257" y="56"/>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306" name="Rectangle 209"/>
                      <p:cNvSpPr/>
                      <p:nvPr/>
                    </p:nvSpPr>
                    <p:spPr>
                      <a:xfrm>
                        <a:off x="149" y="60"/>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297" name="Group 210"/>
                    <p:cNvGrpSpPr/>
                    <p:nvPr/>
                  </p:nvGrpSpPr>
                  <p:grpSpPr>
                    <a:xfrm>
                      <a:off x="1444" y="280"/>
                      <a:ext cx="294" cy="94"/>
                      <a:chOff x="0" y="0"/>
                      <a:chExt cx="294" cy="94"/>
                    </a:xfrm>
                  </p:grpSpPr>
                  <p:grpSp>
                    <p:nvGrpSpPr>
                      <p:cNvPr id="12282" name="Group 211"/>
                      <p:cNvGrpSpPr/>
                      <p:nvPr/>
                    </p:nvGrpSpPr>
                    <p:grpSpPr>
                      <a:xfrm>
                        <a:off x="0" y="0"/>
                        <a:ext cx="294" cy="94"/>
                        <a:chOff x="0" y="0"/>
                        <a:chExt cx="294" cy="94"/>
                      </a:xfrm>
                    </p:grpSpPr>
                    <p:grpSp>
                      <p:nvGrpSpPr>
                        <p:cNvPr id="12284" name="Group 212"/>
                        <p:cNvGrpSpPr/>
                        <p:nvPr/>
                      </p:nvGrpSpPr>
                      <p:grpSpPr>
                        <a:xfrm>
                          <a:off x="0" y="0"/>
                          <a:ext cx="294" cy="94"/>
                          <a:chOff x="0" y="0"/>
                          <a:chExt cx="294" cy="94"/>
                        </a:xfrm>
                      </p:grpSpPr>
                      <p:sp>
                        <p:nvSpPr>
                          <p:cNvPr id="12286" name="Line 213"/>
                          <p:cNvSpPr/>
                          <p:nvPr/>
                        </p:nvSpPr>
                        <p:spPr>
                          <a:xfrm flipV="1">
                            <a:off x="1" y="28"/>
                            <a:ext cx="75" cy="19"/>
                          </a:xfrm>
                          <a:prstGeom prst="line">
                            <a:avLst/>
                          </a:prstGeom>
                          <a:ln w="9525" cap="flat" cmpd="sng">
                            <a:solidFill>
                              <a:schemeClr val="tx1"/>
                            </a:solidFill>
                            <a:prstDash val="solid"/>
                            <a:headEnd type="none" w="med" len="med"/>
                            <a:tailEnd type="none" w="med" len="med"/>
                          </a:ln>
                        </p:spPr>
                      </p:sp>
                      <p:sp>
                        <p:nvSpPr>
                          <p:cNvPr id="12287" name="Line 214"/>
                          <p:cNvSpPr/>
                          <p:nvPr/>
                        </p:nvSpPr>
                        <p:spPr>
                          <a:xfrm flipV="1">
                            <a:off x="77" y="1"/>
                            <a:ext cx="15" cy="25"/>
                          </a:xfrm>
                          <a:prstGeom prst="line">
                            <a:avLst/>
                          </a:prstGeom>
                          <a:ln w="9525" cap="flat" cmpd="sng">
                            <a:solidFill>
                              <a:schemeClr val="tx1"/>
                            </a:solidFill>
                            <a:prstDash val="solid"/>
                            <a:headEnd type="none" w="med" len="med"/>
                            <a:tailEnd type="none" w="med" len="med"/>
                          </a:ln>
                        </p:spPr>
                      </p:sp>
                      <p:sp>
                        <p:nvSpPr>
                          <p:cNvPr id="12288" name="Line 215"/>
                          <p:cNvSpPr/>
                          <p:nvPr/>
                        </p:nvSpPr>
                        <p:spPr>
                          <a:xfrm>
                            <a:off x="93" y="0"/>
                            <a:ext cx="70" cy="0"/>
                          </a:xfrm>
                          <a:prstGeom prst="line">
                            <a:avLst/>
                          </a:prstGeom>
                          <a:ln w="9525" cap="flat" cmpd="sng">
                            <a:solidFill>
                              <a:schemeClr val="tx1"/>
                            </a:solidFill>
                            <a:prstDash val="solid"/>
                            <a:headEnd type="none" w="med" len="med"/>
                            <a:tailEnd type="none" w="med" len="med"/>
                          </a:ln>
                        </p:spPr>
                      </p:sp>
                      <p:sp>
                        <p:nvSpPr>
                          <p:cNvPr id="12289" name="Line 216"/>
                          <p:cNvSpPr/>
                          <p:nvPr/>
                        </p:nvSpPr>
                        <p:spPr>
                          <a:xfrm>
                            <a:off x="163" y="0"/>
                            <a:ext cx="50" cy="38"/>
                          </a:xfrm>
                          <a:prstGeom prst="line">
                            <a:avLst/>
                          </a:prstGeom>
                          <a:ln w="9525" cap="flat" cmpd="sng">
                            <a:solidFill>
                              <a:schemeClr val="tx1"/>
                            </a:solidFill>
                            <a:prstDash val="solid"/>
                            <a:headEnd type="none" w="med" len="med"/>
                            <a:tailEnd type="none" w="med" len="med"/>
                          </a:ln>
                        </p:spPr>
                      </p:sp>
                      <p:sp>
                        <p:nvSpPr>
                          <p:cNvPr id="12290" name="Line 217"/>
                          <p:cNvSpPr/>
                          <p:nvPr/>
                        </p:nvSpPr>
                        <p:spPr>
                          <a:xfrm>
                            <a:off x="213" y="38"/>
                            <a:ext cx="74" cy="7"/>
                          </a:xfrm>
                          <a:prstGeom prst="line">
                            <a:avLst/>
                          </a:prstGeom>
                          <a:ln w="9525" cap="flat" cmpd="sng">
                            <a:solidFill>
                              <a:schemeClr val="tx1"/>
                            </a:solidFill>
                            <a:prstDash val="solid"/>
                            <a:headEnd type="none" w="med" len="med"/>
                            <a:tailEnd type="none" w="med" len="med"/>
                          </a:ln>
                        </p:spPr>
                      </p:sp>
                      <p:sp>
                        <p:nvSpPr>
                          <p:cNvPr id="12291" name="Line 218"/>
                          <p:cNvSpPr/>
                          <p:nvPr/>
                        </p:nvSpPr>
                        <p:spPr>
                          <a:xfrm>
                            <a:off x="294" y="52"/>
                            <a:ext cx="0" cy="31"/>
                          </a:xfrm>
                          <a:prstGeom prst="line">
                            <a:avLst/>
                          </a:prstGeom>
                          <a:ln w="9525" cap="flat" cmpd="sng">
                            <a:solidFill>
                              <a:schemeClr val="tx1"/>
                            </a:solidFill>
                            <a:prstDash val="solid"/>
                            <a:headEnd type="none" w="med" len="med"/>
                            <a:tailEnd type="none" w="med" len="med"/>
                          </a:ln>
                        </p:spPr>
                      </p:sp>
                      <p:sp>
                        <p:nvSpPr>
                          <p:cNvPr id="12292" name="Line 219"/>
                          <p:cNvSpPr/>
                          <p:nvPr/>
                        </p:nvSpPr>
                        <p:spPr>
                          <a:xfrm>
                            <a:off x="104" y="94"/>
                            <a:ext cx="69" cy="0"/>
                          </a:xfrm>
                          <a:prstGeom prst="line">
                            <a:avLst/>
                          </a:prstGeom>
                          <a:ln w="9525" cap="flat" cmpd="sng">
                            <a:solidFill>
                              <a:schemeClr val="tx1"/>
                            </a:solidFill>
                            <a:prstDash val="solid"/>
                            <a:headEnd type="none" w="med" len="med"/>
                            <a:tailEnd type="none" w="med" len="med"/>
                          </a:ln>
                        </p:spPr>
                      </p:sp>
                      <p:sp>
                        <p:nvSpPr>
                          <p:cNvPr id="12293" name="Line 220"/>
                          <p:cNvSpPr/>
                          <p:nvPr/>
                        </p:nvSpPr>
                        <p:spPr>
                          <a:xfrm flipV="1">
                            <a:off x="173" y="76"/>
                            <a:ext cx="20" cy="18"/>
                          </a:xfrm>
                          <a:prstGeom prst="line">
                            <a:avLst/>
                          </a:prstGeom>
                          <a:ln w="9525" cap="flat" cmpd="sng">
                            <a:solidFill>
                              <a:schemeClr val="tx1"/>
                            </a:solidFill>
                            <a:prstDash val="solid"/>
                            <a:headEnd type="none" w="med" len="med"/>
                            <a:tailEnd type="none" w="med" len="med"/>
                          </a:ln>
                        </p:spPr>
                      </p:sp>
                      <p:sp>
                        <p:nvSpPr>
                          <p:cNvPr id="12294" name="Line 221"/>
                          <p:cNvSpPr/>
                          <p:nvPr/>
                        </p:nvSpPr>
                        <p:spPr>
                          <a:xfrm>
                            <a:off x="193" y="76"/>
                            <a:ext cx="30" cy="0"/>
                          </a:xfrm>
                          <a:prstGeom prst="line">
                            <a:avLst/>
                          </a:prstGeom>
                          <a:ln w="9525" cap="flat" cmpd="sng">
                            <a:solidFill>
                              <a:schemeClr val="tx1"/>
                            </a:solidFill>
                            <a:prstDash val="solid"/>
                            <a:headEnd type="none" w="med" len="med"/>
                            <a:tailEnd type="none" w="med" len="med"/>
                          </a:ln>
                        </p:spPr>
                      </p:sp>
                      <p:sp>
                        <p:nvSpPr>
                          <p:cNvPr id="12295" name="Line 222"/>
                          <p:cNvSpPr/>
                          <p:nvPr/>
                        </p:nvSpPr>
                        <p:spPr>
                          <a:xfrm>
                            <a:off x="223" y="76"/>
                            <a:ext cx="15" cy="12"/>
                          </a:xfrm>
                          <a:prstGeom prst="line">
                            <a:avLst/>
                          </a:prstGeom>
                          <a:ln w="9525" cap="flat" cmpd="sng">
                            <a:solidFill>
                              <a:schemeClr val="tx1"/>
                            </a:solidFill>
                            <a:prstDash val="solid"/>
                            <a:headEnd type="none" w="med" len="med"/>
                            <a:tailEnd type="none" w="med" len="med"/>
                          </a:ln>
                        </p:spPr>
                      </p:sp>
                      <p:sp>
                        <p:nvSpPr>
                          <p:cNvPr id="12296" name="Line 223"/>
                          <p:cNvSpPr/>
                          <p:nvPr/>
                        </p:nvSpPr>
                        <p:spPr>
                          <a:xfrm>
                            <a:off x="239" y="88"/>
                            <a:ext cx="34" cy="0"/>
                          </a:xfrm>
                          <a:prstGeom prst="line">
                            <a:avLst/>
                          </a:prstGeom>
                          <a:ln w="9525" cap="flat" cmpd="sng">
                            <a:solidFill>
                              <a:schemeClr val="tx1"/>
                            </a:solidFill>
                            <a:prstDash val="solid"/>
                            <a:headEnd type="none" w="med" len="med"/>
                            <a:tailEnd type="none" w="med" len="med"/>
                          </a:ln>
                        </p:spPr>
                      </p:sp>
                      <p:sp>
                        <p:nvSpPr>
                          <p:cNvPr id="12297" name="Line 224"/>
                          <p:cNvSpPr/>
                          <p:nvPr/>
                        </p:nvSpPr>
                        <p:spPr>
                          <a:xfrm flipV="1">
                            <a:off x="272" y="83"/>
                            <a:ext cx="21" cy="5"/>
                          </a:xfrm>
                          <a:prstGeom prst="line">
                            <a:avLst/>
                          </a:prstGeom>
                          <a:ln w="9525" cap="flat" cmpd="sng">
                            <a:solidFill>
                              <a:schemeClr val="tx1"/>
                            </a:solidFill>
                            <a:prstDash val="solid"/>
                            <a:headEnd type="none" w="med" len="med"/>
                            <a:tailEnd type="none" w="med" len="med"/>
                          </a:ln>
                        </p:spPr>
                      </p:sp>
                      <p:sp>
                        <p:nvSpPr>
                          <p:cNvPr id="12298" name="Line 225"/>
                          <p:cNvSpPr/>
                          <p:nvPr/>
                        </p:nvSpPr>
                        <p:spPr>
                          <a:xfrm flipH="1" flipV="1">
                            <a:off x="81" y="76"/>
                            <a:ext cx="21" cy="18"/>
                          </a:xfrm>
                          <a:prstGeom prst="line">
                            <a:avLst/>
                          </a:prstGeom>
                          <a:ln w="9525" cap="flat" cmpd="sng">
                            <a:solidFill>
                              <a:schemeClr val="tx1"/>
                            </a:solidFill>
                            <a:prstDash val="solid"/>
                            <a:headEnd type="none" w="med" len="med"/>
                            <a:tailEnd type="none" w="med" len="med"/>
                          </a:ln>
                        </p:spPr>
                      </p:sp>
                      <p:sp>
                        <p:nvSpPr>
                          <p:cNvPr id="12299" name="Line 226"/>
                          <p:cNvSpPr/>
                          <p:nvPr/>
                        </p:nvSpPr>
                        <p:spPr>
                          <a:xfrm>
                            <a:off x="51" y="76"/>
                            <a:ext cx="30" cy="0"/>
                          </a:xfrm>
                          <a:prstGeom prst="line">
                            <a:avLst/>
                          </a:prstGeom>
                          <a:ln w="9525" cap="flat" cmpd="sng">
                            <a:solidFill>
                              <a:schemeClr val="tx1"/>
                            </a:solidFill>
                            <a:prstDash val="solid"/>
                            <a:headEnd type="none" w="med" len="med"/>
                            <a:tailEnd type="none" w="med" len="med"/>
                          </a:ln>
                        </p:spPr>
                      </p:sp>
                      <p:sp>
                        <p:nvSpPr>
                          <p:cNvPr id="12300" name="Line 227"/>
                          <p:cNvSpPr/>
                          <p:nvPr/>
                        </p:nvSpPr>
                        <p:spPr>
                          <a:xfrm flipH="1">
                            <a:off x="35" y="76"/>
                            <a:ext cx="15" cy="12"/>
                          </a:xfrm>
                          <a:prstGeom prst="line">
                            <a:avLst/>
                          </a:prstGeom>
                          <a:ln w="9525" cap="flat" cmpd="sng">
                            <a:solidFill>
                              <a:schemeClr val="tx1"/>
                            </a:solidFill>
                            <a:prstDash val="solid"/>
                            <a:headEnd type="none" w="med" len="med"/>
                            <a:tailEnd type="none" w="med" len="med"/>
                          </a:ln>
                        </p:spPr>
                      </p:sp>
                      <p:sp>
                        <p:nvSpPr>
                          <p:cNvPr id="12301" name="Line 228"/>
                          <p:cNvSpPr/>
                          <p:nvPr/>
                        </p:nvSpPr>
                        <p:spPr>
                          <a:xfrm flipH="1">
                            <a:off x="3" y="88"/>
                            <a:ext cx="31" cy="0"/>
                          </a:xfrm>
                          <a:prstGeom prst="line">
                            <a:avLst/>
                          </a:prstGeom>
                          <a:ln w="9525" cap="flat" cmpd="sng">
                            <a:solidFill>
                              <a:schemeClr val="tx1"/>
                            </a:solidFill>
                            <a:prstDash val="solid"/>
                            <a:headEnd type="none" w="med" len="med"/>
                            <a:tailEnd type="none" w="med" len="med"/>
                          </a:ln>
                        </p:spPr>
                      </p:sp>
                      <p:sp>
                        <p:nvSpPr>
                          <p:cNvPr id="12302" name="Line 229"/>
                          <p:cNvSpPr/>
                          <p:nvPr/>
                        </p:nvSpPr>
                        <p:spPr>
                          <a:xfrm flipH="1" flipV="1">
                            <a:off x="0" y="49"/>
                            <a:ext cx="3" cy="37"/>
                          </a:xfrm>
                          <a:prstGeom prst="line">
                            <a:avLst/>
                          </a:prstGeom>
                          <a:ln w="9525" cap="flat" cmpd="sng">
                            <a:solidFill>
                              <a:schemeClr val="tx1"/>
                            </a:solidFill>
                            <a:prstDash val="solid"/>
                            <a:headEnd type="none" w="med" len="med"/>
                            <a:tailEnd type="none" w="med" len="med"/>
                          </a:ln>
                        </p:spPr>
                      </p:sp>
                    </p:grpSp>
                    <p:sp>
                      <p:nvSpPr>
                        <p:cNvPr id="12285" name="Line 230"/>
                        <p:cNvSpPr/>
                        <p:nvPr/>
                      </p:nvSpPr>
                      <p:spPr>
                        <a:xfrm>
                          <a:off x="286" y="44"/>
                          <a:ext cx="7" cy="9"/>
                        </a:xfrm>
                        <a:prstGeom prst="line">
                          <a:avLst/>
                        </a:prstGeom>
                        <a:ln w="9525" cap="flat" cmpd="sng">
                          <a:solidFill>
                            <a:schemeClr val="tx1"/>
                          </a:solidFill>
                          <a:prstDash val="solid"/>
                          <a:headEnd type="none" w="med" len="med"/>
                          <a:tailEnd type="none" w="med" len="med"/>
                        </a:ln>
                      </p:spPr>
                    </p:sp>
                  </p:grpSp>
                  <p:sp>
                    <p:nvSpPr>
                      <p:cNvPr id="12283" name="AutoShape 231"/>
                      <p:cNvSpPr/>
                      <p:nvPr/>
                    </p:nvSpPr>
                    <p:spPr>
                      <a:xfrm>
                        <a:off x="93" y="15"/>
                        <a:ext cx="76" cy="23"/>
                      </a:xfrm>
                      <a:prstGeom prst="roundRect">
                        <a:avLst>
                          <a:gd name="adj" fmla="val 16667"/>
                        </a:avLst>
                      </a:prstGeom>
                      <a:solidFill>
                        <a:srgbClr val="000099"/>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298" name="Group 232"/>
                    <p:cNvGrpSpPr/>
                    <p:nvPr/>
                  </p:nvGrpSpPr>
                  <p:grpSpPr>
                    <a:xfrm>
                      <a:off x="336" y="200"/>
                      <a:ext cx="163" cy="300"/>
                      <a:chOff x="0" y="0"/>
                      <a:chExt cx="163" cy="300"/>
                    </a:xfrm>
                  </p:grpSpPr>
                  <p:sp>
                    <p:nvSpPr>
                      <p:cNvPr id="12276" name="Rectangle 233"/>
                      <p:cNvSpPr/>
                      <p:nvPr/>
                    </p:nvSpPr>
                    <p:spPr>
                      <a:xfrm>
                        <a:off x="0" y="0"/>
                        <a:ext cx="163" cy="300"/>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77" name="Rectangle 234"/>
                      <p:cNvSpPr/>
                      <p:nvPr/>
                    </p:nvSpPr>
                    <p:spPr>
                      <a:xfrm>
                        <a:off x="27" y="100"/>
                        <a:ext cx="108" cy="200"/>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78" name="Rectangle 235"/>
                      <p:cNvSpPr/>
                      <p:nvPr/>
                    </p:nvSpPr>
                    <p:spPr>
                      <a:xfrm>
                        <a:off x="46" y="100"/>
                        <a:ext cx="70" cy="51"/>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79" name="Rectangle 236"/>
                      <p:cNvSpPr/>
                      <p:nvPr/>
                    </p:nvSpPr>
                    <p:spPr>
                      <a:xfrm>
                        <a:off x="46" y="213"/>
                        <a:ext cx="70" cy="87"/>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80" name="Rectangle 237"/>
                      <p:cNvSpPr/>
                      <p:nvPr/>
                    </p:nvSpPr>
                    <p:spPr>
                      <a:xfrm>
                        <a:off x="52" y="151"/>
                        <a:ext cx="53" cy="22"/>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81" name="Rectangle 238"/>
                      <p:cNvSpPr/>
                      <p:nvPr/>
                    </p:nvSpPr>
                    <p:spPr>
                      <a:xfrm>
                        <a:off x="67" y="175"/>
                        <a:ext cx="24" cy="36"/>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299" name="Group 239"/>
                    <p:cNvGrpSpPr/>
                    <p:nvPr/>
                  </p:nvGrpSpPr>
                  <p:grpSpPr>
                    <a:xfrm>
                      <a:off x="264" y="300"/>
                      <a:ext cx="72" cy="200"/>
                      <a:chOff x="0" y="0"/>
                      <a:chExt cx="72" cy="200"/>
                    </a:xfrm>
                  </p:grpSpPr>
                  <p:sp>
                    <p:nvSpPr>
                      <p:cNvPr id="12271" name="Oval 240"/>
                      <p:cNvSpPr/>
                      <p:nvPr/>
                    </p:nvSpPr>
                    <p:spPr>
                      <a:xfrm>
                        <a:off x="2" y="0"/>
                        <a:ext cx="30" cy="35"/>
                      </a:xfrm>
                      <a:prstGeom prst="ellipse">
                        <a:avLst/>
                      </a:prstGeom>
                      <a:solidFill>
                        <a:schemeClr val="tx2"/>
                      </a:solid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272" name="Group 241"/>
                      <p:cNvGrpSpPr/>
                      <p:nvPr/>
                    </p:nvGrpSpPr>
                    <p:grpSpPr>
                      <a:xfrm>
                        <a:off x="0" y="33"/>
                        <a:ext cx="72" cy="167"/>
                        <a:chOff x="0" y="0"/>
                        <a:chExt cx="72" cy="167"/>
                      </a:xfrm>
                    </p:grpSpPr>
                    <p:sp>
                      <p:nvSpPr>
                        <p:cNvPr id="12273" name="Freeform 242"/>
                        <p:cNvSpPr/>
                        <p:nvPr/>
                      </p:nvSpPr>
                      <p:spPr>
                        <a:xfrm>
                          <a:off x="15" y="0"/>
                          <a:ext cx="41" cy="167"/>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274" name="Line 243"/>
                        <p:cNvSpPr/>
                        <p:nvPr/>
                      </p:nvSpPr>
                      <p:spPr>
                        <a:xfrm flipH="1">
                          <a:off x="0" y="100"/>
                          <a:ext cx="38" cy="67"/>
                        </a:xfrm>
                        <a:prstGeom prst="line">
                          <a:avLst/>
                        </a:prstGeom>
                        <a:ln w="12700" cap="flat" cmpd="sng">
                          <a:solidFill>
                            <a:schemeClr val="tx1"/>
                          </a:solidFill>
                          <a:prstDash val="solid"/>
                          <a:headEnd type="none" w="med" len="med"/>
                          <a:tailEnd type="none" w="med" len="med"/>
                        </a:ln>
                      </p:spPr>
                    </p:sp>
                    <p:sp>
                      <p:nvSpPr>
                        <p:cNvPr id="12275" name="Freeform 244"/>
                        <p:cNvSpPr/>
                        <p:nvPr/>
                      </p:nvSpPr>
                      <p:spPr>
                        <a:xfrm>
                          <a:off x="17" y="12"/>
                          <a:ext cx="55" cy="22"/>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grpSp>
                <p:grpSp>
                  <p:nvGrpSpPr>
                    <p:cNvPr id="11300" name="Group 245"/>
                    <p:cNvGrpSpPr/>
                    <p:nvPr/>
                  </p:nvGrpSpPr>
                  <p:grpSpPr>
                    <a:xfrm>
                      <a:off x="48" y="402"/>
                      <a:ext cx="144" cy="100"/>
                      <a:chOff x="0" y="0"/>
                      <a:chExt cx="144" cy="100"/>
                    </a:xfrm>
                  </p:grpSpPr>
                  <p:sp>
                    <p:nvSpPr>
                      <p:cNvPr id="12268" name="Rectangle 246"/>
                      <p:cNvSpPr/>
                      <p:nvPr/>
                    </p:nvSpPr>
                    <p:spPr>
                      <a:xfrm>
                        <a:off x="0" y="0"/>
                        <a:ext cx="54" cy="50"/>
                      </a:xfrm>
                      <a:prstGeom prst="rect">
                        <a:avLst/>
                      </a:prstGeom>
                      <a:solidFill>
                        <a:srgbClr val="C7FF8F"/>
                      </a:solidFill>
                      <a:ln w="9525" cap="flat" cmpd="sng">
                        <a:solidFill>
                          <a:schemeClr val="tx2"/>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69" name="Rectangle 247"/>
                      <p:cNvSpPr/>
                      <p:nvPr/>
                    </p:nvSpPr>
                    <p:spPr>
                      <a:xfrm>
                        <a:off x="91" y="0"/>
                        <a:ext cx="53" cy="51"/>
                      </a:xfrm>
                      <a:prstGeom prst="rect">
                        <a:avLst/>
                      </a:prstGeom>
                      <a:solidFill>
                        <a:srgbClr val="C7FF8F"/>
                      </a:solidFill>
                      <a:ln w="9525" cap="flat" cmpd="sng">
                        <a:solidFill>
                          <a:schemeClr val="tx2"/>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70" name="Rectangle 248"/>
                      <p:cNvSpPr/>
                      <p:nvPr/>
                    </p:nvSpPr>
                    <p:spPr>
                      <a:xfrm>
                        <a:off x="0" y="50"/>
                        <a:ext cx="144" cy="50"/>
                      </a:xfrm>
                      <a:prstGeom prst="rect">
                        <a:avLst/>
                      </a:prstGeom>
                      <a:solidFill>
                        <a:srgbClr val="C7FF8F"/>
                      </a:solidFill>
                      <a:ln w="9525" cap="flat" cmpd="sng">
                        <a:solidFill>
                          <a:schemeClr val="tx2"/>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01" name="Group 249"/>
                    <p:cNvGrpSpPr/>
                    <p:nvPr/>
                  </p:nvGrpSpPr>
                  <p:grpSpPr>
                    <a:xfrm>
                      <a:off x="0" y="0"/>
                      <a:ext cx="5376" cy="3168"/>
                      <a:chOff x="0" y="0"/>
                      <a:chExt cx="5376" cy="3168"/>
                    </a:xfrm>
                  </p:grpSpPr>
                  <p:grpSp>
                    <p:nvGrpSpPr>
                      <p:cNvPr id="11302" name="Group 250"/>
                      <p:cNvGrpSpPr/>
                      <p:nvPr/>
                    </p:nvGrpSpPr>
                    <p:grpSpPr>
                      <a:xfrm>
                        <a:off x="0" y="0"/>
                        <a:ext cx="5376" cy="3168"/>
                        <a:chOff x="0" y="0"/>
                        <a:chExt cx="5376" cy="3168"/>
                      </a:xfrm>
                    </p:grpSpPr>
                    <p:grpSp>
                      <p:nvGrpSpPr>
                        <p:cNvPr id="11304" name="Group 251"/>
                        <p:cNvGrpSpPr/>
                        <p:nvPr/>
                      </p:nvGrpSpPr>
                      <p:grpSpPr>
                        <a:xfrm>
                          <a:off x="0" y="0"/>
                          <a:ext cx="5376" cy="3168"/>
                          <a:chOff x="0" y="0"/>
                          <a:chExt cx="5376" cy="3168"/>
                        </a:xfrm>
                      </p:grpSpPr>
                      <p:grpSp>
                        <p:nvGrpSpPr>
                          <p:cNvPr id="11307" name="Group 252"/>
                          <p:cNvGrpSpPr/>
                          <p:nvPr/>
                        </p:nvGrpSpPr>
                        <p:grpSpPr>
                          <a:xfrm>
                            <a:off x="3918" y="1706"/>
                            <a:ext cx="244" cy="214"/>
                            <a:chOff x="0" y="0"/>
                            <a:chExt cx="244" cy="214"/>
                          </a:xfrm>
                        </p:grpSpPr>
                        <p:grpSp>
                          <p:nvGrpSpPr>
                            <p:cNvPr id="12258" name="Group 253"/>
                            <p:cNvGrpSpPr/>
                            <p:nvPr/>
                          </p:nvGrpSpPr>
                          <p:grpSpPr>
                            <a:xfrm>
                              <a:off x="106" y="0"/>
                              <a:ext cx="95" cy="157"/>
                              <a:chOff x="0" y="0"/>
                              <a:chExt cx="184" cy="244"/>
                            </a:xfrm>
                          </p:grpSpPr>
                          <p:sp>
                            <p:nvSpPr>
                              <p:cNvPr id="12264" name="AutoShape 254"/>
                              <p:cNvSpPr/>
                              <p:nvPr/>
                            </p:nvSpPr>
                            <p:spPr>
                              <a:xfrm>
                                <a:off x="48" y="44"/>
                                <a:ext cx="136" cy="181"/>
                              </a:xfrm>
                              <a:prstGeom prst="roundRect">
                                <a:avLst>
                                  <a:gd name="adj" fmla="val 16667"/>
                                </a:avLst>
                              </a:prstGeom>
                              <a:solidFill>
                                <a:srgbClr val="B2B2B2"/>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65" name="Rectangle 255"/>
                              <p:cNvSpPr/>
                              <p:nvPr/>
                            </p:nvSpPr>
                            <p:spPr>
                              <a:xfrm>
                                <a:off x="81" y="0"/>
                                <a:ext cx="68" cy="45"/>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66" name="Rectangle 256"/>
                              <p:cNvSpPr/>
                              <p:nvPr/>
                            </p:nvSpPr>
                            <p:spPr>
                              <a:xfrm>
                                <a:off x="54" y="221"/>
                                <a:ext cx="102" cy="23"/>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67" name="Rectangle 257"/>
                              <p:cNvSpPr/>
                              <p:nvPr/>
                            </p:nvSpPr>
                            <p:spPr>
                              <a:xfrm>
                                <a:off x="0" y="80"/>
                                <a:ext cx="45" cy="102"/>
                              </a:xfrm>
                              <a:prstGeom prst="rect">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2259" name="Group 258"/>
                            <p:cNvGrpSpPr/>
                            <p:nvPr/>
                          </p:nvGrpSpPr>
                          <p:grpSpPr>
                            <a:xfrm>
                              <a:off x="32" y="34"/>
                              <a:ext cx="99" cy="100"/>
                              <a:chOff x="0" y="0"/>
                              <a:chExt cx="191" cy="156"/>
                            </a:xfrm>
                          </p:grpSpPr>
                          <p:sp>
                            <p:nvSpPr>
                              <p:cNvPr id="12262" name="AutoShape 259"/>
                              <p:cNvSpPr/>
                              <p:nvPr/>
                            </p:nvSpPr>
                            <p:spPr>
                              <a:xfrm rot="5400000">
                                <a:off x="0" y="0"/>
                                <a:ext cx="153" cy="156"/>
                              </a:xfrm>
                              <a:custGeom>
                                <a:avLst/>
                                <a:gdLst>
                                  <a:gd name="txL" fmla="*/ 4518 w 21600"/>
                                  <a:gd name="txT" fmla="*/ 4569 h 21600"/>
                                  <a:gd name="txR" fmla="*/ 17082 w 21600"/>
                                  <a:gd name="txB" fmla="*/ 17169 h 21600"/>
                                </a:gdLst>
                                <a:ahLst/>
                                <a:cxnLst>
                                  <a:cxn ang="0">
                                    <a:pos x="0" y="0"/>
                                  </a:cxn>
                                  <a:cxn ang="0">
                                    <a:pos x="0" y="0"/>
                                  </a:cxn>
                                  <a:cxn ang="0">
                                    <a:pos x="0" y="0"/>
                                  </a:cxn>
                                  <a:cxn ang="0">
                                    <a:pos x="0" y="0"/>
                                  </a:cxn>
                                  <a:cxn ang="0">
                                    <a:pos x="0" y="0"/>
                                  </a:cxn>
                                </a:cxnLst>
                                <a:rect l="txL" t="txT" r="txR" b="txB"/>
                                <a:pathLst>
                                  <a:path w="21600" h="21600">
                                    <a:moveTo>
                                      <a:pt x="0" y="0"/>
                                    </a:moveTo>
                                    <a:lnTo>
                                      <a:pt x="5400" y="21600"/>
                                    </a:lnTo>
                                    <a:lnTo>
                                      <a:pt x="16200" y="21600"/>
                                    </a:lnTo>
                                    <a:lnTo>
                                      <a:pt x="21600" y="0"/>
                                    </a:lnTo>
                                    <a:lnTo>
                                      <a:pt x="0" y="0"/>
                                    </a:lnTo>
                                    <a:close/>
                                  </a:path>
                                </a:pathLst>
                              </a:custGeom>
                              <a:solidFill>
                                <a:srgbClr val="DDDDDD">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2263" name="Rectangle 260"/>
                              <p:cNvSpPr/>
                              <p:nvPr/>
                            </p:nvSpPr>
                            <p:spPr>
                              <a:xfrm>
                                <a:off x="157" y="0"/>
                                <a:ext cx="34" cy="156"/>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260" name="Rectangle 261"/>
                            <p:cNvSpPr/>
                            <p:nvPr/>
                          </p:nvSpPr>
                          <p:spPr>
                            <a:xfrm>
                              <a:off x="192" y="11"/>
                              <a:ext cx="31" cy="153"/>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61" name="Rectangle 262"/>
                            <p:cNvSpPr/>
                            <p:nvPr/>
                          </p:nvSpPr>
                          <p:spPr>
                            <a:xfrm>
                              <a:off x="0" y="163"/>
                              <a:ext cx="244" cy="51"/>
                            </a:xfrm>
                            <a:prstGeom prst="rect">
                              <a:avLst/>
                            </a:prstGeom>
                            <a:solidFill>
                              <a:srgbClr val="D5C5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08" name="Group 263"/>
                          <p:cNvGrpSpPr/>
                          <p:nvPr/>
                        </p:nvGrpSpPr>
                        <p:grpSpPr>
                          <a:xfrm>
                            <a:off x="3037" y="1640"/>
                            <a:ext cx="869" cy="277"/>
                            <a:chOff x="0" y="0"/>
                            <a:chExt cx="869" cy="277"/>
                          </a:xfrm>
                        </p:grpSpPr>
                        <p:grpSp>
                          <p:nvGrpSpPr>
                            <p:cNvPr id="12214" name="Group 264"/>
                            <p:cNvGrpSpPr/>
                            <p:nvPr/>
                          </p:nvGrpSpPr>
                          <p:grpSpPr>
                            <a:xfrm>
                              <a:off x="13" y="2"/>
                              <a:ext cx="96" cy="226"/>
                              <a:chOff x="0" y="0"/>
                              <a:chExt cx="96" cy="226"/>
                            </a:xfrm>
                          </p:grpSpPr>
                          <p:sp>
                            <p:nvSpPr>
                              <p:cNvPr id="12253" name="AutoShape 265"/>
                              <p:cNvSpPr/>
                              <p:nvPr/>
                            </p:nvSpPr>
                            <p:spPr>
                              <a:xfrm>
                                <a:off x="25" y="98"/>
                                <a:ext cx="71" cy="116"/>
                              </a:xfrm>
                              <a:prstGeom prst="roundRect">
                                <a:avLst>
                                  <a:gd name="adj" fmla="val 16667"/>
                                </a:avLst>
                              </a:prstGeom>
                              <a:solidFill>
                                <a:srgbClr val="B2B2B2"/>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54" name="Rectangle 266"/>
                              <p:cNvSpPr/>
                              <p:nvPr/>
                            </p:nvSpPr>
                            <p:spPr>
                              <a:xfrm>
                                <a:off x="42" y="70"/>
                                <a:ext cx="36" cy="29"/>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55" name="Rectangle 267"/>
                              <p:cNvSpPr/>
                              <p:nvPr/>
                            </p:nvSpPr>
                            <p:spPr>
                              <a:xfrm>
                                <a:off x="28" y="211"/>
                                <a:ext cx="53" cy="15"/>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56" name="Rectangle 268"/>
                              <p:cNvSpPr/>
                              <p:nvPr/>
                            </p:nvSpPr>
                            <p:spPr>
                              <a:xfrm>
                                <a:off x="0" y="121"/>
                                <a:ext cx="24" cy="65"/>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57" name="Line 269"/>
                              <p:cNvSpPr/>
                              <p:nvPr/>
                            </p:nvSpPr>
                            <p:spPr>
                              <a:xfrm>
                                <a:off x="60" y="0"/>
                                <a:ext cx="0" cy="72"/>
                              </a:xfrm>
                              <a:prstGeom prst="line">
                                <a:avLst/>
                              </a:prstGeom>
                              <a:ln w="9525" cap="flat" cmpd="sng">
                                <a:solidFill>
                                  <a:schemeClr val="tx1"/>
                                </a:solidFill>
                                <a:prstDash val="solid"/>
                                <a:headEnd type="none" w="med" len="med"/>
                                <a:tailEnd type="none" w="med" len="med"/>
                              </a:ln>
                            </p:spPr>
                          </p:sp>
                        </p:grpSp>
                        <p:grpSp>
                          <p:nvGrpSpPr>
                            <p:cNvPr id="12215" name="Group 270"/>
                            <p:cNvGrpSpPr/>
                            <p:nvPr/>
                          </p:nvGrpSpPr>
                          <p:grpSpPr>
                            <a:xfrm>
                              <a:off x="231" y="0"/>
                              <a:ext cx="95" cy="226"/>
                              <a:chOff x="0" y="0"/>
                              <a:chExt cx="95" cy="226"/>
                            </a:xfrm>
                          </p:grpSpPr>
                          <p:sp>
                            <p:nvSpPr>
                              <p:cNvPr id="12248" name="AutoShape 271"/>
                              <p:cNvSpPr/>
                              <p:nvPr/>
                            </p:nvSpPr>
                            <p:spPr>
                              <a:xfrm>
                                <a:off x="25" y="98"/>
                                <a:ext cx="70" cy="116"/>
                              </a:xfrm>
                              <a:prstGeom prst="roundRect">
                                <a:avLst>
                                  <a:gd name="adj" fmla="val 16667"/>
                                </a:avLst>
                              </a:prstGeom>
                              <a:solidFill>
                                <a:srgbClr val="B2B2B2"/>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49" name="Rectangle 272"/>
                              <p:cNvSpPr/>
                              <p:nvPr/>
                            </p:nvSpPr>
                            <p:spPr>
                              <a:xfrm>
                                <a:off x="42" y="70"/>
                                <a:ext cx="35" cy="29"/>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50" name="Rectangle 273"/>
                              <p:cNvSpPr/>
                              <p:nvPr/>
                            </p:nvSpPr>
                            <p:spPr>
                              <a:xfrm>
                                <a:off x="28" y="211"/>
                                <a:ext cx="53" cy="15"/>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51" name="Rectangle 274"/>
                              <p:cNvSpPr/>
                              <p:nvPr/>
                            </p:nvSpPr>
                            <p:spPr>
                              <a:xfrm>
                                <a:off x="0" y="121"/>
                                <a:ext cx="24" cy="65"/>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52" name="Line 275"/>
                              <p:cNvSpPr/>
                              <p:nvPr/>
                            </p:nvSpPr>
                            <p:spPr>
                              <a:xfrm>
                                <a:off x="60" y="0"/>
                                <a:ext cx="0" cy="72"/>
                              </a:xfrm>
                              <a:prstGeom prst="line">
                                <a:avLst/>
                              </a:prstGeom>
                              <a:ln w="9525" cap="flat" cmpd="sng">
                                <a:solidFill>
                                  <a:schemeClr val="tx1"/>
                                </a:solidFill>
                                <a:prstDash val="solid"/>
                                <a:headEnd type="none" w="med" len="med"/>
                                <a:tailEnd type="none" w="med" len="med"/>
                              </a:ln>
                            </p:spPr>
                          </p:sp>
                        </p:grpSp>
                        <p:grpSp>
                          <p:nvGrpSpPr>
                            <p:cNvPr id="12216" name="Group 276"/>
                            <p:cNvGrpSpPr/>
                            <p:nvPr/>
                          </p:nvGrpSpPr>
                          <p:grpSpPr>
                            <a:xfrm>
                              <a:off x="381" y="70"/>
                              <a:ext cx="171" cy="156"/>
                              <a:chOff x="0" y="0"/>
                              <a:chExt cx="171" cy="156"/>
                            </a:xfrm>
                          </p:grpSpPr>
                          <p:grpSp>
                            <p:nvGrpSpPr>
                              <p:cNvPr id="12241" name="Group 277"/>
                              <p:cNvGrpSpPr/>
                              <p:nvPr/>
                            </p:nvGrpSpPr>
                            <p:grpSpPr>
                              <a:xfrm>
                                <a:off x="75" y="0"/>
                                <a:ext cx="96" cy="156"/>
                                <a:chOff x="0" y="0"/>
                                <a:chExt cx="184" cy="244"/>
                              </a:xfrm>
                            </p:grpSpPr>
                            <p:sp>
                              <p:nvSpPr>
                                <p:cNvPr id="12244" name="AutoShape 278"/>
                                <p:cNvSpPr/>
                                <p:nvPr/>
                              </p:nvSpPr>
                              <p:spPr>
                                <a:xfrm>
                                  <a:off x="48" y="44"/>
                                  <a:ext cx="136" cy="181"/>
                                </a:xfrm>
                                <a:prstGeom prst="roundRect">
                                  <a:avLst>
                                    <a:gd name="adj" fmla="val 16667"/>
                                  </a:avLst>
                                </a:prstGeom>
                                <a:solidFill>
                                  <a:srgbClr val="B2B2B2"/>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45" name="Rectangle 279"/>
                                <p:cNvSpPr/>
                                <p:nvPr/>
                              </p:nvSpPr>
                              <p:spPr>
                                <a:xfrm>
                                  <a:off x="81" y="0"/>
                                  <a:ext cx="68" cy="45"/>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46" name="Rectangle 280"/>
                                <p:cNvSpPr/>
                                <p:nvPr/>
                              </p:nvSpPr>
                              <p:spPr>
                                <a:xfrm>
                                  <a:off x="54" y="221"/>
                                  <a:ext cx="102" cy="23"/>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47" name="Rectangle 281"/>
                                <p:cNvSpPr/>
                                <p:nvPr/>
                              </p:nvSpPr>
                              <p:spPr>
                                <a:xfrm>
                                  <a:off x="0" y="80"/>
                                  <a:ext cx="45" cy="102"/>
                                </a:xfrm>
                                <a:prstGeom prst="rect">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242" name="AutoShape 282"/>
                              <p:cNvSpPr/>
                              <p:nvPr/>
                            </p:nvSpPr>
                            <p:spPr>
                              <a:xfrm rot="5400000">
                                <a:off x="-8" y="41"/>
                                <a:ext cx="98" cy="81"/>
                              </a:xfrm>
                              <a:custGeom>
                                <a:avLst/>
                                <a:gdLst>
                                  <a:gd name="txL" fmla="*/ 4408 w 21600"/>
                                  <a:gd name="txT" fmla="*/ 4533 h 21600"/>
                                  <a:gd name="txR" fmla="*/ 17192 w 21600"/>
                                  <a:gd name="txB" fmla="*/ 17067 h 21600"/>
                                </a:gdLst>
                                <a:ahLst/>
                                <a:cxnLst>
                                  <a:cxn ang="0">
                                    <a:pos x="0" y="0"/>
                                  </a:cxn>
                                  <a:cxn ang="0">
                                    <a:pos x="0" y="0"/>
                                  </a:cxn>
                                  <a:cxn ang="0">
                                    <a:pos x="0" y="0"/>
                                  </a:cxn>
                                  <a:cxn ang="0">
                                    <a:pos x="0" y="0"/>
                                  </a:cxn>
                                  <a:cxn ang="0">
                                    <a:pos x="0" y="0"/>
                                  </a:cxn>
                                </a:cxnLst>
                                <a:rect l="txL" t="txT" r="txR" b="txB"/>
                                <a:pathLst>
                                  <a:path w="21600" h="21600">
                                    <a:moveTo>
                                      <a:pt x="0" y="0"/>
                                    </a:moveTo>
                                    <a:lnTo>
                                      <a:pt x="5400" y="21600"/>
                                    </a:lnTo>
                                    <a:lnTo>
                                      <a:pt x="16200" y="21600"/>
                                    </a:lnTo>
                                    <a:lnTo>
                                      <a:pt x="21600" y="0"/>
                                    </a:lnTo>
                                    <a:lnTo>
                                      <a:pt x="0" y="0"/>
                                    </a:lnTo>
                                    <a:close/>
                                  </a:path>
                                </a:pathLst>
                              </a:custGeom>
                              <a:solidFill>
                                <a:srgbClr val="DDDDDD">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2243" name="Rectangle 283"/>
                              <p:cNvSpPr/>
                              <p:nvPr/>
                            </p:nvSpPr>
                            <p:spPr>
                              <a:xfrm>
                                <a:off x="82" y="34"/>
                                <a:ext cx="18" cy="100"/>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2217" name="Group 284"/>
                            <p:cNvGrpSpPr/>
                            <p:nvPr/>
                          </p:nvGrpSpPr>
                          <p:grpSpPr>
                            <a:xfrm>
                              <a:off x="599" y="70"/>
                              <a:ext cx="170" cy="156"/>
                              <a:chOff x="0" y="0"/>
                              <a:chExt cx="170" cy="156"/>
                            </a:xfrm>
                          </p:grpSpPr>
                          <p:grpSp>
                            <p:nvGrpSpPr>
                              <p:cNvPr id="12234" name="Group 285"/>
                              <p:cNvGrpSpPr/>
                              <p:nvPr/>
                            </p:nvGrpSpPr>
                            <p:grpSpPr>
                              <a:xfrm>
                                <a:off x="75" y="0"/>
                                <a:ext cx="95" cy="156"/>
                                <a:chOff x="0" y="0"/>
                                <a:chExt cx="184" cy="244"/>
                              </a:xfrm>
                            </p:grpSpPr>
                            <p:sp>
                              <p:nvSpPr>
                                <p:cNvPr id="12237" name="AutoShape 286"/>
                                <p:cNvSpPr/>
                                <p:nvPr/>
                              </p:nvSpPr>
                              <p:spPr>
                                <a:xfrm>
                                  <a:off x="48" y="44"/>
                                  <a:ext cx="136" cy="181"/>
                                </a:xfrm>
                                <a:prstGeom prst="roundRect">
                                  <a:avLst>
                                    <a:gd name="adj" fmla="val 16667"/>
                                  </a:avLst>
                                </a:prstGeom>
                                <a:solidFill>
                                  <a:srgbClr val="B2B2B2"/>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38" name="Rectangle 287"/>
                                <p:cNvSpPr/>
                                <p:nvPr/>
                              </p:nvSpPr>
                              <p:spPr>
                                <a:xfrm>
                                  <a:off x="81" y="0"/>
                                  <a:ext cx="68" cy="45"/>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39" name="Rectangle 288"/>
                                <p:cNvSpPr/>
                                <p:nvPr/>
                              </p:nvSpPr>
                              <p:spPr>
                                <a:xfrm>
                                  <a:off x="54" y="221"/>
                                  <a:ext cx="102" cy="23"/>
                                </a:xfrm>
                                <a:prstGeom prst="rect">
                                  <a:avLst/>
                                </a:prstGeom>
                                <a:solidFill>
                                  <a:srgbClr val="B2B2B2"/>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240" name="Rectangle 289"/>
                                <p:cNvSpPr/>
                                <p:nvPr/>
                              </p:nvSpPr>
                              <p:spPr>
                                <a:xfrm>
                                  <a:off x="0" y="80"/>
                                  <a:ext cx="45" cy="102"/>
                                </a:xfrm>
                                <a:prstGeom prst="rect">
                                  <a:avLst/>
                                </a:prstGeom>
                                <a:solidFill>
                                  <a:srgbClr val="80808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235" name="AutoShape 290"/>
                              <p:cNvSpPr/>
                              <p:nvPr/>
                            </p:nvSpPr>
                            <p:spPr>
                              <a:xfrm rot="5400000">
                                <a:off x="-8" y="41"/>
                                <a:ext cx="98" cy="81"/>
                              </a:xfrm>
                              <a:custGeom>
                                <a:avLst/>
                                <a:gdLst>
                                  <a:gd name="txL" fmla="*/ 4408 w 21600"/>
                                  <a:gd name="txT" fmla="*/ 4533 h 21600"/>
                                  <a:gd name="txR" fmla="*/ 17192 w 21600"/>
                                  <a:gd name="txB" fmla="*/ 17067 h 21600"/>
                                </a:gdLst>
                                <a:ahLst/>
                                <a:cxnLst>
                                  <a:cxn ang="0">
                                    <a:pos x="0" y="0"/>
                                  </a:cxn>
                                  <a:cxn ang="0">
                                    <a:pos x="0" y="0"/>
                                  </a:cxn>
                                  <a:cxn ang="0">
                                    <a:pos x="0" y="0"/>
                                  </a:cxn>
                                  <a:cxn ang="0">
                                    <a:pos x="0" y="0"/>
                                  </a:cxn>
                                  <a:cxn ang="0">
                                    <a:pos x="0" y="0"/>
                                  </a:cxn>
                                </a:cxnLst>
                                <a:rect l="txL" t="txT" r="txR" b="txB"/>
                                <a:pathLst>
                                  <a:path w="21600" h="21600">
                                    <a:moveTo>
                                      <a:pt x="0" y="0"/>
                                    </a:moveTo>
                                    <a:lnTo>
                                      <a:pt x="5400" y="21600"/>
                                    </a:lnTo>
                                    <a:lnTo>
                                      <a:pt x="16200" y="21600"/>
                                    </a:lnTo>
                                    <a:lnTo>
                                      <a:pt x="21600" y="0"/>
                                    </a:lnTo>
                                    <a:lnTo>
                                      <a:pt x="0" y="0"/>
                                    </a:lnTo>
                                    <a:close/>
                                  </a:path>
                                </a:pathLst>
                              </a:custGeom>
                              <a:solidFill>
                                <a:srgbClr val="DDDDDD">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2236" name="Rectangle 291"/>
                              <p:cNvSpPr/>
                              <p:nvPr/>
                            </p:nvSpPr>
                            <p:spPr>
                              <a:xfrm>
                                <a:off x="82" y="34"/>
                                <a:ext cx="18" cy="100"/>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2218" name="Group 292"/>
                            <p:cNvGrpSpPr/>
                            <p:nvPr/>
                          </p:nvGrpSpPr>
                          <p:grpSpPr>
                            <a:xfrm>
                              <a:off x="0" y="0"/>
                              <a:ext cx="869" cy="140"/>
                              <a:chOff x="0" y="0"/>
                              <a:chExt cx="869" cy="140"/>
                            </a:xfrm>
                          </p:grpSpPr>
                          <p:sp>
                            <p:nvSpPr>
                              <p:cNvPr id="12225" name="Line 293"/>
                              <p:cNvSpPr/>
                              <p:nvPr/>
                            </p:nvSpPr>
                            <p:spPr>
                              <a:xfrm>
                                <a:off x="0" y="0"/>
                                <a:ext cx="869" cy="0"/>
                              </a:xfrm>
                              <a:prstGeom prst="line">
                                <a:avLst/>
                              </a:prstGeom>
                              <a:ln w="19050" cap="flat" cmpd="sng">
                                <a:solidFill>
                                  <a:schemeClr val="tx1"/>
                                </a:solidFill>
                                <a:prstDash val="solid"/>
                                <a:headEnd type="none" w="med" len="med"/>
                                <a:tailEnd type="none" w="med" len="med"/>
                              </a:ln>
                            </p:spPr>
                          </p:sp>
                          <p:sp>
                            <p:nvSpPr>
                              <p:cNvPr id="12226" name="Line 294"/>
                              <p:cNvSpPr/>
                              <p:nvPr/>
                            </p:nvSpPr>
                            <p:spPr>
                              <a:xfrm>
                                <a:off x="515" y="0"/>
                                <a:ext cx="0" cy="72"/>
                              </a:xfrm>
                              <a:prstGeom prst="line">
                                <a:avLst/>
                              </a:prstGeom>
                              <a:ln w="9525" cap="flat" cmpd="sng">
                                <a:solidFill>
                                  <a:schemeClr val="tx1"/>
                                </a:solidFill>
                                <a:prstDash val="solid"/>
                                <a:headEnd type="none" w="med" len="med"/>
                                <a:tailEnd type="none" w="med" len="med"/>
                              </a:ln>
                            </p:spPr>
                          </p:sp>
                          <p:sp>
                            <p:nvSpPr>
                              <p:cNvPr id="12227" name="Line 295"/>
                              <p:cNvSpPr/>
                              <p:nvPr/>
                            </p:nvSpPr>
                            <p:spPr>
                              <a:xfrm>
                                <a:off x="380" y="2"/>
                                <a:ext cx="0" cy="138"/>
                              </a:xfrm>
                              <a:prstGeom prst="line">
                                <a:avLst/>
                              </a:prstGeom>
                              <a:ln w="9525" cap="flat" cmpd="sng">
                                <a:solidFill>
                                  <a:schemeClr val="tx1"/>
                                </a:solidFill>
                                <a:prstDash val="solid"/>
                                <a:headEnd type="none" w="med" len="med"/>
                                <a:tailEnd type="none" w="med" len="med"/>
                              </a:ln>
                            </p:spPr>
                          </p:sp>
                          <p:sp>
                            <p:nvSpPr>
                              <p:cNvPr id="12228" name="Line 296"/>
                              <p:cNvSpPr/>
                              <p:nvPr/>
                            </p:nvSpPr>
                            <p:spPr>
                              <a:xfrm>
                                <a:off x="481" y="2"/>
                                <a:ext cx="0" cy="138"/>
                              </a:xfrm>
                              <a:prstGeom prst="line">
                                <a:avLst/>
                              </a:prstGeom>
                              <a:ln w="9525" cap="flat" cmpd="sng">
                                <a:solidFill>
                                  <a:schemeClr val="tx1"/>
                                </a:solidFill>
                                <a:prstDash val="solid"/>
                                <a:headEnd type="none" w="med" len="med"/>
                                <a:tailEnd type="none" w="med" len="med"/>
                              </a:ln>
                            </p:spPr>
                          </p:sp>
                          <p:sp>
                            <p:nvSpPr>
                              <p:cNvPr id="12229" name="Line 297"/>
                              <p:cNvSpPr/>
                              <p:nvPr/>
                            </p:nvSpPr>
                            <p:spPr>
                              <a:xfrm>
                                <a:off x="380" y="66"/>
                                <a:ext cx="98" cy="0"/>
                              </a:xfrm>
                              <a:prstGeom prst="line">
                                <a:avLst/>
                              </a:prstGeom>
                              <a:ln w="9525" cap="flat" cmpd="sng">
                                <a:solidFill>
                                  <a:schemeClr val="tx1"/>
                                </a:solidFill>
                                <a:prstDash val="solid"/>
                                <a:headEnd type="none" w="med" len="med"/>
                                <a:tailEnd type="none" w="med" len="med"/>
                              </a:ln>
                            </p:spPr>
                          </p:sp>
                          <p:sp>
                            <p:nvSpPr>
                              <p:cNvPr id="12230" name="Line 298"/>
                              <p:cNvSpPr/>
                              <p:nvPr/>
                            </p:nvSpPr>
                            <p:spPr>
                              <a:xfrm>
                                <a:off x="733" y="0"/>
                                <a:ext cx="0" cy="72"/>
                              </a:xfrm>
                              <a:prstGeom prst="line">
                                <a:avLst/>
                              </a:prstGeom>
                              <a:ln w="9525" cap="flat" cmpd="sng">
                                <a:solidFill>
                                  <a:schemeClr val="tx1"/>
                                </a:solidFill>
                                <a:prstDash val="solid"/>
                                <a:headEnd type="none" w="med" len="med"/>
                                <a:tailEnd type="none" w="med" len="med"/>
                              </a:ln>
                            </p:spPr>
                          </p:sp>
                          <p:sp>
                            <p:nvSpPr>
                              <p:cNvPr id="12231" name="Line 299"/>
                              <p:cNvSpPr/>
                              <p:nvPr/>
                            </p:nvSpPr>
                            <p:spPr>
                              <a:xfrm>
                                <a:off x="598" y="2"/>
                                <a:ext cx="0" cy="138"/>
                              </a:xfrm>
                              <a:prstGeom prst="line">
                                <a:avLst/>
                              </a:prstGeom>
                              <a:ln w="9525" cap="flat" cmpd="sng">
                                <a:solidFill>
                                  <a:schemeClr val="tx1"/>
                                </a:solidFill>
                                <a:prstDash val="solid"/>
                                <a:headEnd type="none" w="med" len="med"/>
                                <a:tailEnd type="none" w="med" len="med"/>
                              </a:ln>
                            </p:spPr>
                          </p:sp>
                          <p:sp>
                            <p:nvSpPr>
                              <p:cNvPr id="12232" name="Line 300"/>
                              <p:cNvSpPr/>
                              <p:nvPr/>
                            </p:nvSpPr>
                            <p:spPr>
                              <a:xfrm>
                                <a:off x="698" y="2"/>
                                <a:ext cx="0" cy="138"/>
                              </a:xfrm>
                              <a:prstGeom prst="line">
                                <a:avLst/>
                              </a:prstGeom>
                              <a:ln w="9525" cap="flat" cmpd="sng">
                                <a:solidFill>
                                  <a:schemeClr val="tx1"/>
                                </a:solidFill>
                                <a:prstDash val="solid"/>
                                <a:headEnd type="none" w="med" len="med"/>
                                <a:tailEnd type="none" w="med" len="med"/>
                              </a:ln>
                            </p:spPr>
                          </p:sp>
                          <p:sp>
                            <p:nvSpPr>
                              <p:cNvPr id="12233" name="Line 301"/>
                              <p:cNvSpPr/>
                              <p:nvPr/>
                            </p:nvSpPr>
                            <p:spPr>
                              <a:xfrm>
                                <a:off x="598" y="66"/>
                                <a:ext cx="97" cy="0"/>
                              </a:xfrm>
                              <a:prstGeom prst="line">
                                <a:avLst/>
                              </a:prstGeom>
                              <a:ln w="9525" cap="flat" cmpd="sng">
                                <a:solidFill>
                                  <a:schemeClr val="tx1"/>
                                </a:solidFill>
                                <a:prstDash val="solid"/>
                                <a:headEnd type="none" w="med" len="med"/>
                                <a:tailEnd type="none" w="med" len="med"/>
                              </a:ln>
                            </p:spPr>
                          </p:sp>
                        </p:grpSp>
                        <p:grpSp>
                          <p:nvGrpSpPr>
                            <p:cNvPr id="12219" name="Group 302"/>
                            <p:cNvGrpSpPr/>
                            <p:nvPr/>
                          </p:nvGrpSpPr>
                          <p:grpSpPr>
                            <a:xfrm>
                              <a:off x="157" y="77"/>
                              <a:ext cx="73" cy="200"/>
                              <a:chOff x="0" y="0"/>
                              <a:chExt cx="73" cy="200"/>
                            </a:xfrm>
                          </p:grpSpPr>
                          <p:sp>
                            <p:nvSpPr>
                              <p:cNvPr id="12220" name="Oval 303"/>
                              <p:cNvSpPr/>
                              <p:nvPr/>
                            </p:nvSpPr>
                            <p:spPr>
                              <a:xfrm>
                                <a:off x="3" y="0"/>
                                <a:ext cx="30" cy="35"/>
                              </a:xfrm>
                              <a:prstGeom prst="ellipse">
                                <a:avLst/>
                              </a:prstGeom>
                              <a:solidFill>
                                <a:schemeClr val="tx2"/>
                              </a:solid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221" name="Group 304"/>
                              <p:cNvGrpSpPr/>
                              <p:nvPr/>
                            </p:nvGrpSpPr>
                            <p:grpSpPr>
                              <a:xfrm>
                                <a:off x="0" y="33"/>
                                <a:ext cx="73" cy="167"/>
                                <a:chOff x="0" y="0"/>
                                <a:chExt cx="73" cy="167"/>
                              </a:xfrm>
                            </p:grpSpPr>
                            <p:sp>
                              <p:nvSpPr>
                                <p:cNvPr id="12222" name="Freeform 305"/>
                                <p:cNvSpPr/>
                                <p:nvPr/>
                              </p:nvSpPr>
                              <p:spPr>
                                <a:xfrm>
                                  <a:off x="16" y="0"/>
                                  <a:ext cx="41" cy="167"/>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223" name="Line 306"/>
                                <p:cNvSpPr/>
                                <p:nvPr/>
                              </p:nvSpPr>
                              <p:spPr>
                                <a:xfrm flipH="1">
                                  <a:off x="0" y="100"/>
                                  <a:ext cx="38" cy="67"/>
                                </a:xfrm>
                                <a:prstGeom prst="line">
                                  <a:avLst/>
                                </a:prstGeom>
                                <a:ln w="12700" cap="flat" cmpd="sng">
                                  <a:solidFill>
                                    <a:schemeClr val="tx1"/>
                                  </a:solidFill>
                                  <a:prstDash val="solid"/>
                                  <a:headEnd type="none" w="med" len="med"/>
                                  <a:tailEnd type="none" w="med" len="med"/>
                                </a:ln>
                              </p:spPr>
                            </p:sp>
                            <p:sp>
                              <p:nvSpPr>
                                <p:cNvPr id="12224" name="Freeform 307"/>
                                <p:cNvSpPr/>
                                <p:nvPr/>
                              </p:nvSpPr>
                              <p:spPr>
                                <a:xfrm>
                                  <a:off x="18" y="12"/>
                                  <a:ext cx="55" cy="22"/>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grpSp>
                      </p:grpSp>
                      <p:grpSp>
                        <p:nvGrpSpPr>
                          <p:cNvPr id="11309" name="Group 308"/>
                          <p:cNvGrpSpPr/>
                          <p:nvPr/>
                        </p:nvGrpSpPr>
                        <p:grpSpPr>
                          <a:xfrm>
                            <a:off x="4451" y="162"/>
                            <a:ext cx="108" cy="1144"/>
                            <a:chOff x="0" y="0"/>
                            <a:chExt cx="108" cy="1144"/>
                          </a:xfrm>
                        </p:grpSpPr>
                        <p:sp>
                          <p:nvSpPr>
                            <p:cNvPr id="12202" name="Line 309"/>
                            <p:cNvSpPr/>
                            <p:nvPr/>
                          </p:nvSpPr>
                          <p:spPr>
                            <a:xfrm>
                              <a:off x="0" y="514"/>
                              <a:ext cx="0" cy="280"/>
                            </a:xfrm>
                            <a:prstGeom prst="line">
                              <a:avLst/>
                            </a:prstGeom>
                            <a:ln w="9525" cap="flat" cmpd="sng">
                              <a:solidFill>
                                <a:schemeClr val="tx1"/>
                              </a:solidFill>
                              <a:prstDash val="solid"/>
                              <a:headEnd type="none" w="med" len="med"/>
                              <a:tailEnd type="none" w="med" len="med"/>
                            </a:ln>
                          </p:spPr>
                        </p:sp>
                        <p:sp>
                          <p:nvSpPr>
                            <p:cNvPr id="12203" name="Line 310"/>
                            <p:cNvSpPr/>
                            <p:nvPr/>
                          </p:nvSpPr>
                          <p:spPr>
                            <a:xfrm>
                              <a:off x="108" y="514"/>
                              <a:ext cx="0" cy="280"/>
                            </a:xfrm>
                            <a:prstGeom prst="line">
                              <a:avLst/>
                            </a:prstGeom>
                            <a:ln w="9525" cap="flat" cmpd="sng">
                              <a:solidFill>
                                <a:schemeClr val="tx1"/>
                              </a:solidFill>
                              <a:prstDash val="solid"/>
                              <a:headEnd type="none" w="med" len="med"/>
                              <a:tailEnd type="none" w="med" len="med"/>
                            </a:ln>
                          </p:spPr>
                        </p:sp>
                        <p:sp>
                          <p:nvSpPr>
                            <p:cNvPr id="12204" name="Line 311"/>
                            <p:cNvSpPr/>
                            <p:nvPr/>
                          </p:nvSpPr>
                          <p:spPr>
                            <a:xfrm>
                              <a:off x="0" y="739"/>
                              <a:ext cx="108" cy="0"/>
                            </a:xfrm>
                            <a:prstGeom prst="line">
                              <a:avLst/>
                            </a:prstGeom>
                            <a:ln w="9525" cap="flat" cmpd="sng">
                              <a:solidFill>
                                <a:schemeClr val="tx1"/>
                              </a:solidFill>
                              <a:prstDash val="solid"/>
                              <a:headEnd type="none" w="med" len="med"/>
                              <a:tailEnd type="none" w="med" len="med"/>
                            </a:ln>
                          </p:spPr>
                        </p:sp>
                        <p:sp>
                          <p:nvSpPr>
                            <p:cNvPr id="12205" name="Line 312"/>
                            <p:cNvSpPr/>
                            <p:nvPr/>
                          </p:nvSpPr>
                          <p:spPr>
                            <a:xfrm>
                              <a:off x="0" y="0"/>
                              <a:ext cx="0" cy="99"/>
                            </a:xfrm>
                            <a:prstGeom prst="line">
                              <a:avLst/>
                            </a:prstGeom>
                            <a:ln w="9525" cap="flat" cmpd="sng">
                              <a:solidFill>
                                <a:schemeClr val="tx1"/>
                              </a:solidFill>
                              <a:prstDash val="solid"/>
                              <a:headEnd type="none" w="med" len="med"/>
                              <a:tailEnd type="none" w="med" len="med"/>
                            </a:ln>
                          </p:spPr>
                        </p:sp>
                        <p:sp>
                          <p:nvSpPr>
                            <p:cNvPr id="12206" name="Line 313"/>
                            <p:cNvSpPr/>
                            <p:nvPr/>
                          </p:nvSpPr>
                          <p:spPr>
                            <a:xfrm>
                              <a:off x="108" y="0"/>
                              <a:ext cx="0" cy="99"/>
                            </a:xfrm>
                            <a:prstGeom prst="line">
                              <a:avLst/>
                            </a:prstGeom>
                            <a:ln w="9525" cap="flat" cmpd="sng">
                              <a:solidFill>
                                <a:schemeClr val="tx1"/>
                              </a:solidFill>
                              <a:prstDash val="solid"/>
                              <a:headEnd type="none" w="med" len="med"/>
                              <a:tailEnd type="none" w="med" len="med"/>
                            </a:ln>
                          </p:spPr>
                        </p:sp>
                        <p:sp>
                          <p:nvSpPr>
                            <p:cNvPr id="12207" name="Line 314"/>
                            <p:cNvSpPr/>
                            <p:nvPr/>
                          </p:nvSpPr>
                          <p:spPr>
                            <a:xfrm>
                              <a:off x="0" y="49"/>
                              <a:ext cx="108" cy="0"/>
                            </a:xfrm>
                            <a:prstGeom prst="line">
                              <a:avLst/>
                            </a:prstGeom>
                            <a:ln w="9525" cap="flat" cmpd="sng">
                              <a:solidFill>
                                <a:schemeClr val="tx1"/>
                              </a:solidFill>
                              <a:prstDash val="solid"/>
                              <a:headEnd type="none" w="med" len="med"/>
                              <a:tailEnd type="none" w="med" len="med"/>
                            </a:ln>
                          </p:spPr>
                        </p:sp>
                        <p:sp>
                          <p:nvSpPr>
                            <p:cNvPr id="12208" name="Line 315"/>
                            <p:cNvSpPr/>
                            <p:nvPr/>
                          </p:nvSpPr>
                          <p:spPr>
                            <a:xfrm>
                              <a:off x="0" y="171"/>
                              <a:ext cx="0" cy="279"/>
                            </a:xfrm>
                            <a:prstGeom prst="line">
                              <a:avLst/>
                            </a:prstGeom>
                            <a:ln w="9525" cap="flat" cmpd="sng">
                              <a:solidFill>
                                <a:schemeClr val="tx1"/>
                              </a:solidFill>
                              <a:prstDash val="solid"/>
                              <a:headEnd type="none" w="med" len="med"/>
                              <a:tailEnd type="none" w="med" len="med"/>
                            </a:ln>
                          </p:spPr>
                        </p:sp>
                        <p:sp>
                          <p:nvSpPr>
                            <p:cNvPr id="12209" name="Line 316"/>
                            <p:cNvSpPr/>
                            <p:nvPr/>
                          </p:nvSpPr>
                          <p:spPr>
                            <a:xfrm>
                              <a:off x="108" y="171"/>
                              <a:ext cx="0" cy="279"/>
                            </a:xfrm>
                            <a:prstGeom prst="line">
                              <a:avLst/>
                            </a:prstGeom>
                            <a:ln w="9525" cap="flat" cmpd="sng">
                              <a:solidFill>
                                <a:schemeClr val="tx1"/>
                              </a:solidFill>
                              <a:prstDash val="solid"/>
                              <a:headEnd type="none" w="med" len="med"/>
                              <a:tailEnd type="none" w="med" len="med"/>
                            </a:ln>
                          </p:spPr>
                        </p:sp>
                        <p:sp>
                          <p:nvSpPr>
                            <p:cNvPr id="12210" name="Line 317"/>
                            <p:cNvSpPr/>
                            <p:nvPr/>
                          </p:nvSpPr>
                          <p:spPr>
                            <a:xfrm>
                              <a:off x="0" y="395"/>
                              <a:ext cx="108" cy="0"/>
                            </a:xfrm>
                            <a:prstGeom prst="line">
                              <a:avLst/>
                            </a:prstGeom>
                            <a:ln w="9525" cap="flat" cmpd="sng">
                              <a:solidFill>
                                <a:schemeClr val="tx1"/>
                              </a:solidFill>
                              <a:prstDash val="solid"/>
                              <a:headEnd type="none" w="med" len="med"/>
                              <a:tailEnd type="none" w="med" len="med"/>
                            </a:ln>
                          </p:spPr>
                        </p:sp>
                        <p:sp>
                          <p:nvSpPr>
                            <p:cNvPr id="12211" name="Line 318"/>
                            <p:cNvSpPr/>
                            <p:nvPr/>
                          </p:nvSpPr>
                          <p:spPr>
                            <a:xfrm>
                              <a:off x="0" y="864"/>
                              <a:ext cx="0" cy="280"/>
                            </a:xfrm>
                            <a:prstGeom prst="line">
                              <a:avLst/>
                            </a:prstGeom>
                            <a:ln w="9525" cap="flat" cmpd="sng">
                              <a:solidFill>
                                <a:schemeClr val="tx1"/>
                              </a:solidFill>
                              <a:prstDash val="solid"/>
                              <a:headEnd type="none" w="med" len="med"/>
                              <a:tailEnd type="none" w="med" len="med"/>
                            </a:ln>
                          </p:spPr>
                        </p:sp>
                        <p:sp>
                          <p:nvSpPr>
                            <p:cNvPr id="12212" name="Line 319"/>
                            <p:cNvSpPr/>
                            <p:nvPr/>
                          </p:nvSpPr>
                          <p:spPr>
                            <a:xfrm>
                              <a:off x="108" y="864"/>
                              <a:ext cx="0" cy="280"/>
                            </a:xfrm>
                            <a:prstGeom prst="line">
                              <a:avLst/>
                            </a:prstGeom>
                            <a:ln w="9525" cap="flat" cmpd="sng">
                              <a:solidFill>
                                <a:schemeClr val="tx1"/>
                              </a:solidFill>
                              <a:prstDash val="solid"/>
                              <a:headEnd type="none" w="med" len="med"/>
                              <a:tailEnd type="none" w="med" len="med"/>
                            </a:ln>
                          </p:spPr>
                        </p:sp>
                        <p:sp>
                          <p:nvSpPr>
                            <p:cNvPr id="12213" name="Line 320"/>
                            <p:cNvSpPr/>
                            <p:nvPr/>
                          </p:nvSpPr>
                          <p:spPr>
                            <a:xfrm>
                              <a:off x="0" y="1089"/>
                              <a:ext cx="108" cy="0"/>
                            </a:xfrm>
                            <a:prstGeom prst="line">
                              <a:avLst/>
                            </a:prstGeom>
                            <a:ln w="9525" cap="flat" cmpd="sng">
                              <a:solidFill>
                                <a:schemeClr val="tx1"/>
                              </a:solidFill>
                              <a:prstDash val="solid"/>
                              <a:headEnd type="none" w="med" len="med"/>
                              <a:tailEnd type="none" w="med" len="med"/>
                            </a:ln>
                          </p:spPr>
                        </p:sp>
                      </p:grpSp>
                      <p:grpSp>
                        <p:nvGrpSpPr>
                          <p:cNvPr id="11310" name="Group 321"/>
                          <p:cNvGrpSpPr/>
                          <p:nvPr/>
                        </p:nvGrpSpPr>
                        <p:grpSpPr>
                          <a:xfrm>
                            <a:off x="4451" y="1370"/>
                            <a:ext cx="108" cy="280"/>
                            <a:chOff x="0" y="0"/>
                            <a:chExt cx="108" cy="280"/>
                          </a:xfrm>
                        </p:grpSpPr>
                        <p:sp>
                          <p:nvSpPr>
                            <p:cNvPr id="12199" name="Line 322"/>
                            <p:cNvSpPr/>
                            <p:nvPr/>
                          </p:nvSpPr>
                          <p:spPr>
                            <a:xfrm>
                              <a:off x="0" y="0"/>
                              <a:ext cx="0" cy="280"/>
                            </a:xfrm>
                            <a:prstGeom prst="line">
                              <a:avLst/>
                            </a:prstGeom>
                            <a:ln w="9525" cap="flat" cmpd="sng">
                              <a:solidFill>
                                <a:schemeClr val="tx1"/>
                              </a:solidFill>
                              <a:prstDash val="solid"/>
                              <a:headEnd type="none" w="med" len="med"/>
                              <a:tailEnd type="none" w="med" len="med"/>
                            </a:ln>
                          </p:spPr>
                        </p:sp>
                        <p:sp>
                          <p:nvSpPr>
                            <p:cNvPr id="12200" name="Line 323"/>
                            <p:cNvSpPr/>
                            <p:nvPr/>
                          </p:nvSpPr>
                          <p:spPr>
                            <a:xfrm>
                              <a:off x="108" y="0"/>
                              <a:ext cx="0" cy="280"/>
                            </a:xfrm>
                            <a:prstGeom prst="line">
                              <a:avLst/>
                            </a:prstGeom>
                            <a:ln w="9525" cap="flat" cmpd="sng">
                              <a:solidFill>
                                <a:schemeClr val="tx1"/>
                              </a:solidFill>
                              <a:prstDash val="solid"/>
                              <a:headEnd type="none" w="med" len="med"/>
                              <a:tailEnd type="none" w="med" len="med"/>
                            </a:ln>
                          </p:spPr>
                        </p:sp>
                        <p:sp>
                          <p:nvSpPr>
                            <p:cNvPr id="12201" name="Line 324"/>
                            <p:cNvSpPr/>
                            <p:nvPr/>
                          </p:nvSpPr>
                          <p:spPr>
                            <a:xfrm>
                              <a:off x="0" y="225"/>
                              <a:ext cx="108" cy="0"/>
                            </a:xfrm>
                            <a:prstGeom prst="line">
                              <a:avLst/>
                            </a:prstGeom>
                            <a:ln w="9525" cap="flat" cmpd="sng">
                              <a:solidFill>
                                <a:schemeClr val="tx1"/>
                              </a:solidFill>
                              <a:prstDash val="solid"/>
                              <a:headEnd type="none" w="med" len="med"/>
                              <a:tailEnd type="none" w="med" len="med"/>
                            </a:ln>
                          </p:spPr>
                        </p:sp>
                      </p:grpSp>
                      <p:grpSp>
                        <p:nvGrpSpPr>
                          <p:cNvPr id="11311" name="Group 325"/>
                          <p:cNvGrpSpPr/>
                          <p:nvPr/>
                        </p:nvGrpSpPr>
                        <p:grpSpPr>
                          <a:xfrm>
                            <a:off x="2819" y="200"/>
                            <a:ext cx="327" cy="254"/>
                            <a:chOff x="0" y="0"/>
                            <a:chExt cx="327" cy="254"/>
                          </a:xfrm>
                        </p:grpSpPr>
                        <p:sp>
                          <p:nvSpPr>
                            <p:cNvPr id="12194" name="Line 326"/>
                            <p:cNvSpPr/>
                            <p:nvPr/>
                          </p:nvSpPr>
                          <p:spPr>
                            <a:xfrm>
                              <a:off x="0" y="0"/>
                              <a:ext cx="217" cy="51"/>
                            </a:xfrm>
                            <a:prstGeom prst="line">
                              <a:avLst/>
                            </a:prstGeom>
                            <a:ln w="19050" cap="flat" cmpd="sng">
                              <a:solidFill>
                                <a:schemeClr val="tx1"/>
                              </a:solidFill>
                              <a:prstDash val="solid"/>
                              <a:headEnd type="none" w="med" len="med"/>
                              <a:tailEnd type="none" w="med" len="med"/>
                            </a:ln>
                          </p:spPr>
                        </p:sp>
                        <p:sp>
                          <p:nvSpPr>
                            <p:cNvPr id="12195" name="Line 327"/>
                            <p:cNvSpPr/>
                            <p:nvPr/>
                          </p:nvSpPr>
                          <p:spPr>
                            <a:xfrm>
                              <a:off x="218" y="54"/>
                              <a:ext cx="109" cy="0"/>
                            </a:xfrm>
                            <a:prstGeom prst="line">
                              <a:avLst/>
                            </a:prstGeom>
                            <a:ln w="19050" cap="flat" cmpd="sng">
                              <a:solidFill>
                                <a:schemeClr val="tx1"/>
                              </a:solidFill>
                              <a:prstDash val="solid"/>
                              <a:headEnd type="none" w="med" len="med"/>
                              <a:tailEnd type="none" w="med" len="med"/>
                            </a:ln>
                          </p:spPr>
                        </p:sp>
                        <p:sp>
                          <p:nvSpPr>
                            <p:cNvPr id="12196" name="Line 328"/>
                            <p:cNvSpPr/>
                            <p:nvPr/>
                          </p:nvSpPr>
                          <p:spPr>
                            <a:xfrm>
                              <a:off x="218" y="54"/>
                              <a:ext cx="0" cy="200"/>
                            </a:xfrm>
                            <a:prstGeom prst="line">
                              <a:avLst/>
                            </a:prstGeom>
                            <a:ln w="9525" cap="flat" cmpd="sng">
                              <a:solidFill>
                                <a:schemeClr val="tx1"/>
                              </a:solidFill>
                              <a:prstDash val="solid"/>
                              <a:headEnd type="none" w="med" len="med"/>
                              <a:tailEnd type="none" w="med" len="med"/>
                            </a:ln>
                          </p:spPr>
                        </p:sp>
                        <p:sp>
                          <p:nvSpPr>
                            <p:cNvPr id="12197" name="Line 329"/>
                            <p:cNvSpPr/>
                            <p:nvPr/>
                          </p:nvSpPr>
                          <p:spPr>
                            <a:xfrm>
                              <a:off x="327" y="54"/>
                              <a:ext cx="0" cy="200"/>
                            </a:xfrm>
                            <a:prstGeom prst="line">
                              <a:avLst/>
                            </a:prstGeom>
                            <a:ln w="9525" cap="flat" cmpd="sng">
                              <a:solidFill>
                                <a:schemeClr val="tx1"/>
                              </a:solidFill>
                              <a:prstDash val="solid"/>
                              <a:headEnd type="none" w="med" len="med"/>
                              <a:tailEnd type="none" w="med" len="med"/>
                            </a:ln>
                          </p:spPr>
                        </p:sp>
                        <p:sp>
                          <p:nvSpPr>
                            <p:cNvPr id="12198" name="Line 330"/>
                            <p:cNvSpPr/>
                            <p:nvPr/>
                          </p:nvSpPr>
                          <p:spPr>
                            <a:xfrm>
                              <a:off x="218" y="154"/>
                              <a:ext cx="109" cy="0"/>
                            </a:xfrm>
                            <a:prstGeom prst="line">
                              <a:avLst/>
                            </a:prstGeom>
                            <a:ln w="9525" cap="flat" cmpd="sng">
                              <a:solidFill>
                                <a:schemeClr val="tx1"/>
                              </a:solidFill>
                              <a:prstDash val="solid"/>
                              <a:headEnd type="none" w="med" len="med"/>
                              <a:tailEnd type="none" w="med" len="med"/>
                            </a:ln>
                          </p:spPr>
                        </p:sp>
                      </p:grpSp>
                      <p:grpSp>
                        <p:nvGrpSpPr>
                          <p:cNvPr id="11312" name="Group 331"/>
                          <p:cNvGrpSpPr/>
                          <p:nvPr/>
                        </p:nvGrpSpPr>
                        <p:grpSpPr>
                          <a:xfrm>
                            <a:off x="3704" y="154"/>
                            <a:ext cx="108" cy="300"/>
                            <a:chOff x="0" y="0"/>
                            <a:chExt cx="108" cy="300"/>
                          </a:xfrm>
                        </p:grpSpPr>
                        <p:sp>
                          <p:nvSpPr>
                            <p:cNvPr id="12191" name="Line 332"/>
                            <p:cNvSpPr/>
                            <p:nvPr/>
                          </p:nvSpPr>
                          <p:spPr>
                            <a:xfrm>
                              <a:off x="0" y="0"/>
                              <a:ext cx="0" cy="300"/>
                            </a:xfrm>
                            <a:prstGeom prst="line">
                              <a:avLst/>
                            </a:prstGeom>
                            <a:ln w="9525" cap="flat" cmpd="sng">
                              <a:solidFill>
                                <a:schemeClr val="tx1"/>
                              </a:solidFill>
                              <a:prstDash val="solid"/>
                              <a:headEnd type="none" w="med" len="med"/>
                              <a:tailEnd type="none" w="med" len="med"/>
                            </a:ln>
                          </p:spPr>
                        </p:sp>
                        <p:sp>
                          <p:nvSpPr>
                            <p:cNvPr id="12192" name="Line 333"/>
                            <p:cNvSpPr/>
                            <p:nvPr/>
                          </p:nvSpPr>
                          <p:spPr>
                            <a:xfrm>
                              <a:off x="108" y="0"/>
                              <a:ext cx="0" cy="300"/>
                            </a:xfrm>
                            <a:prstGeom prst="line">
                              <a:avLst/>
                            </a:prstGeom>
                            <a:ln w="9525" cap="flat" cmpd="sng">
                              <a:solidFill>
                                <a:schemeClr val="tx1"/>
                              </a:solidFill>
                              <a:prstDash val="solid"/>
                              <a:headEnd type="none" w="med" len="med"/>
                              <a:tailEnd type="none" w="med" len="med"/>
                            </a:ln>
                          </p:spPr>
                        </p:sp>
                        <p:sp>
                          <p:nvSpPr>
                            <p:cNvPr id="12193" name="Line 334"/>
                            <p:cNvSpPr/>
                            <p:nvPr/>
                          </p:nvSpPr>
                          <p:spPr>
                            <a:xfrm>
                              <a:off x="0" y="200"/>
                              <a:ext cx="108" cy="0"/>
                            </a:xfrm>
                            <a:prstGeom prst="line">
                              <a:avLst/>
                            </a:prstGeom>
                            <a:ln w="9525" cap="flat" cmpd="sng">
                              <a:solidFill>
                                <a:schemeClr val="tx1"/>
                              </a:solidFill>
                              <a:prstDash val="solid"/>
                              <a:headEnd type="none" w="med" len="med"/>
                              <a:tailEnd type="none" w="med" len="med"/>
                            </a:ln>
                          </p:spPr>
                        </p:sp>
                      </p:grpSp>
                      <p:grpSp>
                        <p:nvGrpSpPr>
                          <p:cNvPr id="11313" name="Group 335"/>
                          <p:cNvGrpSpPr/>
                          <p:nvPr/>
                        </p:nvGrpSpPr>
                        <p:grpSpPr>
                          <a:xfrm>
                            <a:off x="2943" y="546"/>
                            <a:ext cx="979" cy="185"/>
                            <a:chOff x="0" y="0"/>
                            <a:chExt cx="979" cy="185"/>
                          </a:xfrm>
                        </p:grpSpPr>
                        <p:sp>
                          <p:nvSpPr>
                            <p:cNvPr id="12189" name="Rectangle 336"/>
                            <p:cNvSpPr/>
                            <p:nvPr/>
                          </p:nvSpPr>
                          <p:spPr>
                            <a:xfrm>
                              <a:off x="0" y="22"/>
                              <a:ext cx="979" cy="163"/>
                            </a:xfrm>
                            <a:prstGeom prst="rect">
                              <a:avLst/>
                            </a:prstGeom>
                            <a:solidFill>
                              <a:srgbClr val="FFD9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90" name="Text Box 337"/>
                            <p:cNvSpPr txBox="1"/>
                            <p:nvPr/>
                          </p:nvSpPr>
                          <p:spPr>
                            <a:xfrm>
                              <a:off x="235" y="0"/>
                              <a:ext cx="489" cy="164"/>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内部装饰</a:t>
                              </a:r>
                              <a:endParaRPr lang="zh-CN" altLang="zh-CN" sz="1400" dirty="0">
                                <a:latin typeface="Times New Roman" panose="02020603050405020304" pitchFamily="18" charset="0"/>
                                <a:ea typeface="黑体" panose="02010609060101010101" pitchFamily="49" charset="-122"/>
                              </a:endParaRPr>
                            </a:p>
                          </p:txBody>
                        </p:sp>
                      </p:grpSp>
                      <p:grpSp>
                        <p:nvGrpSpPr>
                          <p:cNvPr id="11314" name="Group 338"/>
                          <p:cNvGrpSpPr/>
                          <p:nvPr/>
                        </p:nvGrpSpPr>
                        <p:grpSpPr>
                          <a:xfrm>
                            <a:off x="2958" y="436"/>
                            <a:ext cx="294" cy="94"/>
                            <a:chOff x="0" y="0"/>
                            <a:chExt cx="294" cy="94"/>
                          </a:xfrm>
                        </p:grpSpPr>
                        <p:grpSp>
                          <p:nvGrpSpPr>
                            <p:cNvPr id="12168" name="Group 339"/>
                            <p:cNvGrpSpPr/>
                            <p:nvPr/>
                          </p:nvGrpSpPr>
                          <p:grpSpPr>
                            <a:xfrm>
                              <a:off x="0" y="0"/>
                              <a:ext cx="294" cy="94"/>
                              <a:chOff x="0" y="0"/>
                              <a:chExt cx="294" cy="94"/>
                            </a:xfrm>
                          </p:grpSpPr>
                          <p:grpSp>
                            <p:nvGrpSpPr>
                              <p:cNvPr id="12170" name="Group 340"/>
                              <p:cNvGrpSpPr/>
                              <p:nvPr/>
                            </p:nvGrpSpPr>
                            <p:grpSpPr>
                              <a:xfrm>
                                <a:off x="0" y="0"/>
                                <a:ext cx="294" cy="94"/>
                                <a:chOff x="0" y="0"/>
                                <a:chExt cx="294" cy="94"/>
                              </a:xfrm>
                            </p:grpSpPr>
                            <p:sp>
                              <p:nvSpPr>
                                <p:cNvPr id="12172" name="Line 341"/>
                                <p:cNvSpPr/>
                                <p:nvPr/>
                              </p:nvSpPr>
                              <p:spPr>
                                <a:xfrm flipV="1">
                                  <a:off x="1" y="28"/>
                                  <a:ext cx="75" cy="19"/>
                                </a:xfrm>
                                <a:prstGeom prst="line">
                                  <a:avLst/>
                                </a:prstGeom>
                                <a:ln w="9525" cap="flat" cmpd="sng">
                                  <a:solidFill>
                                    <a:srgbClr val="640000"/>
                                  </a:solidFill>
                                  <a:prstDash val="solid"/>
                                  <a:headEnd type="none" w="med" len="med"/>
                                  <a:tailEnd type="none" w="med" len="med"/>
                                </a:ln>
                              </p:spPr>
                            </p:sp>
                            <p:sp>
                              <p:nvSpPr>
                                <p:cNvPr id="12173" name="Line 342"/>
                                <p:cNvSpPr/>
                                <p:nvPr/>
                              </p:nvSpPr>
                              <p:spPr>
                                <a:xfrm flipV="1">
                                  <a:off x="77" y="1"/>
                                  <a:ext cx="15" cy="25"/>
                                </a:xfrm>
                                <a:prstGeom prst="line">
                                  <a:avLst/>
                                </a:prstGeom>
                                <a:ln w="9525" cap="flat" cmpd="sng">
                                  <a:solidFill>
                                    <a:srgbClr val="640000"/>
                                  </a:solidFill>
                                  <a:prstDash val="solid"/>
                                  <a:headEnd type="none" w="med" len="med"/>
                                  <a:tailEnd type="none" w="med" len="med"/>
                                </a:ln>
                              </p:spPr>
                            </p:sp>
                            <p:sp>
                              <p:nvSpPr>
                                <p:cNvPr id="12174" name="Line 343"/>
                                <p:cNvSpPr/>
                                <p:nvPr/>
                              </p:nvSpPr>
                              <p:spPr>
                                <a:xfrm>
                                  <a:off x="93" y="0"/>
                                  <a:ext cx="70" cy="0"/>
                                </a:xfrm>
                                <a:prstGeom prst="line">
                                  <a:avLst/>
                                </a:prstGeom>
                                <a:ln w="9525" cap="flat" cmpd="sng">
                                  <a:solidFill>
                                    <a:srgbClr val="640000"/>
                                  </a:solidFill>
                                  <a:prstDash val="solid"/>
                                  <a:headEnd type="none" w="med" len="med"/>
                                  <a:tailEnd type="none" w="med" len="med"/>
                                </a:ln>
                              </p:spPr>
                            </p:sp>
                            <p:sp>
                              <p:nvSpPr>
                                <p:cNvPr id="12175" name="Line 344"/>
                                <p:cNvSpPr/>
                                <p:nvPr/>
                              </p:nvSpPr>
                              <p:spPr>
                                <a:xfrm>
                                  <a:off x="163" y="0"/>
                                  <a:ext cx="50" cy="38"/>
                                </a:xfrm>
                                <a:prstGeom prst="line">
                                  <a:avLst/>
                                </a:prstGeom>
                                <a:ln w="9525" cap="flat" cmpd="sng">
                                  <a:solidFill>
                                    <a:srgbClr val="640000"/>
                                  </a:solidFill>
                                  <a:prstDash val="solid"/>
                                  <a:headEnd type="none" w="med" len="med"/>
                                  <a:tailEnd type="none" w="med" len="med"/>
                                </a:ln>
                              </p:spPr>
                            </p:sp>
                            <p:sp>
                              <p:nvSpPr>
                                <p:cNvPr id="12176" name="Line 345"/>
                                <p:cNvSpPr/>
                                <p:nvPr/>
                              </p:nvSpPr>
                              <p:spPr>
                                <a:xfrm>
                                  <a:off x="213" y="38"/>
                                  <a:ext cx="74" cy="7"/>
                                </a:xfrm>
                                <a:prstGeom prst="line">
                                  <a:avLst/>
                                </a:prstGeom>
                                <a:ln w="9525" cap="flat" cmpd="sng">
                                  <a:solidFill>
                                    <a:srgbClr val="640000"/>
                                  </a:solidFill>
                                  <a:prstDash val="solid"/>
                                  <a:headEnd type="none" w="med" len="med"/>
                                  <a:tailEnd type="none" w="med" len="med"/>
                                </a:ln>
                              </p:spPr>
                            </p:sp>
                            <p:sp>
                              <p:nvSpPr>
                                <p:cNvPr id="12177" name="Line 346"/>
                                <p:cNvSpPr/>
                                <p:nvPr/>
                              </p:nvSpPr>
                              <p:spPr>
                                <a:xfrm>
                                  <a:off x="294" y="52"/>
                                  <a:ext cx="0" cy="31"/>
                                </a:xfrm>
                                <a:prstGeom prst="line">
                                  <a:avLst/>
                                </a:prstGeom>
                                <a:ln w="9525" cap="flat" cmpd="sng">
                                  <a:solidFill>
                                    <a:srgbClr val="640000"/>
                                  </a:solidFill>
                                  <a:prstDash val="solid"/>
                                  <a:headEnd type="none" w="med" len="med"/>
                                  <a:tailEnd type="none" w="med" len="med"/>
                                </a:ln>
                              </p:spPr>
                            </p:sp>
                            <p:sp>
                              <p:nvSpPr>
                                <p:cNvPr id="12178" name="Line 347"/>
                                <p:cNvSpPr/>
                                <p:nvPr/>
                              </p:nvSpPr>
                              <p:spPr>
                                <a:xfrm>
                                  <a:off x="104" y="94"/>
                                  <a:ext cx="69" cy="0"/>
                                </a:xfrm>
                                <a:prstGeom prst="line">
                                  <a:avLst/>
                                </a:prstGeom>
                                <a:ln w="9525" cap="flat" cmpd="sng">
                                  <a:solidFill>
                                    <a:srgbClr val="640000"/>
                                  </a:solidFill>
                                  <a:prstDash val="solid"/>
                                  <a:headEnd type="none" w="med" len="med"/>
                                  <a:tailEnd type="none" w="med" len="med"/>
                                </a:ln>
                              </p:spPr>
                            </p:sp>
                            <p:sp>
                              <p:nvSpPr>
                                <p:cNvPr id="12179" name="Line 348"/>
                                <p:cNvSpPr/>
                                <p:nvPr/>
                              </p:nvSpPr>
                              <p:spPr>
                                <a:xfrm flipV="1">
                                  <a:off x="173" y="76"/>
                                  <a:ext cx="20" cy="18"/>
                                </a:xfrm>
                                <a:prstGeom prst="line">
                                  <a:avLst/>
                                </a:prstGeom>
                                <a:ln w="9525" cap="flat" cmpd="sng">
                                  <a:solidFill>
                                    <a:srgbClr val="640000"/>
                                  </a:solidFill>
                                  <a:prstDash val="solid"/>
                                  <a:headEnd type="none" w="med" len="med"/>
                                  <a:tailEnd type="none" w="med" len="med"/>
                                </a:ln>
                              </p:spPr>
                            </p:sp>
                            <p:sp>
                              <p:nvSpPr>
                                <p:cNvPr id="12180" name="Line 349"/>
                                <p:cNvSpPr/>
                                <p:nvPr/>
                              </p:nvSpPr>
                              <p:spPr>
                                <a:xfrm>
                                  <a:off x="193" y="76"/>
                                  <a:ext cx="30" cy="0"/>
                                </a:xfrm>
                                <a:prstGeom prst="line">
                                  <a:avLst/>
                                </a:prstGeom>
                                <a:ln w="9525" cap="flat" cmpd="sng">
                                  <a:solidFill>
                                    <a:srgbClr val="640000"/>
                                  </a:solidFill>
                                  <a:prstDash val="solid"/>
                                  <a:headEnd type="none" w="med" len="med"/>
                                  <a:tailEnd type="none" w="med" len="med"/>
                                </a:ln>
                              </p:spPr>
                            </p:sp>
                            <p:sp>
                              <p:nvSpPr>
                                <p:cNvPr id="12181" name="Line 350"/>
                                <p:cNvSpPr/>
                                <p:nvPr/>
                              </p:nvSpPr>
                              <p:spPr>
                                <a:xfrm>
                                  <a:off x="223" y="76"/>
                                  <a:ext cx="15" cy="12"/>
                                </a:xfrm>
                                <a:prstGeom prst="line">
                                  <a:avLst/>
                                </a:prstGeom>
                                <a:ln w="9525" cap="flat" cmpd="sng">
                                  <a:solidFill>
                                    <a:srgbClr val="640000"/>
                                  </a:solidFill>
                                  <a:prstDash val="solid"/>
                                  <a:headEnd type="none" w="med" len="med"/>
                                  <a:tailEnd type="none" w="med" len="med"/>
                                </a:ln>
                              </p:spPr>
                            </p:sp>
                            <p:sp>
                              <p:nvSpPr>
                                <p:cNvPr id="12182" name="Line 351"/>
                                <p:cNvSpPr/>
                                <p:nvPr/>
                              </p:nvSpPr>
                              <p:spPr>
                                <a:xfrm>
                                  <a:off x="239" y="88"/>
                                  <a:ext cx="34" cy="0"/>
                                </a:xfrm>
                                <a:prstGeom prst="line">
                                  <a:avLst/>
                                </a:prstGeom>
                                <a:ln w="9525" cap="flat" cmpd="sng">
                                  <a:solidFill>
                                    <a:srgbClr val="640000"/>
                                  </a:solidFill>
                                  <a:prstDash val="solid"/>
                                  <a:headEnd type="none" w="med" len="med"/>
                                  <a:tailEnd type="none" w="med" len="med"/>
                                </a:ln>
                              </p:spPr>
                            </p:sp>
                            <p:sp>
                              <p:nvSpPr>
                                <p:cNvPr id="12183" name="Line 352"/>
                                <p:cNvSpPr/>
                                <p:nvPr/>
                              </p:nvSpPr>
                              <p:spPr>
                                <a:xfrm flipV="1">
                                  <a:off x="272" y="83"/>
                                  <a:ext cx="21" cy="5"/>
                                </a:xfrm>
                                <a:prstGeom prst="line">
                                  <a:avLst/>
                                </a:prstGeom>
                                <a:ln w="9525" cap="flat" cmpd="sng">
                                  <a:solidFill>
                                    <a:srgbClr val="640000"/>
                                  </a:solidFill>
                                  <a:prstDash val="solid"/>
                                  <a:headEnd type="none" w="med" len="med"/>
                                  <a:tailEnd type="none" w="med" len="med"/>
                                </a:ln>
                              </p:spPr>
                            </p:sp>
                            <p:sp>
                              <p:nvSpPr>
                                <p:cNvPr id="12184" name="Line 353"/>
                                <p:cNvSpPr/>
                                <p:nvPr/>
                              </p:nvSpPr>
                              <p:spPr>
                                <a:xfrm flipH="1" flipV="1">
                                  <a:off x="81" y="76"/>
                                  <a:ext cx="21" cy="18"/>
                                </a:xfrm>
                                <a:prstGeom prst="line">
                                  <a:avLst/>
                                </a:prstGeom>
                                <a:ln w="9525" cap="flat" cmpd="sng">
                                  <a:solidFill>
                                    <a:srgbClr val="640000"/>
                                  </a:solidFill>
                                  <a:prstDash val="solid"/>
                                  <a:headEnd type="none" w="med" len="med"/>
                                  <a:tailEnd type="none" w="med" len="med"/>
                                </a:ln>
                              </p:spPr>
                            </p:sp>
                            <p:sp>
                              <p:nvSpPr>
                                <p:cNvPr id="12185" name="Line 354"/>
                                <p:cNvSpPr/>
                                <p:nvPr/>
                              </p:nvSpPr>
                              <p:spPr>
                                <a:xfrm>
                                  <a:off x="51" y="76"/>
                                  <a:ext cx="30" cy="0"/>
                                </a:xfrm>
                                <a:prstGeom prst="line">
                                  <a:avLst/>
                                </a:prstGeom>
                                <a:ln w="9525" cap="flat" cmpd="sng">
                                  <a:solidFill>
                                    <a:srgbClr val="640000"/>
                                  </a:solidFill>
                                  <a:prstDash val="solid"/>
                                  <a:headEnd type="none" w="med" len="med"/>
                                  <a:tailEnd type="none" w="med" len="med"/>
                                </a:ln>
                              </p:spPr>
                            </p:sp>
                            <p:sp>
                              <p:nvSpPr>
                                <p:cNvPr id="12186" name="Line 355"/>
                                <p:cNvSpPr/>
                                <p:nvPr/>
                              </p:nvSpPr>
                              <p:spPr>
                                <a:xfrm flipH="1">
                                  <a:off x="35" y="76"/>
                                  <a:ext cx="15" cy="12"/>
                                </a:xfrm>
                                <a:prstGeom prst="line">
                                  <a:avLst/>
                                </a:prstGeom>
                                <a:ln w="9525" cap="flat" cmpd="sng">
                                  <a:solidFill>
                                    <a:srgbClr val="640000"/>
                                  </a:solidFill>
                                  <a:prstDash val="solid"/>
                                  <a:headEnd type="none" w="med" len="med"/>
                                  <a:tailEnd type="none" w="med" len="med"/>
                                </a:ln>
                              </p:spPr>
                            </p:sp>
                            <p:sp>
                              <p:nvSpPr>
                                <p:cNvPr id="12187" name="Line 356"/>
                                <p:cNvSpPr/>
                                <p:nvPr/>
                              </p:nvSpPr>
                              <p:spPr>
                                <a:xfrm flipH="1">
                                  <a:off x="3" y="88"/>
                                  <a:ext cx="31" cy="0"/>
                                </a:xfrm>
                                <a:prstGeom prst="line">
                                  <a:avLst/>
                                </a:prstGeom>
                                <a:ln w="9525" cap="flat" cmpd="sng">
                                  <a:solidFill>
                                    <a:srgbClr val="640000"/>
                                  </a:solidFill>
                                  <a:prstDash val="solid"/>
                                  <a:headEnd type="none" w="med" len="med"/>
                                  <a:tailEnd type="none" w="med" len="med"/>
                                </a:ln>
                              </p:spPr>
                            </p:sp>
                            <p:sp>
                              <p:nvSpPr>
                                <p:cNvPr id="12188" name="Line 357"/>
                                <p:cNvSpPr/>
                                <p:nvPr/>
                              </p:nvSpPr>
                              <p:spPr>
                                <a:xfrm flipH="1" flipV="1">
                                  <a:off x="0" y="49"/>
                                  <a:ext cx="3" cy="37"/>
                                </a:xfrm>
                                <a:prstGeom prst="line">
                                  <a:avLst/>
                                </a:prstGeom>
                                <a:ln w="9525" cap="flat" cmpd="sng">
                                  <a:solidFill>
                                    <a:srgbClr val="640000"/>
                                  </a:solidFill>
                                  <a:prstDash val="solid"/>
                                  <a:headEnd type="none" w="med" len="med"/>
                                  <a:tailEnd type="none" w="med" len="med"/>
                                </a:ln>
                              </p:spPr>
                            </p:sp>
                          </p:grpSp>
                          <p:sp>
                            <p:nvSpPr>
                              <p:cNvPr id="12171" name="Line 358"/>
                              <p:cNvSpPr/>
                              <p:nvPr/>
                            </p:nvSpPr>
                            <p:spPr>
                              <a:xfrm>
                                <a:off x="286" y="44"/>
                                <a:ext cx="7" cy="9"/>
                              </a:xfrm>
                              <a:prstGeom prst="line">
                                <a:avLst/>
                              </a:prstGeom>
                              <a:ln w="9525" cap="flat" cmpd="sng">
                                <a:solidFill>
                                  <a:srgbClr val="640000"/>
                                </a:solidFill>
                                <a:prstDash val="solid"/>
                                <a:headEnd type="none" w="med" len="med"/>
                                <a:tailEnd type="none" w="med" len="med"/>
                              </a:ln>
                            </p:spPr>
                          </p:sp>
                        </p:grpSp>
                        <p:sp>
                          <p:nvSpPr>
                            <p:cNvPr id="12169" name="AutoShape 359"/>
                            <p:cNvSpPr/>
                            <p:nvPr/>
                          </p:nvSpPr>
                          <p:spPr>
                            <a:xfrm>
                              <a:off x="93" y="15"/>
                              <a:ext cx="76" cy="23"/>
                            </a:xfrm>
                            <a:prstGeom prst="roundRect">
                              <a:avLst>
                                <a:gd name="adj" fmla="val 16667"/>
                              </a:avLst>
                            </a:prstGeom>
                            <a:solidFill>
                              <a:srgbClr val="000099"/>
                            </a:solidFill>
                            <a:ln w="9525" cap="flat" cmpd="sng">
                              <a:solidFill>
                                <a:srgbClr val="800000"/>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15" name="Group 360"/>
                          <p:cNvGrpSpPr/>
                          <p:nvPr/>
                        </p:nvGrpSpPr>
                        <p:grpSpPr>
                          <a:xfrm>
                            <a:off x="3294" y="440"/>
                            <a:ext cx="294" cy="94"/>
                            <a:chOff x="0" y="0"/>
                            <a:chExt cx="294" cy="94"/>
                          </a:xfrm>
                        </p:grpSpPr>
                        <p:grpSp>
                          <p:nvGrpSpPr>
                            <p:cNvPr id="12127" name="Group 361"/>
                            <p:cNvGrpSpPr/>
                            <p:nvPr/>
                          </p:nvGrpSpPr>
                          <p:grpSpPr>
                            <a:xfrm>
                              <a:off x="0" y="0"/>
                              <a:ext cx="294" cy="94"/>
                              <a:chOff x="0" y="0"/>
                              <a:chExt cx="294" cy="94"/>
                            </a:xfrm>
                          </p:grpSpPr>
                          <p:sp>
                            <p:nvSpPr>
                              <p:cNvPr id="12131" name="Rectangle 362"/>
                              <p:cNvSpPr/>
                              <p:nvPr/>
                            </p:nvSpPr>
                            <p:spPr>
                              <a:xfrm>
                                <a:off x="283" y="52"/>
                                <a:ext cx="10" cy="2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32" name="AutoShape 363"/>
                              <p:cNvSpPr/>
                              <p:nvPr/>
                            </p:nvSpPr>
                            <p:spPr>
                              <a:xfrm rot="-5400000">
                                <a:off x="57" y="1"/>
                                <a:ext cx="15" cy="53"/>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33" name="AutoShape 364"/>
                              <p:cNvSpPr/>
                              <p:nvPr/>
                            </p:nvSpPr>
                            <p:spPr>
                              <a:xfrm rot="-5400000">
                                <a:off x="14" y="21"/>
                                <a:ext cx="12" cy="40"/>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34" name="AutoShape 365"/>
                              <p:cNvSpPr/>
                              <p:nvPr/>
                            </p:nvSpPr>
                            <p:spPr>
                              <a:xfrm rot="10800000">
                                <a:off x="80" y="74"/>
                                <a:ext cx="21" cy="18"/>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135" name="Group 366"/>
                              <p:cNvGrpSpPr/>
                              <p:nvPr/>
                            </p:nvGrpSpPr>
                            <p:grpSpPr>
                              <a:xfrm>
                                <a:off x="0" y="0"/>
                                <a:ext cx="294" cy="94"/>
                                <a:chOff x="0" y="0"/>
                                <a:chExt cx="294" cy="94"/>
                              </a:xfrm>
                            </p:grpSpPr>
                            <p:grpSp>
                              <p:nvGrpSpPr>
                                <p:cNvPr id="12136" name="Group 367"/>
                                <p:cNvGrpSpPr/>
                                <p:nvPr/>
                              </p:nvGrpSpPr>
                              <p:grpSpPr>
                                <a:xfrm>
                                  <a:off x="3" y="0"/>
                                  <a:ext cx="282" cy="94"/>
                                  <a:chOff x="0" y="0"/>
                                  <a:chExt cx="282" cy="94"/>
                                </a:xfrm>
                              </p:grpSpPr>
                              <p:sp>
                                <p:nvSpPr>
                                  <p:cNvPr id="12158" name="AutoShape 368"/>
                                  <p:cNvSpPr/>
                                  <p:nvPr/>
                                </p:nvSpPr>
                                <p:spPr>
                                  <a:xfrm rot="5400000">
                                    <a:off x="166" y="70"/>
                                    <a:ext cx="21" cy="22"/>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59" name="Rectangle 369"/>
                                  <p:cNvSpPr/>
                                  <p:nvPr/>
                                </p:nvSpPr>
                                <p:spPr>
                                  <a:xfrm>
                                    <a:off x="89" y="0"/>
                                    <a:ext cx="72" cy="1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60" name="Rectangle 370"/>
                                  <p:cNvSpPr/>
                                  <p:nvPr/>
                                </p:nvSpPr>
                                <p:spPr>
                                  <a:xfrm>
                                    <a:off x="37" y="37"/>
                                    <a:ext cx="6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61" name="Rectangle 371"/>
                                  <p:cNvSpPr/>
                                  <p:nvPr/>
                                </p:nvSpPr>
                                <p:spPr>
                                  <a:xfrm>
                                    <a:off x="167" y="37"/>
                                    <a:ext cx="5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62" name="Rectangle 372"/>
                                  <p:cNvSpPr/>
                                  <p:nvPr/>
                                </p:nvSpPr>
                                <p:spPr>
                                  <a:xfrm>
                                    <a:off x="98" y="37"/>
                                    <a:ext cx="69" cy="5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63" name="Rectangle 373"/>
                                  <p:cNvSpPr/>
                                  <p:nvPr/>
                                </p:nvSpPr>
                                <p:spPr>
                                  <a:xfrm>
                                    <a:off x="218" y="44"/>
                                    <a:ext cx="64" cy="30"/>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64" name="Rectangle 374"/>
                                  <p:cNvSpPr/>
                                  <p:nvPr/>
                                </p:nvSpPr>
                                <p:spPr>
                                  <a:xfrm>
                                    <a:off x="232" y="72"/>
                                    <a:ext cx="40" cy="14"/>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65" name="Rectangle 375"/>
                                  <p:cNvSpPr/>
                                  <p:nvPr/>
                                </p:nvSpPr>
                                <p:spPr>
                                  <a:xfrm>
                                    <a:off x="0" y="46"/>
                                    <a:ext cx="34" cy="3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66" name="AutoShape 376"/>
                                  <p:cNvSpPr/>
                                  <p:nvPr/>
                                </p:nvSpPr>
                                <p:spPr>
                                  <a:xfrm rot="-5400000">
                                    <a:off x="68" y="5"/>
                                    <a:ext cx="25" cy="15"/>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67" name="AutoShape 377"/>
                                  <p:cNvSpPr/>
                                  <p:nvPr/>
                                </p:nvSpPr>
                                <p:spPr>
                                  <a:xfrm>
                                    <a:off x="167" y="5"/>
                                    <a:ext cx="51" cy="37"/>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137" name="AutoShape 378"/>
                                <p:cNvSpPr/>
                                <p:nvPr/>
                              </p:nvSpPr>
                              <p:spPr>
                                <a:xfrm>
                                  <a:off x="92" y="15"/>
                                  <a:ext cx="79" cy="25"/>
                                </a:xfrm>
                                <a:prstGeom prst="roundRect">
                                  <a:avLst>
                                    <a:gd name="adj" fmla="val 16667"/>
                                  </a:avLst>
                                </a:prstGeom>
                                <a:solidFill>
                                  <a:srgbClr val="000099"/>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138" name="Group 379"/>
                                <p:cNvGrpSpPr/>
                                <p:nvPr/>
                              </p:nvGrpSpPr>
                              <p:grpSpPr>
                                <a:xfrm>
                                  <a:off x="0" y="0"/>
                                  <a:ext cx="294" cy="92"/>
                                  <a:chOff x="0" y="0"/>
                                  <a:chExt cx="294" cy="92"/>
                                </a:xfrm>
                              </p:grpSpPr>
                              <p:grpSp>
                                <p:nvGrpSpPr>
                                  <p:cNvPr id="12139" name="Group 380"/>
                                  <p:cNvGrpSpPr/>
                                  <p:nvPr/>
                                </p:nvGrpSpPr>
                                <p:grpSpPr>
                                  <a:xfrm>
                                    <a:off x="0" y="0"/>
                                    <a:ext cx="294" cy="92"/>
                                    <a:chOff x="0" y="0"/>
                                    <a:chExt cx="294" cy="92"/>
                                  </a:xfrm>
                                </p:grpSpPr>
                                <p:sp>
                                  <p:nvSpPr>
                                    <p:cNvPr id="12141" name="Line 381"/>
                                    <p:cNvSpPr/>
                                    <p:nvPr/>
                                  </p:nvSpPr>
                                  <p:spPr>
                                    <a:xfrm flipV="1">
                                      <a:off x="1" y="27"/>
                                      <a:ext cx="75" cy="19"/>
                                    </a:xfrm>
                                    <a:prstGeom prst="line">
                                      <a:avLst/>
                                    </a:prstGeom>
                                    <a:ln w="9525" cap="flat" cmpd="sng">
                                      <a:solidFill>
                                        <a:schemeClr val="tx1"/>
                                      </a:solidFill>
                                      <a:prstDash val="solid"/>
                                      <a:headEnd type="none" w="med" len="med"/>
                                      <a:tailEnd type="none" w="med" len="med"/>
                                    </a:ln>
                                  </p:spPr>
                                </p:sp>
                                <p:sp>
                                  <p:nvSpPr>
                                    <p:cNvPr id="12142" name="Line 382"/>
                                    <p:cNvSpPr/>
                                    <p:nvPr/>
                                  </p:nvSpPr>
                                  <p:spPr>
                                    <a:xfrm flipV="1">
                                      <a:off x="77" y="0"/>
                                      <a:ext cx="15" cy="26"/>
                                    </a:xfrm>
                                    <a:prstGeom prst="line">
                                      <a:avLst/>
                                    </a:prstGeom>
                                    <a:ln w="9525" cap="flat" cmpd="sng">
                                      <a:solidFill>
                                        <a:schemeClr val="tx1"/>
                                      </a:solidFill>
                                      <a:prstDash val="solid"/>
                                      <a:headEnd type="none" w="med" len="med"/>
                                      <a:tailEnd type="none" w="med" len="med"/>
                                    </a:ln>
                                  </p:spPr>
                                </p:sp>
                                <p:sp>
                                  <p:nvSpPr>
                                    <p:cNvPr id="12143" name="Line 383"/>
                                    <p:cNvSpPr/>
                                    <p:nvPr/>
                                  </p:nvSpPr>
                                  <p:spPr>
                                    <a:xfrm>
                                      <a:off x="94" y="0"/>
                                      <a:ext cx="70" cy="0"/>
                                    </a:xfrm>
                                    <a:prstGeom prst="line">
                                      <a:avLst/>
                                    </a:prstGeom>
                                    <a:ln w="9525" cap="flat" cmpd="sng">
                                      <a:solidFill>
                                        <a:schemeClr val="tx1"/>
                                      </a:solidFill>
                                      <a:prstDash val="solid"/>
                                      <a:headEnd type="none" w="med" len="med"/>
                                      <a:tailEnd type="none" w="med" len="med"/>
                                    </a:ln>
                                  </p:spPr>
                                </p:sp>
                                <p:sp>
                                  <p:nvSpPr>
                                    <p:cNvPr id="12144" name="Line 384"/>
                                    <p:cNvSpPr/>
                                    <p:nvPr/>
                                  </p:nvSpPr>
                                  <p:spPr>
                                    <a:xfrm>
                                      <a:off x="164" y="0"/>
                                      <a:ext cx="50" cy="37"/>
                                    </a:xfrm>
                                    <a:prstGeom prst="line">
                                      <a:avLst/>
                                    </a:prstGeom>
                                    <a:ln w="9525" cap="flat" cmpd="sng">
                                      <a:solidFill>
                                        <a:schemeClr val="tx1"/>
                                      </a:solidFill>
                                      <a:prstDash val="solid"/>
                                      <a:headEnd type="none" w="med" len="med"/>
                                      <a:tailEnd type="none" w="med" len="med"/>
                                    </a:ln>
                                  </p:spPr>
                                </p:sp>
                                <p:sp>
                                  <p:nvSpPr>
                                    <p:cNvPr id="12145" name="Line 385"/>
                                    <p:cNvSpPr/>
                                    <p:nvPr/>
                                  </p:nvSpPr>
                                  <p:spPr>
                                    <a:xfrm>
                                      <a:off x="294" y="51"/>
                                      <a:ext cx="0" cy="30"/>
                                    </a:xfrm>
                                    <a:prstGeom prst="line">
                                      <a:avLst/>
                                    </a:prstGeom>
                                    <a:ln w="9525" cap="flat" cmpd="sng">
                                      <a:solidFill>
                                        <a:schemeClr val="tx1"/>
                                      </a:solidFill>
                                      <a:prstDash val="solid"/>
                                      <a:headEnd type="none" w="med" len="med"/>
                                      <a:tailEnd type="none" w="med" len="med"/>
                                    </a:ln>
                                  </p:spPr>
                                </p:sp>
                                <p:sp>
                                  <p:nvSpPr>
                                    <p:cNvPr id="12146" name="Line 386"/>
                                    <p:cNvSpPr/>
                                    <p:nvPr/>
                                  </p:nvSpPr>
                                  <p:spPr>
                                    <a:xfrm>
                                      <a:off x="104" y="92"/>
                                      <a:ext cx="70" cy="0"/>
                                    </a:xfrm>
                                    <a:prstGeom prst="line">
                                      <a:avLst/>
                                    </a:prstGeom>
                                    <a:ln w="9525" cap="flat" cmpd="sng">
                                      <a:solidFill>
                                        <a:schemeClr val="tx1"/>
                                      </a:solidFill>
                                      <a:prstDash val="solid"/>
                                      <a:headEnd type="none" w="med" len="med"/>
                                      <a:tailEnd type="none" w="med" len="med"/>
                                    </a:ln>
                                  </p:spPr>
                                </p:sp>
                                <p:sp>
                                  <p:nvSpPr>
                                    <p:cNvPr id="12147" name="Line 387"/>
                                    <p:cNvSpPr/>
                                    <p:nvPr/>
                                  </p:nvSpPr>
                                  <p:spPr>
                                    <a:xfrm flipV="1">
                                      <a:off x="174" y="74"/>
                                      <a:ext cx="20" cy="18"/>
                                    </a:xfrm>
                                    <a:prstGeom prst="line">
                                      <a:avLst/>
                                    </a:prstGeom>
                                    <a:ln w="9525" cap="flat" cmpd="sng">
                                      <a:solidFill>
                                        <a:schemeClr val="tx1"/>
                                      </a:solidFill>
                                      <a:prstDash val="solid"/>
                                      <a:headEnd type="none" w="med" len="med"/>
                                      <a:tailEnd type="none" w="med" len="med"/>
                                    </a:ln>
                                  </p:spPr>
                                </p:sp>
                                <p:sp>
                                  <p:nvSpPr>
                                    <p:cNvPr id="12148" name="Line 388"/>
                                    <p:cNvSpPr/>
                                    <p:nvPr/>
                                  </p:nvSpPr>
                                  <p:spPr>
                                    <a:xfrm>
                                      <a:off x="194" y="74"/>
                                      <a:ext cx="30" cy="0"/>
                                    </a:xfrm>
                                    <a:prstGeom prst="line">
                                      <a:avLst/>
                                    </a:prstGeom>
                                    <a:ln w="9525" cap="flat" cmpd="sng">
                                      <a:solidFill>
                                        <a:schemeClr val="tx1"/>
                                      </a:solidFill>
                                      <a:prstDash val="solid"/>
                                      <a:headEnd type="none" w="med" len="med"/>
                                      <a:tailEnd type="none" w="med" len="med"/>
                                    </a:ln>
                                  </p:spPr>
                                </p:sp>
                                <p:sp>
                                  <p:nvSpPr>
                                    <p:cNvPr id="12149" name="Line 389"/>
                                    <p:cNvSpPr/>
                                    <p:nvPr/>
                                  </p:nvSpPr>
                                  <p:spPr>
                                    <a:xfrm>
                                      <a:off x="224" y="74"/>
                                      <a:ext cx="14" cy="12"/>
                                    </a:xfrm>
                                    <a:prstGeom prst="line">
                                      <a:avLst/>
                                    </a:prstGeom>
                                    <a:ln w="9525" cap="flat" cmpd="sng">
                                      <a:solidFill>
                                        <a:schemeClr val="tx1"/>
                                      </a:solidFill>
                                      <a:prstDash val="solid"/>
                                      <a:headEnd type="none" w="med" len="med"/>
                                      <a:tailEnd type="none" w="med" len="med"/>
                                    </a:ln>
                                  </p:spPr>
                                </p:sp>
                                <p:sp>
                                  <p:nvSpPr>
                                    <p:cNvPr id="12150" name="Line 390"/>
                                    <p:cNvSpPr/>
                                    <p:nvPr/>
                                  </p:nvSpPr>
                                  <p:spPr>
                                    <a:xfrm>
                                      <a:off x="239" y="86"/>
                                      <a:ext cx="35" cy="0"/>
                                    </a:xfrm>
                                    <a:prstGeom prst="line">
                                      <a:avLst/>
                                    </a:prstGeom>
                                    <a:ln w="9525" cap="flat" cmpd="sng">
                                      <a:solidFill>
                                        <a:schemeClr val="tx1"/>
                                      </a:solidFill>
                                      <a:prstDash val="solid"/>
                                      <a:headEnd type="none" w="med" len="med"/>
                                      <a:tailEnd type="none" w="med" len="med"/>
                                    </a:ln>
                                  </p:spPr>
                                </p:sp>
                                <p:grpSp>
                                  <p:nvGrpSpPr>
                                    <p:cNvPr id="12151" name="Group 391"/>
                                    <p:cNvGrpSpPr/>
                                    <p:nvPr/>
                                  </p:nvGrpSpPr>
                                  <p:grpSpPr>
                                    <a:xfrm>
                                      <a:off x="35" y="74"/>
                                      <a:ext cx="67" cy="18"/>
                                      <a:chOff x="0" y="0"/>
                                      <a:chExt cx="696" cy="156"/>
                                    </a:xfrm>
                                  </p:grpSpPr>
                                  <p:sp>
                                    <p:nvSpPr>
                                      <p:cNvPr id="12155" name="Line 392"/>
                                      <p:cNvSpPr/>
                                      <p:nvPr/>
                                    </p:nvSpPr>
                                    <p:spPr>
                                      <a:xfrm flipH="1" flipV="1">
                                        <a:off x="486" y="0"/>
                                        <a:ext cx="210" cy="156"/>
                                      </a:xfrm>
                                      <a:prstGeom prst="line">
                                        <a:avLst/>
                                      </a:prstGeom>
                                      <a:ln w="9525" cap="flat" cmpd="sng">
                                        <a:solidFill>
                                          <a:schemeClr val="tx1"/>
                                        </a:solidFill>
                                        <a:prstDash val="solid"/>
                                        <a:headEnd type="none" w="med" len="med"/>
                                        <a:tailEnd type="none" w="med" len="med"/>
                                      </a:ln>
                                    </p:spPr>
                                  </p:sp>
                                  <p:sp>
                                    <p:nvSpPr>
                                      <p:cNvPr id="12156" name="Line 393"/>
                                      <p:cNvSpPr/>
                                      <p:nvPr/>
                                    </p:nvSpPr>
                                    <p:spPr>
                                      <a:xfrm>
                                        <a:off x="171" y="0"/>
                                        <a:ext cx="315" cy="0"/>
                                      </a:xfrm>
                                      <a:prstGeom prst="line">
                                        <a:avLst/>
                                      </a:prstGeom>
                                      <a:ln w="9525" cap="flat" cmpd="sng">
                                        <a:solidFill>
                                          <a:schemeClr val="tx1"/>
                                        </a:solidFill>
                                        <a:prstDash val="solid"/>
                                        <a:headEnd type="none" w="med" len="med"/>
                                        <a:tailEnd type="none" w="med" len="med"/>
                                      </a:ln>
                                    </p:spPr>
                                  </p:sp>
                                  <p:sp>
                                    <p:nvSpPr>
                                      <p:cNvPr id="12157" name="Line 394"/>
                                      <p:cNvSpPr/>
                                      <p:nvPr/>
                                    </p:nvSpPr>
                                    <p:spPr>
                                      <a:xfrm flipH="1">
                                        <a:off x="0" y="3"/>
                                        <a:ext cx="153" cy="102"/>
                                      </a:xfrm>
                                      <a:prstGeom prst="line">
                                        <a:avLst/>
                                      </a:prstGeom>
                                      <a:ln w="9525" cap="flat" cmpd="sng">
                                        <a:solidFill>
                                          <a:schemeClr val="tx1"/>
                                        </a:solidFill>
                                        <a:prstDash val="solid"/>
                                        <a:headEnd type="none" w="med" len="med"/>
                                        <a:tailEnd type="none" w="med" len="med"/>
                                      </a:ln>
                                    </p:spPr>
                                  </p:sp>
                                </p:grpSp>
                                <p:sp>
                                  <p:nvSpPr>
                                    <p:cNvPr id="12152" name="Line 395"/>
                                    <p:cNvSpPr/>
                                    <p:nvPr/>
                                  </p:nvSpPr>
                                  <p:spPr>
                                    <a:xfrm flipH="1">
                                      <a:off x="4" y="86"/>
                                      <a:ext cx="30" cy="0"/>
                                    </a:xfrm>
                                    <a:prstGeom prst="line">
                                      <a:avLst/>
                                    </a:prstGeom>
                                    <a:ln w="9525" cap="flat" cmpd="sng">
                                      <a:solidFill>
                                        <a:schemeClr val="tx1"/>
                                      </a:solidFill>
                                      <a:prstDash val="solid"/>
                                      <a:headEnd type="none" w="med" len="med"/>
                                      <a:tailEnd type="none" w="med" len="med"/>
                                    </a:ln>
                                  </p:spPr>
                                </p:sp>
                                <p:sp>
                                  <p:nvSpPr>
                                    <p:cNvPr id="12153" name="Line 396"/>
                                    <p:cNvSpPr/>
                                    <p:nvPr/>
                                  </p:nvSpPr>
                                  <p:spPr>
                                    <a:xfrm flipH="1" flipV="1">
                                      <a:off x="0" y="48"/>
                                      <a:ext cx="4" cy="37"/>
                                    </a:xfrm>
                                    <a:prstGeom prst="line">
                                      <a:avLst/>
                                    </a:prstGeom>
                                    <a:ln w="9525" cap="flat" cmpd="sng">
                                      <a:solidFill>
                                        <a:schemeClr val="tx1"/>
                                      </a:solidFill>
                                      <a:prstDash val="solid"/>
                                      <a:headEnd type="none" w="med" len="med"/>
                                      <a:tailEnd type="none" w="med" len="med"/>
                                    </a:ln>
                                  </p:spPr>
                                </p:sp>
                                <p:sp>
                                  <p:nvSpPr>
                                    <p:cNvPr id="12154" name="AutoShape 397"/>
                                    <p:cNvSpPr/>
                                    <p:nvPr/>
                                  </p:nvSpPr>
                                  <p:spPr>
                                    <a:xfrm>
                                      <a:off x="221" y="39"/>
                                      <a:ext cx="70" cy="5"/>
                                    </a:xfrm>
                                    <a:prstGeom prst="rtTriangle">
                                      <a:avLst/>
                                    </a:prstGeom>
                                    <a:solidFill>
                                      <a:srgbClr val="CC33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140" name="Line 398"/>
                                  <p:cNvSpPr/>
                                  <p:nvPr/>
                                </p:nvSpPr>
                                <p:spPr>
                                  <a:xfrm flipV="1">
                                    <a:off x="273" y="81"/>
                                    <a:ext cx="20" cy="5"/>
                                  </a:xfrm>
                                  <a:prstGeom prst="line">
                                    <a:avLst/>
                                  </a:prstGeom>
                                  <a:ln w="9525" cap="flat" cmpd="sng">
                                    <a:solidFill>
                                      <a:schemeClr val="tx1"/>
                                    </a:solidFill>
                                    <a:prstDash val="solid"/>
                                    <a:headEnd type="none" w="med" len="med"/>
                                    <a:tailEnd type="none" w="med" len="med"/>
                                  </a:ln>
                                </p:spPr>
                              </p:sp>
                            </p:grpSp>
                          </p:grpSp>
                        </p:grpSp>
                        <p:sp>
                          <p:nvSpPr>
                            <p:cNvPr id="12128" name="Rectangle 399"/>
                            <p:cNvSpPr/>
                            <p:nvPr/>
                          </p:nvSpPr>
                          <p:spPr>
                            <a:xfrm>
                              <a:off x="35" y="42"/>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29" name="Rectangle 400"/>
                            <p:cNvSpPr/>
                            <p:nvPr/>
                          </p:nvSpPr>
                          <p:spPr>
                            <a:xfrm>
                              <a:off x="257" y="56"/>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30" name="Rectangle 401"/>
                            <p:cNvSpPr/>
                            <p:nvPr/>
                          </p:nvSpPr>
                          <p:spPr>
                            <a:xfrm>
                              <a:off x="149" y="60"/>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16" name="Group 402"/>
                          <p:cNvGrpSpPr/>
                          <p:nvPr/>
                        </p:nvGrpSpPr>
                        <p:grpSpPr>
                          <a:xfrm>
                            <a:off x="3624" y="440"/>
                            <a:ext cx="294" cy="94"/>
                            <a:chOff x="0" y="0"/>
                            <a:chExt cx="294" cy="94"/>
                          </a:xfrm>
                        </p:grpSpPr>
                        <p:grpSp>
                          <p:nvGrpSpPr>
                            <p:cNvPr id="12086" name="Group 403"/>
                            <p:cNvGrpSpPr/>
                            <p:nvPr/>
                          </p:nvGrpSpPr>
                          <p:grpSpPr>
                            <a:xfrm>
                              <a:off x="0" y="0"/>
                              <a:ext cx="294" cy="94"/>
                              <a:chOff x="0" y="0"/>
                              <a:chExt cx="294" cy="94"/>
                            </a:xfrm>
                          </p:grpSpPr>
                          <p:sp>
                            <p:nvSpPr>
                              <p:cNvPr id="12090" name="Rectangle 404"/>
                              <p:cNvSpPr/>
                              <p:nvPr/>
                            </p:nvSpPr>
                            <p:spPr>
                              <a:xfrm>
                                <a:off x="283" y="52"/>
                                <a:ext cx="10" cy="29"/>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91" name="AutoShape 405"/>
                              <p:cNvSpPr/>
                              <p:nvPr/>
                            </p:nvSpPr>
                            <p:spPr>
                              <a:xfrm rot="-5400000">
                                <a:off x="57" y="1"/>
                                <a:ext cx="15" cy="53"/>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92" name="AutoShape 406"/>
                              <p:cNvSpPr/>
                              <p:nvPr/>
                            </p:nvSpPr>
                            <p:spPr>
                              <a:xfrm rot="-5400000">
                                <a:off x="14" y="21"/>
                                <a:ext cx="12" cy="40"/>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93" name="AutoShape 407"/>
                              <p:cNvSpPr/>
                              <p:nvPr/>
                            </p:nvSpPr>
                            <p:spPr>
                              <a:xfrm rot="10800000">
                                <a:off x="80" y="74"/>
                                <a:ext cx="21" cy="18"/>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094" name="Group 408"/>
                              <p:cNvGrpSpPr/>
                              <p:nvPr/>
                            </p:nvGrpSpPr>
                            <p:grpSpPr>
                              <a:xfrm>
                                <a:off x="0" y="0"/>
                                <a:ext cx="294" cy="94"/>
                                <a:chOff x="0" y="0"/>
                                <a:chExt cx="294" cy="94"/>
                              </a:xfrm>
                            </p:grpSpPr>
                            <p:grpSp>
                              <p:nvGrpSpPr>
                                <p:cNvPr id="12095" name="Group 409"/>
                                <p:cNvGrpSpPr/>
                                <p:nvPr/>
                              </p:nvGrpSpPr>
                              <p:grpSpPr>
                                <a:xfrm>
                                  <a:off x="3" y="0"/>
                                  <a:ext cx="282" cy="94"/>
                                  <a:chOff x="0" y="0"/>
                                  <a:chExt cx="282" cy="94"/>
                                </a:xfrm>
                              </p:grpSpPr>
                              <p:sp>
                                <p:nvSpPr>
                                  <p:cNvPr id="12117" name="AutoShape 410"/>
                                  <p:cNvSpPr/>
                                  <p:nvPr/>
                                </p:nvSpPr>
                                <p:spPr>
                                  <a:xfrm rot="5400000">
                                    <a:off x="166" y="70"/>
                                    <a:ext cx="21" cy="22"/>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18" name="Rectangle 411"/>
                                  <p:cNvSpPr/>
                                  <p:nvPr/>
                                </p:nvSpPr>
                                <p:spPr>
                                  <a:xfrm>
                                    <a:off x="89" y="0"/>
                                    <a:ext cx="72" cy="15"/>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19" name="Rectangle 412"/>
                                  <p:cNvSpPr/>
                                  <p:nvPr/>
                                </p:nvSpPr>
                                <p:spPr>
                                  <a:xfrm>
                                    <a:off x="37" y="37"/>
                                    <a:ext cx="61" cy="37"/>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20" name="Rectangle 413"/>
                                  <p:cNvSpPr/>
                                  <p:nvPr/>
                                </p:nvSpPr>
                                <p:spPr>
                                  <a:xfrm>
                                    <a:off x="167" y="37"/>
                                    <a:ext cx="51" cy="37"/>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21" name="Rectangle 414"/>
                                  <p:cNvSpPr/>
                                  <p:nvPr/>
                                </p:nvSpPr>
                                <p:spPr>
                                  <a:xfrm>
                                    <a:off x="98" y="37"/>
                                    <a:ext cx="69" cy="55"/>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22" name="Rectangle 415"/>
                                  <p:cNvSpPr/>
                                  <p:nvPr/>
                                </p:nvSpPr>
                                <p:spPr>
                                  <a:xfrm>
                                    <a:off x="218" y="44"/>
                                    <a:ext cx="64" cy="30"/>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23" name="Rectangle 416"/>
                                  <p:cNvSpPr/>
                                  <p:nvPr/>
                                </p:nvSpPr>
                                <p:spPr>
                                  <a:xfrm>
                                    <a:off x="232" y="72"/>
                                    <a:ext cx="40" cy="14"/>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24" name="Rectangle 417"/>
                                  <p:cNvSpPr/>
                                  <p:nvPr/>
                                </p:nvSpPr>
                                <p:spPr>
                                  <a:xfrm>
                                    <a:off x="0" y="46"/>
                                    <a:ext cx="34" cy="39"/>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25" name="AutoShape 418"/>
                                  <p:cNvSpPr/>
                                  <p:nvPr/>
                                </p:nvSpPr>
                                <p:spPr>
                                  <a:xfrm rot="-5400000">
                                    <a:off x="68" y="5"/>
                                    <a:ext cx="25" cy="15"/>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126" name="AutoShape 419"/>
                                  <p:cNvSpPr/>
                                  <p:nvPr/>
                                </p:nvSpPr>
                                <p:spPr>
                                  <a:xfrm>
                                    <a:off x="167" y="5"/>
                                    <a:ext cx="51" cy="37"/>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096" name="AutoShape 420"/>
                                <p:cNvSpPr/>
                                <p:nvPr/>
                              </p:nvSpPr>
                              <p:spPr>
                                <a:xfrm>
                                  <a:off x="92" y="15"/>
                                  <a:ext cx="79" cy="25"/>
                                </a:xfrm>
                                <a:prstGeom prst="roundRect">
                                  <a:avLst>
                                    <a:gd name="adj" fmla="val 16667"/>
                                  </a:avLst>
                                </a:prstGeom>
                                <a:solidFill>
                                  <a:srgbClr val="3366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097" name="Group 421"/>
                                <p:cNvGrpSpPr/>
                                <p:nvPr/>
                              </p:nvGrpSpPr>
                              <p:grpSpPr>
                                <a:xfrm>
                                  <a:off x="0" y="0"/>
                                  <a:ext cx="294" cy="92"/>
                                  <a:chOff x="0" y="0"/>
                                  <a:chExt cx="294" cy="92"/>
                                </a:xfrm>
                              </p:grpSpPr>
                              <p:grpSp>
                                <p:nvGrpSpPr>
                                  <p:cNvPr id="12098" name="Group 422"/>
                                  <p:cNvGrpSpPr/>
                                  <p:nvPr/>
                                </p:nvGrpSpPr>
                                <p:grpSpPr>
                                  <a:xfrm>
                                    <a:off x="0" y="0"/>
                                    <a:ext cx="294" cy="92"/>
                                    <a:chOff x="0" y="0"/>
                                    <a:chExt cx="294" cy="92"/>
                                  </a:xfrm>
                                </p:grpSpPr>
                                <p:sp>
                                  <p:nvSpPr>
                                    <p:cNvPr id="12100" name="Line 423"/>
                                    <p:cNvSpPr/>
                                    <p:nvPr/>
                                  </p:nvSpPr>
                                  <p:spPr>
                                    <a:xfrm flipV="1">
                                      <a:off x="1" y="27"/>
                                      <a:ext cx="75" cy="19"/>
                                    </a:xfrm>
                                    <a:prstGeom prst="line">
                                      <a:avLst/>
                                    </a:prstGeom>
                                    <a:ln w="9525" cap="flat" cmpd="sng">
                                      <a:solidFill>
                                        <a:schemeClr val="tx1"/>
                                      </a:solidFill>
                                      <a:prstDash val="solid"/>
                                      <a:headEnd type="none" w="med" len="med"/>
                                      <a:tailEnd type="none" w="med" len="med"/>
                                    </a:ln>
                                  </p:spPr>
                                </p:sp>
                                <p:sp>
                                  <p:nvSpPr>
                                    <p:cNvPr id="12101" name="Line 424"/>
                                    <p:cNvSpPr/>
                                    <p:nvPr/>
                                  </p:nvSpPr>
                                  <p:spPr>
                                    <a:xfrm flipV="1">
                                      <a:off x="77" y="0"/>
                                      <a:ext cx="15" cy="26"/>
                                    </a:xfrm>
                                    <a:prstGeom prst="line">
                                      <a:avLst/>
                                    </a:prstGeom>
                                    <a:ln w="9525" cap="flat" cmpd="sng">
                                      <a:solidFill>
                                        <a:schemeClr val="tx1"/>
                                      </a:solidFill>
                                      <a:prstDash val="solid"/>
                                      <a:headEnd type="none" w="med" len="med"/>
                                      <a:tailEnd type="none" w="med" len="med"/>
                                    </a:ln>
                                  </p:spPr>
                                </p:sp>
                                <p:sp>
                                  <p:nvSpPr>
                                    <p:cNvPr id="12102" name="Line 425"/>
                                    <p:cNvSpPr/>
                                    <p:nvPr/>
                                  </p:nvSpPr>
                                  <p:spPr>
                                    <a:xfrm>
                                      <a:off x="94" y="0"/>
                                      <a:ext cx="70" cy="0"/>
                                    </a:xfrm>
                                    <a:prstGeom prst="line">
                                      <a:avLst/>
                                    </a:prstGeom>
                                    <a:ln w="9525" cap="flat" cmpd="sng">
                                      <a:solidFill>
                                        <a:schemeClr val="tx1"/>
                                      </a:solidFill>
                                      <a:prstDash val="solid"/>
                                      <a:headEnd type="none" w="med" len="med"/>
                                      <a:tailEnd type="none" w="med" len="med"/>
                                    </a:ln>
                                  </p:spPr>
                                </p:sp>
                                <p:sp>
                                  <p:nvSpPr>
                                    <p:cNvPr id="12103" name="Line 426"/>
                                    <p:cNvSpPr/>
                                    <p:nvPr/>
                                  </p:nvSpPr>
                                  <p:spPr>
                                    <a:xfrm>
                                      <a:off x="164" y="0"/>
                                      <a:ext cx="50" cy="37"/>
                                    </a:xfrm>
                                    <a:prstGeom prst="line">
                                      <a:avLst/>
                                    </a:prstGeom>
                                    <a:ln w="9525" cap="flat" cmpd="sng">
                                      <a:solidFill>
                                        <a:schemeClr val="tx1"/>
                                      </a:solidFill>
                                      <a:prstDash val="solid"/>
                                      <a:headEnd type="none" w="med" len="med"/>
                                      <a:tailEnd type="none" w="med" len="med"/>
                                    </a:ln>
                                  </p:spPr>
                                </p:sp>
                                <p:sp>
                                  <p:nvSpPr>
                                    <p:cNvPr id="12104" name="Line 427"/>
                                    <p:cNvSpPr/>
                                    <p:nvPr/>
                                  </p:nvSpPr>
                                  <p:spPr>
                                    <a:xfrm>
                                      <a:off x="294" y="51"/>
                                      <a:ext cx="0" cy="30"/>
                                    </a:xfrm>
                                    <a:prstGeom prst="line">
                                      <a:avLst/>
                                    </a:prstGeom>
                                    <a:ln w="9525" cap="flat" cmpd="sng">
                                      <a:solidFill>
                                        <a:schemeClr val="tx1"/>
                                      </a:solidFill>
                                      <a:prstDash val="solid"/>
                                      <a:headEnd type="none" w="med" len="med"/>
                                      <a:tailEnd type="none" w="med" len="med"/>
                                    </a:ln>
                                  </p:spPr>
                                </p:sp>
                                <p:sp>
                                  <p:nvSpPr>
                                    <p:cNvPr id="12105" name="Line 428"/>
                                    <p:cNvSpPr/>
                                    <p:nvPr/>
                                  </p:nvSpPr>
                                  <p:spPr>
                                    <a:xfrm>
                                      <a:off x="104" y="92"/>
                                      <a:ext cx="70" cy="0"/>
                                    </a:xfrm>
                                    <a:prstGeom prst="line">
                                      <a:avLst/>
                                    </a:prstGeom>
                                    <a:ln w="9525" cap="flat" cmpd="sng">
                                      <a:solidFill>
                                        <a:schemeClr val="tx1"/>
                                      </a:solidFill>
                                      <a:prstDash val="solid"/>
                                      <a:headEnd type="none" w="med" len="med"/>
                                      <a:tailEnd type="none" w="med" len="med"/>
                                    </a:ln>
                                  </p:spPr>
                                </p:sp>
                                <p:sp>
                                  <p:nvSpPr>
                                    <p:cNvPr id="12106" name="Line 429"/>
                                    <p:cNvSpPr/>
                                    <p:nvPr/>
                                  </p:nvSpPr>
                                  <p:spPr>
                                    <a:xfrm flipV="1">
                                      <a:off x="174" y="74"/>
                                      <a:ext cx="20" cy="18"/>
                                    </a:xfrm>
                                    <a:prstGeom prst="line">
                                      <a:avLst/>
                                    </a:prstGeom>
                                    <a:ln w="9525" cap="flat" cmpd="sng">
                                      <a:solidFill>
                                        <a:schemeClr val="tx1"/>
                                      </a:solidFill>
                                      <a:prstDash val="solid"/>
                                      <a:headEnd type="none" w="med" len="med"/>
                                      <a:tailEnd type="none" w="med" len="med"/>
                                    </a:ln>
                                  </p:spPr>
                                </p:sp>
                                <p:sp>
                                  <p:nvSpPr>
                                    <p:cNvPr id="12107" name="Line 430"/>
                                    <p:cNvSpPr/>
                                    <p:nvPr/>
                                  </p:nvSpPr>
                                  <p:spPr>
                                    <a:xfrm>
                                      <a:off x="194" y="74"/>
                                      <a:ext cx="30" cy="0"/>
                                    </a:xfrm>
                                    <a:prstGeom prst="line">
                                      <a:avLst/>
                                    </a:prstGeom>
                                    <a:ln w="9525" cap="flat" cmpd="sng">
                                      <a:solidFill>
                                        <a:schemeClr val="tx1"/>
                                      </a:solidFill>
                                      <a:prstDash val="solid"/>
                                      <a:headEnd type="none" w="med" len="med"/>
                                      <a:tailEnd type="none" w="med" len="med"/>
                                    </a:ln>
                                  </p:spPr>
                                </p:sp>
                                <p:sp>
                                  <p:nvSpPr>
                                    <p:cNvPr id="12108" name="Line 431"/>
                                    <p:cNvSpPr/>
                                    <p:nvPr/>
                                  </p:nvSpPr>
                                  <p:spPr>
                                    <a:xfrm>
                                      <a:off x="224" y="74"/>
                                      <a:ext cx="14" cy="12"/>
                                    </a:xfrm>
                                    <a:prstGeom prst="line">
                                      <a:avLst/>
                                    </a:prstGeom>
                                    <a:ln w="9525" cap="flat" cmpd="sng">
                                      <a:solidFill>
                                        <a:schemeClr val="tx1"/>
                                      </a:solidFill>
                                      <a:prstDash val="solid"/>
                                      <a:headEnd type="none" w="med" len="med"/>
                                      <a:tailEnd type="none" w="med" len="med"/>
                                    </a:ln>
                                  </p:spPr>
                                </p:sp>
                                <p:sp>
                                  <p:nvSpPr>
                                    <p:cNvPr id="12109" name="Line 432"/>
                                    <p:cNvSpPr/>
                                    <p:nvPr/>
                                  </p:nvSpPr>
                                  <p:spPr>
                                    <a:xfrm>
                                      <a:off x="239" y="86"/>
                                      <a:ext cx="35" cy="0"/>
                                    </a:xfrm>
                                    <a:prstGeom prst="line">
                                      <a:avLst/>
                                    </a:prstGeom>
                                    <a:ln w="9525" cap="flat" cmpd="sng">
                                      <a:solidFill>
                                        <a:schemeClr val="tx1"/>
                                      </a:solidFill>
                                      <a:prstDash val="solid"/>
                                      <a:headEnd type="none" w="med" len="med"/>
                                      <a:tailEnd type="none" w="med" len="med"/>
                                    </a:ln>
                                  </p:spPr>
                                </p:sp>
                                <p:grpSp>
                                  <p:nvGrpSpPr>
                                    <p:cNvPr id="12110" name="Group 433"/>
                                    <p:cNvGrpSpPr/>
                                    <p:nvPr/>
                                  </p:nvGrpSpPr>
                                  <p:grpSpPr>
                                    <a:xfrm>
                                      <a:off x="35" y="74"/>
                                      <a:ext cx="67" cy="18"/>
                                      <a:chOff x="0" y="0"/>
                                      <a:chExt cx="696" cy="156"/>
                                    </a:xfrm>
                                  </p:grpSpPr>
                                  <p:sp>
                                    <p:nvSpPr>
                                      <p:cNvPr id="12114" name="Line 434"/>
                                      <p:cNvSpPr/>
                                      <p:nvPr/>
                                    </p:nvSpPr>
                                    <p:spPr>
                                      <a:xfrm flipH="1" flipV="1">
                                        <a:off x="486" y="0"/>
                                        <a:ext cx="210" cy="156"/>
                                      </a:xfrm>
                                      <a:prstGeom prst="line">
                                        <a:avLst/>
                                      </a:prstGeom>
                                      <a:ln w="9525" cap="flat" cmpd="sng">
                                        <a:solidFill>
                                          <a:schemeClr val="tx1"/>
                                        </a:solidFill>
                                        <a:prstDash val="solid"/>
                                        <a:headEnd type="none" w="med" len="med"/>
                                        <a:tailEnd type="none" w="med" len="med"/>
                                      </a:ln>
                                    </p:spPr>
                                  </p:sp>
                                  <p:sp>
                                    <p:nvSpPr>
                                      <p:cNvPr id="12115" name="Line 435"/>
                                      <p:cNvSpPr/>
                                      <p:nvPr/>
                                    </p:nvSpPr>
                                    <p:spPr>
                                      <a:xfrm>
                                        <a:off x="171" y="0"/>
                                        <a:ext cx="315" cy="0"/>
                                      </a:xfrm>
                                      <a:prstGeom prst="line">
                                        <a:avLst/>
                                      </a:prstGeom>
                                      <a:ln w="9525" cap="flat" cmpd="sng">
                                        <a:solidFill>
                                          <a:schemeClr val="tx1"/>
                                        </a:solidFill>
                                        <a:prstDash val="solid"/>
                                        <a:headEnd type="none" w="med" len="med"/>
                                        <a:tailEnd type="none" w="med" len="med"/>
                                      </a:ln>
                                    </p:spPr>
                                  </p:sp>
                                  <p:sp>
                                    <p:nvSpPr>
                                      <p:cNvPr id="12116" name="Line 436"/>
                                      <p:cNvSpPr/>
                                      <p:nvPr/>
                                    </p:nvSpPr>
                                    <p:spPr>
                                      <a:xfrm flipH="1">
                                        <a:off x="0" y="3"/>
                                        <a:ext cx="153" cy="102"/>
                                      </a:xfrm>
                                      <a:prstGeom prst="line">
                                        <a:avLst/>
                                      </a:prstGeom>
                                      <a:ln w="9525" cap="flat" cmpd="sng">
                                        <a:solidFill>
                                          <a:schemeClr val="tx1"/>
                                        </a:solidFill>
                                        <a:prstDash val="solid"/>
                                        <a:headEnd type="none" w="med" len="med"/>
                                        <a:tailEnd type="none" w="med" len="med"/>
                                      </a:ln>
                                    </p:spPr>
                                  </p:sp>
                                </p:grpSp>
                                <p:sp>
                                  <p:nvSpPr>
                                    <p:cNvPr id="12111" name="Line 437"/>
                                    <p:cNvSpPr/>
                                    <p:nvPr/>
                                  </p:nvSpPr>
                                  <p:spPr>
                                    <a:xfrm flipH="1">
                                      <a:off x="4" y="86"/>
                                      <a:ext cx="30" cy="0"/>
                                    </a:xfrm>
                                    <a:prstGeom prst="line">
                                      <a:avLst/>
                                    </a:prstGeom>
                                    <a:ln w="9525" cap="flat" cmpd="sng">
                                      <a:solidFill>
                                        <a:schemeClr val="tx1"/>
                                      </a:solidFill>
                                      <a:prstDash val="solid"/>
                                      <a:headEnd type="none" w="med" len="med"/>
                                      <a:tailEnd type="none" w="med" len="med"/>
                                    </a:ln>
                                  </p:spPr>
                                </p:sp>
                                <p:sp>
                                  <p:nvSpPr>
                                    <p:cNvPr id="12112" name="Line 438"/>
                                    <p:cNvSpPr/>
                                    <p:nvPr/>
                                  </p:nvSpPr>
                                  <p:spPr>
                                    <a:xfrm flipH="1" flipV="1">
                                      <a:off x="0" y="48"/>
                                      <a:ext cx="4" cy="37"/>
                                    </a:xfrm>
                                    <a:prstGeom prst="line">
                                      <a:avLst/>
                                    </a:prstGeom>
                                    <a:ln w="9525" cap="flat" cmpd="sng">
                                      <a:solidFill>
                                        <a:schemeClr val="tx1"/>
                                      </a:solidFill>
                                      <a:prstDash val="solid"/>
                                      <a:headEnd type="none" w="med" len="med"/>
                                      <a:tailEnd type="none" w="med" len="med"/>
                                    </a:ln>
                                  </p:spPr>
                                </p:sp>
                                <p:sp>
                                  <p:nvSpPr>
                                    <p:cNvPr id="12113" name="AutoShape 439"/>
                                    <p:cNvSpPr/>
                                    <p:nvPr/>
                                  </p:nvSpPr>
                                  <p:spPr>
                                    <a:xfrm>
                                      <a:off x="221" y="39"/>
                                      <a:ext cx="70" cy="5"/>
                                    </a:xfrm>
                                    <a:prstGeom prst="rtTriangle">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099" name="Line 440"/>
                                  <p:cNvSpPr/>
                                  <p:nvPr/>
                                </p:nvSpPr>
                                <p:spPr>
                                  <a:xfrm flipV="1">
                                    <a:off x="273" y="81"/>
                                    <a:ext cx="20" cy="5"/>
                                  </a:xfrm>
                                  <a:prstGeom prst="line">
                                    <a:avLst/>
                                  </a:prstGeom>
                                  <a:ln w="9525" cap="flat" cmpd="sng">
                                    <a:solidFill>
                                      <a:schemeClr val="tx1"/>
                                    </a:solidFill>
                                    <a:prstDash val="solid"/>
                                    <a:headEnd type="none" w="med" len="med"/>
                                    <a:tailEnd type="none" w="med" len="med"/>
                                  </a:ln>
                                </p:spPr>
                              </p:sp>
                            </p:grpSp>
                          </p:grpSp>
                        </p:grpSp>
                        <p:sp>
                          <p:nvSpPr>
                            <p:cNvPr id="12087" name="Rectangle 441"/>
                            <p:cNvSpPr/>
                            <p:nvPr/>
                          </p:nvSpPr>
                          <p:spPr>
                            <a:xfrm>
                              <a:off x="35" y="42"/>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88" name="Rectangle 442"/>
                            <p:cNvSpPr/>
                            <p:nvPr/>
                          </p:nvSpPr>
                          <p:spPr>
                            <a:xfrm>
                              <a:off x="257" y="56"/>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89" name="Rectangle 443"/>
                            <p:cNvSpPr/>
                            <p:nvPr/>
                          </p:nvSpPr>
                          <p:spPr>
                            <a:xfrm>
                              <a:off x="149" y="60"/>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17" name="Group 444"/>
                          <p:cNvGrpSpPr/>
                          <p:nvPr/>
                        </p:nvGrpSpPr>
                        <p:grpSpPr>
                          <a:xfrm>
                            <a:off x="3994" y="160"/>
                            <a:ext cx="294" cy="174"/>
                            <a:chOff x="0" y="0"/>
                            <a:chExt cx="294" cy="174"/>
                          </a:xfrm>
                        </p:grpSpPr>
                        <p:grpSp>
                          <p:nvGrpSpPr>
                            <p:cNvPr id="12060" name="Group 445"/>
                            <p:cNvGrpSpPr/>
                            <p:nvPr/>
                          </p:nvGrpSpPr>
                          <p:grpSpPr>
                            <a:xfrm>
                              <a:off x="80" y="0"/>
                              <a:ext cx="109" cy="99"/>
                              <a:chOff x="0" y="0"/>
                              <a:chExt cx="109" cy="99"/>
                            </a:xfrm>
                          </p:grpSpPr>
                          <p:sp>
                            <p:nvSpPr>
                              <p:cNvPr id="12083" name="Line 446"/>
                              <p:cNvSpPr/>
                              <p:nvPr/>
                            </p:nvSpPr>
                            <p:spPr>
                              <a:xfrm>
                                <a:off x="0" y="0"/>
                                <a:ext cx="0" cy="99"/>
                              </a:xfrm>
                              <a:prstGeom prst="line">
                                <a:avLst/>
                              </a:prstGeom>
                              <a:ln w="9525" cap="flat" cmpd="sng">
                                <a:solidFill>
                                  <a:schemeClr val="tx1"/>
                                </a:solidFill>
                                <a:prstDash val="solid"/>
                                <a:headEnd type="none" w="med" len="med"/>
                                <a:tailEnd type="none" w="med" len="med"/>
                              </a:ln>
                            </p:spPr>
                          </p:sp>
                          <p:sp>
                            <p:nvSpPr>
                              <p:cNvPr id="12084" name="Line 447"/>
                              <p:cNvSpPr/>
                              <p:nvPr/>
                            </p:nvSpPr>
                            <p:spPr>
                              <a:xfrm>
                                <a:off x="109" y="0"/>
                                <a:ext cx="0" cy="99"/>
                              </a:xfrm>
                              <a:prstGeom prst="line">
                                <a:avLst/>
                              </a:prstGeom>
                              <a:ln w="9525" cap="flat" cmpd="sng">
                                <a:solidFill>
                                  <a:schemeClr val="tx1"/>
                                </a:solidFill>
                                <a:prstDash val="solid"/>
                                <a:headEnd type="none" w="med" len="med"/>
                                <a:tailEnd type="none" w="med" len="med"/>
                              </a:ln>
                            </p:spPr>
                          </p:sp>
                          <p:sp>
                            <p:nvSpPr>
                              <p:cNvPr id="12085" name="Line 448"/>
                              <p:cNvSpPr/>
                              <p:nvPr/>
                            </p:nvSpPr>
                            <p:spPr>
                              <a:xfrm>
                                <a:off x="0" y="42"/>
                                <a:ext cx="109" cy="0"/>
                              </a:xfrm>
                              <a:prstGeom prst="line">
                                <a:avLst/>
                              </a:prstGeom>
                              <a:ln w="9525" cap="flat" cmpd="sng">
                                <a:solidFill>
                                  <a:schemeClr val="tx1"/>
                                </a:solidFill>
                                <a:prstDash val="solid"/>
                                <a:headEnd type="none" w="med" len="med"/>
                                <a:tailEnd type="none" w="med" len="med"/>
                              </a:ln>
                            </p:spPr>
                          </p:sp>
                        </p:grpSp>
                        <p:grpSp>
                          <p:nvGrpSpPr>
                            <p:cNvPr id="12061" name="Group 449"/>
                            <p:cNvGrpSpPr/>
                            <p:nvPr/>
                          </p:nvGrpSpPr>
                          <p:grpSpPr>
                            <a:xfrm>
                              <a:off x="0" y="80"/>
                              <a:ext cx="294" cy="94"/>
                              <a:chOff x="0" y="0"/>
                              <a:chExt cx="294" cy="94"/>
                            </a:xfrm>
                          </p:grpSpPr>
                          <p:grpSp>
                            <p:nvGrpSpPr>
                              <p:cNvPr id="12062" name="Group 450"/>
                              <p:cNvGrpSpPr/>
                              <p:nvPr/>
                            </p:nvGrpSpPr>
                            <p:grpSpPr>
                              <a:xfrm>
                                <a:off x="0" y="0"/>
                                <a:ext cx="294" cy="94"/>
                                <a:chOff x="0" y="0"/>
                                <a:chExt cx="294" cy="94"/>
                              </a:xfrm>
                            </p:grpSpPr>
                            <p:grpSp>
                              <p:nvGrpSpPr>
                                <p:cNvPr id="12064" name="Group 451"/>
                                <p:cNvGrpSpPr/>
                                <p:nvPr/>
                              </p:nvGrpSpPr>
                              <p:grpSpPr>
                                <a:xfrm>
                                  <a:off x="0" y="0"/>
                                  <a:ext cx="294" cy="94"/>
                                  <a:chOff x="0" y="0"/>
                                  <a:chExt cx="294" cy="94"/>
                                </a:xfrm>
                              </p:grpSpPr>
                              <p:sp>
                                <p:nvSpPr>
                                  <p:cNvPr id="12066" name="Line 452"/>
                                  <p:cNvSpPr/>
                                  <p:nvPr/>
                                </p:nvSpPr>
                                <p:spPr>
                                  <a:xfrm flipV="1">
                                    <a:off x="1" y="28"/>
                                    <a:ext cx="75" cy="19"/>
                                  </a:xfrm>
                                  <a:prstGeom prst="line">
                                    <a:avLst/>
                                  </a:prstGeom>
                                  <a:ln w="9525" cap="flat" cmpd="sng">
                                    <a:solidFill>
                                      <a:srgbClr val="800000"/>
                                    </a:solidFill>
                                    <a:prstDash val="solid"/>
                                    <a:headEnd type="none" w="med" len="med"/>
                                    <a:tailEnd type="none" w="med" len="med"/>
                                  </a:ln>
                                </p:spPr>
                              </p:sp>
                              <p:sp>
                                <p:nvSpPr>
                                  <p:cNvPr id="12067" name="Line 453"/>
                                  <p:cNvSpPr/>
                                  <p:nvPr/>
                                </p:nvSpPr>
                                <p:spPr>
                                  <a:xfrm flipV="1">
                                    <a:off x="77" y="1"/>
                                    <a:ext cx="15" cy="25"/>
                                  </a:xfrm>
                                  <a:prstGeom prst="line">
                                    <a:avLst/>
                                  </a:prstGeom>
                                  <a:ln w="9525" cap="flat" cmpd="sng">
                                    <a:solidFill>
                                      <a:srgbClr val="800000"/>
                                    </a:solidFill>
                                    <a:prstDash val="solid"/>
                                    <a:headEnd type="none" w="med" len="med"/>
                                    <a:tailEnd type="none" w="med" len="med"/>
                                  </a:ln>
                                </p:spPr>
                              </p:sp>
                              <p:sp>
                                <p:nvSpPr>
                                  <p:cNvPr id="12068" name="Line 454"/>
                                  <p:cNvSpPr/>
                                  <p:nvPr/>
                                </p:nvSpPr>
                                <p:spPr>
                                  <a:xfrm>
                                    <a:off x="93" y="0"/>
                                    <a:ext cx="70" cy="0"/>
                                  </a:xfrm>
                                  <a:prstGeom prst="line">
                                    <a:avLst/>
                                  </a:prstGeom>
                                  <a:ln w="9525" cap="flat" cmpd="sng">
                                    <a:solidFill>
                                      <a:srgbClr val="800000"/>
                                    </a:solidFill>
                                    <a:prstDash val="solid"/>
                                    <a:headEnd type="none" w="med" len="med"/>
                                    <a:tailEnd type="none" w="med" len="med"/>
                                  </a:ln>
                                </p:spPr>
                              </p:sp>
                              <p:sp>
                                <p:nvSpPr>
                                  <p:cNvPr id="12069" name="Line 455"/>
                                  <p:cNvSpPr/>
                                  <p:nvPr/>
                                </p:nvSpPr>
                                <p:spPr>
                                  <a:xfrm>
                                    <a:off x="163" y="0"/>
                                    <a:ext cx="50" cy="38"/>
                                  </a:xfrm>
                                  <a:prstGeom prst="line">
                                    <a:avLst/>
                                  </a:prstGeom>
                                  <a:ln w="9525" cap="flat" cmpd="sng">
                                    <a:solidFill>
                                      <a:srgbClr val="800000"/>
                                    </a:solidFill>
                                    <a:prstDash val="solid"/>
                                    <a:headEnd type="none" w="med" len="med"/>
                                    <a:tailEnd type="none" w="med" len="med"/>
                                  </a:ln>
                                </p:spPr>
                              </p:sp>
                              <p:sp>
                                <p:nvSpPr>
                                  <p:cNvPr id="12070" name="Line 456"/>
                                  <p:cNvSpPr/>
                                  <p:nvPr/>
                                </p:nvSpPr>
                                <p:spPr>
                                  <a:xfrm>
                                    <a:off x="213" y="38"/>
                                    <a:ext cx="74" cy="7"/>
                                  </a:xfrm>
                                  <a:prstGeom prst="line">
                                    <a:avLst/>
                                  </a:prstGeom>
                                  <a:ln w="9525" cap="flat" cmpd="sng">
                                    <a:solidFill>
                                      <a:srgbClr val="800000"/>
                                    </a:solidFill>
                                    <a:prstDash val="solid"/>
                                    <a:headEnd type="none" w="med" len="med"/>
                                    <a:tailEnd type="none" w="med" len="med"/>
                                  </a:ln>
                                </p:spPr>
                              </p:sp>
                              <p:sp>
                                <p:nvSpPr>
                                  <p:cNvPr id="12071" name="Line 457"/>
                                  <p:cNvSpPr/>
                                  <p:nvPr/>
                                </p:nvSpPr>
                                <p:spPr>
                                  <a:xfrm>
                                    <a:off x="294" y="52"/>
                                    <a:ext cx="0" cy="31"/>
                                  </a:xfrm>
                                  <a:prstGeom prst="line">
                                    <a:avLst/>
                                  </a:prstGeom>
                                  <a:ln w="9525" cap="flat" cmpd="sng">
                                    <a:solidFill>
                                      <a:srgbClr val="800000"/>
                                    </a:solidFill>
                                    <a:prstDash val="solid"/>
                                    <a:headEnd type="none" w="med" len="med"/>
                                    <a:tailEnd type="none" w="med" len="med"/>
                                  </a:ln>
                                </p:spPr>
                              </p:sp>
                              <p:sp>
                                <p:nvSpPr>
                                  <p:cNvPr id="12072" name="Line 458"/>
                                  <p:cNvSpPr/>
                                  <p:nvPr/>
                                </p:nvSpPr>
                                <p:spPr>
                                  <a:xfrm>
                                    <a:off x="104" y="94"/>
                                    <a:ext cx="69" cy="0"/>
                                  </a:xfrm>
                                  <a:prstGeom prst="line">
                                    <a:avLst/>
                                  </a:prstGeom>
                                  <a:ln w="9525" cap="flat" cmpd="sng">
                                    <a:solidFill>
                                      <a:srgbClr val="800000"/>
                                    </a:solidFill>
                                    <a:prstDash val="solid"/>
                                    <a:headEnd type="none" w="med" len="med"/>
                                    <a:tailEnd type="none" w="med" len="med"/>
                                  </a:ln>
                                </p:spPr>
                              </p:sp>
                              <p:sp>
                                <p:nvSpPr>
                                  <p:cNvPr id="12073" name="Line 459"/>
                                  <p:cNvSpPr/>
                                  <p:nvPr/>
                                </p:nvSpPr>
                                <p:spPr>
                                  <a:xfrm flipV="1">
                                    <a:off x="173" y="76"/>
                                    <a:ext cx="20" cy="18"/>
                                  </a:xfrm>
                                  <a:prstGeom prst="line">
                                    <a:avLst/>
                                  </a:prstGeom>
                                  <a:ln w="9525" cap="flat" cmpd="sng">
                                    <a:solidFill>
                                      <a:srgbClr val="800000"/>
                                    </a:solidFill>
                                    <a:prstDash val="solid"/>
                                    <a:headEnd type="none" w="med" len="med"/>
                                    <a:tailEnd type="none" w="med" len="med"/>
                                  </a:ln>
                                </p:spPr>
                              </p:sp>
                              <p:sp>
                                <p:nvSpPr>
                                  <p:cNvPr id="12074" name="Line 460"/>
                                  <p:cNvSpPr/>
                                  <p:nvPr/>
                                </p:nvSpPr>
                                <p:spPr>
                                  <a:xfrm>
                                    <a:off x="193" y="76"/>
                                    <a:ext cx="30" cy="0"/>
                                  </a:xfrm>
                                  <a:prstGeom prst="line">
                                    <a:avLst/>
                                  </a:prstGeom>
                                  <a:ln w="9525" cap="flat" cmpd="sng">
                                    <a:solidFill>
                                      <a:srgbClr val="800000"/>
                                    </a:solidFill>
                                    <a:prstDash val="solid"/>
                                    <a:headEnd type="none" w="med" len="med"/>
                                    <a:tailEnd type="none" w="med" len="med"/>
                                  </a:ln>
                                </p:spPr>
                              </p:sp>
                              <p:sp>
                                <p:nvSpPr>
                                  <p:cNvPr id="12075" name="Line 461"/>
                                  <p:cNvSpPr/>
                                  <p:nvPr/>
                                </p:nvSpPr>
                                <p:spPr>
                                  <a:xfrm>
                                    <a:off x="223" y="76"/>
                                    <a:ext cx="15" cy="12"/>
                                  </a:xfrm>
                                  <a:prstGeom prst="line">
                                    <a:avLst/>
                                  </a:prstGeom>
                                  <a:ln w="9525" cap="flat" cmpd="sng">
                                    <a:solidFill>
                                      <a:srgbClr val="800000"/>
                                    </a:solidFill>
                                    <a:prstDash val="solid"/>
                                    <a:headEnd type="none" w="med" len="med"/>
                                    <a:tailEnd type="none" w="med" len="med"/>
                                  </a:ln>
                                </p:spPr>
                              </p:sp>
                              <p:sp>
                                <p:nvSpPr>
                                  <p:cNvPr id="12076" name="Line 462"/>
                                  <p:cNvSpPr/>
                                  <p:nvPr/>
                                </p:nvSpPr>
                                <p:spPr>
                                  <a:xfrm>
                                    <a:off x="239" y="88"/>
                                    <a:ext cx="34" cy="0"/>
                                  </a:xfrm>
                                  <a:prstGeom prst="line">
                                    <a:avLst/>
                                  </a:prstGeom>
                                  <a:ln w="9525" cap="flat" cmpd="sng">
                                    <a:solidFill>
                                      <a:srgbClr val="800000"/>
                                    </a:solidFill>
                                    <a:prstDash val="solid"/>
                                    <a:headEnd type="none" w="med" len="med"/>
                                    <a:tailEnd type="none" w="med" len="med"/>
                                  </a:ln>
                                </p:spPr>
                              </p:sp>
                              <p:sp>
                                <p:nvSpPr>
                                  <p:cNvPr id="12077" name="Line 463"/>
                                  <p:cNvSpPr/>
                                  <p:nvPr/>
                                </p:nvSpPr>
                                <p:spPr>
                                  <a:xfrm flipV="1">
                                    <a:off x="272" y="83"/>
                                    <a:ext cx="21" cy="5"/>
                                  </a:xfrm>
                                  <a:prstGeom prst="line">
                                    <a:avLst/>
                                  </a:prstGeom>
                                  <a:ln w="9525" cap="flat" cmpd="sng">
                                    <a:solidFill>
                                      <a:srgbClr val="800000"/>
                                    </a:solidFill>
                                    <a:prstDash val="solid"/>
                                    <a:headEnd type="none" w="med" len="med"/>
                                    <a:tailEnd type="none" w="med" len="med"/>
                                  </a:ln>
                                </p:spPr>
                              </p:sp>
                              <p:sp>
                                <p:nvSpPr>
                                  <p:cNvPr id="12078" name="Line 464"/>
                                  <p:cNvSpPr/>
                                  <p:nvPr/>
                                </p:nvSpPr>
                                <p:spPr>
                                  <a:xfrm flipH="1" flipV="1">
                                    <a:off x="81" y="76"/>
                                    <a:ext cx="21" cy="18"/>
                                  </a:xfrm>
                                  <a:prstGeom prst="line">
                                    <a:avLst/>
                                  </a:prstGeom>
                                  <a:ln w="9525" cap="flat" cmpd="sng">
                                    <a:solidFill>
                                      <a:srgbClr val="800000"/>
                                    </a:solidFill>
                                    <a:prstDash val="solid"/>
                                    <a:headEnd type="none" w="med" len="med"/>
                                    <a:tailEnd type="none" w="med" len="med"/>
                                  </a:ln>
                                </p:spPr>
                              </p:sp>
                              <p:sp>
                                <p:nvSpPr>
                                  <p:cNvPr id="12079" name="Line 465"/>
                                  <p:cNvSpPr/>
                                  <p:nvPr/>
                                </p:nvSpPr>
                                <p:spPr>
                                  <a:xfrm>
                                    <a:off x="51" y="76"/>
                                    <a:ext cx="30" cy="0"/>
                                  </a:xfrm>
                                  <a:prstGeom prst="line">
                                    <a:avLst/>
                                  </a:prstGeom>
                                  <a:ln w="9525" cap="flat" cmpd="sng">
                                    <a:solidFill>
                                      <a:srgbClr val="800000"/>
                                    </a:solidFill>
                                    <a:prstDash val="solid"/>
                                    <a:headEnd type="none" w="med" len="med"/>
                                    <a:tailEnd type="none" w="med" len="med"/>
                                  </a:ln>
                                </p:spPr>
                              </p:sp>
                              <p:sp>
                                <p:nvSpPr>
                                  <p:cNvPr id="12080" name="Line 466"/>
                                  <p:cNvSpPr/>
                                  <p:nvPr/>
                                </p:nvSpPr>
                                <p:spPr>
                                  <a:xfrm flipH="1">
                                    <a:off x="35" y="76"/>
                                    <a:ext cx="15" cy="12"/>
                                  </a:xfrm>
                                  <a:prstGeom prst="line">
                                    <a:avLst/>
                                  </a:prstGeom>
                                  <a:ln w="9525" cap="flat" cmpd="sng">
                                    <a:solidFill>
                                      <a:srgbClr val="800000"/>
                                    </a:solidFill>
                                    <a:prstDash val="solid"/>
                                    <a:headEnd type="none" w="med" len="med"/>
                                    <a:tailEnd type="none" w="med" len="med"/>
                                  </a:ln>
                                </p:spPr>
                              </p:sp>
                              <p:sp>
                                <p:nvSpPr>
                                  <p:cNvPr id="12081" name="Line 467"/>
                                  <p:cNvSpPr/>
                                  <p:nvPr/>
                                </p:nvSpPr>
                                <p:spPr>
                                  <a:xfrm flipH="1">
                                    <a:off x="3" y="88"/>
                                    <a:ext cx="31" cy="0"/>
                                  </a:xfrm>
                                  <a:prstGeom prst="line">
                                    <a:avLst/>
                                  </a:prstGeom>
                                  <a:ln w="9525" cap="flat" cmpd="sng">
                                    <a:solidFill>
                                      <a:srgbClr val="800000"/>
                                    </a:solidFill>
                                    <a:prstDash val="solid"/>
                                    <a:headEnd type="none" w="med" len="med"/>
                                    <a:tailEnd type="none" w="med" len="med"/>
                                  </a:ln>
                                </p:spPr>
                              </p:sp>
                              <p:sp>
                                <p:nvSpPr>
                                  <p:cNvPr id="12082" name="Line 468"/>
                                  <p:cNvSpPr/>
                                  <p:nvPr/>
                                </p:nvSpPr>
                                <p:spPr>
                                  <a:xfrm flipH="1" flipV="1">
                                    <a:off x="0" y="49"/>
                                    <a:ext cx="3" cy="37"/>
                                  </a:xfrm>
                                  <a:prstGeom prst="line">
                                    <a:avLst/>
                                  </a:prstGeom>
                                  <a:ln w="9525" cap="flat" cmpd="sng">
                                    <a:solidFill>
                                      <a:srgbClr val="800000"/>
                                    </a:solidFill>
                                    <a:prstDash val="solid"/>
                                    <a:headEnd type="none" w="med" len="med"/>
                                    <a:tailEnd type="none" w="med" len="med"/>
                                  </a:ln>
                                </p:spPr>
                              </p:sp>
                            </p:grpSp>
                            <p:sp>
                              <p:nvSpPr>
                                <p:cNvPr id="12065" name="Line 469"/>
                                <p:cNvSpPr/>
                                <p:nvPr/>
                              </p:nvSpPr>
                              <p:spPr>
                                <a:xfrm>
                                  <a:off x="286" y="44"/>
                                  <a:ext cx="7" cy="9"/>
                                </a:xfrm>
                                <a:prstGeom prst="line">
                                  <a:avLst/>
                                </a:prstGeom>
                                <a:ln w="9525" cap="flat" cmpd="sng">
                                  <a:solidFill>
                                    <a:srgbClr val="800000"/>
                                  </a:solidFill>
                                  <a:prstDash val="solid"/>
                                  <a:headEnd type="none" w="med" len="med"/>
                                  <a:tailEnd type="none" w="med" len="med"/>
                                </a:ln>
                              </p:spPr>
                            </p:sp>
                          </p:grpSp>
                          <p:sp>
                            <p:nvSpPr>
                              <p:cNvPr id="12063" name="AutoShape 470"/>
                              <p:cNvSpPr/>
                              <p:nvPr/>
                            </p:nvSpPr>
                            <p:spPr>
                              <a:xfrm>
                                <a:off x="93" y="15"/>
                                <a:ext cx="76" cy="23"/>
                              </a:xfrm>
                              <a:prstGeom prst="roundRect">
                                <a:avLst>
                                  <a:gd name="adj" fmla="val 16667"/>
                                </a:avLst>
                              </a:prstGeom>
                              <a:solidFill>
                                <a:srgbClr val="000099"/>
                              </a:solidFill>
                              <a:ln w="9525" cap="flat" cmpd="sng">
                                <a:solidFill>
                                  <a:srgbClr val="800000"/>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nvGrpSpPr>
                          <p:cNvPr id="11318" name="Group 471"/>
                          <p:cNvGrpSpPr/>
                          <p:nvPr/>
                        </p:nvGrpSpPr>
                        <p:grpSpPr>
                          <a:xfrm>
                            <a:off x="4368" y="252"/>
                            <a:ext cx="294" cy="94"/>
                            <a:chOff x="0" y="0"/>
                            <a:chExt cx="294" cy="94"/>
                          </a:xfrm>
                        </p:grpSpPr>
                        <p:grpSp>
                          <p:nvGrpSpPr>
                            <p:cNvPr id="12019" name="Group 472"/>
                            <p:cNvGrpSpPr/>
                            <p:nvPr/>
                          </p:nvGrpSpPr>
                          <p:grpSpPr>
                            <a:xfrm>
                              <a:off x="0" y="0"/>
                              <a:ext cx="294" cy="94"/>
                              <a:chOff x="0" y="0"/>
                              <a:chExt cx="294" cy="94"/>
                            </a:xfrm>
                          </p:grpSpPr>
                          <p:sp>
                            <p:nvSpPr>
                              <p:cNvPr id="12023" name="Rectangle 473"/>
                              <p:cNvSpPr/>
                              <p:nvPr/>
                            </p:nvSpPr>
                            <p:spPr>
                              <a:xfrm>
                                <a:off x="283" y="52"/>
                                <a:ext cx="10" cy="29"/>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24" name="AutoShape 474"/>
                              <p:cNvSpPr/>
                              <p:nvPr/>
                            </p:nvSpPr>
                            <p:spPr>
                              <a:xfrm rot="-5400000">
                                <a:off x="57" y="1"/>
                                <a:ext cx="15" cy="53"/>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25" name="AutoShape 475"/>
                              <p:cNvSpPr/>
                              <p:nvPr/>
                            </p:nvSpPr>
                            <p:spPr>
                              <a:xfrm rot="-5400000">
                                <a:off x="14" y="21"/>
                                <a:ext cx="12" cy="40"/>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26" name="AutoShape 476"/>
                              <p:cNvSpPr/>
                              <p:nvPr/>
                            </p:nvSpPr>
                            <p:spPr>
                              <a:xfrm rot="10800000">
                                <a:off x="80" y="74"/>
                                <a:ext cx="21" cy="18"/>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027" name="Group 477"/>
                              <p:cNvGrpSpPr/>
                              <p:nvPr/>
                            </p:nvGrpSpPr>
                            <p:grpSpPr>
                              <a:xfrm>
                                <a:off x="0" y="0"/>
                                <a:ext cx="294" cy="94"/>
                                <a:chOff x="0" y="0"/>
                                <a:chExt cx="294" cy="94"/>
                              </a:xfrm>
                            </p:grpSpPr>
                            <p:grpSp>
                              <p:nvGrpSpPr>
                                <p:cNvPr id="12028" name="Group 478"/>
                                <p:cNvGrpSpPr/>
                                <p:nvPr/>
                              </p:nvGrpSpPr>
                              <p:grpSpPr>
                                <a:xfrm>
                                  <a:off x="3" y="0"/>
                                  <a:ext cx="282" cy="94"/>
                                  <a:chOff x="0" y="0"/>
                                  <a:chExt cx="282" cy="94"/>
                                </a:xfrm>
                              </p:grpSpPr>
                              <p:sp>
                                <p:nvSpPr>
                                  <p:cNvPr id="12050" name="AutoShape 479"/>
                                  <p:cNvSpPr/>
                                  <p:nvPr/>
                                </p:nvSpPr>
                                <p:spPr>
                                  <a:xfrm rot="5400000">
                                    <a:off x="166" y="70"/>
                                    <a:ext cx="21" cy="22"/>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51" name="Rectangle 480"/>
                                  <p:cNvSpPr/>
                                  <p:nvPr/>
                                </p:nvSpPr>
                                <p:spPr>
                                  <a:xfrm>
                                    <a:off x="89" y="0"/>
                                    <a:ext cx="72" cy="15"/>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52" name="Rectangle 481"/>
                                  <p:cNvSpPr/>
                                  <p:nvPr/>
                                </p:nvSpPr>
                                <p:spPr>
                                  <a:xfrm>
                                    <a:off x="37" y="37"/>
                                    <a:ext cx="61" cy="37"/>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53" name="Rectangle 482"/>
                                  <p:cNvSpPr/>
                                  <p:nvPr/>
                                </p:nvSpPr>
                                <p:spPr>
                                  <a:xfrm>
                                    <a:off x="167" y="37"/>
                                    <a:ext cx="51" cy="37"/>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54" name="Rectangle 483"/>
                                  <p:cNvSpPr/>
                                  <p:nvPr/>
                                </p:nvSpPr>
                                <p:spPr>
                                  <a:xfrm>
                                    <a:off x="98" y="37"/>
                                    <a:ext cx="69" cy="55"/>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55" name="Rectangle 484"/>
                                  <p:cNvSpPr/>
                                  <p:nvPr/>
                                </p:nvSpPr>
                                <p:spPr>
                                  <a:xfrm>
                                    <a:off x="218" y="44"/>
                                    <a:ext cx="64" cy="30"/>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56" name="Rectangle 485"/>
                                  <p:cNvSpPr/>
                                  <p:nvPr/>
                                </p:nvSpPr>
                                <p:spPr>
                                  <a:xfrm>
                                    <a:off x="232" y="72"/>
                                    <a:ext cx="40" cy="14"/>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57" name="Rectangle 486"/>
                                  <p:cNvSpPr/>
                                  <p:nvPr/>
                                </p:nvSpPr>
                                <p:spPr>
                                  <a:xfrm>
                                    <a:off x="0" y="46"/>
                                    <a:ext cx="34" cy="39"/>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58" name="AutoShape 487"/>
                                  <p:cNvSpPr/>
                                  <p:nvPr/>
                                </p:nvSpPr>
                                <p:spPr>
                                  <a:xfrm rot="-5400000">
                                    <a:off x="68" y="5"/>
                                    <a:ext cx="25" cy="15"/>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59" name="AutoShape 488"/>
                                  <p:cNvSpPr/>
                                  <p:nvPr/>
                                </p:nvSpPr>
                                <p:spPr>
                                  <a:xfrm>
                                    <a:off x="167" y="5"/>
                                    <a:ext cx="51" cy="37"/>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029" name="AutoShape 489"/>
                                <p:cNvSpPr/>
                                <p:nvPr/>
                              </p:nvSpPr>
                              <p:spPr>
                                <a:xfrm>
                                  <a:off x="92" y="15"/>
                                  <a:ext cx="79" cy="25"/>
                                </a:xfrm>
                                <a:prstGeom prst="roundRect">
                                  <a:avLst>
                                    <a:gd name="adj" fmla="val 16667"/>
                                  </a:avLst>
                                </a:prstGeom>
                                <a:solidFill>
                                  <a:srgbClr val="3366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2030" name="Group 490"/>
                                <p:cNvGrpSpPr/>
                                <p:nvPr/>
                              </p:nvGrpSpPr>
                              <p:grpSpPr>
                                <a:xfrm>
                                  <a:off x="0" y="0"/>
                                  <a:ext cx="294" cy="92"/>
                                  <a:chOff x="0" y="0"/>
                                  <a:chExt cx="294" cy="92"/>
                                </a:xfrm>
                              </p:grpSpPr>
                              <p:grpSp>
                                <p:nvGrpSpPr>
                                  <p:cNvPr id="12031" name="Group 491"/>
                                  <p:cNvGrpSpPr/>
                                  <p:nvPr/>
                                </p:nvGrpSpPr>
                                <p:grpSpPr>
                                  <a:xfrm>
                                    <a:off x="0" y="0"/>
                                    <a:ext cx="294" cy="92"/>
                                    <a:chOff x="0" y="0"/>
                                    <a:chExt cx="294" cy="92"/>
                                  </a:xfrm>
                                </p:grpSpPr>
                                <p:sp>
                                  <p:nvSpPr>
                                    <p:cNvPr id="12033" name="Line 492"/>
                                    <p:cNvSpPr/>
                                    <p:nvPr/>
                                  </p:nvSpPr>
                                  <p:spPr>
                                    <a:xfrm flipV="1">
                                      <a:off x="1" y="27"/>
                                      <a:ext cx="75" cy="19"/>
                                    </a:xfrm>
                                    <a:prstGeom prst="line">
                                      <a:avLst/>
                                    </a:prstGeom>
                                    <a:ln w="9525" cap="flat" cmpd="sng">
                                      <a:solidFill>
                                        <a:schemeClr val="tx1"/>
                                      </a:solidFill>
                                      <a:prstDash val="solid"/>
                                      <a:headEnd type="none" w="med" len="med"/>
                                      <a:tailEnd type="none" w="med" len="med"/>
                                    </a:ln>
                                  </p:spPr>
                                </p:sp>
                                <p:sp>
                                  <p:nvSpPr>
                                    <p:cNvPr id="12034" name="Line 493"/>
                                    <p:cNvSpPr/>
                                    <p:nvPr/>
                                  </p:nvSpPr>
                                  <p:spPr>
                                    <a:xfrm flipV="1">
                                      <a:off x="77" y="0"/>
                                      <a:ext cx="15" cy="26"/>
                                    </a:xfrm>
                                    <a:prstGeom prst="line">
                                      <a:avLst/>
                                    </a:prstGeom>
                                    <a:ln w="9525" cap="flat" cmpd="sng">
                                      <a:solidFill>
                                        <a:schemeClr val="tx1"/>
                                      </a:solidFill>
                                      <a:prstDash val="solid"/>
                                      <a:headEnd type="none" w="med" len="med"/>
                                      <a:tailEnd type="none" w="med" len="med"/>
                                    </a:ln>
                                  </p:spPr>
                                </p:sp>
                                <p:sp>
                                  <p:nvSpPr>
                                    <p:cNvPr id="12035" name="Line 494"/>
                                    <p:cNvSpPr/>
                                    <p:nvPr/>
                                  </p:nvSpPr>
                                  <p:spPr>
                                    <a:xfrm>
                                      <a:off x="94" y="0"/>
                                      <a:ext cx="70" cy="0"/>
                                    </a:xfrm>
                                    <a:prstGeom prst="line">
                                      <a:avLst/>
                                    </a:prstGeom>
                                    <a:ln w="9525" cap="flat" cmpd="sng">
                                      <a:solidFill>
                                        <a:schemeClr val="tx1"/>
                                      </a:solidFill>
                                      <a:prstDash val="solid"/>
                                      <a:headEnd type="none" w="med" len="med"/>
                                      <a:tailEnd type="none" w="med" len="med"/>
                                    </a:ln>
                                  </p:spPr>
                                </p:sp>
                                <p:sp>
                                  <p:nvSpPr>
                                    <p:cNvPr id="12036" name="Line 495"/>
                                    <p:cNvSpPr/>
                                    <p:nvPr/>
                                  </p:nvSpPr>
                                  <p:spPr>
                                    <a:xfrm>
                                      <a:off x="164" y="0"/>
                                      <a:ext cx="50" cy="37"/>
                                    </a:xfrm>
                                    <a:prstGeom prst="line">
                                      <a:avLst/>
                                    </a:prstGeom>
                                    <a:ln w="9525" cap="flat" cmpd="sng">
                                      <a:solidFill>
                                        <a:schemeClr val="tx1"/>
                                      </a:solidFill>
                                      <a:prstDash val="solid"/>
                                      <a:headEnd type="none" w="med" len="med"/>
                                      <a:tailEnd type="none" w="med" len="med"/>
                                    </a:ln>
                                  </p:spPr>
                                </p:sp>
                                <p:sp>
                                  <p:nvSpPr>
                                    <p:cNvPr id="12037" name="Line 496"/>
                                    <p:cNvSpPr/>
                                    <p:nvPr/>
                                  </p:nvSpPr>
                                  <p:spPr>
                                    <a:xfrm>
                                      <a:off x="294" y="51"/>
                                      <a:ext cx="0" cy="30"/>
                                    </a:xfrm>
                                    <a:prstGeom prst="line">
                                      <a:avLst/>
                                    </a:prstGeom>
                                    <a:ln w="9525" cap="flat" cmpd="sng">
                                      <a:solidFill>
                                        <a:schemeClr val="tx1"/>
                                      </a:solidFill>
                                      <a:prstDash val="solid"/>
                                      <a:headEnd type="none" w="med" len="med"/>
                                      <a:tailEnd type="none" w="med" len="med"/>
                                    </a:ln>
                                  </p:spPr>
                                </p:sp>
                                <p:sp>
                                  <p:nvSpPr>
                                    <p:cNvPr id="12038" name="Line 497"/>
                                    <p:cNvSpPr/>
                                    <p:nvPr/>
                                  </p:nvSpPr>
                                  <p:spPr>
                                    <a:xfrm>
                                      <a:off x="104" y="92"/>
                                      <a:ext cx="70" cy="0"/>
                                    </a:xfrm>
                                    <a:prstGeom prst="line">
                                      <a:avLst/>
                                    </a:prstGeom>
                                    <a:ln w="9525" cap="flat" cmpd="sng">
                                      <a:solidFill>
                                        <a:schemeClr val="tx1"/>
                                      </a:solidFill>
                                      <a:prstDash val="solid"/>
                                      <a:headEnd type="none" w="med" len="med"/>
                                      <a:tailEnd type="none" w="med" len="med"/>
                                    </a:ln>
                                  </p:spPr>
                                </p:sp>
                                <p:sp>
                                  <p:nvSpPr>
                                    <p:cNvPr id="12039" name="Line 498"/>
                                    <p:cNvSpPr/>
                                    <p:nvPr/>
                                  </p:nvSpPr>
                                  <p:spPr>
                                    <a:xfrm flipV="1">
                                      <a:off x="174" y="74"/>
                                      <a:ext cx="20" cy="18"/>
                                    </a:xfrm>
                                    <a:prstGeom prst="line">
                                      <a:avLst/>
                                    </a:prstGeom>
                                    <a:ln w="9525" cap="flat" cmpd="sng">
                                      <a:solidFill>
                                        <a:schemeClr val="tx1"/>
                                      </a:solidFill>
                                      <a:prstDash val="solid"/>
                                      <a:headEnd type="none" w="med" len="med"/>
                                      <a:tailEnd type="none" w="med" len="med"/>
                                    </a:ln>
                                  </p:spPr>
                                </p:sp>
                                <p:sp>
                                  <p:nvSpPr>
                                    <p:cNvPr id="12040" name="Line 499"/>
                                    <p:cNvSpPr/>
                                    <p:nvPr/>
                                  </p:nvSpPr>
                                  <p:spPr>
                                    <a:xfrm>
                                      <a:off x="194" y="74"/>
                                      <a:ext cx="30" cy="0"/>
                                    </a:xfrm>
                                    <a:prstGeom prst="line">
                                      <a:avLst/>
                                    </a:prstGeom>
                                    <a:ln w="9525" cap="flat" cmpd="sng">
                                      <a:solidFill>
                                        <a:schemeClr val="tx1"/>
                                      </a:solidFill>
                                      <a:prstDash val="solid"/>
                                      <a:headEnd type="none" w="med" len="med"/>
                                      <a:tailEnd type="none" w="med" len="med"/>
                                    </a:ln>
                                  </p:spPr>
                                </p:sp>
                                <p:sp>
                                  <p:nvSpPr>
                                    <p:cNvPr id="12041" name="Line 500"/>
                                    <p:cNvSpPr/>
                                    <p:nvPr/>
                                  </p:nvSpPr>
                                  <p:spPr>
                                    <a:xfrm>
                                      <a:off x="224" y="74"/>
                                      <a:ext cx="14" cy="12"/>
                                    </a:xfrm>
                                    <a:prstGeom prst="line">
                                      <a:avLst/>
                                    </a:prstGeom>
                                    <a:ln w="9525" cap="flat" cmpd="sng">
                                      <a:solidFill>
                                        <a:schemeClr val="tx1"/>
                                      </a:solidFill>
                                      <a:prstDash val="solid"/>
                                      <a:headEnd type="none" w="med" len="med"/>
                                      <a:tailEnd type="none" w="med" len="med"/>
                                    </a:ln>
                                  </p:spPr>
                                </p:sp>
                                <p:sp>
                                  <p:nvSpPr>
                                    <p:cNvPr id="12042" name="Line 501"/>
                                    <p:cNvSpPr/>
                                    <p:nvPr/>
                                  </p:nvSpPr>
                                  <p:spPr>
                                    <a:xfrm>
                                      <a:off x="239" y="86"/>
                                      <a:ext cx="35" cy="0"/>
                                    </a:xfrm>
                                    <a:prstGeom prst="line">
                                      <a:avLst/>
                                    </a:prstGeom>
                                    <a:ln w="9525" cap="flat" cmpd="sng">
                                      <a:solidFill>
                                        <a:schemeClr val="tx1"/>
                                      </a:solidFill>
                                      <a:prstDash val="solid"/>
                                      <a:headEnd type="none" w="med" len="med"/>
                                      <a:tailEnd type="none" w="med" len="med"/>
                                    </a:ln>
                                  </p:spPr>
                                </p:sp>
                                <p:grpSp>
                                  <p:nvGrpSpPr>
                                    <p:cNvPr id="12043" name="Group 502"/>
                                    <p:cNvGrpSpPr/>
                                    <p:nvPr/>
                                  </p:nvGrpSpPr>
                                  <p:grpSpPr>
                                    <a:xfrm>
                                      <a:off x="35" y="74"/>
                                      <a:ext cx="67" cy="18"/>
                                      <a:chOff x="0" y="0"/>
                                      <a:chExt cx="696" cy="156"/>
                                    </a:xfrm>
                                  </p:grpSpPr>
                                  <p:sp>
                                    <p:nvSpPr>
                                      <p:cNvPr id="12047" name="Line 503"/>
                                      <p:cNvSpPr/>
                                      <p:nvPr/>
                                    </p:nvSpPr>
                                    <p:spPr>
                                      <a:xfrm flipH="1" flipV="1">
                                        <a:off x="486" y="0"/>
                                        <a:ext cx="210" cy="156"/>
                                      </a:xfrm>
                                      <a:prstGeom prst="line">
                                        <a:avLst/>
                                      </a:prstGeom>
                                      <a:ln w="9525" cap="flat" cmpd="sng">
                                        <a:solidFill>
                                          <a:schemeClr val="tx1"/>
                                        </a:solidFill>
                                        <a:prstDash val="solid"/>
                                        <a:headEnd type="none" w="med" len="med"/>
                                        <a:tailEnd type="none" w="med" len="med"/>
                                      </a:ln>
                                    </p:spPr>
                                  </p:sp>
                                  <p:sp>
                                    <p:nvSpPr>
                                      <p:cNvPr id="12048" name="Line 504"/>
                                      <p:cNvSpPr/>
                                      <p:nvPr/>
                                    </p:nvSpPr>
                                    <p:spPr>
                                      <a:xfrm>
                                        <a:off x="171" y="0"/>
                                        <a:ext cx="315" cy="0"/>
                                      </a:xfrm>
                                      <a:prstGeom prst="line">
                                        <a:avLst/>
                                      </a:prstGeom>
                                      <a:ln w="9525" cap="flat" cmpd="sng">
                                        <a:solidFill>
                                          <a:schemeClr val="tx1"/>
                                        </a:solidFill>
                                        <a:prstDash val="solid"/>
                                        <a:headEnd type="none" w="med" len="med"/>
                                        <a:tailEnd type="none" w="med" len="med"/>
                                      </a:ln>
                                    </p:spPr>
                                  </p:sp>
                                  <p:sp>
                                    <p:nvSpPr>
                                      <p:cNvPr id="12049" name="Line 505"/>
                                      <p:cNvSpPr/>
                                      <p:nvPr/>
                                    </p:nvSpPr>
                                    <p:spPr>
                                      <a:xfrm flipH="1">
                                        <a:off x="0" y="3"/>
                                        <a:ext cx="153" cy="102"/>
                                      </a:xfrm>
                                      <a:prstGeom prst="line">
                                        <a:avLst/>
                                      </a:prstGeom>
                                      <a:ln w="9525" cap="flat" cmpd="sng">
                                        <a:solidFill>
                                          <a:schemeClr val="tx1"/>
                                        </a:solidFill>
                                        <a:prstDash val="solid"/>
                                        <a:headEnd type="none" w="med" len="med"/>
                                        <a:tailEnd type="none" w="med" len="med"/>
                                      </a:ln>
                                    </p:spPr>
                                  </p:sp>
                                </p:grpSp>
                                <p:sp>
                                  <p:nvSpPr>
                                    <p:cNvPr id="12044" name="Line 506"/>
                                    <p:cNvSpPr/>
                                    <p:nvPr/>
                                  </p:nvSpPr>
                                  <p:spPr>
                                    <a:xfrm flipH="1">
                                      <a:off x="4" y="86"/>
                                      <a:ext cx="30" cy="0"/>
                                    </a:xfrm>
                                    <a:prstGeom prst="line">
                                      <a:avLst/>
                                    </a:prstGeom>
                                    <a:ln w="9525" cap="flat" cmpd="sng">
                                      <a:solidFill>
                                        <a:schemeClr val="tx1"/>
                                      </a:solidFill>
                                      <a:prstDash val="solid"/>
                                      <a:headEnd type="none" w="med" len="med"/>
                                      <a:tailEnd type="none" w="med" len="med"/>
                                    </a:ln>
                                  </p:spPr>
                                </p:sp>
                                <p:sp>
                                  <p:nvSpPr>
                                    <p:cNvPr id="12045" name="Line 507"/>
                                    <p:cNvSpPr/>
                                    <p:nvPr/>
                                  </p:nvSpPr>
                                  <p:spPr>
                                    <a:xfrm flipH="1" flipV="1">
                                      <a:off x="0" y="48"/>
                                      <a:ext cx="4" cy="37"/>
                                    </a:xfrm>
                                    <a:prstGeom prst="line">
                                      <a:avLst/>
                                    </a:prstGeom>
                                    <a:ln w="9525" cap="flat" cmpd="sng">
                                      <a:solidFill>
                                        <a:schemeClr val="tx1"/>
                                      </a:solidFill>
                                      <a:prstDash val="solid"/>
                                      <a:headEnd type="none" w="med" len="med"/>
                                      <a:tailEnd type="none" w="med" len="med"/>
                                    </a:ln>
                                  </p:spPr>
                                </p:sp>
                                <p:sp>
                                  <p:nvSpPr>
                                    <p:cNvPr id="12046" name="AutoShape 508"/>
                                    <p:cNvSpPr/>
                                    <p:nvPr/>
                                  </p:nvSpPr>
                                  <p:spPr>
                                    <a:xfrm>
                                      <a:off x="221" y="39"/>
                                      <a:ext cx="70" cy="5"/>
                                    </a:xfrm>
                                    <a:prstGeom prst="rtTriangle">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2032" name="Line 509"/>
                                  <p:cNvSpPr/>
                                  <p:nvPr/>
                                </p:nvSpPr>
                                <p:spPr>
                                  <a:xfrm flipV="1">
                                    <a:off x="273" y="81"/>
                                    <a:ext cx="20" cy="5"/>
                                  </a:xfrm>
                                  <a:prstGeom prst="line">
                                    <a:avLst/>
                                  </a:prstGeom>
                                  <a:ln w="9525" cap="flat" cmpd="sng">
                                    <a:solidFill>
                                      <a:schemeClr val="tx1"/>
                                    </a:solidFill>
                                    <a:prstDash val="solid"/>
                                    <a:headEnd type="none" w="med" len="med"/>
                                    <a:tailEnd type="none" w="med" len="med"/>
                                  </a:ln>
                                </p:spPr>
                              </p:sp>
                            </p:grpSp>
                          </p:grpSp>
                        </p:grpSp>
                        <p:sp>
                          <p:nvSpPr>
                            <p:cNvPr id="12020" name="Rectangle 510"/>
                            <p:cNvSpPr/>
                            <p:nvPr/>
                          </p:nvSpPr>
                          <p:spPr>
                            <a:xfrm>
                              <a:off x="35" y="42"/>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21" name="Rectangle 511"/>
                            <p:cNvSpPr/>
                            <p:nvPr/>
                          </p:nvSpPr>
                          <p:spPr>
                            <a:xfrm>
                              <a:off x="257" y="56"/>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22" name="Rectangle 512"/>
                            <p:cNvSpPr/>
                            <p:nvPr/>
                          </p:nvSpPr>
                          <p:spPr>
                            <a:xfrm>
                              <a:off x="149" y="60"/>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19" name="Group 513"/>
                          <p:cNvGrpSpPr/>
                          <p:nvPr/>
                        </p:nvGrpSpPr>
                        <p:grpSpPr>
                          <a:xfrm>
                            <a:off x="4370" y="598"/>
                            <a:ext cx="294" cy="94"/>
                            <a:chOff x="0" y="0"/>
                            <a:chExt cx="294" cy="94"/>
                          </a:xfrm>
                        </p:grpSpPr>
                        <p:grpSp>
                          <p:nvGrpSpPr>
                            <p:cNvPr id="11978" name="Group 514"/>
                            <p:cNvGrpSpPr/>
                            <p:nvPr/>
                          </p:nvGrpSpPr>
                          <p:grpSpPr>
                            <a:xfrm>
                              <a:off x="0" y="0"/>
                              <a:ext cx="294" cy="94"/>
                              <a:chOff x="0" y="0"/>
                              <a:chExt cx="294" cy="94"/>
                            </a:xfrm>
                          </p:grpSpPr>
                          <p:sp>
                            <p:nvSpPr>
                              <p:cNvPr id="11982" name="Rectangle 515"/>
                              <p:cNvSpPr/>
                              <p:nvPr/>
                            </p:nvSpPr>
                            <p:spPr>
                              <a:xfrm>
                                <a:off x="283" y="52"/>
                                <a:ext cx="10" cy="2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83" name="AutoShape 516"/>
                              <p:cNvSpPr/>
                              <p:nvPr/>
                            </p:nvSpPr>
                            <p:spPr>
                              <a:xfrm rot="-5400000">
                                <a:off x="57" y="1"/>
                                <a:ext cx="15" cy="53"/>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84" name="AutoShape 517"/>
                              <p:cNvSpPr/>
                              <p:nvPr/>
                            </p:nvSpPr>
                            <p:spPr>
                              <a:xfrm rot="-5400000">
                                <a:off x="14" y="21"/>
                                <a:ext cx="12" cy="40"/>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85" name="AutoShape 518"/>
                              <p:cNvSpPr/>
                              <p:nvPr/>
                            </p:nvSpPr>
                            <p:spPr>
                              <a:xfrm rot="10800000">
                                <a:off x="80" y="74"/>
                                <a:ext cx="21" cy="18"/>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986" name="Group 519"/>
                              <p:cNvGrpSpPr/>
                              <p:nvPr/>
                            </p:nvGrpSpPr>
                            <p:grpSpPr>
                              <a:xfrm>
                                <a:off x="0" y="0"/>
                                <a:ext cx="294" cy="94"/>
                                <a:chOff x="0" y="0"/>
                                <a:chExt cx="294" cy="94"/>
                              </a:xfrm>
                            </p:grpSpPr>
                            <p:grpSp>
                              <p:nvGrpSpPr>
                                <p:cNvPr id="11987" name="Group 520"/>
                                <p:cNvGrpSpPr/>
                                <p:nvPr/>
                              </p:nvGrpSpPr>
                              <p:grpSpPr>
                                <a:xfrm>
                                  <a:off x="3" y="0"/>
                                  <a:ext cx="282" cy="94"/>
                                  <a:chOff x="0" y="0"/>
                                  <a:chExt cx="282" cy="94"/>
                                </a:xfrm>
                              </p:grpSpPr>
                              <p:sp>
                                <p:nvSpPr>
                                  <p:cNvPr id="12009" name="AutoShape 521"/>
                                  <p:cNvSpPr/>
                                  <p:nvPr/>
                                </p:nvSpPr>
                                <p:spPr>
                                  <a:xfrm rot="5400000">
                                    <a:off x="166" y="70"/>
                                    <a:ext cx="21" cy="22"/>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10" name="Rectangle 522"/>
                                  <p:cNvSpPr/>
                                  <p:nvPr/>
                                </p:nvSpPr>
                                <p:spPr>
                                  <a:xfrm>
                                    <a:off x="89" y="0"/>
                                    <a:ext cx="72" cy="1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11" name="Rectangle 523"/>
                                  <p:cNvSpPr/>
                                  <p:nvPr/>
                                </p:nvSpPr>
                                <p:spPr>
                                  <a:xfrm>
                                    <a:off x="37" y="37"/>
                                    <a:ext cx="6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12" name="Rectangle 524"/>
                                  <p:cNvSpPr/>
                                  <p:nvPr/>
                                </p:nvSpPr>
                                <p:spPr>
                                  <a:xfrm>
                                    <a:off x="167" y="37"/>
                                    <a:ext cx="5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13" name="Rectangle 525"/>
                                  <p:cNvSpPr/>
                                  <p:nvPr/>
                                </p:nvSpPr>
                                <p:spPr>
                                  <a:xfrm>
                                    <a:off x="98" y="37"/>
                                    <a:ext cx="69" cy="5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14" name="Rectangle 526"/>
                                  <p:cNvSpPr/>
                                  <p:nvPr/>
                                </p:nvSpPr>
                                <p:spPr>
                                  <a:xfrm>
                                    <a:off x="218" y="44"/>
                                    <a:ext cx="64" cy="30"/>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15" name="Rectangle 527"/>
                                  <p:cNvSpPr/>
                                  <p:nvPr/>
                                </p:nvSpPr>
                                <p:spPr>
                                  <a:xfrm>
                                    <a:off x="232" y="72"/>
                                    <a:ext cx="40" cy="14"/>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16" name="Rectangle 528"/>
                                  <p:cNvSpPr/>
                                  <p:nvPr/>
                                </p:nvSpPr>
                                <p:spPr>
                                  <a:xfrm>
                                    <a:off x="0" y="46"/>
                                    <a:ext cx="34" cy="3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17" name="AutoShape 529"/>
                                  <p:cNvSpPr/>
                                  <p:nvPr/>
                                </p:nvSpPr>
                                <p:spPr>
                                  <a:xfrm rot="-5400000">
                                    <a:off x="68" y="5"/>
                                    <a:ext cx="25" cy="15"/>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2018" name="AutoShape 530"/>
                                  <p:cNvSpPr/>
                                  <p:nvPr/>
                                </p:nvSpPr>
                                <p:spPr>
                                  <a:xfrm>
                                    <a:off x="167" y="5"/>
                                    <a:ext cx="51" cy="37"/>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988" name="AutoShape 531"/>
                                <p:cNvSpPr/>
                                <p:nvPr/>
                              </p:nvSpPr>
                              <p:spPr>
                                <a:xfrm>
                                  <a:off x="92" y="15"/>
                                  <a:ext cx="79" cy="25"/>
                                </a:xfrm>
                                <a:prstGeom prst="roundRect">
                                  <a:avLst>
                                    <a:gd name="adj" fmla="val 16667"/>
                                  </a:avLst>
                                </a:prstGeom>
                                <a:solidFill>
                                  <a:srgbClr val="000099"/>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989" name="Group 532"/>
                                <p:cNvGrpSpPr/>
                                <p:nvPr/>
                              </p:nvGrpSpPr>
                              <p:grpSpPr>
                                <a:xfrm>
                                  <a:off x="0" y="0"/>
                                  <a:ext cx="294" cy="92"/>
                                  <a:chOff x="0" y="0"/>
                                  <a:chExt cx="294" cy="92"/>
                                </a:xfrm>
                              </p:grpSpPr>
                              <p:grpSp>
                                <p:nvGrpSpPr>
                                  <p:cNvPr id="11990" name="Group 533"/>
                                  <p:cNvGrpSpPr/>
                                  <p:nvPr/>
                                </p:nvGrpSpPr>
                                <p:grpSpPr>
                                  <a:xfrm>
                                    <a:off x="0" y="0"/>
                                    <a:ext cx="294" cy="92"/>
                                    <a:chOff x="0" y="0"/>
                                    <a:chExt cx="294" cy="92"/>
                                  </a:xfrm>
                                </p:grpSpPr>
                                <p:sp>
                                  <p:nvSpPr>
                                    <p:cNvPr id="11992" name="Line 534"/>
                                    <p:cNvSpPr/>
                                    <p:nvPr/>
                                  </p:nvSpPr>
                                  <p:spPr>
                                    <a:xfrm flipV="1">
                                      <a:off x="1" y="27"/>
                                      <a:ext cx="75" cy="19"/>
                                    </a:xfrm>
                                    <a:prstGeom prst="line">
                                      <a:avLst/>
                                    </a:prstGeom>
                                    <a:ln w="9525" cap="flat" cmpd="sng">
                                      <a:solidFill>
                                        <a:schemeClr val="tx1"/>
                                      </a:solidFill>
                                      <a:prstDash val="solid"/>
                                      <a:headEnd type="none" w="med" len="med"/>
                                      <a:tailEnd type="none" w="med" len="med"/>
                                    </a:ln>
                                  </p:spPr>
                                </p:sp>
                                <p:sp>
                                  <p:nvSpPr>
                                    <p:cNvPr id="11993" name="Line 535"/>
                                    <p:cNvSpPr/>
                                    <p:nvPr/>
                                  </p:nvSpPr>
                                  <p:spPr>
                                    <a:xfrm flipV="1">
                                      <a:off x="77" y="0"/>
                                      <a:ext cx="15" cy="26"/>
                                    </a:xfrm>
                                    <a:prstGeom prst="line">
                                      <a:avLst/>
                                    </a:prstGeom>
                                    <a:ln w="9525" cap="flat" cmpd="sng">
                                      <a:solidFill>
                                        <a:schemeClr val="tx1"/>
                                      </a:solidFill>
                                      <a:prstDash val="solid"/>
                                      <a:headEnd type="none" w="med" len="med"/>
                                      <a:tailEnd type="none" w="med" len="med"/>
                                    </a:ln>
                                  </p:spPr>
                                </p:sp>
                                <p:sp>
                                  <p:nvSpPr>
                                    <p:cNvPr id="11994" name="Line 536"/>
                                    <p:cNvSpPr/>
                                    <p:nvPr/>
                                  </p:nvSpPr>
                                  <p:spPr>
                                    <a:xfrm>
                                      <a:off x="94" y="0"/>
                                      <a:ext cx="70" cy="0"/>
                                    </a:xfrm>
                                    <a:prstGeom prst="line">
                                      <a:avLst/>
                                    </a:prstGeom>
                                    <a:ln w="9525" cap="flat" cmpd="sng">
                                      <a:solidFill>
                                        <a:schemeClr val="tx1"/>
                                      </a:solidFill>
                                      <a:prstDash val="solid"/>
                                      <a:headEnd type="none" w="med" len="med"/>
                                      <a:tailEnd type="none" w="med" len="med"/>
                                    </a:ln>
                                  </p:spPr>
                                </p:sp>
                                <p:sp>
                                  <p:nvSpPr>
                                    <p:cNvPr id="11995" name="Line 537"/>
                                    <p:cNvSpPr/>
                                    <p:nvPr/>
                                  </p:nvSpPr>
                                  <p:spPr>
                                    <a:xfrm>
                                      <a:off x="164" y="0"/>
                                      <a:ext cx="50" cy="37"/>
                                    </a:xfrm>
                                    <a:prstGeom prst="line">
                                      <a:avLst/>
                                    </a:prstGeom>
                                    <a:ln w="9525" cap="flat" cmpd="sng">
                                      <a:solidFill>
                                        <a:schemeClr val="tx1"/>
                                      </a:solidFill>
                                      <a:prstDash val="solid"/>
                                      <a:headEnd type="none" w="med" len="med"/>
                                      <a:tailEnd type="none" w="med" len="med"/>
                                    </a:ln>
                                  </p:spPr>
                                </p:sp>
                                <p:sp>
                                  <p:nvSpPr>
                                    <p:cNvPr id="11996" name="Line 538"/>
                                    <p:cNvSpPr/>
                                    <p:nvPr/>
                                  </p:nvSpPr>
                                  <p:spPr>
                                    <a:xfrm>
                                      <a:off x="294" y="51"/>
                                      <a:ext cx="0" cy="30"/>
                                    </a:xfrm>
                                    <a:prstGeom prst="line">
                                      <a:avLst/>
                                    </a:prstGeom>
                                    <a:ln w="9525" cap="flat" cmpd="sng">
                                      <a:solidFill>
                                        <a:schemeClr val="tx1"/>
                                      </a:solidFill>
                                      <a:prstDash val="solid"/>
                                      <a:headEnd type="none" w="med" len="med"/>
                                      <a:tailEnd type="none" w="med" len="med"/>
                                    </a:ln>
                                  </p:spPr>
                                </p:sp>
                                <p:sp>
                                  <p:nvSpPr>
                                    <p:cNvPr id="11997" name="Line 539"/>
                                    <p:cNvSpPr/>
                                    <p:nvPr/>
                                  </p:nvSpPr>
                                  <p:spPr>
                                    <a:xfrm>
                                      <a:off x="104" y="92"/>
                                      <a:ext cx="70" cy="0"/>
                                    </a:xfrm>
                                    <a:prstGeom prst="line">
                                      <a:avLst/>
                                    </a:prstGeom>
                                    <a:ln w="9525" cap="flat" cmpd="sng">
                                      <a:solidFill>
                                        <a:schemeClr val="tx1"/>
                                      </a:solidFill>
                                      <a:prstDash val="solid"/>
                                      <a:headEnd type="none" w="med" len="med"/>
                                      <a:tailEnd type="none" w="med" len="med"/>
                                    </a:ln>
                                  </p:spPr>
                                </p:sp>
                                <p:sp>
                                  <p:nvSpPr>
                                    <p:cNvPr id="11998" name="Line 540"/>
                                    <p:cNvSpPr/>
                                    <p:nvPr/>
                                  </p:nvSpPr>
                                  <p:spPr>
                                    <a:xfrm flipV="1">
                                      <a:off x="174" y="74"/>
                                      <a:ext cx="20" cy="18"/>
                                    </a:xfrm>
                                    <a:prstGeom prst="line">
                                      <a:avLst/>
                                    </a:prstGeom>
                                    <a:ln w="9525" cap="flat" cmpd="sng">
                                      <a:solidFill>
                                        <a:schemeClr val="tx1"/>
                                      </a:solidFill>
                                      <a:prstDash val="solid"/>
                                      <a:headEnd type="none" w="med" len="med"/>
                                      <a:tailEnd type="none" w="med" len="med"/>
                                    </a:ln>
                                  </p:spPr>
                                </p:sp>
                                <p:sp>
                                  <p:nvSpPr>
                                    <p:cNvPr id="11999" name="Line 541"/>
                                    <p:cNvSpPr/>
                                    <p:nvPr/>
                                  </p:nvSpPr>
                                  <p:spPr>
                                    <a:xfrm>
                                      <a:off x="194" y="74"/>
                                      <a:ext cx="30" cy="0"/>
                                    </a:xfrm>
                                    <a:prstGeom prst="line">
                                      <a:avLst/>
                                    </a:prstGeom>
                                    <a:ln w="9525" cap="flat" cmpd="sng">
                                      <a:solidFill>
                                        <a:schemeClr val="tx1"/>
                                      </a:solidFill>
                                      <a:prstDash val="solid"/>
                                      <a:headEnd type="none" w="med" len="med"/>
                                      <a:tailEnd type="none" w="med" len="med"/>
                                    </a:ln>
                                  </p:spPr>
                                </p:sp>
                                <p:sp>
                                  <p:nvSpPr>
                                    <p:cNvPr id="12000" name="Line 542"/>
                                    <p:cNvSpPr/>
                                    <p:nvPr/>
                                  </p:nvSpPr>
                                  <p:spPr>
                                    <a:xfrm>
                                      <a:off x="224" y="74"/>
                                      <a:ext cx="14" cy="12"/>
                                    </a:xfrm>
                                    <a:prstGeom prst="line">
                                      <a:avLst/>
                                    </a:prstGeom>
                                    <a:ln w="9525" cap="flat" cmpd="sng">
                                      <a:solidFill>
                                        <a:schemeClr val="tx1"/>
                                      </a:solidFill>
                                      <a:prstDash val="solid"/>
                                      <a:headEnd type="none" w="med" len="med"/>
                                      <a:tailEnd type="none" w="med" len="med"/>
                                    </a:ln>
                                  </p:spPr>
                                </p:sp>
                                <p:sp>
                                  <p:nvSpPr>
                                    <p:cNvPr id="12001" name="Line 543"/>
                                    <p:cNvSpPr/>
                                    <p:nvPr/>
                                  </p:nvSpPr>
                                  <p:spPr>
                                    <a:xfrm>
                                      <a:off x="239" y="86"/>
                                      <a:ext cx="35" cy="0"/>
                                    </a:xfrm>
                                    <a:prstGeom prst="line">
                                      <a:avLst/>
                                    </a:prstGeom>
                                    <a:ln w="9525" cap="flat" cmpd="sng">
                                      <a:solidFill>
                                        <a:schemeClr val="tx1"/>
                                      </a:solidFill>
                                      <a:prstDash val="solid"/>
                                      <a:headEnd type="none" w="med" len="med"/>
                                      <a:tailEnd type="none" w="med" len="med"/>
                                    </a:ln>
                                  </p:spPr>
                                </p:sp>
                                <p:grpSp>
                                  <p:nvGrpSpPr>
                                    <p:cNvPr id="12002" name="Group 544"/>
                                    <p:cNvGrpSpPr/>
                                    <p:nvPr/>
                                  </p:nvGrpSpPr>
                                  <p:grpSpPr>
                                    <a:xfrm>
                                      <a:off x="35" y="74"/>
                                      <a:ext cx="67" cy="18"/>
                                      <a:chOff x="0" y="0"/>
                                      <a:chExt cx="696" cy="156"/>
                                    </a:xfrm>
                                  </p:grpSpPr>
                                  <p:sp>
                                    <p:nvSpPr>
                                      <p:cNvPr id="12006" name="Line 545"/>
                                      <p:cNvSpPr/>
                                      <p:nvPr/>
                                    </p:nvSpPr>
                                    <p:spPr>
                                      <a:xfrm flipH="1" flipV="1">
                                        <a:off x="486" y="0"/>
                                        <a:ext cx="210" cy="156"/>
                                      </a:xfrm>
                                      <a:prstGeom prst="line">
                                        <a:avLst/>
                                      </a:prstGeom>
                                      <a:ln w="9525" cap="flat" cmpd="sng">
                                        <a:solidFill>
                                          <a:schemeClr val="tx1"/>
                                        </a:solidFill>
                                        <a:prstDash val="solid"/>
                                        <a:headEnd type="none" w="med" len="med"/>
                                        <a:tailEnd type="none" w="med" len="med"/>
                                      </a:ln>
                                    </p:spPr>
                                  </p:sp>
                                  <p:sp>
                                    <p:nvSpPr>
                                      <p:cNvPr id="12007" name="Line 546"/>
                                      <p:cNvSpPr/>
                                      <p:nvPr/>
                                    </p:nvSpPr>
                                    <p:spPr>
                                      <a:xfrm>
                                        <a:off x="171" y="0"/>
                                        <a:ext cx="315" cy="0"/>
                                      </a:xfrm>
                                      <a:prstGeom prst="line">
                                        <a:avLst/>
                                      </a:prstGeom>
                                      <a:ln w="9525" cap="flat" cmpd="sng">
                                        <a:solidFill>
                                          <a:schemeClr val="tx1"/>
                                        </a:solidFill>
                                        <a:prstDash val="solid"/>
                                        <a:headEnd type="none" w="med" len="med"/>
                                        <a:tailEnd type="none" w="med" len="med"/>
                                      </a:ln>
                                    </p:spPr>
                                  </p:sp>
                                  <p:sp>
                                    <p:nvSpPr>
                                      <p:cNvPr id="12008" name="Line 547"/>
                                      <p:cNvSpPr/>
                                      <p:nvPr/>
                                    </p:nvSpPr>
                                    <p:spPr>
                                      <a:xfrm flipH="1">
                                        <a:off x="0" y="3"/>
                                        <a:ext cx="153" cy="102"/>
                                      </a:xfrm>
                                      <a:prstGeom prst="line">
                                        <a:avLst/>
                                      </a:prstGeom>
                                      <a:ln w="9525" cap="flat" cmpd="sng">
                                        <a:solidFill>
                                          <a:schemeClr val="tx1"/>
                                        </a:solidFill>
                                        <a:prstDash val="solid"/>
                                        <a:headEnd type="none" w="med" len="med"/>
                                        <a:tailEnd type="none" w="med" len="med"/>
                                      </a:ln>
                                    </p:spPr>
                                  </p:sp>
                                </p:grpSp>
                                <p:sp>
                                  <p:nvSpPr>
                                    <p:cNvPr id="12003" name="Line 548"/>
                                    <p:cNvSpPr/>
                                    <p:nvPr/>
                                  </p:nvSpPr>
                                  <p:spPr>
                                    <a:xfrm flipH="1">
                                      <a:off x="4" y="86"/>
                                      <a:ext cx="30" cy="0"/>
                                    </a:xfrm>
                                    <a:prstGeom prst="line">
                                      <a:avLst/>
                                    </a:prstGeom>
                                    <a:ln w="9525" cap="flat" cmpd="sng">
                                      <a:solidFill>
                                        <a:schemeClr val="tx1"/>
                                      </a:solidFill>
                                      <a:prstDash val="solid"/>
                                      <a:headEnd type="none" w="med" len="med"/>
                                      <a:tailEnd type="none" w="med" len="med"/>
                                    </a:ln>
                                  </p:spPr>
                                </p:sp>
                                <p:sp>
                                  <p:nvSpPr>
                                    <p:cNvPr id="12004" name="Line 549"/>
                                    <p:cNvSpPr/>
                                    <p:nvPr/>
                                  </p:nvSpPr>
                                  <p:spPr>
                                    <a:xfrm flipH="1" flipV="1">
                                      <a:off x="0" y="48"/>
                                      <a:ext cx="4" cy="37"/>
                                    </a:xfrm>
                                    <a:prstGeom prst="line">
                                      <a:avLst/>
                                    </a:prstGeom>
                                    <a:ln w="9525" cap="flat" cmpd="sng">
                                      <a:solidFill>
                                        <a:schemeClr val="tx1"/>
                                      </a:solidFill>
                                      <a:prstDash val="solid"/>
                                      <a:headEnd type="none" w="med" len="med"/>
                                      <a:tailEnd type="none" w="med" len="med"/>
                                    </a:ln>
                                  </p:spPr>
                                </p:sp>
                                <p:sp>
                                  <p:nvSpPr>
                                    <p:cNvPr id="12005" name="AutoShape 550"/>
                                    <p:cNvSpPr/>
                                    <p:nvPr/>
                                  </p:nvSpPr>
                                  <p:spPr>
                                    <a:xfrm>
                                      <a:off x="221" y="39"/>
                                      <a:ext cx="70" cy="5"/>
                                    </a:xfrm>
                                    <a:prstGeom prst="rtTriangle">
                                      <a:avLst/>
                                    </a:prstGeom>
                                    <a:solidFill>
                                      <a:srgbClr val="CC33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991" name="Line 551"/>
                                  <p:cNvSpPr/>
                                  <p:nvPr/>
                                </p:nvSpPr>
                                <p:spPr>
                                  <a:xfrm flipV="1">
                                    <a:off x="273" y="81"/>
                                    <a:ext cx="20" cy="5"/>
                                  </a:xfrm>
                                  <a:prstGeom prst="line">
                                    <a:avLst/>
                                  </a:prstGeom>
                                  <a:ln w="9525" cap="flat" cmpd="sng">
                                    <a:solidFill>
                                      <a:schemeClr val="tx1"/>
                                    </a:solidFill>
                                    <a:prstDash val="solid"/>
                                    <a:headEnd type="none" w="med" len="med"/>
                                    <a:tailEnd type="none" w="med" len="med"/>
                                  </a:ln>
                                </p:spPr>
                              </p:sp>
                            </p:grpSp>
                          </p:grpSp>
                        </p:grpSp>
                        <p:sp>
                          <p:nvSpPr>
                            <p:cNvPr id="11979" name="Rectangle 552"/>
                            <p:cNvSpPr/>
                            <p:nvPr/>
                          </p:nvSpPr>
                          <p:spPr>
                            <a:xfrm>
                              <a:off x="35" y="42"/>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80" name="Rectangle 553"/>
                            <p:cNvSpPr/>
                            <p:nvPr/>
                          </p:nvSpPr>
                          <p:spPr>
                            <a:xfrm>
                              <a:off x="257" y="56"/>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81" name="Rectangle 554"/>
                            <p:cNvSpPr/>
                            <p:nvPr/>
                          </p:nvSpPr>
                          <p:spPr>
                            <a:xfrm>
                              <a:off x="149" y="60"/>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320" name="Rectangle 555"/>
                          <p:cNvSpPr/>
                          <p:nvPr/>
                        </p:nvSpPr>
                        <p:spPr>
                          <a:xfrm>
                            <a:off x="3580" y="0"/>
                            <a:ext cx="1087" cy="163"/>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321" name="Group 556"/>
                          <p:cNvGrpSpPr/>
                          <p:nvPr/>
                        </p:nvGrpSpPr>
                        <p:grpSpPr>
                          <a:xfrm>
                            <a:off x="4366" y="944"/>
                            <a:ext cx="294" cy="94"/>
                            <a:chOff x="0" y="0"/>
                            <a:chExt cx="294" cy="94"/>
                          </a:xfrm>
                        </p:grpSpPr>
                        <p:grpSp>
                          <p:nvGrpSpPr>
                            <p:cNvPr id="11957" name="Group 557"/>
                            <p:cNvGrpSpPr/>
                            <p:nvPr/>
                          </p:nvGrpSpPr>
                          <p:grpSpPr>
                            <a:xfrm>
                              <a:off x="0" y="0"/>
                              <a:ext cx="294" cy="94"/>
                              <a:chOff x="0" y="0"/>
                              <a:chExt cx="294" cy="94"/>
                            </a:xfrm>
                          </p:grpSpPr>
                          <p:grpSp>
                            <p:nvGrpSpPr>
                              <p:cNvPr id="11959" name="Group 558"/>
                              <p:cNvGrpSpPr/>
                              <p:nvPr/>
                            </p:nvGrpSpPr>
                            <p:grpSpPr>
                              <a:xfrm>
                                <a:off x="0" y="0"/>
                                <a:ext cx="294" cy="94"/>
                                <a:chOff x="0" y="0"/>
                                <a:chExt cx="294" cy="94"/>
                              </a:xfrm>
                            </p:grpSpPr>
                            <p:sp>
                              <p:nvSpPr>
                                <p:cNvPr id="11961" name="Line 559"/>
                                <p:cNvSpPr/>
                                <p:nvPr/>
                              </p:nvSpPr>
                              <p:spPr>
                                <a:xfrm flipV="1">
                                  <a:off x="1" y="28"/>
                                  <a:ext cx="75" cy="19"/>
                                </a:xfrm>
                                <a:prstGeom prst="line">
                                  <a:avLst/>
                                </a:prstGeom>
                                <a:ln w="9525" cap="flat" cmpd="sng">
                                  <a:solidFill>
                                    <a:srgbClr val="640000"/>
                                  </a:solidFill>
                                  <a:prstDash val="solid"/>
                                  <a:headEnd type="none" w="med" len="med"/>
                                  <a:tailEnd type="none" w="med" len="med"/>
                                </a:ln>
                              </p:spPr>
                            </p:sp>
                            <p:sp>
                              <p:nvSpPr>
                                <p:cNvPr id="11962" name="Line 560"/>
                                <p:cNvSpPr/>
                                <p:nvPr/>
                              </p:nvSpPr>
                              <p:spPr>
                                <a:xfrm flipV="1">
                                  <a:off x="77" y="1"/>
                                  <a:ext cx="15" cy="25"/>
                                </a:xfrm>
                                <a:prstGeom prst="line">
                                  <a:avLst/>
                                </a:prstGeom>
                                <a:ln w="9525" cap="flat" cmpd="sng">
                                  <a:solidFill>
                                    <a:srgbClr val="640000"/>
                                  </a:solidFill>
                                  <a:prstDash val="solid"/>
                                  <a:headEnd type="none" w="med" len="med"/>
                                  <a:tailEnd type="none" w="med" len="med"/>
                                </a:ln>
                              </p:spPr>
                            </p:sp>
                            <p:sp>
                              <p:nvSpPr>
                                <p:cNvPr id="11963" name="Line 561"/>
                                <p:cNvSpPr/>
                                <p:nvPr/>
                              </p:nvSpPr>
                              <p:spPr>
                                <a:xfrm>
                                  <a:off x="93" y="0"/>
                                  <a:ext cx="70" cy="0"/>
                                </a:xfrm>
                                <a:prstGeom prst="line">
                                  <a:avLst/>
                                </a:prstGeom>
                                <a:ln w="9525" cap="flat" cmpd="sng">
                                  <a:solidFill>
                                    <a:srgbClr val="640000"/>
                                  </a:solidFill>
                                  <a:prstDash val="solid"/>
                                  <a:headEnd type="none" w="med" len="med"/>
                                  <a:tailEnd type="none" w="med" len="med"/>
                                </a:ln>
                              </p:spPr>
                            </p:sp>
                            <p:sp>
                              <p:nvSpPr>
                                <p:cNvPr id="11964" name="Line 562"/>
                                <p:cNvSpPr/>
                                <p:nvPr/>
                              </p:nvSpPr>
                              <p:spPr>
                                <a:xfrm>
                                  <a:off x="163" y="0"/>
                                  <a:ext cx="50" cy="38"/>
                                </a:xfrm>
                                <a:prstGeom prst="line">
                                  <a:avLst/>
                                </a:prstGeom>
                                <a:ln w="9525" cap="flat" cmpd="sng">
                                  <a:solidFill>
                                    <a:srgbClr val="640000"/>
                                  </a:solidFill>
                                  <a:prstDash val="solid"/>
                                  <a:headEnd type="none" w="med" len="med"/>
                                  <a:tailEnd type="none" w="med" len="med"/>
                                </a:ln>
                              </p:spPr>
                            </p:sp>
                            <p:sp>
                              <p:nvSpPr>
                                <p:cNvPr id="11965" name="Line 563"/>
                                <p:cNvSpPr/>
                                <p:nvPr/>
                              </p:nvSpPr>
                              <p:spPr>
                                <a:xfrm>
                                  <a:off x="213" y="38"/>
                                  <a:ext cx="74" cy="7"/>
                                </a:xfrm>
                                <a:prstGeom prst="line">
                                  <a:avLst/>
                                </a:prstGeom>
                                <a:ln w="9525" cap="flat" cmpd="sng">
                                  <a:solidFill>
                                    <a:srgbClr val="640000"/>
                                  </a:solidFill>
                                  <a:prstDash val="solid"/>
                                  <a:headEnd type="none" w="med" len="med"/>
                                  <a:tailEnd type="none" w="med" len="med"/>
                                </a:ln>
                              </p:spPr>
                            </p:sp>
                            <p:sp>
                              <p:nvSpPr>
                                <p:cNvPr id="11966" name="Line 564"/>
                                <p:cNvSpPr/>
                                <p:nvPr/>
                              </p:nvSpPr>
                              <p:spPr>
                                <a:xfrm>
                                  <a:off x="294" y="52"/>
                                  <a:ext cx="0" cy="31"/>
                                </a:xfrm>
                                <a:prstGeom prst="line">
                                  <a:avLst/>
                                </a:prstGeom>
                                <a:ln w="9525" cap="flat" cmpd="sng">
                                  <a:solidFill>
                                    <a:srgbClr val="640000"/>
                                  </a:solidFill>
                                  <a:prstDash val="solid"/>
                                  <a:headEnd type="none" w="med" len="med"/>
                                  <a:tailEnd type="none" w="med" len="med"/>
                                </a:ln>
                              </p:spPr>
                            </p:sp>
                            <p:sp>
                              <p:nvSpPr>
                                <p:cNvPr id="11967" name="Line 565"/>
                                <p:cNvSpPr/>
                                <p:nvPr/>
                              </p:nvSpPr>
                              <p:spPr>
                                <a:xfrm>
                                  <a:off x="104" y="94"/>
                                  <a:ext cx="69" cy="0"/>
                                </a:xfrm>
                                <a:prstGeom prst="line">
                                  <a:avLst/>
                                </a:prstGeom>
                                <a:ln w="9525" cap="flat" cmpd="sng">
                                  <a:solidFill>
                                    <a:srgbClr val="640000"/>
                                  </a:solidFill>
                                  <a:prstDash val="solid"/>
                                  <a:headEnd type="none" w="med" len="med"/>
                                  <a:tailEnd type="none" w="med" len="med"/>
                                </a:ln>
                              </p:spPr>
                            </p:sp>
                            <p:sp>
                              <p:nvSpPr>
                                <p:cNvPr id="11968" name="Line 566"/>
                                <p:cNvSpPr/>
                                <p:nvPr/>
                              </p:nvSpPr>
                              <p:spPr>
                                <a:xfrm flipV="1">
                                  <a:off x="173" y="76"/>
                                  <a:ext cx="20" cy="18"/>
                                </a:xfrm>
                                <a:prstGeom prst="line">
                                  <a:avLst/>
                                </a:prstGeom>
                                <a:ln w="9525" cap="flat" cmpd="sng">
                                  <a:solidFill>
                                    <a:srgbClr val="640000"/>
                                  </a:solidFill>
                                  <a:prstDash val="solid"/>
                                  <a:headEnd type="none" w="med" len="med"/>
                                  <a:tailEnd type="none" w="med" len="med"/>
                                </a:ln>
                              </p:spPr>
                            </p:sp>
                            <p:sp>
                              <p:nvSpPr>
                                <p:cNvPr id="11969" name="Line 567"/>
                                <p:cNvSpPr/>
                                <p:nvPr/>
                              </p:nvSpPr>
                              <p:spPr>
                                <a:xfrm>
                                  <a:off x="193" y="76"/>
                                  <a:ext cx="30" cy="0"/>
                                </a:xfrm>
                                <a:prstGeom prst="line">
                                  <a:avLst/>
                                </a:prstGeom>
                                <a:ln w="9525" cap="flat" cmpd="sng">
                                  <a:solidFill>
                                    <a:srgbClr val="640000"/>
                                  </a:solidFill>
                                  <a:prstDash val="solid"/>
                                  <a:headEnd type="none" w="med" len="med"/>
                                  <a:tailEnd type="none" w="med" len="med"/>
                                </a:ln>
                              </p:spPr>
                            </p:sp>
                            <p:sp>
                              <p:nvSpPr>
                                <p:cNvPr id="11970" name="Line 568"/>
                                <p:cNvSpPr/>
                                <p:nvPr/>
                              </p:nvSpPr>
                              <p:spPr>
                                <a:xfrm>
                                  <a:off x="223" y="76"/>
                                  <a:ext cx="15" cy="12"/>
                                </a:xfrm>
                                <a:prstGeom prst="line">
                                  <a:avLst/>
                                </a:prstGeom>
                                <a:ln w="9525" cap="flat" cmpd="sng">
                                  <a:solidFill>
                                    <a:srgbClr val="640000"/>
                                  </a:solidFill>
                                  <a:prstDash val="solid"/>
                                  <a:headEnd type="none" w="med" len="med"/>
                                  <a:tailEnd type="none" w="med" len="med"/>
                                </a:ln>
                              </p:spPr>
                            </p:sp>
                            <p:sp>
                              <p:nvSpPr>
                                <p:cNvPr id="11971" name="Line 569"/>
                                <p:cNvSpPr/>
                                <p:nvPr/>
                              </p:nvSpPr>
                              <p:spPr>
                                <a:xfrm>
                                  <a:off x="239" y="88"/>
                                  <a:ext cx="34" cy="0"/>
                                </a:xfrm>
                                <a:prstGeom prst="line">
                                  <a:avLst/>
                                </a:prstGeom>
                                <a:ln w="9525" cap="flat" cmpd="sng">
                                  <a:solidFill>
                                    <a:srgbClr val="640000"/>
                                  </a:solidFill>
                                  <a:prstDash val="solid"/>
                                  <a:headEnd type="none" w="med" len="med"/>
                                  <a:tailEnd type="none" w="med" len="med"/>
                                </a:ln>
                              </p:spPr>
                            </p:sp>
                            <p:sp>
                              <p:nvSpPr>
                                <p:cNvPr id="11972" name="Line 570"/>
                                <p:cNvSpPr/>
                                <p:nvPr/>
                              </p:nvSpPr>
                              <p:spPr>
                                <a:xfrm flipV="1">
                                  <a:off x="272" y="83"/>
                                  <a:ext cx="21" cy="5"/>
                                </a:xfrm>
                                <a:prstGeom prst="line">
                                  <a:avLst/>
                                </a:prstGeom>
                                <a:ln w="9525" cap="flat" cmpd="sng">
                                  <a:solidFill>
                                    <a:srgbClr val="640000"/>
                                  </a:solidFill>
                                  <a:prstDash val="solid"/>
                                  <a:headEnd type="none" w="med" len="med"/>
                                  <a:tailEnd type="none" w="med" len="med"/>
                                </a:ln>
                              </p:spPr>
                            </p:sp>
                            <p:sp>
                              <p:nvSpPr>
                                <p:cNvPr id="11973" name="Line 571"/>
                                <p:cNvSpPr/>
                                <p:nvPr/>
                              </p:nvSpPr>
                              <p:spPr>
                                <a:xfrm flipH="1" flipV="1">
                                  <a:off x="81" y="76"/>
                                  <a:ext cx="21" cy="18"/>
                                </a:xfrm>
                                <a:prstGeom prst="line">
                                  <a:avLst/>
                                </a:prstGeom>
                                <a:ln w="9525" cap="flat" cmpd="sng">
                                  <a:solidFill>
                                    <a:srgbClr val="640000"/>
                                  </a:solidFill>
                                  <a:prstDash val="solid"/>
                                  <a:headEnd type="none" w="med" len="med"/>
                                  <a:tailEnd type="none" w="med" len="med"/>
                                </a:ln>
                              </p:spPr>
                            </p:sp>
                            <p:sp>
                              <p:nvSpPr>
                                <p:cNvPr id="11974" name="Line 572"/>
                                <p:cNvSpPr/>
                                <p:nvPr/>
                              </p:nvSpPr>
                              <p:spPr>
                                <a:xfrm>
                                  <a:off x="51" y="76"/>
                                  <a:ext cx="30" cy="0"/>
                                </a:xfrm>
                                <a:prstGeom prst="line">
                                  <a:avLst/>
                                </a:prstGeom>
                                <a:ln w="9525" cap="flat" cmpd="sng">
                                  <a:solidFill>
                                    <a:srgbClr val="640000"/>
                                  </a:solidFill>
                                  <a:prstDash val="solid"/>
                                  <a:headEnd type="none" w="med" len="med"/>
                                  <a:tailEnd type="none" w="med" len="med"/>
                                </a:ln>
                              </p:spPr>
                            </p:sp>
                            <p:sp>
                              <p:nvSpPr>
                                <p:cNvPr id="11975" name="Line 573"/>
                                <p:cNvSpPr/>
                                <p:nvPr/>
                              </p:nvSpPr>
                              <p:spPr>
                                <a:xfrm flipH="1">
                                  <a:off x="35" y="76"/>
                                  <a:ext cx="15" cy="12"/>
                                </a:xfrm>
                                <a:prstGeom prst="line">
                                  <a:avLst/>
                                </a:prstGeom>
                                <a:ln w="9525" cap="flat" cmpd="sng">
                                  <a:solidFill>
                                    <a:srgbClr val="640000"/>
                                  </a:solidFill>
                                  <a:prstDash val="solid"/>
                                  <a:headEnd type="none" w="med" len="med"/>
                                  <a:tailEnd type="none" w="med" len="med"/>
                                </a:ln>
                              </p:spPr>
                            </p:sp>
                            <p:sp>
                              <p:nvSpPr>
                                <p:cNvPr id="11976" name="Line 574"/>
                                <p:cNvSpPr/>
                                <p:nvPr/>
                              </p:nvSpPr>
                              <p:spPr>
                                <a:xfrm flipH="1">
                                  <a:off x="3" y="88"/>
                                  <a:ext cx="31" cy="0"/>
                                </a:xfrm>
                                <a:prstGeom prst="line">
                                  <a:avLst/>
                                </a:prstGeom>
                                <a:ln w="9525" cap="flat" cmpd="sng">
                                  <a:solidFill>
                                    <a:srgbClr val="640000"/>
                                  </a:solidFill>
                                  <a:prstDash val="solid"/>
                                  <a:headEnd type="none" w="med" len="med"/>
                                  <a:tailEnd type="none" w="med" len="med"/>
                                </a:ln>
                              </p:spPr>
                            </p:sp>
                            <p:sp>
                              <p:nvSpPr>
                                <p:cNvPr id="11977" name="Line 575"/>
                                <p:cNvSpPr/>
                                <p:nvPr/>
                              </p:nvSpPr>
                              <p:spPr>
                                <a:xfrm flipH="1" flipV="1">
                                  <a:off x="0" y="49"/>
                                  <a:ext cx="3" cy="37"/>
                                </a:xfrm>
                                <a:prstGeom prst="line">
                                  <a:avLst/>
                                </a:prstGeom>
                                <a:ln w="9525" cap="flat" cmpd="sng">
                                  <a:solidFill>
                                    <a:srgbClr val="640000"/>
                                  </a:solidFill>
                                  <a:prstDash val="solid"/>
                                  <a:headEnd type="none" w="med" len="med"/>
                                  <a:tailEnd type="none" w="med" len="med"/>
                                </a:ln>
                              </p:spPr>
                            </p:sp>
                          </p:grpSp>
                          <p:sp>
                            <p:nvSpPr>
                              <p:cNvPr id="11960" name="Line 576"/>
                              <p:cNvSpPr/>
                              <p:nvPr/>
                            </p:nvSpPr>
                            <p:spPr>
                              <a:xfrm>
                                <a:off x="286" y="44"/>
                                <a:ext cx="7" cy="9"/>
                              </a:xfrm>
                              <a:prstGeom prst="line">
                                <a:avLst/>
                              </a:prstGeom>
                              <a:ln w="9525" cap="flat" cmpd="sng">
                                <a:solidFill>
                                  <a:srgbClr val="640000"/>
                                </a:solidFill>
                                <a:prstDash val="solid"/>
                                <a:headEnd type="none" w="med" len="med"/>
                                <a:tailEnd type="none" w="med" len="med"/>
                              </a:ln>
                            </p:spPr>
                          </p:sp>
                        </p:grpSp>
                        <p:sp>
                          <p:nvSpPr>
                            <p:cNvPr id="11958" name="AutoShape 577"/>
                            <p:cNvSpPr/>
                            <p:nvPr/>
                          </p:nvSpPr>
                          <p:spPr>
                            <a:xfrm>
                              <a:off x="93" y="15"/>
                              <a:ext cx="76" cy="23"/>
                            </a:xfrm>
                            <a:prstGeom prst="roundRect">
                              <a:avLst>
                                <a:gd name="adj" fmla="val 16667"/>
                              </a:avLst>
                            </a:prstGeom>
                            <a:solidFill>
                              <a:srgbClr val="000099"/>
                            </a:solidFill>
                            <a:ln w="9525" cap="flat" cmpd="sng">
                              <a:solidFill>
                                <a:schemeClr val="folHlink"/>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22" name="Group 578"/>
                          <p:cNvGrpSpPr/>
                          <p:nvPr/>
                        </p:nvGrpSpPr>
                        <p:grpSpPr>
                          <a:xfrm>
                            <a:off x="4370" y="1294"/>
                            <a:ext cx="294" cy="94"/>
                            <a:chOff x="0" y="0"/>
                            <a:chExt cx="294" cy="94"/>
                          </a:xfrm>
                        </p:grpSpPr>
                        <p:grpSp>
                          <p:nvGrpSpPr>
                            <p:cNvPr id="11916" name="Group 579"/>
                            <p:cNvGrpSpPr/>
                            <p:nvPr/>
                          </p:nvGrpSpPr>
                          <p:grpSpPr>
                            <a:xfrm>
                              <a:off x="0" y="0"/>
                              <a:ext cx="294" cy="94"/>
                              <a:chOff x="0" y="0"/>
                              <a:chExt cx="294" cy="94"/>
                            </a:xfrm>
                          </p:grpSpPr>
                          <p:sp>
                            <p:nvSpPr>
                              <p:cNvPr id="11920" name="Rectangle 580"/>
                              <p:cNvSpPr/>
                              <p:nvPr/>
                            </p:nvSpPr>
                            <p:spPr>
                              <a:xfrm>
                                <a:off x="283" y="52"/>
                                <a:ext cx="10" cy="29"/>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21" name="AutoShape 581"/>
                              <p:cNvSpPr/>
                              <p:nvPr/>
                            </p:nvSpPr>
                            <p:spPr>
                              <a:xfrm rot="-5400000">
                                <a:off x="57" y="1"/>
                                <a:ext cx="15" cy="53"/>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22" name="AutoShape 582"/>
                              <p:cNvSpPr/>
                              <p:nvPr/>
                            </p:nvSpPr>
                            <p:spPr>
                              <a:xfrm rot="-5400000">
                                <a:off x="14" y="21"/>
                                <a:ext cx="12" cy="40"/>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23" name="AutoShape 583"/>
                              <p:cNvSpPr/>
                              <p:nvPr/>
                            </p:nvSpPr>
                            <p:spPr>
                              <a:xfrm rot="10800000">
                                <a:off x="80" y="74"/>
                                <a:ext cx="21" cy="18"/>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924" name="Group 584"/>
                              <p:cNvGrpSpPr/>
                              <p:nvPr/>
                            </p:nvGrpSpPr>
                            <p:grpSpPr>
                              <a:xfrm>
                                <a:off x="0" y="0"/>
                                <a:ext cx="294" cy="94"/>
                                <a:chOff x="0" y="0"/>
                                <a:chExt cx="294" cy="94"/>
                              </a:xfrm>
                            </p:grpSpPr>
                            <p:grpSp>
                              <p:nvGrpSpPr>
                                <p:cNvPr id="11925" name="Group 585"/>
                                <p:cNvGrpSpPr/>
                                <p:nvPr/>
                              </p:nvGrpSpPr>
                              <p:grpSpPr>
                                <a:xfrm>
                                  <a:off x="3" y="0"/>
                                  <a:ext cx="282" cy="94"/>
                                  <a:chOff x="0" y="0"/>
                                  <a:chExt cx="282" cy="94"/>
                                </a:xfrm>
                              </p:grpSpPr>
                              <p:sp>
                                <p:nvSpPr>
                                  <p:cNvPr id="11947" name="AutoShape 586"/>
                                  <p:cNvSpPr/>
                                  <p:nvPr/>
                                </p:nvSpPr>
                                <p:spPr>
                                  <a:xfrm rot="5400000">
                                    <a:off x="166" y="70"/>
                                    <a:ext cx="21" cy="22"/>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48" name="Rectangle 587"/>
                                  <p:cNvSpPr/>
                                  <p:nvPr/>
                                </p:nvSpPr>
                                <p:spPr>
                                  <a:xfrm>
                                    <a:off x="89" y="0"/>
                                    <a:ext cx="72" cy="15"/>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49" name="Rectangle 588"/>
                                  <p:cNvSpPr/>
                                  <p:nvPr/>
                                </p:nvSpPr>
                                <p:spPr>
                                  <a:xfrm>
                                    <a:off x="37" y="37"/>
                                    <a:ext cx="61" cy="37"/>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50" name="Rectangle 589"/>
                                  <p:cNvSpPr/>
                                  <p:nvPr/>
                                </p:nvSpPr>
                                <p:spPr>
                                  <a:xfrm>
                                    <a:off x="167" y="37"/>
                                    <a:ext cx="51" cy="37"/>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51" name="Rectangle 590"/>
                                  <p:cNvSpPr/>
                                  <p:nvPr/>
                                </p:nvSpPr>
                                <p:spPr>
                                  <a:xfrm>
                                    <a:off x="98" y="37"/>
                                    <a:ext cx="69" cy="55"/>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52" name="Rectangle 591"/>
                                  <p:cNvSpPr/>
                                  <p:nvPr/>
                                </p:nvSpPr>
                                <p:spPr>
                                  <a:xfrm>
                                    <a:off x="218" y="44"/>
                                    <a:ext cx="64" cy="30"/>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53" name="Rectangle 592"/>
                                  <p:cNvSpPr/>
                                  <p:nvPr/>
                                </p:nvSpPr>
                                <p:spPr>
                                  <a:xfrm>
                                    <a:off x="232" y="72"/>
                                    <a:ext cx="40" cy="14"/>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54" name="Rectangle 593"/>
                                  <p:cNvSpPr/>
                                  <p:nvPr/>
                                </p:nvSpPr>
                                <p:spPr>
                                  <a:xfrm>
                                    <a:off x="0" y="46"/>
                                    <a:ext cx="34" cy="39"/>
                                  </a:xfrm>
                                  <a:prstGeom prst="rect">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55" name="AutoShape 594"/>
                                  <p:cNvSpPr/>
                                  <p:nvPr/>
                                </p:nvSpPr>
                                <p:spPr>
                                  <a:xfrm rot="-5400000">
                                    <a:off x="68" y="5"/>
                                    <a:ext cx="25" cy="15"/>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56" name="AutoShape 595"/>
                                  <p:cNvSpPr/>
                                  <p:nvPr/>
                                </p:nvSpPr>
                                <p:spPr>
                                  <a:xfrm>
                                    <a:off x="167" y="5"/>
                                    <a:ext cx="51" cy="37"/>
                                  </a:xfrm>
                                  <a:prstGeom prst="rtTriangle">
                                    <a:avLst/>
                                  </a:prstGeom>
                                  <a:solidFill>
                                    <a:srgbClr val="3366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926" name="AutoShape 596"/>
                                <p:cNvSpPr/>
                                <p:nvPr/>
                              </p:nvSpPr>
                              <p:spPr>
                                <a:xfrm>
                                  <a:off x="92" y="15"/>
                                  <a:ext cx="79" cy="25"/>
                                </a:xfrm>
                                <a:prstGeom prst="roundRect">
                                  <a:avLst>
                                    <a:gd name="adj" fmla="val 16667"/>
                                  </a:avLst>
                                </a:prstGeom>
                                <a:solidFill>
                                  <a:srgbClr val="336600"/>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927" name="Group 597"/>
                                <p:cNvGrpSpPr/>
                                <p:nvPr/>
                              </p:nvGrpSpPr>
                              <p:grpSpPr>
                                <a:xfrm>
                                  <a:off x="0" y="0"/>
                                  <a:ext cx="294" cy="92"/>
                                  <a:chOff x="0" y="0"/>
                                  <a:chExt cx="294" cy="92"/>
                                </a:xfrm>
                              </p:grpSpPr>
                              <p:grpSp>
                                <p:nvGrpSpPr>
                                  <p:cNvPr id="11928" name="Group 598"/>
                                  <p:cNvGrpSpPr/>
                                  <p:nvPr/>
                                </p:nvGrpSpPr>
                                <p:grpSpPr>
                                  <a:xfrm>
                                    <a:off x="0" y="0"/>
                                    <a:ext cx="294" cy="92"/>
                                    <a:chOff x="0" y="0"/>
                                    <a:chExt cx="294" cy="92"/>
                                  </a:xfrm>
                                </p:grpSpPr>
                                <p:sp>
                                  <p:nvSpPr>
                                    <p:cNvPr id="11930" name="Line 599"/>
                                    <p:cNvSpPr/>
                                    <p:nvPr/>
                                  </p:nvSpPr>
                                  <p:spPr>
                                    <a:xfrm flipV="1">
                                      <a:off x="1" y="27"/>
                                      <a:ext cx="75" cy="19"/>
                                    </a:xfrm>
                                    <a:prstGeom prst="line">
                                      <a:avLst/>
                                    </a:prstGeom>
                                    <a:ln w="9525" cap="flat" cmpd="sng">
                                      <a:solidFill>
                                        <a:schemeClr val="tx1"/>
                                      </a:solidFill>
                                      <a:prstDash val="solid"/>
                                      <a:headEnd type="none" w="med" len="med"/>
                                      <a:tailEnd type="none" w="med" len="med"/>
                                    </a:ln>
                                  </p:spPr>
                                </p:sp>
                                <p:sp>
                                  <p:nvSpPr>
                                    <p:cNvPr id="11931" name="Line 600"/>
                                    <p:cNvSpPr/>
                                    <p:nvPr/>
                                  </p:nvSpPr>
                                  <p:spPr>
                                    <a:xfrm flipV="1">
                                      <a:off x="77" y="0"/>
                                      <a:ext cx="15" cy="26"/>
                                    </a:xfrm>
                                    <a:prstGeom prst="line">
                                      <a:avLst/>
                                    </a:prstGeom>
                                    <a:ln w="9525" cap="flat" cmpd="sng">
                                      <a:solidFill>
                                        <a:schemeClr val="tx1"/>
                                      </a:solidFill>
                                      <a:prstDash val="solid"/>
                                      <a:headEnd type="none" w="med" len="med"/>
                                      <a:tailEnd type="none" w="med" len="med"/>
                                    </a:ln>
                                  </p:spPr>
                                </p:sp>
                                <p:sp>
                                  <p:nvSpPr>
                                    <p:cNvPr id="11932" name="Line 601"/>
                                    <p:cNvSpPr/>
                                    <p:nvPr/>
                                  </p:nvSpPr>
                                  <p:spPr>
                                    <a:xfrm>
                                      <a:off x="94" y="0"/>
                                      <a:ext cx="70" cy="0"/>
                                    </a:xfrm>
                                    <a:prstGeom prst="line">
                                      <a:avLst/>
                                    </a:prstGeom>
                                    <a:ln w="9525" cap="flat" cmpd="sng">
                                      <a:solidFill>
                                        <a:schemeClr val="tx1"/>
                                      </a:solidFill>
                                      <a:prstDash val="solid"/>
                                      <a:headEnd type="none" w="med" len="med"/>
                                      <a:tailEnd type="none" w="med" len="med"/>
                                    </a:ln>
                                  </p:spPr>
                                </p:sp>
                                <p:sp>
                                  <p:nvSpPr>
                                    <p:cNvPr id="11933" name="Line 602"/>
                                    <p:cNvSpPr/>
                                    <p:nvPr/>
                                  </p:nvSpPr>
                                  <p:spPr>
                                    <a:xfrm>
                                      <a:off x="164" y="0"/>
                                      <a:ext cx="50" cy="37"/>
                                    </a:xfrm>
                                    <a:prstGeom prst="line">
                                      <a:avLst/>
                                    </a:prstGeom>
                                    <a:ln w="9525" cap="flat" cmpd="sng">
                                      <a:solidFill>
                                        <a:schemeClr val="tx1"/>
                                      </a:solidFill>
                                      <a:prstDash val="solid"/>
                                      <a:headEnd type="none" w="med" len="med"/>
                                      <a:tailEnd type="none" w="med" len="med"/>
                                    </a:ln>
                                  </p:spPr>
                                </p:sp>
                                <p:sp>
                                  <p:nvSpPr>
                                    <p:cNvPr id="11934" name="Line 603"/>
                                    <p:cNvSpPr/>
                                    <p:nvPr/>
                                  </p:nvSpPr>
                                  <p:spPr>
                                    <a:xfrm>
                                      <a:off x="294" y="51"/>
                                      <a:ext cx="0" cy="30"/>
                                    </a:xfrm>
                                    <a:prstGeom prst="line">
                                      <a:avLst/>
                                    </a:prstGeom>
                                    <a:ln w="9525" cap="flat" cmpd="sng">
                                      <a:solidFill>
                                        <a:schemeClr val="tx1"/>
                                      </a:solidFill>
                                      <a:prstDash val="solid"/>
                                      <a:headEnd type="none" w="med" len="med"/>
                                      <a:tailEnd type="none" w="med" len="med"/>
                                    </a:ln>
                                  </p:spPr>
                                </p:sp>
                                <p:sp>
                                  <p:nvSpPr>
                                    <p:cNvPr id="11935" name="Line 604"/>
                                    <p:cNvSpPr/>
                                    <p:nvPr/>
                                  </p:nvSpPr>
                                  <p:spPr>
                                    <a:xfrm>
                                      <a:off x="104" y="92"/>
                                      <a:ext cx="70" cy="0"/>
                                    </a:xfrm>
                                    <a:prstGeom prst="line">
                                      <a:avLst/>
                                    </a:prstGeom>
                                    <a:ln w="9525" cap="flat" cmpd="sng">
                                      <a:solidFill>
                                        <a:schemeClr val="tx1"/>
                                      </a:solidFill>
                                      <a:prstDash val="solid"/>
                                      <a:headEnd type="none" w="med" len="med"/>
                                      <a:tailEnd type="none" w="med" len="med"/>
                                    </a:ln>
                                  </p:spPr>
                                </p:sp>
                                <p:sp>
                                  <p:nvSpPr>
                                    <p:cNvPr id="11936" name="Line 605"/>
                                    <p:cNvSpPr/>
                                    <p:nvPr/>
                                  </p:nvSpPr>
                                  <p:spPr>
                                    <a:xfrm flipV="1">
                                      <a:off x="174" y="74"/>
                                      <a:ext cx="20" cy="18"/>
                                    </a:xfrm>
                                    <a:prstGeom prst="line">
                                      <a:avLst/>
                                    </a:prstGeom>
                                    <a:ln w="9525" cap="flat" cmpd="sng">
                                      <a:solidFill>
                                        <a:schemeClr val="tx1"/>
                                      </a:solidFill>
                                      <a:prstDash val="solid"/>
                                      <a:headEnd type="none" w="med" len="med"/>
                                      <a:tailEnd type="none" w="med" len="med"/>
                                    </a:ln>
                                  </p:spPr>
                                </p:sp>
                                <p:sp>
                                  <p:nvSpPr>
                                    <p:cNvPr id="11937" name="Line 606"/>
                                    <p:cNvSpPr/>
                                    <p:nvPr/>
                                  </p:nvSpPr>
                                  <p:spPr>
                                    <a:xfrm>
                                      <a:off x="194" y="74"/>
                                      <a:ext cx="30" cy="0"/>
                                    </a:xfrm>
                                    <a:prstGeom prst="line">
                                      <a:avLst/>
                                    </a:prstGeom>
                                    <a:ln w="9525" cap="flat" cmpd="sng">
                                      <a:solidFill>
                                        <a:schemeClr val="tx1"/>
                                      </a:solidFill>
                                      <a:prstDash val="solid"/>
                                      <a:headEnd type="none" w="med" len="med"/>
                                      <a:tailEnd type="none" w="med" len="med"/>
                                    </a:ln>
                                  </p:spPr>
                                </p:sp>
                                <p:sp>
                                  <p:nvSpPr>
                                    <p:cNvPr id="11938" name="Line 607"/>
                                    <p:cNvSpPr/>
                                    <p:nvPr/>
                                  </p:nvSpPr>
                                  <p:spPr>
                                    <a:xfrm>
                                      <a:off x="224" y="74"/>
                                      <a:ext cx="14" cy="12"/>
                                    </a:xfrm>
                                    <a:prstGeom prst="line">
                                      <a:avLst/>
                                    </a:prstGeom>
                                    <a:ln w="9525" cap="flat" cmpd="sng">
                                      <a:solidFill>
                                        <a:schemeClr val="tx1"/>
                                      </a:solidFill>
                                      <a:prstDash val="solid"/>
                                      <a:headEnd type="none" w="med" len="med"/>
                                      <a:tailEnd type="none" w="med" len="med"/>
                                    </a:ln>
                                  </p:spPr>
                                </p:sp>
                                <p:sp>
                                  <p:nvSpPr>
                                    <p:cNvPr id="11939" name="Line 608"/>
                                    <p:cNvSpPr/>
                                    <p:nvPr/>
                                  </p:nvSpPr>
                                  <p:spPr>
                                    <a:xfrm>
                                      <a:off x="239" y="86"/>
                                      <a:ext cx="35" cy="0"/>
                                    </a:xfrm>
                                    <a:prstGeom prst="line">
                                      <a:avLst/>
                                    </a:prstGeom>
                                    <a:ln w="9525" cap="flat" cmpd="sng">
                                      <a:solidFill>
                                        <a:schemeClr val="tx1"/>
                                      </a:solidFill>
                                      <a:prstDash val="solid"/>
                                      <a:headEnd type="none" w="med" len="med"/>
                                      <a:tailEnd type="none" w="med" len="med"/>
                                    </a:ln>
                                  </p:spPr>
                                </p:sp>
                                <p:grpSp>
                                  <p:nvGrpSpPr>
                                    <p:cNvPr id="11940" name="Group 609"/>
                                    <p:cNvGrpSpPr/>
                                    <p:nvPr/>
                                  </p:nvGrpSpPr>
                                  <p:grpSpPr>
                                    <a:xfrm>
                                      <a:off x="35" y="74"/>
                                      <a:ext cx="67" cy="18"/>
                                      <a:chOff x="0" y="0"/>
                                      <a:chExt cx="696" cy="156"/>
                                    </a:xfrm>
                                  </p:grpSpPr>
                                  <p:sp>
                                    <p:nvSpPr>
                                      <p:cNvPr id="11944" name="Line 610"/>
                                      <p:cNvSpPr/>
                                      <p:nvPr/>
                                    </p:nvSpPr>
                                    <p:spPr>
                                      <a:xfrm flipH="1" flipV="1">
                                        <a:off x="486" y="0"/>
                                        <a:ext cx="210" cy="156"/>
                                      </a:xfrm>
                                      <a:prstGeom prst="line">
                                        <a:avLst/>
                                      </a:prstGeom>
                                      <a:ln w="9525" cap="flat" cmpd="sng">
                                        <a:solidFill>
                                          <a:schemeClr val="tx1"/>
                                        </a:solidFill>
                                        <a:prstDash val="solid"/>
                                        <a:headEnd type="none" w="med" len="med"/>
                                        <a:tailEnd type="none" w="med" len="med"/>
                                      </a:ln>
                                    </p:spPr>
                                  </p:sp>
                                  <p:sp>
                                    <p:nvSpPr>
                                      <p:cNvPr id="11945" name="Line 611"/>
                                      <p:cNvSpPr/>
                                      <p:nvPr/>
                                    </p:nvSpPr>
                                    <p:spPr>
                                      <a:xfrm>
                                        <a:off x="171" y="0"/>
                                        <a:ext cx="315" cy="0"/>
                                      </a:xfrm>
                                      <a:prstGeom prst="line">
                                        <a:avLst/>
                                      </a:prstGeom>
                                      <a:ln w="9525" cap="flat" cmpd="sng">
                                        <a:solidFill>
                                          <a:schemeClr val="tx1"/>
                                        </a:solidFill>
                                        <a:prstDash val="solid"/>
                                        <a:headEnd type="none" w="med" len="med"/>
                                        <a:tailEnd type="none" w="med" len="med"/>
                                      </a:ln>
                                    </p:spPr>
                                  </p:sp>
                                  <p:sp>
                                    <p:nvSpPr>
                                      <p:cNvPr id="11946" name="Line 612"/>
                                      <p:cNvSpPr/>
                                      <p:nvPr/>
                                    </p:nvSpPr>
                                    <p:spPr>
                                      <a:xfrm flipH="1">
                                        <a:off x="0" y="3"/>
                                        <a:ext cx="153" cy="102"/>
                                      </a:xfrm>
                                      <a:prstGeom prst="line">
                                        <a:avLst/>
                                      </a:prstGeom>
                                      <a:ln w="9525" cap="flat" cmpd="sng">
                                        <a:solidFill>
                                          <a:schemeClr val="tx1"/>
                                        </a:solidFill>
                                        <a:prstDash val="solid"/>
                                        <a:headEnd type="none" w="med" len="med"/>
                                        <a:tailEnd type="none" w="med" len="med"/>
                                      </a:ln>
                                    </p:spPr>
                                  </p:sp>
                                </p:grpSp>
                                <p:sp>
                                  <p:nvSpPr>
                                    <p:cNvPr id="11941" name="Line 613"/>
                                    <p:cNvSpPr/>
                                    <p:nvPr/>
                                  </p:nvSpPr>
                                  <p:spPr>
                                    <a:xfrm flipH="1">
                                      <a:off x="4" y="86"/>
                                      <a:ext cx="30" cy="0"/>
                                    </a:xfrm>
                                    <a:prstGeom prst="line">
                                      <a:avLst/>
                                    </a:prstGeom>
                                    <a:ln w="9525" cap="flat" cmpd="sng">
                                      <a:solidFill>
                                        <a:schemeClr val="tx1"/>
                                      </a:solidFill>
                                      <a:prstDash val="solid"/>
                                      <a:headEnd type="none" w="med" len="med"/>
                                      <a:tailEnd type="none" w="med" len="med"/>
                                    </a:ln>
                                  </p:spPr>
                                </p:sp>
                                <p:sp>
                                  <p:nvSpPr>
                                    <p:cNvPr id="11942" name="Line 614"/>
                                    <p:cNvSpPr/>
                                    <p:nvPr/>
                                  </p:nvSpPr>
                                  <p:spPr>
                                    <a:xfrm flipH="1" flipV="1">
                                      <a:off x="0" y="48"/>
                                      <a:ext cx="4" cy="37"/>
                                    </a:xfrm>
                                    <a:prstGeom prst="line">
                                      <a:avLst/>
                                    </a:prstGeom>
                                    <a:ln w="9525" cap="flat" cmpd="sng">
                                      <a:solidFill>
                                        <a:schemeClr val="tx1"/>
                                      </a:solidFill>
                                      <a:prstDash val="solid"/>
                                      <a:headEnd type="none" w="med" len="med"/>
                                      <a:tailEnd type="none" w="med" len="med"/>
                                    </a:ln>
                                  </p:spPr>
                                </p:sp>
                                <p:sp>
                                  <p:nvSpPr>
                                    <p:cNvPr id="11943" name="AutoShape 615"/>
                                    <p:cNvSpPr/>
                                    <p:nvPr/>
                                  </p:nvSpPr>
                                  <p:spPr>
                                    <a:xfrm>
                                      <a:off x="221" y="39"/>
                                      <a:ext cx="70" cy="5"/>
                                    </a:xfrm>
                                    <a:prstGeom prst="rtTriangle">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929" name="Line 616"/>
                                  <p:cNvSpPr/>
                                  <p:nvPr/>
                                </p:nvSpPr>
                                <p:spPr>
                                  <a:xfrm flipV="1">
                                    <a:off x="273" y="81"/>
                                    <a:ext cx="20" cy="5"/>
                                  </a:xfrm>
                                  <a:prstGeom prst="line">
                                    <a:avLst/>
                                  </a:prstGeom>
                                  <a:ln w="9525" cap="flat" cmpd="sng">
                                    <a:solidFill>
                                      <a:schemeClr val="tx1"/>
                                    </a:solidFill>
                                    <a:prstDash val="solid"/>
                                    <a:headEnd type="none" w="med" len="med"/>
                                    <a:tailEnd type="none" w="med" len="med"/>
                                  </a:ln>
                                </p:spPr>
                              </p:sp>
                            </p:grpSp>
                          </p:grpSp>
                        </p:grpSp>
                        <p:sp>
                          <p:nvSpPr>
                            <p:cNvPr id="11917" name="Rectangle 617"/>
                            <p:cNvSpPr/>
                            <p:nvPr/>
                          </p:nvSpPr>
                          <p:spPr>
                            <a:xfrm>
                              <a:off x="35" y="42"/>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18" name="Rectangle 618"/>
                            <p:cNvSpPr/>
                            <p:nvPr/>
                          </p:nvSpPr>
                          <p:spPr>
                            <a:xfrm>
                              <a:off x="257" y="56"/>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19" name="Rectangle 619"/>
                            <p:cNvSpPr/>
                            <p:nvPr/>
                          </p:nvSpPr>
                          <p:spPr>
                            <a:xfrm>
                              <a:off x="149" y="60"/>
                              <a:ext cx="25" cy="25"/>
                            </a:xfrm>
                            <a:prstGeom prst="rect">
                              <a:avLst/>
                            </a:prstGeom>
                            <a:solidFill>
                              <a:srgbClr val="3366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23" name="Group 620"/>
                          <p:cNvGrpSpPr/>
                          <p:nvPr/>
                        </p:nvGrpSpPr>
                        <p:grpSpPr>
                          <a:xfrm>
                            <a:off x="4372" y="1630"/>
                            <a:ext cx="294" cy="94"/>
                            <a:chOff x="0" y="0"/>
                            <a:chExt cx="294" cy="94"/>
                          </a:xfrm>
                        </p:grpSpPr>
                        <p:grpSp>
                          <p:nvGrpSpPr>
                            <p:cNvPr id="11875" name="Group 621"/>
                            <p:cNvGrpSpPr/>
                            <p:nvPr/>
                          </p:nvGrpSpPr>
                          <p:grpSpPr>
                            <a:xfrm>
                              <a:off x="0" y="0"/>
                              <a:ext cx="294" cy="94"/>
                              <a:chOff x="0" y="0"/>
                              <a:chExt cx="294" cy="94"/>
                            </a:xfrm>
                          </p:grpSpPr>
                          <p:sp>
                            <p:nvSpPr>
                              <p:cNvPr id="11879" name="Rectangle 622"/>
                              <p:cNvSpPr/>
                              <p:nvPr/>
                            </p:nvSpPr>
                            <p:spPr>
                              <a:xfrm>
                                <a:off x="283" y="52"/>
                                <a:ext cx="10" cy="2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80" name="AutoShape 623"/>
                              <p:cNvSpPr/>
                              <p:nvPr/>
                            </p:nvSpPr>
                            <p:spPr>
                              <a:xfrm rot="-5400000">
                                <a:off x="57" y="1"/>
                                <a:ext cx="15" cy="53"/>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81" name="AutoShape 624"/>
                              <p:cNvSpPr/>
                              <p:nvPr/>
                            </p:nvSpPr>
                            <p:spPr>
                              <a:xfrm rot="-5400000">
                                <a:off x="14" y="21"/>
                                <a:ext cx="12" cy="40"/>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82" name="AutoShape 625"/>
                              <p:cNvSpPr/>
                              <p:nvPr/>
                            </p:nvSpPr>
                            <p:spPr>
                              <a:xfrm rot="10800000">
                                <a:off x="80" y="74"/>
                                <a:ext cx="21" cy="18"/>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883" name="Group 626"/>
                              <p:cNvGrpSpPr/>
                              <p:nvPr/>
                            </p:nvGrpSpPr>
                            <p:grpSpPr>
                              <a:xfrm>
                                <a:off x="0" y="0"/>
                                <a:ext cx="294" cy="94"/>
                                <a:chOff x="0" y="0"/>
                                <a:chExt cx="294" cy="94"/>
                              </a:xfrm>
                            </p:grpSpPr>
                            <p:grpSp>
                              <p:nvGrpSpPr>
                                <p:cNvPr id="11884" name="Group 627"/>
                                <p:cNvGrpSpPr/>
                                <p:nvPr/>
                              </p:nvGrpSpPr>
                              <p:grpSpPr>
                                <a:xfrm>
                                  <a:off x="3" y="0"/>
                                  <a:ext cx="282" cy="94"/>
                                  <a:chOff x="0" y="0"/>
                                  <a:chExt cx="282" cy="94"/>
                                </a:xfrm>
                              </p:grpSpPr>
                              <p:sp>
                                <p:nvSpPr>
                                  <p:cNvPr id="11906" name="AutoShape 628"/>
                                  <p:cNvSpPr/>
                                  <p:nvPr/>
                                </p:nvSpPr>
                                <p:spPr>
                                  <a:xfrm rot="5400000">
                                    <a:off x="166" y="70"/>
                                    <a:ext cx="21" cy="22"/>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07" name="Rectangle 629"/>
                                  <p:cNvSpPr/>
                                  <p:nvPr/>
                                </p:nvSpPr>
                                <p:spPr>
                                  <a:xfrm>
                                    <a:off x="89" y="0"/>
                                    <a:ext cx="72" cy="1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08" name="Rectangle 630"/>
                                  <p:cNvSpPr/>
                                  <p:nvPr/>
                                </p:nvSpPr>
                                <p:spPr>
                                  <a:xfrm>
                                    <a:off x="37" y="37"/>
                                    <a:ext cx="6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09" name="Rectangle 631"/>
                                  <p:cNvSpPr/>
                                  <p:nvPr/>
                                </p:nvSpPr>
                                <p:spPr>
                                  <a:xfrm>
                                    <a:off x="167" y="37"/>
                                    <a:ext cx="5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10" name="Rectangle 632"/>
                                  <p:cNvSpPr/>
                                  <p:nvPr/>
                                </p:nvSpPr>
                                <p:spPr>
                                  <a:xfrm>
                                    <a:off x="98" y="37"/>
                                    <a:ext cx="69" cy="5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11" name="Rectangle 633"/>
                                  <p:cNvSpPr/>
                                  <p:nvPr/>
                                </p:nvSpPr>
                                <p:spPr>
                                  <a:xfrm>
                                    <a:off x="218" y="44"/>
                                    <a:ext cx="64" cy="30"/>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12" name="Rectangle 634"/>
                                  <p:cNvSpPr/>
                                  <p:nvPr/>
                                </p:nvSpPr>
                                <p:spPr>
                                  <a:xfrm>
                                    <a:off x="232" y="72"/>
                                    <a:ext cx="40" cy="14"/>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13" name="Rectangle 635"/>
                                  <p:cNvSpPr/>
                                  <p:nvPr/>
                                </p:nvSpPr>
                                <p:spPr>
                                  <a:xfrm>
                                    <a:off x="0" y="46"/>
                                    <a:ext cx="34" cy="3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14" name="AutoShape 636"/>
                                  <p:cNvSpPr/>
                                  <p:nvPr/>
                                </p:nvSpPr>
                                <p:spPr>
                                  <a:xfrm rot="-5400000">
                                    <a:off x="68" y="5"/>
                                    <a:ext cx="25" cy="15"/>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915" name="AutoShape 637"/>
                                  <p:cNvSpPr/>
                                  <p:nvPr/>
                                </p:nvSpPr>
                                <p:spPr>
                                  <a:xfrm>
                                    <a:off x="167" y="5"/>
                                    <a:ext cx="51" cy="37"/>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885" name="AutoShape 638"/>
                                <p:cNvSpPr/>
                                <p:nvPr/>
                              </p:nvSpPr>
                              <p:spPr>
                                <a:xfrm>
                                  <a:off x="92" y="15"/>
                                  <a:ext cx="79" cy="25"/>
                                </a:xfrm>
                                <a:prstGeom prst="roundRect">
                                  <a:avLst>
                                    <a:gd name="adj" fmla="val 16667"/>
                                  </a:avLst>
                                </a:prstGeom>
                                <a:solidFill>
                                  <a:srgbClr val="000099"/>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886" name="Group 639"/>
                                <p:cNvGrpSpPr/>
                                <p:nvPr/>
                              </p:nvGrpSpPr>
                              <p:grpSpPr>
                                <a:xfrm>
                                  <a:off x="0" y="0"/>
                                  <a:ext cx="294" cy="92"/>
                                  <a:chOff x="0" y="0"/>
                                  <a:chExt cx="294" cy="92"/>
                                </a:xfrm>
                              </p:grpSpPr>
                              <p:grpSp>
                                <p:nvGrpSpPr>
                                  <p:cNvPr id="11887" name="Group 640"/>
                                  <p:cNvGrpSpPr/>
                                  <p:nvPr/>
                                </p:nvGrpSpPr>
                                <p:grpSpPr>
                                  <a:xfrm>
                                    <a:off x="0" y="0"/>
                                    <a:ext cx="294" cy="92"/>
                                    <a:chOff x="0" y="0"/>
                                    <a:chExt cx="294" cy="92"/>
                                  </a:xfrm>
                                </p:grpSpPr>
                                <p:sp>
                                  <p:nvSpPr>
                                    <p:cNvPr id="11889" name="Line 641"/>
                                    <p:cNvSpPr/>
                                    <p:nvPr/>
                                  </p:nvSpPr>
                                  <p:spPr>
                                    <a:xfrm flipV="1">
                                      <a:off x="1" y="27"/>
                                      <a:ext cx="75" cy="19"/>
                                    </a:xfrm>
                                    <a:prstGeom prst="line">
                                      <a:avLst/>
                                    </a:prstGeom>
                                    <a:ln w="9525" cap="flat" cmpd="sng">
                                      <a:solidFill>
                                        <a:schemeClr val="tx1"/>
                                      </a:solidFill>
                                      <a:prstDash val="solid"/>
                                      <a:headEnd type="none" w="med" len="med"/>
                                      <a:tailEnd type="none" w="med" len="med"/>
                                    </a:ln>
                                  </p:spPr>
                                </p:sp>
                                <p:sp>
                                  <p:nvSpPr>
                                    <p:cNvPr id="11890" name="Line 642"/>
                                    <p:cNvSpPr/>
                                    <p:nvPr/>
                                  </p:nvSpPr>
                                  <p:spPr>
                                    <a:xfrm flipV="1">
                                      <a:off x="77" y="0"/>
                                      <a:ext cx="15" cy="26"/>
                                    </a:xfrm>
                                    <a:prstGeom prst="line">
                                      <a:avLst/>
                                    </a:prstGeom>
                                    <a:ln w="9525" cap="flat" cmpd="sng">
                                      <a:solidFill>
                                        <a:schemeClr val="tx1"/>
                                      </a:solidFill>
                                      <a:prstDash val="solid"/>
                                      <a:headEnd type="none" w="med" len="med"/>
                                      <a:tailEnd type="none" w="med" len="med"/>
                                    </a:ln>
                                  </p:spPr>
                                </p:sp>
                                <p:sp>
                                  <p:nvSpPr>
                                    <p:cNvPr id="11891" name="Line 643"/>
                                    <p:cNvSpPr/>
                                    <p:nvPr/>
                                  </p:nvSpPr>
                                  <p:spPr>
                                    <a:xfrm>
                                      <a:off x="94" y="0"/>
                                      <a:ext cx="70" cy="0"/>
                                    </a:xfrm>
                                    <a:prstGeom prst="line">
                                      <a:avLst/>
                                    </a:prstGeom>
                                    <a:ln w="9525" cap="flat" cmpd="sng">
                                      <a:solidFill>
                                        <a:schemeClr val="tx1"/>
                                      </a:solidFill>
                                      <a:prstDash val="solid"/>
                                      <a:headEnd type="none" w="med" len="med"/>
                                      <a:tailEnd type="none" w="med" len="med"/>
                                    </a:ln>
                                  </p:spPr>
                                </p:sp>
                                <p:sp>
                                  <p:nvSpPr>
                                    <p:cNvPr id="11892" name="Line 644"/>
                                    <p:cNvSpPr/>
                                    <p:nvPr/>
                                  </p:nvSpPr>
                                  <p:spPr>
                                    <a:xfrm>
                                      <a:off x="164" y="0"/>
                                      <a:ext cx="50" cy="37"/>
                                    </a:xfrm>
                                    <a:prstGeom prst="line">
                                      <a:avLst/>
                                    </a:prstGeom>
                                    <a:ln w="9525" cap="flat" cmpd="sng">
                                      <a:solidFill>
                                        <a:schemeClr val="tx1"/>
                                      </a:solidFill>
                                      <a:prstDash val="solid"/>
                                      <a:headEnd type="none" w="med" len="med"/>
                                      <a:tailEnd type="none" w="med" len="med"/>
                                    </a:ln>
                                  </p:spPr>
                                </p:sp>
                                <p:sp>
                                  <p:nvSpPr>
                                    <p:cNvPr id="11893" name="Line 645"/>
                                    <p:cNvSpPr/>
                                    <p:nvPr/>
                                  </p:nvSpPr>
                                  <p:spPr>
                                    <a:xfrm>
                                      <a:off x="294" y="51"/>
                                      <a:ext cx="0" cy="30"/>
                                    </a:xfrm>
                                    <a:prstGeom prst="line">
                                      <a:avLst/>
                                    </a:prstGeom>
                                    <a:ln w="9525" cap="flat" cmpd="sng">
                                      <a:solidFill>
                                        <a:schemeClr val="tx1"/>
                                      </a:solidFill>
                                      <a:prstDash val="solid"/>
                                      <a:headEnd type="none" w="med" len="med"/>
                                      <a:tailEnd type="none" w="med" len="med"/>
                                    </a:ln>
                                  </p:spPr>
                                </p:sp>
                                <p:sp>
                                  <p:nvSpPr>
                                    <p:cNvPr id="11894" name="Line 646"/>
                                    <p:cNvSpPr/>
                                    <p:nvPr/>
                                  </p:nvSpPr>
                                  <p:spPr>
                                    <a:xfrm>
                                      <a:off x="104" y="92"/>
                                      <a:ext cx="70" cy="0"/>
                                    </a:xfrm>
                                    <a:prstGeom prst="line">
                                      <a:avLst/>
                                    </a:prstGeom>
                                    <a:ln w="9525" cap="flat" cmpd="sng">
                                      <a:solidFill>
                                        <a:schemeClr val="tx1"/>
                                      </a:solidFill>
                                      <a:prstDash val="solid"/>
                                      <a:headEnd type="none" w="med" len="med"/>
                                      <a:tailEnd type="none" w="med" len="med"/>
                                    </a:ln>
                                  </p:spPr>
                                </p:sp>
                                <p:sp>
                                  <p:nvSpPr>
                                    <p:cNvPr id="11895" name="Line 647"/>
                                    <p:cNvSpPr/>
                                    <p:nvPr/>
                                  </p:nvSpPr>
                                  <p:spPr>
                                    <a:xfrm flipV="1">
                                      <a:off x="174" y="74"/>
                                      <a:ext cx="20" cy="18"/>
                                    </a:xfrm>
                                    <a:prstGeom prst="line">
                                      <a:avLst/>
                                    </a:prstGeom>
                                    <a:ln w="9525" cap="flat" cmpd="sng">
                                      <a:solidFill>
                                        <a:schemeClr val="tx1"/>
                                      </a:solidFill>
                                      <a:prstDash val="solid"/>
                                      <a:headEnd type="none" w="med" len="med"/>
                                      <a:tailEnd type="none" w="med" len="med"/>
                                    </a:ln>
                                  </p:spPr>
                                </p:sp>
                                <p:sp>
                                  <p:nvSpPr>
                                    <p:cNvPr id="11896" name="Line 648"/>
                                    <p:cNvSpPr/>
                                    <p:nvPr/>
                                  </p:nvSpPr>
                                  <p:spPr>
                                    <a:xfrm>
                                      <a:off x="194" y="74"/>
                                      <a:ext cx="30" cy="0"/>
                                    </a:xfrm>
                                    <a:prstGeom prst="line">
                                      <a:avLst/>
                                    </a:prstGeom>
                                    <a:ln w="9525" cap="flat" cmpd="sng">
                                      <a:solidFill>
                                        <a:schemeClr val="tx1"/>
                                      </a:solidFill>
                                      <a:prstDash val="solid"/>
                                      <a:headEnd type="none" w="med" len="med"/>
                                      <a:tailEnd type="none" w="med" len="med"/>
                                    </a:ln>
                                  </p:spPr>
                                </p:sp>
                                <p:sp>
                                  <p:nvSpPr>
                                    <p:cNvPr id="11897" name="Line 649"/>
                                    <p:cNvSpPr/>
                                    <p:nvPr/>
                                  </p:nvSpPr>
                                  <p:spPr>
                                    <a:xfrm>
                                      <a:off x="224" y="74"/>
                                      <a:ext cx="14" cy="12"/>
                                    </a:xfrm>
                                    <a:prstGeom prst="line">
                                      <a:avLst/>
                                    </a:prstGeom>
                                    <a:ln w="9525" cap="flat" cmpd="sng">
                                      <a:solidFill>
                                        <a:schemeClr val="tx1"/>
                                      </a:solidFill>
                                      <a:prstDash val="solid"/>
                                      <a:headEnd type="none" w="med" len="med"/>
                                      <a:tailEnd type="none" w="med" len="med"/>
                                    </a:ln>
                                  </p:spPr>
                                </p:sp>
                                <p:sp>
                                  <p:nvSpPr>
                                    <p:cNvPr id="11898" name="Line 650"/>
                                    <p:cNvSpPr/>
                                    <p:nvPr/>
                                  </p:nvSpPr>
                                  <p:spPr>
                                    <a:xfrm>
                                      <a:off x="239" y="86"/>
                                      <a:ext cx="35" cy="0"/>
                                    </a:xfrm>
                                    <a:prstGeom prst="line">
                                      <a:avLst/>
                                    </a:prstGeom>
                                    <a:ln w="9525" cap="flat" cmpd="sng">
                                      <a:solidFill>
                                        <a:schemeClr val="tx1"/>
                                      </a:solidFill>
                                      <a:prstDash val="solid"/>
                                      <a:headEnd type="none" w="med" len="med"/>
                                      <a:tailEnd type="none" w="med" len="med"/>
                                    </a:ln>
                                  </p:spPr>
                                </p:sp>
                                <p:grpSp>
                                  <p:nvGrpSpPr>
                                    <p:cNvPr id="11899" name="Group 651"/>
                                    <p:cNvGrpSpPr/>
                                    <p:nvPr/>
                                  </p:nvGrpSpPr>
                                  <p:grpSpPr>
                                    <a:xfrm>
                                      <a:off x="35" y="74"/>
                                      <a:ext cx="67" cy="18"/>
                                      <a:chOff x="0" y="0"/>
                                      <a:chExt cx="696" cy="156"/>
                                    </a:xfrm>
                                  </p:grpSpPr>
                                  <p:sp>
                                    <p:nvSpPr>
                                      <p:cNvPr id="11903" name="Line 652"/>
                                      <p:cNvSpPr/>
                                      <p:nvPr/>
                                    </p:nvSpPr>
                                    <p:spPr>
                                      <a:xfrm flipH="1" flipV="1">
                                        <a:off x="486" y="0"/>
                                        <a:ext cx="210" cy="156"/>
                                      </a:xfrm>
                                      <a:prstGeom prst="line">
                                        <a:avLst/>
                                      </a:prstGeom>
                                      <a:ln w="9525" cap="flat" cmpd="sng">
                                        <a:solidFill>
                                          <a:schemeClr val="tx1"/>
                                        </a:solidFill>
                                        <a:prstDash val="solid"/>
                                        <a:headEnd type="none" w="med" len="med"/>
                                        <a:tailEnd type="none" w="med" len="med"/>
                                      </a:ln>
                                    </p:spPr>
                                  </p:sp>
                                  <p:sp>
                                    <p:nvSpPr>
                                      <p:cNvPr id="11904" name="Line 653"/>
                                      <p:cNvSpPr/>
                                      <p:nvPr/>
                                    </p:nvSpPr>
                                    <p:spPr>
                                      <a:xfrm>
                                        <a:off x="171" y="0"/>
                                        <a:ext cx="315" cy="0"/>
                                      </a:xfrm>
                                      <a:prstGeom prst="line">
                                        <a:avLst/>
                                      </a:prstGeom>
                                      <a:ln w="9525" cap="flat" cmpd="sng">
                                        <a:solidFill>
                                          <a:schemeClr val="tx1"/>
                                        </a:solidFill>
                                        <a:prstDash val="solid"/>
                                        <a:headEnd type="none" w="med" len="med"/>
                                        <a:tailEnd type="none" w="med" len="med"/>
                                      </a:ln>
                                    </p:spPr>
                                  </p:sp>
                                  <p:sp>
                                    <p:nvSpPr>
                                      <p:cNvPr id="11905" name="Line 654"/>
                                      <p:cNvSpPr/>
                                      <p:nvPr/>
                                    </p:nvSpPr>
                                    <p:spPr>
                                      <a:xfrm flipH="1">
                                        <a:off x="0" y="3"/>
                                        <a:ext cx="153" cy="102"/>
                                      </a:xfrm>
                                      <a:prstGeom prst="line">
                                        <a:avLst/>
                                      </a:prstGeom>
                                      <a:ln w="9525" cap="flat" cmpd="sng">
                                        <a:solidFill>
                                          <a:schemeClr val="tx1"/>
                                        </a:solidFill>
                                        <a:prstDash val="solid"/>
                                        <a:headEnd type="none" w="med" len="med"/>
                                        <a:tailEnd type="none" w="med" len="med"/>
                                      </a:ln>
                                    </p:spPr>
                                  </p:sp>
                                </p:grpSp>
                                <p:sp>
                                  <p:nvSpPr>
                                    <p:cNvPr id="11900" name="Line 655"/>
                                    <p:cNvSpPr/>
                                    <p:nvPr/>
                                  </p:nvSpPr>
                                  <p:spPr>
                                    <a:xfrm flipH="1">
                                      <a:off x="4" y="86"/>
                                      <a:ext cx="30" cy="0"/>
                                    </a:xfrm>
                                    <a:prstGeom prst="line">
                                      <a:avLst/>
                                    </a:prstGeom>
                                    <a:ln w="9525" cap="flat" cmpd="sng">
                                      <a:solidFill>
                                        <a:schemeClr val="tx1"/>
                                      </a:solidFill>
                                      <a:prstDash val="solid"/>
                                      <a:headEnd type="none" w="med" len="med"/>
                                      <a:tailEnd type="none" w="med" len="med"/>
                                    </a:ln>
                                  </p:spPr>
                                </p:sp>
                                <p:sp>
                                  <p:nvSpPr>
                                    <p:cNvPr id="11901" name="Line 656"/>
                                    <p:cNvSpPr/>
                                    <p:nvPr/>
                                  </p:nvSpPr>
                                  <p:spPr>
                                    <a:xfrm flipH="1" flipV="1">
                                      <a:off x="0" y="48"/>
                                      <a:ext cx="4" cy="37"/>
                                    </a:xfrm>
                                    <a:prstGeom prst="line">
                                      <a:avLst/>
                                    </a:prstGeom>
                                    <a:ln w="9525" cap="flat" cmpd="sng">
                                      <a:solidFill>
                                        <a:schemeClr val="tx1"/>
                                      </a:solidFill>
                                      <a:prstDash val="solid"/>
                                      <a:headEnd type="none" w="med" len="med"/>
                                      <a:tailEnd type="none" w="med" len="med"/>
                                    </a:ln>
                                  </p:spPr>
                                </p:sp>
                                <p:sp>
                                  <p:nvSpPr>
                                    <p:cNvPr id="11902" name="AutoShape 657"/>
                                    <p:cNvSpPr/>
                                    <p:nvPr/>
                                  </p:nvSpPr>
                                  <p:spPr>
                                    <a:xfrm>
                                      <a:off x="221" y="39"/>
                                      <a:ext cx="70" cy="5"/>
                                    </a:xfrm>
                                    <a:prstGeom prst="rtTriangle">
                                      <a:avLst/>
                                    </a:prstGeom>
                                    <a:solidFill>
                                      <a:srgbClr val="CC33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888" name="Line 658"/>
                                  <p:cNvSpPr/>
                                  <p:nvPr/>
                                </p:nvSpPr>
                                <p:spPr>
                                  <a:xfrm flipV="1">
                                    <a:off x="273" y="81"/>
                                    <a:ext cx="20" cy="5"/>
                                  </a:xfrm>
                                  <a:prstGeom prst="line">
                                    <a:avLst/>
                                  </a:prstGeom>
                                  <a:ln w="9525" cap="flat" cmpd="sng">
                                    <a:solidFill>
                                      <a:schemeClr val="tx1"/>
                                    </a:solidFill>
                                    <a:prstDash val="solid"/>
                                    <a:headEnd type="none" w="med" len="med"/>
                                    <a:tailEnd type="none" w="med" len="med"/>
                                  </a:ln>
                                </p:spPr>
                              </p:sp>
                            </p:grpSp>
                          </p:grpSp>
                        </p:grpSp>
                        <p:sp>
                          <p:nvSpPr>
                            <p:cNvPr id="11876" name="Rectangle 659"/>
                            <p:cNvSpPr/>
                            <p:nvPr/>
                          </p:nvSpPr>
                          <p:spPr>
                            <a:xfrm>
                              <a:off x="35" y="42"/>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77" name="Rectangle 660"/>
                            <p:cNvSpPr/>
                            <p:nvPr/>
                          </p:nvSpPr>
                          <p:spPr>
                            <a:xfrm>
                              <a:off x="257" y="56"/>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78" name="Rectangle 661"/>
                            <p:cNvSpPr/>
                            <p:nvPr/>
                          </p:nvSpPr>
                          <p:spPr>
                            <a:xfrm>
                              <a:off x="149" y="60"/>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24" name="Group 662"/>
                          <p:cNvGrpSpPr/>
                          <p:nvPr/>
                        </p:nvGrpSpPr>
                        <p:grpSpPr>
                          <a:xfrm>
                            <a:off x="4986" y="2208"/>
                            <a:ext cx="294" cy="188"/>
                            <a:chOff x="0" y="0"/>
                            <a:chExt cx="294" cy="188"/>
                          </a:xfrm>
                        </p:grpSpPr>
                        <p:grpSp>
                          <p:nvGrpSpPr>
                            <p:cNvPr id="11822" name="Group 663"/>
                            <p:cNvGrpSpPr/>
                            <p:nvPr/>
                          </p:nvGrpSpPr>
                          <p:grpSpPr>
                            <a:xfrm>
                              <a:off x="216" y="0"/>
                              <a:ext cx="50" cy="109"/>
                              <a:chOff x="0" y="0"/>
                              <a:chExt cx="50" cy="109"/>
                            </a:xfrm>
                          </p:grpSpPr>
                          <p:sp>
                            <p:nvSpPr>
                              <p:cNvPr id="11873" name="AutoShape 664"/>
                              <p:cNvSpPr/>
                              <p:nvPr/>
                            </p:nvSpPr>
                            <p:spPr>
                              <a:xfrm>
                                <a:off x="0" y="0"/>
                                <a:ext cx="50" cy="51"/>
                              </a:xfrm>
                              <a:prstGeom prst="roundRect">
                                <a:avLst>
                                  <a:gd name="adj" fmla="val 16667"/>
                                </a:avLst>
                              </a:prstGeom>
                              <a:solidFill>
                                <a:schemeClr val="accent1"/>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74" name="Line 665"/>
                              <p:cNvSpPr/>
                              <p:nvPr/>
                            </p:nvSpPr>
                            <p:spPr>
                              <a:xfrm>
                                <a:off x="26" y="51"/>
                                <a:ext cx="0" cy="58"/>
                              </a:xfrm>
                              <a:prstGeom prst="line">
                                <a:avLst/>
                              </a:prstGeom>
                              <a:ln w="9525" cap="flat" cmpd="sng">
                                <a:solidFill>
                                  <a:schemeClr val="tx1"/>
                                </a:solidFill>
                                <a:prstDash val="solid"/>
                                <a:headEnd type="none" w="med" len="med"/>
                                <a:tailEnd type="none" w="med" len="med"/>
                              </a:ln>
                            </p:spPr>
                          </p:sp>
                        </p:grpSp>
                        <p:grpSp>
                          <p:nvGrpSpPr>
                            <p:cNvPr id="11823" name="Group 666"/>
                            <p:cNvGrpSpPr/>
                            <p:nvPr/>
                          </p:nvGrpSpPr>
                          <p:grpSpPr>
                            <a:xfrm>
                              <a:off x="0" y="67"/>
                              <a:ext cx="294" cy="121"/>
                              <a:chOff x="0" y="0"/>
                              <a:chExt cx="294" cy="121"/>
                            </a:xfrm>
                          </p:grpSpPr>
                          <p:grpSp>
                            <p:nvGrpSpPr>
                              <p:cNvPr id="11824" name="Group 667"/>
                              <p:cNvGrpSpPr/>
                              <p:nvPr/>
                            </p:nvGrpSpPr>
                            <p:grpSpPr>
                              <a:xfrm>
                                <a:off x="0" y="0"/>
                                <a:ext cx="294" cy="121"/>
                                <a:chOff x="0" y="0"/>
                                <a:chExt cx="294" cy="121"/>
                              </a:xfrm>
                            </p:grpSpPr>
                            <p:grpSp>
                              <p:nvGrpSpPr>
                                <p:cNvPr id="11828" name="Group 668"/>
                                <p:cNvGrpSpPr/>
                                <p:nvPr/>
                              </p:nvGrpSpPr>
                              <p:grpSpPr>
                                <a:xfrm>
                                  <a:off x="0" y="0"/>
                                  <a:ext cx="294" cy="94"/>
                                  <a:chOff x="0" y="0"/>
                                  <a:chExt cx="294" cy="94"/>
                                </a:xfrm>
                              </p:grpSpPr>
                              <p:grpSp>
                                <p:nvGrpSpPr>
                                  <p:cNvPr id="11832" name="Group 669"/>
                                  <p:cNvGrpSpPr/>
                                  <p:nvPr/>
                                </p:nvGrpSpPr>
                                <p:grpSpPr>
                                  <a:xfrm>
                                    <a:off x="0" y="0"/>
                                    <a:ext cx="294" cy="94"/>
                                    <a:chOff x="0" y="0"/>
                                    <a:chExt cx="294" cy="94"/>
                                  </a:xfrm>
                                </p:grpSpPr>
                                <p:sp>
                                  <p:nvSpPr>
                                    <p:cNvPr id="11836" name="Rectangle 670"/>
                                    <p:cNvSpPr/>
                                    <p:nvPr/>
                                  </p:nvSpPr>
                                  <p:spPr>
                                    <a:xfrm>
                                      <a:off x="283" y="52"/>
                                      <a:ext cx="10" cy="2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37" name="AutoShape 671"/>
                                    <p:cNvSpPr/>
                                    <p:nvPr/>
                                  </p:nvSpPr>
                                  <p:spPr>
                                    <a:xfrm rot="-5400000">
                                      <a:off x="57" y="1"/>
                                      <a:ext cx="15" cy="53"/>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38" name="AutoShape 672"/>
                                    <p:cNvSpPr/>
                                    <p:nvPr/>
                                  </p:nvSpPr>
                                  <p:spPr>
                                    <a:xfrm rot="-5400000">
                                      <a:off x="14" y="21"/>
                                      <a:ext cx="12" cy="40"/>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39" name="AutoShape 673"/>
                                    <p:cNvSpPr/>
                                    <p:nvPr/>
                                  </p:nvSpPr>
                                  <p:spPr>
                                    <a:xfrm rot="10800000">
                                      <a:off x="80" y="74"/>
                                      <a:ext cx="21" cy="18"/>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840" name="Group 674"/>
                                    <p:cNvGrpSpPr/>
                                    <p:nvPr/>
                                  </p:nvGrpSpPr>
                                  <p:grpSpPr>
                                    <a:xfrm>
                                      <a:off x="0" y="0"/>
                                      <a:ext cx="294" cy="94"/>
                                      <a:chOff x="0" y="0"/>
                                      <a:chExt cx="294" cy="94"/>
                                    </a:xfrm>
                                  </p:grpSpPr>
                                  <p:grpSp>
                                    <p:nvGrpSpPr>
                                      <p:cNvPr id="11841" name="Group 675"/>
                                      <p:cNvGrpSpPr/>
                                      <p:nvPr/>
                                    </p:nvGrpSpPr>
                                    <p:grpSpPr>
                                      <a:xfrm>
                                        <a:off x="3" y="0"/>
                                        <a:ext cx="282" cy="94"/>
                                        <a:chOff x="0" y="0"/>
                                        <a:chExt cx="282" cy="94"/>
                                      </a:xfrm>
                                    </p:grpSpPr>
                                    <p:sp>
                                      <p:nvSpPr>
                                        <p:cNvPr id="11863" name="AutoShape 676"/>
                                        <p:cNvSpPr/>
                                        <p:nvPr/>
                                      </p:nvSpPr>
                                      <p:spPr>
                                        <a:xfrm rot="5400000">
                                          <a:off x="166" y="70"/>
                                          <a:ext cx="21" cy="22"/>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64" name="Rectangle 677"/>
                                        <p:cNvSpPr/>
                                        <p:nvPr/>
                                      </p:nvSpPr>
                                      <p:spPr>
                                        <a:xfrm>
                                          <a:off x="89" y="0"/>
                                          <a:ext cx="72" cy="1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65" name="Rectangle 678"/>
                                        <p:cNvSpPr/>
                                        <p:nvPr/>
                                      </p:nvSpPr>
                                      <p:spPr>
                                        <a:xfrm>
                                          <a:off x="37" y="37"/>
                                          <a:ext cx="6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66" name="Rectangle 679"/>
                                        <p:cNvSpPr/>
                                        <p:nvPr/>
                                      </p:nvSpPr>
                                      <p:spPr>
                                        <a:xfrm>
                                          <a:off x="167" y="37"/>
                                          <a:ext cx="5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67" name="Rectangle 680"/>
                                        <p:cNvSpPr/>
                                        <p:nvPr/>
                                      </p:nvSpPr>
                                      <p:spPr>
                                        <a:xfrm>
                                          <a:off x="98" y="37"/>
                                          <a:ext cx="69" cy="5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68" name="Rectangle 681"/>
                                        <p:cNvSpPr/>
                                        <p:nvPr/>
                                      </p:nvSpPr>
                                      <p:spPr>
                                        <a:xfrm>
                                          <a:off x="218" y="44"/>
                                          <a:ext cx="64" cy="30"/>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69" name="Rectangle 682"/>
                                        <p:cNvSpPr/>
                                        <p:nvPr/>
                                      </p:nvSpPr>
                                      <p:spPr>
                                        <a:xfrm>
                                          <a:off x="232" y="72"/>
                                          <a:ext cx="40" cy="14"/>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70" name="Rectangle 683"/>
                                        <p:cNvSpPr/>
                                        <p:nvPr/>
                                      </p:nvSpPr>
                                      <p:spPr>
                                        <a:xfrm>
                                          <a:off x="0" y="46"/>
                                          <a:ext cx="34" cy="3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71" name="AutoShape 684"/>
                                        <p:cNvSpPr/>
                                        <p:nvPr/>
                                      </p:nvSpPr>
                                      <p:spPr>
                                        <a:xfrm rot="-5400000">
                                          <a:off x="68" y="5"/>
                                          <a:ext cx="25" cy="15"/>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72" name="AutoShape 685"/>
                                        <p:cNvSpPr/>
                                        <p:nvPr/>
                                      </p:nvSpPr>
                                      <p:spPr>
                                        <a:xfrm>
                                          <a:off x="167" y="5"/>
                                          <a:ext cx="51" cy="37"/>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842" name="AutoShape 686"/>
                                      <p:cNvSpPr/>
                                      <p:nvPr/>
                                    </p:nvSpPr>
                                    <p:spPr>
                                      <a:xfrm>
                                        <a:off x="92" y="15"/>
                                        <a:ext cx="79" cy="25"/>
                                      </a:xfrm>
                                      <a:prstGeom prst="roundRect">
                                        <a:avLst>
                                          <a:gd name="adj" fmla="val 16667"/>
                                        </a:avLst>
                                      </a:prstGeom>
                                      <a:solidFill>
                                        <a:srgbClr val="000099"/>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843" name="Group 687"/>
                                      <p:cNvGrpSpPr/>
                                      <p:nvPr/>
                                    </p:nvGrpSpPr>
                                    <p:grpSpPr>
                                      <a:xfrm>
                                        <a:off x="0" y="0"/>
                                        <a:ext cx="294" cy="92"/>
                                        <a:chOff x="0" y="0"/>
                                        <a:chExt cx="294" cy="92"/>
                                      </a:xfrm>
                                    </p:grpSpPr>
                                    <p:grpSp>
                                      <p:nvGrpSpPr>
                                        <p:cNvPr id="11844" name="Group 688"/>
                                        <p:cNvGrpSpPr/>
                                        <p:nvPr/>
                                      </p:nvGrpSpPr>
                                      <p:grpSpPr>
                                        <a:xfrm>
                                          <a:off x="0" y="0"/>
                                          <a:ext cx="294" cy="92"/>
                                          <a:chOff x="0" y="0"/>
                                          <a:chExt cx="294" cy="92"/>
                                        </a:xfrm>
                                      </p:grpSpPr>
                                      <p:sp>
                                        <p:nvSpPr>
                                          <p:cNvPr id="11846" name="Line 689"/>
                                          <p:cNvSpPr/>
                                          <p:nvPr/>
                                        </p:nvSpPr>
                                        <p:spPr>
                                          <a:xfrm flipV="1">
                                            <a:off x="1" y="27"/>
                                            <a:ext cx="75" cy="19"/>
                                          </a:xfrm>
                                          <a:prstGeom prst="line">
                                            <a:avLst/>
                                          </a:prstGeom>
                                          <a:ln w="9525" cap="flat" cmpd="sng">
                                            <a:solidFill>
                                              <a:schemeClr val="tx1"/>
                                            </a:solidFill>
                                            <a:prstDash val="solid"/>
                                            <a:headEnd type="none" w="med" len="med"/>
                                            <a:tailEnd type="none" w="med" len="med"/>
                                          </a:ln>
                                        </p:spPr>
                                      </p:sp>
                                      <p:sp>
                                        <p:nvSpPr>
                                          <p:cNvPr id="11847" name="Line 690"/>
                                          <p:cNvSpPr/>
                                          <p:nvPr/>
                                        </p:nvSpPr>
                                        <p:spPr>
                                          <a:xfrm flipV="1">
                                            <a:off x="77" y="0"/>
                                            <a:ext cx="15" cy="26"/>
                                          </a:xfrm>
                                          <a:prstGeom prst="line">
                                            <a:avLst/>
                                          </a:prstGeom>
                                          <a:ln w="9525" cap="flat" cmpd="sng">
                                            <a:solidFill>
                                              <a:schemeClr val="tx1"/>
                                            </a:solidFill>
                                            <a:prstDash val="solid"/>
                                            <a:headEnd type="none" w="med" len="med"/>
                                            <a:tailEnd type="none" w="med" len="med"/>
                                          </a:ln>
                                        </p:spPr>
                                      </p:sp>
                                      <p:sp>
                                        <p:nvSpPr>
                                          <p:cNvPr id="11848" name="Line 691"/>
                                          <p:cNvSpPr/>
                                          <p:nvPr/>
                                        </p:nvSpPr>
                                        <p:spPr>
                                          <a:xfrm>
                                            <a:off x="94" y="0"/>
                                            <a:ext cx="70" cy="0"/>
                                          </a:xfrm>
                                          <a:prstGeom prst="line">
                                            <a:avLst/>
                                          </a:prstGeom>
                                          <a:ln w="9525" cap="flat" cmpd="sng">
                                            <a:solidFill>
                                              <a:schemeClr val="tx1"/>
                                            </a:solidFill>
                                            <a:prstDash val="solid"/>
                                            <a:headEnd type="none" w="med" len="med"/>
                                            <a:tailEnd type="none" w="med" len="med"/>
                                          </a:ln>
                                        </p:spPr>
                                      </p:sp>
                                      <p:sp>
                                        <p:nvSpPr>
                                          <p:cNvPr id="11849" name="Line 692"/>
                                          <p:cNvSpPr/>
                                          <p:nvPr/>
                                        </p:nvSpPr>
                                        <p:spPr>
                                          <a:xfrm>
                                            <a:off x="164" y="0"/>
                                            <a:ext cx="50" cy="37"/>
                                          </a:xfrm>
                                          <a:prstGeom prst="line">
                                            <a:avLst/>
                                          </a:prstGeom>
                                          <a:ln w="9525" cap="flat" cmpd="sng">
                                            <a:solidFill>
                                              <a:schemeClr val="tx1"/>
                                            </a:solidFill>
                                            <a:prstDash val="solid"/>
                                            <a:headEnd type="none" w="med" len="med"/>
                                            <a:tailEnd type="none" w="med" len="med"/>
                                          </a:ln>
                                        </p:spPr>
                                      </p:sp>
                                      <p:sp>
                                        <p:nvSpPr>
                                          <p:cNvPr id="11850" name="Line 693"/>
                                          <p:cNvSpPr/>
                                          <p:nvPr/>
                                        </p:nvSpPr>
                                        <p:spPr>
                                          <a:xfrm>
                                            <a:off x="294" y="51"/>
                                            <a:ext cx="0" cy="30"/>
                                          </a:xfrm>
                                          <a:prstGeom prst="line">
                                            <a:avLst/>
                                          </a:prstGeom>
                                          <a:ln w="9525" cap="flat" cmpd="sng">
                                            <a:solidFill>
                                              <a:schemeClr val="tx1"/>
                                            </a:solidFill>
                                            <a:prstDash val="solid"/>
                                            <a:headEnd type="none" w="med" len="med"/>
                                            <a:tailEnd type="none" w="med" len="med"/>
                                          </a:ln>
                                        </p:spPr>
                                      </p:sp>
                                      <p:sp>
                                        <p:nvSpPr>
                                          <p:cNvPr id="11851" name="Line 694"/>
                                          <p:cNvSpPr/>
                                          <p:nvPr/>
                                        </p:nvSpPr>
                                        <p:spPr>
                                          <a:xfrm>
                                            <a:off x="104" y="92"/>
                                            <a:ext cx="70" cy="0"/>
                                          </a:xfrm>
                                          <a:prstGeom prst="line">
                                            <a:avLst/>
                                          </a:prstGeom>
                                          <a:ln w="9525" cap="flat" cmpd="sng">
                                            <a:solidFill>
                                              <a:schemeClr val="tx1"/>
                                            </a:solidFill>
                                            <a:prstDash val="solid"/>
                                            <a:headEnd type="none" w="med" len="med"/>
                                            <a:tailEnd type="none" w="med" len="med"/>
                                          </a:ln>
                                        </p:spPr>
                                      </p:sp>
                                      <p:sp>
                                        <p:nvSpPr>
                                          <p:cNvPr id="11852" name="Line 695"/>
                                          <p:cNvSpPr/>
                                          <p:nvPr/>
                                        </p:nvSpPr>
                                        <p:spPr>
                                          <a:xfrm flipV="1">
                                            <a:off x="174" y="74"/>
                                            <a:ext cx="20" cy="18"/>
                                          </a:xfrm>
                                          <a:prstGeom prst="line">
                                            <a:avLst/>
                                          </a:prstGeom>
                                          <a:ln w="9525" cap="flat" cmpd="sng">
                                            <a:solidFill>
                                              <a:schemeClr val="tx1"/>
                                            </a:solidFill>
                                            <a:prstDash val="solid"/>
                                            <a:headEnd type="none" w="med" len="med"/>
                                            <a:tailEnd type="none" w="med" len="med"/>
                                          </a:ln>
                                        </p:spPr>
                                      </p:sp>
                                      <p:sp>
                                        <p:nvSpPr>
                                          <p:cNvPr id="11853" name="Line 696"/>
                                          <p:cNvSpPr/>
                                          <p:nvPr/>
                                        </p:nvSpPr>
                                        <p:spPr>
                                          <a:xfrm>
                                            <a:off x="194" y="74"/>
                                            <a:ext cx="30" cy="0"/>
                                          </a:xfrm>
                                          <a:prstGeom prst="line">
                                            <a:avLst/>
                                          </a:prstGeom>
                                          <a:ln w="9525" cap="flat" cmpd="sng">
                                            <a:solidFill>
                                              <a:schemeClr val="tx1"/>
                                            </a:solidFill>
                                            <a:prstDash val="solid"/>
                                            <a:headEnd type="none" w="med" len="med"/>
                                            <a:tailEnd type="none" w="med" len="med"/>
                                          </a:ln>
                                        </p:spPr>
                                      </p:sp>
                                      <p:sp>
                                        <p:nvSpPr>
                                          <p:cNvPr id="11854" name="Line 697"/>
                                          <p:cNvSpPr/>
                                          <p:nvPr/>
                                        </p:nvSpPr>
                                        <p:spPr>
                                          <a:xfrm>
                                            <a:off x="224" y="74"/>
                                            <a:ext cx="14" cy="12"/>
                                          </a:xfrm>
                                          <a:prstGeom prst="line">
                                            <a:avLst/>
                                          </a:prstGeom>
                                          <a:ln w="9525" cap="flat" cmpd="sng">
                                            <a:solidFill>
                                              <a:schemeClr val="tx1"/>
                                            </a:solidFill>
                                            <a:prstDash val="solid"/>
                                            <a:headEnd type="none" w="med" len="med"/>
                                            <a:tailEnd type="none" w="med" len="med"/>
                                          </a:ln>
                                        </p:spPr>
                                      </p:sp>
                                      <p:sp>
                                        <p:nvSpPr>
                                          <p:cNvPr id="11855" name="Line 698"/>
                                          <p:cNvSpPr/>
                                          <p:nvPr/>
                                        </p:nvSpPr>
                                        <p:spPr>
                                          <a:xfrm>
                                            <a:off x="239" y="86"/>
                                            <a:ext cx="35" cy="0"/>
                                          </a:xfrm>
                                          <a:prstGeom prst="line">
                                            <a:avLst/>
                                          </a:prstGeom>
                                          <a:ln w="9525" cap="flat" cmpd="sng">
                                            <a:solidFill>
                                              <a:schemeClr val="tx1"/>
                                            </a:solidFill>
                                            <a:prstDash val="solid"/>
                                            <a:headEnd type="none" w="med" len="med"/>
                                            <a:tailEnd type="none" w="med" len="med"/>
                                          </a:ln>
                                        </p:spPr>
                                      </p:sp>
                                      <p:grpSp>
                                        <p:nvGrpSpPr>
                                          <p:cNvPr id="11856" name="Group 699"/>
                                          <p:cNvGrpSpPr/>
                                          <p:nvPr/>
                                        </p:nvGrpSpPr>
                                        <p:grpSpPr>
                                          <a:xfrm>
                                            <a:off x="35" y="74"/>
                                            <a:ext cx="67" cy="18"/>
                                            <a:chOff x="0" y="0"/>
                                            <a:chExt cx="696" cy="156"/>
                                          </a:xfrm>
                                        </p:grpSpPr>
                                        <p:sp>
                                          <p:nvSpPr>
                                            <p:cNvPr id="11860" name="Line 700"/>
                                            <p:cNvSpPr/>
                                            <p:nvPr/>
                                          </p:nvSpPr>
                                          <p:spPr>
                                            <a:xfrm flipH="1" flipV="1">
                                              <a:off x="486" y="0"/>
                                              <a:ext cx="210" cy="156"/>
                                            </a:xfrm>
                                            <a:prstGeom prst="line">
                                              <a:avLst/>
                                            </a:prstGeom>
                                            <a:ln w="9525" cap="flat" cmpd="sng">
                                              <a:solidFill>
                                                <a:schemeClr val="tx1"/>
                                              </a:solidFill>
                                              <a:prstDash val="solid"/>
                                              <a:headEnd type="none" w="med" len="med"/>
                                              <a:tailEnd type="none" w="med" len="med"/>
                                            </a:ln>
                                          </p:spPr>
                                        </p:sp>
                                        <p:sp>
                                          <p:nvSpPr>
                                            <p:cNvPr id="11861" name="Line 701"/>
                                            <p:cNvSpPr/>
                                            <p:nvPr/>
                                          </p:nvSpPr>
                                          <p:spPr>
                                            <a:xfrm>
                                              <a:off x="171" y="0"/>
                                              <a:ext cx="315" cy="0"/>
                                            </a:xfrm>
                                            <a:prstGeom prst="line">
                                              <a:avLst/>
                                            </a:prstGeom>
                                            <a:ln w="9525" cap="flat" cmpd="sng">
                                              <a:solidFill>
                                                <a:schemeClr val="tx1"/>
                                              </a:solidFill>
                                              <a:prstDash val="solid"/>
                                              <a:headEnd type="none" w="med" len="med"/>
                                              <a:tailEnd type="none" w="med" len="med"/>
                                            </a:ln>
                                          </p:spPr>
                                        </p:sp>
                                        <p:sp>
                                          <p:nvSpPr>
                                            <p:cNvPr id="11862" name="Line 702"/>
                                            <p:cNvSpPr/>
                                            <p:nvPr/>
                                          </p:nvSpPr>
                                          <p:spPr>
                                            <a:xfrm flipH="1">
                                              <a:off x="0" y="3"/>
                                              <a:ext cx="153" cy="102"/>
                                            </a:xfrm>
                                            <a:prstGeom prst="line">
                                              <a:avLst/>
                                            </a:prstGeom>
                                            <a:ln w="9525" cap="flat" cmpd="sng">
                                              <a:solidFill>
                                                <a:schemeClr val="tx1"/>
                                              </a:solidFill>
                                              <a:prstDash val="solid"/>
                                              <a:headEnd type="none" w="med" len="med"/>
                                              <a:tailEnd type="none" w="med" len="med"/>
                                            </a:ln>
                                          </p:spPr>
                                        </p:sp>
                                      </p:grpSp>
                                      <p:sp>
                                        <p:nvSpPr>
                                          <p:cNvPr id="11857" name="Line 703"/>
                                          <p:cNvSpPr/>
                                          <p:nvPr/>
                                        </p:nvSpPr>
                                        <p:spPr>
                                          <a:xfrm flipH="1">
                                            <a:off x="4" y="86"/>
                                            <a:ext cx="30" cy="0"/>
                                          </a:xfrm>
                                          <a:prstGeom prst="line">
                                            <a:avLst/>
                                          </a:prstGeom>
                                          <a:ln w="9525" cap="flat" cmpd="sng">
                                            <a:solidFill>
                                              <a:schemeClr val="tx1"/>
                                            </a:solidFill>
                                            <a:prstDash val="solid"/>
                                            <a:headEnd type="none" w="med" len="med"/>
                                            <a:tailEnd type="none" w="med" len="med"/>
                                          </a:ln>
                                        </p:spPr>
                                      </p:sp>
                                      <p:sp>
                                        <p:nvSpPr>
                                          <p:cNvPr id="11858" name="Line 704"/>
                                          <p:cNvSpPr/>
                                          <p:nvPr/>
                                        </p:nvSpPr>
                                        <p:spPr>
                                          <a:xfrm flipH="1" flipV="1">
                                            <a:off x="0" y="48"/>
                                            <a:ext cx="4" cy="37"/>
                                          </a:xfrm>
                                          <a:prstGeom prst="line">
                                            <a:avLst/>
                                          </a:prstGeom>
                                          <a:ln w="9525" cap="flat" cmpd="sng">
                                            <a:solidFill>
                                              <a:schemeClr val="tx1"/>
                                            </a:solidFill>
                                            <a:prstDash val="solid"/>
                                            <a:headEnd type="none" w="med" len="med"/>
                                            <a:tailEnd type="none" w="med" len="med"/>
                                          </a:ln>
                                        </p:spPr>
                                      </p:sp>
                                      <p:sp>
                                        <p:nvSpPr>
                                          <p:cNvPr id="11859" name="AutoShape 705"/>
                                          <p:cNvSpPr/>
                                          <p:nvPr/>
                                        </p:nvSpPr>
                                        <p:spPr>
                                          <a:xfrm>
                                            <a:off x="221" y="39"/>
                                            <a:ext cx="70" cy="5"/>
                                          </a:xfrm>
                                          <a:prstGeom prst="rtTriangle">
                                            <a:avLst/>
                                          </a:prstGeom>
                                          <a:solidFill>
                                            <a:srgbClr val="CC33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845" name="Line 706"/>
                                        <p:cNvSpPr/>
                                        <p:nvPr/>
                                      </p:nvSpPr>
                                      <p:spPr>
                                        <a:xfrm flipV="1">
                                          <a:off x="273" y="81"/>
                                          <a:ext cx="20" cy="5"/>
                                        </a:xfrm>
                                        <a:prstGeom prst="line">
                                          <a:avLst/>
                                        </a:prstGeom>
                                        <a:ln w="9525" cap="flat" cmpd="sng">
                                          <a:solidFill>
                                            <a:schemeClr val="tx1"/>
                                          </a:solidFill>
                                          <a:prstDash val="solid"/>
                                          <a:headEnd type="none" w="med" len="med"/>
                                          <a:tailEnd type="none" w="med" len="med"/>
                                        </a:ln>
                                      </p:spPr>
                                    </p:sp>
                                  </p:grpSp>
                                </p:grpSp>
                              </p:grpSp>
                              <p:sp>
                                <p:nvSpPr>
                                  <p:cNvPr id="11833" name="Rectangle 707"/>
                                  <p:cNvSpPr/>
                                  <p:nvPr/>
                                </p:nvSpPr>
                                <p:spPr>
                                  <a:xfrm>
                                    <a:off x="35" y="42"/>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34" name="Rectangle 708"/>
                                  <p:cNvSpPr/>
                                  <p:nvPr/>
                                </p:nvSpPr>
                                <p:spPr>
                                  <a:xfrm>
                                    <a:off x="257" y="56"/>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35" name="Rectangle 709"/>
                                  <p:cNvSpPr/>
                                  <p:nvPr/>
                                </p:nvSpPr>
                                <p:spPr>
                                  <a:xfrm>
                                    <a:off x="149" y="60"/>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829" name="Group 710"/>
                                <p:cNvGrpSpPr/>
                                <p:nvPr/>
                              </p:nvGrpSpPr>
                              <p:grpSpPr>
                                <a:xfrm>
                                  <a:off x="178" y="64"/>
                                  <a:ext cx="57" cy="57"/>
                                  <a:chOff x="0" y="0"/>
                                  <a:chExt cx="57" cy="57"/>
                                </a:xfrm>
                              </p:grpSpPr>
                              <p:sp>
                                <p:nvSpPr>
                                  <p:cNvPr id="11830" name="Oval 711"/>
                                  <p:cNvSpPr/>
                                  <p:nvPr/>
                                </p:nvSpPr>
                                <p:spPr>
                                  <a:xfrm>
                                    <a:off x="0" y="0"/>
                                    <a:ext cx="57" cy="57"/>
                                  </a:xfrm>
                                  <a:prstGeom prst="ellipse">
                                    <a:avLst/>
                                  </a:prstGeom>
                                  <a:solidFill>
                                    <a:srgbClr val="9966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31" name="Oval 712"/>
                                  <p:cNvSpPr/>
                                  <p:nvPr/>
                                </p:nvSpPr>
                                <p:spPr>
                                  <a:xfrm>
                                    <a:off x="12" y="13"/>
                                    <a:ext cx="32" cy="32"/>
                                  </a:xfrm>
                                  <a:prstGeom prst="ellipse">
                                    <a:avLst/>
                                  </a:prstGeom>
                                  <a:solidFill>
                                    <a:srgbClr val="9966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nvGrpSpPr>
                              <p:cNvPr id="11825" name="Group 713"/>
                              <p:cNvGrpSpPr/>
                              <p:nvPr/>
                            </p:nvGrpSpPr>
                            <p:grpSpPr>
                              <a:xfrm>
                                <a:off x="37" y="64"/>
                                <a:ext cx="57" cy="57"/>
                                <a:chOff x="0" y="0"/>
                                <a:chExt cx="57" cy="57"/>
                              </a:xfrm>
                            </p:grpSpPr>
                            <p:sp>
                              <p:nvSpPr>
                                <p:cNvPr id="11826" name="Oval 714"/>
                                <p:cNvSpPr/>
                                <p:nvPr/>
                              </p:nvSpPr>
                              <p:spPr>
                                <a:xfrm>
                                  <a:off x="0" y="0"/>
                                  <a:ext cx="57" cy="57"/>
                                </a:xfrm>
                                <a:prstGeom prst="ellipse">
                                  <a:avLst/>
                                </a:prstGeom>
                                <a:solidFill>
                                  <a:srgbClr val="9966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27" name="Oval 715"/>
                                <p:cNvSpPr/>
                                <p:nvPr/>
                              </p:nvSpPr>
                              <p:spPr>
                                <a:xfrm>
                                  <a:off x="12" y="13"/>
                                  <a:ext cx="32" cy="32"/>
                                </a:xfrm>
                                <a:prstGeom prst="ellipse">
                                  <a:avLst/>
                                </a:prstGeom>
                                <a:solidFill>
                                  <a:srgbClr val="9966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grpSp>
                        <p:nvGrpSpPr>
                          <p:cNvPr id="11325" name="Group 716"/>
                          <p:cNvGrpSpPr/>
                          <p:nvPr/>
                        </p:nvGrpSpPr>
                        <p:grpSpPr>
                          <a:xfrm>
                            <a:off x="3038" y="800"/>
                            <a:ext cx="699" cy="251"/>
                            <a:chOff x="0" y="0"/>
                            <a:chExt cx="699" cy="251"/>
                          </a:xfrm>
                        </p:grpSpPr>
                        <p:grpSp>
                          <p:nvGrpSpPr>
                            <p:cNvPr id="11797" name="Group 717"/>
                            <p:cNvGrpSpPr/>
                            <p:nvPr/>
                          </p:nvGrpSpPr>
                          <p:grpSpPr>
                            <a:xfrm>
                              <a:off x="108" y="0"/>
                              <a:ext cx="534" cy="196"/>
                              <a:chOff x="0" y="0"/>
                              <a:chExt cx="534" cy="196"/>
                            </a:xfrm>
                          </p:grpSpPr>
                          <p:grpSp>
                            <p:nvGrpSpPr>
                              <p:cNvPr id="11799" name="Group 718"/>
                              <p:cNvGrpSpPr/>
                              <p:nvPr/>
                            </p:nvGrpSpPr>
                            <p:grpSpPr>
                              <a:xfrm>
                                <a:off x="82" y="0"/>
                                <a:ext cx="81" cy="196"/>
                                <a:chOff x="0" y="0"/>
                                <a:chExt cx="81" cy="196"/>
                              </a:xfrm>
                            </p:grpSpPr>
                            <p:sp>
                              <p:nvSpPr>
                                <p:cNvPr id="11815" name="Oval 719"/>
                                <p:cNvSpPr/>
                                <p:nvPr/>
                              </p:nvSpPr>
                              <p:spPr>
                                <a:xfrm>
                                  <a:off x="27" y="0"/>
                                  <a:ext cx="28" cy="38"/>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16" name="Line 720"/>
                                <p:cNvSpPr/>
                                <p:nvPr/>
                              </p:nvSpPr>
                              <p:spPr>
                                <a:xfrm flipH="1">
                                  <a:off x="6" y="123"/>
                                  <a:ext cx="35" cy="73"/>
                                </a:xfrm>
                                <a:prstGeom prst="line">
                                  <a:avLst/>
                                </a:prstGeom>
                                <a:ln w="12700" cap="flat" cmpd="sng">
                                  <a:solidFill>
                                    <a:schemeClr val="tx1"/>
                                  </a:solidFill>
                                  <a:prstDash val="solid"/>
                                  <a:headEnd type="none" w="med" len="med"/>
                                  <a:tailEnd type="none" w="med" len="med"/>
                                </a:ln>
                              </p:spPr>
                            </p:sp>
                            <p:sp>
                              <p:nvSpPr>
                                <p:cNvPr id="11817" name="Freeform 721"/>
                                <p:cNvSpPr/>
                                <p:nvPr/>
                              </p:nvSpPr>
                              <p:spPr>
                                <a:xfrm rot="5722454">
                                  <a:off x="-21" y="73"/>
                                  <a:ext cx="66" cy="24"/>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818" name="Freeform 722"/>
                                <p:cNvSpPr/>
                                <p:nvPr/>
                              </p:nvSpPr>
                              <p:spPr>
                                <a:xfrm>
                                  <a:off x="56" y="55"/>
                                  <a:ext cx="25" cy="62"/>
                                </a:xfrm>
                                <a:custGeom>
                                  <a:avLst/>
                                  <a:gdLst>
                                    <a:gd name="txL" fmla="*/ 0 w 525"/>
                                    <a:gd name="txT" fmla="*/ 0 h 936"/>
                                    <a:gd name="txR" fmla="*/ 525 w 525"/>
                                    <a:gd name="txB" fmla="*/ 936 h 936"/>
                                  </a:gdLst>
                                  <a:ahLst/>
                                  <a:cxnLst>
                                    <a:cxn ang="0">
                                      <a:pos x="0" y="0"/>
                                    </a:cxn>
                                    <a:cxn ang="0">
                                      <a:pos x="0" y="0"/>
                                    </a:cxn>
                                    <a:cxn ang="0">
                                      <a:pos x="0" y="0"/>
                                    </a:cxn>
                                  </a:cxnLst>
                                  <a:rect l="txL" t="txT" r="txR" b="txB"/>
                                  <a:pathLst>
                                    <a:path w="525" h="936">
                                      <a:moveTo>
                                        <a:pt x="0" y="0"/>
                                      </a:moveTo>
                                      <a:cubicBezTo>
                                        <a:pt x="166" y="0"/>
                                        <a:pt x="333" y="0"/>
                                        <a:pt x="420" y="156"/>
                                      </a:cubicBezTo>
                                      <a:cubicBezTo>
                                        <a:pt x="507" y="312"/>
                                        <a:pt x="516" y="624"/>
                                        <a:pt x="525" y="93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819" name="Line 723"/>
                                <p:cNvSpPr/>
                                <p:nvPr/>
                              </p:nvSpPr>
                              <p:spPr>
                                <a:xfrm>
                                  <a:off x="41" y="40"/>
                                  <a:ext cx="0" cy="82"/>
                                </a:xfrm>
                                <a:prstGeom prst="line">
                                  <a:avLst/>
                                </a:prstGeom>
                                <a:ln w="12700" cap="flat" cmpd="sng">
                                  <a:solidFill>
                                    <a:schemeClr val="tx1"/>
                                  </a:solidFill>
                                  <a:prstDash val="solid"/>
                                  <a:headEnd type="none" w="med" len="med"/>
                                  <a:tailEnd type="none" w="med" len="med"/>
                                </a:ln>
                              </p:spPr>
                            </p:sp>
                            <p:sp>
                              <p:nvSpPr>
                                <p:cNvPr id="11820" name="Line 724"/>
                                <p:cNvSpPr/>
                                <p:nvPr/>
                              </p:nvSpPr>
                              <p:spPr>
                                <a:xfrm>
                                  <a:off x="27" y="54"/>
                                  <a:ext cx="31" cy="0"/>
                                </a:xfrm>
                                <a:prstGeom prst="line">
                                  <a:avLst/>
                                </a:prstGeom>
                                <a:ln w="12700" cap="flat" cmpd="sng">
                                  <a:solidFill>
                                    <a:schemeClr val="tx1"/>
                                  </a:solidFill>
                                  <a:prstDash val="solid"/>
                                  <a:headEnd type="none" w="med" len="med"/>
                                  <a:tailEnd type="none" w="med" len="med"/>
                                </a:ln>
                              </p:spPr>
                            </p:sp>
                            <p:sp>
                              <p:nvSpPr>
                                <p:cNvPr id="11821" name="Line 725"/>
                                <p:cNvSpPr/>
                                <p:nvPr/>
                              </p:nvSpPr>
                              <p:spPr>
                                <a:xfrm>
                                  <a:off x="42" y="123"/>
                                  <a:ext cx="31" cy="73"/>
                                </a:xfrm>
                                <a:prstGeom prst="line">
                                  <a:avLst/>
                                </a:prstGeom>
                                <a:ln w="12700" cap="flat" cmpd="sng">
                                  <a:solidFill>
                                    <a:schemeClr val="tx1"/>
                                  </a:solidFill>
                                  <a:prstDash val="solid"/>
                                  <a:headEnd type="none" w="med" len="med"/>
                                  <a:tailEnd type="none" w="med" len="med"/>
                                </a:ln>
                              </p:spPr>
                            </p:sp>
                          </p:grpSp>
                          <p:grpSp>
                            <p:nvGrpSpPr>
                              <p:cNvPr id="11800" name="Group 726"/>
                              <p:cNvGrpSpPr/>
                              <p:nvPr/>
                            </p:nvGrpSpPr>
                            <p:grpSpPr>
                              <a:xfrm>
                                <a:off x="380" y="0"/>
                                <a:ext cx="81" cy="196"/>
                                <a:chOff x="0" y="0"/>
                                <a:chExt cx="81" cy="196"/>
                              </a:xfrm>
                            </p:grpSpPr>
                            <p:sp>
                              <p:nvSpPr>
                                <p:cNvPr id="11808" name="Oval 727"/>
                                <p:cNvSpPr/>
                                <p:nvPr/>
                              </p:nvSpPr>
                              <p:spPr>
                                <a:xfrm>
                                  <a:off x="27" y="0"/>
                                  <a:ext cx="28" cy="38"/>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09" name="Line 728"/>
                                <p:cNvSpPr/>
                                <p:nvPr/>
                              </p:nvSpPr>
                              <p:spPr>
                                <a:xfrm flipH="1">
                                  <a:off x="6" y="123"/>
                                  <a:ext cx="35" cy="73"/>
                                </a:xfrm>
                                <a:prstGeom prst="line">
                                  <a:avLst/>
                                </a:prstGeom>
                                <a:ln w="12700" cap="flat" cmpd="sng">
                                  <a:solidFill>
                                    <a:schemeClr val="tx1"/>
                                  </a:solidFill>
                                  <a:prstDash val="solid"/>
                                  <a:headEnd type="none" w="med" len="med"/>
                                  <a:tailEnd type="none" w="med" len="med"/>
                                </a:ln>
                              </p:spPr>
                            </p:sp>
                            <p:sp>
                              <p:nvSpPr>
                                <p:cNvPr id="11810" name="Freeform 729"/>
                                <p:cNvSpPr/>
                                <p:nvPr/>
                              </p:nvSpPr>
                              <p:spPr>
                                <a:xfrm rot="5722454">
                                  <a:off x="-21" y="73"/>
                                  <a:ext cx="66" cy="24"/>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811" name="Freeform 730"/>
                                <p:cNvSpPr/>
                                <p:nvPr/>
                              </p:nvSpPr>
                              <p:spPr>
                                <a:xfrm>
                                  <a:off x="56" y="55"/>
                                  <a:ext cx="25" cy="62"/>
                                </a:xfrm>
                                <a:custGeom>
                                  <a:avLst/>
                                  <a:gdLst>
                                    <a:gd name="txL" fmla="*/ 0 w 525"/>
                                    <a:gd name="txT" fmla="*/ 0 h 936"/>
                                    <a:gd name="txR" fmla="*/ 525 w 525"/>
                                    <a:gd name="txB" fmla="*/ 936 h 936"/>
                                  </a:gdLst>
                                  <a:ahLst/>
                                  <a:cxnLst>
                                    <a:cxn ang="0">
                                      <a:pos x="0" y="0"/>
                                    </a:cxn>
                                    <a:cxn ang="0">
                                      <a:pos x="0" y="0"/>
                                    </a:cxn>
                                    <a:cxn ang="0">
                                      <a:pos x="0" y="0"/>
                                    </a:cxn>
                                  </a:cxnLst>
                                  <a:rect l="txL" t="txT" r="txR" b="txB"/>
                                  <a:pathLst>
                                    <a:path w="525" h="936">
                                      <a:moveTo>
                                        <a:pt x="0" y="0"/>
                                      </a:moveTo>
                                      <a:cubicBezTo>
                                        <a:pt x="166" y="0"/>
                                        <a:pt x="333" y="0"/>
                                        <a:pt x="420" y="156"/>
                                      </a:cubicBezTo>
                                      <a:cubicBezTo>
                                        <a:pt x="507" y="312"/>
                                        <a:pt x="516" y="624"/>
                                        <a:pt x="525" y="93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812" name="Line 731"/>
                                <p:cNvSpPr/>
                                <p:nvPr/>
                              </p:nvSpPr>
                              <p:spPr>
                                <a:xfrm>
                                  <a:off x="41" y="40"/>
                                  <a:ext cx="0" cy="82"/>
                                </a:xfrm>
                                <a:prstGeom prst="line">
                                  <a:avLst/>
                                </a:prstGeom>
                                <a:ln w="12700" cap="flat" cmpd="sng">
                                  <a:solidFill>
                                    <a:schemeClr val="tx1"/>
                                  </a:solidFill>
                                  <a:prstDash val="solid"/>
                                  <a:headEnd type="none" w="med" len="med"/>
                                  <a:tailEnd type="none" w="med" len="med"/>
                                </a:ln>
                              </p:spPr>
                            </p:sp>
                            <p:sp>
                              <p:nvSpPr>
                                <p:cNvPr id="11813" name="Line 732"/>
                                <p:cNvSpPr/>
                                <p:nvPr/>
                              </p:nvSpPr>
                              <p:spPr>
                                <a:xfrm>
                                  <a:off x="27" y="54"/>
                                  <a:ext cx="31" cy="0"/>
                                </a:xfrm>
                                <a:prstGeom prst="line">
                                  <a:avLst/>
                                </a:prstGeom>
                                <a:ln w="12700" cap="flat" cmpd="sng">
                                  <a:solidFill>
                                    <a:schemeClr val="tx1"/>
                                  </a:solidFill>
                                  <a:prstDash val="solid"/>
                                  <a:headEnd type="none" w="med" len="med"/>
                                  <a:tailEnd type="none" w="med" len="med"/>
                                </a:ln>
                              </p:spPr>
                            </p:sp>
                            <p:sp>
                              <p:nvSpPr>
                                <p:cNvPr id="11814" name="Line 733"/>
                                <p:cNvSpPr/>
                                <p:nvPr/>
                              </p:nvSpPr>
                              <p:spPr>
                                <a:xfrm>
                                  <a:off x="42" y="123"/>
                                  <a:ext cx="31" cy="73"/>
                                </a:xfrm>
                                <a:prstGeom prst="line">
                                  <a:avLst/>
                                </a:prstGeom>
                                <a:ln w="12700" cap="flat" cmpd="sng">
                                  <a:solidFill>
                                    <a:schemeClr val="tx1"/>
                                  </a:solidFill>
                                  <a:prstDash val="solid"/>
                                  <a:headEnd type="none" w="med" len="med"/>
                                  <a:tailEnd type="none" w="med" len="med"/>
                                </a:ln>
                              </p:spPr>
                            </p:sp>
                          </p:grpSp>
                          <p:grpSp>
                            <p:nvGrpSpPr>
                              <p:cNvPr id="11801" name="Group 734"/>
                              <p:cNvGrpSpPr/>
                              <p:nvPr/>
                            </p:nvGrpSpPr>
                            <p:grpSpPr>
                              <a:xfrm>
                                <a:off x="0" y="84"/>
                                <a:ext cx="534" cy="99"/>
                                <a:chOff x="0" y="0"/>
                                <a:chExt cx="534" cy="99"/>
                              </a:xfrm>
                            </p:grpSpPr>
                            <p:sp>
                              <p:nvSpPr>
                                <p:cNvPr id="11802" name="AutoShape 735"/>
                                <p:cNvSpPr/>
                                <p:nvPr/>
                              </p:nvSpPr>
                              <p:spPr>
                                <a:xfrm rot="5400000">
                                  <a:off x="-8" y="8"/>
                                  <a:ext cx="97" cy="80"/>
                                </a:xfrm>
                                <a:custGeom>
                                  <a:avLst/>
                                  <a:gdLst>
                                    <a:gd name="txL" fmla="*/ 4454 w 21600"/>
                                    <a:gd name="txT" fmla="*/ 4590 h 21600"/>
                                    <a:gd name="txR" fmla="*/ 17146 w 21600"/>
                                    <a:gd name="txB" fmla="*/ 17010 h 21600"/>
                                  </a:gdLst>
                                  <a:ahLst/>
                                  <a:cxnLst>
                                    <a:cxn ang="0">
                                      <a:pos x="0" y="0"/>
                                    </a:cxn>
                                    <a:cxn ang="0">
                                      <a:pos x="0" y="0"/>
                                    </a:cxn>
                                    <a:cxn ang="0">
                                      <a:pos x="0" y="0"/>
                                    </a:cxn>
                                    <a:cxn ang="0">
                                      <a:pos x="0" y="0"/>
                                    </a:cxn>
                                    <a:cxn ang="0">
                                      <a:pos x="0" y="0"/>
                                    </a:cxn>
                                  </a:cxnLst>
                                  <a:rect l="txL" t="txT" r="txR" b="txB"/>
                                  <a:pathLst>
                                    <a:path w="21600" h="21600">
                                      <a:moveTo>
                                        <a:pt x="0" y="0"/>
                                      </a:moveTo>
                                      <a:lnTo>
                                        <a:pt x="5400" y="21600"/>
                                      </a:lnTo>
                                      <a:lnTo>
                                        <a:pt x="16200" y="21600"/>
                                      </a:lnTo>
                                      <a:lnTo>
                                        <a:pt x="21600" y="0"/>
                                      </a:lnTo>
                                      <a:lnTo>
                                        <a:pt x="0" y="0"/>
                                      </a:lnTo>
                                      <a:close/>
                                    </a:path>
                                  </a:pathLst>
                                </a:custGeom>
                                <a:solidFill>
                                  <a:srgbClr val="DDDDDD">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1803" name="Rectangle 736"/>
                                <p:cNvSpPr/>
                                <p:nvPr/>
                              </p:nvSpPr>
                              <p:spPr>
                                <a:xfrm>
                                  <a:off x="81" y="0"/>
                                  <a:ext cx="17" cy="99"/>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04" name="AutoShape 737"/>
                                <p:cNvSpPr/>
                                <p:nvPr/>
                              </p:nvSpPr>
                              <p:spPr>
                                <a:xfrm rot="5400000">
                                  <a:off x="207" y="8"/>
                                  <a:ext cx="97" cy="81"/>
                                </a:xfrm>
                                <a:custGeom>
                                  <a:avLst/>
                                  <a:gdLst>
                                    <a:gd name="txL" fmla="*/ 4454 w 21600"/>
                                    <a:gd name="txT" fmla="*/ 4533 h 21600"/>
                                    <a:gd name="txR" fmla="*/ 17146 w 21600"/>
                                    <a:gd name="txB" fmla="*/ 17067 h 21600"/>
                                  </a:gdLst>
                                  <a:ahLst/>
                                  <a:cxnLst>
                                    <a:cxn ang="0">
                                      <a:pos x="0" y="0"/>
                                    </a:cxn>
                                    <a:cxn ang="0">
                                      <a:pos x="0" y="0"/>
                                    </a:cxn>
                                    <a:cxn ang="0">
                                      <a:pos x="0" y="0"/>
                                    </a:cxn>
                                    <a:cxn ang="0">
                                      <a:pos x="0" y="0"/>
                                    </a:cxn>
                                    <a:cxn ang="0">
                                      <a:pos x="0" y="0"/>
                                    </a:cxn>
                                  </a:cxnLst>
                                  <a:rect l="txL" t="txT" r="txR" b="txB"/>
                                  <a:pathLst>
                                    <a:path w="21600" h="21600">
                                      <a:moveTo>
                                        <a:pt x="0" y="0"/>
                                      </a:moveTo>
                                      <a:lnTo>
                                        <a:pt x="5400" y="21600"/>
                                      </a:lnTo>
                                      <a:lnTo>
                                        <a:pt x="16200" y="21600"/>
                                      </a:lnTo>
                                      <a:lnTo>
                                        <a:pt x="21600" y="0"/>
                                      </a:lnTo>
                                      <a:lnTo>
                                        <a:pt x="0" y="0"/>
                                      </a:lnTo>
                                      <a:close/>
                                    </a:path>
                                  </a:pathLst>
                                </a:custGeom>
                                <a:solidFill>
                                  <a:srgbClr val="DDDDDD">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1805" name="Rectangle 738"/>
                                <p:cNvSpPr/>
                                <p:nvPr/>
                              </p:nvSpPr>
                              <p:spPr>
                                <a:xfrm>
                                  <a:off x="299" y="0"/>
                                  <a:ext cx="18" cy="99"/>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806" name="AutoShape 739"/>
                                <p:cNvSpPr/>
                                <p:nvPr/>
                              </p:nvSpPr>
                              <p:spPr>
                                <a:xfrm rot="5400000">
                                  <a:off x="424" y="8"/>
                                  <a:ext cx="97" cy="81"/>
                                </a:xfrm>
                                <a:custGeom>
                                  <a:avLst/>
                                  <a:gdLst>
                                    <a:gd name="txL" fmla="*/ 4454 w 21600"/>
                                    <a:gd name="txT" fmla="*/ 4533 h 21600"/>
                                    <a:gd name="txR" fmla="*/ 17146 w 21600"/>
                                    <a:gd name="txB" fmla="*/ 17067 h 21600"/>
                                  </a:gdLst>
                                  <a:ahLst/>
                                  <a:cxnLst>
                                    <a:cxn ang="0">
                                      <a:pos x="0" y="0"/>
                                    </a:cxn>
                                    <a:cxn ang="0">
                                      <a:pos x="0" y="0"/>
                                    </a:cxn>
                                    <a:cxn ang="0">
                                      <a:pos x="0" y="0"/>
                                    </a:cxn>
                                    <a:cxn ang="0">
                                      <a:pos x="0" y="0"/>
                                    </a:cxn>
                                    <a:cxn ang="0">
                                      <a:pos x="0" y="0"/>
                                    </a:cxn>
                                  </a:cxnLst>
                                  <a:rect l="txL" t="txT" r="txR" b="txB"/>
                                  <a:pathLst>
                                    <a:path w="21600" h="21600">
                                      <a:moveTo>
                                        <a:pt x="0" y="0"/>
                                      </a:moveTo>
                                      <a:lnTo>
                                        <a:pt x="5400" y="21600"/>
                                      </a:lnTo>
                                      <a:lnTo>
                                        <a:pt x="16200" y="21600"/>
                                      </a:lnTo>
                                      <a:lnTo>
                                        <a:pt x="21600" y="0"/>
                                      </a:lnTo>
                                      <a:lnTo>
                                        <a:pt x="0" y="0"/>
                                      </a:lnTo>
                                      <a:close/>
                                    </a:path>
                                  </a:pathLst>
                                </a:custGeom>
                                <a:solidFill>
                                  <a:srgbClr val="DDDDDD">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1807" name="Rectangle 740"/>
                                <p:cNvSpPr/>
                                <p:nvPr/>
                              </p:nvSpPr>
                              <p:spPr>
                                <a:xfrm>
                                  <a:off x="516" y="0"/>
                                  <a:ext cx="18" cy="99"/>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sp>
                          <p:nvSpPr>
                            <p:cNvPr id="11798" name="Rectangle 741"/>
                            <p:cNvSpPr/>
                            <p:nvPr/>
                          </p:nvSpPr>
                          <p:spPr>
                            <a:xfrm>
                              <a:off x="0" y="189"/>
                              <a:ext cx="699" cy="62"/>
                            </a:xfrm>
                            <a:prstGeom prst="rect">
                              <a:avLst/>
                            </a:prstGeom>
                            <a:solidFill>
                              <a:srgbClr val="D5C5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26" name="Group 742"/>
                          <p:cNvGrpSpPr/>
                          <p:nvPr/>
                        </p:nvGrpSpPr>
                        <p:grpSpPr>
                          <a:xfrm>
                            <a:off x="0" y="1048"/>
                            <a:ext cx="5376" cy="2120"/>
                            <a:chOff x="0" y="0"/>
                            <a:chExt cx="5376" cy="2120"/>
                          </a:xfrm>
                        </p:grpSpPr>
                        <p:grpSp>
                          <p:nvGrpSpPr>
                            <p:cNvPr id="11327" name="Group 743"/>
                            <p:cNvGrpSpPr/>
                            <p:nvPr/>
                          </p:nvGrpSpPr>
                          <p:grpSpPr>
                            <a:xfrm>
                              <a:off x="0" y="0"/>
                              <a:ext cx="5376" cy="2120"/>
                              <a:chOff x="0" y="0"/>
                              <a:chExt cx="5376" cy="2120"/>
                            </a:xfrm>
                          </p:grpSpPr>
                          <p:sp>
                            <p:nvSpPr>
                              <p:cNvPr id="11329" name="Rectangle 744"/>
                              <p:cNvSpPr/>
                              <p:nvPr/>
                            </p:nvSpPr>
                            <p:spPr>
                              <a:xfrm>
                                <a:off x="3504" y="1832"/>
                                <a:ext cx="816"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endParaRPr lang="zh-CN" altLang="zh-CN" sz="1800" dirty="0">
                                  <a:latin typeface="Arial" panose="020B0604020202020204" pitchFamily="34" charset="0"/>
                                </a:endParaRPr>
                              </a:p>
                            </p:txBody>
                          </p:sp>
                          <p:sp>
                            <p:nvSpPr>
                              <p:cNvPr id="11330" name="Rectangle 745"/>
                              <p:cNvSpPr/>
                              <p:nvPr/>
                            </p:nvSpPr>
                            <p:spPr>
                              <a:xfrm>
                                <a:off x="4272" y="1544"/>
                                <a:ext cx="144" cy="384"/>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31" name="Rectangle 746"/>
                              <p:cNvSpPr/>
                              <p:nvPr/>
                            </p:nvSpPr>
                            <p:spPr>
                              <a:xfrm>
                                <a:off x="3408" y="1352"/>
                                <a:ext cx="1968"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32" name="Rectangle 747"/>
                              <p:cNvSpPr/>
                              <p:nvPr/>
                            </p:nvSpPr>
                            <p:spPr>
                              <a:xfrm>
                                <a:off x="2592" y="440"/>
                                <a:ext cx="144" cy="1296"/>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33" name="Rectangle 748"/>
                              <p:cNvSpPr/>
                              <p:nvPr/>
                            </p:nvSpPr>
                            <p:spPr>
                              <a:xfrm>
                                <a:off x="2688" y="1640"/>
                                <a:ext cx="720"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34" name="Arc 749"/>
                              <p:cNvSpPr/>
                              <p:nvPr/>
                            </p:nvSpPr>
                            <p:spPr>
                              <a:xfrm>
                                <a:off x="4176" y="872"/>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335" name="Rectangle 750"/>
                              <p:cNvSpPr/>
                              <p:nvPr/>
                            </p:nvSpPr>
                            <p:spPr>
                              <a:xfrm>
                                <a:off x="4080" y="968"/>
                                <a:ext cx="192" cy="144"/>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36" name="Rectangle 751"/>
                              <p:cNvSpPr/>
                              <p:nvPr/>
                            </p:nvSpPr>
                            <p:spPr>
                              <a:xfrm>
                                <a:off x="2928" y="872"/>
                                <a:ext cx="1248"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37" name="Rectangle 752"/>
                              <p:cNvSpPr/>
                              <p:nvPr/>
                            </p:nvSpPr>
                            <p:spPr>
                              <a:xfrm>
                                <a:off x="3408" y="392"/>
                                <a:ext cx="576" cy="144"/>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38" name="Rectangle 753"/>
                              <p:cNvSpPr/>
                              <p:nvPr/>
                            </p:nvSpPr>
                            <p:spPr>
                              <a:xfrm>
                                <a:off x="3936" y="104"/>
                                <a:ext cx="144" cy="336"/>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39" name="Rectangle 754"/>
                              <p:cNvSpPr/>
                              <p:nvPr/>
                            </p:nvSpPr>
                            <p:spPr>
                              <a:xfrm>
                                <a:off x="2832" y="104"/>
                                <a:ext cx="144" cy="864"/>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40" name="Rectangle 755"/>
                              <p:cNvSpPr/>
                              <p:nvPr/>
                            </p:nvSpPr>
                            <p:spPr>
                              <a:xfrm>
                                <a:off x="2928" y="8"/>
                                <a:ext cx="1056"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41" name="Line 756"/>
                              <p:cNvSpPr/>
                              <p:nvPr/>
                            </p:nvSpPr>
                            <p:spPr>
                              <a:xfrm flipV="1">
                                <a:off x="2976" y="872"/>
                                <a:ext cx="1200" cy="0"/>
                              </a:xfrm>
                              <a:prstGeom prst="line">
                                <a:avLst/>
                              </a:prstGeom>
                              <a:ln w="9525" cap="flat" cmpd="sng">
                                <a:solidFill>
                                  <a:schemeClr val="tx1"/>
                                </a:solidFill>
                                <a:prstDash val="solid"/>
                                <a:headEnd type="none" w="med" len="med"/>
                                <a:tailEnd type="none" w="med" len="med"/>
                              </a:ln>
                            </p:spPr>
                          </p:sp>
                          <p:sp>
                            <p:nvSpPr>
                              <p:cNvPr id="11342" name="Line 757"/>
                              <p:cNvSpPr/>
                              <p:nvPr/>
                            </p:nvSpPr>
                            <p:spPr>
                              <a:xfrm flipV="1">
                                <a:off x="3504" y="1832"/>
                                <a:ext cx="768" cy="0"/>
                              </a:xfrm>
                              <a:prstGeom prst="line">
                                <a:avLst/>
                              </a:prstGeom>
                              <a:ln w="9525" cap="flat" cmpd="sng">
                                <a:solidFill>
                                  <a:schemeClr val="tx1"/>
                                </a:solidFill>
                                <a:prstDash val="solid"/>
                                <a:headEnd type="none" w="med" len="med"/>
                                <a:tailEnd type="none" w="med" len="med"/>
                              </a:ln>
                            </p:spPr>
                          </p:sp>
                          <p:sp>
                            <p:nvSpPr>
                              <p:cNvPr id="11343" name="Line 758"/>
                              <p:cNvSpPr/>
                              <p:nvPr/>
                            </p:nvSpPr>
                            <p:spPr>
                              <a:xfrm>
                                <a:off x="3504" y="2024"/>
                                <a:ext cx="816" cy="0"/>
                              </a:xfrm>
                              <a:prstGeom prst="line">
                                <a:avLst/>
                              </a:prstGeom>
                              <a:ln w="9525" cap="flat" cmpd="sng">
                                <a:solidFill>
                                  <a:schemeClr val="tx1"/>
                                </a:solidFill>
                                <a:prstDash val="solid"/>
                                <a:headEnd type="none" w="med" len="med"/>
                                <a:tailEnd type="none" w="med" len="med"/>
                              </a:ln>
                            </p:spPr>
                          </p:sp>
                          <p:sp>
                            <p:nvSpPr>
                              <p:cNvPr id="11344" name="Line 759"/>
                              <p:cNvSpPr/>
                              <p:nvPr/>
                            </p:nvSpPr>
                            <p:spPr>
                              <a:xfrm flipV="1">
                                <a:off x="4416" y="1544"/>
                                <a:ext cx="0" cy="384"/>
                              </a:xfrm>
                              <a:prstGeom prst="line">
                                <a:avLst/>
                              </a:prstGeom>
                              <a:ln w="9525" cap="flat" cmpd="sng">
                                <a:solidFill>
                                  <a:schemeClr val="tx1"/>
                                </a:solidFill>
                                <a:prstDash val="solid"/>
                                <a:headEnd type="none" w="med" len="med"/>
                                <a:tailEnd type="none" w="med" len="med"/>
                              </a:ln>
                            </p:spPr>
                          </p:sp>
                          <p:sp>
                            <p:nvSpPr>
                              <p:cNvPr id="11345" name="Line 760"/>
                              <p:cNvSpPr/>
                              <p:nvPr/>
                            </p:nvSpPr>
                            <p:spPr>
                              <a:xfrm flipH="1">
                                <a:off x="3504" y="1832"/>
                                <a:ext cx="0" cy="192"/>
                              </a:xfrm>
                              <a:prstGeom prst="line">
                                <a:avLst/>
                              </a:prstGeom>
                              <a:ln w="9525" cap="flat" cmpd="sng">
                                <a:solidFill>
                                  <a:schemeClr val="tx1"/>
                                </a:solidFill>
                                <a:prstDash val="solid"/>
                                <a:headEnd type="none" w="med" len="med"/>
                                <a:tailEnd type="none" w="med" len="med"/>
                              </a:ln>
                            </p:spPr>
                          </p:sp>
                          <p:sp>
                            <p:nvSpPr>
                              <p:cNvPr id="11346" name="Line 761"/>
                              <p:cNvSpPr/>
                              <p:nvPr/>
                            </p:nvSpPr>
                            <p:spPr>
                              <a:xfrm flipH="1" flipV="1">
                                <a:off x="4080" y="104"/>
                                <a:ext cx="0" cy="336"/>
                              </a:xfrm>
                              <a:prstGeom prst="line">
                                <a:avLst/>
                              </a:prstGeom>
                              <a:ln w="9525" cap="flat" cmpd="sng">
                                <a:solidFill>
                                  <a:schemeClr val="tx1"/>
                                </a:solidFill>
                                <a:prstDash val="solid"/>
                                <a:headEnd type="none" w="med" len="med"/>
                                <a:tailEnd type="none" w="med" len="med"/>
                              </a:ln>
                            </p:spPr>
                          </p:sp>
                          <p:sp>
                            <p:nvSpPr>
                              <p:cNvPr id="11347" name="Line 762"/>
                              <p:cNvSpPr/>
                              <p:nvPr/>
                            </p:nvSpPr>
                            <p:spPr>
                              <a:xfrm flipV="1">
                                <a:off x="2976" y="200"/>
                                <a:ext cx="960" cy="0"/>
                              </a:xfrm>
                              <a:prstGeom prst="line">
                                <a:avLst/>
                              </a:prstGeom>
                              <a:ln w="9525" cap="flat" cmpd="sng">
                                <a:solidFill>
                                  <a:schemeClr val="tx1"/>
                                </a:solidFill>
                                <a:prstDash val="solid"/>
                                <a:headEnd type="none" w="med" len="med"/>
                                <a:tailEnd type="none" w="med" len="med"/>
                              </a:ln>
                            </p:spPr>
                          </p:sp>
                          <p:sp>
                            <p:nvSpPr>
                              <p:cNvPr id="11348" name="Line 763"/>
                              <p:cNvSpPr/>
                              <p:nvPr/>
                            </p:nvSpPr>
                            <p:spPr>
                              <a:xfrm>
                                <a:off x="3936" y="200"/>
                                <a:ext cx="0" cy="192"/>
                              </a:xfrm>
                              <a:prstGeom prst="line">
                                <a:avLst/>
                              </a:prstGeom>
                              <a:ln w="9525" cap="flat" cmpd="sng">
                                <a:solidFill>
                                  <a:schemeClr val="tx1"/>
                                </a:solidFill>
                                <a:prstDash val="solid"/>
                                <a:headEnd type="none" w="med" len="med"/>
                                <a:tailEnd type="none" w="med" len="med"/>
                              </a:ln>
                            </p:spPr>
                          </p:sp>
                          <p:sp>
                            <p:nvSpPr>
                              <p:cNvPr id="11349" name="Line 764"/>
                              <p:cNvSpPr/>
                              <p:nvPr/>
                            </p:nvSpPr>
                            <p:spPr>
                              <a:xfrm flipH="1" flipV="1">
                                <a:off x="3408" y="392"/>
                                <a:ext cx="528" cy="0"/>
                              </a:xfrm>
                              <a:prstGeom prst="line">
                                <a:avLst/>
                              </a:prstGeom>
                              <a:ln w="9525" cap="flat" cmpd="sng">
                                <a:solidFill>
                                  <a:schemeClr val="tx1"/>
                                </a:solidFill>
                                <a:prstDash val="solid"/>
                                <a:headEnd type="none" w="med" len="med"/>
                                <a:tailEnd type="none" w="med" len="med"/>
                              </a:ln>
                            </p:spPr>
                          </p:sp>
                          <p:sp>
                            <p:nvSpPr>
                              <p:cNvPr id="11350" name="Line 765"/>
                              <p:cNvSpPr/>
                              <p:nvPr/>
                            </p:nvSpPr>
                            <p:spPr>
                              <a:xfrm flipH="1">
                                <a:off x="3408" y="392"/>
                                <a:ext cx="0" cy="144"/>
                              </a:xfrm>
                              <a:prstGeom prst="line">
                                <a:avLst/>
                              </a:prstGeom>
                              <a:ln w="9525" cap="flat" cmpd="sng">
                                <a:solidFill>
                                  <a:schemeClr val="tx1"/>
                                </a:solidFill>
                                <a:prstDash val="solid"/>
                                <a:headEnd type="none" w="med" len="med"/>
                                <a:tailEnd type="none" w="med" len="med"/>
                              </a:ln>
                            </p:spPr>
                          </p:sp>
                          <p:sp>
                            <p:nvSpPr>
                              <p:cNvPr id="11351" name="Line 766"/>
                              <p:cNvSpPr/>
                              <p:nvPr/>
                            </p:nvSpPr>
                            <p:spPr>
                              <a:xfrm flipV="1">
                                <a:off x="3408" y="536"/>
                                <a:ext cx="576" cy="0"/>
                              </a:xfrm>
                              <a:prstGeom prst="line">
                                <a:avLst/>
                              </a:prstGeom>
                              <a:ln w="9525" cap="flat" cmpd="sng">
                                <a:solidFill>
                                  <a:schemeClr val="tx1"/>
                                </a:solidFill>
                                <a:prstDash val="solid"/>
                                <a:headEnd type="none" w="med" len="med"/>
                                <a:tailEnd type="none" w="med" len="med"/>
                              </a:ln>
                            </p:spPr>
                          </p:sp>
                          <p:grpSp>
                            <p:nvGrpSpPr>
                              <p:cNvPr id="11352" name="Group 767"/>
                              <p:cNvGrpSpPr/>
                              <p:nvPr/>
                            </p:nvGrpSpPr>
                            <p:grpSpPr>
                              <a:xfrm>
                                <a:off x="3456" y="200"/>
                                <a:ext cx="458" cy="148"/>
                                <a:chOff x="0" y="0"/>
                                <a:chExt cx="458" cy="148"/>
                              </a:xfrm>
                            </p:grpSpPr>
                            <p:grpSp>
                              <p:nvGrpSpPr>
                                <p:cNvPr id="11780" name="Group 768"/>
                                <p:cNvGrpSpPr/>
                                <p:nvPr/>
                              </p:nvGrpSpPr>
                              <p:grpSpPr>
                                <a:xfrm>
                                  <a:off x="2" y="48"/>
                                  <a:ext cx="456" cy="100"/>
                                  <a:chOff x="0" y="0"/>
                                  <a:chExt cx="425" cy="100"/>
                                </a:xfrm>
                              </p:grpSpPr>
                              <p:sp>
                                <p:nvSpPr>
                                  <p:cNvPr id="11791" name="AutoShape 769"/>
                                  <p:cNvSpPr/>
                                  <p:nvPr/>
                                </p:nvSpPr>
                                <p:spPr>
                                  <a:xfrm rot="5400000">
                                    <a:off x="-9" y="10"/>
                                    <a:ext cx="98" cy="80"/>
                                  </a:xfrm>
                                  <a:custGeom>
                                    <a:avLst/>
                                    <a:gdLst>
                                      <a:gd name="txL" fmla="*/ 4408 w 21600"/>
                                      <a:gd name="txT" fmla="*/ 4590 h 21600"/>
                                      <a:gd name="txR" fmla="*/ 17192 w 21600"/>
                                      <a:gd name="txB" fmla="*/ 17010 h 21600"/>
                                    </a:gdLst>
                                    <a:ahLst/>
                                    <a:cxnLst>
                                      <a:cxn ang="0">
                                        <a:pos x="0" y="0"/>
                                      </a:cxn>
                                      <a:cxn ang="0">
                                        <a:pos x="0" y="0"/>
                                      </a:cxn>
                                      <a:cxn ang="0">
                                        <a:pos x="0" y="0"/>
                                      </a:cxn>
                                      <a:cxn ang="0">
                                        <a:pos x="0" y="0"/>
                                      </a:cxn>
                                      <a:cxn ang="0">
                                        <a:pos x="0" y="0"/>
                                      </a:cxn>
                                    </a:cxnLst>
                                    <a:rect l="txL" t="txT" r="txR" b="txB"/>
                                    <a:pathLst>
                                      <a:path w="21600" h="21600">
                                        <a:moveTo>
                                          <a:pt x="0" y="0"/>
                                        </a:moveTo>
                                        <a:lnTo>
                                          <a:pt x="5400" y="21600"/>
                                        </a:lnTo>
                                        <a:lnTo>
                                          <a:pt x="16200" y="21600"/>
                                        </a:lnTo>
                                        <a:lnTo>
                                          <a:pt x="21600" y="0"/>
                                        </a:lnTo>
                                        <a:lnTo>
                                          <a:pt x="0" y="0"/>
                                        </a:lnTo>
                                        <a:close/>
                                      </a:path>
                                    </a:pathLst>
                                  </a:custGeom>
                                  <a:solidFill>
                                    <a:srgbClr val="DDDDDD">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1792" name="Rectangle 770"/>
                                  <p:cNvSpPr/>
                                  <p:nvPr/>
                                </p:nvSpPr>
                                <p:spPr>
                                  <a:xfrm>
                                    <a:off x="81" y="0"/>
                                    <a:ext cx="18" cy="100"/>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93" name="AutoShape 771"/>
                                  <p:cNvSpPr/>
                                  <p:nvPr/>
                                </p:nvSpPr>
                                <p:spPr>
                                  <a:xfrm rot="5400000">
                                    <a:off x="154" y="10"/>
                                    <a:ext cx="98" cy="80"/>
                                  </a:xfrm>
                                  <a:custGeom>
                                    <a:avLst/>
                                    <a:gdLst>
                                      <a:gd name="txL" fmla="*/ 4408 w 21600"/>
                                      <a:gd name="txT" fmla="*/ 4590 h 21600"/>
                                      <a:gd name="txR" fmla="*/ 17192 w 21600"/>
                                      <a:gd name="txB" fmla="*/ 17010 h 21600"/>
                                    </a:gdLst>
                                    <a:ahLst/>
                                    <a:cxnLst>
                                      <a:cxn ang="0">
                                        <a:pos x="0" y="0"/>
                                      </a:cxn>
                                      <a:cxn ang="0">
                                        <a:pos x="0" y="0"/>
                                      </a:cxn>
                                      <a:cxn ang="0">
                                        <a:pos x="0" y="0"/>
                                      </a:cxn>
                                      <a:cxn ang="0">
                                        <a:pos x="0" y="0"/>
                                      </a:cxn>
                                      <a:cxn ang="0">
                                        <a:pos x="0" y="0"/>
                                      </a:cxn>
                                    </a:cxnLst>
                                    <a:rect l="txL" t="txT" r="txR" b="txB"/>
                                    <a:pathLst>
                                      <a:path w="21600" h="21600">
                                        <a:moveTo>
                                          <a:pt x="0" y="0"/>
                                        </a:moveTo>
                                        <a:lnTo>
                                          <a:pt x="5400" y="21600"/>
                                        </a:lnTo>
                                        <a:lnTo>
                                          <a:pt x="16200" y="21600"/>
                                        </a:lnTo>
                                        <a:lnTo>
                                          <a:pt x="21600" y="0"/>
                                        </a:lnTo>
                                        <a:lnTo>
                                          <a:pt x="0" y="0"/>
                                        </a:lnTo>
                                        <a:close/>
                                      </a:path>
                                    </a:pathLst>
                                  </a:custGeom>
                                  <a:solidFill>
                                    <a:srgbClr val="DDDDDD">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1794" name="Rectangle 772"/>
                                  <p:cNvSpPr/>
                                  <p:nvPr/>
                                </p:nvSpPr>
                                <p:spPr>
                                  <a:xfrm>
                                    <a:off x="244" y="0"/>
                                    <a:ext cx="18" cy="100"/>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95" name="AutoShape 773"/>
                                  <p:cNvSpPr/>
                                  <p:nvPr/>
                                </p:nvSpPr>
                                <p:spPr>
                                  <a:xfrm rot="5400000">
                                    <a:off x="317" y="10"/>
                                    <a:ext cx="98" cy="80"/>
                                  </a:xfrm>
                                  <a:custGeom>
                                    <a:avLst/>
                                    <a:gdLst>
                                      <a:gd name="txL" fmla="*/ 4408 w 21600"/>
                                      <a:gd name="txT" fmla="*/ 4590 h 21600"/>
                                      <a:gd name="txR" fmla="*/ 17192 w 21600"/>
                                      <a:gd name="txB" fmla="*/ 17010 h 21600"/>
                                    </a:gdLst>
                                    <a:ahLst/>
                                    <a:cxnLst>
                                      <a:cxn ang="0">
                                        <a:pos x="0" y="0"/>
                                      </a:cxn>
                                      <a:cxn ang="0">
                                        <a:pos x="0" y="0"/>
                                      </a:cxn>
                                      <a:cxn ang="0">
                                        <a:pos x="0" y="0"/>
                                      </a:cxn>
                                      <a:cxn ang="0">
                                        <a:pos x="0" y="0"/>
                                      </a:cxn>
                                      <a:cxn ang="0">
                                        <a:pos x="0" y="0"/>
                                      </a:cxn>
                                    </a:cxnLst>
                                    <a:rect l="txL" t="txT" r="txR" b="txB"/>
                                    <a:pathLst>
                                      <a:path w="21600" h="21600">
                                        <a:moveTo>
                                          <a:pt x="0" y="0"/>
                                        </a:moveTo>
                                        <a:lnTo>
                                          <a:pt x="5400" y="21600"/>
                                        </a:lnTo>
                                        <a:lnTo>
                                          <a:pt x="16200" y="21600"/>
                                        </a:lnTo>
                                        <a:lnTo>
                                          <a:pt x="21600" y="0"/>
                                        </a:lnTo>
                                        <a:lnTo>
                                          <a:pt x="0" y="0"/>
                                        </a:lnTo>
                                        <a:close/>
                                      </a:path>
                                    </a:pathLst>
                                  </a:custGeom>
                                  <a:solidFill>
                                    <a:srgbClr val="DDDDDD">
                                      <a:alpha val="10000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1796" name="Rectangle 774"/>
                                  <p:cNvSpPr/>
                                  <p:nvPr/>
                                </p:nvSpPr>
                                <p:spPr>
                                  <a:xfrm>
                                    <a:off x="407" y="0"/>
                                    <a:ext cx="18" cy="100"/>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781" name="Group 775"/>
                                <p:cNvGrpSpPr/>
                                <p:nvPr/>
                              </p:nvGrpSpPr>
                              <p:grpSpPr>
                                <a:xfrm>
                                  <a:off x="0" y="0"/>
                                  <a:ext cx="458" cy="67"/>
                                  <a:chOff x="0" y="0"/>
                                  <a:chExt cx="426" cy="100"/>
                                </a:xfrm>
                              </p:grpSpPr>
                              <p:sp>
                                <p:nvSpPr>
                                  <p:cNvPr id="11782" name="Line 776"/>
                                  <p:cNvSpPr/>
                                  <p:nvPr/>
                                </p:nvSpPr>
                                <p:spPr>
                                  <a:xfrm>
                                    <a:off x="0" y="0"/>
                                    <a:ext cx="0" cy="100"/>
                                  </a:xfrm>
                                  <a:prstGeom prst="line">
                                    <a:avLst/>
                                  </a:prstGeom>
                                  <a:ln w="9525" cap="flat" cmpd="sng">
                                    <a:solidFill>
                                      <a:schemeClr val="tx1"/>
                                    </a:solidFill>
                                    <a:prstDash val="solid"/>
                                    <a:headEnd type="none" w="med" len="med"/>
                                    <a:tailEnd type="none" w="med" len="med"/>
                                  </a:ln>
                                </p:spPr>
                              </p:sp>
                              <p:sp>
                                <p:nvSpPr>
                                  <p:cNvPr id="11783" name="Line 777"/>
                                  <p:cNvSpPr/>
                                  <p:nvPr/>
                                </p:nvSpPr>
                                <p:spPr>
                                  <a:xfrm>
                                    <a:off x="100" y="0"/>
                                    <a:ext cx="0" cy="100"/>
                                  </a:xfrm>
                                  <a:prstGeom prst="line">
                                    <a:avLst/>
                                  </a:prstGeom>
                                  <a:ln w="9525" cap="flat" cmpd="sng">
                                    <a:solidFill>
                                      <a:schemeClr val="tx1"/>
                                    </a:solidFill>
                                    <a:prstDash val="solid"/>
                                    <a:headEnd type="none" w="med" len="med"/>
                                    <a:tailEnd type="none" w="med" len="med"/>
                                  </a:ln>
                                </p:spPr>
                              </p:sp>
                              <p:sp>
                                <p:nvSpPr>
                                  <p:cNvPr id="11784" name="Line 778"/>
                                  <p:cNvSpPr/>
                                  <p:nvPr/>
                                </p:nvSpPr>
                                <p:spPr>
                                  <a:xfrm>
                                    <a:off x="0" y="46"/>
                                    <a:ext cx="97" cy="0"/>
                                  </a:xfrm>
                                  <a:prstGeom prst="line">
                                    <a:avLst/>
                                  </a:prstGeom>
                                  <a:ln w="9525" cap="flat" cmpd="sng">
                                    <a:solidFill>
                                      <a:schemeClr val="tx1"/>
                                    </a:solidFill>
                                    <a:prstDash val="solid"/>
                                    <a:headEnd type="none" w="med" len="med"/>
                                    <a:tailEnd type="none" w="med" len="med"/>
                                  </a:ln>
                                </p:spPr>
                              </p:sp>
                              <p:sp>
                                <p:nvSpPr>
                                  <p:cNvPr id="11785" name="Line 779"/>
                                  <p:cNvSpPr/>
                                  <p:nvPr/>
                                </p:nvSpPr>
                                <p:spPr>
                                  <a:xfrm>
                                    <a:off x="163" y="0"/>
                                    <a:ext cx="0" cy="100"/>
                                  </a:xfrm>
                                  <a:prstGeom prst="line">
                                    <a:avLst/>
                                  </a:prstGeom>
                                  <a:ln w="9525" cap="flat" cmpd="sng">
                                    <a:solidFill>
                                      <a:schemeClr val="tx1"/>
                                    </a:solidFill>
                                    <a:prstDash val="solid"/>
                                    <a:headEnd type="none" w="med" len="med"/>
                                    <a:tailEnd type="none" w="med" len="med"/>
                                  </a:ln>
                                </p:spPr>
                              </p:sp>
                              <p:sp>
                                <p:nvSpPr>
                                  <p:cNvPr id="11786" name="Line 780"/>
                                  <p:cNvSpPr/>
                                  <p:nvPr/>
                                </p:nvSpPr>
                                <p:spPr>
                                  <a:xfrm>
                                    <a:off x="263" y="0"/>
                                    <a:ext cx="0" cy="100"/>
                                  </a:xfrm>
                                  <a:prstGeom prst="line">
                                    <a:avLst/>
                                  </a:prstGeom>
                                  <a:ln w="9525" cap="flat" cmpd="sng">
                                    <a:solidFill>
                                      <a:schemeClr val="tx1"/>
                                    </a:solidFill>
                                    <a:prstDash val="solid"/>
                                    <a:headEnd type="none" w="med" len="med"/>
                                    <a:tailEnd type="none" w="med" len="med"/>
                                  </a:ln>
                                </p:spPr>
                              </p:sp>
                              <p:sp>
                                <p:nvSpPr>
                                  <p:cNvPr id="11787" name="Line 781"/>
                                  <p:cNvSpPr/>
                                  <p:nvPr/>
                                </p:nvSpPr>
                                <p:spPr>
                                  <a:xfrm>
                                    <a:off x="163" y="46"/>
                                    <a:ext cx="97" cy="0"/>
                                  </a:xfrm>
                                  <a:prstGeom prst="line">
                                    <a:avLst/>
                                  </a:prstGeom>
                                  <a:ln w="9525" cap="flat" cmpd="sng">
                                    <a:solidFill>
                                      <a:schemeClr val="tx1"/>
                                    </a:solidFill>
                                    <a:prstDash val="solid"/>
                                    <a:headEnd type="none" w="med" len="med"/>
                                    <a:tailEnd type="none" w="med" len="med"/>
                                  </a:ln>
                                </p:spPr>
                              </p:sp>
                              <p:sp>
                                <p:nvSpPr>
                                  <p:cNvPr id="11788" name="Line 782"/>
                                  <p:cNvSpPr/>
                                  <p:nvPr/>
                                </p:nvSpPr>
                                <p:spPr>
                                  <a:xfrm>
                                    <a:off x="326" y="0"/>
                                    <a:ext cx="0" cy="100"/>
                                  </a:xfrm>
                                  <a:prstGeom prst="line">
                                    <a:avLst/>
                                  </a:prstGeom>
                                  <a:ln w="9525" cap="flat" cmpd="sng">
                                    <a:solidFill>
                                      <a:schemeClr val="tx1"/>
                                    </a:solidFill>
                                    <a:prstDash val="solid"/>
                                    <a:headEnd type="none" w="med" len="med"/>
                                    <a:tailEnd type="none" w="med" len="med"/>
                                  </a:ln>
                                </p:spPr>
                              </p:sp>
                              <p:sp>
                                <p:nvSpPr>
                                  <p:cNvPr id="11789" name="Line 783"/>
                                  <p:cNvSpPr/>
                                  <p:nvPr/>
                                </p:nvSpPr>
                                <p:spPr>
                                  <a:xfrm>
                                    <a:off x="426" y="0"/>
                                    <a:ext cx="0" cy="100"/>
                                  </a:xfrm>
                                  <a:prstGeom prst="line">
                                    <a:avLst/>
                                  </a:prstGeom>
                                  <a:ln w="9525" cap="flat" cmpd="sng">
                                    <a:solidFill>
                                      <a:schemeClr val="tx1"/>
                                    </a:solidFill>
                                    <a:prstDash val="solid"/>
                                    <a:headEnd type="none" w="med" len="med"/>
                                    <a:tailEnd type="none" w="med" len="med"/>
                                  </a:ln>
                                </p:spPr>
                              </p:sp>
                              <p:sp>
                                <p:nvSpPr>
                                  <p:cNvPr id="11790" name="Line 784"/>
                                  <p:cNvSpPr/>
                                  <p:nvPr/>
                                </p:nvSpPr>
                                <p:spPr>
                                  <a:xfrm>
                                    <a:off x="326" y="46"/>
                                    <a:ext cx="97" cy="0"/>
                                  </a:xfrm>
                                  <a:prstGeom prst="line">
                                    <a:avLst/>
                                  </a:prstGeom>
                                  <a:ln w="9525" cap="flat" cmpd="sng">
                                    <a:solidFill>
                                      <a:schemeClr val="tx1"/>
                                    </a:solidFill>
                                    <a:prstDash val="solid"/>
                                    <a:headEnd type="none" w="med" len="med"/>
                                    <a:tailEnd type="none" w="med" len="med"/>
                                  </a:ln>
                                </p:spPr>
                              </p:sp>
                            </p:grpSp>
                          </p:grpSp>
                          <p:sp>
                            <p:nvSpPr>
                              <p:cNvPr id="11353" name="Line 785"/>
                              <p:cNvSpPr/>
                              <p:nvPr/>
                            </p:nvSpPr>
                            <p:spPr>
                              <a:xfrm flipH="1">
                                <a:off x="2832" y="536"/>
                                <a:ext cx="0" cy="432"/>
                              </a:xfrm>
                              <a:prstGeom prst="line">
                                <a:avLst/>
                              </a:prstGeom>
                              <a:ln w="9525" cap="flat" cmpd="sng">
                                <a:solidFill>
                                  <a:schemeClr val="tx1"/>
                                </a:solidFill>
                                <a:prstDash val="solid"/>
                                <a:headEnd type="none" w="med" len="med"/>
                                <a:tailEnd type="none" w="med" len="med"/>
                              </a:ln>
                            </p:spPr>
                          </p:sp>
                          <p:sp>
                            <p:nvSpPr>
                              <p:cNvPr id="11354" name="Line 786"/>
                              <p:cNvSpPr/>
                              <p:nvPr/>
                            </p:nvSpPr>
                            <p:spPr>
                              <a:xfrm flipH="1">
                                <a:off x="3408" y="1640"/>
                                <a:ext cx="0" cy="192"/>
                              </a:xfrm>
                              <a:prstGeom prst="line">
                                <a:avLst/>
                              </a:prstGeom>
                              <a:ln w="9525" cap="flat" cmpd="sng">
                                <a:solidFill>
                                  <a:schemeClr val="tx1"/>
                                </a:solidFill>
                                <a:prstDash val="solid"/>
                                <a:headEnd type="none" w="med" len="med"/>
                                <a:tailEnd type="none" w="med" len="med"/>
                              </a:ln>
                            </p:spPr>
                          </p:sp>
                          <p:sp>
                            <p:nvSpPr>
                              <p:cNvPr id="11355" name="Line 787"/>
                              <p:cNvSpPr/>
                              <p:nvPr/>
                            </p:nvSpPr>
                            <p:spPr>
                              <a:xfrm>
                                <a:off x="2736" y="1640"/>
                                <a:ext cx="672" cy="0"/>
                              </a:xfrm>
                              <a:prstGeom prst="line">
                                <a:avLst/>
                              </a:prstGeom>
                              <a:ln w="9525" cap="flat" cmpd="sng">
                                <a:solidFill>
                                  <a:schemeClr val="tx1"/>
                                </a:solidFill>
                                <a:prstDash val="solid"/>
                                <a:headEnd type="none" w="med" len="med"/>
                                <a:tailEnd type="none" w="med" len="med"/>
                              </a:ln>
                            </p:spPr>
                          </p:sp>
                          <p:sp>
                            <p:nvSpPr>
                              <p:cNvPr id="11356" name="Line 788"/>
                              <p:cNvSpPr/>
                              <p:nvPr/>
                            </p:nvSpPr>
                            <p:spPr>
                              <a:xfrm>
                                <a:off x="2688" y="1832"/>
                                <a:ext cx="720" cy="0"/>
                              </a:xfrm>
                              <a:prstGeom prst="line">
                                <a:avLst/>
                              </a:prstGeom>
                              <a:ln w="9525" cap="flat" cmpd="sng">
                                <a:solidFill>
                                  <a:schemeClr val="tx1"/>
                                </a:solidFill>
                                <a:prstDash val="solid"/>
                                <a:headEnd type="none" w="med" len="med"/>
                                <a:tailEnd type="none" w="med" len="med"/>
                              </a:ln>
                            </p:spPr>
                          </p:sp>
                          <p:sp>
                            <p:nvSpPr>
                              <p:cNvPr id="11357" name="Line 789"/>
                              <p:cNvSpPr/>
                              <p:nvPr/>
                            </p:nvSpPr>
                            <p:spPr>
                              <a:xfrm>
                                <a:off x="2928" y="1064"/>
                                <a:ext cx="1152" cy="0"/>
                              </a:xfrm>
                              <a:prstGeom prst="line">
                                <a:avLst/>
                              </a:prstGeom>
                              <a:ln w="9525" cap="flat" cmpd="sng">
                                <a:solidFill>
                                  <a:schemeClr val="tx1"/>
                                </a:solidFill>
                                <a:prstDash val="solid"/>
                                <a:headEnd type="none" w="med" len="med"/>
                                <a:tailEnd type="none" w="med" len="med"/>
                              </a:ln>
                            </p:spPr>
                          </p:sp>
                          <p:sp>
                            <p:nvSpPr>
                              <p:cNvPr id="11358" name="Line 790"/>
                              <p:cNvSpPr/>
                              <p:nvPr/>
                            </p:nvSpPr>
                            <p:spPr>
                              <a:xfrm>
                                <a:off x="4080" y="1064"/>
                                <a:ext cx="0" cy="48"/>
                              </a:xfrm>
                              <a:prstGeom prst="line">
                                <a:avLst/>
                              </a:prstGeom>
                              <a:ln w="9525" cap="flat" cmpd="sng">
                                <a:solidFill>
                                  <a:schemeClr val="tx1"/>
                                </a:solidFill>
                                <a:prstDash val="solid"/>
                                <a:headEnd type="none" w="med" len="med"/>
                                <a:tailEnd type="none" w="med" len="med"/>
                              </a:ln>
                            </p:spPr>
                          </p:sp>
                          <p:sp>
                            <p:nvSpPr>
                              <p:cNvPr id="11359" name="Line 791"/>
                              <p:cNvSpPr/>
                              <p:nvPr/>
                            </p:nvSpPr>
                            <p:spPr>
                              <a:xfrm>
                                <a:off x="4080" y="1112"/>
                                <a:ext cx="192" cy="0"/>
                              </a:xfrm>
                              <a:prstGeom prst="line">
                                <a:avLst/>
                              </a:prstGeom>
                              <a:ln w="9525" cap="flat" cmpd="sng">
                                <a:solidFill>
                                  <a:schemeClr val="tx1"/>
                                </a:solidFill>
                                <a:prstDash val="solid"/>
                                <a:headEnd type="none" w="med" len="med"/>
                                <a:tailEnd type="none" w="med" len="med"/>
                              </a:ln>
                            </p:spPr>
                          </p:sp>
                          <p:sp>
                            <p:nvSpPr>
                              <p:cNvPr id="11360" name="Line 792"/>
                              <p:cNvSpPr/>
                              <p:nvPr/>
                            </p:nvSpPr>
                            <p:spPr>
                              <a:xfrm>
                                <a:off x="4272" y="968"/>
                                <a:ext cx="0" cy="144"/>
                              </a:xfrm>
                              <a:prstGeom prst="line">
                                <a:avLst/>
                              </a:prstGeom>
                              <a:ln w="9525" cap="flat" cmpd="sng">
                                <a:solidFill>
                                  <a:schemeClr val="tx1"/>
                                </a:solidFill>
                                <a:prstDash val="solid"/>
                                <a:headEnd type="none" w="med" len="med"/>
                                <a:tailEnd type="none" w="med" len="med"/>
                              </a:ln>
                            </p:spPr>
                          </p:sp>
                          <p:sp>
                            <p:nvSpPr>
                              <p:cNvPr id="11361" name="Text Box 793"/>
                              <p:cNvSpPr txBox="1"/>
                              <p:nvPr/>
                            </p:nvSpPr>
                            <p:spPr>
                              <a:xfrm>
                                <a:off x="2787" y="1628"/>
                                <a:ext cx="572" cy="164"/>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驱动桥装配</a:t>
                                </a:r>
                                <a:endParaRPr lang="zh-CN" altLang="zh-CN" sz="1400" dirty="0">
                                  <a:latin typeface="Times New Roman" panose="02020603050405020304" pitchFamily="18" charset="0"/>
                                  <a:ea typeface="黑体" panose="02010609060101010101" pitchFamily="49" charset="-122"/>
                                </a:endParaRPr>
                              </a:p>
                            </p:txBody>
                          </p:sp>
                          <p:sp>
                            <p:nvSpPr>
                              <p:cNvPr id="11362" name="Text Box 794"/>
                              <p:cNvSpPr txBox="1"/>
                              <p:nvPr/>
                            </p:nvSpPr>
                            <p:spPr>
                              <a:xfrm>
                                <a:off x="3091" y="0"/>
                                <a:ext cx="598" cy="163"/>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变速箱装配</a:t>
                                </a:r>
                                <a:endParaRPr lang="zh-CN" altLang="zh-CN" sz="1400" dirty="0">
                                  <a:latin typeface="Times New Roman" panose="02020603050405020304" pitchFamily="18" charset="0"/>
                                  <a:ea typeface="黑体" panose="02010609060101010101" pitchFamily="49" charset="-122"/>
                                </a:endParaRPr>
                              </a:p>
                            </p:txBody>
                          </p:sp>
                          <p:sp>
                            <p:nvSpPr>
                              <p:cNvPr id="11363" name="Text Box 795"/>
                              <p:cNvSpPr txBox="1"/>
                              <p:nvPr/>
                            </p:nvSpPr>
                            <p:spPr>
                              <a:xfrm>
                                <a:off x="3651" y="1824"/>
                                <a:ext cx="489" cy="164"/>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轮胎装配</a:t>
                                </a:r>
                                <a:endParaRPr lang="zh-CN" altLang="zh-CN" sz="1400" dirty="0">
                                  <a:latin typeface="Times New Roman" panose="02020603050405020304" pitchFamily="18" charset="0"/>
                                  <a:ea typeface="黑体" panose="02010609060101010101" pitchFamily="49" charset="-122"/>
                                </a:endParaRPr>
                              </a:p>
                            </p:txBody>
                          </p:sp>
                          <p:sp>
                            <p:nvSpPr>
                              <p:cNvPr id="11364" name="Text Box 796"/>
                              <p:cNvSpPr txBox="1"/>
                              <p:nvPr/>
                            </p:nvSpPr>
                            <p:spPr>
                              <a:xfrm>
                                <a:off x="3526" y="1344"/>
                                <a:ext cx="489" cy="164"/>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底盘装配</a:t>
                                </a:r>
                                <a:endParaRPr lang="zh-CN" altLang="zh-CN" sz="1400" dirty="0">
                                  <a:latin typeface="Times New Roman" panose="02020603050405020304" pitchFamily="18" charset="0"/>
                                  <a:ea typeface="黑体" panose="02010609060101010101" pitchFamily="49" charset="-122"/>
                                </a:endParaRPr>
                              </a:p>
                            </p:txBody>
                          </p:sp>
                          <p:sp>
                            <p:nvSpPr>
                              <p:cNvPr id="11365" name="Text Box 797"/>
                              <p:cNvSpPr txBox="1"/>
                              <p:nvPr/>
                            </p:nvSpPr>
                            <p:spPr>
                              <a:xfrm>
                                <a:off x="4342" y="1348"/>
                                <a:ext cx="986" cy="164"/>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just" eaLnBrk="1" hangingPunct="1">
                                  <a:spcBef>
                                    <a:spcPct val="0"/>
                                  </a:spcBef>
                                  <a:buClrTx/>
                                  <a:buSzTx/>
                                  <a:buNone/>
                                </a:pPr>
                                <a:r>
                                  <a:rPr lang="en-US" altLang="zh-CN" sz="1400" dirty="0">
                                    <a:latin typeface="Times New Roman" panose="02020603050405020304" pitchFamily="18" charset="0"/>
                                    <a:ea typeface="黑体" panose="02010609060101010101" pitchFamily="49" charset="-122"/>
                                  </a:rPr>
                                  <a:t> </a:t>
                                </a:r>
                                <a:r>
                                  <a:rPr lang="zh-CN" altLang="en-US" sz="1400" dirty="0">
                                    <a:latin typeface="Times New Roman" panose="02020603050405020304" pitchFamily="18" charset="0"/>
                                    <a:ea typeface="黑体" panose="02010609060101010101" pitchFamily="49" charset="-122"/>
                                  </a:rPr>
                                  <a:t>车身安装  最后试验</a:t>
                                </a:r>
                                <a:endParaRPr lang="zh-CN" altLang="en-US" sz="1400" dirty="0">
                                  <a:latin typeface="Times New Roman" panose="02020603050405020304" pitchFamily="18" charset="0"/>
                                  <a:ea typeface="黑体" panose="02010609060101010101" pitchFamily="49" charset="-122"/>
                                </a:endParaRPr>
                              </a:p>
                            </p:txBody>
                          </p:sp>
                          <p:sp>
                            <p:nvSpPr>
                              <p:cNvPr id="11366" name="Text Box 798"/>
                              <p:cNvSpPr txBox="1"/>
                              <p:nvPr/>
                            </p:nvSpPr>
                            <p:spPr>
                              <a:xfrm>
                                <a:off x="2944" y="861"/>
                                <a:ext cx="582" cy="164"/>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发动机装配</a:t>
                                </a:r>
                                <a:endParaRPr lang="zh-CN" altLang="zh-CN" sz="1400" dirty="0">
                                  <a:latin typeface="Times New Roman" panose="02020603050405020304" pitchFamily="18" charset="0"/>
                                  <a:ea typeface="黑体" panose="02010609060101010101" pitchFamily="49" charset="-122"/>
                                </a:endParaRPr>
                              </a:p>
                            </p:txBody>
                          </p:sp>
                          <p:sp>
                            <p:nvSpPr>
                              <p:cNvPr id="11367" name="Text Box 799"/>
                              <p:cNvSpPr txBox="1"/>
                              <p:nvPr/>
                            </p:nvSpPr>
                            <p:spPr>
                              <a:xfrm>
                                <a:off x="3648" y="861"/>
                                <a:ext cx="603" cy="164"/>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发动机试验</a:t>
                                </a:r>
                                <a:endParaRPr lang="zh-CN" altLang="zh-CN" sz="1400" dirty="0">
                                  <a:latin typeface="Times New Roman" panose="02020603050405020304" pitchFamily="18" charset="0"/>
                                  <a:ea typeface="黑体" panose="02010609060101010101" pitchFamily="49" charset="-122"/>
                                </a:endParaRPr>
                              </a:p>
                            </p:txBody>
                          </p:sp>
                          <p:sp>
                            <p:nvSpPr>
                              <p:cNvPr id="11368" name="Arc 800"/>
                              <p:cNvSpPr/>
                              <p:nvPr/>
                            </p:nvSpPr>
                            <p:spPr>
                              <a:xfrm>
                                <a:off x="3984" y="8"/>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369" name="Arc 801"/>
                              <p:cNvSpPr/>
                              <p:nvPr/>
                            </p:nvSpPr>
                            <p:spPr>
                              <a:xfrm flipV="1">
                                <a:off x="3984" y="440"/>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370" name="Arc 802"/>
                              <p:cNvSpPr/>
                              <p:nvPr/>
                            </p:nvSpPr>
                            <p:spPr>
                              <a:xfrm flipH="1" flipV="1">
                                <a:off x="2832" y="968"/>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grpSp>
                            <p:nvGrpSpPr>
                              <p:cNvPr id="11371" name="Group 803"/>
                              <p:cNvGrpSpPr/>
                              <p:nvPr/>
                            </p:nvGrpSpPr>
                            <p:grpSpPr>
                              <a:xfrm>
                                <a:off x="3456" y="1112"/>
                                <a:ext cx="720" cy="240"/>
                                <a:chOff x="0" y="0"/>
                                <a:chExt cx="720" cy="240"/>
                              </a:xfrm>
                            </p:grpSpPr>
                            <p:grpSp>
                              <p:nvGrpSpPr>
                                <p:cNvPr id="11753" name="Group 804"/>
                                <p:cNvGrpSpPr/>
                                <p:nvPr/>
                              </p:nvGrpSpPr>
                              <p:grpSpPr>
                                <a:xfrm>
                                  <a:off x="62" y="0"/>
                                  <a:ext cx="274" cy="200"/>
                                  <a:chOff x="0" y="0"/>
                                  <a:chExt cx="274" cy="200"/>
                                </a:xfrm>
                              </p:grpSpPr>
                              <p:grpSp>
                                <p:nvGrpSpPr>
                                  <p:cNvPr id="11768" name="Group 805"/>
                                  <p:cNvGrpSpPr/>
                                  <p:nvPr/>
                                </p:nvGrpSpPr>
                                <p:grpSpPr>
                                  <a:xfrm>
                                    <a:off x="60" y="48"/>
                                    <a:ext cx="214" cy="136"/>
                                    <a:chOff x="0" y="0"/>
                                    <a:chExt cx="141" cy="98"/>
                                  </a:xfrm>
                                </p:grpSpPr>
                                <p:grpSp>
                                  <p:nvGrpSpPr>
                                    <p:cNvPr id="11774" name="Group 806"/>
                                    <p:cNvGrpSpPr/>
                                    <p:nvPr/>
                                  </p:nvGrpSpPr>
                                  <p:grpSpPr>
                                    <a:xfrm>
                                      <a:off x="2" y="0"/>
                                      <a:ext cx="135" cy="50"/>
                                      <a:chOff x="0" y="0"/>
                                      <a:chExt cx="135" cy="50"/>
                                    </a:xfrm>
                                  </p:grpSpPr>
                                  <p:sp>
                                    <p:nvSpPr>
                                      <p:cNvPr id="11776" name="AutoShape 807"/>
                                      <p:cNvSpPr/>
                                      <p:nvPr/>
                                    </p:nvSpPr>
                                    <p:spPr>
                                      <a:xfrm>
                                        <a:off x="0" y="0"/>
                                        <a:ext cx="20" cy="50"/>
                                      </a:xfrm>
                                      <a:prstGeom prst="roundRect">
                                        <a:avLst>
                                          <a:gd name="adj" fmla="val 16667"/>
                                        </a:avLst>
                                      </a:prstGeom>
                                      <a:solidFill>
                                        <a:srgbClr val="5F5F5F"/>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77" name="Rectangle 808"/>
                                      <p:cNvSpPr/>
                                      <p:nvPr/>
                                    </p:nvSpPr>
                                    <p:spPr>
                                      <a:xfrm>
                                        <a:off x="20" y="17"/>
                                        <a:ext cx="96" cy="16"/>
                                      </a:xfrm>
                                      <a:prstGeom prst="rect">
                                        <a:avLst/>
                                      </a:prstGeom>
                                      <a:solidFill>
                                        <a:srgbClr val="5F5F5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78" name="AutoShape 809"/>
                                      <p:cNvSpPr/>
                                      <p:nvPr/>
                                    </p:nvSpPr>
                                    <p:spPr>
                                      <a:xfrm>
                                        <a:off x="116" y="0"/>
                                        <a:ext cx="19" cy="50"/>
                                      </a:xfrm>
                                      <a:prstGeom prst="roundRect">
                                        <a:avLst>
                                          <a:gd name="adj" fmla="val 16667"/>
                                        </a:avLst>
                                      </a:prstGeom>
                                      <a:solidFill>
                                        <a:srgbClr val="5F5F5F"/>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79" name="Rectangle 810"/>
                                      <p:cNvSpPr/>
                                      <p:nvPr/>
                                    </p:nvSpPr>
                                    <p:spPr>
                                      <a:xfrm>
                                        <a:off x="39" y="9"/>
                                        <a:ext cx="57" cy="8"/>
                                      </a:xfrm>
                                      <a:prstGeom prst="rect">
                                        <a:avLst/>
                                      </a:prstGeom>
                                      <a:solidFill>
                                        <a:srgbClr val="5F5F5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775" name="Rectangle 811"/>
                                    <p:cNvSpPr/>
                                    <p:nvPr/>
                                  </p:nvSpPr>
                                  <p:spPr>
                                    <a:xfrm>
                                      <a:off x="0" y="47"/>
                                      <a:ext cx="141" cy="51"/>
                                    </a:xfrm>
                                    <a:prstGeom prst="rect">
                                      <a:avLst/>
                                    </a:prstGeom>
                                    <a:solidFill>
                                      <a:srgbClr val="D5C5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769" name="Group 812"/>
                                  <p:cNvGrpSpPr/>
                                  <p:nvPr/>
                                </p:nvGrpSpPr>
                                <p:grpSpPr>
                                  <a:xfrm>
                                    <a:off x="0" y="0"/>
                                    <a:ext cx="74" cy="200"/>
                                    <a:chOff x="0" y="0"/>
                                    <a:chExt cx="68" cy="200"/>
                                  </a:xfrm>
                                </p:grpSpPr>
                                <p:sp>
                                  <p:nvSpPr>
                                    <p:cNvPr id="11770" name="Oval 813"/>
                                    <p:cNvSpPr/>
                                    <p:nvPr/>
                                  </p:nvSpPr>
                                  <p:spPr>
                                    <a:xfrm>
                                      <a:off x="3" y="0"/>
                                      <a:ext cx="28" cy="35"/>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71" name="Freeform 814"/>
                                    <p:cNvSpPr/>
                                    <p:nvPr/>
                                  </p:nvSpPr>
                                  <p:spPr>
                                    <a:xfrm>
                                      <a:off x="15" y="33"/>
                                      <a:ext cx="38" cy="167"/>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772" name="Line 815"/>
                                    <p:cNvSpPr/>
                                    <p:nvPr/>
                                  </p:nvSpPr>
                                  <p:spPr>
                                    <a:xfrm flipH="1">
                                      <a:off x="0" y="133"/>
                                      <a:ext cx="35" cy="67"/>
                                    </a:xfrm>
                                    <a:prstGeom prst="line">
                                      <a:avLst/>
                                    </a:prstGeom>
                                    <a:ln w="12700" cap="flat" cmpd="sng">
                                      <a:solidFill>
                                        <a:schemeClr val="tx1"/>
                                      </a:solidFill>
                                      <a:prstDash val="solid"/>
                                      <a:headEnd type="none" w="med" len="med"/>
                                      <a:tailEnd type="none" w="med" len="med"/>
                                    </a:ln>
                                  </p:spPr>
                                </p:sp>
                                <p:sp>
                                  <p:nvSpPr>
                                    <p:cNvPr id="11773" name="Freeform 816"/>
                                    <p:cNvSpPr/>
                                    <p:nvPr/>
                                  </p:nvSpPr>
                                  <p:spPr>
                                    <a:xfrm>
                                      <a:off x="17" y="45"/>
                                      <a:ext cx="51" cy="22"/>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grpSp>
                            <p:grpSp>
                              <p:nvGrpSpPr>
                                <p:cNvPr id="11754" name="Group 817"/>
                                <p:cNvGrpSpPr/>
                                <p:nvPr/>
                              </p:nvGrpSpPr>
                              <p:grpSpPr>
                                <a:xfrm>
                                  <a:off x="384" y="0"/>
                                  <a:ext cx="274" cy="200"/>
                                  <a:chOff x="0" y="0"/>
                                  <a:chExt cx="274" cy="200"/>
                                </a:xfrm>
                              </p:grpSpPr>
                              <p:grpSp>
                                <p:nvGrpSpPr>
                                  <p:cNvPr id="11756" name="Group 818"/>
                                  <p:cNvGrpSpPr/>
                                  <p:nvPr/>
                                </p:nvGrpSpPr>
                                <p:grpSpPr>
                                  <a:xfrm>
                                    <a:off x="60" y="48"/>
                                    <a:ext cx="214" cy="136"/>
                                    <a:chOff x="0" y="0"/>
                                    <a:chExt cx="141" cy="98"/>
                                  </a:xfrm>
                                </p:grpSpPr>
                                <p:grpSp>
                                  <p:nvGrpSpPr>
                                    <p:cNvPr id="11762" name="Group 819"/>
                                    <p:cNvGrpSpPr/>
                                    <p:nvPr/>
                                  </p:nvGrpSpPr>
                                  <p:grpSpPr>
                                    <a:xfrm>
                                      <a:off x="2" y="0"/>
                                      <a:ext cx="135" cy="50"/>
                                      <a:chOff x="0" y="0"/>
                                      <a:chExt cx="135" cy="50"/>
                                    </a:xfrm>
                                  </p:grpSpPr>
                                  <p:sp>
                                    <p:nvSpPr>
                                      <p:cNvPr id="11764" name="AutoShape 820"/>
                                      <p:cNvSpPr/>
                                      <p:nvPr/>
                                    </p:nvSpPr>
                                    <p:spPr>
                                      <a:xfrm>
                                        <a:off x="0" y="0"/>
                                        <a:ext cx="20" cy="50"/>
                                      </a:xfrm>
                                      <a:prstGeom prst="roundRect">
                                        <a:avLst>
                                          <a:gd name="adj" fmla="val 16667"/>
                                        </a:avLst>
                                      </a:prstGeom>
                                      <a:solidFill>
                                        <a:srgbClr val="5F5F5F"/>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65" name="Rectangle 821"/>
                                      <p:cNvSpPr/>
                                      <p:nvPr/>
                                    </p:nvSpPr>
                                    <p:spPr>
                                      <a:xfrm>
                                        <a:off x="20" y="17"/>
                                        <a:ext cx="96" cy="16"/>
                                      </a:xfrm>
                                      <a:prstGeom prst="rect">
                                        <a:avLst/>
                                      </a:prstGeom>
                                      <a:solidFill>
                                        <a:srgbClr val="5F5F5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66" name="AutoShape 822"/>
                                      <p:cNvSpPr/>
                                      <p:nvPr/>
                                    </p:nvSpPr>
                                    <p:spPr>
                                      <a:xfrm>
                                        <a:off x="116" y="0"/>
                                        <a:ext cx="19" cy="50"/>
                                      </a:xfrm>
                                      <a:prstGeom prst="roundRect">
                                        <a:avLst>
                                          <a:gd name="adj" fmla="val 16667"/>
                                        </a:avLst>
                                      </a:prstGeom>
                                      <a:solidFill>
                                        <a:srgbClr val="5F5F5F"/>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67" name="Rectangle 823"/>
                                      <p:cNvSpPr/>
                                      <p:nvPr/>
                                    </p:nvSpPr>
                                    <p:spPr>
                                      <a:xfrm>
                                        <a:off x="39" y="9"/>
                                        <a:ext cx="57" cy="8"/>
                                      </a:xfrm>
                                      <a:prstGeom prst="rect">
                                        <a:avLst/>
                                      </a:prstGeom>
                                      <a:solidFill>
                                        <a:srgbClr val="5F5F5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763" name="Rectangle 824"/>
                                    <p:cNvSpPr/>
                                    <p:nvPr/>
                                  </p:nvSpPr>
                                  <p:spPr>
                                    <a:xfrm>
                                      <a:off x="0" y="47"/>
                                      <a:ext cx="141" cy="51"/>
                                    </a:xfrm>
                                    <a:prstGeom prst="rect">
                                      <a:avLst/>
                                    </a:prstGeom>
                                    <a:solidFill>
                                      <a:srgbClr val="D5C5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757" name="Group 825"/>
                                  <p:cNvGrpSpPr/>
                                  <p:nvPr/>
                                </p:nvGrpSpPr>
                                <p:grpSpPr>
                                  <a:xfrm>
                                    <a:off x="0" y="0"/>
                                    <a:ext cx="74" cy="200"/>
                                    <a:chOff x="0" y="0"/>
                                    <a:chExt cx="68" cy="200"/>
                                  </a:xfrm>
                                </p:grpSpPr>
                                <p:sp>
                                  <p:nvSpPr>
                                    <p:cNvPr id="11758" name="Oval 826"/>
                                    <p:cNvSpPr/>
                                    <p:nvPr/>
                                  </p:nvSpPr>
                                  <p:spPr>
                                    <a:xfrm>
                                      <a:off x="3" y="0"/>
                                      <a:ext cx="28" cy="35"/>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59" name="Freeform 827"/>
                                    <p:cNvSpPr/>
                                    <p:nvPr/>
                                  </p:nvSpPr>
                                  <p:spPr>
                                    <a:xfrm>
                                      <a:off x="15" y="33"/>
                                      <a:ext cx="38" cy="167"/>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760" name="Line 828"/>
                                    <p:cNvSpPr/>
                                    <p:nvPr/>
                                  </p:nvSpPr>
                                  <p:spPr>
                                    <a:xfrm flipH="1">
                                      <a:off x="0" y="133"/>
                                      <a:ext cx="35" cy="67"/>
                                    </a:xfrm>
                                    <a:prstGeom prst="line">
                                      <a:avLst/>
                                    </a:prstGeom>
                                    <a:ln w="12700" cap="flat" cmpd="sng">
                                      <a:solidFill>
                                        <a:schemeClr val="tx1"/>
                                      </a:solidFill>
                                      <a:prstDash val="solid"/>
                                      <a:headEnd type="none" w="med" len="med"/>
                                      <a:tailEnd type="none" w="med" len="med"/>
                                    </a:ln>
                                  </p:spPr>
                                </p:sp>
                                <p:sp>
                                  <p:nvSpPr>
                                    <p:cNvPr id="11761" name="Freeform 829"/>
                                    <p:cNvSpPr/>
                                    <p:nvPr/>
                                  </p:nvSpPr>
                                  <p:spPr>
                                    <a:xfrm>
                                      <a:off x="17" y="45"/>
                                      <a:ext cx="51" cy="22"/>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grpSp>
                            <p:sp>
                              <p:nvSpPr>
                                <p:cNvPr id="11755" name="Rectangle 830"/>
                                <p:cNvSpPr/>
                                <p:nvPr/>
                              </p:nvSpPr>
                              <p:spPr>
                                <a:xfrm>
                                  <a:off x="0" y="185"/>
                                  <a:ext cx="720" cy="55"/>
                                </a:xfrm>
                                <a:prstGeom prst="rect">
                                  <a:avLst/>
                                </a:prstGeom>
                                <a:solidFill>
                                  <a:srgbClr val="FFD9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72" name="Group 831"/>
                              <p:cNvGrpSpPr/>
                              <p:nvPr/>
                            </p:nvGrpSpPr>
                            <p:grpSpPr>
                              <a:xfrm>
                                <a:off x="3580" y="1632"/>
                                <a:ext cx="244" cy="199"/>
                                <a:chOff x="0" y="0"/>
                                <a:chExt cx="244" cy="199"/>
                              </a:xfrm>
                            </p:grpSpPr>
                            <p:sp>
                              <p:nvSpPr>
                                <p:cNvPr id="11735" name="Rectangle 832"/>
                                <p:cNvSpPr/>
                                <p:nvPr/>
                              </p:nvSpPr>
                              <p:spPr>
                                <a:xfrm>
                                  <a:off x="188" y="28"/>
                                  <a:ext cx="56" cy="118"/>
                                </a:xfrm>
                                <a:prstGeom prst="rect">
                                  <a:avLst/>
                                </a:prstGeom>
                                <a:solidFill>
                                  <a:srgbClr val="82AC84"/>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736" name="Group 833"/>
                                <p:cNvGrpSpPr/>
                                <p:nvPr/>
                              </p:nvGrpSpPr>
                              <p:grpSpPr>
                                <a:xfrm>
                                  <a:off x="121" y="0"/>
                                  <a:ext cx="65" cy="62"/>
                                  <a:chOff x="0" y="0"/>
                                  <a:chExt cx="301" cy="260"/>
                                </a:xfrm>
                              </p:grpSpPr>
                              <p:sp>
                                <p:nvSpPr>
                                  <p:cNvPr id="11751" name="Oval 834"/>
                                  <p:cNvSpPr/>
                                  <p:nvPr/>
                                </p:nvSpPr>
                                <p:spPr>
                                  <a:xfrm>
                                    <a:off x="0" y="0"/>
                                    <a:ext cx="128" cy="137"/>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52" name="Freeform 835"/>
                                  <p:cNvSpPr/>
                                  <p:nvPr/>
                                </p:nvSpPr>
                                <p:spPr>
                                  <a:xfrm>
                                    <a:off x="63" y="175"/>
                                    <a:ext cx="238" cy="85"/>
                                  </a:xfrm>
                                  <a:custGeom>
                                    <a:avLst/>
                                    <a:gdLst>
                                      <a:gd name="txL" fmla="*/ 0 w 420"/>
                                      <a:gd name="txT" fmla="*/ 0 h 182"/>
                                      <a:gd name="txR" fmla="*/ 420 w 420"/>
                                      <a:gd name="txB" fmla="*/ 182 h 182"/>
                                    </a:gdLst>
                                    <a:ahLst/>
                                    <a:cxnLst>
                                      <a:cxn ang="0">
                                        <a:pos x="0" y="0"/>
                                      </a:cxn>
                                      <a:cxn ang="0">
                                        <a:pos x="1" y="0"/>
                                      </a:cxn>
                                      <a:cxn ang="0">
                                        <a:pos x="1"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sp>
                              <p:nvSpPr>
                                <p:cNvPr id="11737" name="Freeform 836"/>
                                <p:cNvSpPr/>
                                <p:nvPr/>
                              </p:nvSpPr>
                              <p:spPr>
                                <a:xfrm>
                                  <a:off x="127" y="35"/>
                                  <a:ext cx="57" cy="112"/>
                                </a:xfrm>
                                <a:custGeom>
                                  <a:avLst/>
                                  <a:gdLst>
                                    <a:gd name="txL" fmla="*/ 0 w 420"/>
                                    <a:gd name="txT" fmla="*/ 0 h 780"/>
                                    <a:gd name="txR" fmla="*/ 420 w 420"/>
                                    <a:gd name="txB" fmla="*/ 780 h 780"/>
                                  </a:gdLst>
                                  <a:ahLst/>
                                  <a:cxnLst>
                                    <a:cxn ang="0">
                                      <a:pos x="0" y="0"/>
                                    </a:cxn>
                                    <a:cxn ang="0">
                                      <a:pos x="0" y="0"/>
                                    </a:cxn>
                                    <a:cxn ang="0">
                                      <a:pos x="0" y="0"/>
                                    </a:cxn>
                                    <a:cxn ang="0">
                                      <a:pos x="0" y="0"/>
                                    </a:cxn>
                                  </a:cxnLst>
                                  <a:rect l="txL" t="txT" r="txR" b="txB"/>
                                  <a:pathLst>
                                    <a:path w="420" h="780">
                                      <a:moveTo>
                                        <a:pt x="53" y="0"/>
                                      </a:moveTo>
                                      <a:cubicBezTo>
                                        <a:pt x="26" y="117"/>
                                        <a:pt x="0" y="234"/>
                                        <a:pt x="53" y="312"/>
                                      </a:cubicBezTo>
                                      <a:cubicBezTo>
                                        <a:pt x="106" y="390"/>
                                        <a:pt x="316" y="390"/>
                                        <a:pt x="368" y="468"/>
                                      </a:cubicBezTo>
                                      <a:cubicBezTo>
                                        <a:pt x="420" y="546"/>
                                        <a:pt x="394" y="663"/>
                                        <a:pt x="368"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nvGrpSpPr>
                                <p:cNvPr id="11738" name="Group 837"/>
                                <p:cNvGrpSpPr/>
                                <p:nvPr/>
                              </p:nvGrpSpPr>
                              <p:grpSpPr>
                                <a:xfrm>
                                  <a:off x="133" y="92"/>
                                  <a:ext cx="23" cy="44"/>
                                  <a:chOff x="0" y="0"/>
                                  <a:chExt cx="105" cy="255"/>
                                </a:xfrm>
                              </p:grpSpPr>
                              <p:sp>
                                <p:nvSpPr>
                                  <p:cNvPr id="11749" name="Line 838"/>
                                  <p:cNvSpPr/>
                                  <p:nvPr/>
                                </p:nvSpPr>
                                <p:spPr>
                                  <a:xfrm>
                                    <a:off x="0" y="0"/>
                                    <a:ext cx="105" cy="0"/>
                                  </a:xfrm>
                                  <a:prstGeom prst="line">
                                    <a:avLst/>
                                  </a:prstGeom>
                                  <a:ln w="12700" cap="flat" cmpd="sng">
                                    <a:solidFill>
                                      <a:schemeClr val="tx1"/>
                                    </a:solidFill>
                                    <a:prstDash val="solid"/>
                                    <a:headEnd type="none" w="med" len="med"/>
                                    <a:tailEnd type="none" w="med" len="med"/>
                                  </a:ln>
                                </p:spPr>
                              </p:sp>
                              <p:sp>
                                <p:nvSpPr>
                                  <p:cNvPr id="11750" name="Line 839"/>
                                  <p:cNvSpPr/>
                                  <p:nvPr/>
                                </p:nvSpPr>
                                <p:spPr>
                                  <a:xfrm>
                                    <a:off x="45" y="0"/>
                                    <a:ext cx="0" cy="255"/>
                                  </a:xfrm>
                                  <a:prstGeom prst="line">
                                    <a:avLst/>
                                  </a:prstGeom>
                                  <a:ln w="12700" cap="flat" cmpd="sng">
                                    <a:solidFill>
                                      <a:schemeClr val="tx1"/>
                                    </a:solidFill>
                                    <a:prstDash val="solid"/>
                                    <a:headEnd type="none" w="med" len="med"/>
                                    <a:tailEnd type="none" w="med" len="med"/>
                                  </a:ln>
                                </p:spPr>
                              </p:sp>
                            </p:grpSp>
                            <p:sp>
                              <p:nvSpPr>
                                <p:cNvPr id="11739" name="Rectangle 840"/>
                                <p:cNvSpPr/>
                                <p:nvPr/>
                              </p:nvSpPr>
                              <p:spPr>
                                <a:xfrm>
                                  <a:off x="0" y="133"/>
                                  <a:ext cx="244" cy="33"/>
                                </a:xfrm>
                                <a:prstGeom prst="rect">
                                  <a:avLst/>
                                </a:prstGeom>
                                <a:solidFill>
                                  <a:srgbClr val="C0C0C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740" name="Group 841"/>
                                <p:cNvGrpSpPr/>
                                <p:nvPr/>
                              </p:nvGrpSpPr>
                              <p:grpSpPr>
                                <a:xfrm>
                                  <a:off x="37" y="158"/>
                                  <a:ext cx="41" cy="41"/>
                                  <a:chOff x="0" y="0"/>
                                  <a:chExt cx="30" cy="36"/>
                                </a:xfrm>
                              </p:grpSpPr>
                              <p:sp>
                                <p:nvSpPr>
                                  <p:cNvPr id="11747" name="Oval 842"/>
                                  <p:cNvSpPr/>
                                  <p:nvPr/>
                                </p:nvSpPr>
                                <p:spPr>
                                  <a:xfrm>
                                    <a:off x="0" y="0"/>
                                    <a:ext cx="30" cy="36"/>
                                  </a:xfrm>
                                  <a:prstGeom prst="ellipse">
                                    <a:avLst/>
                                  </a:prstGeom>
                                  <a:solidFill>
                                    <a:srgbClr val="CC66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48" name="Oval 843"/>
                                  <p:cNvSpPr/>
                                  <p:nvPr/>
                                </p:nvSpPr>
                                <p:spPr>
                                  <a:xfrm>
                                    <a:off x="7" y="8"/>
                                    <a:ext cx="16" cy="19"/>
                                  </a:xfrm>
                                  <a:prstGeom prst="ellipse">
                                    <a:avLst/>
                                  </a:prstGeom>
                                  <a:solidFill>
                                    <a:srgbClr val="CC66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741" name="Rectangle 844"/>
                                <p:cNvSpPr/>
                                <p:nvPr/>
                              </p:nvSpPr>
                              <p:spPr>
                                <a:xfrm>
                                  <a:off x="0" y="99"/>
                                  <a:ext cx="118" cy="33"/>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sp>
                              <p:nvSpPr>
                                <p:cNvPr id="11742" name="Rectangle 845"/>
                                <p:cNvSpPr/>
                                <p:nvPr/>
                              </p:nvSpPr>
                              <p:spPr>
                                <a:xfrm>
                                  <a:off x="0" y="66"/>
                                  <a:ext cx="118" cy="33"/>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43" name="Rectangle 846"/>
                                <p:cNvSpPr/>
                                <p:nvPr/>
                              </p:nvSpPr>
                              <p:spPr>
                                <a:xfrm>
                                  <a:off x="0" y="33"/>
                                  <a:ext cx="98" cy="33"/>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744" name="Group 847"/>
                                <p:cNvGrpSpPr/>
                                <p:nvPr/>
                              </p:nvGrpSpPr>
                              <p:grpSpPr>
                                <a:xfrm>
                                  <a:off x="164" y="156"/>
                                  <a:ext cx="41" cy="41"/>
                                  <a:chOff x="0" y="0"/>
                                  <a:chExt cx="30" cy="36"/>
                                </a:xfrm>
                              </p:grpSpPr>
                              <p:sp>
                                <p:nvSpPr>
                                  <p:cNvPr id="11745" name="Oval 848"/>
                                  <p:cNvSpPr/>
                                  <p:nvPr/>
                                </p:nvSpPr>
                                <p:spPr>
                                  <a:xfrm>
                                    <a:off x="0" y="0"/>
                                    <a:ext cx="30" cy="36"/>
                                  </a:xfrm>
                                  <a:prstGeom prst="ellipse">
                                    <a:avLst/>
                                  </a:prstGeom>
                                  <a:solidFill>
                                    <a:srgbClr val="CC66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46" name="Oval 849"/>
                                  <p:cNvSpPr/>
                                  <p:nvPr/>
                                </p:nvSpPr>
                                <p:spPr>
                                  <a:xfrm>
                                    <a:off x="7" y="8"/>
                                    <a:ext cx="16" cy="19"/>
                                  </a:xfrm>
                                  <a:prstGeom prst="ellipse">
                                    <a:avLst/>
                                  </a:prstGeom>
                                  <a:solidFill>
                                    <a:srgbClr val="CC66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sp>
                            <p:nvSpPr>
                              <p:cNvPr id="11373" name="Arc 850"/>
                              <p:cNvSpPr/>
                              <p:nvPr/>
                            </p:nvSpPr>
                            <p:spPr>
                              <a:xfrm flipV="1">
                                <a:off x="4320" y="1928"/>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374" name="Line 851"/>
                              <p:cNvSpPr/>
                              <p:nvPr/>
                            </p:nvSpPr>
                            <p:spPr>
                              <a:xfrm flipV="1">
                                <a:off x="3408" y="1544"/>
                                <a:ext cx="864" cy="0"/>
                              </a:xfrm>
                              <a:prstGeom prst="line">
                                <a:avLst/>
                              </a:prstGeom>
                              <a:ln w="9525" cap="flat" cmpd="sng">
                                <a:solidFill>
                                  <a:schemeClr val="tx1"/>
                                </a:solidFill>
                                <a:prstDash val="solid"/>
                                <a:headEnd type="none" w="med" len="med"/>
                                <a:tailEnd type="none" w="med" len="med"/>
                              </a:ln>
                            </p:spPr>
                          </p:sp>
                          <p:sp>
                            <p:nvSpPr>
                              <p:cNvPr id="11375" name="Line 852"/>
                              <p:cNvSpPr/>
                              <p:nvPr/>
                            </p:nvSpPr>
                            <p:spPr>
                              <a:xfrm flipV="1">
                                <a:off x="3408" y="1352"/>
                                <a:ext cx="0" cy="192"/>
                              </a:xfrm>
                              <a:prstGeom prst="line">
                                <a:avLst/>
                              </a:prstGeom>
                              <a:ln w="9525" cap="flat" cmpd="sng">
                                <a:solidFill>
                                  <a:schemeClr val="tx1"/>
                                </a:solidFill>
                                <a:prstDash val="solid"/>
                                <a:headEnd type="none" w="med" len="med"/>
                                <a:tailEnd type="none" w="med" len="med"/>
                              </a:ln>
                            </p:spPr>
                          </p:sp>
                          <p:sp>
                            <p:nvSpPr>
                              <p:cNvPr id="11376" name="Line 853"/>
                              <p:cNvSpPr/>
                              <p:nvPr/>
                            </p:nvSpPr>
                            <p:spPr>
                              <a:xfrm flipV="1">
                                <a:off x="3408" y="1352"/>
                                <a:ext cx="1968" cy="0"/>
                              </a:xfrm>
                              <a:prstGeom prst="line">
                                <a:avLst/>
                              </a:prstGeom>
                              <a:ln w="9525" cap="flat" cmpd="sng">
                                <a:solidFill>
                                  <a:schemeClr val="tx1"/>
                                </a:solidFill>
                                <a:prstDash val="solid"/>
                                <a:headEnd type="none" w="med" len="med"/>
                                <a:tailEnd type="none" w="med" len="med"/>
                              </a:ln>
                            </p:spPr>
                          </p:sp>
                          <p:grpSp>
                            <p:nvGrpSpPr>
                              <p:cNvPr id="11377" name="Group 854"/>
                              <p:cNvGrpSpPr/>
                              <p:nvPr/>
                            </p:nvGrpSpPr>
                            <p:grpSpPr>
                              <a:xfrm>
                                <a:off x="4368" y="1052"/>
                                <a:ext cx="489" cy="300"/>
                                <a:chOff x="0" y="0"/>
                                <a:chExt cx="489" cy="300"/>
                              </a:xfrm>
                            </p:grpSpPr>
                            <p:sp>
                              <p:nvSpPr>
                                <p:cNvPr id="11673" name="Rectangle 855"/>
                                <p:cNvSpPr/>
                                <p:nvPr/>
                              </p:nvSpPr>
                              <p:spPr>
                                <a:xfrm>
                                  <a:off x="143" y="249"/>
                                  <a:ext cx="327" cy="50"/>
                                </a:xfrm>
                                <a:prstGeom prst="rect">
                                  <a:avLst/>
                                </a:prstGeom>
                                <a:solidFill>
                                  <a:srgbClr val="DDDDDD"/>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74" name="Rectangle 856"/>
                                <p:cNvSpPr/>
                                <p:nvPr/>
                              </p:nvSpPr>
                              <p:spPr>
                                <a:xfrm>
                                  <a:off x="0" y="0"/>
                                  <a:ext cx="489" cy="300"/>
                                </a:xfrm>
                                <a:prstGeom prst="rect">
                                  <a:avLst/>
                                </a:prstGeom>
                                <a:no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675" name="Group 857"/>
                                <p:cNvGrpSpPr/>
                                <p:nvPr/>
                              </p:nvGrpSpPr>
                              <p:grpSpPr>
                                <a:xfrm>
                                  <a:off x="54" y="99"/>
                                  <a:ext cx="74" cy="201"/>
                                  <a:chOff x="0" y="0"/>
                                  <a:chExt cx="74" cy="201"/>
                                </a:xfrm>
                              </p:grpSpPr>
                              <p:sp>
                                <p:nvSpPr>
                                  <p:cNvPr id="11726" name="Freeform 858"/>
                                  <p:cNvSpPr/>
                                  <p:nvPr/>
                                </p:nvSpPr>
                                <p:spPr>
                                  <a:xfrm>
                                    <a:off x="19" y="46"/>
                                    <a:ext cx="55" cy="22"/>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rgbClr val="000000">
                                        <a:alpha val="100000"/>
                                      </a:srgbClr>
                                    </a:solidFill>
                                    <a:prstDash val="solid"/>
                                    <a:miter lim="800000"/>
                                    <a:headEnd type="none" w="med" len="med"/>
                                    <a:tailEnd type="none" w="med" len="med"/>
                                  </a:ln>
                                </p:spPr>
                                <p:txBody>
                                  <a:bodyPr/>
                                  <a:p>
                                    <a:endParaRPr lang="zh-CN" altLang="en-US"/>
                                  </a:p>
                                </p:txBody>
                              </p:sp>
                              <p:grpSp>
                                <p:nvGrpSpPr>
                                  <p:cNvPr id="11727" name="Group 859"/>
                                  <p:cNvGrpSpPr/>
                                  <p:nvPr/>
                                </p:nvGrpSpPr>
                                <p:grpSpPr>
                                  <a:xfrm>
                                    <a:off x="0" y="0"/>
                                    <a:ext cx="74" cy="201"/>
                                    <a:chOff x="0" y="0"/>
                                    <a:chExt cx="74" cy="201"/>
                                  </a:xfrm>
                                </p:grpSpPr>
                                <p:sp>
                                  <p:nvSpPr>
                                    <p:cNvPr id="11728" name="Oval 860"/>
                                    <p:cNvSpPr/>
                                    <p:nvPr/>
                                  </p:nvSpPr>
                                  <p:spPr>
                                    <a:xfrm>
                                      <a:off x="5" y="1"/>
                                      <a:ext cx="29" cy="35"/>
                                    </a:xfrm>
                                    <a:prstGeom prst="ellipse">
                                      <a:avLst/>
                                    </a:prstGeom>
                                    <a:noFill/>
                                    <a:ln w="12700" cap="flat" cmpd="sng">
                                      <a:solidFill>
                                        <a:srgbClr val="000000"/>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29" name="Freeform 861"/>
                                    <p:cNvSpPr/>
                                    <p:nvPr/>
                                  </p:nvSpPr>
                                  <p:spPr>
                                    <a:xfrm>
                                      <a:off x="18" y="34"/>
                                      <a:ext cx="39" cy="167"/>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rgbClr val="000000">
                                          <a:alpha val="100000"/>
                                        </a:srgbClr>
                                      </a:solidFill>
                                      <a:prstDash val="solid"/>
                                      <a:miter lim="800000"/>
                                      <a:headEnd type="none" w="med" len="med"/>
                                      <a:tailEnd type="none" w="med" len="med"/>
                                    </a:ln>
                                  </p:spPr>
                                  <p:txBody>
                                    <a:bodyPr/>
                                    <a:p>
                                      <a:endParaRPr lang="zh-CN" altLang="en-US"/>
                                    </a:p>
                                  </p:txBody>
                                </p:sp>
                                <p:grpSp>
                                  <p:nvGrpSpPr>
                                    <p:cNvPr id="11730" name="Group 862"/>
                                    <p:cNvGrpSpPr/>
                                    <p:nvPr/>
                                  </p:nvGrpSpPr>
                                  <p:grpSpPr>
                                    <a:xfrm>
                                      <a:off x="0" y="0"/>
                                      <a:ext cx="74" cy="200"/>
                                      <a:chOff x="0" y="0"/>
                                      <a:chExt cx="68" cy="200"/>
                                    </a:xfrm>
                                  </p:grpSpPr>
                                  <p:sp>
                                    <p:nvSpPr>
                                      <p:cNvPr id="11731" name="Oval 863"/>
                                      <p:cNvSpPr/>
                                      <p:nvPr/>
                                    </p:nvSpPr>
                                    <p:spPr>
                                      <a:xfrm>
                                        <a:off x="3" y="0"/>
                                        <a:ext cx="28" cy="35"/>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32" name="Freeform 864"/>
                                      <p:cNvSpPr/>
                                      <p:nvPr/>
                                    </p:nvSpPr>
                                    <p:spPr>
                                      <a:xfrm>
                                        <a:off x="15" y="33"/>
                                        <a:ext cx="38" cy="167"/>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733" name="Line 865"/>
                                      <p:cNvSpPr/>
                                      <p:nvPr/>
                                    </p:nvSpPr>
                                    <p:spPr>
                                      <a:xfrm flipH="1">
                                        <a:off x="0" y="133"/>
                                        <a:ext cx="35" cy="67"/>
                                      </a:xfrm>
                                      <a:prstGeom prst="line">
                                        <a:avLst/>
                                      </a:prstGeom>
                                      <a:ln w="12700" cap="flat" cmpd="sng">
                                        <a:solidFill>
                                          <a:schemeClr val="tx1"/>
                                        </a:solidFill>
                                        <a:prstDash val="solid"/>
                                        <a:headEnd type="none" w="med" len="med"/>
                                        <a:tailEnd type="none" w="med" len="med"/>
                                      </a:ln>
                                    </p:spPr>
                                  </p:sp>
                                  <p:sp>
                                    <p:nvSpPr>
                                      <p:cNvPr id="11734" name="Freeform 866"/>
                                      <p:cNvSpPr/>
                                      <p:nvPr/>
                                    </p:nvSpPr>
                                    <p:spPr>
                                      <a:xfrm>
                                        <a:off x="17" y="45"/>
                                        <a:ext cx="51" cy="22"/>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grpSp>
                            </p:grpSp>
                            <p:grpSp>
                              <p:nvGrpSpPr>
                                <p:cNvPr id="11676" name="Group 867"/>
                                <p:cNvGrpSpPr/>
                                <p:nvPr/>
                              </p:nvGrpSpPr>
                              <p:grpSpPr>
                                <a:xfrm>
                                  <a:off x="167" y="125"/>
                                  <a:ext cx="294" cy="121"/>
                                  <a:chOff x="0" y="0"/>
                                  <a:chExt cx="294" cy="121"/>
                                </a:xfrm>
                              </p:grpSpPr>
                              <p:grpSp>
                                <p:nvGrpSpPr>
                                  <p:cNvPr id="11677" name="Group 868"/>
                                  <p:cNvGrpSpPr/>
                                  <p:nvPr/>
                                </p:nvGrpSpPr>
                                <p:grpSpPr>
                                  <a:xfrm>
                                    <a:off x="0" y="0"/>
                                    <a:ext cx="294" cy="121"/>
                                    <a:chOff x="0" y="0"/>
                                    <a:chExt cx="294" cy="121"/>
                                  </a:xfrm>
                                </p:grpSpPr>
                                <p:grpSp>
                                  <p:nvGrpSpPr>
                                    <p:cNvPr id="11681" name="Group 869"/>
                                    <p:cNvGrpSpPr/>
                                    <p:nvPr/>
                                  </p:nvGrpSpPr>
                                  <p:grpSpPr>
                                    <a:xfrm>
                                      <a:off x="0" y="0"/>
                                      <a:ext cx="294" cy="94"/>
                                      <a:chOff x="0" y="0"/>
                                      <a:chExt cx="294" cy="94"/>
                                    </a:xfrm>
                                  </p:grpSpPr>
                                  <p:grpSp>
                                    <p:nvGrpSpPr>
                                      <p:cNvPr id="11685" name="Group 870"/>
                                      <p:cNvGrpSpPr/>
                                      <p:nvPr/>
                                    </p:nvGrpSpPr>
                                    <p:grpSpPr>
                                      <a:xfrm>
                                        <a:off x="0" y="0"/>
                                        <a:ext cx="294" cy="94"/>
                                        <a:chOff x="0" y="0"/>
                                        <a:chExt cx="294" cy="94"/>
                                      </a:xfrm>
                                    </p:grpSpPr>
                                    <p:sp>
                                      <p:nvSpPr>
                                        <p:cNvPr id="11689" name="Rectangle 871"/>
                                        <p:cNvSpPr/>
                                        <p:nvPr/>
                                      </p:nvSpPr>
                                      <p:spPr>
                                        <a:xfrm>
                                          <a:off x="283" y="52"/>
                                          <a:ext cx="10" cy="2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90" name="AutoShape 872"/>
                                        <p:cNvSpPr/>
                                        <p:nvPr/>
                                      </p:nvSpPr>
                                      <p:spPr>
                                        <a:xfrm rot="-5400000">
                                          <a:off x="57" y="1"/>
                                          <a:ext cx="15" cy="53"/>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91" name="AutoShape 873"/>
                                        <p:cNvSpPr/>
                                        <p:nvPr/>
                                      </p:nvSpPr>
                                      <p:spPr>
                                        <a:xfrm rot="-5400000">
                                          <a:off x="14" y="21"/>
                                          <a:ext cx="12" cy="40"/>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92" name="AutoShape 874"/>
                                        <p:cNvSpPr/>
                                        <p:nvPr/>
                                      </p:nvSpPr>
                                      <p:spPr>
                                        <a:xfrm rot="10800000">
                                          <a:off x="80" y="74"/>
                                          <a:ext cx="21" cy="18"/>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693" name="Group 875"/>
                                        <p:cNvGrpSpPr/>
                                        <p:nvPr/>
                                      </p:nvGrpSpPr>
                                      <p:grpSpPr>
                                        <a:xfrm>
                                          <a:off x="0" y="0"/>
                                          <a:ext cx="294" cy="94"/>
                                          <a:chOff x="0" y="0"/>
                                          <a:chExt cx="294" cy="94"/>
                                        </a:xfrm>
                                      </p:grpSpPr>
                                      <p:grpSp>
                                        <p:nvGrpSpPr>
                                          <p:cNvPr id="11694" name="Group 876"/>
                                          <p:cNvGrpSpPr/>
                                          <p:nvPr/>
                                        </p:nvGrpSpPr>
                                        <p:grpSpPr>
                                          <a:xfrm>
                                            <a:off x="3" y="0"/>
                                            <a:ext cx="282" cy="94"/>
                                            <a:chOff x="0" y="0"/>
                                            <a:chExt cx="282" cy="94"/>
                                          </a:xfrm>
                                        </p:grpSpPr>
                                        <p:sp>
                                          <p:nvSpPr>
                                            <p:cNvPr id="11716" name="AutoShape 877"/>
                                            <p:cNvSpPr/>
                                            <p:nvPr/>
                                          </p:nvSpPr>
                                          <p:spPr>
                                            <a:xfrm rot="5400000">
                                              <a:off x="166" y="70"/>
                                              <a:ext cx="21" cy="22"/>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17" name="Rectangle 878"/>
                                            <p:cNvSpPr/>
                                            <p:nvPr/>
                                          </p:nvSpPr>
                                          <p:spPr>
                                            <a:xfrm>
                                              <a:off x="89" y="0"/>
                                              <a:ext cx="72" cy="1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18" name="Rectangle 879"/>
                                            <p:cNvSpPr/>
                                            <p:nvPr/>
                                          </p:nvSpPr>
                                          <p:spPr>
                                            <a:xfrm>
                                              <a:off x="37" y="37"/>
                                              <a:ext cx="6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19" name="Rectangle 880"/>
                                            <p:cNvSpPr/>
                                            <p:nvPr/>
                                          </p:nvSpPr>
                                          <p:spPr>
                                            <a:xfrm>
                                              <a:off x="167" y="37"/>
                                              <a:ext cx="51" cy="37"/>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20" name="Rectangle 881"/>
                                            <p:cNvSpPr/>
                                            <p:nvPr/>
                                          </p:nvSpPr>
                                          <p:spPr>
                                            <a:xfrm>
                                              <a:off x="98" y="37"/>
                                              <a:ext cx="69" cy="55"/>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21" name="Rectangle 882"/>
                                            <p:cNvSpPr/>
                                            <p:nvPr/>
                                          </p:nvSpPr>
                                          <p:spPr>
                                            <a:xfrm>
                                              <a:off x="218" y="44"/>
                                              <a:ext cx="64" cy="30"/>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22" name="Rectangle 883"/>
                                            <p:cNvSpPr/>
                                            <p:nvPr/>
                                          </p:nvSpPr>
                                          <p:spPr>
                                            <a:xfrm>
                                              <a:off x="232" y="72"/>
                                              <a:ext cx="40" cy="14"/>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23" name="Rectangle 884"/>
                                            <p:cNvSpPr/>
                                            <p:nvPr/>
                                          </p:nvSpPr>
                                          <p:spPr>
                                            <a:xfrm>
                                              <a:off x="0" y="46"/>
                                              <a:ext cx="34" cy="39"/>
                                            </a:xfrm>
                                            <a:prstGeom prst="rect">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24" name="AutoShape 885"/>
                                            <p:cNvSpPr/>
                                            <p:nvPr/>
                                          </p:nvSpPr>
                                          <p:spPr>
                                            <a:xfrm rot="-5400000">
                                              <a:off x="68" y="5"/>
                                              <a:ext cx="25" cy="15"/>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725" name="AutoShape 886"/>
                                            <p:cNvSpPr/>
                                            <p:nvPr/>
                                          </p:nvSpPr>
                                          <p:spPr>
                                            <a:xfrm>
                                              <a:off x="167" y="5"/>
                                              <a:ext cx="51" cy="37"/>
                                            </a:xfrm>
                                            <a:prstGeom prst="rtTriangle">
                                              <a:avLst/>
                                            </a:prstGeom>
                                            <a:solidFill>
                                              <a:srgbClr val="CC3300"/>
                                            </a:solid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695" name="AutoShape 887"/>
                                          <p:cNvSpPr/>
                                          <p:nvPr/>
                                        </p:nvSpPr>
                                        <p:spPr>
                                          <a:xfrm>
                                            <a:off x="92" y="15"/>
                                            <a:ext cx="79" cy="25"/>
                                          </a:xfrm>
                                          <a:prstGeom prst="roundRect">
                                            <a:avLst>
                                              <a:gd name="adj" fmla="val 16667"/>
                                            </a:avLst>
                                          </a:prstGeom>
                                          <a:solidFill>
                                            <a:srgbClr val="000099"/>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696" name="Group 888"/>
                                          <p:cNvGrpSpPr/>
                                          <p:nvPr/>
                                        </p:nvGrpSpPr>
                                        <p:grpSpPr>
                                          <a:xfrm>
                                            <a:off x="0" y="0"/>
                                            <a:ext cx="294" cy="92"/>
                                            <a:chOff x="0" y="0"/>
                                            <a:chExt cx="294" cy="92"/>
                                          </a:xfrm>
                                        </p:grpSpPr>
                                        <p:grpSp>
                                          <p:nvGrpSpPr>
                                            <p:cNvPr id="11697" name="Group 889"/>
                                            <p:cNvGrpSpPr/>
                                            <p:nvPr/>
                                          </p:nvGrpSpPr>
                                          <p:grpSpPr>
                                            <a:xfrm>
                                              <a:off x="0" y="0"/>
                                              <a:ext cx="294" cy="92"/>
                                              <a:chOff x="0" y="0"/>
                                              <a:chExt cx="294" cy="92"/>
                                            </a:xfrm>
                                          </p:grpSpPr>
                                          <p:sp>
                                            <p:nvSpPr>
                                              <p:cNvPr id="11699" name="Line 890"/>
                                              <p:cNvSpPr/>
                                              <p:nvPr/>
                                            </p:nvSpPr>
                                            <p:spPr>
                                              <a:xfrm flipV="1">
                                                <a:off x="1" y="27"/>
                                                <a:ext cx="75" cy="19"/>
                                              </a:xfrm>
                                              <a:prstGeom prst="line">
                                                <a:avLst/>
                                              </a:prstGeom>
                                              <a:ln w="9525" cap="flat" cmpd="sng">
                                                <a:solidFill>
                                                  <a:schemeClr val="tx1"/>
                                                </a:solidFill>
                                                <a:prstDash val="solid"/>
                                                <a:headEnd type="none" w="med" len="med"/>
                                                <a:tailEnd type="none" w="med" len="med"/>
                                              </a:ln>
                                            </p:spPr>
                                          </p:sp>
                                          <p:sp>
                                            <p:nvSpPr>
                                              <p:cNvPr id="11700" name="Line 891"/>
                                              <p:cNvSpPr/>
                                              <p:nvPr/>
                                            </p:nvSpPr>
                                            <p:spPr>
                                              <a:xfrm flipV="1">
                                                <a:off x="77" y="0"/>
                                                <a:ext cx="15" cy="26"/>
                                              </a:xfrm>
                                              <a:prstGeom prst="line">
                                                <a:avLst/>
                                              </a:prstGeom>
                                              <a:ln w="9525" cap="flat" cmpd="sng">
                                                <a:solidFill>
                                                  <a:schemeClr val="tx1"/>
                                                </a:solidFill>
                                                <a:prstDash val="solid"/>
                                                <a:headEnd type="none" w="med" len="med"/>
                                                <a:tailEnd type="none" w="med" len="med"/>
                                              </a:ln>
                                            </p:spPr>
                                          </p:sp>
                                          <p:sp>
                                            <p:nvSpPr>
                                              <p:cNvPr id="11701" name="Line 892"/>
                                              <p:cNvSpPr/>
                                              <p:nvPr/>
                                            </p:nvSpPr>
                                            <p:spPr>
                                              <a:xfrm>
                                                <a:off x="94" y="0"/>
                                                <a:ext cx="70" cy="0"/>
                                              </a:xfrm>
                                              <a:prstGeom prst="line">
                                                <a:avLst/>
                                              </a:prstGeom>
                                              <a:ln w="9525" cap="flat" cmpd="sng">
                                                <a:solidFill>
                                                  <a:schemeClr val="tx1"/>
                                                </a:solidFill>
                                                <a:prstDash val="solid"/>
                                                <a:headEnd type="none" w="med" len="med"/>
                                                <a:tailEnd type="none" w="med" len="med"/>
                                              </a:ln>
                                            </p:spPr>
                                          </p:sp>
                                          <p:sp>
                                            <p:nvSpPr>
                                              <p:cNvPr id="11702" name="Line 893"/>
                                              <p:cNvSpPr/>
                                              <p:nvPr/>
                                            </p:nvSpPr>
                                            <p:spPr>
                                              <a:xfrm>
                                                <a:off x="164" y="0"/>
                                                <a:ext cx="50" cy="37"/>
                                              </a:xfrm>
                                              <a:prstGeom prst="line">
                                                <a:avLst/>
                                              </a:prstGeom>
                                              <a:ln w="9525" cap="flat" cmpd="sng">
                                                <a:solidFill>
                                                  <a:schemeClr val="tx1"/>
                                                </a:solidFill>
                                                <a:prstDash val="solid"/>
                                                <a:headEnd type="none" w="med" len="med"/>
                                                <a:tailEnd type="none" w="med" len="med"/>
                                              </a:ln>
                                            </p:spPr>
                                          </p:sp>
                                          <p:sp>
                                            <p:nvSpPr>
                                              <p:cNvPr id="11703" name="Line 894"/>
                                              <p:cNvSpPr/>
                                              <p:nvPr/>
                                            </p:nvSpPr>
                                            <p:spPr>
                                              <a:xfrm>
                                                <a:off x="294" y="51"/>
                                                <a:ext cx="0" cy="30"/>
                                              </a:xfrm>
                                              <a:prstGeom prst="line">
                                                <a:avLst/>
                                              </a:prstGeom>
                                              <a:ln w="9525" cap="flat" cmpd="sng">
                                                <a:solidFill>
                                                  <a:schemeClr val="tx1"/>
                                                </a:solidFill>
                                                <a:prstDash val="solid"/>
                                                <a:headEnd type="none" w="med" len="med"/>
                                                <a:tailEnd type="none" w="med" len="med"/>
                                              </a:ln>
                                            </p:spPr>
                                          </p:sp>
                                          <p:sp>
                                            <p:nvSpPr>
                                              <p:cNvPr id="11704" name="Line 895"/>
                                              <p:cNvSpPr/>
                                              <p:nvPr/>
                                            </p:nvSpPr>
                                            <p:spPr>
                                              <a:xfrm>
                                                <a:off x="104" y="92"/>
                                                <a:ext cx="70" cy="0"/>
                                              </a:xfrm>
                                              <a:prstGeom prst="line">
                                                <a:avLst/>
                                              </a:prstGeom>
                                              <a:ln w="9525" cap="flat" cmpd="sng">
                                                <a:solidFill>
                                                  <a:schemeClr val="tx1"/>
                                                </a:solidFill>
                                                <a:prstDash val="solid"/>
                                                <a:headEnd type="none" w="med" len="med"/>
                                                <a:tailEnd type="none" w="med" len="med"/>
                                              </a:ln>
                                            </p:spPr>
                                          </p:sp>
                                          <p:sp>
                                            <p:nvSpPr>
                                              <p:cNvPr id="11705" name="Line 896"/>
                                              <p:cNvSpPr/>
                                              <p:nvPr/>
                                            </p:nvSpPr>
                                            <p:spPr>
                                              <a:xfrm flipV="1">
                                                <a:off x="174" y="74"/>
                                                <a:ext cx="20" cy="18"/>
                                              </a:xfrm>
                                              <a:prstGeom prst="line">
                                                <a:avLst/>
                                              </a:prstGeom>
                                              <a:ln w="9525" cap="flat" cmpd="sng">
                                                <a:solidFill>
                                                  <a:schemeClr val="tx1"/>
                                                </a:solidFill>
                                                <a:prstDash val="solid"/>
                                                <a:headEnd type="none" w="med" len="med"/>
                                                <a:tailEnd type="none" w="med" len="med"/>
                                              </a:ln>
                                            </p:spPr>
                                          </p:sp>
                                          <p:sp>
                                            <p:nvSpPr>
                                              <p:cNvPr id="11706" name="Line 897"/>
                                              <p:cNvSpPr/>
                                              <p:nvPr/>
                                            </p:nvSpPr>
                                            <p:spPr>
                                              <a:xfrm>
                                                <a:off x="194" y="74"/>
                                                <a:ext cx="30" cy="0"/>
                                              </a:xfrm>
                                              <a:prstGeom prst="line">
                                                <a:avLst/>
                                              </a:prstGeom>
                                              <a:ln w="9525" cap="flat" cmpd="sng">
                                                <a:solidFill>
                                                  <a:schemeClr val="tx1"/>
                                                </a:solidFill>
                                                <a:prstDash val="solid"/>
                                                <a:headEnd type="none" w="med" len="med"/>
                                                <a:tailEnd type="none" w="med" len="med"/>
                                              </a:ln>
                                            </p:spPr>
                                          </p:sp>
                                          <p:sp>
                                            <p:nvSpPr>
                                              <p:cNvPr id="11707" name="Line 898"/>
                                              <p:cNvSpPr/>
                                              <p:nvPr/>
                                            </p:nvSpPr>
                                            <p:spPr>
                                              <a:xfrm>
                                                <a:off x="224" y="74"/>
                                                <a:ext cx="14" cy="12"/>
                                              </a:xfrm>
                                              <a:prstGeom prst="line">
                                                <a:avLst/>
                                              </a:prstGeom>
                                              <a:ln w="9525" cap="flat" cmpd="sng">
                                                <a:solidFill>
                                                  <a:schemeClr val="tx1"/>
                                                </a:solidFill>
                                                <a:prstDash val="solid"/>
                                                <a:headEnd type="none" w="med" len="med"/>
                                                <a:tailEnd type="none" w="med" len="med"/>
                                              </a:ln>
                                            </p:spPr>
                                          </p:sp>
                                          <p:sp>
                                            <p:nvSpPr>
                                              <p:cNvPr id="11708" name="Line 899"/>
                                              <p:cNvSpPr/>
                                              <p:nvPr/>
                                            </p:nvSpPr>
                                            <p:spPr>
                                              <a:xfrm>
                                                <a:off x="239" y="86"/>
                                                <a:ext cx="35" cy="0"/>
                                              </a:xfrm>
                                              <a:prstGeom prst="line">
                                                <a:avLst/>
                                              </a:prstGeom>
                                              <a:ln w="9525" cap="flat" cmpd="sng">
                                                <a:solidFill>
                                                  <a:schemeClr val="tx1"/>
                                                </a:solidFill>
                                                <a:prstDash val="solid"/>
                                                <a:headEnd type="none" w="med" len="med"/>
                                                <a:tailEnd type="none" w="med" len="med"/>
                                              </a:ln>
                                            </p:spPr>
                                          </p:sp>
                                          <p:grpSp>
                                            <p:nvGrpSpPr>
                                              <p:cNvPr id="11709" name="Group 900"/>
                                              <p:cNvGrpSpPr/>
                                              <p:nvPr/>
                                            </p:nvGrpSpPr>
                                            <p:grpSpPr>
                                              <a:xfrm>
                                                <a:off x="35" y="74"/>
                                                <a:ext cx="67" cy="18"/>
                                                <a:chOff x="0" y="0"/>
                                                <a:chExt cx="696" cy="156"/>
                                              </a:xfrm>
                                            </p:grpSpPr>
                                            <p:sp>
                                              <p:nvSpPr>
                                                <p:cNvPr id="11713" name="Line 901"/>
                                                <p:cNvSpPr/>
                                                <p:nvPr/>
                                              </p:nvSpPr>
                                              <p:spPr>
                                                <a:xfrm flipH="1" flipV="1">
                                                  <a:off x="486" y="0"/>
                                                  <a:ext cx="210" cy="156"/>
                                                </a:xfrm>
                                                <a:prstGeom prst="line">
                                                  <a:avLst/>
                                                </a:prstGeom>
                                                <a:ln w="9525" cap="flat" cmpd="sng">
                                                  <a:solidFill>
                                                    <a:schemeClr val="tx1"/>
                                                  </a:solidFill>
                                                  <a:prstDash val="solid"/>
                                                  <a:headEnd type="none" w="med" len="med"/>
                                                  <a:tailEnd type="none" w="med" len="med"/>
                                                </a:ln>
                                              </p:spPr>
                                            </p:sp>
                                            <p:sp>
                                              <p:nvSpPr>
                                                <p:cNvPr id="11714" name="Line 902"/>
                                                <p:cNvSpPr/>
                                                <p:nvPr/>
                                              </p:nvSpPr>
                                              <p:spPr>
                                                <a:xfrm>
                                                  <a:off x="171" y="0"/>
                                                  <a:ext cx="315" cy="0"/>
                                                </a:xfrm>
                                                <a:prstGeom prst="line">
                                                  <a:avLst/>
                                                </a:prstGeom>
                                                <a:ln w="9525" cap="flat" cmpd="sng">
                                                  <a:solidFill>
                                                    <a:schemeClr val="tx1"/>
                                                  </a:solidFill>
                                                  <a:prstDash val="solid"/>
                                                  <a:headEnd type="none" w="med" len="med"/>
                                                  <a:tailEnd type="none" w="med" len="med"/>
                                                </a:ln>
                                              </p:spPr>
                                            </p:sp>
                                            <p:sp>
                                              <p:nvSpPr>
                                                <p:cNvPr id="11715" name="Line 903"/>
                                                <p:cNvSpPr/>
                                                <p:nvPr/>
                                              </p:nvSpPr>
                                              <p:spPr>
                                                <a:xfrm flipH="1">
                                                  <a:off x="0" y="3"/>
                                                  <a:ext cx="153" cy="102"/>
                                                </a:xfrm>
                                                <a:prstGeom prst="line">
                                                  <a:avLst/>
                                                </a:prstGeom>
                                                <a:ln w="9525" cap="flat" cmpd="sng">
                                                  <a:solidFill>
                                                    <a:schemeClr val="tx1"/>
                                                  </a:solidFill>
                                                  <a:prstDash val="solid"/>
                                                  <a:headEnd type="none" w="med" len="med"/>
                                                  <a:tailEnd type="none" w="med" len="med"/>
                                                </a:ln>
                                              </p:spPr>
                                            </p:sp>
                                          </p:grpSp>
                                          <p:sp>
                                            <p:nvSpPr>
                                              <p:cNvPr id="11710" name="Line 904"/>
                                              <p:cNvSpPr/>
                                              <p:nvPr/>
                                            </p:nvSpPr>
                                            <p:spPr>
                                              <a:xfrm flipH="1">
                                                <a:off x="4" y="86"/>
                                                <a:ext cx="30" cy="0"/>
                                              </a:xfrm>
                                              <a:prstGeom prst="line">
                                                <a:avLst/>
                                              </a:prstGeom>
                                              <a:ln w="9525" cap="flat" cmpd="sng">
                                                <a:solidFill>
                                                  <a:schemeClr val="tx1"/>
                                                </a:solidFill>
                                                <a:prstDash val="solid"/>
                                                <a:headEnd type="none" w="med" len="med"/>
                                                <a:tailEnd type="none" w="med" len="med"/>
                                              </a:ln>
                                            </p:spPr>
                                          </p:sp>
                                          <p:sp>
                                            <p:nvSpPr>
                                              <p:cNvPr id="11711" name="Line 905"/>
                                              <p:cNvSpPr/>
                                              <p:nvPr/>
                                            </p:nvSpPr>
                                            <p:spPr>
                                              <a:xfrm flipH="1" flipV="1">
                                                <a:off x="0" y="48"/>
                                                <a:ext cx="4" cy="37"/>
                                              </a:xfrm>
                                              <a:prstGeom prst="line">
                                                <a:avLst/>
                                              </a:prstGeom>
                                              <a:ln w="9525" cap="flat" cmpd="sng">
                                                <a:solidFill>
                                                  <a:schemeClr val="tx1"/>
                                                </a:solidFill>
                                                <a:prstDash val="solid"/>
                                                <a:headEnd type="none" w="med" len="med"/>
                                                <a:tailEnd type="none" w="med" len="med"/>
                                              </a:ln>
                                            </p:spPr>
                                          </p:sp>
                                          <p:sp>
                                            <p:nvSpPr>
                                              <p:cNvPr id="11712" name="AutoShape 906"/>
                                              <p:cNvSpPr/>
                                              <p:nvPr/>
                                            </p:nvSpPr>
                                            <p:spPr>
                                              <a:xfrm>
                                                <a:off x="221" y="39"/>
                                                <a:ext cx="70" cy="5"/>
                                              </a:xfrm>
                                              <a:prstGeom prst="rtTriangle">
                                                <a:avLst/>
                                              </a:prstGeom>
                                              <a:solidFill>
                                                <a:srgbClr val="CC33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698" name="Line 907"/>
                                            <p:cNvSpPr/>
                                            <p:nvPr/>
                                          </p:nvSpPr>
                                          <p:spPr>
                                            <a:xfrm flipV="1">
                                              <a:off x="273" y="81"/>
                                              <a:ext cx="20" cy="5"/>
                                            </a:xfrm>
                                            <a:prstGeom prst="line">
                                              <a:avLst/>
                                            </a:prstGeom>
                                            <a:ln w="9525" cap="flat" cmpd="sng">
                                              <a:solidFill>
                                                <a:schemeClr val="tx1"/>
                                              </a:solidFill>
                                              <a:prstDash val="solid"/>
                                              <a:headEnd type="none" w="med" len="med"/>
                                              <a:tailEnd type="none" w="med" len="med"/>
                                            </a:ln>
                                          </p:spPr>
                                        </p:sp>
                                      </p:grpSp>
                                    </p:grpSp>
                                  </p:grpSp>
                                  <p:sp>
                                    <p:nvSpPr>
                                      <p:cNvPr id="11686" name="Rectangle 908"/>
                                      <p:cNvSpPr/>
                                      <p:nvPr/>
                                    </p:nvSpPr>
                                    <p:spPr>
                                      <a:xfrm>
                                        <a:off x="35" y="42"/>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87" name="Rectangle 909"/>
                                      <p:cNvSpPr/>
                                      <p:nvPr/>
                                    </p:nvSpPr>
                                    <p:spPr>
                                      <a:xfrm>
                                        <a:off x="257" y="56"/>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88" name="Rectangle 910"/>
                                      <p:cNvSpPr/>
                                      <p:nvPr/>
                                    </p:nvSpPr>
                                    <p:spPr>
                                      <a:xfrm>
                                        <a:off x="149" y="60"/>
                                        <a:ext cx="25" cy="25"/>
                                      </a:xfrm>
                                      <a:prstGeom prst="rect">
                                        <a:avLst/>
                                      </a:prstGeom>
                                      <a:solidFill>
                                        <a:srgbClr val="CC3300"/>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682" name="Group 911"/>
                                    <p:cNvGrpSpPr/>
                                    <p:nvPr/>
                                  </p:nvGrpSpPr>
                                  <p:grpSpPr>
                                    <a:xfrm>
                                      <a:off x="178" y="64"/>
                                      <a:ext cx="57" cy="57"/>
                                      <a:chOff x="0" y="0"/>
                                      <a:chExt cx="57" cy="57"/>
                                    </a:xfrm>
                                  </p:grpSpPr>
                                  <p:sp>
                                    <p:nvSpPr>
                                      <p:cNvPr id="11683" name="Oval 912"/>
                                      <p:cNvSpPr/>
                                      <p:nvPr/>
                                    </p:nvSpPr>
                                    <p:spPr>
                                      <a:xfrm>
                                        <a:off x="0" y="0"/>
                                        <a:ext cx="57" cy="57"/>
                                      </a:xfrm>
                                      <a:prstGeom prst="ellipse">
                                        <a:avLst/>
                                      </a:prstGeom>
                                      <a:solidFill>
                                        <a:srgbClr val="9966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84" name="Oval 913"/>
                                      <p:cNvSpPr/>
                                      <p:nvPr/>
                                    </p:nvSpPr>
                                    <p:spPr>
                                      <a:xfrm>
                                        <a:off x="12" y="13"/>
                                        <a:ext cx="32" cy="32"/>
                                      </a:xfrm>
                                      <a:prstGeom prst="ellipse">
                                        <a:avLst/>
                                      </a:prstGeom>
                                      <a:solidFill>
                                        <a:srgbClr val="9966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nvGrpSpPr>
                                  <p:cNvPr id="11678" name="Group 914"/>
                                  <p:cNvGrpSpPr/>
                                  <p:nvPr/>
                                </p:nvGrpSpPr>
                                <p:grpSpPr>
                                  <a:xfrm>
                                    <a:off x="37" y="64"/>
                                    <a:ext cx="57" cy="57"/>
                                    <a:chOff x="0" y="0"/>
                                    <a:chExt cx="57" cy="57"/>
                                  </a:xfrm>
                                </p:grpSpPr>
                                <p:sp>
                                  <p:nvSpPr>
                                    <p:cNvPr id="11679" name="Oval 915"/>
                                    <p:cNvSpPr/>
                                    <p:nvPr/>
                                  </p:nvSpPr>
                                  <p:spPr>
                                    <a:xfrm>
                                      <a:off x="0" y="0"/>
                                      <a:ext cx="57" cy="57"/>
                                    </a:xfrm>
                                    <a:prstGeom prst="ellipse">
                                      <a:avLst/>
                                    </a:prstGeom>
                                    <a:solidFill>
                                      <a:srgbClr val="996600"/>
                                    </a:solid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80" name="Oval 916"/>
                                    <p:cNvSpPr/>
                                    <p:nvPr/>
                                  </p:nvSpPr>
                                  <p:spPr>
                                    <a:xfrm>
                                      <a:off x="12" y="13"/>
                                      <a:ext cx="32" cy="32"/>
                                    </a:xfrm>
                                    <a:prstGeom prst="ellipse">
                                      <a:avLst/>
                                    </a:prstGeom>
                                    <a:solidFill>
                                      <a:srgbClr val="9966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sp>
                            <p:nvSpPr>
                              <p:cNvPr id="11378" name="Line 917"/>
                              <p:cNvSpPr/>
                              <p:nvPr/>
                            </p:nvSpPr>
                            <p:spPr>
                              <a:xfrm>
                                <a:off x="4416" y="1544"/>
                                <a:ext cx="960" cy="0"/>
                              </a:xfrm>
                              <a:prstGeom prst="line">
                                <a:avLst/>
                              </a:prstGeom>
                              <a:ln w="9525" cap="flat" cmpd="sng">
                                <a:solidFill>
                                  <a:schemeClr val="tx1"/>
                                </a:solidFill>
                                <a:prstDash val="solid"/>
                                <a:headEnd type="none" w="med" len="med"/>
                                <a:tailEnd type="none" w="med" len="med"/>
                              </a:ln>
                            </p:spPr>
                          </p:sp>
                          <p:sp>
                            <p:nvSpPr>
                              <p:cNvPr id="11379" name="Rectangle 918"/>
                              <p:cNvSpPr/>
                              <p:nvPr/>
                            </p:nvSpPr>
                            <p:spPr>
                              <a:xfrm>
                                <a:off x="2688" y="344"/>
                                <a:ext cx="144"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380" name="Group 919"/>
                              <p:cNvGrpSpPr/>
                              <p:nvPr/>
                            </p:nvGrpSpPr>
                            <p:grpSpPr>
                              <a:xfrm>
                                <a:off x="0" y="51"/>
                                <a:ext cx="2832" cy="2069"/>
                                <a:chOff x="0" y="0"/>
                                <a:chExt cx="2832" cy="2069"/>
                              </a:xfrm>
                            </p:grpSpPr>
                            <p:grpSp>
                              <p:nvGrpSpPr>
                                <p:cNvPr id="11381" name="Group 920"/>
                                <p:cNvGrpSpPr/>
                                <p:nvPr/>
                              </p:nvGrpSpPr>
                              <p:grpSpPr>
                                <a:xfrm>
                                  <a:off x="0" y="0"/>
                                  <a:ext cx="2592" cy="2069"/>
                                  <a:chOff x="0" y="0"/>
                                  <a:chExt cx="2592" cy="2069"/>
                                </a:xfrm>
                              </p:grpSpPr>
                              <p:grpSp>
                                <p:nvGrpSpPr>
                                  <p:cNvPr id="11409" name="Group 921"/>
                                  <p:cNvGrpSpPr/>
                                  <p:nvPr/>
                                </p:nvGrpSpPr>
                                <p:grpSpPr>
                                  <a:xfrm>
                                    <a:off x="453" y="116"/>
                                    <a:ext cx="81" cy="221"/>
                                    <a:chOff x="0" y="0"/>
                                    <a:chExt cx="81" cy="221"/>
                                  </a:xfrm>
                                </p:grpSpPr>
                                <p:sp>
                                  <p:nvSpPr>
                                    <p:cNvPr id="11665" name="Oval 922"/>
                                    <p:cNvSpPr/>
                                    <p:nvPr/>
                                  </p:nvSpPr>
                                  <p:spPr>
                                    <a:xfrm>
                                      <a:off x="27" y="0"/>
                                      <a:ext cx="28" cy="43"/>
                                    </a:xfrm>
                                    <a:prstGeom prst="ellipse">
                                      <a:avLst/>
                                    </a:prstGeom>
                                    <a:solidFill>
                                      <a:schemeClr val="tx2"/>
                                    </a:solid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666" name="Group 923"/>
                                    <p:cNvGrpSpPr/>
                                    <p:nvPr/>
                                  </p:nvGrpSpPr>
                                  <p:grpSpPr>
                                    <a:xfrm>
                                      <a:off x="0" y="45"/>
                                      <a:ext cx="81" cy="176"/>
                                      <a:chOff x="0" y="0"/>
                                      <a:chExt cx="81" cy="176"/>
                                    </a:xfrm>
                                  </p:grpSpPr>
                                  <p:sp>
                                    <p:nvSpPr>
                                      <p:cNvPr id="11667" name="Line 924"/>
                                      <p:cNvSpPr/>
                                      <p:nvPr/>
                                    </p:nvSpPr>
                                    <p:spPr>
                                      <a:xfrm flipH="1">
                                        <a:off x="5" y="94"/>
                                        <a:ext cx="36" cy="82"/>
                                      </a:xfrm>
                                      <a:prstGeom prst="line">
                                        <a:avLst/>
                                      </a:prstGeom>
                                      <a:ln w="12700" cap="flat" cmpd="sng">
                                        <a:solidFill>
                                          <a:schemeClr val="tx1"/>
                                        </a:solidFill>
                                        <a:prstDash val="solid"/>
                                        <a:headEnd type="none" w="med" len="med"/>
                                        <a:tailEnd type="none" w="med" len="med"/>
                                      </a:ln>
                                    </p:spPr>
                                  </p:sp>
                                  <p:sp>
                                    <p:nvSpPr>
                                      <p:cNvPr id="11668" name="Freeform 925"/>
                                      <p:cNvSpPr/>
                                      <p:nvPr/>
                                    </p:nvSpPr>
                                    <p:spPr>
                                      <a:xfrm rot="5722454">
                                        <a:off x="-25" y="39"/>
                                        <a:ext cx="74" cy="24"/>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669" name="Freeform 926"/>
                                      <p:cNvSpPr/>
                                      <p:nvPr/>
                                    </p:nvSpPr>
                                    <p:spPr>
                                      <a:xfrm>
                                        <a:off x="56" y="17"/>
                                        <a:ext cx="25" cy="70"/>
                                      </a:xfrm>
                                      <a:custGeom>
                                        <a:avLst/>
                                        <a:gdLst>
                                          <a:gd name="txL" fmla="*/ 0 w 525"/>
                                          <a:gd name="txT" fmla="*/ 0 h 936"/>
                                          <a:gd name="txR" fmla="*/ 525 w 525"/>
                                          <a:gd name="txB" fmla="*/ 936 h 936"/>
                                        </a:gdLst>
                                        <a:ahLst/>
                                        <a:cxnLst>
                                          <a:cxn ang="0">
                                            <a:pos x="0" y="0"/>
                                          </a:cxn>
                                          <a:cxn ang="0">
                                            <a:pos x="0" y="0"/>
                                          </a:cxn>
                                          <a:cxn ang="0">
                                            <a:pos x="0" y="0"/>
                                          </a:cxn>
                                        </a:cxnLst>
                                        <a:rect l="txL" t="txT" r="txR" b="txB"/>
                                        <a:pathLst>
                                          <a:path w="525" h="936">
                                            <a:moveTo>
                                              <a:pt x="0" y="0"/>
                                            </a:moveTo>
                                            <a:cubicBezTo>
                                              <a:pt x="166" y="0"/>
                                              <a:pt x="333" y="0"/>
                                              <a:pt x="420" y="156"/>
                                            </a:cubicBezTo>
                                            <a:cubicBezTo>
                                              <a:pt x="507" y="312"/>
                                              <a:pt x="516" y="624"/>
                                              <a:pt x="525" y="93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670" name="Line 927"/>
                                      <p:cNvSpPr/>
                                      <p:nvPr/>
                                    </p:nvSpPr>
                                    <p:spPr>
                                      <a:xfrm>
                                        <a:off x="41" y="0"/>
                                        <a:ext cx="0" cy="92"/>
                                      </a:xfrm>
                                      <a:prstGeom prst="line">
                                        <a:avLst/>
                                      </a:prstGeom>
                                      <a:ln w="12700" cap="flat" cmpd="sng">
                                        <a:solidFill>
                                          <a:schemeClr val="tx1"/>
                                        </a:solidFill>
                                        <a:prstDash val="solid"/>
                                        <a:headEnd type="none" w="med" len="med"/>
                                        <a:tailEnd type="none" w="med" len="med"/>
                                      </a:ln>
                                    </p:spPr>
                                  </p:sp>
                                  <p:sp>
                                    <p:nvSpPr>
                                      <p:cNvPr id="11671" name="Line 928"/>
                                      <p:cNvSpPr/>
                                      <p:nvPr/>
                                    </p:nvSpPr>
                                    <p:spPr>
                                      <a:xfrm>
                                        <a:off x="27" y="16"/>
                                        <a:ext cx="30" cy="0"/>
                                      </a:xfrm>
                                      <a:prstGeom prst="line">
                                        <a:avLst/>
                                      </a:prstGeom>
                                      <a:ln w="12700" cap="flat" cmpd="sng">
                                        <a:solidFill>
                                          <a:schemeClr val="tx1"/>
                                        </a:solidFill>
                                        <a:prstDash val="solid"/>
                                        <a:headEnd type="none" w="med" len="med"/>
                                        <a:tailEnd type="none" w="med" len="med"/>
                                      </a:ln>
                                    </p:spPr>
                                  </p:sp>
                                  <p:sp>
                                    <p:nvSpPr>
                                      <p:cNvPr id="11672" name="Line 929"/>
                                      <p:cNvSpPr/>
                                      <p:nvPr/>
                                    </p:nvSpPr>
                                    <p:spPr>
                                      <a:xfrm>
                                        <a:off x="42" y="94"/>
                                        <a:ext cx="30" cy="82"/>
                                      </a:xfrm>
                                      <a:prstGeom prst="line">
                                        <a:avLst/>
                                      </a:prstGeom>
                                      <a:ln w="12700" cap="flat" cmpd="sng">
                                        <a:solidFill>
                                          <a:schemeClr val="tx1"/>
                                        </a:solidFill>
                                        <a:prstDash val="solid"/>
                                        <a:headEnd type="none" w="med" len="med"/>
                                        <a:tailEnd type="none" w="med" len="med"/>
                                      </a:ln>
                                    </p:spPr>
                                  </p:sp>
                                </p:grpSp>
                              </p:grpSp>
                              <p:grpSp>
                                <p:nvGrpSpPr>
                                  <p:cNvPr id="11410" name="Group 930"/>
                                  <p:cNvGrpSpPr/>
                                  <p:nvPr/>
                                </p:nvGrpSpPr>
                                <p:grpSpPr>
                                  <a:xfrm>
                                    <a:off x="104" y="148"/>
                                    <a:ext cx="379" cy="191"/>
                                    <a:chOff x="0" y="0"/>
                                    <a:chExt cx="379" cy="191"/>
                                  </a:xfrm>
                                </p:grpSpPr>
                                <p:sp>
                                  <p:nvSpPr>
                                    <p:cNvPr id="11655" name="Rectangle 931"/>
                                    <p:cNvSpPr/>
                                    <p:nvPr/>
                                  </p:nvSpPr>
                                  <p:spPr>
                                    <a:xfrm>
                                      <a:off x="0" y="52"/>
                                      <a:ext cx="193" cy="138"/>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56" name="Rectangle 932"/>
                                    <p:cNvSpPr/>
                                    <p:nvPr/>
                                  </p:nvSpPr>
                                  <p:spPr>
                                    <a:xfrm>
                                      <a:off x="184" y="52"/>
                                      <a:ext cx="17" cy="138"/>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57" name="Oval 933"/>
                                    <p:cNvSpPr/>
                                    <p:nvPr/>
                                  </p:nvSpPr>
                                  <p:spPr>
                                    <a:xfrm>
                                      <a:off x="11" y="64"/>
                                      <a:ext cx="73" cy="73"/>
                                    </a:xfrm>
                                    <a:prstGeom prst="ellipse">
                                      <a:avLst/>
                                    </a:prstGeom>
                                    <a:solidFill>
                                      <a:srgbClr val="99FFCC"/>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58" name="Oval 934"/>
                                    <p:cNvSpPr/>
                                    <p:nvPr/>
                                  </p:nvSpPr>
                                  <p:spPr>
                                    <a:xfrm>
                                      <a:off x="24" y="77"/>
                                      <a:ext cx="47" cy="47"/>
                                    </a:xfrm>
                                    <a:prstGeom prst="ellipse">
                                      <a:avLst/>
                                    </a:prstGeom>
                                    <a:solidFill>
                                      <a:srgbClr val="99FFCC"/>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59" name="Rectangle 935"/>
                                    <p:cNvSpPr/>
                                    <p:nvPr/>
                                  </p:nvSpPr>
                                  <p:spPr>
                                    <a:xfrm>
                                      <a:off x="65" y="0"/>
                                      <a:ext cx="163" cy="51"/>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60" name="Rectangle 936"/>
                                    <p:cNvSpPr/>
                                    <p:nvPr/>
                                  </p:nvSpPr>
                                  <p:spPr>
                                    <a:xfrm>
                                      <a:off x="216" y="141"/>
                                      <a:ext cx="163" cy="50"/>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61" name="Rectangle 937"/>
                                    <p:cNvSpPr/>
                                    <p:nvPr/>
                                  </p:nvSpPr>
                                  <p:spPr>
                                    <a:xfrm>
                                      <a:off x="270" y="52"/>
                                      <a:ext cx="103" cy="87"/>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sp>
                                  <p:nvSpPr>
                                    <p:cNvPr id="11662" name="Line 938"/>
                                    <p:cNvSpPr/>
                                    <p:nvPr/>
                                  </p:nvSpPr>
                                  <p:spPr>
                                    <a:xfrm>
                                      <a:off x="200" y="79"/>
                                      <a:ext cx="71" cy="0"/>
                                    </a:xfrm>
                                    <a:prstGeom prst="line">
                                      <a:avLst/>
                                    </a:prstGeom>
                                    <a:ln w="9525" cap="flat" cmpd="sng">
                                      <a:solidFill>
                                        <a:schemeClr val="tx1"/>
                                      </a:solidFill>
                                      <a:prstDash val="solid"/>
                                      <a:headEnd type="none" w="med" len="med"/>
                                      <a:tailEnd type="none" w="med" len="med"/>
                                    </a:ln>
                                  </p:spPr>
                                </p:sp>
                                <p:sp>
                                  <p:nvSpPr>
                                    <p:cNvPr id="11663" name="Line 939"/>
                                    <p:cNvSpPr/>
                                    <p:nvPr/>
                                  </p:nvSpPr>
                                  <p:spPr>
                                    <a:xfrm>
                                      <a:off x="200" y="102"/>
                                      <a:ext cx="71" cy="0"/>
                                    </a:xfrm>
                                    <a:prstGeom prst="line">
                                      <a:avLst/>
                                    </a:prstGeom>
                                    <a:ln w="9525" cap="flat" cmpd="sng">
                                      <a:solidFill>
                                        <a:schemeClr val="tx1"/>
                                      </a:solidFill>
                                      <a:prstDash val="solid"/>
                                      <a:headEnd type="none" w="med" len="med"/>
                                      <a:tailEnd type="none" w="med" len="med"/>
                                    </a:ln>
                                  </p:spPr>
                                </p:sp>
                                <p:sp>
                                  <p:nvSpPr>
                                    <p:cNvPr id="11664" name="Rectangle 940"/>
                                    <p:cNvSpPr/>
                                    <p:nvPr/>
                                  </p:nvSpPr>
                                  <p:spPr>
                                    <a:xfrm>
                                      <a:off x="107" y="95"/>
                                      <a:ext cx="54" cy="50"/>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411" name="Group 941"/>
                                  <p:cNvGrpSpPr/>
                                  <p:nvPr/>
                                </p:nvGrpSpPr>
                                <p:grpSpPr>
                                  <a:xfrm>
                                    <a:off x="700" y="0"/>
                                    <a:ext cx="516" cy="339"/>
                                    <a:chOff x="0" y="0"/>
                                    <a:chExt cx="516" cy="339"/>
                                  </a:xfrm>
                                </p:grpSpPr>
                                <p:sp>
                                  <p:nvSpPr>
                                    <p:cNvPr id="11639" name="Rectangle 942"/>
                                    <p:cNvSpPr/>
                                    <p:nvPr/>
                                  </p:nvSpPr>
                                  <p:spPr>
                                    <a:xfrm>
                                      <a:off x="298" y="100"/>
                                      <a:ext cx="218" cy="237"/>
                                    </a:xfrm>
                                    <a:prstGeom prst="rect">
                                      <a:avLst/>
                                    </a:prstGeom>
                                    <a:solidFill>
                                      <a:srgbClr val="D5C5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sp>
                                  <p:nvSpPr>
                                    <p:cNvPr id="11640" name="Rectangle 943"/>
                                    <p:cNvSpPr/>
                                    <p:nvPr/>
                                  </p:nvSpPr>
                                  <p:spPr>
                                    <a:xfrm>
                                      <a:off x="25" y="102"/>
                                      <a:ext cx="218" cy="237"/>
                                    </a:xfrm>
                                    <a:prstGeom prst="rect">
                                      <a:avLst/>
                                    </a:prstGeom>
                                    <a:solidFill>
                                      <a:srgbClr val="D5C5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grpSp>
                                  <p:nvGrpSpPr>
                                    <p:cNvPr id="11641" name="Group 944"/>
                                    <p:cNvGrpSpPr/>
                                    <p:nvPr/>
                                  </p:nvGrpSpPr>
                                  <p:grpSpPr>
                                    <a:xfrm>
                                      <a:off x="0" y="0"/>
                                      <a:ext cx="500" cy="201"/>
                                      <a:chOff x="0" y="0"/>
                                      <a:chExt cx="489" cy="201"/>
                                    </a:xfrm>
                                  </p:grpSpPr>
                                  <p:sp>
                                    <p:nvSpPr>
                                      <p:cNvPr id="11642" name="Line 945"/>
                                      <p:cNvSpPr/>
                                      <p:nvPr/>
                                    </p:nvSpPr>
                                    <p:spPr>
                                      <a:xfrm>
                                        <a:off x="0" y="0"/>
                                        <a:ext cx="489" cy="0"/>
                                      </a:xfrm>
                                      <a:prstGeom prst="line">
                                        <a:avLst/>
                                      </a:prstGeom>
                                      <a:ln w="28575" cap="flat" cmpd="sng">
                                        <a:solidFill>
                                          <a:schemeClr val="tx1"/>
                                        </a:solidFill>
                                        <a:prstDash val="solid"/>
                                        <a:headEnd type="none" w="med" len="med"/>
                                        <a:tailEnd type="none" w="med" len="med"/>
                                      </a:ln>
                                    </p:spPr>
                                  </p:sp>
                                  <p:grpSp>
                                    <p:nvGrpSpPr>
                                      <p:cNvPr id="11643" name="Group 946"/>
                                      <p:cNvGrpSpPr/>
                                      <p:nvPr/>
                                    </p:nvGrpSpPr>
                                    <p:grpSpPr>
                                      <a:xfrm>
                                        <a:off x="0" y="0"/>
                                        <a:ext cx="489" cy="201"/>
                                        <a:chOff x="0" y="0"/>
                                        <a:chExt cx="489" cy="201"/>
                                      </a:xfrm>
                                    </p:grpSpPr>
                                    <p:sp>
                                      <p:nvSpPr>
                                        <p:cNvPr id="11644" name="Rectangle 947"/>
                                        <p:cNvSpPr/>
                                        <p:nvPr/>
                                      </p:nvSpPr>
                                      <p:spPr>
                                        <a:xfrm>
                                          <a:off x="435" y="0"/>
                                          <a:ext cx="54" cy="200"/>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45" name="Line 948"/>
                                        <p:cNvSpPr/>
                                        <p:nvPr/>
                                      </p:nvSpPr>
                                      <p:spPr>
                                        <a:xfrm>
                                          <a:off x="435" y="146"/>
                                          <a:ext cx="54" cy="0"/>
                                        </a:xfrm>
                                        <a:prstGeom prst="line">
                                          <a:avLst/>
                                        </a:prstGeom>
                                        <a:ln w="9525" cap="flat" cmpd="sng">
                                          <a:solidFill>
                                            <a:schemeClr val="tx1"/>
                                          </a:solidFill>
                                          <a:prstDash val="solid"/>
                                          <a:headEnd type="none" w="med" len="med"/>
                                          <a:tailEnd type="none" w="med" len="med"/>
                                        </a:ln>
                                      </p:spPr>
                                    </p:sp>
                                    <p:grpSp>
                                      <p:nvGrpSpPr>
                                        <p:cNvPr id="11646" name="Group 949"/>
                                        <p:cNvGrpSpPr/>
                                        <p:nvPr/>
                                      </p:nvGrpSpPr>
                                      <p:grpSpPr>
                                        <a:xfrm>
                                          <a:off x="0" y="0"/>
                                          <a:ext cx="381" cy="201"/>
                                          <a:chOff x="0" y="0"/>
                                          <a:chExt cx="381" cy="201"/>
                                        </a:xfrm>
                                      </p:grpSpPr>
                                      <p:sp>
                                        <p:nvSpPr>
                                          <p:cNvPr id="11647" name="Rectangle 950"/>
                                          <p:cNvSpPr/>
                                          <p:nvPr/>
                                        </p:nvSpPr>
                                        <p:spPr>
                                          <a:xfrm>
                                            <a:off x="0" y="0"/>
                                            <a:ext cx="54" cy="200"/>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48" name="Rectangle 951"/>
                                          <p:cNvSpPr/>
                                          <p:nvPr/>
                                        </p:nvSpPr>
                                        <p:spPr>
                                          <a:xfrm>
                                            <a:off x="109" y="0"/>
                                            <a:ext cx="54" cy="200"/>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49" name="Rectangle 952"/>
                                          <p:cNvSpPr/>
                                          <p:nvPr/>
                                        </p:nvSpPr>
                                        <p:spPr>
                                          <a:xfrm>
                                            <a:off x="218" y="0"/>
                                            <a:ext cx="54" cy="200"/>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50" name="Rectangle 953"/>
                                          <p:cNvSpPr/>
                                          <p:nvPr/>
                                        </p:nvSpPr>
                                        <p:spPr>
                                          <a:xfrm>
                                            <a:off x="326" y="0"/>
                                            <a:ext cx="55" cy="200"/>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51" name="Line 954"/>
                                          <p:cNvSpPr/>
                                          <p:nvPr/>
                                        </p:nvSpPr>
                                        <p:spPr>
                                          <a:xfrm>
                                            <a:off x="326" y="146"/>
                                            <a:ext cx="55" cy="0"/>
                                          </a:xfrm>
                                          <a:prstGeom prst="line">
                                            <a:avLst/>
                                          </a:prstGeom>
                                          <a:ln w="9525" cap="flat" cmpd="sng">
                                            <a:solidFill>
                                              <a:schemeClr val="tx1"/>
                                            </a:solidFill>
                                            <a:prstDash val="solid"/>
                                            <a:headEnd type="none" w="med" len="med"/>
                                            <a:tailEnd type="none" w="med" len="med"/>
                                          </a:ln>
                                        </p:spPr>
                                      </p:sp>
                                      <p:sp>
                                        <p:nvSpPr>
                                          <p:cNvPr id="11652" name="Rectangle 955"/>
                                          <p:cNvSpPr/>
                                          <p:nvPr/>
                                        </p:nvSpPr>
                                        <p:spPr>
                                          <a:xfrm>
                                            <a:off x="0" y="150"/>
                                            <a:ext cx="54" cy="51"/>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53" name="Rectangle 956"/>
                                          <p:cNvSpPr/>
                                          <p:nvPr/>
                                        </p:nvSpPr>
                                        <p:spPr>
                                          <a:xfrm>
                                            <a:off x="109" y="150"/>
                                            <a:ext cx="54" cy="51"/>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54" name="Rectangle 957"/>
                                          <p:cNvSpPr/>
                                          <p:nvPr/>
                                        </p:nvSpPr>
                                        <p:spPr>
                                          <a:xfrm>
                                            <a:off x="218" y="150"/>
                                            <a:ext cx="54" cy="51"/>
                                          </a:xfrm>
                                          <a:prstGeom prst="rect">
                                            <a:avLst/>
                                          </a:prstGeom>
                                          <a:solidFill>
                                            <a:srgbClr val="99FFCC"/>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grpSp>
                              <p:grpSp>
                                <p:nvGrpSpPr>
                                  <p:cNvPr id="11412" name="Group 958"/>
                                  <p:cNvGrpSpPr/>
                                  <p:nvPr/>
                                </p:nvGrpSpPr>
                                <p:grpSpPr>
                                  <a:xfrm>
                                    <a:off x="1298" y="139"/>
                                    <a:ext cx="272" cy="200"/>
                                    <a:chOff x="0" y="0"/>
                                    <a:chExt cx="272" cy="200"/>
                                  </a:xfrm>
                                </p:grpSpPr>
                                <p:sp>
                                  <p:nvSpPr>
                                    <p:cNvPr id="11610" name="Rectangle 959"/>
                                    <p:cNvSpPr/>
                                    <p:nvPr/>
                                  </p:nvSpPr>
                                  <p:spPr>
                                    <a:xfrm>
                                      <a:off x="213" y="28"/>
                                      <a:ext cx="52" cy="119"/>
                                    </a:xfrm>
                                    <a:prstGeom prst="rect">
                                      <a:avLst/>
                                    </a:prstGeom>
                                    <a:solidFill>
                                      <a:srgbClr val="82AC84"/>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611" name="Group 960"/>
                                    <p:cNvGrpSpPr/>
                                    <p:nvPr/>
                                  </p:nvGrpSpPr>
                                  <p:grpSpPr>
                                    <a:xfrm>
                                      <a:off x="149" y="0"/>
                                      <a:ext cx="59" cy="149"/>
                                      <a:chOff x="0" y="0"/>
                                      <a:chExt cx="59" cy="149"/>
                                    </a:xfrm>
                                  </p:grpSpPr>
                                  <p:grpSp>
                                    <p:nvGrpSpPr>
                                      <p:cNvPr id="11632" name="Group 961"/>
                                      <p:cNvGrpSpPr/>
                                      <p:nvPr/>
                                    </p:nvGrpSpPr>
                                    <p:grpSpPr>
                                      <a:xfrm>
                                        <a:off x="0" y="0"/>
                                        <a:ext cx="59" cy="63"/>
                                        <a:chOff x="0" y="0"/>
                                        <a:chExt cx="301" cy="260"/>
                                      </a:xfrm>
                                    </p:grpSpPr>
                                    <p:sp>
                                      <p:nvSpPr>
                                        <p:cNvPr id="11637" name="Oval 962"/>
                                        <p:cNvSpPr/>
                                        <p:nvPr/>
                                      </p:nvSpPr>
                                      <p:spPr>
                                        <a:xfrm>
                                          <a:off x="0" y="0"/>
                                          <a:ext cx="128" cy="137"/>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38" name="Freeform 963"/>
                                        <p:cNvSpPr/>
                                        <p:nvPr/>
                                      </p:nvSpPr>
                                      <p:spPr>
                                        <a:xfrm>
                                          <a:off x="63" y="175"/>
                                          <a:ext cx="238" cy="85"/>
                                        </a:xfrm>
                                        <a:custGeom>
                                          <a:avLst/>
                                          <a:gdLst>
                                            <a:gd name="txL" fmla="*/ 0 w 420"/>
                                            <a:gd name="txT" fmla="*/ 0 h 182"/>
                                            <a:gd name="txR" fmla="*/ 420 w 420"/>
                                            <a:gd name="txB" fmla="*/ 182 h 182"/>
                                          </a:gdLst>
                                          <a:ahLst/>
                                          <a:cxnLst>
                                            <a:cxn ang="0">
                                              <a:pos x="0" y="0"/>
                                            </a:cxn>
                                            <a:cxn ang="0">
                                              <a:pos x="1" y="0"/>
                                            </a:cxn>
                                            <a:cxn ang="0">
                                              <a:pos x="1"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sp>
                                    <p:nvSpPr>
                                      <p:cNvPr id="11633" name="Freeform 964"/>
                                      <p:cNvSpPr/>
                                      <p:nvPr/>
                                    </p:nvSpPr>
                                    <p:spPr>
                                      <a:xfrm>
                                        <a:off x="5" y="35"/>
                                        <a:ext cx="52" cy="114"/>
                                      </a:xfrm>
                                      <a:custGeom>
                                        <a:avLst/>
                                        <a:gdLst>
                                          <a:gd name="txL" fmla="*/ 0 w 420"/>
                                          <a:gd name="txT" fmla="*/ 0 h 780"/>
                                          <a:gd name="txR" fmla="*/ 420 w 420"/>
                                          <a:gd name="txB" fmla="*/ 780 h 780"/>
                                        </a:gdLst>
                                        <a:ahLst/>
                                        <a:cxnLst>
                                          <a:cxn ang="0">
                                            <a:pos x="0" y="0"/>
                                          </a:cxn>
                                          <a:cxn ang="0">
                                            <a:pos x="0" y="0"/>
                                          </a:cxn>
                                          <a:cxn ang="0">
                                            <a:pos x="0" y="0"/>
                                          </a:cxn>
                                          <a:cxn ang="0">
                                            <a:pos x="0" y="0"/>
                                          </a:cxn>
                                        </a:cxnLst>
                                        <a:rect l="txL" t="txT" r="txR" b="txB"/>
                                        <a:pathLst>
                                          <a:path w="420" h="780">
                                            <a:moveTo>
                                              <a:pt x="53" y="0"/>
                                            </a:moveTo>
                                            <a:cubicBezTo>
                                              <a:pt x="26" y="117"/>
                                              <a:pt x="0" y="234"/>
                                              <a:pt x="53" y="312"/>
                                            </a:cubicBezTo>
                                            <a:cubicBezTo>
                                              <a:pt x="106" y="390"/>
                                              <a:pt x="316" y="390"/>
                                              <a:pt x="368" y="468"/>
                                            </a:cubicBezTo>
                                            <a:cubicBezTo>
                                              <a:pt x="420" y="546"/>
                                              <a:pt x="394" y="663"/>
                                              <a:pt x="368"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nvGrpSpPr>
                                      <p:cNvPr id="11634" name="Group 965"/>
                                      <p:cNvGrpSpPr/>
                                      <p:nvPr/>
                                    </p:nvGrpSpPr>
                                    <p:grpSpPr>
                                      <a:xfrm>
                                        <a:off x="11" y="93"/>
                                        <a:ext cx="20" cy="45"/>
                                        <a:chOff x="0" y="0"/>
                                        <a:chExt cx="105" cy="255"/>
                                      </a:xfrm>
                                    </p:grpSpPr>
                                    <p:sp>
                                      <p:nvSpPr>
                                        <p:cNvPr id="11635" name="Line 966"/>
                                        <p:cNvSpPr/>
                                        <p:nvPr/>
                                      </p:nvSpPr>
                                      <p:spPr>
                                        <a:xfrm>
                                          <a:off x="0" y="0"/>
                                          <a:ext cx="105" cy="0"/>
                                        </a:xfrm>
                                        <a:prstGeom prst="line">
                                          <a:avLst/>
                                        </a:prstGeom>
                                        <a:ln w="12700" cap="flat" cmpd="sng">
                                          <a:solidFill>
                                            <a:schemeClr val="tx1"/>
                                          </a:solidFill>
                                          <a:prstDash val="solid"/>
                                          <a:headEnd type="none" w="med" len="med"/>
                                          <a:tailEnd type="none" w="med" len="med"/>
                                        </a:ln>
                                      </p:spPr>
                                    </p:sp>
                                    <p:sp>
                                      <p:nvSpPr>
                                        <p:cNvPr id="11636" name="Line 967"/>
                                        <p:cNvSpPr/>
                                        <p:nvPr/>
                                      </p:nvSpPr>
                                      <p:spPr>
                                        <a:xfrm>
                                          <a:off x="45" y="0"/>
                                          <a:ext cx="0" cy="255"/>
                                        </a:xfrm>
                                        <a:prstGeom prst="line">
                                          <a:avLst/>
                                        </a:prstGeom>
                                        <a:ln w="12700" cap="flat" cmpd="sng">
                                          <a:solidFill>
                                            <a:schemeClr val="tx1"/>
                                          </a:solidFill>
                                          <a:prstDash val="solid"/>
                                          <a:headEnd type="none" w="med" len="med"/>
                                          <a:tailEnd type="none" w="med" len="med"/>
                                        </a:ln>
                                      </p:spPr>
                                    </p:sp>
                                  </p:grpSp>
                                </p:grpSp>
                                <p:grpSp>
                                  <p:nvGrpSpPr>
                                    <p:cNvPr id="11612" name="Group 968"/>
                                    <p:cNvGrpSpPr/>
                                    <p:nvPr/>
                                  </p:nvGrpSpPr>
                                  <p:grpSpPr>
                                    <a:xfrm>
                                      <a:off x="0" y="128"/>
                                      <a:ext cx="272" cy="72"/>
                                      <a:chOff x="0" y="0"/>
                                      <a:chExt cx="272" cy="72"/>
                                    </a:xfrm>
                                  </p:grpSpPr>
                                  <p:grpSp>
                                    <p:nvGrpSpPr>
                                      <p:cNvPr id="11619" name="Group 969"/>
                                      <p:cNvGrpSpPr/>
                                      <p:nvPr/>
                                    </p:nvGrpSpPr>
                                    <p:grpSpPr>
                                      <a:xfrm>
                                        <a:off x="0" y="0"/>
                                        <a:ext cx="272" cy="43"/>
                                        <a:chOff x="0" y="0"/>
                                        <a:chExt cx="272" cy="43"/>
                                      </a:xfrm>
                                    </p:grpSpPr>
                                    <p:sp>
                                      <p:nvSpPr>
                                        <p:cNvPr id="11624" name="Line 970"/>
                                        <p:cNvSpPr/>
                                        <p:nvPr/>
                                      </p:nvSpPr>
                                      <p:spPr>
                                        <a:xfrm>
                                          <a:off x="188" y="22"/>
                                          <a:ext cx="84" cy="0"/>
                                        </a:xfrm>
                                        <a:prstGeom prst="line">
                                          <a:avLst/>
                                        </a:prstGeom>
                                        <a:ln w="12700" cap="flat" cmpd="sng">
                                          <a:solidFill>
                                            <a:schemeClr val="tx1"/>
                                          </a:solidFill>
                                          <a:prstDash val="solid"/>
                                          <a:headEnd type="none" w="med" len="med"/>
                                          <a:tailEnd type="none" w="med" len="med"/>
                                        </a:ln>
                                      </p:spPr>
                                    </p:sp>
                                    <p:sp>
                                      <p:nvSpPr>
                                        <p:cNvPr id="11625" name="Line 971"/>
                                        <p:cNvSpPr/>
                                        <p:nvPr/>
                                      </p:nvSpPr>
                                      <p:spPr>
                                        <a:xfrm>
                                          <a:off x="0" y="0"/>
                                          <a:ext cx="125" cy="0"/>
                                        </a:xfrm>
                                        <a:prstGeom prst="line">
                                          <a:avLst/>
                                        </a:prstGeom>
                                        <a:ln w="12700" cap="flat" cmpd="sng">
                                          <a:solidFill>
                                            <a:schemeClr val="tx1"/>
                                          </a:solidFill>
                                          <a:prstDash val="solid"/>
                                          <a:headEnd type="none" w="med" len="med"/>
                                          <a:tailEnd type="none" w="med" len="med"/>
                                        </a:ln>
                                      </p:spPr>
                                    </p:sp>
                                    <p:sp>
                                      <p:nvSpPr>
                                        <p:cNvPr id="11626" name="Line 972"/>
                                        <p:cNvSpPr/>
                                        <p:nvPr/>
                                      </p:nvSpPr>
                                      <p:spPr>
                                        <a:xfrm>
                                          <a:off x="125" y="0"/>
                                          <a:ext cx="63" cy="21"/>
                                        </a:xfrm>
                                        <a:prstGeom prst="line">
                                          <a:avLst/>
                                        </a:prstGeom>
                                        <a:ln w="12700" cap="flat" cmpd="sng">
                                          <a:solidFill>
                                            <a:schemeClr val="tx1"/>
                                          </a:solidFill>
                                          <a:prstDash val="solid"/>
                                          <a:headEnd type="none" w="med" len="med"/>
                                          <a:tailEnd type="none" w="med" len="med"/>
                                        </a:ln>
                                      </p:spPr>
                                    </p:sp>
                                    <p:sp>
                                      <p:nvSpPr>
                                        <p:cNvPr id="11627" name="Line 973"/>
                                        <p:cNvSpPr/>
                                        <p:nvPr/>
                                      </p:nvSpPr>
                                      <p:spPr>
                                        <a:xfrm>
                                          <a:off x="0" y="2"/>
                                          <a:ext cx="0" cy="20"/>
                                        </a:xfrm>
                                        <a:prstGeom prst="line">
                                          <a:avLst/>
                                        </a:prstGeom>
                                        <a:ln w="12700" cap="flat" cmpd="sng">
                                          <a:solidFill>
                                            <a:schemeClr val="tx1"/>
                                          </a:solidFill>
                                          <a:prstDash val="solid"/>
                                          <a:headEnd type="none" w="med" len="med"/>
                                          <a:tailEnd type="none" w="med" len="med"/>
                                        </a:ln>
                                      </p:spPr>
                                    </p:sp>
                                    <p:sp>
                                      <p:nvSpPr>
                                        <p:cNvPr id="11628" name="Line 974"/>
                                        <p:cNvSpPr/>
                                        <p:nvPr/>
                                      </p:nvSpPr>
                                      <p:spPr>
                                        <a:xfrm>
                                          <a:off x="272" y="22"/>
                                          <a:ext cx="0" cy="21"/>
                                        </a:xfrm>
                                        <a:prstGeom prst="line">
                                          <a:avLst/>
                                        </a:prstGeom>
                                        <a:ln w="12700" cap="flat" cmpd="sng">
                                          <a:solidFill>
                                            <a:schemeClr val="tx1"/>
                                          </a:solidFill>
                                          <a:prstDash val="solid"/>
                                          <a:headEnd type="none" w="med" len="med"/>
                                          <a:tailEnd type="none" w="med" len="med"/>
                                        </a:ln>
                                      </p:spPr>
                                    </p:sp>
                                    <p:sp>
                                      <p:nvSpPr>
                                        <p:cNvPr id="11629" name="Line 975"/>
                                        <p:cNvSpPr/>
                                        <p:nvPr/>
                                      </p:nvSpPr>
                                      <p:spPr>
                                        <a:xfrm>
                                          <a:off x="0" y="20"/>
                                          <a:ext cx="124" cy="0"/>
                                        </a:xfrm>
                                        <a:prstGeom prst="line">
                                          <a:avLst/>
                                        </a:prstGeom>
                                        <a:ln w="12700" cap="flat" cmpd="sng">
                                          <a:solidFill>
                                            <a:schemeClr val="tx1"/>
                                          </a:solidFill>
                                          <a:prstDash val="solid"/>
                                          <a:headEnd type="none" w="med" len="med"/>
                                          <a:tailEnd type="none" w="med" len="med"/>
                                        </a:ln>
                                      </p:spPr>
                                    </p:sp>
                                    <p:sp>
                                      <p:nvSpPr>
                                        <p:cNvPr id="11630" name="Line 976"/>
                                        <p:cNvSpPr/>
                                        <p:nvPr/>
                                      </p:nvSpPr>
                                      <p:spPr>
                                        <a:xfrm>
                                          <a:off x="124" y="20"/>
                                          <a:ext cx="63" cy="21"/>
                                        </a:xfrm>
                                        <a:prstGeom prst="line">
                                          <a:avLst/>
                                        </a:prstGeom>
                                        <a:ln w="12700" cap="flat" cmpd="sng">
                                          <a:solidFill>
                                            <a:schemeClr val="tx1"/>
                                          </a:solidFill>
                                          <a:prstDash val="solid"/>
                                          <a:headEnd type="none" w="med" len="med"/>
                                          <a:tailEnd type="none" w="med" len="med"/>
                                        </a:ln>
                                      </p:spPr>
                                    </p:sp>
                                    <p:sp>
                                      <p:nvSpPr>
                                        <p:cNvPr id="11631" name="Line 977"/>
                                        <p:cNvSpPr/>
                                        <p:nvPr/>
                                      </p:nvSpPr>
                                      <p:spPr>
                                        <a:xfrm>
                                          <a:off x="187" y="42"/>
                                          <a:ext cx="84" cy="0"/>
                                        </a:xfrm>
                                        <a:prstGeom prst="line">
                                          <a:avLst/>
                                        </a:prstGeom>
                                        <a:ln w="12700" cap="flat" cmpd="sng">
                                          <a:solidFill>
                                            <a:schemeClr val="tx1"/>
                                          </a:solidFill>
                                          <a:prstDash val="solid"/>
                                          <a:headEnd type="none" w="med" len="med"/>
                                          <a:tailEnd type="none" w="med" len="med"/>
                                        </a:ln>
                                      </p:spPr>
                                    </p:sp>
                                  </p:grpSp>
                                  <p:sp>
                                    <p:nvSpPr>
                                      <p:cNvPr id="11620" name="Oval 978"/>
                                      <p:cNvSpPr/>
                                      <p:nvPr/>
                                    </p:nvSpPr>
                                    <p:spPr>
                                      <a:xfrm>
                                        <a:off x="212" y="35"/>
                                        <a:ext cx="36" cy="36"/>
                                      </a:xfrm>
                                      <a:prstGeom prst="ellipse">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21" name="Oval 979"/>
                                      <p:cNvSpPr/>
                                      <p:nvPr/>
                                    </p:nvSpPr>
                                    <p:spPr>
                                      <a:xfrm>
                                        <a:off x="222" y="43"/>
                                        <a:ext cx="18" cy="19"/>
                                      </a:xfrm>
                                      <a:prstGeom prst="ellipse">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22" name="Oval 980"/>
                                      <p:cNvSpPr/>
                                      <p:nvPr/>
                                    </p:nvSpPr>
                                    <p:spPr>
                                      <a:xfrm>
                                        <a:off x="42" y="21"/>
                                        <a:ext cx="50" cy="51"/>
                                      </a:xfrm>
                                      <a:prstGeom prst="ellipse">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23" name="Oval 981"/>
                                      <p:cNvSpPr/>
                                      <p:nvPr/>
                                    </p:nvSpPr>
                                    <p:spPr>
                                      <a:xfrm>
                                        <a:off x="53" y="34"/>
                                        <a:ext cx="27" cy="27"/>
                                      </a:xfrm>
                                      <a:prstGeom prst="ellipse">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613" name="Group 982"/>
                                    <p:cNvGrpSpPr/>
                                    <p:nvPr/>
                                  </p:nvGrpSpPr>
                                  <p:grpSpPr>
                                    <a:xfrm>
                                      <a:off x="21" y="46"/>
                                      <a:ext cx="96" cy="81"/>
                                      <a:chOff x="0" y="0"/>
                                      <a:chExt cx="96" cy="81"/>
                                    </a:xfrm>
                                  </p:grpSpPr>
                                  <p:sp>
                                    <p:nvSpPr>
                                      <p:cNvPr id="11614" name="Rectangle 983"/>
                                      <p:cNvSpPr/>
                                      <p:nvPr/>
                                    </p:nvSpPr>
                                    <p:spPr>
                                      <a:xfrm>
                                        <a:off x="21" y="0"/>
                                        <a:ext cx="42" cy="80"/>
                                      </a:xfrm>
                                      <a:prstGeom prst="rect">
                                        <a:avLst/>
                                      </a:prstGeom>
                                      <a:solidFill>
                                        <a:srgbClr val="C0C0C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15" name="Rectangle 984"/>
                                      <p:cNvSpPr/>
                                      <p:nvPr/>
                                    </p:nvSpPr>
                                    <p:spPr>
                                      <a:xfrm>
                                        <a:off x="0" y="40"/>
                                        <a:ext cx="21" cy="41"/>
                                      </a:xfrm>
                                      <a:prstGeom prst="rect">
                                        <a:avLst/>
                                      </a:prstGeom>
                                      <a:solidFill>
                                        <a:srgbClr val="C0C0C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16" name="Rectangle 985"/>
                                      <p:cNvSpPr/>
                                      <p:nvPr/>
                                    </p:nvSpPr>
                                    <p:spPr>
                                      <a:xfrm>
                                        <a:off x="63" y="40"/>
                                        <a:ext cx="33" cy="41"/>
                                      </a:xfrm>
                                      <a:prstGeom prst="rect">
                                        <a:avLst/>
                                      </a:prstGeom>
                                      <a:solidFill>
                                        <a:srgbClr val="C0C0C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17" name="Rectangle 986"/>
                                      <p:cNvSpPr/>
                                      <p:nvPr/>
                                    </p:nvSpPr>
                                    <p:spPr>
                                      <a:xfrm>
                                        <a:off x="63" y="20"/>
                                        <a:ext cx="33" cy="21"/>
                                      </a:xfrm>
                                      <a:prstGeom prst="rect">
                                        <a:avLst/>
                                      </a:prstGeom>
                                      <a:solidFill>
                                        <a:srgbClr val="C0C0C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18" name="Rectangle 987"/>
                                      <p:cNvSpPr/>
                                      <p:nvPr/>
                                    </p:nvSpPr>
                                    <p:spPr>
                                      <a:xfrm>
                                        <a:off x="63" y="0"/>
                                        <a:ext cx="33" cy="21"/>
                                      </a:xfrm>
                                      <a:prstGeom prst="rect">
                                        <a:avLst/>
                                      </a:prstGeom>
                                      <a:solidFill>
                                        <a:srgbClr val="C0C0C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nvGrpSpPr>
                                  <p:cNvPr id="11413" name="Group 988"/>
                                  <p:cNvGrpSpPr/>
                                  <p:nvPr/>
                                </p:nvGrpSpPr>
                                <p:grpSpPr>
                                  <a:xfrm>
                                    <a:off x="1720" y="110"/>
                                    <a:ext cx="226" cy="229"/>
                                    <a:chOff x="0" y="0"/>
                                    <a:chExt cx="226" cy="229"/>
                                  </a:xfrm>
                                </p:grpSpPr>
                                <p:grpSp>
                                  <p:nvGrpSpPr>
                                    <p:cNvPr id="11598" name="Group 989"/>
                                    <p:cNvGrpSpPr/>
                                    <p:nvPr/>
                                  </p:nvGrpSpPr>
                                  <p:grpSpPr>
                                    <a:xfrm>
                                      <a:off x="67" y="0"/>
                                      <a:ext cx="159" cy="229"/>
                                      <a:chOff x="0" y="0"/>
                                      <a:chExt cx="159" cy="229"/>
                                    </a:xfrm>
                                  </p:grpSpPr>
                                  <p:sp>
                                    <p:nvSpPr>
                                      <p:cNvPr id="11604" name="Rectangle 990"/>
                                      <p:cNvSpPr/>
                                      <p:nvPr/>
                                    </p:nvSpPr>
                                    <p:spPr>
                                      <a:xfrm>
                                        <a:off x="0" y="98"/>
                                        <a:ext cx="159" cy="65"/>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05" name="Rectangle 991"/>
                                      <p:cNvSpPr/>
                                      <p:nvPr/>
                                    </p:nvSpPr>
                                    <p:spPr>
                                      <a:xfrm>
                                        <a:off x="9" y="163"/>
                                        <a:ext cx="140" cy="66"/>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06" name="Rectangle 992"/>
                                      <p:cNvSpPr/>
                                      <p:nvPr/>
                                    </p:nvSpPr>
                                    <p:spPr>
                                      <a:xfrm>
                                        <a:off x="89" y="0"/>
                                        <a:ext cx="51" cy="98"/>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07" name="Rectangle 993"/>
                                      <p:cNvSpPr/>
                                      <p:nvPr/>
                                    </p:nvSpPr>
                                    <p:spPr>
                                      <a:xfrm>
                                        <a:off x="52" y="1"/>
                                        <a:ext cx="36" cy="52"/>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08" name="Rectangle 994"/>
                                      <p:cNvSpPr/>
                                      <p:nvPr/>
                                    </p:nvSpPr>
                                    <p:spPr>
                                      <a:xfrm>
                                        <a:off x="58" y="52"/>
                                        <a:ext cx="18" cy="9"/>
                                      </a:xfrm>
                                      <a:prstGeom prst="rect">
                                        <a:avLst/>
                                      </a:prstGeom>
                                      <a:solidFill>
                                        <a:srgbClr val="0080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609" name="Rectangle 995"/>
                                      <p:cNvSpPr/>
                                      <p:nvPr/>
                                    </p:nvSpPr>
                                    <p:spPr>
                                      <a:xfrm>
                                        <a:off x="63" y="61"/>
                                        <a:ext cx="8" cy="17"/>
                                      </a:xfrm>
                                      <a:prstGeom prst="rect">
                                        <a:avLst/>
                                      </a:prstGeom>
                                      <a:solidFill>
                                        <a:srgbClr val="0080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599" name="Oval 996"/>
                                    <p:cNvSpPr/>
                                    <p:nvPr/>
                                  </p:nvSpPr>
                                  <p:spPr>
                                    <a:xfrm>
                                      <a:off x="3" y="29"/>
                                      <a:ext cx="30" cy="35"/>
                                    </a:xfrm>
                                    <a:prstGeom prst="ellipse">
                                      <a:avLst/>
                                    </a:prstGeom>
                                    <a:solidFill>
                                      <a:schemeClr val="tx2"/>
                                    </a:solid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600" name="Group 997"/>
                                    <p:cNvGrpSpPr/>
                                    <p:nvPr/>
                                  </p:nvGrpSpPr>
                                  <p:grpSpPr>
                                    <a:xfrm>
                                      <a:off x="0" y="62"/>
                                      <a:ext cx="74" cy="167"/>
                                      <a:chOff x="0" y="0"/>
                                      <a:chExt cx="74" cy="167"/>
                                    </a:xfrm>
                                  </p:grpSpPr>
                                  <p:sp>
                                    <p:nvSpPr>
                                      <p:cNvPr id="11601" name="Freeform 998"/>
                                      <p:cNvSpPr/>
                                      <p:nvPr/>
                                    </p:nvSpPr>
                                    <p:spPr>
                                      <a:xfrm>
                                        <a:off x="16" y="0"/>
                                        <a:ext cx="41" cy="167"/>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602" name="Line 999"/>
                                      <p:cNvSpPr/>
                                      <p:nvPr/>
                                    </p:nvSpPr>
                                    <p:spPr>
                                      <a:xfrm flipH="1">
                                        <a:off x="0" y="100"/>
                                        <a:ext cx="38" cy="67"/>
                                      </a:xfrm>
                                      <a:prstGeom prst="line">
                                        <a:avLst/>
                                      </a:prstGeom>
                                      <a:ln w="12700" cap="flat" cmpd="sng">
                                        <a:solidFill>
                                          <a:schemeClr val="tx1"/>
                                        </a:solidFill>
                                        <a:prstDash val="solid"/>
                                        <a:headEnd type="none" w="med" len="med"/>
                                        <a:tailEnd type="none" w="med" len="med"/>
                                      </a:ln>
                                    </p:spPr>
                                  </p:sp>
                                  <p:sp>
                                    <p:nvSpPr>
                                      <p:cNvPr id="11603" name="Freeform 1000"/>
                                      <p:cNvSpPr/>
                                      <p:nvPr/>
                                    </p:nvSpPr>
                                    <p:spPr>
                                      <a:xfrm>
                                        <a:off x="17" y="12"/>
                                        <a:ext cx="57" cy="21"/>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grpSp>
                              <p:grpSp>
                                <p:nvGrpSpPr>
                                  <p:cNvPr id="11414" name="Group 1001"/>
                                  <p:cNvGrpSpPr/>
                                  <p:nvPr/>
                                </p:nvGrpSpPr>
                                <p:grpSpPr>
                                  <a:xfrm>
                                    <a:off x="2064" y="113"/>
                                    <a:ext cx="226" cy="229"/>
                                    <a:chOff x="0" y="0"/>
                                    <a:chExt cx="226" cy="229"/>
                                  </a:xfrm>
                                </p:grpSpPr>
                                <p:grpSp>
                                  <p:nvGrpSpPr>
                                    <p:cNvPr id="11586" name="Group 1002"/>
                                    <p:cNvGrpSpPr/>
                                    <p:nvPr/>
                                  </p:nvGrpSpPr>
                                  <p:grpSpPr>
                                    <a:xfrm>
                                      <a:off x="67" y="0"/>
                                      <a:ext cx="159" cy="229"/>
                                      <a:chOff x="0" y="0"/>
                                      <a:chExt cx="159" cy="229"/>
                                    </a:xfrm>
                                  </p:grpSpPr>
                                  <p:sp>
                                    <p:nvSpPr>
                                      <p:cNvPr id="11592" name="Rectangle 1003"/>
                                      <p:cNvSpPr/>
                                      <p:nvPr/>
                                    </p:nvSpPr>
                                    <p:spPr>
                                      <a:xfrm>
                                        <a:off x="0" y="98"/>
                                        <a:ext cx="159" cy="65"/>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93" name="Rectangle 1004"/>
                                      <p:cNvSpPr/>
                                      <p:nvPr/>
                                    </p:nvSpPr>
                                    <p:spPr>
                                      <a:xfrm>
                                        <a:off x="9" y="163"/>
                                        <a:ext cx="140" cy="66"/>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sp>
                                    <p:nvSpPr>
                                      <p:cNvPr id="11594" name="Rectangle 1005"/>
                                      <p:cNvSpPr/>
                                      <p:nvPr/>
                                    </p:nvSpPr>
                                    <p:spPr>
                                      <a:xfrm>
                                        <a:off x="89" y="0"/>
                                        <a:ext cx="51" cy="98"/>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95" name="Rectangle 1006"/>
                                      <p:cNvSpPr/>
                                      <p:nvPr/>
                                    </p:nvSpPr>
                                    <p:spPr>
                                      <a:xfrm>
                                        <a:off x="52" y="1"/>
                                        <a:ext cx="36" cy="52"/>
                                      </a:xfrm>
                                      <a:prstGeom prst="rect">
                                        <a:avLst/>
                                      </a:prstGeom>
                                      <a:solidFill>
                                        <a:srgbClr val="C7FF8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96" name="Rectangle 1007"/>
                                      <p:cNvSpPr/>
                                      <p:nvPr/>
                                    </p:nvSpPr>
                                    <p:spPr>
                                      <a:xfrm>
                                        <a:off x="58" y="52"/>
                                        <a:ext cx="18" cy="9"/>
                                      </a:xfrm>
                                      <a:prstGeom prst="rect">
                                        <a:avLst/>
                                      </a:prstGeom>
                                      <a:solidFill>
                                        <a:srgbClr val="0080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97" name="Rectangle 1008"/>
                                      <p:cNvSpPr/>
                                      <p:nvPr/>
                                    </p:nvSpPr>
                                    <p:spPr>
                                      <a:xfrm>
                                        <a:off x="63" y="61"/>
                                        <a:ext cx="8" cy="17"/>
                                      </a:xfrm>
                                      <a:prstGeom prst="rect">
                                        <a:avLst/>
                                      </a:prstGeom>
                                      <a:solidFill>
                                        <a:srgbClr val="0080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587" name="Oval 1009"/>
                                    <p:cNvSpPr/>
                                    <p:nvPr/>
                                  </p:nvSpPr>
                                  <p:spPr>
                                    <a:xfrm>
                                      <a:off x="3" y="29"/>
                                      <a:ext cx="30" cy="35"/>
                                    </a:xfrm>
                                    <a:prstGeom prst="ellipse">
                                      <a:avLst/>
                                    </a:prstGeom>
                                    <a:solidFill>
                                      <a:schemeClr val="tx2"/>
                                    </a:solid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588" name="Group 1010"/>
                                    <p:cNvGrpSpPr/>
                                    <p:nvPr/>
                                  </p:nvGrpSpPr>
                                  <p:grpSpPr>
                                    <a:xfrm>
                                      <a:off x="0" y="62"/>
                                      <a:ext cx="74" cy="167"/>
                                      <a:chOff x="0" y="0"/>
                                      <a:chExt cx="74" cy="167"/>
                                    </a:xfrm>
                                  </p:grpSpPr>
                                  <p:sp>
                                    <p:nvSpPr>
                                      <p:cNvPr id="11589" name="Freeform 1011"/>
                                      <p:cNvSpPr/>
                                      <p:nvPr/>
                                    </p:nvSpPr>
                                    <p:spPr>
                                      <a:xfrm>
                                        <a:off x="16" y="0"/>
                                        <a:ext cx="41" cy="167"/>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590" name="Line 1012"/>
                                      <p:cNvSpPr/>
                                      <p:nvPr/>
                                    </p:nvSpPr>
                                    <p:spPr>
                                      <a:xfrm flipH="1">
                                        <a:off x="0" y="100"/>
                                        <a:ext cx="38" cy="67"/>
                                      </a:xfrm>
                                      <a:prstGeom prst="line">
                                        <a:avLst/>
                                      </a:prstGeom>
                                      <a:ln w="12700" cap="flat" cmpd="sng">
                                        <a:solidFill>
                                          <a:schemeClr val="tx1"/>
                                        </a:solidFill>
                                        <a:prstDash val="solid"/>
                                        <a:headEnd type="none" w="med" len="med"/>
                                        <a:tailEnd type="none" w="med" len="med"/>
                                      </a:ln>
                                    </p:spPr>
                                  </p:sp>
                                  <p:sp>
                                    <p:nvSpPr>
                                      <p:cNvPr id="11591" name="Freeform 1013"/>
                                      <p:cNvSpPr/>
                                      <p:nvPr/>
                                    </p:nvSpPr>
                                    <p:spPr>
                                      <a:xfrm>
                                        <a:off x="17" y="12"/>
                                        <a:ext cx="57" cy="21"/>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grpSp>
                              <p:grpSp>
                                <p:nvGrpSpPr>
                                  <p:cNvPr id="11415" name="Group 1014"/>
                                  <p:cNvGrpSpPr/>
                                  <p:nvPr/>
                                </p:nvGrpSpPr>
                                <p:grpSpPr>
                                  <a:xfrm>
                                    <a:off x="0" y="327"/>
                                    <a:ext cx="2592" cy="1742"/>
                                    <a:chOff x="0" y="0"/>
                                    <a:chExt cx="2592" cy="1742"/>
                                  </a:xfrm>
                                </p:grpSpPr>
                                <p:grpSp>
                                  <p:nvGrpSpPr>
                                    <p:cNvPr id="11416" name="Group 1015"/>
                                    <p:cNvGrpSpPr/>
                                    <p:nvPr/>
                                  </p:nvGrpSpPr>
                                  <p:grpSpPr>
                                    <a:xfrm>
                                      <a:off x="0" y="0"/>
                                      <a:ext cx="2592" cy="1742"/>
                                      <a:chOff x="0" y="0"/>
                                      <a:chExt cx="2592" cy="1742"/>
                                    </a:xfrm>
                                  </p:grpSpPr>
                                  <p:sp>
                                    <p:nvSpPr>
                                      <p:cNvPr id="11418" name="Rectangle 1016"/>
                                      <p:cNvSpPr/>
                                      <p:nvPr/>
                                    </p:nvSpPr>
                                    <p:spPr>
                                      <a:xfrm>
                                        <a:off x="48" y="14"/>
                                        <a:ext cx="2352"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19" name="Line 1017"/>
                                      <p:cNvSpPr/>
                                      <p:nvPr/>
                                    </p:nvSpPr>
                                    <p:spPr>
                                      <a:xfrm>
                                        <a:off x="48" y="12"/>
                                        <a:ext cx="2352" cy="2"/>
                                      </a:xfrm>
                                      <a:prstGeom prst="line">
                                        <a:avLst/>
                                      </a:prstGeom>
                                      <a:ln w="9525" cap="flat" cmpd="sng">
                                        <a:solidFill>
                                          <a:schemeClr val="tx1"/>
                                        </a:solidFill>
                                        <a:prstDash val="solid"/>
                                        <a:headEnd type="none" w="med" len="med"/>
                                        <a:tailEnd type="none" w="med" len="med"/>
                                      </a:ln>
                                    </p:spPr>
                                  </p:sp>
                                  <p:sp>
                                    <p:nvSpPr>
                                      <p:cNvPr id="11420" name="Line 1018"/>
                                      <p:cNvSpPr/>
                                      <p:nvPr/>
                                    </p:nvSpPr>
                                    <p:spPr>
                                      <a:xfrm>
                                        <a:off x="48" y="12"/>
                                        <a:ext cx="0" cy="194"/>
                                      </a:xfrm>
                                      <a:prstGeom prst="line">
                                        <a:avLst/>
                                      </a:prstGeom>
                                      <a:ln w="9525" cap="flat" cmpd="sng">
                                        <a:solidFill>
                                          <a:schemeClr val="tx1"/>
                                        </a:solidFill>
                                        <a:prstDash val="solid"/>
                                        <a:headEnd type="none" w="med" len="med"/>
                                        <a:tailEnd type="none" w="med" len="med"/>
                                      </a:ln>
                                    </p:spPr>
                                  </p:sp>
                                  <p:sp>
                                    <p:nvSpPr>
                                      <p:cNvPr id="11421" name="Line 1019"/>
                                      <p:cNvSpPr/>
                                      <p:nvPr/>
                                    </p:nvSpPr>
                                    <p:spPr>
                                      <a:xfrm>
                                        <a:off x="48" y="206"/>
                                        <a:ext cx="1344" cy="0"/>
                                      </a:xfrm>
                                      <a:prstGeom prst="line">
                                        <a:avLst/>
                                      </a:prstGeom>
                                      <a:ln w="9525" cap="flat" cmpd="sng">
                                        <a:solidFill>
                                          <a:schemeClr val="tx1"/>
                                        </a:solidFill>
                                        <a:prstDash val="solid"/>
                                        <a:headEnd type="none" w="med" len="med"/>
                                        <a:tailEnd type="none" w="med" len="med"/>
                                      </a:ln>
                                    </p:spPr>
                                  </p:sp>
                                  <p:sp>
                                    <p:nvSpPr>
                                      <p:cNvPr id="11422" name="Text Box 1020"/>
                                      <p:cNvSpPr txBox="1"/>
                                      <p:nvPr/>
                                    </p:nvSpPr>
                                    <p:spPr>
                                      <a:xfrm>
                                        <a:off x="1728" y="6"/>
                                        <a:ext cx="491" cy="146"/>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机械加工</a:t>
                                        </a:r>
                                        <a:endParaRPr lang="zh-CN" altLang="zh-CN" sz="1400" dirty="0">
                                          <a:latin typeface="Times New Roman" panose="02020603050405020304" pitchFamily="18" charset="0"/>
                                          <a:ea typeface="黑体" panose="02010609060101010101" pitchFamily="49" charset="-122"/>
                                        </a:endParaRPr>
                                      </a:p>
                                    </p:txBody>
                                  </p:sp>
                                  <p:sp>
                                    <p:nvSpPr>
                                      <p:cNvPr id="11423" name="Text Box 1021"/>
                                      <p:cNvSpPr txBox="1"/>
                                      <p:nvPr/>
                                    </p:nvSpPr>
                                    <p:spPr>
                                      <a:xfrm>
                                        <a:off x="757" y="0"/>
                                        <a:ext cx="432" cy="146"/>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热处理</a:t>
                                        </a:r>
                                        <a:endParaRPr lang="zh-CN" altLang="zh-CN" sz="1400" dirty="0">
                                          <a:latin typeface="Times New Roman" panose="02020603050405020304" pitchFamily="18" charset="0"/>
                                          <a:ea typeface="黑体" panose="02010609060101010101" pitchFamily="49" charset="-122"/>
                                        </a:endParaRPr>
                                      </a:p>
                                    </p:txBody>
                                  </p:sp>
                                  <p:sp>
                                    <p:nvSpPr>
                                      <p:cNvPr id="11424" name="Text Box 1022"/>
                                      <p:cNvSpPr txBox="1"/>
                                      <p:nvPr/>
                                    </p:nvSpPr>
                                    <p:spPr>
                                      <a:xfrm>
                                        <a:off x="102" y="6"/>
                                        <a:ext cx="381" cy="146"/>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锻造</a:t>
                                        </a:r>
                                        <a:endParaRPr lang="zh-CN" altLang="zh-CN" sz="1400" dirty="0">
                                          <a:latin typeface="Times New Roman" panose="02020603050405020304" pitchFamily="18" charset="0"/>
                                          <a:ea typeface="黑体" panose="02010609060101010101" pitchFamily="49" charset="-122"/>
                                        </a:endParaRPr>
                                      </a:p>
                                    </p:txBody>
                                  </p:sp>
                                  <p:sp>
                                    <p:nvSpPr>
                                      <p:cNvPr id="11425" name="Arc 1023"/>
                                      <p:cNvSpPr/>
                                      <p:nvPr/>
                                    </p:nvSpPr>
                                    <p:spPr>
                                      <a:xfrm>
                                        <a:off x="2400" y="14"/>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grpSp>
                                    <p:nvGrpSpPr>
                                      <p:cNvPr id="11426" name="Group 1024"/>
                                      <p:cNvGrpSpPr/>
                                      <p:nvPr/>
                                    </p:nvGrpSpPr>
                                    <p:grpSpPr>
                                      <a:xfrm>
                                        <a:off x="0" y="206"/>
                                        <a:ext cx="2448" cy="1536"/>
                                        <a:chOff x="0" y="0"/>
                                        <a:chExt cx="2448" cy="1536"/>
                                      </a:xfrm>
                                    </p:grpSpPr>
                                    <p:grpSp>
                                      <p:nvGrpSpPr>
                                        <p:cNvPr id="11497" name="Group 1025"/>
                                        <p:cNvGrpSpPr/>
                                        <p:nvPr/>
                                      </p:nvGrpSpPr>
                                      <p:grpSpPr>
                                        <a:xfrm>
                                          <a:off x="0" y="0"/>
                                          <a:ext cx="2448" cy="1536"/>
                                          <a:chOff x="0" y="0"/>
                                          <a:chExt cx="2448" cy="1536"/>
                                        </a:xfrm>
                                      </p:grpSpPr>
                                      <p:grpSp>
                                        <p:nvGrpSpPr>
                                          <p:cNvPr id="11535" name="Group 1026"/>
                                          <p:cNvGrpSpPr/>
                                          <p:nvPr/>
                                        </p:nvGrpSpPr>
                                        <p:grpSpPr>
                                          <a:xfrm>
                                            <a:off x="0" y="0"/>
                                            <a:ext cx="2448" cy="1536"/>
                                            <a:chOff x="0" y="0"/>
                                            <a:chExt cx="2448" cy="1536"/>
                                          </a:xfrm>
                                        </p:grpSpPr>
                                        <p:grpSp>
                                          <p:nvGrpSpPr>
                                            <p:cNvPr id="11557" name="Group 1027"/>
                                            <p:cNvGrpSpPr/>
                                            <p:nvPr/>
                                          </p:nvGrpSpPr>
                                          <p:grpSpPr>
                                            <a:xfrm>
                                              <a:off x="0" y="435"/>
                                              <a:ext cx="576" cy="912"/>
                                              <a:chOff x="0" y="0"/>
                                              <a:chExt cx="576" cy="912"/>
                                            </a:xfrm>
                                          </p:grpSpPr>
                                          <p:sp>
                                            <p:nvSpPr>
                                              <p:cNvPr id="11583" name="Rectangle 1028"/>
                                              <p:cNvSpPr/>
                                              <p:nvPr/>
                                            </p:nvSpPr>
                                            <p:spPr>
                                              <a:xfrm>
                                                <a:off x="432" y="66"/>
                                                <a:ext cx="144" cy="768"/>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endParaRPr lang="zh-CN" altLang="zh-CN" sz="1800" dirty="0">
                                                  <a:latin typeface="Arial" panose="020B0604020202020204" pitchFamily="34" charset="0"/>
                                                </a:endParaRPr>
                                              </a:p>
                                            </p:txBody>
                                          </p:sp>
                                          <p:sp>
                                            <p:nvSpPr>
                                              <p:cNvPr id="11584" name="Rectangle 1029"/>
                                              <p:cNvSpPr/>
                                              <p:nvPr/>
                                            </p:nvSpPr>
                                            <p:spPr>
                                              <a:xfrm>
                                                <a:off x="48" y="0"/>
                                                <a:ext cx="432"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85" name="Rectangle 1030"/>
                                              <p:cNvSpPr/>
                                              <p:nvPr/>
                                            </p:nvSpPr>
                                            <p:spPr>
                                              <a:xfrm>
                                                <a:off x="0" y="720"/>
                                                <a:ext cx="480"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558" name="Rectangle 1031"/>
                                            <p:cNvSpPr/>
                                            <p:nvPr/>
                                          </p:nvSpPr>
                                          <p:spPr>
                                            <a:xfrm>
                                              <a:off x="1392" y="0"/>
                                              <a:ext cx="144" cy="1440"/>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59" name="Rectangle 1032"/>
                                            <p:cNvSpPr/>
                                            <p:nvPr/>
                                          </p:nvSpPr>
                                          <p:spPr>
                                            <a:xfrm>
                                              <a:off x="576" y="867"/>
                                              <a:ext cx="1872"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60" name="Rectangle 1033"/>
                                            <p:cNvSpPr/>
                                            <p:nvPr/>
                                          </p:nvSpPr>
                                          <p:spPr>
                                            <a:xfrm>
                                              <a:off x="864" y="1344"/>
                                              <a:ext cx="576" cy="192"/>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61" name="Line 1034"/>
                                            <p:cNvSpPr/>
                                            <p:nvPr/>
                                          </p:nvSpPr>
                                          <p:spPr>
                                            <a:xfrm>
                                              <a:off x="48" y="627"/>
                                              <a:ext cx="384" cy="0"/>
                                            </a:xfrm>
                                            <a:prstGeom prst="line">
                                              <a:avLst/>
                                            </a:prstGeom>
                                            <a:ln w="9525" cap="flat" cmpd="sng">
                                              <a:solidFill>
                                                <a:schemeClr val="tx1"/>
                                              </a:solidFill>
                                              <a:prstDash val="solid"/>
                                              <a:headEnd type="none" w="med" len="med"/>
                                              <a:tailEnd type="none" w="med" len="med"/>
                                            </a:ln>
                                          </p:spPr>
                                        </p:sp>
                                        <p:sp>
                                          <p:nvSpPr>
                                            <p:cNvPr id="11562" name="Line 1035"/>
                                            <p:cNvSpPr/>
                                            <p:nvPr/>
                                          </p:nvSpPr>
                                          <p:spPr>
                                            <a:xfrm flipV="1">
                                              <a:off x="0" y="1155"/>
                                              <a:ext cx="432" cy="0"/>
                                            </a:xfrm>
                                            <a:prstGeom prst="line">
                                              <a:avLst/>
                                            </a:prstGeom>
                                            <a:ln w="9525" cap="flat" cmpd="sng">
                                              <a:solidFill>
                                                <a:schemeClr val="tx1"/>
                                              </a:solidFill>
                                              <a:prstDash val="solid"/>
                                              <a:headEnd type="none" w="med" len="med"/>
                                              <a:tailEnd type="none" w="med" len="med"/>
                                            </a:ln>
                                          </p:spPr>
                                        </p:sp>
                                        <p:sp>
                                          <p:nvSpPr>
                                            <p:cNvPr id="11563" name="Line 1036"/>
                                            <p:cNvSpPr/>
                                            <p:nvPr/>
                                          </p:nvSpPr>
                                          <p:spPr>
                                            <a:xfrm flipH="1">
                                              <a:off x="48" y="435"/>
                                              <a:ext cx="432" cy="0"/>
                                            </a:xfrm>
                                            <a:prstGeom prst="line">
                                              <a:avLst/>
                                            </a:prstGeom>
                                            <a:ln w="9525" cap="flat" cmpd="sng">
                                              <a:solidFill>
                                                <a:schemeClr val="tx1"/>
                                              </a:solidFill>
                                              <a:prstDash val="solid"/>
                                              <a:headEnd type="none" w="med" len="med"/>
                                              <a:tailEnd type="none" w="med" len="med"/>
                                            </a:ln>
                                          </p:spPr>
                                        </p:sp>
                                        <p:sp>
                                          <p:nvSpPr>
                                            <p:cNvPr id="11564" name="Line 1037"/>
                                            <p:cNvSpPr/>
                                            <p:nvPr/>
                                          </p:nvSpPr>
                                          <p:spPr>
                                            <a:xfrm>
                                              <a:off x="48" y="435"/>
                                              <a:ext cx="0" cy="192"/>
                                            </a:xfrm>
                                            <a:prstGeom prst="line">
                                              <a:avLst/>
                                            </a:prstGeom>
                                            <a:ln w="9525" cap="flat" cmpd="sng">
                                              <a:solidFill>
                                                <a:schemeClr val="tx1"/>
                                              </a:solidFill>
                                              <a:prstDash val="solid"/>
                                              <a:headEnd type="none" w="med" len="med"/>
                                              <a:tailEnd type="none" w="med" len="med"/>
                                            </a:ln>
                                          </p:spPr>
                                        </p:sp>
                                        <p:sp>
                                          <p:nvSpPr>
                                            <p:cNvPr id="11565" name="Line 1038"/>
                                            <p:cNvSpPr/>
                                            <p:nvPr/>
                                          </p:nvSpPr>
                                          <p:spPr>
                                            <a:xfrm flipH="1">
                                              <a:off x="432" y="627"/>
                                              <a:ext cx="0" cy="528"/>
                                            </a:xfrm>
                                            <a:prstGeom prst="line">
                                              <a:avLst/>
                                            </a:prstGeom>
                                            <a:ln w="9525" cap="flat" cmpd="sng">
                                              <a:solidFill>
                                                <a:schemeClr val="tx1"/>
                                              </a:solidFill>
                                              <a:prstDash val="solid"/>
                                              <a:headEnd type="none" w="med" len="med"/>
                                              <a:tailEnd type="none" w="med" len="med"/>
                                            </a:ln>
                                          </p:spPr>
                                        </p:sp>
                                        <p:sp>
                                          <p:nvSpPr>
                                            <p:cNvPr id="11566" name="Line 1039"/>
                                            <p:cNvSpPr/>
                                            <p:nvPr/>
                                          </p:nvSpPr>
                                          <p:spPr>
                                            <a:xfrm>
                                              <a:off x="0" y="963"/>
                                              <a:ext cx="0" cy="384"/>
                                            </a:xfrm>
                                            <a:prstGeom prst="line">
                                              <a:avLst/>
                                            </a:prstGeom>
                                            <a:ln w="9525" cap="flat" cmpd="sng">
                                              <a:solidFill>
                                                <a:schemeClr val="tx1"/>
                                              </a:solidFill>
                                              <a:prstDash val="solid"/>
                                              <a:headEnd type="none" w="med" len="med"/>
                                              <a:tailEnd type="none" w="med" len="med"/>
                                            </a:ln>
                                          </p:spPr>
                                        </p:sp>
                                        <p:sp>
                                          <p:nvSpPr>
                                            <p:cNvPr id="11567" name="Line 1040"/>
                                            <p:cNvSpPr/>
                                            <p:nvPr/>
                                          </p:nvSpPr>
                                          <p:spPr>
                                            <a:xfrm flipH="1">
                                              <a:off x="576" y="531"/>
                                              <a:ext cx="0" cy="336"/>
                                            </a:xfrm>
                                            <a:prstGeom prst="line">
                                              <a:avLst/>
                                            </a:prstGeom>
                                            <a:ln w="9525" cap="flat" cmpd="sng">
                                              <a:solidFill>
                                                <a:schemeClr val="tx1"/>
                                              </a:solidFill>
                                              <a:prstDash val="solid"/>
                                              <a:headEnd type="none" w="med" len="med"/>
                                              <a:tailEnd type="none" w="med" len="med"/>
                                            </a:ln>
                                          </p:spPr>
                                        </p:sp>
                                        <p:sp>
                                          <p:nvSpPr>
                                            <p:cNvPr id="11568" name="Line 1041"/>
                                            <p:cNvSpPr/>
                                            <p:nvPr/>
                                          </p:nvSpPr>
                                          <p:spPr>
                                            <a:xfrm flipV="1">
                                              <a:off x="576" y="864"/>
                                              <a:ext cx="816" cy="0"/>
                                            </a:xfrm>
                                            <a:prstGeom prst="line">
                                              <a:avLst/>
                                            </a:prstGeom>
                                            <a:ln w="9525" cap="flat" cmpd="sng">
                                              <a:solidFill>
                                                <a:schemeClr val="tx1"/>
                                              </a:solidFill>
                                              <a:prstDash val="solid"/>
                                              <a:headEnd type="none" w="med" len="med"/>
                                              <a:tailEnd type="none" w="med" len="med"/>
                                            </a:ln>
                                          </p:spPr>
                                        </p:sp>
                                        <p:sp>
                                          <p:nvSpPr>
                                            <p:cNvPr id="11569" name="Line 1042"/>
                                            <p:cNvSpPr/>
                                            <p:nvPr/>
                                          </p:nvSpPr>
                                          <p:spPr>
                                            <a:xfrm>
                                              <a:off x="576" y="1059"/>
                                              <a:ext cx="0" cy="192"/>
                                            </a:xfrm>
                                            <a:prstGeom prst="line">
                                              <a:avLst/>
                                            </a:prstGeom>
                                            <a:ln w="9525" cap="flat" cmpd="sng">
                                              <a:solidFill>
                                                <a:schemeClr val="tx1"/>
                                              </a:solidFill>
                                              <a:prstDash val="solid"/>
                                              <a:headEnd type="none" w="med" len="med"/>
                                              <a:tailEnd type="none" w="med" len="med"/>
                                            </a:ln>
                                          </p:spPr>
                                        </p:sp>
                                        <p:sp>
                                          <p:nvSpPr>
                                            <p:cNvPr id="11570" name="Line 1043"/>
                                            <p:cNvSpPr/>
                                            <p:nvPr/>
                                          </p:nvSpPr>
                                          <p:spPr>
                                            <a:xfrm flipV="1">
                                              <a:off x="0" y="1347"/>
                                              <a:ext cx="480" cy="0"/>
                                            </a:xfrm>
                                            <a:prstGeom prst="line">
                                              <a:avLst/>
                                            </a:prstGeom>
                                            <a:ln w="9525" cap="flat" cmpd="sng">
                                              <a:solidFill>
                                                <a:schemeClr val="tx1"/>
                                              </a:solidFill>
                                              <a:prstDash val="solid"/>
                                              <a:headEnd type="none" w="med" len="med"/>
                                              <a:tailEnd type="none" w="med" len="med"/>
                                            </a:ln>
                                          </p:spPr>
                                        </p:sp>
                                        <p:sp>
                                          <p:nvSpPr>
                                            <p:cNvPr id="11571" name="Line 1044"/>
                                            <p:cNvSpPr/>
                                            <p:nvPr/>
                                          </p:nvSpPr>
                                          <p:spPr>
                                            <a:xfrm flipV="1">
                                              <a:off x="576" y="1059"/>
                                              <a:ext cx="816" cy="0"/>
                                            </a:xfrm>
                                            <a:prstGeom prst="line">
                                              <a:avLst/>
                                            </a:prstGeom>
                                            <a:ln w="9525" cap="flat" cmpd="sng">
                                              <a:solidFill>
                                                <a:schemeClr val="tx1"/>
                                              </a:solidFill>
                                              <a:prstDash val="solid"/>
                                              <a:headEnd type="none" w="med" len="med"/>
                                              <a:tailEnd type="none" w="med" len="med"/>
                                            </a:ln>
                                          </p:spPr>
                                        </p:sp>
                                        <p:sp>
                                          <p:nvSpPr>
                                            <p:cNvPr id="11572" name="Line 1045"/>
                                            <p:cNvSpPr/>
                                            <p:nvPr/>
                                          </p:nvSpPr>
                                          <p:spPr>
                                            <a:xfrm flipH="1" flipV="1">
                                              <a:off x="864" y="1344"/>
                                              <a:ext cx="528" cy="0"/>
                                            </a:xfrm>
                                            <a:prstGeom prst="line">
                                              <a:avLst/>
                                            </a:prstGeom>
                                            <a:ln w="9525" cap="flat" cmpd="sng">
                                              <a:solidFill>
                                                <a:schemeClr val="tx1"/>
                                              </a:solidFill>
                                              <a:prstDash val="solid"/>
                                              <a:headEnd type="none" w="med" len="med"/>
                                              <a:tailEnd type="none" w="med" len="med"/>
                                            </a:ln>
                                          </p:spPr>
                                        </p:sp>
                                        <p:sp>
                                          <p:nvSpPr>
                                            <p:cNvPr id="11573" name="Line 1046"/>
                                            <p:cNvSpPr/>
                                            <p:nvPr/>
                                          </p:nvSpPr>
                                          <p:spPr>
                                            <a:xfrm>
                                              <a:off x="864" y="1344"/>
                                              <a:ext cx="0" cy="192"/>
                                            </a:xfrm>
                                            <a:prstGeom prst="line">
                                              <a:avLst/>
                                            </a:prstGeom>
                                            <a:ln w="9525" cap="flat" cmpd="sng">
                                              <a:solidFill>
                                                <a:schemeClr val="tx1"/>
                                              </a:solidFill>
                                              <a:prstDash val="solid"/>
                                              <a:headEnd type="none" w="med" len="med"/>
                                              <a:tailEnd type="none" w="med" len="med"/>
                                            </a:ln>
                                          </p:spPr>
                                        </p:sp>
                                        <p:sp>
                                          <p:nvSpPr>
                                            <p:cNvPr id="11574" name="Line 1047"/>
                                            <p:cNvSpPr/>
                                            <p:nvPr/>
                                          </p:nvSpPr>
                                          <p:spPr>
                                            <a:xfrm>
                                              <a:off x="864" y="1536"/>
                                              <a:ext cx="576" cy="0"/>
                                            </a:xfrm>
                                            <a:prstGeom prst="line">
                                              <a:avLst/>
                                            </a:prstGeom>
                                            <a:ln w="9525" cap="flat" cmpd="sng">
                                              <a:solidFill>
                                                <a:schemeClr val="tx1"/>
                                              </a:solidFill>
                                              <a:prstDash val="solid"/>
                                              <a:headEnd type="none" w="med" len="med"/>
                                              <a:tailEnd type="none" w="med" len="med"/>
                                            </a:ln>
                                          </p:spPr>
                                        </p:sp>
                                        <p:sp>
                                          <p:nvSpPr>
                                            <p:cNvPr id="11575" name="Text Box 1048"/>
                                            <p:cNvSpPr txBox="1"/>
                                            <p:nvPr/>
                                          </p:nvSpPr>
                                          <p:spPr>
                                            <a:xfrm>
                                              <a:off x="102" y="428"/>
                                              <a:ext cx="272" cy="200"/>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熔化</a:t>
                                              </a:r>
                                              <a:endParaRPr lang="zh-CN" altLang="zh-CN" sz="1400" dirty="0">
                                                <a:latin typeface="Times New Roman" panose="02020603050405020304" pitchFamily="18" charset="0"/>
                                                <a:ea typeface="黑体" panose="02010609060101010101" pitchFamily="49" charset="-122"/>
                                              </a:endParaRPr>
                                            </a:p>
                                          </p:txBody>
                                        </p:sp>
                                        <p:sp>
                                          <p:nvSpPr>
                                            <p:cNvPr id="11576" name="Text Box 1049"/>
                                            <p:cNvSpPr txBox="1"/>
                                            <p:nvPr/>
                                          </p:nvSpPr>
                                          <p:spPr>
                                            <a:xfrm>
                                              <a:off x="102" y="1146"/>
                                              <a:ext cx="272" cy="199"/>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造型</a:t>
                                              </a:r>
                                              <a:endParaRPr lang="zh-CN" altLang="zh-CN" sz="1400" dirty="0">
                                                <a:latin typeface="Times New Roman" panose="02020603050405020304" pitchFamily="18" charset="0"/>
                                                <a:ea typeface="黑体" panose="02010609060101010101" pitchFamily="49" charset="-122"/>
                                              </a:endParaRPr>
                                            </a:p>
                                          </p:txBody>
                                        </p:sp>
                                        <p:sp>
                                          <p:nvSpPr>
                                            <p:cNvPr id="11577" name="Text Box 1050"/>
                                            <p:cNvSpPr txBox="1"/>
                                            <p:nvPr/>
                                          </p:nvSpPr>
                                          <p:spPr>
                                            <a:xfrm>
                                              <a:off x="646" y="855"/>
                                              <a:ext cx="272" cy="200"/>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浇铸</a:t>
                                              </a:r>
                                              <a:endParaRPr lang="zh-CN" altLang="zh-CN" sz="1400" dirty="0">
                                                <a:latin typeface="Times New Roman" panose="02020603050405020304" pitchFamily="18" charset="0"/>
                                                <a:ea typeface="黑体" panose="02010609060101010101" pitchFamily="49" charset="-122"/>
                                              </a:endParaRPr>
                                            </a:p>
                                          </p:txBody>
                                        </p:sp>
                                        <p:sp>
                                          <p:nvSpPr>
                                            <p:cNvPr id="11578" name="Text Box 1051"/>
                                            <p:cNvSpPr txBox="1"/>
                                            <p:nvPr/>
                                          </p:nvSpPr>
                                          <p:spPr>
                                            <a:xfrm>
                                              <a:off x="972" y="1336"/>
                                              <a:ext cx="272" cy="200"/>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压铸</a:t>
                                              </a:r>
                                              <a:endParaRPr lang="zh-CN" altLang="zh-CN" sz="1400" dirty="0">
                                                <a:latin typeface="Times New Roman" panose="02020603050405020304" pitchFamily="18" charset="0"/>
                                                <a:ea typeface="黑体" panose="02010609060101010101" pitchFamily="49" charset="-122"/>
                                              </a:endParaRPr>
                                            </a:p>
                                          </p:txBody>
                                        </p:sp>
                                        <p:sp>
                                          <p:nvSpPr>
                                            <p:cNvPr id="11579" name="Text Box 1052"/>
                                            <p:cNvSpPr txBox="1"/>
                                            <p:nvPr/>
                                          </p:nvSpPr>
                                          <p:spPr>
                                            <a:xfrm>
                                              <a:off x="1081" y="853"/>
                                              <a:ext cx="271" cy="200"/>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油漆</a:t>
                                              </a:r>
                                              <a:endParaRPr lang="zh-CN" altLang="zh-CN" sz="1400" dirty="0">
                                                <a:latin typeface="Times New Roman" panose="02020603050405020304" pitchFamily="18" charset="0"/>
                                                <a:ea typeface="黑体" panose="02010609060101010101" pitchFamily="49" charset="-122"/>
                                              </a:endParaRPr>
                                            </a:p>
                                          </p:txBody>
                                        </p:sp>
                                        <p:sp>
                                          <p:nvSpPr>
                                            <p:cNvPr id="11580" name="Arc 1053"/>
                                            <p:cNvSpPr/>
                                            <p:nvPr/>
                                          </p:nvSpPr>
                                          <p:spPr>
                                            <a:xfrm>
                                              <a:off x="480" y="435"/>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581" name="Arc 1054"/>
                                            <p:cNvSpPr/>
                                            <p:nvPr/>
                                          </p:nvSpPr>
                                          <p:spPr>
                                            <a:xfrm flipV="1">
                                              <a:off x="480" y="1251"/>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582" name="Arc 1055"/>
                                            <p:cNvSpPr/>
                                            <p:nvPr/>
                                          </p:nvSpPr>
                                          <p:spPr>
                                            <a:xfrm flipV="1">
                                              <a:off x="1440" y="1440"/>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grpSp>
                                      <p:grpSp>
                                        <p:nvGrpSpPr>
                                          <p:cNvPr id="11536" name="Group 1056"/>
                                          <p:cNvGrpSpPr/>
                                          <p:nvPr/>
                                        </p:nvGrpSpPr>
                                        <p:grpSpPr>
                                          <a:xfrm>
                                            <a:off x="102" y="133"/>
                                            <a:ext cx="218" cy="300"/>
                                            <a:chOff x="0" y="0"/>
                                            <a:chExt cx="218" cy="300"/>
                                          </a:xfrm>
                                        </p:grpSpPr>
                                        <p:sp>
                                          <p:nvSpPr>
                                            <p:cNvPr id="11550" name="Rectangle 1057"/>
                                            <p:cNvSpPr/>
                                            <p:nvPr/>
                                          </p:nvSpPr>
                                          <p:spPr>
                                            <a:xfrm>
                                              <a:off x="52" y="0"/>
                                              <a:ext cx="114" cy="150"/>
                                            </a:xfrm>
                                            <a:prstGeom prst="rect">
                                              <a:avLst/>
                                            </a:prstGeom>
                                            <a:solidFill>
                                              <a:srgbClr val="E6C29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51" name="Rectangle 1058"/>
                                            <p:cNvSpPr/>
                                            <p:nvPr/>
                                          </p:nvSpPr>
                                          <p:spPr>
                                            <a:xfrm>
                                              <a:off x="31" y="150"/>
                                              <a:ext cx="156" cy="75"/>
                                            </a:xfrm>
                                            <a:prstGeom prst="rect">
                                              <a:avLst/>
                                            </a:prstGeom>
                                            <a:solidFill>
                                              <a:srgbClr val="E6C29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52" name="Rectangle 1059"/>
                                            <p:cNvSpPr/>
                                            <p:nvPr/>
                                          </p:nvSpPr>
                                          <p:spPr>
                                            <a:xfrm>
                                              <a:off x="0" y="225"/>
                                              <a:ext cx="218" cy="75"/>
                                            </a:xfrm>
                                            <a:prstGeom prst="rect">
                                              <a:avLst/>
                                            </a:prstGeom>
                                            <a:solidFill>
                                              <a:srgbClr val="E6C29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sp>
                                          <p:nvSpPr>
                                            <p:cNvPr id="11553" name="Line 1060"/>
                                            <p:cNvSpPr/>
                                            <p:nvPr/>
                                          </p:nvSpPr>
                                          <p:spPr>
                                            <a:xfrm>
                                              <a:off x="63" y="0"/>
                                              <a:ext cx="31" cy="75"/>
                                            </a:xfrm>
                                            <a:prstGeom prst="line">
                                              <a:avLst/>
                                            </a:prstGeom>
                                            <a:ln w="9525" cap="flat" cmpd="sng">
                                              <a:solidFill>
                                                <a:schemeClr val="tx1"/>
                                              </a:solidFill>
                                              <a:prstDash val="solid"/>
                                              <a:headEnd type="none" w="med" len="med"/>
                                              <a:tailEnd type="none" w="med" len="med"/>
                                            </a:ln>
                                          </p:spPr>
                                        </p:sp>
                                        <p:sp>
                                          <p:nvSpPr>
                                            <p:cNvPr id="11554" name="Line 1061"/>
                                            <p:cNvSpPr/>
                                            <p:nvPr/>
                                          </p:nvSpPr>
                                          <p:spPr>
                                            <a:xfrm flipH="1">
                                              <a:off x="124" y="0"/>
                                              <a:ext cx="31" cy="75"/>
                                            </a:xfrm>
                                            <a:prstGeom prst="line">
                                              <a:avLst/>
                                            </a:prstGeom>
                                            <a:ln w="9525" cap="flat" cmpd="sng">
                                              <a:solidFill>
                                                <a:schemeClr val="tx1"/>
                                              </a:solidFill>
                                              <a:prstDash val="solid"/>
                                              <a:headEnd type="none" w="med" len="med"/>
                                              <a:tailEnd type="none" w="med" len="med"/>
                                            </a:ln>
                                          </p:spPr>
                                        </p:sp>
                                        <p:sp>
                                          <p:nvSpPr>
                                            <p:cNvPr id="11555" name="Line 1062"/>
                                            <p:cNvSpPr/>
                                            <p:nvPr/>
                                          </p:nvSpPr>
                                          <p:spPr>
                                            <a:xfrm>
                                              <a:off x="76" y="35"/>
                                              <a:ext cx="62" cy="0"/>
                                            </a:xfrm>
                                            <a:prstGeom prst="line">
                                              <a:avLst/>
                                            </a:prstGeom>
                                            <a:ln w="9525" cap="flat" cmpd="sng">
                                              <a:solidFill>
                                                <a:schemeClr val="tx1"/>
                                              </a:solidFill>
                                              <a:prstDash val="solid"/>
                                              <a:headEnd type="none" w="med" len="med"/>
                                              <a:tailEnd type="none" w="med" len="med"/>
                                            </a:ln>
                                          </p:spPr>
                                        </p:sp>
                                        <p:sp>
                                          <p:nvSpPr>
                                            <p:cNvPr id="11556" name="Rectangle 1063"/>
                                            <p:cNvSpPr/>
                                            <p:nvPr/>
                                          </p:nvSpPr>
                                          <p:spPr>
                                            <a:xfrm>
                                              <a:off x="93" y="76"/>
                                              <a:ext cx="31" cy="123"/>
                                            </a:xfrm>
                                            <a:prstGeom prst="rect">
                                              <a:avLst/>
                                            </a:prstGeom>
                                            <a:solidFill>
                                              <a:srgbClr val="E6C29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537" name="Line 1064"/>
                                          <p:cNvSpPr/>
                                          <p:nvPr/>
                                        </p:nvSpPr>
                                        <p:spPr>
                                          <a:xfrm flipV="1">
                                            <a:off x="0" y="960"/>
                                            <a:ext cx="96" cy="0"/>
                                          </a:xfrm>
                                          <a:prstGeom prst="line">
                                            <a:avLst/>
                                          </a:prstGeom>
                                          <a:ln w="9525" cap="flat" cmpd="sng">
                                            <a:solidFill>
                                              <a:schemeClr val="tx1"/>
                                            </a:solidFill>
                                            <a:prstDash val="solid"/>
                                            <a:headEnd type="none" w="med" len="med"/>
                                            <a:tailEnd type="none" w="med" len="med"/>
                                          </a:ln>
                                        </p:spPr>
                                      </p:sp>
                                      <p:sp>
                                        <p:nvSpPr>
                                          <p:cNvPr id="11538" name="Line 1065"/>
                                          <p:cNvSpPr/>
                                          <p:nvPr/>
                                        </p:nvSpPr>
                                        <p:spPr>
                                          <a:xfrm flipH="1">
                                            <a:off x="96" y="960"/>
                                            <a:ext cx="0" cy="144"/>
                                          </a:xfrm>
                                          <a:prstGeom prst="line">
                                            <a:avLst/>
                                          </a:prstGeom>
                                          <a:ln w="9525" cap="flat" cmpd="sng">
                                            <a:solidFill>
                                              <a:schemeClr val="tx1"/>
                                            </a:solidFill>
                                            <a:prstDash val="solid"/>
                                            <a:headEnd type="none" w="med" len="med"/>
                                            <a:tailEnd type="none" w="med" len="med"/>
                                          </a:ln>
                                        </p:spPr>
                                      </p:sp>
                                      <p:sp>
                                        <p:nvSpPr>
                                          <p:cNvPr id="11539" name="Line 1066"/>
                                          <p:cNvSpPr/>
                                          <p:nvPr/>
                                        </p:nvSpPr>
                                        <p:spPr>
                                          <a:xfrm flipV="1">
                                            <a:off x="96" y="1104"/>
                                            <a:ext cx="288" cy="0"/>
                                          </a:xfrm>
                                          <a:prstGeom prst="line">
                                            <a:avLst/>
                                          </a:prstGeom>
                                          <a:ln w="9525" cap="flat" cmpd="sng">
                                            <a:solidFill>
                                              <a:schemeClr val="tx1"/>
                                            </a:solidFill>
                                            <a:prstDash val="solid"/>
                                            <a:headEnd type="none" w="med" len="med"/>
                                            <a:tailEnd type="none" w="med" len="med"/>
                                          </a:ln>
                                        </p:spPr>
                                      </p:sp>
                                      <p:sp>
                                        <p:nvSpPr>
                                          <p:cNvPr id="11540" name="Line 1067"/>
                                          <p:cNvSpPr/>
                                          <p:nvPr/>
                                        </p:nvSpPr>
                                        <p:spPr>
                                          <a:xfrm flipH="1">
                                            <a:off x="384" y="1104"/>
                                            <a:ext cx="0" cy="48"/>
                                          </a:xfrm>
                                          <a:prstGeom prst="line">
                                            <a:avLst/>
                                          </a:prstGeom>
                                          <a:ln w="9525" cap="flat" cmpd="sng">
                                            <a:solidFill>
                                              <a:schemeClr val="tx1"/>
                                            </a:solidFill>
                                            <a:prstDash val="solid"/>
                                            <a:headEnd type="none" w="med" len="med"/>
                                            <a:tailEnd type="none" w="med" len="med"/>
                                          </a:ln>
                                        </p:spPr>
                                      </p:sp>
                                      <p:grpSp>
                                        <p:nvGrpSpPr>
                                          <p:cNvPr id="11541" name="Group 1068"/>
                                          <p:cNvGrpSpPr/>
                                          <p:nvPr/>
                                        </p:nvGrpSpPr>
                                        <p:grpSpPr>
                                          <a:xfrm>
                                            <a:off x="108" y="812"/>
                                            <a:ext cx="287" cy="291"/>
                                            <a:chOff x="0" y="0"/>
                                            <a:chExt cx="287" cy="291"/>
                                          </a:xfrm>
                                        </p:grpSpPr>
                                        <p:sp>
                                          <p:nvSpPr>
                                            <p:cNvPr id="11542" name="Rectangle 1069"/>
                                            <p:cNvSpPr/>
                                            <p:nvPr/>
                                          </p:nvSpPr>
                                          <p:spPr>
                                            <a:xfrm>
                                              <a:off x="134" y="170"/>
                                              <a:ext cx="109" cy="118"/>
                                            </a:xfrm>
                                            <a:prstGeom prst="rect">
                                              <a:avLst/>
                                            </a:prstGeom>
                                            <a:solidFill>
                                              <a:srgbClr val="E6C29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43" name="Rectangle 1070"/>
                                            <p:cNvSpPr/>
                                            <p:nvPr/>
                                          </p:nvSpPr>
                                          <p:spPr>
                                            <a:xfrm>
                                              <a:off x="134" y="52"/>
                                              <a:ext cx="109" cy="118"/>
                                            </a:xfrm>
                                            <a:prstGeom prst="rect">
                                              <a:avLst/>
                                            </a:prstGeom>
                                            <a:solidFill>
                                              <a:srgbClr val="E6C29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44" name="Rectangle 1071"/>
                                            <p:cNvSpPr/>
                                            <p:nvPr/>
                                          </p:nvSpPr>
                                          <p:spPr>
                                            <a:xfrm>
                                              <a:off x="0" y="187"/>
                                              <a:ext cx="109" cy="99"/>
                                            </a:xfrm>
                                            <a:prstGeom prst="rect">
                                              <a:avLst/>
                                            </a:prstGeom>
                                            <a:solidFill>
                                              <a:srgbClr val="E6C29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45" name="Line 1072"/>
                                            <p:cNvSpPr/>
                                            <p:nvPr/>
                                          </p:nvSpPr>
                                          <p:spPr>
                                            <a:xfrm flipH="1">
                                              <a:off x="78" y="102"/>
                                              <a:ext cx="55" cy="87"/>
                                            </a:xfrm>
                                            <a:prstGeom prst="line">
                                              <a:avLst/>
                                            </a:prstGeom>
                                            <a:ln w="9525" cap="flat" cmpd="sng">
                                              <a:solidFill>
                                                <a:schemeClr val="tx1"/>
                                              </a:solidFill>
                                              <a:prstDash val="solid"/>
                                              <a:headEnd type="none" w="med" len="med"/>
                                              <a:tailEnd type="none" w="med" len="med"/>
                                            </a:ln>
                                          </p:spPr>
                                        </p:sp>
                                        <p:sp>
                                          <p:nvSpPr>
                                            <p:cNvPr id="11546" name="Freeform 1073"/>
                                            <p:cNvSpPr/>
                                            <p:nvPr/>
                                          </p:nvSpPr>
                                          <p:spPr>
                                            <a:xfrm>
                                              <a:off x="246" y="72"/>
                                              <a:ext cx="36" cy="126"/>
                                            </a:xfrm>
                                            <a:custGeom>
                                              <a:avLst/>
                                              <a:gdLst>
                                                <a:gd name="txL" fmla="*/ 0 w 368"/>
                                                <a:gd name="txT" fmla="*/ 0 h 936"/>
                                                <a:gd name="txR" fmla="*/ 368 w 368"/>
                                                <a:gd name="txB" fmla="*/ 936 h 936"/>
                                              </a:gdLst>
                                              <a:ahLst/>
                                              <a:cxnLst>
                                                <a:cxn ang="0">
                                                  <a:pos x="0" y="0"/>
                                                </a:cxn>
                                                <a:cxn ang="0">
                                                  <a:pos x="0" y="0"/>
                                                </a:cxn>
                                                <a:cxn ang="0">
                                                  <a:pos x="0" y="0"/>
                                                </a:cxn>
                                                <a:cxn ang="0">
                                                  <a:pos x="0" y="0"/>
                                                </a:cxn>
                                              </a:cxnLst>
                                              <a:rect l="txL" t="txT" r="txR" b="txB"/>
                                              <a:pathLst>
                                                <a:path w="368" h="936">
                                                  <a:moveTo>
                                                    <a:pt x="0" y="0"/>
                                                  </a:moveTo>
                                                  <a:cubicBezTo>
                                                    <a:pt x="131" y="91"/>
                                                    <a:pt x="262" y="182"/>
                                                    <a:pt x="315" y="312"/>
                                                  </a:cubicBezTo>
                                                  <a:cubicBezTo>
                                                    <a:pt x="368" y="442"/>
                                                    <a:pt x="367" y="676"/>
                                                    <a:pt x="315" y="780"/>
                                                  </a:cubicBezTo>
                                                  <a:cubicBezTo>
                                                    <a:pt x="263" y="884"/>
                                                    <a:pt x="131" y="910"/>
                                                    <a:pt x="0" y="936"/>
                                                  </a:cubicBezTo>
                                                </a:path>
                                              </a:pathLst>
                                            </a:custGeom>
                                            <a:solidFill>
                                              <a:srgbClr val="E6C29E">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547" name="Freeform 1074"/>
                                            <p:cNvSpPr/>
                                            <p:nvPr/>
                                          </p:nvSpPr>
                                          <p:spPr>
                                            <a:xfrm>
                                              <a:off x="246" y="139"/>
                                              <a:ext cx="41" cy="152"/>
                                            </a:xfrm>
                                            <a:custGeom>
                                              <a:avLst/>
                                              <a:gdLst>
                                                <a:gd name="txL" fmla="*/ 0 w 368"/>
                                                <a:gd name="txT" fmla="*/ 0 h 936"/>
                                                <a:gd name="txR" fmla="*/ 368 w 368"/>
                                                <a:gd name="txB" fmla="*/ 936 h 936"/>
                                              </a:gdLst>
                                              <a:ahLst/>
                                              <a:cxnLst>
                                                <a:cxn ang="0">
                                                  <a:pos x="0" y="0"/>
                                                </a:cxn>
                                                <a:cxn ang="0">
                                                  <a:pos x="0" y="0"/>
                                                </a:cxn>
                                                <a:cxn ang="0">
                                                  <a:pos x="0" y="0"/>
                                                </a:cxn>
                                                <a:cxn ang="0">
                                                  <a:pos x="0" y="0"/>
                                                </a:cxn>
                                              </a:cxnLst>
                                              <a:rect l="txL" t="txT" r="txR" b="txB"/>
                                              <a:pathLst>
                                                <a:path w="368" h="936">
                                                  <a:moveTo>
                                                    <a:pt x="0" y="0"/>
                                                  </a:moveTo>
                                                  <a:cubicBezTo>
                                                    <a:pt x="131" y="91"/>
                                                    <a:pt x="262" y="182"/>
                                                    <a:pt x="315" y="312"/>
                                                  </a:cubicBezTo>
                                                  <a:cubicBezTo>
                                                    <a:pt x="368" y="442"/>
                                                    <a:pt x="367" y="676"/>
                                                    <a:pt x="315" y="780"/>
                                                  </a:cubicBezTo>
                                                  <a:cubicBezTo>
                                                    <a:pt x="263" y="884"/>
                                                    <a:pt x="131" y="910"/>
                                                    <a:pt x="0" y="936"/>
                                                  </a:cubicBezTo>
                                                </a:path>
                                              </a:pathLst>
                                            </a:custGeom>
                                            <a:solidFill>
                                              <a:srgbClr val="E6C29E">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548" name="Rectangle 1075"/>
                                            <p:cNvSpPr/>
                                            <p:nvPr/>
                                          </p:nvSpPr>
                                          <p:spPr>
                                            <a:xfrm>
                                              <a:off x="150" y="2"/>
                                              <a:ext cx="26" cy="50"/>
                                            </a:xfrm>
                                            <a:prstGeom prst="rect">
                                              <a:avLst/>
                                            </a:prstGeom>
                                            <a:solidFill>
                                              <a:srgbClr val="E6C29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49" name="Rectangle 1076"/>
                                            <p:cNvSpPr/>
                                            <p:nvPr/>
                                          </p:nvSpPr>
                                          <p:spPr>
                                            <a:xfrm>
                                              <a:off x="204" y="0"/>
                                              <a:ext cx="27" cy="51"/>
                                            </a:xfrm>
                                            <a:prstGeom prst="rect">
                                              <a:avLst/>
                                            </a:prstGeom>
                                            <a:solidFill>
                                              <a:srgbClr val="E6C29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nvGrpSpPr>
                                        <p:cNvPr id="11498" name="Group 1077"/>
                                        <p:cNvGrpSpPr/>
                                        <p:nvPr/>
                                      </p:nvGrpSpPr>
                                      <p:grpSpPr>
                                        <a:xfrm>
                                          <a:off x="591" y="561"/>
                                          <a:ext cx="761" cy="300"/>
                                          <a:chOff x="0" y="0"/>
                                          <a:chExt cx="761" cy="300"/>
                                        </a:xfrm>
                                      </p:grpSpPr>
                                      <p:grpSp>
                                        <p:nvGrpSpPr>
                                          <p:cNvPr id="11499" name="Group 1078"/>
                                          <p:cNvGrpSpPr/>
                                          <p:nvPr/>
                                        </p:nvGrpSpPr>
                                        <p:grpSpPr>
                                          <a:xfrm>
                                            <a:off x="326" y="154"/>
                                            <a:ext cx="118" cy="146"/>
                                            <a:chOff x="0" y="0"/>
                                            <a:chExt cx="118" cy="146"/>
                                          </a:xfrm>
                                        </p:grpSpPr>
                                        <p:grpSp>
                                          <p:nvGrpSpPr>
                                            <p:cNvPr id="11530" name="Group 1079"/>
                                            <p:cNvGrpSpPr/>
                                            <p:nvPr/>
                                          </p:nvGrpSpPr>
                                          <p:grpSpPr>
                                            <a:xfrm>
                                              <a:off x="0" y="90"/>
                                              <a:ext cx="118" cy="56"/>
                                              <a:chOff x="0" y="0"/>
                                              <a:chExt cx="118" cy="56"/>
                                            </a:xfrm>
                                          </p:grpSpPr>
                                          <p:sp>
                                            <p:nvSpPr>
                                              <p:cNvPr id="11532" name="Rectangle 1080"/>
                                              <p:cNvSpPr/>
                                              <p:nvPr/>
                                            </p:nvSpPr>
                                            <p:spPr>
                                              <a:xfrm>
                                                <a:off x="0" y="0"/>
                                                <a:ext cx="118" cy="23"/>
                                              </a:xfrm>
                                              <a:prstGeom prst="rect">
                                                <a:avLst/>
                                              </a:prstGeom>
                                              <a:solidFill>
                                                <a:srgbClr val="99663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33" name="Oval 1081"/>
                                              <p:cNvSpPr/>
                                              <p:nvPr/>
                                            </p:nvSpPr>
                                            <p:spPr>
                                              <a:xfrm>
                                                <a:off x="8" y="23"/>
                                                <a:ext cx="34" cy="33"/>
                                              </a:xfrm>
                                              <a:prstGeom prst="ellipse">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34" name="Oval 1082"/>
                                              <p:cNvSpPr/>
                                              <p:nvPr/>
                                            </p:nvSpPr>
                                            <p:spPr>
                                              <a:xfrm>
                                                <a:off x="76" y="23"/>
                                                <a:ext cx="34" cy="33"/>
                                              </a:xfrm>
                                              <a:prstGeom prst="ellipse">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531" name="Rectangle 1083"/>
                                            <p:cNvSpPr/>
                                            <p:nvPr/>
                                          </p:nvSpPr>
                                          <p:spPr>
                                            <a:xfrm>
                                              <a:off x="14" y="0"/>
                                              <a:ext cx="92" cy="91"/>
                                            </a:xfrm>
                                            <a:prstGeom prst="rect">
                                              <a:avLst/>
                                            </a:prstGeom>
                                            <a:solidFill>
                                              <a:srgbClr val="99663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500" name="Group 1084"/>
                                          <p:cNvGrpSpPr/>
                                          <p:nvPr/>
                                        </p:nvGrpSpPr>
                                        <p:grpSpPr>
                                          <a:xfrm>
                                            <a:off x="0" y="0"/>
                                            <a:ext cx="435" cy="125"/>
                                            <a:chOff x="0" y="0"/>
                                            <a:chExt cx="435" cy="125"/>
                                          </a:xfrm>
                                        </p:grpSpPr>
                                        <p:grpSp>
                                          <p:nvGrpSpPr>
                                            <p:cNvPr id="11521" name="Group 1085"/>
                                            <p:cNvGrpSpPr/>
                                            <p:nvPr/>
                                          </p:nvGrpSpPr>
                                          <p:grpSpPr>
                                            <a:xfrm>
                                              <a:off x="48" y="56"/>
                                              <a:ext cx="371" cy="69"/>
                                              <a:chOff x="0" y="0"/>
                                              <a:chExt cx="371" cy="69"/>
                                            </a:xfrm>
                                          </p:grpSpPr>
                                          <p:sp>
                                            <p:nvSpPr>
                                              <p:cNvPr id="11527" name="AutoShape 1086"/>
                                              <p:cNvSpPr/>
                                              <p:nvPr/>
                                            </p:nvSpPr>
                                            <p:spPr>
                                              <a:xfrm rot="3000000">
                                                <a:off x="-10" y="10"/>
                                                <a:ext cx="67" cy="46"/>
                                              </a:xfrm>
                                              <a:prstGeom prst="roundRect">
                                                <a:avLst>
                                                  <a:gd name="adj" fmla="val 16667"/>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28" name="AutoShape 1087"/>
                                              <p:cNvSpPr/>
                                              <p:nvPr/>
                                            </p:nvSpPr>
                                            <p:spPr>
                                              <a:xfrm rot="3000000">
                                                <a:off x="148" y="9"/>
                                                <a:ext cx="67" cy="48"/>
                                              </a:xfrm>
                                              <a:prstGeom prst="roundRect">
                                                <a:avLst>
                                                  <a:gd name="adj" fmla="val 16667"/>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29" name="AutoShape 1088"/>
                                              <p:cNvSpPr/>
                                              <p:nvPr/>
                                            </p:nvSpPr>
                                            <p:spPr>
                                              <a:xfrm rot="3000000">
                                                <a:off x="311" y="9"/>
                                                <a:ext cx="67" cy="48"/>
                                              </a:xfrm>
                                              <a:prstGeom prst="roundRect">
                                                <a:avLst>
                                                  <a:gd name="adj" fmla="val 16667"/>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522" name="Group 1089"/>
                                            <p:cNvGrpSpPr/>
                                            <p:nvPr/>
                                          </p:nvGrpSpPr>
                                          <p:grpSpPr>
                                            <a:xfrm>
                                              <a:off x="0" y="0"/>
                                              <a:ext cx="435" cy="93"/>
                                              <a:chOff x="0" y="0"/>
                                              <a:chExt cx="435" cy="93"/>
                                            </a:xfrm>
                                          </p:grpSpPr>
                                          <p:sp>
                                            <p:nvSpPr>
                                              <p:cNvPr id="11523" name="Line 1090"/>
                                              <p:cNvSpPr/>
                                              <p:nvPr/>
                                            </p:nvSpPr>
                                            <p:spPr>
                                              <a:xfrm flipV="1">
                                                <a:off x="70" y="2"/>
                                                <a:ext cx="0" cy="91"/>
                                              </a:xfrm>
                                              <a:prstGeom prst="line">
                                                <a:avLst/>
                                              </a:prstGeom>
                                              <a:ln w="9525" cap="flat" cmpd="sng">
                                                <a:solidFill>
                                                  <a:schemeClr val="tx1"/>
                                                </a:solidFill>
                                                <a:prstDash val="solid"/>
                                                <a:headEnd type="none" w="med" len="med"/>
                                                <a:tailEnd type="none" w="med" len="med"/>
                                              </a:ln>
                                            </p:spPr>
                                          </p:sp>
                                          <p:sp>
                                            <p:nvSpPr>
                                              <p:cNvPr id="11524" name="Line 1091"/>
                                              <p:cNvSpPr/>
                                              <p:nvPr/>
                                            </p:nvSpPr>
                                            <p:spPr>
                                              <a:xfrm flipV="1">
                                                <a:off x="232" y="0"/>
                                                <a:ext cx="0" cy="91"/>
                                              </a:xfrm>
                                              <a:prstGeom prst="line">
                                                <a:avLst/>
                                              </a:prstGeom>
                                              <a:ln w="9525" cap="flat" cmpd="sng">
                                                <a:solidFill>
                                                  <a:schemeClr val="tx1"/>
                                                </a:solidFill>
                                                <a:prstDash val="solid"/>
                                                <a:headEnd type="none" w="med" len="med"/>
                                                <a:tailEnd type="none" w="med" len="med"/>
                                              </a:ln>
                                            </p:spPr>
                                          </p:sp>
                                          <p:sp>
                                            <p:nvSpPr>
                                              <p:cNvPr id="11525" name="Line 1092"/>
                                              <p:cNvSpPr/>
                                              <p:nvPr/>
                                            </p:nvSpPr>
                                            <p:spPr>
                                              <a:xfrm flipV="1">
                                                <a:off x="395" y="0"/>
                                                <a:ext cx="0" cy="91"/>
                                              </a:xfrm>
                                              <a:prstGeom prst="line">
                                                <a:avLst/>
                                              </a:prstGeom>
                                              <a:ln w="9525" cap="flat" cmpd="sng">
                                                <a:solidFill>
                                                  <a:schemeClr val="tx1"/>
                                                </a:solidFill>
                                                <a:prstDash val="solid"/>
                                                <a:headEnd type="none" w="med" len="med"/>
                                                <a:tailEnd type="none" w="med" len="med"/>
                                              </a:ln>
                                            </p:spPr>
                                          </p:sp>
                                          <p:sp>
                                            <p:nvSpPr>
                                              <p:cNvPr id="11526" name="Line 1093"/>
                                              <p:cNvSpPr/>
                                              <p:nvPr/>
                                            </p:nvSpPr>
                                            <p:spPr>
                                              <a:xfrm>
                                                <a:off x="0" y="0"/>
                                                <a:ext cx="435" cy="0"/>
                                              </a:xfrm>
                                              <a:prstGeom prst="line">
                                                <a:avLst/>
                                              </a:prstGeom>
                                              <a:ln w="12700" cap="flat" cmpd="sng">
                                                <a:solidFill>
                                                  <a:schemeClr val="tx1"/>
                                                </a:solidFill>
                                                <a:prstDash val="solid"/>
                                                <a:headEnd type="none" w="med" len="med"/>
                                                <a:tailEnd type="none" w="med" len="med"/>
                                              </a:ln>
                                            </p:spPr>
                                          </p:sp>
                                        </p:grpSp>
                                      </p:grpSp>
                                      <p:grpSp>
                                        <p:nvGrpSpPr>
                                          <p:cNvPr id="11501" name="Group 1094"/>
                                          <p:cNvGrpSpPr/>
                                          <p:nvPr/>
                                        </p:nvGrpSpPr>
                                        <p:grpSpPr>
                                          <a:xfrm>
                                            <a:off x="490" y="0"/>
                                            <a:ext cx="271" cy="100"/>
                                            <a:chOff x="0" y="0"/>
                                            <a:chExt cx="271" cy="100"/>
                                          </a:xfrm>
                                        </p:grpSpPr>
                                        <p:sp>
                                          <p:nvSpPr>
                                            <p:cNvPr id="11515" name="Line 1095"/>
                                            <p:cNvSpPr/>
                                            <p:nvPr/>
                                          </p:nvSpPr>
                                          <p:spPr>
                                            <a:xfrm>
                                              <a:off x="0" y="0"/>
                                              <a:ext cx="271" cy="0"/>
                                            </a:xfrm>
                                            <a:prstGeom prst="line">
                                              <a:avLst/>
                                            </a:prstGeom>
                                            <a:ln w="12700" cap="flat" cmpd="sng">
                                              <a:solidFill>
                                                <a:schemeClr val="tx1"/>
                                              </a:solidFill>
                                              <a:prstDash val="solid"/>
                                              <a:headEnd type="none" w="med" len="med"/>
                                              <a:tailEnd type="none" w="med" len="med"/>
                                            </a:ln>
                                          </p:spPr>
                                        </p:sp>
                                        <p:sp>
                                          <p:nvSpPr>
                                            <p:cNvPr id="11516" name="Line 1096"/>
                                            <p:cNvSpPr/>
                                            <p:nvPr/>
                                          </p:nvSpPr>
                                          <p:spPr>
                                            <a:xfrm flipV="1">
                                              <a:off x="25" y="0"/>
                                              <a:ext cx="0" cy="100"/>
                                            </a:xfrm>
                                            <a:prstGeom prst="line">
                                              <a:avLst/>
                                            </a:prstGeom>
                                            <a:ln w="9525" cap="flat" cmpd="sng">
                                              <a:solidFill>
                                                <a:schemeClr val="tx1"/>
                                              </a:solidFill>
                                              <a:prstDash val="solid"/>
                                              <a:headEnd type="none" w="med" len="med"/>
                                              <a:tailEnd type="none" w="med" len="med"/>
                                            </a:ln>
                                          </p:spPr>
                                        </p:sp>
                                        <p:sp>
                                          <p:nvSpPr>
                                            <p:cNvPr id="11517" name="Line 1097"/>
                                            <p:cNvSpPr/>
                                            <p:nvPr/>
                                          </p:nvSpPr>
                                          <p:spPr>
                                            <a:xfrm flipV="1">
                                              <a:off x="79" y="0"/>
                                              <a:ext cx="0" cy="100"/>
                                            </a:xfrm>
                                            <a:prstGeom prst="line">
                                              <a:avLst/>
                                            </a:prstGeom>
                                            <a:ln w="9525" cap="flat" cmpd="sng">
                                              <a:solidFill>
                                                <a:schemeClr val="tx1"/>
                                              </a:solidFill>
                                              <a:prstDash val="solid"/>
                                              <a:headEnd type="none" w="med" len="med"/>
                                              <a:tailEnd type="none" w="med" len="med"/>
                                            </a:ln>
                                          </p:spPr>
                                        </p:sp>
                                        <p:sp>
                                          <p:nvSpPr>
                                            <p:cNvPr id="11518" name="Line 1098"/>
                                            <p:cNvSpPr/>
                                            <p:nvPr/>
                                          </p:nvSpPr>
                                          <p:spPr>
                                            <a:xfrm flipV="1">
                                              <a:off x="133" y="0"/>
                                              <a:ext cx="0" cy="100"/>
                                            </a:xfrm>
                                            <a:prstGeom prst="line">
                                              <a:avLst/>
                                            </a:prstGeom>
                                            <a:ln w="9525" cap="flat" cmpd="sng">
                                              <a:solidFill>
                                                <a:schemeClr val="tx1"/>
                                              </a:solidFill>
                                              <a:prstDash val="solid"/>
                                              <a:headEnd type="none" w="med" len="med"/>
                                              <a:tailEnd type="none" w="med" len="med"/>
                                            </a:ln>
                                          </p:spPr>
                                        </p:sp>
                                        <p:sp>
                                          <p:nvSpPr>
                                            <p:cNvPr id="11519" name="Line 1099"/>
                                            <p:cNvSpPr/>
                                            <p:nvPr/>
                                          </p:nvSpPr>
                                          <p:spPr>
                                            <a:xfrm flipV="1">
                                              <a:off x="187" y="0"/>
                                              <a:ext cx="0" cy="100"/>
                                            </a:xfrm>
                                            <a:prstGeom prst="line">
                                              <a:avLst/>
                                            </a:prstGeom>
                                            <a:ln w="9525" cap="flat" cmpd="sng">
                                              <a:solidFill>
                                                <a:schemeClr val="tx1"/>
                                              </a:solidFill>
                                              <a:prstDash val="solid"/>
                                              <a:headEnd type="none" w="med" len="med"/>
                                              <a:tailEnd type="none" w="med" len="med"/>
                                            </a:ln>
                                          </p:spPr>
                                        </p:sp>
                                        <p:sp>
                                          <p:nvSpPr>
                                            <p:cNvPr id="11520" name="Line 1100"/>
                                            <p:cNvSpPr/>
                                            <p:nvPr/>
                                          </p:nvSpPr>
                                          <p:spPr>
                                            <a:xfrm flipV="1">
                                              <a:off x="242" y="0"/>
                                              <a:ext cx="0" cy="100"/>
                                            </a:xfrm>
                                            <a:prstGeom prst="line">
                                              <a:avLst/>
                                            </a:prstGeom>
                                            <a:ln w="9525" cap="flat" cmpd="sng">
                                              <a:solidFill>
                                                <a:schemeClr val="tx1"/>
                                              </a:solidFill>
                                              <a:prstDash val="solid"/>
                                              <a:headEnd type="none" w="med" len="med"/>
                                              <a:tailEnd type="none" w="med" len="med"/>
                                            </a:ln>
                                          </p:spPr>
                                        </p:sp>
                                      </p:grpSp>
                                      <p:sp>
                                        <p:nvSpPr>
                                          <p:cNvPr id="11502" name="Rectangle 1101"/>
                                          <p:cNvSpPr/>
                                          <p:nvPr/>
                                        </p:nvSpPr>
                                        <p:spPr>
                                          <a:xfrm>
                                            <a:off x="490" y="62"/>
                                            <a:ext cx="271" cy="236"/>
                                          </a:xfrm>
                                          <a:prstGeom prst="rect">
                                            <a:avLst/>
                                          </a:prstGeom>
                                          <a:solidFill>
                                            <a:srgbClr val="99663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503" name="Group 1102"/>
                                          <p:cNvGrpSpPr/>
                                          <p:nvPr/>
                                        </p:nvGrpSpPr>
                                        <p:grpSpPr>
                                          <a:xfrm>
                                            <a:off x="177" y="153"/>
                                            <a:ext cx="118" cy="146"/>
                                            <a:chOff x="0" y="0"/>
                                            <a:chExt cx="118" cy="146"/>
                                          </a:xfrm>
                                        </p:grpSpPr>
                                        <p:grpSp>
                                          <p:nvGrpSpPr>
                                            <p:cNvPr id="11510" name="Group 1103"/>
                                            <p:cNvGrpSpPr/>
                                            <p:nvPr/>
                                          </p:nvGrpSpPr>
                                          <p:grpSpPr>
                                            <a:xfrm>
                                              <a:off x="0" y="90"/>
                                              <a:ext cx="118" cy="56"/>
                                              <a:chOff x="0" y="0"/>
                                              <a:chExt cx="118" cy="56"/>
                                            </a:xfrm>
                                          </p:grpSpPr>
                                          <p:sp>
                                            <p:nvSpPr>
                                              <p:cNvPr id="11512" name="Rectangle 1104"/>
                                              <p:cNvSpPr/>
                                              <p:nvPr/>
                                            </p:nvSpPr>
                                            <p:spPr>
                                              <a:xfrm>
                                                <a:off x="0" y="0"/>
                                                <a:ext cx="118" cy="23"/>
                                              </a:xfrm>
                                              <a:prstGeom prst="rect">
                                                <a:avLst/>
                                              </a:prstGeom>
                                              <a:solidFill>
                                                <a:srgbClr val="99663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13" name="Oval 1105"/>
                                              <p:cNvSpPr/>
                                              <p:nvPr/>
                                            </p:nvSpPr>
                                            <p:spPr>
                                              <a:xfrm>
                                                <a:off x="8" y="23"/>
                                                <a:ext cx="34" cy="33"/>
                                              </a:xfrm>
                                              <a:prstGeom prst="ellipse">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14" name="Oval 1106"/>
                                              <p:cNvSpPr/>
                                              <p:nvPr/>
                                            </p:nvSpPr>
                                            <p:spPr>
                                              <a:xfrm>
                                                <a:off x="76" y="23"/>
                                                <a:ext cx="34" cy="33"/>
                                              </a:xfrm>
                                              <a:prstGeom prst="ellipse">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511" name="Rectangle 1107"/>
                                            <p:cNvSpPr/>
                                            <p:nvPr/>
                                          </p:nvSpPr>
                                          <p:spPr>
                                            <a:xfrm>
                                              <a:off x="14" y="0"/>
                                              <a:ext cx="92" cy="91"/>
                                            </a:xfrm>
                                            <a:prstGeom prst="rect">
                                              <a:avLst/>
                                            </a:prstGeom>
                                            <a:solidFill>
                                              <a:srgbClr val="99663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504" name="Group 1108"/>
                                          <p:cNvGrpSpPr/>
                                          <p:nvPr/>
                                        </p:nvGrpSpPr>
                                        <p:grpSpPr>
                                          <a:xfrm>
                                            <a:off x="11" y="153"/>
                                            <a:ext cx="118" cy="146"/>
                                            <a:chOff x="0" y="0"/>
                                            <a:chExt cx="118" cy="146"/>
                                          </a:xfrm>
                                        </p:grpSpPr>
                                        <p:grpSp>
                                          <p:nvGrpSpPr>
                                            <p:cNvPr id="11505" name="Group 1109"/>
                                            <p:cNvGrpSpPr/>
                                            <p:nvPr/>
                                          </p:nvGrpSpPr>
                                          <p:grpSpPr>
                                            <a:xfrm>
                                              <a:off x="0" y="90"/>
                                              <a:ext cx="118" cy="56"/>
                                              <a:chOff x="0" y="0"/>
                                              <a:chExt cx="118" cy="56"/>
                                            </a:xfrm>
                                          </p:grpSpPr>
                                          <p:sp>
                                            <p:nvSpPr>
                                              <p:cNvPr id="11507" name="Rectangle 1110"/>
                                              <p:cNvSpPr/>
                                              <p:nvPr/>
                                            </p:nvSpPr>
                                            <p:spPr>
                                              <a:xfrm>
                                                <a:off x="0" y="0"/>
                                                <a:ext cx="118" cy="23"/>
                                              </a:xfrm>
                                              <a:prstGeom prst="rect">
                                                <a:avLst/>
                                              </a:prstGeom>
                                              <a:solidFill>
                                                <a:srgbClr val="99663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08" name="Oval 1111"/>
                                              <p:cNvSpPr/>
                                              <p:nvPr/>
                                            </p:nvSpPr>
                                            <p:spPr>
                                              <a:xfrm>
                                                <a:off x="8" y="23"/>
                                                <a:ext cx="34" cy="33"/>
                                              </a:xfrm>
                                              <a:prstGeom prst="ellipse">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509" name="Oval 1112"/>
                                              <p:cNvSpPr/>
                                              <p:nvPr/>
                                            </p:nvSpPr>
                                            <p:spPr>
                                              <a:xfrm>
                                                <a:off x="76" y="23"/>
                                                <a:ext cx="34" cy="33"/>
                                              </a:xfrm>
                                              <a:prstGeom prst="ellipse">
                                                <a:avLst/>
                                              </a:prstGeom>
                                              <a:solidFill>
                                                <a:srgbClr val="99663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506" name="Rectangle 1113"/>
                                            <p:cNvSpPr/>
                                            <p:nvPr/>
                                          </p:nvSpPr>
                                          <p:spPr>
                                            <a:xfrm>
                                              <a:off x="14" y="0"/>
                                              <a:ext cx="92" cy="91"/>
                                            </a:xfrm>
                                            <a:prstGeom prst="rect">
                                              <a:avLst/>
                                            </a:prstGeom>
                                            <a:solidFill>
                                              <a:srgbClr val="99663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sp>
                                    <p:nvSpPr>
                                      <p:cNvPr id="11427" name="Rectangle 1114"/>
                                      <p:cNvSpPr/>
                                      <p:nvPr/>
                                    </p:nvSpPr>
                                    <p:spPr>
                                      <a:xfrm>
                                        <a:off x="1536" y="590"/>
                                        <a:ext cx="1056" cy="144"/>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28" name="Rectangle 1115"/>
                                      <p:cNvSpPr/>
                                      <p:nvPr/>
                                    </p:nvSpPr>
                                    <p:spPr>
                                      <a:xfrm>
                                        <a:off x="2352" y="110"/>
                                        <a:ext cx="144" cy="1056"/>
                                      </a:xfrm>
                                      <a:prstGeom prst="rect">
                                        <a:avLst/>
                                      </a:prstGeom>
                                      <a:solidFill>
                                        <a:srgbClr val="FFFFCC"/>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429" name="Group 1116"/>
                                      <p:cNvGrpSpPr/>
                                      <p:nvPr/>
                                    </p:nvGrpSpPr>
                                    <p:grpSpPr>
                                      <a:xfrm>
                                        <a:off x="1537" y="734"/>
                                        <a:ext cx="816" cy="339"/>
                                        <a:chOff x="0" y="0"/>
                                        <a:chExt cx="816" cy="339"/>
                                      </a:xfrm>
                                    </p:grpSpPr>
                                    <p:grpSp>
                                      <p:nvGrpSpPr>
                                        <p:cNvPr id="11474" name="Group 1117"/>
                                        <p:cNvGrpSpPr/>
                                        <p:nvPr/>
                                      </p:nvGrpSpPr>
                                      <p:grpSpPr>
                                        <a:xfrm>
                                          <a:off x="413" y="39"/>
                                          <a:ext cx="326" cy="300"/>
                                          <a:chOff x="0" y="0"/>
                                          <a:chExt cx="326" cy="300"/>
                                        </a:xfrm>
                                      </p:grpSpPr>
                                      <p:grpSp>
                                        <p:nvGrpSpPr>
                                          <p:cNvPr id="11489" name="Group 1118"/>
                                          <p:cNvGrpSpPr/>
                                          <p:nvPr/>
                                        </p:nvGrpSpPr>
                                        <p:grpSpPr>
                                          <a:xfrm>
                                            <a:off x="0" y="0"/>
                                            <a:ext cx="143" cy="300"/>
                                            <a:chOff x="0" y="0"/>
                                            <a:chExt cx="143" cy="300"/>
                                          </a:xfrm>
                                        </p:grpSpPr>
                                        <p:sp>
                                          <p:nvSpPr>
                                            <p:cNvPr id="11494" name="Rectangle 1119"/>
                                            <p:cNvSpPr/>
                                            <p:nvPr/>
                                          </p:nvSpPr>
                                          <p:spPr>
                                            <a:xfrm>
                                              <a:off x="0" y="0"/>
                                              <a:ext cx="143" cy="300"/>
                                            </a:xfrm>
                                            <a:prstGeom prst="rect">
                                              <a:avLst/>
                                            </a:prstGeom>
                                            <a:solidFill>
                                              <a:srgbClr val="AFC2AE"/>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95" name="AutoShape 1120"/>
                                            <p:cNvSpPr/>
                                            <p:nvPr/>
                                          </p:nvSpPr>
                                          <p:spPr>
                                            <a:xfrm>
                                              <a:off x="21" y="30"/>
                                              <a:ext cx="41" cy="38"/>
                                            </a:xfrm>
                                            <a:prstGeom prst="roundRect">
                                              <a:avLst>
                                                <a:gd name="adj" fmla="val 16667"/>
                                              </a:avLst>
                                            </a:prstGeom>
                                            <a:solidFill>
                                              <a:srgbClr val="D5C5B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96" name="AutoShape 1121"/>
                                            <p:cNvSpPr/>
                                            <p:nvPr/>
                                          </p:nvSpPr>
                                          <p:spPr>
                                            <a:xfrm>
                                              <a:off x="82" y="30"/>
                                              <a:ext cx="40" cy="38"/>
                                            </a:xfrm>
                                            <a:prstGeom prst="roundRect">
                                              <a:avLst>
                                                <a:gd name="adj" fmla="val 16667"/>
                                              </a:avLst>
                                            </a:prstGeom>
                                            <a:solidFill>
                                              <a:srgbClr val="D5C5B3"/>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490" name="Line 1122"/>
                                          <p:cNvSpPr/>
                                          <p:nvPr/>
                                        </p:nvSpPr>
                                        <p:spPr>
                                          <a:xfrm>
                                            <a:off x="143" y="263"/>
                                            <a:ext cx="41" cy="0"/>
                                          </a:xfrm>
                                          <a:prstGeom prst="line">
                                            <a:avLst/>
                                          </a:prstGeom>
                                          <a:ln w="9525" cap="flat" cmpd="sng">
                                            <a:solidFill>
                                              <a:schemeClr val="tx1"/>
                                            </a:solidFill>
                                            <a:prstDash val="solid"/>
                                            <a:headEnd type="none" w="med" len="med"/>
                                            <a:tailEnd type="none" w="med" len="med"/>
                                          </a:ln>
                                        </p:spPr>
                                      </p:sp>
                                      <p:sp>
                                        <p:nvSpPr>
                                          <p:cNvPr id="11491" name="Line 1123"/>
                                          <p:cNvSpPr/>
                                          <p:nvPr/>
                                        </p:nvSpPr>
                                        <p:spPr>
                                          <a:xfrm>
                                            <a:off x="143" y="225"/>
                                            <a:ext cx="41" cy="0"/>
                                          </a:xfrm>
                                          <a:prstGeom prst="line">
                                            <a:avLst/>
                                          </a:prstGeom>
                                          <a:ln w="9525" cap="flat" cmpd="sng">
                                            <a:solidFill>
                                              <a:schemeClr val="tx1"/>
                                            </a:solidFill>
                                            <a:prstDash val="solid"/>
                                            <a:headEnd type="none" w="med" len="med"/>
                                            <a:tailEnd type="none" w="med" len="med"/>
                                          </a:ln>
                                        </p:spPr>
                                      </p:sp>
                                      <p:sp>
                                        <p:nvSpPr>
                                          <p:cNvPr id="11492" name="Rectangle 1124"/>
                                          <p:cNvSpPr/>
                                          <p:nvPr/>
                                        </p:nvSpPr>
                                        <p:spPr>
                                          <a:xfrm>
                                            <a:off x="163" y="150"/>
                                            <a:ext cx="163" cy="38"/>
                                          </a:xfrm>
                                          <a:prstGeom prst="rect">
                                            <a:avLst/>
                                          </a:prstGeom>
                                          <a:solidFill>
                                            <a:srgbClr val="D5C5B3"/>
                                          </a:solidFill>
                                          <a:ln w="12700"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sp>
                                        <p:nvSpPr>
                                          <p:cNvPr id="11493" name="Rectangle 1125"/>
                                          <p:cNvSpPr/>
                                          <p:nvPr/>
                                        </p:nvSpPr>
                                        <p:spPr>
                                          <a:xfrm>
                                            <a:off x="184" y="188"/>
                                            <a:ext cx="122" cy="112"/>
                                          </a:xfrm>
                                          <a:prstGeom prst="rect">
                                            <a:avLst/>
                                          </a:prstGeom>
                                          <a:solidFill>
                                            <a:srgbClr val="D5C5B3"/>
                                          </a:solidFill>
                                          <a:ln w="12700"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475" name="Group 1126"/>
                                        <p:cNvGrpSpPr/>
                                        <p:nvPr/>
                                      </p:nvGrpSpPr>
                                      <p:grpSpPr>
                                        <a:xfrm>
                                          <a:off x="0" y="0"/>
                                          <a:ext cx="816" cy="339"/>
                                          <a:chOff x="0" y="0"/>
                                          <a:chExt cx="816" cy="339"/>
                                        </a:xfrm>
                                      </p:grpSpPr>
                                      <p:grpSp>
                                        <p:nvGrpSpPr>
                                          <p:cNvPr id="11476" name="Group 1127"/>
                                          <p:cNvGrpSpPr/>
                                          <p:nvPr/>
                                        </p:nvGrpSpPr>
                                        <p:grpSpPr>
                                          <a:xfrm>
                                            <a:off x="100" y="109"/>
                                            <a:ext cx="158" cy="230"/>
                                            <a:chOff x="0" y="0"/>
                                            <a:chExt cx="158" cy="230"/>
                                          </a:xfrm>
                                        </p:grpSpPr>
                                        <p:sp>
                                          <p:nvSpPr>
                                            <p:cNvPr id="11483" name="Rectangle 1128"/>
                                            <p:cNvSpPr/>
                                            <p:nvPr/>
                                          </p:nvSpPr>
                                          <p:spPr>
                                            <a:xfrm>
                                              <a:off x="0" y="99"/>
                                              <a:ext cx="158" cy="66"/>
                                            </a:xfrm>
                                            <a:prstGeom prst="rect">
                                              <a:avLst/>
                                            </a:prstGeom>
                                            <a:solidFill>
                                              <a:srgbClr val="B4FF69"/>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84" name="Rectangle 1129"/>
                                            <p:cNvSpPr/>
                                            <p:nvPr/>
                                          </p:nvSpPr>
                                          <p:spPr>
                                            <a:xfrm>
                                              <a:off x="8" y="165"/>
                                              <a:ext cx="140" cy="65"/>
                                            </a:xfrm>
                                            <a:prstGeom prst="rect">
                                              <a:avLst/>
                                            </a:prstGeom>
                                            <a:solidFill>
                                              <a:srgbClr val="B4FF69"/>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sp>
                                          <p:nvSpPr>
                                            <p:cNvPr id="11485" name="Rectangle 1130"/>
                                            <p:cNvSpPr/>
                                            <p:nvPr/>
                                          </p:nvSpPr>
                                          <p:spPr>
                                            <a:xfrm>
                                              <a:off x="88" y="1"/>
                                              <a:ext cx="52" cy="98"/>
                                            </a:xfrm>
                                            <a:prstGeom prst="rect">
                                              <a:avLst/>
                                            </a:prstGeom>
                                            <a:solidFill>
                                              <a:srgbClr val="B4FF69"/>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86" name="Rectangle 1131"/>
                                            <p:cNvSpPr/>
                                            <p:nvPr/>
                                          </p:nvSpPr>
                                          <p:spPr>
                                            <a:xfrm>
                                              <a:off x="52" y="0"/>
                                              <a:ext cx="36" cy="52"/>
                                            </a:xfrm>
                                            <a:prstGeom prst="rect">
                                              <a:avLst/>
                                            </a:prstGeom>
                                            <a:solidFill>
                                              <a:srgbClr val="B4FF69"/>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87" name="Rectangle 1132"/>
                                            <p:cNvSpPr/>
                                            <p:nvPr/>
                                          </p:nvSpPr>
                                          <p:spPr>
                                            <a:xfrm>
                                              <a:off x="58" y="53"/>
                                              <a:ext cx="18" cy="10"/>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88" name="Rectangle 1133"/>
                                            <p:cNvSpPr/>
                                            <p:nvPr/>
                                          </p:nvSpPr>
                                          <p:spPr>
                                            <a:xfrm>
                                              <a:off x="62" y="62"/>
                                              <a:ext cx="8" cy="17"/>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sp>
                                        <p:nvSpPr>
                                          <p:cNvPr id="11477" name="Rectangle 1134"/>
                                          <p:cNvSpPr/>
                                          <p:nvPr/>
                                        </p:nvSpPr>
                                        <p:spPr>
                                          <a:xfrm>
                                            <a:off x="0" y="0"/>
                                            <a:ext cx="816" cy="339"/>
                                          </a:xfrm>
                                          <a:prstGeom prst="rect">
                                            <a:avLst/>
                                          </a:prstGeom>
                                          <a:noFill/>
                                          <a:ln w="12700"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78" name="Oval 1135"/>
                                          <p:cNvSpPr/>
                                          <p:nvPr/>
                                        </p:nvSpPr>
                                        <p:spPr>
                                          <a:xfrm>
                                            <a:off x="36" y="139"/>
                                            <a:ext cx="30" cy="35"/>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79" name="Freeform 1136"/>
                                          <p:cNvSpPr/>
                                          <p:nvPr/>
                                        </p:nvSpPr>
                                        <p:spPr>
                                          <a:xfrm>
                                            <a:off x="49" y="172"/>
                                            <a:ext cx="40" cy="167"/>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480" name="Line 1137"/>
                                          <p:cNvSpPr/>
                                          <p:nvPr/>
                                        </p:nvSpPr>
                                        <p:spPr>
                                          <a:xfrm flipH="1">
                                            <a:off x="33" y="272"/>
                                            <a:ext cx="38" cy="67"/>
                                          </a:xfrm>
                                          <a:prstGeom prst="line">
                                            <a:avLst/>
                                          </a:prstGeom>
                                          <a:ln w="12700" cap="flat" cmpd="sng">
                                            <a:solidFill>
                                              <a:schemeClr val="tx1"/>
                                            </a:solidFill>
                                            <a:prstDash val="solid"/>
                                            <a:headEnd type="none" w="med" len="med"/>
                                            <a:tailEnd type="none" w="med" len="med"/>
                                          </a:ln>
                                        </p:spPr>
                                      </p:sp>
                                      <p:sp>
                                        <p:nvSpPr>
                                          <p:cNvPr id="11481" name="Freeform 1138"/>
                                          <p:cNvSpPr/>
                                          <p:nvPr/>
                                        </p:nvSpPr>
                                        <p:spPr>
                                          <a:xfrm>
                                            <a:off x="50" y="184"/>
                                            <a:ext cx="55" cy="22"/>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482" name="Line 1139"/>
                                          <p:cNvSpPr/>
                                          <p:nvPr/>
                                        </p:nvSpPr>
                                        <p:spPr>
                                          <a:xfrm>
                                            <a:off x="556" y="339"/>
                                            <a:ext cx="41" cy="0"/>
                                          </a:xfrm>
                                          <a:prstGeom prst="line">
                                            <a:avLst/>
                                          </a:prstGeom>
                                          <a:ln w="12700" cap="flat" cmpd="sng">
                                            <a:solidFill>
                                              <a:schemeClr val="tx1"/>
                                            </a:solidFill>
                                            <a:prstDash val="solid"/>
                                            <a:headEnd type="none" w="med" len="med"/>
                                            <a:tailEnd type="none" w="med" len="med"/>
                                          </a:ln>
                                        </p:spPr>
                                      </p:sp>
                                    </p:grpSp>
                                  </p:grpSp>
                                  <p:sp>
                                    <p:nvSpPr>
                                      <p:cNvPr id="11430" name="Text Box 1140"/>
                                      <p:cNvSpPr txBox="1"/>
                                      <p:nvPr/>
                                    </p:nvSpPr>
                                    <p:spPr>
                                      <a:xfrm>
                                        <a:off x="1442" y="1059"/>
                                        <a:ext cx="454" cy="146"/>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机械加工</a:t>
                                        </a:r>
                                        <a:endParaRPr lang="zh-CN" altLang="zh-CN" sz="1400" dirty="0">
                                          <a:latin typeface="Times New Roman" panose="02020603050405020304" pitchFamily="18" charset="0"/>
                                          <a:ea typeface="黑体" panose="02010609060101010101" pitchFamily="49" charset="-122"/>
                                        </a:endParaRPr>
                                      </a:p>
                                    </p:txBody>
                                  </p:sp>
                                  <p:sp>
                                    <p:nvSpPr>
                                      <p:cNvPr id="11431" name="Text Box 1141"/>
                                      <p:cNvSpPr txBox="1"/>
                                      <p:nvPr/>
                                    </p:nvSpPr>
                                    <p:spPr>
                                      <a:xfrm>
                                        <a:off x="1787" y="552"/>
                                        <a:ext cx="380" cy="168"/>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自动线</a:t>
                                        </a:r>
                                        <a:endParaRPr lang="zh-CN" altLang="zh-CN" sz="1400" dirty="0">
                                          <a:latin typeface="Times New Roman" panose="02020603050405020304" pitchFamily="18" charset="0"/>
                                          <a:ea typeface="黑体" panose="02010609060101010101" pitchFamily="49" charset="-122"/>
                                        </a:endParaRPr>
                                      </a:p>
                                    </p:txBody>
                                  </p:sp>
                                  <p:sp>
                                    <p:nvSpPr>
                                      <p:cNvPr id="11432" name="Text Box 1142"/>
                                      <p:cNvSpPr txBox="1"/>
                                      <p:nvPr/>
                                    </p:nvSpPr>
                                    <p:spPr>
                                      <a:xfrm>
                                        <a:off x="1950" y="1059"/>
                                        <a:ext cx="380" cy="146"/>
                                      </a:xfrm>
                                      <a:prstGeom prst="rect">
                                        <a:avLst/>
                                      </a:prstGeom>
                                      <a:noFill/>
                                      <a:ln w="9525">
                                        <a:noFill/>
                                      </a:ln>
                                    </p:spPr>
                                    <p:txBody>
                                      <a:bodyPr lIns="0" tIns="4320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dirty="0">
                                            <a:latin typeface="Times New Roman" panose="02020603050405020304" pitchFamily="18" charset="0"/>
                                            <a:ea typeface="黑体" panose="02010609060101010101" pitchFamily="49" charset="-122"/>
                                          </a:rPr>
                                          <a:t>热处理</a:t>
                                        </a:r>
                                        <a:endParaRPr lang="zh-CN" altLang="zh-CN" sz="1400" dirty="0">
                                          <a:latin typeface="Times New Roman" panose="02020603050405020304" pitchFamily="18" charset="0"/>
                                          <a:ea typeface="黑体" panose="02010609060101010101" pitchFamily="49" charset="-122"/>
                                        </a:endParaRPr>
                                      </a:p>
                                    </p:txBody>
                                  </p:sp>
                                  <p:sp>
                                    <p:nvSpPr>
                                      <p:cNvPr id="11433" name="Arc 1143"/>
                                      <p:cNvSpPr/>
                                      <p:nvPr/>
                                    </p:nvSpPr>
                                    <p:spPr>
                                      <a:xfrm flipV="1">
                                        <a:off x="2400" y="1166"/>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grpSp>
                                    <p:nvGrpSpPr>
                                      <p:cNvPr id="11434" name="Group 1144"/>
                                      <p:cNvGrpSpPr/>
                                      <p:nvPr/>
                                    </p:nvGrpSpPr>
                                    <p:grpSpPr>
                                      <a:xfrm>
                                        <a:off x="1543" y="206"/>
                                        <a:ext cx="815" cy="384"/>
                                        <a:chOff x="0" y="0"/>
                                        <a:chExt cx="815" cy="384"/>
                                      </a:xfrm>
                                    </p:grpSpPr>
                                    <p:sp>
                                      <p:nvSpPr>
                                        <p:cNvPr id="11435" name="Rectangle 1145"/>
                                        <p:cNvSpPr/>
                                        <p:nvPr/>
                                      </p:nvSpPr>
                                      <p:spPr>
                                        <a:xfrm>
                                          <a:off x="0" y="0"/>
                                          <a:ext cx="815" cy="383"/>
                                        </a:xfrm>
                                        <a:prstGeom prst="rect">
                                          <a:avLst/>
                                        </a:prstGeom>
                                        <a:no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436" name="Group 1146"/>
                                        <p:cNvGrpSpPr/>
                                        <p:nvPr/>
                                      </p:nvGrpSpPr>
                                      <p:grpSpPr>
                                        <a:xfrm>
                                          <a:off x="27" y="192"/>
                                          <a:ext cx="72" cy="191"/>
                                          <a:chOff x="0" y="0"/>
                                          <a:chExt cx="72" cy="183"/>
                                        </a:xfrm>
                                      </p:grpSpPr>
                                      <p:sp>
                                        <p:nvSpPr>
                                          <p:cNvPr id="11470" name="Oval 1147"/>
                                          <p:cNvSpPr/>
                                          <p:nvPr/>
                                        </p:nvSpPr>
                                        <p:spPr>
                                          <a:xfrm>
                                            <a:off x="3" y="0"/>
                                            <a:ext cx="30" cy="32"/>
                                          </a:xfrm>
                                          <a:prstGeom prst="ellipse">
                                            <a:avLst/>
                                          </a:prstGeom>
                                          <a:noFill/>
                                          <a:ln w="12700"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71" name="Freeform 1148"/>
                                          <p:cNvSpPr/>
                                          <p:nvPr/>
                                        </p:nvSpPr>
                                        <p:spPr>
                                          <a:xfrm>
                                            <a:off x="16" y="30"/>
                                            <a:ext cx="40" cy="153"/>
                                          </a:xfrm>
                                          <a:custGeom>
                                            <a:avLst/>
                                            <a:gdLst>
                                              <a:gd name="txL" fmla="*/ 0 w 227"/>
                                              <a:gd name="txT" fmla="*/ 0 h 780"/>
                                              <a:gd name="txR" fmla="*/ 227 w 227"/>
                                              <a:gd name="txB" fmla="*/ 780 h 780"/>
                                            </a:gdLst>
                                            <a:ahLst/>
                                            <a:cxnLst>
                                              <a:cxn ang="0">
                                                <a:pos x="0" y="0"/>
                                              </a:cxn>
                                              <a:cxn ang="0">
                                                <a:pos x="0" y="0"/>
                                              </a:cxn>
                                              <a:cxn ang="0">
                                                <a:pos x="0" y="0"/>
                                              </a:cxn>
                                              <a:cxn ang="0">
                                                <a:pos x="0" y="0"/>
                                              </a:cxn>
                                            </a:cxnLst>
                                            <a:rect l="txL" t="txT" r="txR" b="txB"/>
                                            <a:pathLst>
                                              <a:path w="227" h="780">
                                                <a:moveTo>
                                                  <a:pt x="17" y="0"/>
                                                </a:moveTo>
                                                <a:cubicBezTo>
                                                  <a:pt x="8" y="117"/>
                                                  <a:pt x="0" y="234"/>
                                                  <a:pt x="17" y="312"/>
                                                </a:cubicBezTo>
                                                <a:cubicBezTo>
                                                  <a:pt x="34" y="390"/>
                                                  <a:pt x="87" y="390"/>
                                                  <a:pt x="122" y="468"/>
                                                </a:cubicBezTo>
                                                <a:cubicBezTo>
                                                  <a:pt x="157" y="546"/>
                                                  <a:pt x="210" y="702"/>
                                                  <a:pt x="227" y="780"/>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472" name="Line 1149"/>
                                          <p:cNvSpPr/>
                                          <p:nvPr/>
                                        </p:nvSpPr>
                                        <p:spPr>
                                          <a:xfrm flipH="1">
                                            <a:off x="0" y="122"/>
                                            <a:ext cx="38" cy="61"/>
                                          </a:xfrm>
                                          <a:prstGeom prst="line">
                                            <a:avLst/>
                                          </a:prstGeom>
                                          <a:ln w="12700" cap="flat" cmpd="sng">
                                            <a:solidFill>
                                              <a:schemeClr val="tx1"/>
                                            </a:solidFill>
                                            <a:prstDash val="solid"/>
                                            <a:headEnd type="none" w="med" len="med"/>
                                            <a:tailEnd type="none" w="med" len="med"/>
                                          </a:ln>
                                        </p:spPr>
                                      </p:sp>
                                      <p:sp>
                                        <p:nvSpPr>
                                          <p:cNvPr id="11473" name="Freeform 1150"/>
                                          <p:cNvSpPr/>
                                          <p:nvPr/>
                                        </p:nvSpPr>
                                        <p:spPr>
                                          <a:xfrm>
                                            <a:off x="17" y="41"/>
                                            <a:ext cx="55" cy="20"/>
                                          </a:xfrm>
                                          <a:custGeom>
                                            <a:avLst/>
                                            <a:gdLst>
                                              <a:gd name="txL" fmla="*/ 0 w 420"/>
                                              <a:gd name="txT" fmla="*/ 0 h 182"/>
                                              <a:gd name="txR" fmla="*/ 420 w 420"/>
                                              <a:gd name="txB" fmla="*/ 182 h 182"/>
                                            </a:gdLst>
                                            <a:ahLst/>
                                            <a:cxnLst>
                                              <a:cxn ang="0">
                                                <a:pos x="0" y="0"/>
                                              </a:cxn>
                                              <a:cxn ang="0">
                                                <a:pos x="0" y="0"/>
                                              </a:cxn>
                                              <a:cxn ang="0">
                                                <a:pos x="0" y="0"/>
                                              </a:cxn>
                                            </a:cxnLst>
                                            <a:rect l="txL" t="txT" r="txR" b="txB"/>
                                            <a:pathLst>
                                              <a:path w="420" h="182">
                                                <a:moveTo>
                                                  <a:pt x="0" y="0"/>
                                                </a:moveTo>
                                                <a:cubicBezTo>
                                                  <a:pt x="17" y="65"/>
                                                  <a:pt x="35" y="130"/>
                                                  <a:pt x="105" y="156"/>
                                                </a:cubicBezTo>
                                                <a:cubicBezTo>
                                                  <a:pt x="175" y="182"/>
                                                  <a:pt x="297" y="169"/>
                                                  <a:pt x="420" y="156"/>
                                                </a:cubicBezTo>
                                              </a:path>
                                            </a:pathLst>
                                          </a:custGeom>
                                          <a:noFill/>
                                          <a:ln w="12700" cap="flat" cmpd="sng">
                                            <a:solidFill>
                                              <a:schemeClr val="tx1">
                                                <a:alpha val="100000"/>
                                              </a:schemeClr>
                                            </a:solidFill>
                                            <a:prstDash val="solid"/>
                                            <a:miter lim="800000"/>
                                            <a:headEnd type="none" w="med" len="med"/>
                                            <a:tailEnd type="none" w="med" len="med"/>
                                          </a:ln>
                                        </p:spPr>
                                        <p:txBody>
                                          <a:bodyPr/>
                                          <a:p>
                                            <a:endParaRPr lang="zh-CN" altLang="en-US"/>
                                          </a:p>
                                        </p:txBody>
                                      </p:sp>
                                    </p:grpSp>
                                    <p:grpSp>
                                      <p:nvGrpSpPr>
                                        <p:cNvPr id="11437" name="Group 1151"/>
                                        <p:cNvGrpSpPr/>
                                        <p:nvPr/>
                                      </p:nvGrpSpPr>
                                      <p:grpSpPr>
                                        <a:xfrm>
                                          <a:off x="106" y="175"/>
                                          <a:ext cx="85" cy="209"/>
                                          <a:chOff x="0" y="0"/>
                                          <a:chExt cx="85" cy="200"/>
                                        </a:xfrm>
                                      </p:grpSpPr>
                                      <p:sp>
                                        <p:nvSpPr>
                                          <p:cNvPr id="11466" name="Rectangle 1152"/>
                                          <p:cNvSpPr/>
                                          <p:nvPr/>
                                        </p:nvSpPr>
                                        <p:spPr>
                                          <a:xfrm>
                                            <a:off x="0" y="0"/>
                                            <a:ext cx="85" cy="200"/>
                                          </a:xfrm>
                                          <a:prstGeom prst="rect">
                                            <a:avLst/>
                                          </a:prstGeom>
                                          <a:solidFill>
                                            <a:schemeClr val="folHlink"/>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467" name="Group 1153"/>
                                          <p:cNvGrpSpPr/>
                                          <p:nvPr/>
                                        </p:nvGrpSpPr>
                                        <p:grpSpPr>
                                          <a:xfrm>
                                            <a:off x="18" y="16"/>
                                            <a:ext cx="50" cy="50"/>
                                            <a:chOff x="0" y="0"/>
                                            <a:chExt cx="45" cy="50"/>
                                          </a:xfrm>
                                        </p:grpSpPr>
                                        <p:sp>
                                          <p:nvSpPr>
                                            <p:cNvPr id="11468" name="Oval 1154"/>
                                            <p:cNvSpPr/>
                                            <p:nvPr/>
                                          </p:nvSpPr>
                                          <p:spPr>
                                            <a:xfrm>
                                              <a:off x="0" y="0"/>
                                              <a:ext cx="45" cy="50"/>
                                            </a:xfrm>
                                            <a:prstGeom prst="ellipse">
                                              <a:avLst/>
                                            </a:prstGeom>
                                            <a:solidFill>
                                              <a:srgbClr val="0080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69" name="Oval 1155"/>
                                            <p:cNvSpPr/>
                                            <p:nvPr/>
                                          </p:nvSpPr>
                                          <p:spPr>
                                            <a:xfrm>
                                              <a:off x="11" y="11"/>
                                              <a:ext cx="23" cy="27"/>
                                            </a:xfrm>
                                            <a:prstGeom prst="ellipse">
                                              <a:avLst/>
                                            </a:prstGeom>
                                            <a:solidFill>
                                              <a:srgbClr val="008000"/>
                                            </a:solid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nvGrpSpPr>
                                        <p:cNvPr id="11438" name="Group 1156"/>
                                        <p:cNvGrpSpPr/>
                                        <p:nvPr/>
                                      </p:nvGrpSpPr>
                                      <p:grpSpPr>
                                        <a:xfrm>
                                          <a:off x="244" y="188"/>
                                          <a:ext cx="489" cy="196"/>
                                          <a:chOff x="0" y="0"/>
                                          <a:chExt cx="489" cy="188"/>
                                        </a:xfrm>
                                      </p:grpSpPr>
                                      <p:sp>
                                        <p:nvSpPr>
                                          <p:cNvPr id="11439" name="Rectangle 1157"/>
                                          <p:cNvSpPr/>
                                          <p:nvPr/>
                                        </p:nvSpPr>
                                        <p:spPr>
                                          <a:xfrm>
                                            <a:off x="234" y="122"/>
                                            <a:ext cx="27" cy="61"/>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40" name="Rectangle 1158"/>
                                          <p:cNvSpPr/>
                                          <p:nvPr/>
                                        </p:nvSpPr>
                                        <p:spPr>
                                          <a:xfrm>
                                            <a:off x="0" y="122"/>
                                            <a:ext cx="27" cy="61"/>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441" name="Group 1159"/>
                                          <p:cNvGrpSpPr/>
                                          <p:nvPr/>
                                        </p:nvGrpSpPr>
                                        <p:grpSpPr>
                                          <a:xfrm>
                                            <a:off x="0" y="0"/>
                                            <a:ext cx="489" cy="121"/>
                                            <a:chOff x="0" y="0"/>
                                            <a:chExt cx="945" cy="206"/>
                                          </a:xfrm>
                                        </p:grpSpPr>
                                        <p:sp>
                                          <p:nvSpPr>
                                            <p:cNvPr id="11445" name="Rectangle 1160"/>
                                            <p:cNvSpPr/>
                                            <p:nvPr/>
                                          </p:nvSpPr>
                                          <p:spPr>
                                            <a:xfrm>
                                              <a:off x="0" y="158"/>
                                              <a:ext cx="945" cy="48"/>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nvGrpSpPr>
                                            <p:cNvPr id="11446" name="Group 1161"/>
                                            <p:cNvGrpSpPr/>
                                            <p:nvPr/>
                                          </p:nvGrpSpPr>
                                          <p:grpSpPr>
                                            <a:xfrm>
                                              <a:off x="93" y="0"/>
                                              <a:ext cx="123" cy="158"/>
                                              <a:chOff x="0" y="0"/>
                                              <a:chExt cx="245" cy="334"/>
                                            </a:xfrm>
                                          </p:grpSpPr>
                                          <p:sp>
                                            <p:nvSpPr>
                                              <p:cNvPr id="11462" name="Rectangle 1162"/>
                                              <p:cNvSpPr/>
                                              <p:nvPr/>
                                            </p:nvSpPr>
                                            <p:spPr>
                                              <a:xfrm>
                                                <a:off x="0" y="0"/>
                                                <a:ext cx="245" cy="334"/>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63" name="Rectangle 1163"/>
                                              <p:cNvSpPr/>
                                              <p:nvPr/>
                                            </p:nvSpPr>
                                            <p:spPr>
                                              <a:xfrm>
                                                <a:off x="57" y="2"/>
                                                <a:ext cx="136" cy="178"/>
                                              </a:xfrm>
                                              <a:prstGeom prst="rect">
                                                <a:avLst/>
                                              </a:prstGeom>
                                              <a:solidFill>
                                                <a:srgbClr val="82AC84"/>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64" name="Rectangle 1164"/>
                                              <p:cNvSpPr/>
                                              <p:nvPr/>
                                            </p:nvSpPr>
                                            <p:spPr>
                                              <a:xfrm>
                                                <a:off x="85" y="178"/>
                                                <a:ext cx="81" cy="32"/>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65" name="Rectangle 1165"/>
                                              <p:cNvSpPr/>
                                              <p:nvPr/>
                                            </p:nvSpPr>
                                            <p:spPr>
                                              <a:xfrm>
                                                <a:off x="103" y="208"/>
                                                <a:ext cx="40" cy="56"/>
                                              </a:xfrm>
                                              <a:prstGeom prst="rect">
                                                <a:avLst/>
                                              </a:prstGeom>
                                              <a:solidFill>
                                                <a:srgbClr val="82AC84"/>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447" name="Group 1166"/>
                                            <p:cNvGrpSpPr/>
                                            <p:nvPr/>
                                          </p:nvGrpSpPr>
                                          <p:grpSpPr>
                                            <a:xfrm>
                                              <a:off x="315" y="0"/>
                                              <a:ext cx="123" cy="158"/>
                                              <a:chOff x="0" y="0"/>
                                              <a:chExt cx="245" cy="334"/>
                                            </a:xfrm>
                                          </p:grpSpPr>
                                          <p:sp>
                                            <p:nvSpPr>
                                              <p:cNvPr id="11458" name="Rectangle 1167"/>
                                              <p:cNvSpPr/>
                                              <p:nvPr/>
                                            </p:nvSpPr>
                                            <p:spPr>
                                              <a:xfrm>
                                                <a:off x="0" y="0"/>
                                                <a:ext cx="245" cy="334"/>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59" name="Rectangle 1168"/>
                                              <p:cNvSpPr/>
                                              <p:nvPr/>
                                            </p:nvSpPr>
                                            <p:spPr>
                                              <a:xfrm>
                                                <a:off x="57" y="2"/>
                                                <a:ext cx="136" cy="178"/>
                                              </a:xfrm>
                                              <a:prstGeom prst="rect">
                                                <a:avLst/>
                                              </a:prstGeom>
                                              <a:solidFill>
                                                <a:srgbClr val="82AC84"/>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60" name="Rectangle 1169"/>
                                              <p:cNvSpPr/>
                                              <p:nvPr/>
                                            </p:nvSpPr>
                                            <p:spPr>
                                              <a:xfrm>
                                                <a:off x="85" y="178"/>
                                                <a:ext cx="81" cy="32"/>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61" name="Rectangle 1170"/>
                                              <p:cNvSpPr/>
                                              <p:nvPr/>
                                            </p:nvSpPr>
                                            <p:spPr>
                                              <a:xfrm>
                                                <a:off x="103" y="208"/>
                                                <a:ext cx="40" cy="56"/>
                                              </a:xfrm>
                                              <a:prstGeom prst="rect">
                                                <a:avLst/>
                                              </a:prstGeom>
                                              <a:solidFill>
                                                <a:srgbClr val="82AC84"/>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448" name="Group 1171"/>
                                            <p:cNvGrpSpPr/>
                                            <p:nvPr/>
                                          </p:nvGrpSpPr>
                                          <p:grpSpPr>
                                            <a:xfrm>
                                              <a:off x="525" y="0"/>
                                              <a:ext cx="123" cy="158"/>
                                              <a:chOff x="0" y="0"/>
                                              <a:chExt cx="245" cy="334"/>
                                            </a:xfrm>
                                          </p:grpSpPr>
                                          <p:sp>
                                            <p:nvSpPr>
                                              <p:cNvPr id="11454" name="Rectangle 1172"/>
                                              <p:cNvSpPr/>
                                              <p:nvPr/>
                                            </p:nvSpPr>
                                            <p:spPr>
                                              <a:xfrm>
                                                <a:off x="0" y="0"/>
                                                <a:ext cx="245" cy="334"/>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55" name="Rectangle 1173"/>
                                              <p:cNvSpPr/>
                                              <p:nvPr/>
                                            </p:nvSpPr>
                                            <p:spPr>
                                              <a:xfrm>
                                                <a:off x="57" y="2"/>
                                                <a:ext cx="136" cy="178"/>
                                              </a:xfrm>
                                              <a:prstGeom prst="rect">
                                                <a:avLst/>
                                              </a:prstGeom>
                                              <a:solidFill>
                                                <a:srgbClr val="82AC84"/>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56" name="Rectangle 1174"/>
                                              <p:cNvSpPr/>
                                              <p:nvPr/>
                                            </p:nvSpPr>
                                            <p:spPr>
                                              <a:xfrm>
                                                <a:off x="85" y="178"/>
                                                <a:ext cx="81" cy="32"/>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57" name="Rectangle 1175"/>
                                              <p:cNvSpPr/>
                                              <p:nvPr/>
                                            </p:nvSpPr>
                                            <p:spPr>
                                              <a:xfrm>
                                                <a:off x="103" y="208"/>
                                                <a:ext cx="40" cy="56"/>
                                              </a:xfrm>
                                              <a:prstGeom prst="rect">
                                                <a:avLst/>
                                              </a:prstGeom>
                                              <a:solidFill>
                                                <a:srgbClr val="82AC84"/>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449" name="Group 1176"/>
                                            <p:cNvGrpSpPr/>
                                            <p:nvPr/>
                                          </p:nvGrpSpPr>
                                          <p:grpSpPr>
                                            <a:xfrm>
                                              <a:off x="735" y="0"/>
                                              <a:ext cx="123" cy="158"/>
                                              <a:chOff x="0" y="0"/>
                                              <a:chExt cx="245" cy="334"/>
                                            </a:xfrm>
                                          </p:grpSpPr>
                                          <p:sp>
                                            <p:nvSpPr>
                                              <p:cNvPr id="11450" name="Rectangle 1177"/>
                                              <p:cNvSpPr/>
                                              <p:nvPr/>
                                            </p:nvSpPr>
                                            <p:spPr>
                                              <a:xfrm>
                                                <a:off x="0" y="0"/>
                                                <a:ext cx="245" cy="334"/>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51" name="Rectangle 1178"/>
                                              <p:cNvSpPr/>
                                              <p:nvPr/>
                                            </p:nvSpPr>
                                            <p:spPr>
                                              <a:xfrm>
                                                <a:off x="57" y="2"/>
                                                <a:ext cx="136" cy="178"/>
                                              </a:xfrm>
                                              <a:prstGeom prst="rect">
                                                <a:avLst/>
                                              </a:prstGeom>
                                              <a:solidFill>
                                                <a:srgbClr val="82AC84"/>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52" name="Rectangle 1179"/>
                                              <p:cNvSpPr/>
                                              <p:nvPr/>
                                            </p:nvSpPr>
                                            <p:spPr>
                                              <a:xfrm>
                                                <a:off x="85" y="178"/>
                                                <a:ext cx="81" cy="32"/>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53" name="Rectangle 1180"/>
                                              <p:cNvSpPr/>
                                              <p:nvPr/>
                                            </p:nvSpPr>
                                            <p:spPr>
                                              <a:xfrm>
                                                <a:off x="103" y="208"/>
                                                <a:ext cx="40" cy="56"/>
                                              </a:xfrm>
                                              <a:prstGeom prst="rect">
                                                <a:avLst/>
                                              </a:prstGeom>
                                              <a:solidFill>
                                                <a:srgbClr val="82AC84"/>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latin typeface="Arial" panose="020B0604020202020204" pitchFamily="34" charset="0"/>
                                                </a:endParaRPr>
                                              </a:p>
                                            </p:txBody>
                                          </p:sp>
                                        </p:grpSp>
                                      </p:grpSp>
                                      <p:sp>
                                        <p:nvSpPr>
                                          <p:cNvPr id="11442" name="Rectangle 1181"/>
                                          <p:cNvSpPr/>
                                          <p:nvPr/>
                                        </p:nvSpPr>
                                        <p:spPr>
                                          <a:xfrm>
                                            <a:off x="462" y="122"/>
                                            <a:ext cx="27" cy="61"/>
                                          </a:xfrm>
                                          <a:prstGeom prst="rect">
                                            <a:avLst/>
                                          </a:prstGeom>
                                          <a:solidFill>
                                            <a:srgbClr val="33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43" name="AutoShape 1182"/>
                                          <p:cNvSpPr/>
                                          <p:nvPr/>
                                        </p:nvSpPr>
                                        <p:spPr>
                                          <a:xfrm>
                                            <a:off x="48" y="161"/>
                                            <a:ext cx="163" cy="27"/>
                                          </a:xfrm>
                                          <a:prstGeom prst="roundRect">
                                            <a:avLst>
                                              <a:gd name="adj" fmla="val 16667"/>
                                            </a:avLst>
                                          </a:prstGeom>
                                          <a:no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44" name="AutoShape 1183"/>
                                          <p:cNvSpPr/>
                                          <p:nvPr/>
                                        </p:nvSpPr>
                                        <p:spPr>
                                          <a:xfrm>
                                            <a:off x="279" y="161"/>
                                            <a:ext cx="163" cy="27"/>
                                          </a:xfrm>
                                          <a:prstGeom prst="roundRect">
                                            <a:avLst>
                                              <a:gd name="adj" fmla="val 16667"/>
                                            </a:avLst>
                                          </a:prstGeom>
                                          <a:noFill/>
                                          <a:ln w="9525" cap="flat" cmpd="sng">
                                            <a:solidFill>
                                              <a:schemeClr val="tx1"/>
                                            </a:solidFill>
                                            <a:prstDash val="solid"/>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grpSp>
                                <p:sp>
                                  <p:nvSpPr>
                                    <p:cNvPr id="11417" name="Line 1184"/>
                                    <p:cNvSpPr/>
                                    <p:nvPr/>
                                  </p:nvSpPr>
                                  <p:spPr>
                                    <a:xfrm>
                                      <a:off x="1392" y="206"/>
                                      <a:ext cx="0" cy="864"/>
                                    </a:xfrm>
                                    <a:prstGeom prst="line">
                                      <a:avLst/>
                                    </a:prstGeom>
                                    <a:ln w="9525" cap="flat" cmpd="sng">
                                      <a:solidFill>
                                        <a:schemeClr val="tx1"/>
                                      </a:solidFill>
                                      <a:prstDash val="solid"/>
                                      <a:headEnd type="none" w="med" len="med"/>
                                      <a:tailEnd type="none" w="med" len="med"/>
                                    </a:ln>
                                  </p:spPr>
                                </p:sp>
                              </p:grpSp>
                            </p:grpSp>
                            <p:grpSp>
                              <p:nvGrpSpPr>
                                <p:cNvPr id="11382" name="Group 1185"/>
                                <p:cNvGrpSpPr/>
                                <p:nvPr/>
                              </p:nvGrpSpPr>
                              <p:grpSpPr>
                                <a:xfrm>
                                  <a:off x="1081" y="1200"/>
                                  <a:ext cx="1319" cy="389"/>
                                  <a:chOff x="0" y="0"/>
                                  <a:chExt cx="1319" cy="389"/>
                                </a:xfrm>
                              </p:grpSpPr>
                              <p:sp>
                                <p:nvSpPr>
                                  <p:cNvPr id="11402" name="Rectangle 1186"/>
                                  <p:cNvSpPr/>
                                  <p:nvPr/>
                                </p:nvSpPr>
                                <p:spPr>
                                  <a:xfrm>
                                    <a:off x="0" y="100"/>
                                    <a:ext cx="271" cy="100"/>
                                  </a:xfrm>
                                  <a:prstGeom prst="rect">
                                    <a:avLst/>
                                  </a:prstGeom>
                                  <a:solidFill>
                                    <a:srgbClr val="996600"/>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03" name="Line 1187"/>
                                  <p:cNvSpPr/>
                                  <p:nvPr/>
                                </p:nvSpPr>
                                <p:spPr>
                                  <a:xfrm>
                                    <a:off x="455" y="389"/>
                                    <a:ext cx="864" cy="0"/>
                                  </a:xfrm>
                                  <a:prstGeom prst="line">
                                    <a:avLst/>
                                  </a:prstGeom>
                                  <a:ln w="9525" cap="flat" cmpd="sng">
                                    <a:solidFill>
                                      <a:schemeClr val="tx1"/>
                                    </a:solidFill>
                                    <a:prstDash val="solid"/>
                                    <a:headEnd type="none" w="med" len="med"/>
                                    <a:tailEnd type="none" w="med" len="med"/>
                                  </a:ln>
                                </p:spPr>
                              </p:sp>
                              <p:sp>
                                <p:nvSpPr>
                                  <p:cNvPr id="11404" name="Rectangle 1188"/>
                                  <p:cNvSpPr/>
                                  <p:nvPr/>
                                </p:nvSpPr>
                                <p:spPr>
                                  <a:xfrm>
                                    <a:off x="12" y="0"/>
                                    <a:ext cx="27" cy="65"/>
                                  </a:xfrm>
                                  <a:prstGeom prst="rect">
                                    <a:avLst/>
                                  </a:prstGeom>
                                  <a:solidFill>
                                    <a:schemeClr val="bg1"/>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05" name="Rectangle 1189"/>
                                  <p:cNvSpPr/>
                                  <p:nvPr/>
                                </p:nvSpPr>
                                <p:spPr>
                                  <a:xfrm>
                                    <a:off x="67" y="0"/>
                                    <a:ext cx="26" cy="65"/>
                                  </a:xfrm>
                                  <a:prstGeom prst="rect">
                                    <a:avLst/>
                                  </a:prstGeom>
                                  <a:solidFill>
                                    <a:schemeClr val="bg1"/>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06" name="Rectangle 1190"/>
                                  <p:cNvSpPr/>
                                  <p:nvPr/>
                                </p:nvSpPr>
                                <p:spPr>
                                  <a:xfrm>
                                    <a:off x="121" y="0"/>
                                    <a:ext cx="26" cy="65"/>
                                  </a:xfrm>
                                  <a:prstGeom prst="rect">
                                    <a:avLst/>
                                  </a:prstGeom>
                                  <a:solidFill>
                                    <a:schemeClr val="bg1"/>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07" name="Rectangle 1191"/>
                                  <p:cNvSpPr/>
                                  <p:nvPr/>
                                </p:nvSpPr>
                                <p:spPr>
                                  <a:xfrm>
                                    <a:off x="175" y="0"/>
                                    <a:ext cx="26" cy="65"/>
                                  </a:xfrm>
                                  <a:prstGeom prst="rect">
                                    <a:avLst/>
                                  </a:prstGeom>
                                  <a:solidFill>
                                    <a:schemeClr val="bg1"/>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08" name="Rectangle 1192"/>
                                  <p:cNvSpPr/>
                                  <p:nvPr/>
                                </p:nvSpPr>
                                <p:spPr>
                                  <a:xfrm>
                                    <a:off x="229" y="0"/>
                                    <a:ext cx="27" cy="65"/>
                                  </a:xfrm>
                                  <a:prstGeom prst="rect">
                                    <a:avLst/>
                                  </a:prstGeom>
                                  <a:solidFill>
                                    <a:schemeClr val="bg1"/>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83" name="Group 1193"/>
                                <p:cNvGrpSpPr/>
                                <p:nvPr/>
                              </p:nvGrpSpPr>
                              <p:grpSpPr>
                                <a:xfrm>
                                  <a:off x="918" y="1707"/>
                                  <a:ext cx="450" cy="166"/>
                                  <a:chOff x="0" y="0"/>
                                  <a:chExt cx="450" cy="166"/>
                                </a:xfrm>
                              </p:grpSpPr>
                              <p:sp>
                                <p:nvSpPr>
                                  <p:cNvPr id="11398" name="Rectangle 1194"/>
                                  <p:cNvSpPr/>
                                  <p:nvPr/>
                                </p:nvSpPr>
                                <p:spPr>
                                  <a:xfrm>
                                    <a:off x="0" y="0"/>
                                    <a:ext cx="271" cy="166"/>
                                  </a:xfrm>
                                  <a:prstGeom prst="rect">
                                    <a:avLst/>
                                  </a:prstGeom>
                                  <a:solidFill>
                                    <a:srgbClr val="CCCCF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399" name="Rectangle 1195"/>
                                  <p:cNvSpPr/>
                                  <p:nvPr/>
                                </p:nvSpPr>
                                <p:spPr>
                                  <a:xfrm>
                                    <a:off x="45" y="28"/>
                                    <a:ext cx="135" cy="72"/>
                                  </a:xfrm>
                                  <a:prstGeom prst="rect">
                                    <a:avLst/>
                                  </a:prstGeom>
                                  <a:solidFill>
                                    <a:srgbClr val="D5C5B3"/>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00" name="Rectangle 1196"/>
                                  <p:cNvSpPr/>
                                  <p:nvPr/>
                                </p:nvSpPr>
                                <p:spPr>
                                  <a:xfrm>
                                    <a:off x="271" y="100"/>
                                    <a:ext cx="163" cy="66"/>
                                  </a:xfrm>
                                  <a:prstGeom prst="rect">
                                    <a:avLst/>
                                  </a:prstGeom>
                                  <a:solidFill>
                                    <a:srgbClr val="CCCCF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sp>
                                <p:nvSpPr>
                                  <p:cNvPr id="11401" name="Rectangle 1197"/>
                                  <p:cNvSpPr/>
                                  <p:nvPr/>
                                </p:nvSpPr>
                                <p:spPr>
                                  <a:xfrm>
                                    <a:off x="380" y="31"/>
                                    <a:ext cx="70" cy="100"/>
                                  </a:xfrm>
                                  <a:prstGeom prst="rect">
                                    <a:avLst/>
                                  </a:prstGeom>
                                  <a:solidFill>
                                    <a:srgbClr val="CCCCFF"/>
                                  </a:solidFill>
                                  <a:ln w="9525" cap="flat" cmpd="sng">
                                    <a:solidFill>
                                      <a:schemeClr val="tx1"/>
                                    </a:solidFill>
                                    <a:prstDash val="solid"/>
                                    <a:miter/>
                                    <a:headEnd type="none" w="med" len="med"/>
                                    <a:tailEnd type="none" w="med" len="med"/>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3000" dirty="0">
                                      <a:latin typeface="Arial" panose="020B0604020202020204" pitchFamily="34" charset="0"/>
                                    </a:endParaRPr>
                                  </a:p>
                                </p:txBody>
                              </p:sp>
                            </p:grpSp>
                            <p:grpSp>
                              <p:nvGrpSpPr>
                                <p:cNvPr id="11384" name="Group 1198"/>
                                <p:cNvGrpSpPr/>
                                <p:nvPr/>
                              </p:nvGrpSpPr>
                              <p:grpSpPr>
                                <a:xfrm>
                                  <a:off x="1392" y="293"/>
                                  <a:ext cx="1440" cy="1680"/>
                                  <a:chOff x="0" y="0"/>
                                  <a:chExt cx="1440" cy="1680"/>
                                </a:xfrm>
                              </p:grpSpPr>
                              <p:grpSp>
                                <p:nvGrpSpPr>
                                  <p:cNvPr id="11385" name="Group 1199"/>
                                  <p:cNvGrpSpPr/>
                                  <p:nvPr/>
                                </p:nvGrpSpPr>
                                <p:grpSpPr>
                                  <a:xfrm>
                                    <a:off x="144" y="0"/>
                                    <a:ext cx="1296" cy="1680"/>
                                    <a:chOff x="0" y="0"/>
                                    <a:chExt cx="1296" cy="1680"/>
                                  </a:xfrm>
                                </p:grpSpPr>
                                <p:sp>
                                  <p:nvSpPr>
                                    <p:cNvPr id="11387" name="Line 1200"/>
                                    <p:cNvSpPr/>
                                    <p:nvPr/>
                                  </p:nvSpPr>
                                  <p:spPr>
                                    <a:xfrm>
                                      <a:off x="957" y="768"/>
                                      <a:ext cx="99" cy="0"/>
                                    </a:xfrm>
                                    <a:prstGeom prst="line">
                                      <a:avLst/>
                                    </a:prstGeom>
                                    <a:ln w="9525" cap="flat" cmpd="sng">
                                      <a:solidFill>
                                        <a:schemeClr val="tx1"/>
                                      </a:solidFill>
                                      <a:prstDash val="solid"/>
                                      <a:headEnd type="none" w="med" len="med"/>
                                      <a:tailEnd type="none" w="med" len="med"/>
                                    </a:ln>
                                  </p:spPr>
                                </p:sp>
                                <p:sp>
                                  <p:nvSpPr>
                                    <p:cNvPr id="11388" name="Line 1201"/>
                                    <p:cNvSpPr/>
                                    <p:nvPr/>
                                  </p:nvSpPr>
                                  <p:spPr>
                                    <a:xfrm flipH="1">
                                      <a:off x="960" y="144"/>
                                      <a:ext cx="0" cy="480"/>
                                    </a:xfrm>
                                    <a:prstGeom prst="line">
                                      <a:avLst/>
                                    </a:prstGeom>
                                    <a:ln w="9525" cap="flat" cmpd="sng">
                                      <a:solidFill>
                                        <a:schemeClr val="tx1"/>
                                      </a:solidFill>
                                      <a:prstDash val="solid"/>
                                      <a:headEnd type="none" w="med" len="med"/>
                                      <a:tailEnd type="none" w="med" len="med"/>
                                    </a:ln>
                                  </p:spPr>
                                </p:sp>
                                <p:sp>
                                  <p:nvSpPr>
                                    <p:cNvPr id="11389" name="Line 1202"/>
                                    <p:cNvSpPr/>
                                    <p:nvPr/>
                                  </p:nvSpPr>
                                  <p:spPr>
                                    <a:xfrm>
                                      <a:off x="960" y="624"/>
                                      <a:ext cx="96" cy="0"/>
                                    </a:xfrm>
                                    <a:prstGeom prst="line">
                                      <a:avLst/>
                                    </a:prstGeom>
                                    <a:ln w="9525" cap="flat" cmpd="sng">
                                      <a:solidFill>
                                        <a:schemeClr val="tx1"/>
                                      </a:solidFill>
                                      <a:prstDash val="solid"/>
                                      <a:headEnd type="none" w="med" len="med"/>
                                      <a:tailEnd type="none" w="med" len="med"/>
                                    </a:ln>
                                  </p:spPr>
                                </p:sp>
                                <p:sp>
                                  <p:nvSpPr>
                                    <p:cNvPr id="11390" name="Line 1203"/>
                                    <p:cNvSpPr/>
                                    <p:nvPr/>
                                  </p:nvSpPr>
                                  <p:spPr>
                                    <a:xfrm>
                                      <a:off x="1056" y="96"/>
                                      <a:ext cx="0" cy="528"/>
                                    </a:xfrm>
                                    <a:prstGeom prst="line">
                                      <a:avLst/>
                                    </a:prstGeom>
                                    <a:ln w="9525" cap="flat" cmpd="sng">
                                      <a:solidFill>
                                        <a:schemeClr val="tx1"/>
                                      </a:solidFill>
                                      <a:prstDash val="solid"/>
                                      <a:headEnd type="none" w="med" len="med"/>
                                      <a:tailEnd type="none" w="med" len="med"/>
                                    </a:ln>
                                  </p:spPr>
                                </p:sp>
                                <p:sp>
                                  <p:nvSpPr>
                                    <p:cNvPr id="11391" name="Line 1204"/>
                                    <p:cNvSpPr/>
                                    <p:nvPr/>
                                  </p:nvSpPr>
                                  <p:spPr>
                                    <a:xfrm>
                                      <a:off x="960" y="768"/>
                                      <a:ext cx="0" cy="432"/>
                                    </a:xfrm>
                                    <a:prstGeom prst="line">
                                      <a:avLst/>
                                    </a:prstGeom>
                                    <a:ln w="9525" cap="flat" cmpd="sng">
                                      <a:solidFill>
                                        <a:schemeClr val="tx1"/>
                                      </a:solidFill>
                                      <a:prstDash val="solid"/>
                                      <a:headEnd type="none" w="med" len="med"/>
                                      <a:tailEnd type="none" w="med" len="med"/>
                                    </a:ln>
                                  </p:spPr>
                                </p:sp>
                                <p:sp>
                                  <p:nvSpPr>
                                    <p:cNvPr id="11392" name="Line 1205"/>
                                    <p:cNvSpPr/>
                                    <p:nvPr/>
                                  </p:nvSpPr>
                                  <p:spPr>
                                    <a:xfrm>
                                      <a:off x="0" y="1296"/>
                                      <a:ext cx="0" cy="384"/>
                                    </a:xfrm>
                                    <a:prstGeom prst="line">
                                      <a:avLst/>
                                    </a:prstGeom>
                                    <a:ln w="9525" cap="flat" cmpd="sng">
                                      <a:solidFill>
                                        <a:schemeClr val="tx1"/>
                                      </a:solidFill>
                                      <a:prstDash val="solid"/>
                                      <a:headEnd type="none" w="med" len="med"/>
                                      <a:tailEnd type="none" w="med" len="med"/>
                                    </a:ln>
                                  </p:spPr>
                                </p:sp>
                                <p:sp>
                                  <p:nvSpPr>
                                    <p:cNvPr id="11393" name="Line 1206"/>
                                    <p:cNvSpPr/>
                                    <p:nvPr/>
                                  </p:nvSpPr>
                                  <p:spPr>
                                    <a:xfrm flipH="1">
                                      <a:off x="1200" y="192"/>
                                      <a:ext cx="0" cy="1104"/>
                                    </a:xfrm>
                                    <a:prstGeom prst="line">
                                      <a:avLst/>
                                    </a:prstGeom>
                                    <a:ln w="9525" cap="flat" cmpd="sng">
                                      <a:solidFill>
                                        <a:schemeClr val="tx1"/>
                                      </a:solidFill>
                                      <a:prstDash val="solid"/>
                                      <a:headEnd type="none" w="med" len="med"/>
                                      <a:tailEnd type="none" w="med" len="med"/>
                                    </a:ln>
                                  </p:spPr>
                                </p:sp>
                                <p:sp>
                                  <p:nvSpPr>
                                    <p:cNvPr id="11394" name="Line 1207"/>
                                    <p:cNvSpPr/>
                                    <p:nvPr/>
                                  </p:nvSpPr>
                                  <p:spPr>
                                    <a:xfrm flipH="1">
                                      <a:off x="1056" y="768"/>
                                      <a:ext cx="0" cy="624"/>
                                    </a:xfrm>
                                    <a:prstGeom prst="line">
                                      <a:avLst/>
                                    </a:prstGeom>
                                    <a:ln w="9525" cap="flat" cmpd="sng">
                                      <a:solidFill>
                                        <a:schemeClr val="tx1"/>
                                      </a:solidFill>
                                      <a:prstDash val="solid"/>
                                      <a:headEnd type="none" w="med" len="med"/>
                                      <a:tailEnd type="none" w="med" len="med"/>
                                    </a:ln>
                                  </p:spPr>
                                </p:sp>
                                <p:sp>
                                  <p:nvSpPr>
                                    <p:cNvPr id="11395" name="Line 1208"/>
                                    <p:cNvSpPr/>
                                    <p:nvPr/>
                                  </p:nvSpPr>
                                  <p:spPr>
                                    <a:xfrm>
                                      <a:off x="1152" y="0"/>
                                      <a:ext cx="144" cy="0"/>
                                    </a:xfrm>
                                    <a:prstGeom prst="line">
                                      <a:avLst/>
                                    </a:prstGeom>
                                    <a:ln w="9525" cap="flat" cmpd="sng">
                                      <a:solidFill>
                                        <a:schemeClr val="tx1"/>
                                      </a:solidFill>
                                      <a:prstDash val="solid"/>
                                      <a:headEnd type="none" w="med" len="med"/>
                                      <a:tailEnd type="none" w="med" len="med"/>
                                    </a:ln>
                                  </p:spPr>
                                </p:sp>
                                <p:sp>
                                  <p:nvSpPr>
                                    <p:cNvPr id="11396" name="Arc 1209"/>
                                    <p:cNvSpPr/>
                                    <p:nvPr/>
                                  </p:nvSpPr>
                                  <p:spPr>
                                    <a:xfrm flipH="1">
                                      <a:off x="1056" y="0"/>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1397" name="Arc 1210"/>
                                    <p:cNvSpPr/>
                                    <p:nvPr/>
                                  </p:nvSpPr>
                                  <p:spPr>
                                    <a:xfrm flipH="1" flipV="1">
                                      <a:off x="1056" y="1392"/>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grpSp>
                              <p:sp>
                                <p:nvSpPr>
                                  <p:cNvPr id="11386" name="Line 1211"/>
                                  <p:cNvSpPr/>
                                  <p:nvPr/>
                                </p:nvSpPr>
                                <p:spPr>
                                  <a:xfrm>
                                    <a:off x="0" y="1296"/>
                                    <a:ext cx="0" cy="288"/>
                                  </a:xfrm>
                                  <a:prstGeom prst="line">
                                    <a:avLst/>
                                  </a:prstGeom>
                                  <a:ln w="9525" cap="flat" cmpd="sng">
                                    <a:solidFill>
                                      <a:schemeClr val="tx1"/>
                                    </a:solidFill>
                                    <a:prstDash val="solid"/>
                                    <a:headEnd type="none" w="med" len="med"/>
                                    <a:tailEnd type="none" w="med" len="med"/>
                                  </a:ln>
                                </p:spPr>
                              </p:sp>
                            </p:grpSp>
                          </p:grpSp>
                        </p:grpSp>
                        <p:sp>
                          <p:nvSpPr>
                            <p:cNvPr id="11328" name="Line 1212"/>
                            <p:cNvSpPr/>
                            <p:nvPr/>
                          </p:nvSpPr>
                          <p:spPr>
                            <a:xfrm>
                              <a:off x="2976" y="200"/>
                              <a:ext cx="0" cy="672"/>
                            </a:xfrm>
                            <a:prstGeom prst="line">
                              <a:avLst/>
                            </a:prstGeom>
                            <a:ln w="9525" cap="flat" cmpd="sng">
                              <a:solidFill>
                                <a:schemeClr val="tx1"/>
                              </a:solidFill>
                              <a:prstDash val="solid"/>
                              <a:headEnd type="none" w="med" len="med"/>
                              <a:tailEnd type="none" w="med" len="med"/>
                            </a:ln>
                          </p:spPr>
                        </p:sp>
                      </p:grpSp>
                    </p:grpSp>
                    <p:sp>
                      <p:nvSpPr>
                        <p:cNvPr id="11305" name="Line 1213"/>
                        <p:cNvSpPr/>
                        <p:nvPr/>
                      </p:nvSpPr>
                      <p:spPr>
                        <a:xfrm flipH="1" flipV="1">
                          <a:off x="2832" y="1152"/>
                          <a:ext cx="0" cy="240"/>
                        </a:xfrm>
                        <a:prstGeom prst="line">
                          <a:avLst/>
                        </a:prstGeom>
                        <a:ln w="9525" cap="flat" cmpd="sng">
                          <a:solidFill>
                            <a:schemeClr val="tx1"/>
                          </a:solidFill>
                          <a:prstDash val="solid"/>
                          <a:headEnd type="none" w="med" len="med"/>
                          <a:tailEnd type="none" w="med" len="med"/>
                        </a:ln>
                      </p:spPr>
                    </p:sp>
                    <p:sp>
                      <p:nvSpPr>
                        <p:cNvPr id="11306" name="Line 1214"/>
                        <p:cNvSpPr/>
                        <p:nvPr/>
                      </p:nvSpPr>
                      <p:spPr>
                        <a:xfrm flipV="1">
                          <a:off x="2928" y="1056"/>
                          <a:ext cx="1056" cy="0"/>
                        </a:xfrm>
                        <a:prstGeom prst="line">
                          <a:avLst/>
                        </a:prstGeom>
                        <a:ln w="9525" cap="flat" cmpd="sng">
                          <a:solidFill>
                            <a:schemeClr val="tx1"/>
                          </a:solidFill>
                          <a:prstDash val="solid"/>
                          <a:headEnd type="none" w="med" len="med"/>
                          <a:tailEnd type="none" w="med" len="med"/>
                        </a:ln>
                      </p:spPr>
                    </p:sp>
                  </p:grpSp>
                  <p:sp>
                    <p:nvSpPr>
                      <p:cNvPr id="11303" name="Line 1215"/>
                      <p:cNvSpPr/>
                      <p:nvPr/>
                    </p:nvSpPr>
                    <p:spPr>
                      <a:xfrm flipV="1">
                        <a:off x="2736" y="1584"/>
                        <a:ext cx="96" cy="0"/>
                      </a:xfrm>
                      <a:prstGeom prst="line">
                        <a:avLst/>
                      </a:prstGeom>
                      <a:ln w="9525" cap="flat" cmpd="sng">
                        <a:solidFill>
                          <a:schemeClr val="tx1"/>
                        </a:solidFill>
                        <a:prstDash val="solid"/>
                        <a:headEnd type="none" w="med" len="med"/>
                        <a:tailEnd type="none" w="med" len="med"/>
                      </a:ln>
                    </p:spPr>
                  </p:sp>
                </p:grpSp>
              </p:grpSp>
              <p:sp>
                <p:nvSpPr>
                  <p:cNvPr id="11282" name="Arc 1216"/>
                  <p:cNvSpPr/>
                  <p:nvPr/>
                </p:nvSpPr>
                <p:spPr>
                  <a:xfrm flipH="1">
                    <a:off x="2832" y="1056"/>
                    <a:ext cx="96" cy="96"/>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solidFill>
                    <a:srgbClr val="FFFFCC">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grpSp>
          </p:grpSp>
          <p:sp>
            <p:nvSpPr>
              <p:cNvPr id="11275" name="Line 1217"/>
              <p:cNvSpPr/>
              <p:nvPr/>
            </p:nvSpPr>
            <p:spPr>
              <a:xfrm flipV="1">
                <a:off x="4272" y="2592"/>
                <a:ext cx="0" cy="288"/>
              </a:xfrm>
              <a:prstGeom prst="line">
                <a:avLst/>
              </a:prstGeom>
              <a:ln w="9525" cap="flat" cmpd="sng">
                <a:solidFill>
                  <a:schemeClr val="tx1"/>
                </a:solidFill>
                <a:prstDash val="solid"/>
                <a:headEnd type="none" w="med" len="med"/>
                <a:tailEnd type="none" w="med" len="med"/>
              </a:ln>
            </p:spPr>
          </p:sp>
        </p:grpSp>
        <p:sp>
          <p:nvSpPr>
            <p:cNvPr id="11273" name="Text Box 1218"/>
            <p:cNvSpPr txBox="1"/>
            <p:nvPr/>
          </p:nvSpPr>
          <p:spPr>
            <a:xfrm>
              <a:off x="1248" y="3268"/>
              <a:ext cx="2553" cy="332"/>
            </a:xfrm>
            <a:prstGeom prst="rect">
              <a:avLst/>
            </a:prstGeom>
            <a:noFill/>
            <a:ln w="9525">
              <a:noFill/>
            </a:ln>
          </p:spPr>
          <p:txBody>
            <a:bodyPr tIns="4320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endParaRPr lang="zh-CN" altLang="zh-CN" sz="2400" dirty="0">
                <a:latin typeface="Times New Roman" panose="02020603050405020304" pitchFamily="18" charset="0"/>
                <a:ea typeface="黑体" panose="02010609060101010101" pitchFamily="49" charset="-122"/>
              </a:endParaRPr>
            </a:p>
          </p:txBody>
        </p:sp>
      </p:grpSp>
      <p:sp>
        <p:nvSpPr>
          <p:cNvPr id="11267" name="Rectangle 1221"/>
          <p:cNvSpPr/>
          <p:nvPr/>
        </p:nvSpPr>
        <p:spPr>
          <a:xfrm>
            <a:off x="1116013" y="168275"/>
            <a:ext cx="6851650" cy="1143000"/>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en-US" sz="4000" b="1" dirty="0">
                <a:solidFill>
                  <a:srgbClr val="FF0066"/>
                </a:solidFill>
                <a:latin typeface="华文中宋" panose="02010600040101010101" pitchFamily="2" charset="-122"/>
                <a:ea typeface="华文中宋" panose="02010600040101010101" pitchFamily="2" charset="-122"/>
              </a:rPr>
              <a:t>工艺方法</a:t>
            </a:r>
            <a:endParaRPr lang="zh-CN" altLang="zh-CN" sz="4000" b="1" dirty="0">
              <a:solidFill>
                <a:srgbClr val="FF0066"/>
              </a:solidFill>
              <a:latin typeface="华文中宋" panose="02010600040101010101" pitchFamily="2" charset="-122"/>
              <a:ea typeface="华文中宋" panose="02010600040101010101" pitchFamily="2" charset="-122"/>
            </a:endParaRPr>
          </a:p>
        </p:txBody>
      </p:sp>
      <p:sp>
        <p:nvSpPr>
          <p:cNvPr id="11268" name="圆角矩形标注 1220"/>
          <p:cNvSpPr/>
          <p:nvPr/>
        </p:nvSpPr>
        <p:spPr>
          <a:xfrm>
            <a:off x="0" y="2662238"/>
            <a:ext cx="1139825" cy="803275"/>
          </a:xfrm>
          <a:prstGeom prst="wedgeRoundRectCallout">
            <a:avLst>
              <a:gd name="adj1" fmla="val -17491"/>
              <a:gd name="adj2" fmla="val 79102"/>
              <a:gd name="adj3" fmla="val 16667"/>
            </a:avLst>
          </a:prstGeom>
          <a:solidFill>
            <a:schemeClr val="accent1"/>
          </a:solidFill>
          <a:ln w="12700" cap="flat" cmpd="sng">
            <a:solidFill>
              <a:srgbClr val="239595"/>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毛坯加工</a:t>
            </a:r>
            <a:endParaRPr lang="zh-CN" altLang="en-US" sz="1800" dirty="0"/>
          </a:p>
        </p:txBody>
      </p:sp>
      <p:sp>
        <p:nvSpPr>
          <p:cNvPr id="11269" name="圆角矩形标注 1221"/>
          <p:cNvSpPr/>
          <p:nvPr/>
        </p:nvSpPr>
        <p:spPr>
          <a:xfrm>
            <a:off x="3805238" y="2625725"/>
            <a:ext cx="1139825" cy="803275"/>
          </a:xfrm>
          <a:prstGeom prst="wedgeRoundRectCallout">
            <a:avLst>
              <a:gd name="adj1" fmla="val -17491"/>
              <a:gd name="adj2" fmla="val 79102"/>
              <a:gd name="adj3" fmla="val 16667"/>
            </a:avLst>
          </a:prstGeom>
          <a:solidFill>
            <a:schemeClr val="accent1"/>
          </a:solidFill>
          <a:ln w="12700" cap="flat" cmpd="sng">
            <a:solidFill>
              <a:srgbClr val="239595"/>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切削加工</a:t>
            </a:r>
            <a:endParaRPr lang="zh-CN" altLang="en-US" sz="1800" dirty="0"/>
          </a:p>
        </p:txBody>
      </p:sp>
      <p:sp>
        <p:nvSpPr>
          <p:cNvPr id="11270" name="圆角矩形标注 1222"/>
          <p:cNvSpPr/>
          <p:nvPr/>
        </p:nvSpPr>
        <p:spPr>
          <a:xfrm>
            <a:off x="8004175" y="3465513"/>
            <a:ext cx="1139825" cy="803275"/>
          </a:xfrm>
          <a:prstGeom prst="wedgeRoundRectCallout">
            <a:avLst>
              <a:gd name="adj1" fmla="val -17491"/>
              <a:gd name="adj2" fmla="val 79102"/>
              <a:gd name="adj3" fmla="val 16667"/>
            </a:avLst>
          </a:prstGeom>
          <a:solidFill>
            <a:schemeClr val="accent1"/>
          </a:solidFill>
          <a:ln w="12700" cap="flat" cmpd="sng">
            <a:solidFill>
              <a:srgbClr val="239595"/>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装配</a:t>
            </a:r>
            <a:endParaRPr lang="zh-CN" altLang="en-US" sz="1800" dirty="0"/>
          </a:p>
        </p:txBody>
      </p:sp>
      <p:sp>
        <p:nvSpPr>
          <p:cNvPr id="11271" name="圆角矩形标注 1223"/>
          <p:cNvSpPr/>
          <p:nvPr/>
        </p:nvSpPr>
        <p:spPr>
          <a:xfrm>
            <a:off x="2819400" y="5802313"/>
            <a:ext cx="1139825" cy="803275"/>
          </a:xfrm>
          <a:prstGeom prst="wedgeRoundRectCallout">
            <a:avLst>
              <a:gd name="adj1" fmla="val 53819"/>
              <a:gd name="adj2" fmla="val -60028"/>
              <a:gd name="adj3" fmla="val 16667"/>
            </a:avLst>
          </a:prstGeom>
          <a:solidFill>
            <a:schemeClr val="accent1"/>
          </a:solidFill>
          <a:ln w="12700" cap="flat" cmpd="sng">
            <a:solidFill>
              <a:srgbClr val="239595"/>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1800" dirty="0"/>
              <a:t>热处理</a:t>
            </a:r>
            <a:endParaRPr lang="zh-CN" altLang="en-US" sz="1800"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课程主要内容</a:t>
            </a:r>
            <a:endParaRPr lang="zh-CN" altLang="zh-CN" sz="4000" b="1" dirty="0">
              <a:ea typeface="楷体_GB2312" pitchFamily="49" charset="-122"/>
            </a:endParaRPr>
          </a:p>
        </p:txBody>
      </p:sp>
      <p:sp>
        <p:nvSpPr>
          <p:cNvPr id="13315" name="Text Box 5"/>
          <p:cNvSpPr txBox="1"/>
          <p:nvPr/>
        </p:nvSpPr>
        <p:spPr>
          <a:xfrm>
            <a:off x="2555875" y="1685925"/>
            <a:ext cx="4149725"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en-US" sz="2800" b="1" dirty="0">
                <a:solidFill>
                  <a:srgbClr val="0070C0"/>
                </a:solidFill>
                <a:latin typeface="楷体_GB2312" pitchFamily="49" charset="-122"/>
                <a:ea typeface="楷体_GB2312" pitchFamily="49" charset="-122"/>
                <a:hlinkClick r:id="rId1" action="ppaction://hlinksldjump"/>
              </a:rPr>
              <a:t>金属材料导论</a:t>
            </a:r>
            <a:r>
              <a:rPr lang="en-US" altLang="zh-CN" sz="2800" b="1" dirty="0">
                <a:solidFill>
                  <a:srgbClr val="0070C0"/>
                </a:solidFill>
                <a:latin typeface="楷体_GB2312" pitchFamily="49" charset="-122"/>
                <a:ea typeface="楷体_GB2312" pitchFamily="49" charset="-122"/>
              </a:rPr>
              <a:t>(</a:t>
            </a:r>
            <a:r>
              <a:rPr lang="zh-CN" altLang="en-US" sz="2800" b="1" dirty="0">
                <a:solidFill>
                  <a:srgbClr val="0070C0"/>
                </a:solidFill>
                <a:latin typeface="楷体_GB2312" pitchFamily="49" charset="-122"/>
                <a:ea typeface="楷体_GB2312" pitchFamily="49" charset="-122"/>
              </a:rPr>
              <a:t>工程材料</a:t>
            </a:r>
            <a:r>
              <a:rPr lang="en-US" altLang="zh-CN" sz="2800" b="1" dirty="0">
                <a:solidFill>
                  <a:srgbClr val="0070C0"/>
                </a:solidFill>
                <a:latin typeface="楷体_GB2312" pitchFamily="49" charset="-122"/>
                <a:ea typeface="楷体_GB2312" pitchFamily="49" charset="-122"/>
              </a:rPr>
              <a:t>)</a:t>
            </a:r>
            <a:endParaRPr lang="en-US" altLang="zh-CN" sz="2800" b="1" dirty="0">
              <a:solidFill>
                <a:srgbClr val="0070C0"/>
              </a:solidFill>
              <a:latin typeface="楷体_GB2312" pitchFamily="49" charset="-122"/>
              <a:ea typeface="楷体_GB2312" pitchFamily="49" charset="-122"/>
            </a:endParaRPr>
          </a:p>
        </p:txBody>
      </p:sp>
      <p:sp>
        <p:nvSpPr>
          <p:cNvPr id="13316" name="Text Box 6"/>
          <p:cNvSpPr txBox="1"/>
          <p:nvPr/>
        </p:nvSpPr>
        <p:spPr>
          <a:xfrm>
            <a:off x="3203575" y="2435225"/>
            <a:ext cx="252095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800" b="1" dirty="0">
                <a:latin typeface="Arial" panose="020B0604020202020204" pitchFamily="34" charset="0"/>
                <a:ea typeface="楷体_GB2312" pitchFamily="49" charset="-122"/>
                <a:hlinkClick r:id="rId1" action="ppaction://hlinksldjump"/>
              </a:rPr>
              <a:t>铸造</a:t>
            </a:r>
            <a:endParaRPr lang="zh-CN" altLang="zh-CN" sz="2800" b="1" dirty="0">
              <a:latin typeface="Arial" panose="020B0604020202020204" pitchFamily="34" charset="0"/>
              <a:ea typeface="楷体_GB2312" pitchFamily="49" charset="-122"/>
            </a:endParaRPr>
          </a:p>
        </p:txBody>
      </p:sp>
      <p:sp>
        <p:nvSpPr>
          <p:cNvPr id="13317" name="Text Box 7"/>
          <p:cNvSpPr txBox="1"/>
          <p:nvPr/>
        </p:nvSpPr>
        <p:spPr>
          <a:xfrm>
            <a:off x="3219450" y="3327400"/>
            <a:ext cx="2520950" cy="523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800" b="1" dirty="0">
                <a:latin typeface="Arial" panose="020B0604020202020204" pitchFamily="34" charset="0"/>
                <a:ea typeface="楷体_GB2312" pitchFamily="49" charset="-122"/>
                <a:hlinkClick r:id="rId1" action="ppaction://hlinksldjump"/>
              </a:rPr>
              <a:t>金属</a:t>
            </a:r>
            <a:r>
              <a:rPr lang="zh-CN" altLang="en-US" sz="2800" b="1" dirty="0">
                <a:latin typeface="Arial" panose="020B0604020202020204" pitchFamily="34" charset="0"/>
                <a:ea typeface="楷体_GB2312" pitchFamily="49" charset="-122"/>
                <a:hlinkClick r:id="rId1" action="ppaction://hlinksldjump"/>
              </a:rPr>
              <a:t>塑性</a:t>
            </a:r>
            <a:r>
              <a:rPr lang="zh-CN" altLang="zh-CN" sz="2800" b="1" dirty="0">
                <a:latin typeface="Arial" panose="020B0604020202020204" pitchFamily="34" charset="0"/>
                <a:ea typeface="楷体_GB2312" pitchFamily="49" charset="-122"/>
                <a:hlinkClick r:id="rId1" action="ppaction://hlinksldjump"/>
              </a:rPr>
              <a:t>加工</a:t>
            </a:r>
            <a:endParaRPr lang="zh-CN" altLang="zh-CN" sz="2800" b="1" dirty="0">
              <a:latin typeface="Arial" panose="020B0604020202020204" pitchFamily="34" charset="0"/>
              <a:ea typeface="楷体_GB2312" pitchFamily="49" charset="-122"/>
            </a:endParaRPr>
          </a:p>
        </p:txBody>
      </p:sp>
      <p:sp>
        <p:nvSpPr>
          <p:cNvPr id="13318" name="Text Box 8"/>
          <p:cNvSpPr txBox="1"/>
          <p:nvPr/>
        </p:nvSpPr>
        <p:spPr>
          <a:xfrm>
            <a:off x="3130550" y="4408488"/>
            <a:ext cx="252095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800" b="1" dirty="0">
                <a:latin typeface="Arial" panose="020B0604020202020204" pitchFamily="34" charset="0"/>
                <a:ea typeface="楷体_GB2312" pitchFamily="49" charset="-122"/>
                <a:hlinkClick r:id="rId1" action="ppaction://hlinksldjump"/>
              </a:rPr>
              <a:t>焊接</a:t>
            </a:r>
            <a:endParaRPr lang="zh-CN" altLang="zh-CN" sz="2800" b="1" dirty="0">
              <a:latin typeface="Arial" panose="020B0604020202020204" pitchFamily="34" charset="0"/>
              <a:ea typeface="楷体_GB2312" pitchFamily="49" charset="-122"/>
            </a:endParaRPr>
          </a:p>
        </p:txBody>
      </p:sp>
      <p:sp>
        <p:nvSpPr>
          <p:cNvPr id="13319" name="Text Box 9"/>
          <p:cNvSpPr txBox="1"/>
          <p:nvPr/>
        </p:nvSpPr>
        <p:spPr>
          <a:xfrm>
            <a:off x="2482850" y="5084763"/>
            <a:ext cx="252095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800" b="1" dirty="0">
                <a:latin typeface="Arial" panose="020B0604020202020204" pitchFamily="34" charset="0"/>
                <a:ea typeface="楷体_GB2312" pitchFamily="49" charset="-122"/>
                <a:hlinkClick r:id="rId1" action="ppaction://hlinksldjump"/>
              </a:rPr>
              <a:t>切削加工</a:t>
            </a:r>
            <a:endParaRPr lang="zh-CN" altLang="zh-CN" sz="2800" b="1" dirty="0">
              <a:latin typeface="Arial" panose="020B0604020202020204" pitchFamily="34" charset="0"/>
              <a:ea typeface="楷体_GB2312" pitchFamily="49" charset="-122"/>
            </a:endParaRPr>
          </a:p>
        </p:txBody>
      </p:sp>
      <p:sp>
        <p:nvSpPr>
          <p:cNvPr id="8200" name="Rectangle 31"/>
          <p:cNvSpPr>
            <a:spLocks noChangeAspect="1"/>
          </p:cNvSpPr>
          <p:nvPr/>
        </p:nvSpPr>
        <p:spPr>
          <a:xfrm>
            <a:off x="5908675" y="4622800"/>
            <a:ext cx="2840038" cy="690563"/>
          </a:xfrm>
          <a:prstGeom prst="rect">
            <a:avLst/>
          </a:prstGeom>
          <a:solidFill>
            <a:srgbClr val="FFC0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2000" b="1" dirty="0">
                <a:solidFill>
                  <a:srgbClr val="FF0000"/>
                </a:solidFill>
                <a:latin typeface="Arial" panose="020B0604020202020204" pitchFamily="34" charset="0"/>
                <a:ea typeface="楷体_GB2312" pitchFamily="49" charset="-122"/>
              </a:rPr>
              <a:t>金属材料导论</a:t>
            </a:r>
            <a:endParaRPr lang="zh-CN" altLang="zh-CN" sz="2000" b="1" dirty="0">
              <a:solidFill>
                <a:srgbClr val="FF0000"/>
              </a:solidFill>
              <a:latin typeface="Arial" panose="020B0604020202020204" pitchFamily="34" charset="0"/>
              <a:ea typeface="楷体_GB2312" pitchFamily="49" charset="-122"/>
            </a:endParaRPr>
          </a:p>
        </p:txBody>
      </p:sp>
      <p:sp>
        <p:nvSpPr>
          <p:cNvPr id="8201" name="Rectangle 32"/>
          <p:cNvSpPr>
            <a:spLocks noChangeAspect="1"/>
          </p:cNvSpPr>
          <p:nvPr/>
        </p:nvSpPr>
        <p:spPr>
          <a:xfrm>
            <a:off x="6140450" y="3068638"/>
            <a:ext cx="604838" cy="1554162"/>
          </a:xfrm>
          <a:prstGeom prst="rect">
            <a:avLst/>
          </a:prstGeom>
          <a:solidFill>
            <a:srgbClr val="00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2000" b="1" dirty="0">
                <a:solidFill>
                  <a:srgbClr val="FF9933"/>
                </a:solidFill>
                <a:latin typeface="Arial" panose="020B0604020202020204" pitchFamily="34" charset="0"/>
                <a:ea typeface="楷体_GB2312" pitchFamily="49" charset="-122"/>
              </a:rPr>
              <a:t>铸</a:t>
            </a:r>
            <a:endParaRPr lang="zh-CN" altLang="zh-CN" sz="2000" b="1" dirty="0">
              <a:solidFill>
                <a:srgbClr val="FF9933"/>
              </a:solidFill>
              <a:latin typeface="Arial" panose="020B0604020202020204" pitchFamily="34" charset="0"/>
              <a:ea typeface="楷体_GB2312" pitchFamily="49" charset="-122"/>
            </a:endParaRPr>
          </a:p>
          <a:p>
            <a:pPr marL="0" lvl="0" indent="0" algn="ctr" eaLnBrk="1" hangingPunct="1">
              <a:spcBef>
                <a:spcPct val="0"/>
              </a:spcBef>
              <a:buClrTx/>
              <a:buSzTx/>
              <a:buNone/>
            </a:pPr>
            <a:r>
              <a:rPr lang="zh-CN" altLang="zh-CN" sz="2000" b="1" dirty="0">
                <a:solidFill>
                  <a:srgbClr val="FF9933"/>
                </a:solidFill>
                <a:latin typeface="Arial" panose="020B0604020202020204" pitchFamily="34" charset="0"/>
                <a:ea typeface="楷体_GB2312" pitchFamily="49" charset="-122"/>
              </a:rPr>
              <a:t>造</a:t>
            </a:r>
            <a:endParaRPr lang="zh-CN" altLang="zh-CN" sz="2000" b="1" dirty="0">
              <a:solidFill>
                <a:srgbClr val="FF9933"/>
              </a:solidFill>
              <a:latin typeface="Arial" panose="020B0604020202020204" pitchFamily="34" charset="0"/>
              <a:ea typeface="楷体_GB2312" pitchFamily="49" charset="-122"/>
            </a:endParaRPr>
          </a:p>
        </p:txBody>
      </p:sp>
      <p:sp>
        <p:nvSpPr>
          <p:cNvPr id="8202" name="Rectangle 33"/>
          <p:cNvSpPr>
            <a:spLocks noChangeAspect="1"/>
          </p:cNvSpPr>
          <p:nvPr/>
        </p:nvSpPr>
        <p:spPr>
          <a:xfrm>
            <a:off x="6918325" y="3068638"/>
            <a:ext cx="606425" cy="1554162"/>
          </a:xfrm>
          <a:prstGeom prst="rect">
            <a:avLst/>
          </a:prstGeom>
          <a:solidFill>
            <a:srgbClr val="00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en-US" sz="2000" b="1" dirty="0">
                <a:solidFill>
                  <a:srgbClr val="FF9933"/>
                </a:solidFill>
                <a:latin typeface="Arial" panose="020B0604020202020204" pitchFamily="34" charset="0"/>
                <a:ea typeface="楷体_GB2312" pitchFamily="49" charset="-122"/>
              </a:rPr>
              <a:t>塑</a:t>
            </a:r>
            <a:endParaRPr lang="en-US" altLang="zh-CN" sz="2000" b="1" dirty="0">
              <a:solidFill>
                <a:srgbClr val="FF9933"/>
              </a:solidFill>
              <a:latin typeface="Arial" panose="020B0604020202020204" pitchFamily="34" charset="0"/>
              <a:ea typeface="楷体_GB2312" pitchFamily="49" charset="-122"/>
            </a:endParaRPr>
          </a:p>
          <a:p>
            <a:pPr marL="0" lvl="0" indent="0" algn="ctr" eaLnBrk="1" hangingPunct="1">
              <a:spcBef>
                <a:spcPct val="0"/>
              </a:spcBef>
              <a:buClrTx/>
              <a:buSzTx/>
              <a:buNone/>
            </a:pPr>
            <a:r>
              <a:rPr lang="zh-CN" altLang="en-US" sz="2000" b="1" dirty="0">
                <a:solidFill>
                  <a:srgbClr val="FF9933"/>
                </a:solidFill>
                <a:latin typeface="Arial" panose="020B0604020202020204" pitchFamily="34" charset="0"/>
                <a:ea typeface="楷体_GB2312" pitchFamily="49" charset="-122"/>
              </a:rPr>
              <a:t>性</a:t>
            </a:r>
            <a:endParaRPr lang="en-US" altLang="zh-CN" sz="2000" b="1" dirty="0">
              <a:solidFill>
                <a:srgbClr val="FF9933"/>
              </a:solidFill>
              <a:latin typeface="Arial" panose="020B0604020202020204" pitchFamily="34" charset="0"/>
              <a:ea typeface="楷体_GB2312" pitchFamily="49" charset="-122"/>
            </a:endParaRPr>
          </a:p>
          <a:p>
            <a:pPr marL="0" lvl="0" indent="0" algn="ctr" eaLnBrk="1" hangingPunct="1">
              <a:spcBef>
                <a:spcPct val="0"/>
              </a:spcBef>
              <a:buClrTx/>
              <a:buSzTx/>
              <a:buNone/>
            </a:pPr>
            <a:r>
              <a:rPr lang="zh-CN" altLang="zh-CN" sz="2000" b="1" dirty="0">
                <a:solidFill>
                  <a:srgbClr val="FF9933"/>
                </a:solidFill>
                <a:latin typeface="Arial" panose="020B0604020202020204" pitchFamily="34" charset="0"/>
                <a:ea typeface="楷体_GB2312" pitchFamily="49" charset="-122"/>
              </a:rPr>
              <a:t>加</a:t>
            </a:r>
            <a:endParaRPr lang="zh-CN" altLang="zh-CN" sz="2000" b="1" dirty="0">
              <a:solidFill>
                <a:srgbClr val="FF9933"/>
              </a:solidFill>
              <a:latin typeface="Arial" panose="020B0604020202020204" pitchFamily="34" charset="0"/>
              <a:ea typeface="楷体_GB2312" pitchFamily="49" charset="-122"/>
            </a:endParaRPr>
          </a:p>
          <a:p>
            <a:pPr marL="0" lvl="0" indent="0" algn="ctr" eaLnBrk="1" hangingPunct="1">
              <a:spcBef>
                <a:spcPct val="0"/>
              </a:spcBef>
              <a:buClrTx/>
              <a:buSzTx/>
              <a:buNone/>
            </a:pPr>
            <a:r>
              <a:rPr lang="zh-CN" altLang="zh-CN" sz="2000" b="1" dirty="0">
                <a:solidFill>
                  <a:srgbClr val="FF9933"/>
                </a:solidFill>
                <a:latin typeface="Arial" panose="020B0604020202020204" pitchFamily="34" charset="0"/>
                <a:ea typeface="楷体_GB2312" pitchFamily="49" charset="-122"/>
              </a:rPr>
              <a:t>工</a:t>
            </a:r>
            <a:endParaRPr lang="zh-CN" altLang="zh-CN" sz="2000" b="1" dirty="0">
              <a:solidFill>
                <a:srgbClr val="FF9933"/>
              </a:solidFill>
              <a:latin typeface="Arial" panose="020B0604020202020204" pitchFamily="34" charset="0"/>
              <a:ea typeface="楷体_GB2312" pitchFamily="49" charset="-122"/>
            </a:endParaRPr>
          </a:p>
        </p:txBody>
      </p:sp>
      <p:sp>
        <p:nvSpPr>
          <p:cNvPr id="8203" name="Rectangle 34"/>
          <p:cNvSpPr>
            <a:spLocks noChangeAspect="1"/>
          </p:cNvSpPr>
          <p:nvPr/>
        </p:nvSpPr>
        <p:spPr>
          <a:xfrm>
            <a:off x="7781925" y="3068638"/>
            <a:ext cx="604838" cy="1554162"/>
          </a:xfrm>
          <a:prstGeom prst="rect">
            <a:avLst/>
          </a:prstGeom>
          <a:solidFill>
            <a:srgbClr val="0000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2000" b="1" dirty="0">
                <a:solidFill>
                  <a:srgbClr val="FF9933"/>
                </a:solidFill>
                <a:latin typeface="Arial" panose="020B0604020202020204" pitchFamily="34" charset="0"/>
                <a:ea typeface="楷体_GB2312" pitchFamily="49" charset="-122"/>
              </a:rPr>
              <a:t>焊</a:t>
            </a:r>
            <a:endParaRPr lang="zh-CN" altLang="zh-CN" sz="2000" b="1" dirty="0">
              <a:solidFill>
                <a:srgbClr val="FF9933"/>
              </a:solidFill>
              <a:latin typeface="Arial" panose="020B0604020202020204" pitchFamily="34" charset="0"/>
              <a:ea typeface="楷体_GB2312" pitchFamily="49" charset="-122"/>
            </a:endParaRPr>
          </a:p>
          <a:p>
            <a:pPr marL="0" lvl="0" indent="0" algn="ctr" eaLnBrk="1" hangingPunct="1">
              <a:spcBef>
                <a:spcPct val="0"/>
              </a:spcBef>
              <a:buClrTx/>
              <a:buSzTx/>
              <a:buNone/>
            </a:pPr>
            <a:r>
              <a:rPr lang="zh-CN" altLang="zh-CN" sz="2000" b="1" dirty="0">
                <a:solidFill>
                  <a:srgbClr val="FF9933"/>
                </a:solidFill>
                <a:latin typeface="Arial" panose="020B0604020202020204" pitchFamily="34" charset="0"/>
                <a:ea typeface="楷体_GB2312" pitchFamily="49" charset="-122"/>
              </a:rPr>
              <a:t>接</a:t>
            </a:r>
            <a:endParaRPr lang="zh-CN" altLang="zh-CN" sz="2000" b="1" dirty="0">
              <a:solidFill>
                <a:srgbClr val="FF9933"/>
              </a:solidFill>
              <a:latin typeface="Arial" panose="020B0604020202020204" pitchFamily="34" charset="0"/>
              <a:ea typeface="楷体_GB2312" pitchFamily="49" charset="-122"/>
            </a:endParaRPr>
          </a:p>
        </p:txBody>
      </p:sp>
      <p:sp>
        <p:nvSpPr>
          <p:cNvPr id="8204" name="AutoShape 35"/>
          <p:cNvSpPr>
            <a:spLocks noChangeAspect="1" noChangeArrowheads="1"/>
          </p:cNvSpPr>
          <p:nvPr/>
        </p:nvSpPr>
        <p:spPr bwMode="auto">
          <a:xfrm>
            <a:off x="5724525" y="2205038"/>
            <a:ext cx="3097213" cy="863600"/>
          </a:xfrm>
          <a:prstGeom prst="triangle">
            <a:avLst>
              <a:gd name="adj" fmla="val 50000"/>
            </a:avLst>
          </a:prstGeom>
          <a:solidFill>
            <a:schemeClr val="tx2">
              <a:lumMod val="40000"/>
              <a:lumOff val="60000"/>
            </a:schemeClr>
          </a:solidFill>
          <a:ln w="9525">
            <a:solidFill>
              <a:schemeClr val="tx1"/>
            </a:solidFill>
            <a:miter lim="800000"/>
          </a:ln>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zh-CN" altLang="zh-CN" sz="2000" b="1" i="0" u="none" strike="noStrike" kern="1200" cap="none" spc="0" normalizeH="0" baseline="0" noProof="0" dirty="0">
                <a:ln>
                  <a:noFill/>
                </a:ln>
                <a:solidFill>
                  <a:srgbClr val="FF9933"/>
                </a:solidFill>
                <a:effectLst/>
                <a:uLnTx/>
                <a:uFillTx/>
                <a:latin typeface="Arial" panose="020B0604020202020204" pitchFamily="34" charset="0"/>
                <a:ea typeface="楷体_GB2312" pitchFamily="49" charset="-122"/>
                <a:cs typeface="+mn-cs"/>
              </a:rPr>
              <a:t>切削加工</a:t>
            </a:r>
            <a:endParaRPr kumimoji="0" lang="zh-CN" altLang="zh-CN" sz="2000" b="1" i="0" u="none" strike="noStrike" kern="1200" cap="none" spc="0" normalizeH="0" baseline="0" noProof="0" dirty="0">
              <a:ln>
                <a:noFill/>
              </a:ln>
              <a:solidFill>
                <a:srgbClr val="FF9933"/>
              </a:solidFill>
              <a:effectLst/>
              <a:uLnTx/>
              <a:uFillTx/>
              <a:latin typeface="Arial" panose="020B0604020202020204" pitchFamily="34" charset="0"/>
              <a:ea typeface="楷体_GB2312" pitchFamily="49" charset="-122"/>
              <a:cs typeface="+mn-cs"/>
            </a:endParaRPr>
          </a:p>
        </p:txBody>
      </p:sp>
      <p:graphicFrame>
        <p:nvGraphicFramePr>
          <p:cNvPr id="13325" name="Object 41"/>
          <p:cNvGraphicFramePr>
            <a:graphicFrameLocks noChangeAspect="1"/>
          </p:cNvGraphicFramePr>
          <p:nvPr>
            <p:ph idx="1"/>
          </p:nvPr>
        </p:nvGraphicFramePr>
        <p:xfrm>
          <a:off x="938213" y="1844675"/>
          <a:ext cx="2338387" cy="3532188"/>
        </p:xfrm>
        <a:graphic>
          <a:graphicData uri="http://schemas.openxmlformats.org/presentationml/2006/ole">
            <mc:AlternateContent xmlns:mc="http://schemas.openxmlformats.org/markup-compatibility/2006">
              <mc:Choice xmlns:v="urn:schemas-microsoft-com:vml" Requires="v">
                <p:oleObj spid="_x0000_s3078" name="" r:id="rId2" imgW="1964055" imgH="2889885" progId="Visio.Drawing.6">
                  <p:embed/>
                </p:oleObj>
              </mc:Choice>
              <mc:Fallback>
                <p:oleObj name="" r:id="rId2" imgW="1964055" imgH="2889885" progId="Visio.Drawing.6">
                  <p:embed/>
                  <p:pic>
                    <p:nvPicPr>
                      <p:cNvPr id="0" name="图片 3077"/>
                      <p:cNvPicPr/>
                      <p:nvPr/>
                    </p:nvPicPr>
                    <p:blipFill>
                      <a:blip r:embed="rId3"/>
                      <a:srcRect/>
                      <a:stretch>
                        <a:fillRect/>
                      </a:stretch>
                    </p:blipFill>
                    <p:spPr>
                      <a:xfrm>
                        <a:off x="938213" y="1844675"/>
                        <a:ext cx="2338387" cy="3532188"/>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00"/>
                                        </p:tgtEl>
                                        <p:attrNameLst>
                                          <p:attrName>style.visibility</p:attrName>
                                        </p:attrNameLst>
                                      </p:cBhvr>
                                      <p:to>
                                        <p:strVal val="visible"/>
                                      </p:to>
                                    </p:set>
                                    <p:anim calcmode="lin" valueType="num">
                                      <p:cBhvr additive="base">
                                        <p:cTn id="7" dur="500" fill="hold"/>
                                        <p:tgtEl>
                                          <p:spTgt spid="8200"/>
                                        </p:tgtEl>
                                        <p:attrNameLst>
                                          <p:attrName>ppt_x</p:attrName>
                                        </p:attrNameLst>
                                      </p:cBhvr>
                                      <p:tavLst>
                                        <p:tav tm="0">
                                          <p:val>
                                            <p:strVal val="#ppt_x"/>
                                          </p:val>
                                        </p:tav>
                                        <p:tav tm="100000">
                                          <p:val>
                                            <p:strVal val="#ppt_x"/>
                                          </p:val>
                                        </p:tav>
                                      </p:tavLst>
                                    </p:anim>
                                    <p:anim calcmode="lin" valueType="num">
                                      <p:cBhvr additive="base">
                                        <p:cTn id="8" dur="500" fill="hold"/>
                                        <p:tgtEl>
                                          <p:spTgt spid="82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201"/>
                                        </p:tgtEl>
                                        <p:attrNameLst>
                                          <p:attrName>style.visibility</p:attrName>
                                        </p:attrNameLst>
                                      </p:cBhvr>
                                      <p:to>
                                        <p:strVal val="visible"/>
                                      </p:to>
                                    </p:set>
                                    <p:anim calcmode="lin" valueType="num">
                                      <p:cBhvr additive="base">
                                        <p:cTn id="13" dur="500" fill="hold"/>
                                        <p:tgtEl>
                                          <p:spTgt spid="8201"/>
                                        </p:tgtEl>
                                        <p:attrNameLst>
                                          <p:attrName>ppt_x</p:attrName>
                                        </p:attrNameLst>
                                      </p:cBhvr>
                                      <p:tavLst>
                                        <p:tav tm="0">
                                          <p:val>
                                            <p:strVal val="#ppt_x"/>
                                          </p:val>
                                        </p:tav>
                                        <p:tav tm="100000">
                                          <p:val>
                                            <p:strVal val="#ppt_x"/>
                                          </p:val>
                                        </p:tav>
                                      </p:tavLst>
                                    </p:anim>
                                    <p:anim calcmode="lin" valueType="num">
                                      <p:cBhvr additive="base">
                                        <p:cTn id="14" dur="500" fill="hold"/>
                                        <p:tgtEl>
                                          <p:spTgt spid="820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202"/>
                                        </p:tgtEl>
                                        <p:attrNameLst>
                                          <p:attrName>style.visibility</p:attrName>
                                        </p:attrNameLst>
                                      </p:cBhvr>
                                      <p:to>
                                        <p:strVal val="visible"/>
                                      </p:to>
                                    </p:set>
                                    <p:anim calcmode="lin" valueType="num">
                                      <p:cBhvr additive="base">
                                        <p:cTn id="19" dur="500" fill="hold"/>
                                        <p:tgtEl>
                                          <p:spTgt spid="8202"/>
                                        </p:tgtEl>
                                        <p:attrNameLst>
                                          <p:attrName>ppt_x</p:attrName>
                                        </p:attrNameLst>
                                      </p:cBhvr>
                                      <p:tavLst>
                                        <p:tav tm="0">
                                          <p:val>
                                            <p:strVal val="#ppt_x"/>
                                          </p:val>
                                        </p:tav>
                                        <p:tav tm="100000">
                                          <p:val>
                                            <p:strVal val="#ppt_x"/>
                                          </p:val>
                                        </p:tav>
                                      </p:tavLst>
                                    </p:anim>
                                    <p:anim calcmode="lin" valueType="num">
                                      <p:cBhvr additive="base">
                                        <p:cTn id="20" dur="500" fill="hold"/>
                                        <p:tgtEl>
                                          <p:spTgt spid="820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203"/>
                                        </p:tgtEl>
                                        <p:attrNameLst>
                                          <p:attrName>style.visibility</p:attrName>
                                        </p:attrNameLst>
                                      </p:cBhvr>
                                      <p:to>
                                        <p:strVal val="visible"/>
                                      </p:to>
                                    </p:set>
                                    <p:anim calcmode="lin" valueType="num">
                                      <p:cBhvr additive="base">
                                        <p:cTn id="25" dur="500" fill="hold"/>
                                        <p:tgtEl>
                                          <p:spTgt spid="8203"/>
                                        </p:tgtEl>
                                        <p:attrNameLst>
                                          <p:attrName>ppt_x</p:attrName>
                                        </p:attrNameLst>
                                      </p:cBhvr>
                                      <p:tavLst>
                                        <p:tav tm="0">
                                          <p:val>
                                            <p:strVal val="#ppt_x"/>
                                          </p:val>
                                        </p:tav>
                                        <p:tav tm="100000">
                                          <p:val>
                                            <p:strVal val="#ppt_x"/>
                                          </p:val>
                                        </p:tav>
                                      </p:tavLst>
                                    </p:anim>
                                    <p:anim calcmode="lin" valueType="num">
                                      <p:cBhvr additive="base">
                                        <p:cTn id="26" dur="500" fill="hold"/>
                                        <p:tgtEl>
                                          <p:spTgt spid="820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8204"/>
                                        </p:tgtEl>
                                        <p:attrNameLst>
                                          <p:attrName>style.visibility</p:attrName>
                                        </p:attrNameLst>
                                      </p:cBhvr>
                                      <p:to>
                                        <p:strVal val="visible"/>
                                      </p:to>
                                    </p:set>
                                    <p:anim calcmode="lin" valueType="num">
                                      <p:cBhvr additive="base">
                                        <p:cTn id="31" dur="500" fill="hold"/>
                                        <p:tgtEl>
                                          <p:spTgt spid="8204"/>
                                        </p:tgtEl>
                                        <p:attrNameLst>
                                          <p:attrName>ppt_x</p:attrName>
                                        </p:attrNameLst>
                                      </p:cBhvr>
                                      <p:tavLst>
                                        <p:tav tm="0">
                                          <p:val>
                                            <p:strVal val="#ppt_x"/>
                                          </p:val>
                                        </p:tav>
                                        <p:tav tm="100000">
                                          <p:val>
                                            <p:strVal val="#ppt_x"/>
                                          </p:val>
                                        </p:tav>
                                      </p:tavLst>
                                    </p:anim>
                                    <p:anim calcmode="lin" valueType="num">
                                      <p:cBhvr additive="base">
                                        <p:cTn id="32" dur="500" fill="hold"/>
                                        <p:tgtEl>
                                          <p:spTgt spid="820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0" grpId="0" animBg="1"/>
      <p:bldP spid="8201" grpId="0" animBg="1"/>
      <p:bldP spid="8202" grpId="0" animBg="1"/>
      <p:bldP spid="8203" grpId="0" animBg="1"/>
      <p:bldP spid="820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xfrm>
            <a:off x="609600" y="533400"/>
            <a:ext cx="8001000" cy="1030288"/>
          </a:xfrm>
        </p:spPr>
        <p:txBody>
          <a:bodyPr vert="horz" wrap="square" lIns="91440" tIns="45720" rIns="91440" bIns="45720" anchor="b" anchorCtr="0"/>
          <a:p>
            <a:r>
              <a:rPr lang="zh-CN" altLang="en-US" sz="4400" b="1" dirty="0">
                <a:latin typeface="华文中宋" panose="02010600040101010101" pitchFamily="2" charset="-122"/>
                <a:ea typeface="华文中宋" panose="02010600040101010101" pitchFamily="2" charset="-122"/>
              </a:rPr>
              <a:t>本课程教材</a:t>
            </a:r>
            <a:endParaRPr lang="zh-CN" altLang="en-US" sz="4400" b="1" dirty="0">
              <a:latin typeface="华文中宋" panose="02010600040101010101" pitchFamily="2" charset="-122"/>
              <a:ea typeface="华文中宋" panose="02010600040101010101" pitchFamily="2" charset="-122"/>
            </a:endParaRPr>
          </a:p>
        </p:txBody>
      </p:sp>
      <p:sp>
        <p:nvSpPr>
          <p:cNvPr id="14339" name="Rectangle 3"/>
          <p:cNvSpPr>
            <a:spLocks noGrp="1"/>
          </p:cNvSpPr>
          <p:nvPr>
            <p:ph idx="1"/>
          </p:nvPr>
        </p:nvSpPr>
        <p:spPr>
          <a:xfrm>
            <a:off x="915988" y="1773238"/>
            <a:ext cx="7694612" cy="4197350"/>
          </a:xfrm>
        </p:spPr>
        <p:txBody>
          <a:bodyPr vert="horz" wrap="square" lIns="91440" tIns="45720" rIns="91440" bIns="45720" anchor="t" anchorCtr="0"/>
          <a:p>
            <a:pPr>
              <a:lnSpc>
                <a:spcPct val="80000"/>
              </a:lnSpc>
            </a:pPr>
            <a:r>
              <a:rPr lang="zh-CN" altLang="en-US" sz="3200" b="1" dirty="0">
                <a:latin typeface="华文中宋" panose="02010600040101010101" pitchFamily="2" charset="-122"/>
                <a:ea typeface="华文中宋" panose="02010600040101010101" pitchFamily="2" charset="-122"/>
              </a:rPr>
              <a:t>教材：</a:t>
            </a:r>
            <a:r>
              <a:rPr lang="zh-CN" altLang="en-US" dirty="0"/>
              <a:t>邓文英、郭晓鹏和邢忠文主编的</a:t>
            </a:r>
            <a:r>
              <a:rPr lang="en-US" altLang="zh-CN" dirty="0"/>
              <a:t>《</a:t>
            </a:r>
            <a:r>
              <a:rPr lang="zh-CN" altLang="en-US" dirty="0"/>
              <a:t>金属工艺学 （上下册第六版）</a:t>
            </a:r>
            <a:r>
              <a:rPr lang="en-US" altLang="zh-CN" dirty="0"/>
              <a:t>》</a:t>
            </a:r>
            <a:r>
              <a:rPr lang="zh-CN" altLang="en-US" dirty="0"/>
              <a:t>，高等教育出版社出版。</a:t>
            </a:r>
            <a:endParaRPr lang="en-US" altLang="zh-CN" dirty="0"/>
          </a:p>
        </p:txBody>
      </p:sp>
      <p:pic>
        <p:nvPicPr>
          <p:cNvPr id="14340" name="Picture 4" descr="金属工艺学 第六版"/>
          <p:cNvPicPr>
            <a:picLocks noChangeAspect="1"/>
          </p:cNvPicPr>
          <p:nvPr/>
        </p:nvPicPr>
        <p:blipFill>
          <a:blip r:embed="rId1"/>
          <a:stretch>
            <a:fillRect/>
          </a:stretch>
        </p:blipFill>
        <p:spPr>
          <a:xfrm>
            <a:off x="3419475" y="2754313"/>
            <a:ext cx="4105275" cy="4103687"/>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1143000" y="533400"/>
            <a:ext cx="8001000" cy="1030288"/>
          </a:xfrm>
        </p:spPr>
        <p:txBody>
          <a:bodyPr vert="horz" wrap="square" lIns="91440" tIns="45720" rIns="91440" bIns="45720" anchor="b" anchorCtr="0"/>
          <a:p>
            <a:r>
              <a:rPr lang="zh-CN" altLang="zh-CN" sz="4400" b="1" dirty="0">
                <a:ea typeface="华文中宋" panose="02010600040101010101" pitchFamily="2" charset="-122"/>
              </a:rPr>
              <a:t>本课程学时、考核方法等</a:t>
            </a:r>
            <a:endParaRPr lang="zh-CN" altLang="zh-CN" sz="4400" b="1" dirty="0">
              <a:ea typeface="华文中宋" panose="02010600040101010101" pitchFamily="2" charset="-122"/>
            </a:endParaRPr>
          </a:p>
        </p:txBody>
      </p:sp>
      <p:sp>
        <p:nvSpPr>
          <p:cNvPr id="15363" name="Rectangle 3"/>
          <p:cNvSpPr>
            <a:spLocks noGrp="1"/>
          </p:cNvSpPr>
          <p:nvPr>
            <p:ph type="body"/>
          </p:nvPr>
        </p:nvSpPr>
        <p:spPr>
          <a:xfrm>
            <a:off x="684213" y="1773238"/>
            <a:ext cx="8229600" cy="4535487"/>
          </a:xfrm>
        </p:spPr>
        <p:txBody>
          <a:bodyPr vert="horz" wrap="square" lIns="91440" tIns="45720" rIns="91440" bIns="45720" anchor="t" anchorCtr="0"/>
          <a:p>
            <a:pPr>
              <a:lnSpc>
                <a:spcPct val="80000"/>
              </a:lnSpc>
            </a:pPr>
            <a:r>
              <a:rPr lang="zh-CN" altLang="en-US" sz="2400" b="1" dirty="0">
                <a:latin typeface="华文中宋" panose="02010600040101010101" pitchFamily="2" charset="-122"/>
                <a:ea typeface="华文中宋" panose="02010600040101010101" pitchFamily="2" charset="-122"/>
              </a:rPr>
              <a:t>学时分配：理论教学</a:t>
            </a:r>
            <a:r>
              <a:rPr lang="en-US" altLang="zh-CN" sz="2400" b="1" dirty="0">
                <a:latin typeface="华文中宋" panose="02010600040101010101" pitchFamily="2" charset="-122"/>
                <a:ea typeface="华文中宋" panose="02010600040101010101" pitchFamily="2" charset="-122"/>
              </a:rPr>
              <a:t>32</a:t>
            </a:r>
            <a:r>
              <a:rPr lang="zh-CN" altLang="en-US" sz="2400" b="1" dirty="0">
                <a:latin typeface="华文中宋" panose="02010600040101010101" pitchFamily="2" charset="-122"/>
                <a:ea typeface="华文中宋" panose="02010600040101010101" pitchFamily="2" charset="-122"/>
              </a:rPr>
              <a:t>学时； </a:t>
            </a:r>
            <a:endParaRPr lang="zh-CN" altLang="en-US" sz="2400" b="1" dirty="0">
              <a:latin typeface="华文中宋" panose="02010600040101010101" pitchFamily="2" charset="-122"/>
              <a:ea typeface="华文中宋" panose="02010600040101010101" pitchFamily="2" charset="-122"/>
            </a:endParaRPr>
          </a:p>
          <a:p>
            <a:pPr>
              <a:lnSpc>
                <a:spcPct val="80000"/>
              </a:lnSpc>
            </a:pPr>
            <a:r>
              <a:rPr lang="zh-CN" altLang="en-US" sz="2400" b="1" dirty="0">
                <a:latin typeface="华文中宋" panose="02010600040101010101" pitchFamily="2" charset="-122"/>
                <a:ea typeface="华文中宋" panose="02010600040101010101" pitchFamily="2" charset="-122"/>
              </a:rPr>
              <a:t>教学方法：</a:t>
            </a:r>
            <a:endParaRPr lang="zh-CN" altLang="en-US" sz="2400" b="1" dirty="0">
              <a:latin typeface="华文中宋" panose="02010600040101010101" pitchFamily="2" charset="-122"/>
              <a:ea typeface="华文中宋" panose="02010600040101010101" pitchFamily="2" charset="-122"/>
            </a:endParaRPr>
          </a:p>
          <a:p>
            <a:pPr lvl="1">
              <a:lnSpc>
                <a:spcPct val="80000"/>
              </a:lnSpc>
            </a:pPr>
            <a:r>
              <a:rPr lang="zh-CN" altLang="en-US" sz="2400" b="1" dirty="0">
                <a:latin typeface="华文中宋" panose="02010600040101010101" pitchFamily="2" charset="-122"/>
                <a:ea typeface="华文中宋" panose="02010600040101010101" pitchFamily="2" charset="-122"/>
              </a:rPr>
              <a:t>课堂教学为主，同时学生应以</a:t>
            </a:r>
            <a:r>
              <a:rPr lang="en-US" altLang="zh-CN" sz="2400" b="1" dirty="0">
                <a:latin typeface="华文中宋" panose="02010600040101010101" pitchFamily="2" charset="-122"/>
                <a:ea typeface="华文中宋" panose="02010600040101010101" pitchFamily="2" charset="-122"/>
              </a:rPr>
              <a:t>1 </a:t>
            </a:r>
            <a:r>
              <a:rPr lang="zh-CN" altLang="en-US" sz="2400" b="1" dirty="0">
                <a:latin typeface="华文中宋" panose="02010600040101010101" pitchFamily="2" charset="-122"/>
                <a:ea typeface="华文中宋" panose="02010600040101010101" pitchFamily="2" charset="-122"/>
              </a:rPr>
              <a:t>：</a:t>
            </a:r>
            <a:r>
              <a:rPr lang="en-US" altLang="zh-CN" sz="2400" b="1" dirty="0">
                <a:latin typeface="华文中宋" panose="02010600040101010101" pitchFamily="2" charset="-122"/>
                <a:ea typeface="华文中宋" panose="02010600040101010101" pitchFamily="2" charset="-122"/>
              </a:rPr>
              <a:t>1</a:t>
            </a:r>
            <a:r>
              <a:rPr lang="zh-CN" altLang="en-US" sz="2400" b="1" dirty="0">
                <a:latin typeface="华文中宋" panose="02010600040101010101" pitchFamily="2" charset="-122"/>
                <a:ea typeface="华文中宋" panose="02010600040101010101" pitchFamily="2" charset="-122"/>
              </a:rPr>
              <a:t>的课外时间学习本课程，包括查阅与本课程相关的文献资料。</a:t>
            </a:r>
            <a:endParaRPr lang="zh-CN" altLang="en-US" sz="2400" b="1" dirty="0">
              <a:latin typeface="华文中宋" panose="02010600040101010101" pitchFamily="2" charset="-122"/>
              <a:ea typeface="华文中宋" panose="02010600040101010101" pitchFamily="2" charset="-122"/>
            </a:endParaRPr>
          </a:p>
          <a:p>
            <a:pPr>
              <a:lnSpc>
                <a:spcPct val="80000"/>
              </a:lnSpc>
            </a:pPr>
            <a:r>
              <a:rPr lang="zh-CN" altLang="en-US" sz="2400" b="1" dirty="0">
                <a:latin typeface="华文中宋" panose="02010600040101010101" pitchFamily="2" charset="-122"/>
                <a:ea typeface="华文中宋" panose="02010600040101010101" pitchFamily="2" charset="-122"/>
              </a:rPr>
              <a:t>考核方法</a:t>
            </a:r>
            <a:endParaRPr lang="zh-CN" altLang="en-US" sz="2400" b="1" dirty="0">
              <a:latin typeface="华文中宋" panose="02010600040101010101" pitchFamily="2" charset="-122"/>
              <a:ea typeface="华文中宋" panose="02010600040101010101" pitchFamily="2" charset="-122"/>
            </a:endParaRPr>
          </a:p>
          <a:p>
            <a:pPr lvl="1">
              <a:lnSpc>
                <a:spcPct val="80000"/>
              </a:lnSpc>
            </a:pPr>
            <a:r>
              <a:rPr lang="zh-CN" altLang="en-US" sz="2400" b="1" dirty="0">
                <a:latin typeface="华文中宋" panose="02010600040101010101" pitchFamily="2" charset="-122"/>
                <a:ea typeface="华文中宋" panose="02010600040101010101" pitchFamily="2" charset="-122"/>
              </a:rPr>
              <a:t>理论考核：卷面考试；</a:t>
            </a:r>
            <a:endParaRPr lang="zh-CN" altLang="en-US" sz="2400" b="1" dirty="0">
              <a:latin typeface="华文中宋" panose="02010600040101010101" pitchFamily="2" charset="-122"/>
              <a:ea typeface="华文中宋" panose="02010600040101010101" pitchFamily="2" charset="-122"/>
            </a:endParaRPr>
          </a:p>
          <a:p>
            <a:pPr lvl="1">
              <a:lnSpc>
                <a:spcPct val="80000"/>
              </a:lnSpc>
            </a:pPr>
            <a:r>
              <a:rPr lang="zh-CN" altLang="en-US" sz="2400" b="1" dirty="0">
                <a:latin typeface="华文中宋" panose="02010600040101010101" pitchFamily="2" charset="-122"/>
                <a:ea typeface="华文中宋" panose="02010600040101010101" pitchFamily="2" charset="-122"/>
              </a:rPr>
              <a:t>平时成绩考核：上课表现及出勤率、平时作业</a:t>
            </a:r>
            <a:endParaRPr lang="en-US" altLang="zh-CN" sz="2400" b="1" dirty="0">
              <a:latin typeface="华文中宋" panose="02010600040101010101" pitchFamily="2" charset="-122"/>
              <a:ea typeface="华文中宋" panose="02010600040101010101" pitchFamily="2" charset="-122"/>
            </a:endParaRPr>
          </a:p>
          <a:p>
            <a:r>
              <a:rPr lang="zh-CN" altLang="en-US" sz="2400" b="1" dirty="0">
                <a:latin typeface="华文中宋" panose="02010600040101010101" pitchFamily="2" charset="-122"/>
                <a:ea typeface="华文中宋" panose="02010600040101010101" pitchFamily="2" charset="-122"/>
              </a:rPr>
              <a:t>成绩评定方法：</a:t>
            </a:r>
            <a:endParaRPr lang="zh-CN" altLang="en-US" sz="2400" b="1" dirty="0">
              <a:latin typeface="华文中宋" panose="02010600040101010101" pitchFamily="2" charset="-122"/>
              <a:ea typeface="华文中宋" panose="02010600040101010101" pitchFamily="2" charset="-122"/>
            </a:endParaRPr>
          </a:p>
          <a:p>
            <a:pPr lvl="1"/>
            <a:r>
              <a:rPr lang="zh-CN" altLang="en-US" sz="2400" b="1" dirty="0">
                <a:solidFill>
                  <a:schemeClr val="tx2"/>
                </a:solidFill>
                <a:latin typeface="华文中宋" panose="02010600040101010101" pitchFamily="2" charset="-122"/>
                <a:ea typeface="华文中宋" panose="02010600040101010101" pitchFamily="2" charset="-122"/>
              </a:rPr>
              <a:t>卷面考试按百分制计分，占总成绩的</a:t>
            </a:r>
            <a:r>
              <a:rPr lang="en-US" altLang="zh-CN" sz="2400" b="1" dirty="0">
                <a:solidFill>
                  <a:schemeClr val="tx2"/>
                </a:solidFill>
                <a:latin typeface="华文中宋" panose="02010600040101010101" pitchFamily="2" charset="-122"/>
                <a:ea typeface="华文中宋" panose="02010600040101010101" pitchFamily="2" charset="-122"/>
              </a:rPr>
              <a:t>70%</a:t>
            </a:r>
            <a:r>
              <a:rPr lang="zh-CN" altLang="en-US" sz="2400" b="1" dirty="0">
                <a:latin typeface="华文中宋" panose="02010600040101010101" pitchFamily="2" charset="-122"/>
                <a:ea typeface="华文中宋" panose="02010600040101010101" pitchFamily="2" charset="-122"/>
              </a:rPr>
              <a:t>。</a:t>
            </a:r>
            <a:endParaRPr lang="zh-CN" altLang="en-US" sz="2400" b="1" dirty="0">
              <a:latin typeface="华文中宋" panose="02010600040101010101" pitchFamily="2" charset="-122"/>
              <a:ea typeface="华文中宋" panose="02010600040101010101" pitchFamily="2" charset="-122"/>
            </a:endParaRPr>
          </a:p>
          <a:p>
            <a:pPr lvl="1"/>
            <a:r>
              <a:rPr lang="zh-CN" altLang="en-US" sz="2400" b="1" dirty="0">
                <a:solidFill>
                  <a:schemeClr val="tx2"/>
                </a:solidFill>
                <a:latin typeface="华文中宋" panose="02010600040101010101" pitchFamily="2" charset="-122"/>
                <a:ea typeface="华文中宋" panose="02010600040101010101" pitchFamily="2" charset="-122"/>
              </a:rPr>
              <a:t>平时作业考核按</a:t>
            </a:r>
            <a:r>
              <a:rPr lang="en-US" altLang="zh-CN" sz="2400" b="1" dirty="0">
                <a:solidFill>
                  <a:schemeClr val="tx2"/>
                </a:solidFill>
                <a:latin typeface="华文中宋" panose="02010600040101010101" pitchFamily="2" charset="-122"/>
                <a:ea typeface="华文中宋" panose="02010600040101010101" pitchFamily="2" charset="-122"/>
              </a:rPr>
              <a:t>A</a:t>
            </a:r>
            <a:r>
              <a:rPr lang="zh-CN" altLang="en-US" sz="2400" b="1" dirty="0">
                <a:solidFill>
                  <a:schemeClr val="tx2"/>
                </a:solidFill>
                <a:latin typeface="华文中宋" panose="02010600040101010101" pitchFamily="2" charset="-122"/>
                <a:ea typeface="华文中宋" panose="02010600040101010101" pitchFamily="2" charset="-122"/>
              </a:rPr>
              <a:t>、</a:t>
            </a:r>
            <a:r>
              <a:rPr lang="en-US" altLang="zh-CN" sz="2400" b="1" dirty="0">
                <a:solidFill>
                  <a:schemeClr val="tx2"/>
                </a:solidFill>
                <a:latin typeface="华文中宋" panose="02010600040101010101" pitchFamily="2" charset="-122"/>
                <a:ea typeface="华文中宋" panose="02010600040101010101" pitchFamily="2" charset="-122"/>
              </a:rPr>
              <a:t>B</a:t>
            </a:r>
            <a:r>
              <a:rPr lang="zh-CN" altLang="en-US" sz="2400" b="1" dirty="0">
                <a:solidFill>
                  <a:schemeClr val="tx2"/>
                </a:solidFill>
                <a:latin typeface="华文中宋" panose="02010600040101010101" pitchFamily="2" charset="-122"/>
                <a:ea typeface="华文中宋" panose="02010600040101010101" pitchFamily="2" charset="-122"/>
              </a:rPr>
              <a:t>、</a:t>
            </a:r>
            <a:r>
              <a:rPr lang="en-US" altLang="zh-CN" sz="2400" b="1" dirty="0">
                <a:solidFill>
                  <a:schemeClr val="tx2"/>
                </a:solidFill>
                <a:latin typeface="华文中宋" panose="02010600040101010101" pitchFamily="2" charset="-122"/>
                <a:ea typeface="华文中宋" panose="02010600040101010101" pitchFamily="2" charset="-122"/>
              </a:rPr>
              <a:t>C</a:t>
            </a:r>
            <a:r>
              <a:rPr lang="zh-CN" altLang="en-US" sz="2400" b="1" dirty="0">
                <a:solidFill>
                  <a:schemeClr val="tx2"/>
                </a:solidFill>
                <a:latin typeface="华文中宋" panose="02010600040101010101" pitchFamily="2" charset="-122"/>
                <a:ea typeface="华文中宋" panose="02010600040101010101" pitchFamily="2" charset="-122"/>
              </a:rPr>
              <a:t>、</a:t>
            </a:r>
            <a:r>
              <a:rPr lang="en-US" altLang="zh-CN" sz="2400" b="1" dirty="0">
                <a:solidFill>
                  <a:schemeClr val="tx2"/>
                </a:solidFill>
                <a:latin typeface="华文中宋" panose="02010600040101010101" pitchFamily="2" charset="-122"/>
                <a:ea typeface="华文中宋" panose="02010600040101010101" pitchFamily="2" charset="-122"/>
              </a:rPr>
              <a:t>D</a:t>
            </a:r>
            <a:r>
              <a:rPr lang="zh-CN" altLang="en-US" sz="2400" b="1" dirty="0">
                <a:solidFill>
                  <a:schemeClr val="tx2"/>
                </a:solidFill>
                <a:latin typeface="华文中宋" panose="02010600040101010101" pitchFamily="2" charset="-122"/>
                <a:ea typeface="华文中宋" panose="02010600040101010101" pitchFamily="2" charset="-122"/>
              </a:rPr>
              <a:t>四等计分，占总成绩的</a:t>
            </a:r>
            <a:r>
              <a:rPr lang="en-US" altLang="zh-CN" sz="2400" b="1" dirty="0">
                <a:solidFill>
                  <a:schemeClr val="tx2"/>
                </a:solidFill>
                <a:latin typeface="华文中宋" panose="02010600040101010101" pitchFamily="2" charset="-122"/>
                <a:ea typeface="华文中宋" panose="02010600040101010101" pitchFamily="2" charset="-122"/>
              </a:rPr>
              <a:t>15%</a:t>
            </a:r>
            <a:endParaRPr lang="en-US" altLang="zh-CN" sz="2400" b="1" dirty="0">
              <a:solidFill>
                <a:schemeClr val="tx2"/>
              </a:solidFill>
              <a:latin typeface="华文中宋" panose="02010600040101010101" pitchFamily="2" charset="-122"/>
              <a:ea typeface="华文中宋" panose="02010600040101010101" pitchFamily="2" charset="-122"/>
            </a:endParaRPr>
          </a:p>
          <a:p>
            <a:pPr lvl="1"/>
            <a:r>
              <a:rPr lang="zh-CN" altLang="en-US" sz="2400" b="1" dirty="0">
                <a:solidFill>
                  <a:schemeClr val="tx2"/>
                </a:solidFill>
                <a:latin typeface="华文中宋" panose="02010600040101010101" pitchFamily="2" charset="-122"/>
                <a:ea typeface="华文中宋" panose="02010600040101010101" pitchFamily="2" charset="-122"/>
              </a:rPr>
              <a:t>课堂讨论及出勤率占总成绩的</a:t>
            </a:r>
            <a:r>
              <a:rPr lang="en-US" altLang="zh-CN" sz="2400" b="1" dirty="0">
                <a:solidFill>
                  <a:schemeClr val="tx2"/>
                </a:solidFill>
                <a:latin typeface="华文中宋" panose="02010600040101010101" pitchFamily="2" charset="-122"/>
                <a:ea typeface="华文中宋" panose="02010600040101010101" pitchFamily="2" charset="-122"/>
              </a:rPr>
              <a:t>15%</a:t>
            </a:r>
            <a:endParaRPr lang="en-US" altLang="zh-CN" sz="2400" b="1" dirty="0">
              <a:latin typeface="华文中宋" panose="02010600040101010101" pitchFamily="2" charset="-122"/>
              <a:ea typeface="华文中宋" panose="02010600040101010101" pitchFamily="2" charset="-122"/>
            </a:endParaRPr>
          </a:p>
          <a:p>
            <a:pPr lvl="1">
              <a:lnSpc>
                <a:spcPct val="80000"/>
              </a:lnSpc>
            </a:pPr>
            <a:endParaRPr lang="zh-CN" altLang="en-US" sz="2400" b="1" dirty="0">
              <a:latin typeface="华文中宋" panose="02010600040101010101" pitchFamily="2" charset="-122"/>
              <a:ea typeface="华文中宋" panose="0201060004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457200" y="273050"/>
            <a:ext cx="8229600" cy="1139825"/>
          </a:xfrm>
        </p:spPr>
        <p:txBody>
          <a:bodyPr vert="horz" wrap="square" lIns="91440" tIns="45720" rIns="91440" bIns="45720" anchor="b" anchorCtr="0"/>
          <a:p>
            <a:pPr algn="ctr" eaLnBrk="1" hangingPunct="1"/>
            <a:r>
              <a:rPr lang="zh-CN" altLang="zh-CN" sz="4000" b="1" dirty="0">
                <a:latin typeface="楷体_GB2312" pitchFamily="49" charset="-122"/>
                <a:ea typeface="楷体_GB2312" pitchFamily="49" charset="-122"/>
              </a:rPr>
              <a:t>第二篇  铸造</a:t>
            </a:r>
            <a:endParaRPr lang="zh-CN" altLang="zh-CN" sz="4000" b="1" dirty="0">
              <a:latin typeface="楷体_GB2312" pitchFamily="49" charset="-122"/>
              <a:ea typeface="楷体_GB2312" pitchFamily="49" charset="-122"/>
            </a:endParaRPr>
          </a:p>
        </p:txBody>
      </p:sp>
      <p:sp>
        <p:nvSpPr>
          <p:cNvPr id="9219" name="Rectangle 3"/>
          <p:cNvSpPr>
            <a:spLocks noGrp="1"/>
          </p:cNvSpPr>
          <p:nvPr>
            <p:ph type="body" sz="half"/>
          </p:nvPr>
        </p:nvSpPr>
        <p:spPr>
          <a:xfrm>
            <a:off x="684213" y="1484313"/>
            <a:ext cx="8064500" cy="1585912"/>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r>
              <a:rPr lang="zh-CN" altLang="zh-CN" sz="2800" b="1" dirty="0">
                <a:solidFill>
                  <a:srgbClr val="FF6600"/>
                </a:solidFill>
                <a:ea typeface="楷体_GB2312" pitchFamily="49" charset="-122"/>
              </a:rPr>
              <a:t>定义：</a:t>
            </a:r>
            <a:endParaRPr lang="zh-CN" altLang="zh-CN" sz="2800" b="1" dirty="0">
              <a:solidFill>
                <a:srgbClr val="FF6600"/>
              </a:solidFill>
              <a:ea typeface="楷体_GB2312" pitchFamily="49" charset="-122"/>
            </a:endParaRPr>
          </a:p>
          <a:p>
            <a:pPr lvl="1" eaLnBrk="1" hangingPunct="1"/>
            <a:r>
              <a:rPr lang="zh-CN" altLang="zh-CN" sz="2400" b="1" dirty="0">
                <a:ea typeface="楷体_GB2312" pitchFamily="49" charset="-122"/>
              </a:rPr>
              <a:t>将液态金属浇注到</a:t>
            </a:r>
            <a:r>
              <a:rPr lang="zh-CN" altLang="zh-CN" sz="2400" b="1" u="sng" dirty="0">
                <a:solidFill>
                  <a:srgbClr val="FF0000"/>
                </a:solidFill>
                <a:ea typeface="楷体_GB2312" pitchFamily="49" charset="-122"/>
              </a:rPr>
              <a:t>铸型</a:t>
            </a:r>
            <a:r>
              <a:rPr lang="zh-CN" altLang="zh-CN" sz="2400" b="1" dirty="0">
                <a:ea typeface="楷体_GB2312" pitchFamily="49" charset="-122"/>
              </a:rPr>
              <a:t>中，待其冷却凝固，以获得一定形状、尺寸和性能的毛坯或零件的成形方法，称为铸造</a:t>
            </a:r>
            <a:r>
              <a:rPr lang="zh-CN" altLang="zh-CN" sz="2400" b="1" dirty="0">
                <a:solidFill>
                  <a:srgbClr val="0000CC"/>
                </a:solidFill>
                <a:latin typeface="楷体_GB2312" pitchFamily="49" charset="-122"/>
                <a:ea typeface="楷体_GB2312" pitchFamily="49" charset="-122"/>
              </a:rPr>
              <a:t>。是生产金属零件和毛坯的主要形式之一。</a:t>
            </a:r>
            <a:endParaRPr lang="zh-CN" altLang="zh-CN" sz="2400" b="1" dirty="0">
              <a:solidFill>
                <a:srgbClr val="0000CC"/>
              </a:solidFill>
              <a:latin typeface="楷体_GB2312" pitchFamily="49" charset="-122"/>
              <a:ea typeface="楷体_GB2312" pitchFamily="49" charset="-122"/>
            </a:endParaRPr>
          </a:p>
        </p:txBody>
      </p:sp>
      <p:pic>
        <p:nvPicPr>
          <p:cNvPr id="16388" name="图片 4" descr="image19.jpeg"/>
          <p:cNvPicPr>
            <a:picLocks noChangeAspect="1"/>
          </p:cNvPicPr>
          <p:nvPr/>
        </p:nvPicPr>
        <p:blipFill>
          <a:blip r:embed="rId1"/>
          <a:stretch>
            <a:fillRect/>
          </a:stretch>
        </p:blipFill>
        <p:spPr>
          <a:xfrm>
            <a:off x="150813" y="3252788"/>
            <a:ext cx="8842375" cy="3332162"/>
          </a:xfrm>
          <a:prstGeom prst="rect">
            <a:avLst/>
          </a:prstGeom>
          <a:noFill/>
          <a:ln w="9525">
            <a:noFill/>
          </a:ln>
        </p:spPr>
      </p:pic>
      <p:sp>
        <p:nvSpPr>
          <p:cNvPr id="16389" name="对话气泡: 圆角矩形 3"/>
          <p:cNvSpPr/>
          <p:nvPr/>
        </p:nvSpPr>
        <p:spPr>
          <a:xfrm>
            <a:off x="4356100" y="6308725"/>
            <a:ext cx="792163" cy="458788"/>
          </a:xfrm>
          <a:prstGeom prst="wedgeRoundRectCallout">
            <a:avLst>
              <a:gd name="adj1" fmla="val -84796"/>
              <a:gd name="adj2" fmla="val -79389"/>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1800" dirty="0"/>
              <a:t>铸型</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219">
                                            <p:txEl>
                                              <p:charRg st="0"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9219">
                                            <p:txEl>
                                              <p:charRg st="4" end="7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矩形 3"/>
          <p:cNvSpPr/>
          <p:nvPr/>
        </p:nvSpPr>
        <p:spPr>
          <a:xfrm>
            <a:off x="1692275" y="1601788"/>
            <a:ext cx="4572000" cy="9223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en-US" altLang="zh-CN" sz="1800" dirty="0">
                <a:hlinkClick r:id="rId1"/>
              </a:rPr>
              <a:t>https://haokan.baidu.com/v?vid=15272360448994675303&amp;pd=bjh&amp;fr=bjhauthor&amp;type=video</a:t>
            </a:r>
            <a:r>
              <a:rPr lang="en-US" altLang="zh-CN" sz="1800" dirty="0"/>
              <a:t> </a:t>
            </a:r>
            <a:r>
              <a:rPr lang="zh-CN" altLang="en-US" sz="1800" dirty="0"/>
              <a:t>青铜器铸造</a:t>
            </a:r>
            <a:endParaRPr lang="zh-CN" altLang="en-US" sz="1800" dirty="0"/>
          </a:p>
        </p:txBody>
      </p:sp>
      <p:sp>
        <p:nvSpPr>
          <p:cNvPr id="17411" name="文本框 4"/>
          <p:cNvSpPr txBox="1"/>
          <p:nvPr/>
        </p:nvSpPr>
        <p:spPr>
          <a:xfrm>
            <a:off x="1824038" y="723900"/>
            <a:ext cx="5111750"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4000" dirty="0"/>
              <a:t>铸造的前世今生   </a:t>
            </a:r>
            <a:endParaRPr lang="zh-CN" altLang="en-US" sz="4000" dirty="0"/>
          </a:p>
        </p:txBody>
      </p:sp>
      <p:sp>
        <p:nvSpPr>
          <p:cNvPr id="17412" name="矩形 1"/>
          <p:cNvSpPr/>
          <p:nvPr/>
        </p:nvSpPr>
        <p:spPr>
          <a:xfrm>
            <a:off x="1712913" y="2865438"/>
            <a:ext cx="4572000" cy="9239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en-US" altLang="zh-CN" sz="1800" dirty="0">
                <a:hlinkClick r:id="rId2"/>
              </a:rPr>
              <a:t>https://haokan.baidu.com/v?vid=16566004696735053846&amp;pd=bjh&amp;fr=bjhauthor&amp;type=video</a:t>
            </a:r>
            <a:r>
              <a:rPr lang="en-US" altLang="zh-CN" sz="1800" dirty="0"/>
              <a:t> </a:t>
            </a:r>
            <a:r>
              <a:rPr lang="zh-CN" altLang="en-US" sz="1800" dirty="0"/>
              <a:t>各种铸造过程</a:t>
            </a:r>
            <a:endParaRPr lang="zh-CN" altLang="en-US" sz="1800" dirty="0"/>
          </a:p>
        </p:txBody>
      </p:sp>
      <p:pic>
        <p:nvPicPr>
          <p:cNvPr id="17413" name="Picture 6"/>
          <p:cNvPicPr>
            <a:picLocks noChangeAspect="1"/>
          </p:cNvPicPr>
          <p:nvPr/>
        </p:nvPicPr>
        <p:blipFill>
          <a:blip r:embed="rId3"/>
          <a:stretch>
            <a:fillRect/>
          </a:stretch>
        </p:blipFill>
        <p:spPr>
          <a:xfrm>
            <a:off x="6372225" y="1666875"/>
            <a:ext cx="2484438" cy="2092325"/>
          </a:xfrm>
          <a:prstGeom prst="rect">
            <a:avLst/>
          </a:prstGeom>
          <a:noFill/>
          <a:ln w="9525">
            <a:noFill/>
          </a:ln>
        </p:spPr>
      </p:pic>
      <p:pic>
        <p:nvPicPr>
          <p:cNvPr id="17414" name="Picture 8"/>
          <p:cNvPicPr>
            <a:picLocks noChangeAspect="1"/>
          </p:cNvPicPr>
          <p:nvPr/>
        </p:nvPicPr>
        <p:blipFill>
          <a:blip r:embed="rId4"/>
          <a:stretch>
            <a:fillRect/>
          </a:stretch>
        </p:blipFill>
        <p:spPr>
          <a:xfrm>
            <a:off x="4552950" y="3390900"/>
            <a:ext cx="38100" cy="76200"/>
          </a:xfrm>
          <a:prstGeom prst="rect">
            <a:avLst/>
          </a:prstGeom>
          <a:noFill/>
          <a:ln w="9525">
            <a:noFill/>
          </a:ln>
        </p:spPr>
      </p:pic>
      <p:pic>
        <p:nvPicPr>
          <p:cNvPr id="17415" name="Picture 10"/>
          <p:cNvPicPr>
            <a:picLocks noChangeAspect="1"/>
          </p:cNvPicPr>
          <p:nvPr/>
        </p:nvPicPr>
        <p:blipFill>
          <a:blip r:embed="rId4"/>
          <a:stretch>
            <a:fillRect/>
          </a:stretch>
        </p:blipFill>
        <p:spPr>
          <a:xfrm>
            <a:off x="4705350" y="3543300"/>
            <a:ext cx="38100" cy="76200"/>
          </a:xfrm>
          <a:prstGeom prst="rect">
            <a:avLst/>
          </a:prstGeom>
          <a:noFill/>
          <a:ln w="9525">
            <a:noFill/>
          </a:ln>
        </p:spPr>
      </p:pic>
      <p:pic>
        <p:nvPicPr>
          <p:cNvPr id="17416" name="图片 5"/>
          <p:cNvPicPr>
            <a:picLocks noChangeAspect="1"/>
          </p:cNvPicPr>
          <p:nvPr/>
        </p:nvPicPr>
        <p:blipFill>
          <a:blip r:embed="rId5"/>
          <a:stretch>
            <a:fillRect/>
          </a:stretch>
        </p:blipFill>
        <p:spPr>
          <a:xfrm>
            <a:off x="1979613" y="3803650"/>
            <a:ext cx="3536950" cy="2905125"/>
          </a:xfrm>
          <a:prstGeom prst="rect">
            <a:avLst/>
          </a:prstGeom>
          <a:noFill/>
          <a:ln w="9525">
            <a:noFill/>
          </a:ln>
        </p:spPr>
      </p:pic>
      <p:pic>
        <p:nvPicPr>
          <p:cNvPr id="17417" name="Picture 12"/>
          <p:cNvPicPr>
            <a:picLocks noChangeAspect="1"/>
          </p:cNvPicPr>
          <p:nvPr/>
        </p:nvPicPr>
        <p:blipFill>
          <a:blip r:embed="rId6"/>
          <a:stretch>
            <a:fillRect/>
          </a:stretch>
        </p:blipFill>
        <p:spPr>
          <a:xfrm>
            <a:off x="5999163" y="3941763"/>
            <a:ext cx="2857500" cy="262890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1"/>
          <p:cNvSpPr/>
          <p:nvPr/>
        </p:nvSpPr>
        <p:spPr>
          <a:xfrm>
            <a:off x="1727200" y="1760538"/>
            <a:ext cx="6805613"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None/>
            </a:pPr>
            <a:r>
              <a:rPr lang="en-US" altLang="zh-CN" sz="1800" dirty="0">
                <a:hlinkClick r:id="rId1"/>
              </a:rPr>
              <a:t>http://www.iqiyi.com/w_19rvfdm4vh.html</a:t>
            </a:r>
            <a:r>
              <a:rPr lang="zh-CN" altLang="en-US" sz="1800" dirty="0"/>
              <a:t>汽车发动机铸造</a:t>
            </a:r>
            <a:endParaRPr lang="zh-CN" altLang="en-US" sz="1800" dirty="0"/>
          </a:p>
          <a:p>
            <a:pPr marL="0" lvl="0" indent="0">
              <a:spcBef>
                <a:spcPct val="0"/>
              </a:spcBef>
              <a:buClrTx/>
              <a:buSzTx/>
              <a:buFontTx/>
              <a:buNone/>
            </a:pPr>
            <a:endParaRPr lang="zh-CN" altLang="en-US" sz="1800" dirty="0"/>
          </a:p>
        </p:txBody>
      </p:sp>
      <p:sp>
        <p:nvSpPr>
          <p:cNvPr id="18435" name="矩形 2"/>
          <p:cNvSpPr/>
          <p:nvPr/>
        </p:nvSpPr>
        <p:spPr>
          <a:xfrm>
            <a:off x="1727200" y="2266950"/>
            <a:ext cx="6589713" cy="646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en-US" altLang="zh-CN" sz="1800" dirty="0">
                <a:hlinkClick r:id="rId2"/>
              </a:rPr>
              <a:t>https://haokan.baidu.com/v?vid=1558956395175017684&amp;pd=bjh&amp;fr=bjhauthor&amp;type=video</a:t>
            </a:r>
            <a:r>
              <a:rPr lang="en-US" altLang="zh-CN" sz="1800" dirty="0"/>
              <a:t> </a:t>
            </a:r>
            <a:r>
              <a:rPr lang="zh-CN" altLang="en-US" sz="1800" dirty="0"/>
              <a:t>汽车发动机缸体</a:t>
            </a:r>
            <a:endParaRPr lang="zh-CN" altLang="en-US" sz="1800" dirty="0"/>
          </a:p>
        </p:txBody>
      </p:sp>
      <p:sp>
        <p:nvSpPr>
          <p:cNvPr id="18436" name="文本框 4"/>
          <p:cNvSpPr txBox="1"/>
          <p:nvPr/>
        </p:nvSpPr>
        <p:spPr>
          <a:xfrm>
            <a:off x="1824038" y="723900"/>
            <a:ext cx="5111750"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4000" dirty="0"/>
              <a:t>铸造的前世今生   </a:t>
            </a:r>
            <a:endParaRPr lang="zh-CN" altLang="en-US" sz="4000" dirty="0"/>
          </a:p>
        </p:txBody>
      </p:sp>
      <p:pic>
        <p:nvPicPr>
          <p:cNvPr id="18437" name="Picture 4"/>
          <p:cNvPicPr>
            <a:picLocks noChangeAspect="1"/>
          </p:cNvPicPr>
          <p:nvPr/>
        </p:nvPicPr>
        <p:blipFill>
          <a:blip r:embed="rId3"/>
          <a:stretch>
            <a:fillRect/>
          </a:stretch>
        </p:blipFill>
        <p:spPr>
          <a:xfrm>
            <a:off x="4354513" y="3284538"/>
            <a:ext cx="4429125" cy="3321050"/>
          </a:xfrm>
          <a:prstGeom prst="rect">
            <a:avLst/>
          </a:prstGeom>
          <a:noFill/>
          <a:ln w="9525">
            <a:noFill/>
          </a:ln>
        </p:spPr>
      </p:pic>
      <p:pic>
        <p:nvPicPr>
          <p:cNvPr id="18438" name="Picture 2"/>
          <p:cNvPicPr>
            <a:picLocks noChangeAspect="1"/>
          </p:cNvPicPr>
          <p:nvPr/>
        </p:nvPicPr>
        <p:blipFill>
          <a:blip r:embed="rId4"/>
          <a:stretch>
            <a:fillRect/>
          </a:stretch>
        </p:blipFill>
        <p:spPr>
          <a:xfrm>
            <a:off x="539750" y="3597275"/>
            <a:ext cx="3598863" cy="2697163"/>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4"/>
          <p:cNvSpPr/>
          <p:nvPr/>
        </p:nvSpPr>
        <p:spPr>
          <a:xfrm>
            <a:off x="3130550" y="681038"/>
            <a:ext cx="3313113" cy="701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zh-CN" sz="4000" b="1" dirty="0">
                <a:solidFill>
                  <a:schemeClr val="tx2"/>
                </a:solidFill>
                <a:ea typeface="楷体_GB2312" pitchFamily="49" charset="-122"/>
              </a:rPr>
              <a:t>铸造的特点</a:t>
            </a:r>
            <a:r>
              <a:rPr lang="zh-CN" altLang="zh-CN" sz="4000" dirty="0"/>
              <a:t> </a:t>
            </a:r>
            <a:endParaRPr lang="zh-CN" altLang="zh-CN" sz="4000" dirty="0"/>
          </a:p>
        </p:txBody>
      </p:sp>
      <p:grpSp>
        <p:nvGrpSpPr>
          <p:cNvPr id="2" name="Group 10"/>
          <p:cNvGrpSpPr/>
          <p:nvPr/>
        </p:nvGrpSpPr>
        <p:grpSpPr>
          <a:xfrm>
            <a:off x="4284663" y="1687513"/>
            <a:ext cx="4105275" cy="1873250"/>
            <a:chOff x="0" y="0"/>
            <a:chExt cx="2859" cy="1447"/>
          </a:xfrm>
        </p:grpSpPr>
        <p:pic>
          <p:nvPicPr>
            <p:cNvPr id="19464" name="Picture 5"/>
            <p:cNvPicPr>
              <a:picLocks noChangeAspect="1"/>
            </p:cNvPicPr>
            <p:nvPr/>
          </p:nvPicPr>
          <p:blipFill>
            <a:blip r:embed="rId1"/>
            <a:stretch>
              <a:fillRect/>
            </a:stretch>
          </p:blipFill>
          <p:spPr>
            <a:xfrm>
              <a:off x="92" y="0"/>
              <a:ext cx="2767" cy="1447"/>
            </a:xfrm>
            <a:prstGeom prst="rect">
              <a:avLst/>
            </a:prstGeom>
            <a:solidFill>
              <a:srgbClr val="CCFFFF"/>
            </a:solidFill>
            <a:ln w="9525">
              <a:noFill/>
            </a:ln>
          </p:spPr>
        </p:pic>
        <p:sp>
          <p:nvSpPr>
            <p:cNvPr id="19465" name="AutoShape 6"/>
            <p:cNvSpPr/>
            <p:nvPr/>
          </p:nvSpPr>
          <p:spPr>
            <a:xfrm>
              <a:off x="0" y="91"/>
              <a:ext cx="318" cy="1270"/>
            </a:xfrm>
            <a:prstGeom prst="leftBrace">
              <a:avLst>
                <a:gd name="adj1" fmla="val 33280"/>
                <a:gd name="adj2" fmla="val 50000"/>
              </a:avLst>
            </a:prstGeom>
            <a:solidFill>
              <a:srgbClr val="CC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sp>
        <p:nvSpPr>
          <p:cNvPr id="19460" name="Rectangle 8"/>
          <p:cNvSpPr/>
          <p:nvPr/>
        </p:nvSpPr>
        <p:spPr>
          <a:xfrm>
            <a:off x="152400" y="299243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247" name="Rectangle 9"/>
          <p:cNvSpPr/>
          <p:nvPr/>
        </p:nvSpPr>
        <p:spPr>
          <a:xfrm>
            <a:off x="817563" y="3951288"/>
            <a:ext cx="6932612" cy="10668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914400" eaLnBrk="1" hangingPunct="1">
              <a:spcBef>
                <a:spcPct val="0"/>
              </a:spcBef>
              <a:buClrTx/>
              <a:buSzTx/>
              <a:buNone/>
            </a:pPr>
            <a:r>
              <a:rPr lang="en-US" altLang="zh-CN" sz="2000" b="1" dirty="0">
                <a:solidFill>
                  <a:srgbClr val="009900"/>
                </a:solidFill>
                <a:latin typeface="楷体_GB2312" pitchFamily="49" charset="-122"/>
                <a:ea typeface="楷体_GB2312" pitchFamily="49" charset="-122"/>
              </a:rPr>
              <a:t>2</a:t>
            </a:r>
            <a:r>
              <a:rPr lang="zh-CN" altLang="en-US" sz="2000" b="1" dirty="0">
                <a:solidFill>
                  <a:srgbClr val="009900"/>
                </a:solidFill>
                <a:latin typeface="楷体_GB2312" pitchFamily="49" charset="-122"/>
                <a:ea typeface="楷体_GB2312" pitchFamily="49" charset="-122"/>
              </a:rPr>
              <a:t>．铸件成本低</a:t>
            </a:r>
            <a:endParaRPr lang="zh-CN" altLang="en-US" sz="2000" b="1" dirty="0">
              <a:solidFill>
                <a:srgbClr val="009900"/>
              </a:solidFill>
              <a:latin typeface="楷体_GB2312" pitchFamily="49" charset="-122"/>
              <a:ea typeface="楷体_GB2312" pitchFamily="49" charset="-122"/>
            </a:endParaRPr>
          </a:p>
          <a:p>
            <a:pPr marL="0" lvl="0" indent="914400">
              <a:spcBef>
                <a:spcPct val="0"/>
              </a:spcBef>
              <a:buClrTx/>
              <a:buSzTx/>
              <a:buNone/>
            </a:pPr>
            <a:r>
              <a:rPr lang="zh-CN" altLang="en-US" sz="2000" b="1" dirty="0">
                <a:latin typeface="楷体_GB2312" pitchFamily="49" charset="-122"/>
                <a:ea typeface="楷体_GB2312" pitchFamily="49" charset="-122"/>
              </a:rPr>
              <a:t>原材料：来源广、价格低、投资少、易生产</a:t>
            </a:r>
            <a:endParaRPr lang="zh-CN" altLang="en-US" sz="2000" b="1" dirty="0">
              <a:latin typeface="楷体_GB2312" pitchFamily="49" charset="-122"/>
              <a:ea typeface="楷体_GB2312" pitchFamily="49" charset="-122"/>
            </a:endParaRPr>
          </a:p>
          <a:p>
            <a:pPr marL="0" lvl="0" indent="914400">
              <a:spcBef>
                <a:spcPct val="0"/>
              </a:spcBef>
              <a:buClrTx/>
              <a:buSzTx/>
              <a:buNone/>
            </a:pPr>
            <a:r>
              <a:rPr lang="zh-CN" altLang="en-US" sz="2000" b="1" dirty="0">
                <a:latin typeface="楷体_GB2312" pitchFamily="49" charset="-122"/>
                <a:ea typeface="楷体_GB2312" pitchFamily="49" charset="-122"/>
              </a:rPr>
              <a:t>铸件：机械加工量相对较小，成本低</a:t>
            </a:r>
            <a:r>
              <a:rPr lang="zh-CN" altLang="en-US" sz="2400" b="1" dirty="0">
                <a:solidFill>
                  <a:srgbClr val="FFFFFF"/>
                </a:solidFill>
                <a:latin typeface="楷体_GB2312" pitchFamily="49" charset="-122"/>
                <a:ea typeface="楷体_GB2312" pitchFamily="49" charset="-122"/>
              </a:rPr>
              <a:t>  </a:t>
            </a:r>
            <a:endParaRPr lang="zh-CN" altLang="en-US" sz="2400" b="1" dirty="0">
              <a:solidFill>
                <a:srgbClr val="FFFFFF"/>
              </a:solidFill>
              <a:latin typeface="楷体_GB2312" pitchFamily="49" charset="-122"/>
              <a:ea typeface="楷体_GB2312" pitchFamily="49" charset="-122"/>
            </a:endParaRPr>
          </a:p>
        </p:txBody>
      </p:sp>
      <p:sp>
        <p:nvSpPr>
          <p:cNvPr id="10248" name="Rectangle 11"/>
          <p:cNvSpPr/>
          <p:nvPr/>
        </p:nvSpPr>
        <p:spPr>
          <a:xfrm>
            <a:off x="817563" y="5300663"/>
            <a:ext cx="6481762" cy="1384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400" b="1" dirty="0">
                <a:solidFill>
                  <a:srgbClr val="FF3300"/>
                </a:solidFill>
                <a:latin typeface="楷体_GB2312" pitchFamily="49" charset="-122"/>
                <a:ea typeface="楷体_GB2312" pitchFamily="49" charset="-122"/>
              </a:rPr>
              <a:t>缺点</a:t>
            </a:r>
            <a:r>
              <a:rPr lang="en-US" altLang="zh-CN" sz="2400" b="1" dirty="0">
                <a:solidFill>
                  <a:srgbClr val="FF3300"/>
                </a:solidFill>
                <a:latin typeface="楷体_GB2312" pitchFamily="49" charset="-122"/>
                <a:ea typeface="楷体_GB2312" pitchFamily="49" charset="-122"/>
              </a:rPr>
              <a:t>:</a:t>
            </a:r>
            <a:r>
              <a:rPr lang="en-US" altLang="zh-CN" sz="2000" b="1" dirty="0">
                <a:latin typeface="楷体_GB2312" pitchFamily="49" charset="-122"/>
                <a:ea typeface="楷体_GB2312" pitchFamily="49" charset="-122"/>
              </a:rPr>
              <a:t> </a:t>
            </a:r>
            <a:r>
              <a:rPr lang="en-US" altLang="zh-CN" sz="2000" b="1" dirty="0">
                <a:solidFill>
                  <a:srgbClr val="0000FF"/>
                </a:solidFill>
                <a:latin typeface="楷体_GB2312" pitchFamily="49" charset="-122"/>
                <a:ea typeface="楷体_GB2312" pitchFamily="49" charset="-122"/>
              </a:rPr>
              <a:t>1</a:t>
            </a:r>
            <a:r>
              <a:rPr lang="zh-CN" altLang="en-US" sz="2000" b="1" dirty="0">
                <a:solidFill>
                  <a:srgbClr val="0000FF"/>
                </a:solidFill>
                <a:latin typeface="楷体_GB2312" pitchFamily="49" charset="-122"/>
                <a:ea typeface="楷体_GB2312" pitchFamily="49" charset="-122"/>
              </a:rPr>
              <a:t>．废品率较高，生产过程难以控制；</a:t>
            </a:r>
            <a:endParaRPr lang="zh-CN" altLang="en-US" sz="2000" b="1" dirty="0">
              <a:solidFill>
                <a:srgbClr val="0000FF"/>
              </a:solidFill>
              <a:latin typeface="楷体_GB2312" pitchFamily="49" charset="-122"/>
              <a:ea typeface="楷体_GB2312" pitchFamily="49" charset="-122"/>
            </a:endParaRPr>
          </a:p>
          <a:p>
            <a:pPr marL="0" lvl="0" indent="0" eaLnBrk="1" hangingPunct="1">
              <a:spcBef>
                <a:spcPct val="0"/>
              </a:spcBef>
              <a:buClrTx/>
              <a:buSzTx/>
              <a:buNone/>
            </a:pPr>
            <a:r>
              <a:rPr lang="zh-CN" altLang="en-US" sz="2000" b="1" dirty="0">
                <a:solidFill>
                  <a:srgbClr val="0000FF"/>
                </a:solidFill>
                <a:latin typeface="楷体_GB2312" pitchFamily="49" charset="-122"/>
                <a:ea typeface="楷体_GB2312" pitchFamily="49" charset="-122"/>
              </a:rPr>
              <a:t>          </a:t>
            </a:r>
            <a:r>
              <a:rPr lang="en-US" altLang="zh-CN" sz="2000" b="1" dirty="0">
                <a:solidFill>
                  <a:srgbClr val="0000FF"/>
                </a:solidFill>
                <a:latin typeface="楷体_GB2312" pitchFamily="49" charset="-122"/>
                <a:ea typeface="楷体_GB2312" pitchFamily="49" charset="-122"/>
              </a:rPr>
              <a:t>2</a:t>
            </a:r>
            <a:r>
              <a:rPr lang="zh-CN" altLang="en-US" sz="2000" b="1" dirty="0">
                <a:solidFill>
                  <a:srgbClr val="0000FF"/>
                </a:solidFill>
                <a:latin typeface="楷体_GB2312" pitchFamily="49" charset="-122"/>
                <a:ea typeface="楷体_GB2312" pitchFamily="49" charset="-122"/>
              </a:rPr>
              <a:t>．铸件力学性能较差；</a:t>
            </a:r>
            <a:endParaRPr lang="zh-CN" altLang="en-US" sz="2000" b="1" dirty="0">
              <a:solidFill>
                <a:srgbClr val="0000FF"/>
              </a:solidFill>
              <a:latin typeface="楷体_GB2312" pitchFamily="49" charset="-122"/>
              <a:ea typeface="楷体_GB2312" pitchFamily="49" charset="-122"/>
            </a:endParaRPr>
          </a:p>
          <a:p>
            <a:pPr marL="0" lvl="0" indent="0" eaLnBrk="1" hangingPunct="1">
              <a:spcBef>
                <a:spcPct val="0"/>
              </a:spcBef>
              <a:buClrTx/>
              <a:buSzTx/>
              <a:buNone/>
            </a:pPr>
            <a:r>
              <a:rPr lang="zh-CN" altLang="en-US" sz="2000" b="1" dirty="0">
                <a:solidFill>
                  <a:srgbClr val="0000FF"/>
                </a:solidFill>
                <a:latin typeface="楷体_GB2312" pitchFamily="49" charset="-122"/>
                <a:ea typeface="楷体_GB2312" pitchFamily="49" charset="-122"/>
              </a:rPr>
              <a:t>          </a:t>
            </a:r>
            <a:r>
              <a:rPr lang="en-US" altLang="zh-CN" sz="2000" b="1" dirty="0">
                <a:solidFill>
                  <a:srgbClr val="0000FF"/>
                </a:solidFill>
                <a:latin typeface="楷体_GB2312" pitchFamily="49" charset="-122"/>
                <a:ea typeface="楷体_GB2312" pitchFamily="49" charset="-122"/>
              </a:rPr>
              <a:t>3</a:t>
            </a:r>
            <a:r>
              <a:rPr lang="zh-CN" altLang="en-US" sz="2000" b="1" dirty="0">
                <a:solidFill>
                  <a:srgbClr val="0000FF"/>
                </a:solidFill>
                <a:latin typeface="楷体_GB2312" pitchFamily="49" charset="-122"/>
                <a:ea typeface="楷体_GB2312" pitchFamily="49" charset="-122"/>
              </a:rPr>
              <a:t>．砂型铸造铸件精度较差。</a:t>
            </a:r>
            <a:endParaRPr lang="en-US" altLang="zh-CN" sz="2000" b="1" dirty="0">
              <a:solidFill>
                <a:srgbClr val="0000FF"/>
              </a:solidFill>
              <a:latin typeface="楷体_GB2312" pitchFamily="49" charset="-122"/>
              <a:ea typeface="楷体_GB2312" pitchFamily="49" charset="-122"/>
            </a:endParaRPr>
          </a:p>
          <a:p>
            <a:pPr marL="0" lvl="0" indent="0" eaLnBrk="1" hangingPunct="1">
              <a:spcBef>
                <a:spcPct val="0"/>
              </a:spcBef>
              <a:buClrTx/>
              <a:buSzTx/>
              <a:buNone/>
            </a:pPr>
            <a:r>
              <a:rPr lang="en-US" altLang="zh-CN" sz="2000" b="1" dirty="0">
                <a:solidFill>
                  <a:srgbClr val="0000FF"/>
                </a:solidFill>
                <a:latin typeface="楷体_GB2312" pitchFamily="49" charset="-122"/>
                <a:ea typeface="楷体_GB2312" pitchFamily="49" charset="-122"/>
              </a:rPr>
              <a:t>          4. </a:t>
            </a:r>
            <a:r>
              <a:rPr lang="zh-CN" altLang="en-US" sz="2000" b="1" dirty="0">
                <a:solidFill>
                  <a:srgbClr val="0000FF"/>
                </a:solidFill>
                <a:latin typeface="楷体_GB2312" pitchFamily="49" charset="-122"/>
                <a:ea typeface="楷体_GB2312" pitchFamily="49" charset="-122"/>
              </a:rPr>
              <a:t>生产条件差</a:t>
            </a:r>
            <a:endParaRPr lang="zh-CN" altLang="en-US" sz="2000" b="1" dirty="0">
              <a:solidFill>
                <a:srgbClr val="0000FF"/>
              </a:solidFill>
              <a:latin typeface="楷体_GB2312" pitchFamily="49" charset="-122"/>
              <a:ea typeface="楷体_GB2312" pitchFamily="49" charset="-122"/>
            </a:endParaRPr>
          </a:p>
        </p:txBody>
      </p:sp>
      <p:sp>
        <p:nvSpPr>
          <p:cNvPr id="10249" name="Rectangle 15"/>
          <p:cNvSpPr/>
          <p:nvPr/>
        </p:nvSpPr>
        <p:spPr>
          <a:xfrm>
            <a:off x="684213" y="2376488"/>
            <a:ext cx="41910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400" b="1" dirty="0">
                <a:solidFill>
                  <a:srgbClr val="FF3300"/>
                </a:solidFill>
                <a:latin typeface="楷体_GB2312" pitchFamily="49" charset="-122"/>
                <a:ea typeface="楷体_GB2312" pitchFamily="49" charset="-122"/>
              </a:rPr>
              <a:t>优点：</a:t>
            </a:r>
            <a:r>
              <a:rPr lang="en-US" altLang="zh-CN" sz="2000" b="1" dirty="0">
                <a:solidFill>
                  <a:srgbClr val="009900"/>
                </a:solidFill>
                <a:latin typeface="楷体_GB2312" pitchFamily="49" charset="-122"/>
                <a:ea typeface="楷体_GB2312" pitchFamily="49" charset="-122"/>
              </a:rPr>
              <a:t>1</a:t>
            </a:r>
            <a:r>
              <a:rPr lang="zh-CN" altLang="en-US" sz="2000" b="1" dirty="0">
                <a:solidFill>
                  <a:srgbClr val="009900"/>
                </a:solidFill>
                <a:latin typeface="楷体_GB2312" pitchFamily="49" charset="-122"/>
                <a:ea typeface="楷体_GB2312" pitchFamily="49" charset="-122"/>
              </a:rPr>
              <a:t>．具有较强的适应性</a:t>
            </a:r>
            <a:endParaRPr lang="zh-CN" altLang="en-US" sz="2000" b="1" dirty="0">
              <a:solidFill>
                <a:srgbClr val="0099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9"/>
                                        </p:tgtEl>
                                        <p:attrNameLst>
                                          <p:attrName>style.visibility</p:attrName>
                                        </p:attrNameLst>
                                      </p:cBhvr>
                                      <p:to>
                                        <p:strVal val="visible"/>
                                      </p:to>
                                    </p:set>
                                    <p:animEffect transition="in" filter="blinds(horizontal)">
                                      <p:cBhvr>
                                        <p:cTn id="7" dur="500"/>
                                        <p:tgtEl>
                                          <p:spTgt spid="102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247">
                                            <p:txEl>
                                              <p:charRg st="0" end="8"/>
                                            </p:txEl>
                                          </p:spTgt>
                                        </p:tgtEl>
                                        <p:attrNameLst>
                                          <p:attrName>style.visibility</p:attrName>
                                        </p:attrNameLst>
                                      </p:cBhvr>
                                      <p:to>
                                        <p:strVal val="visible"/>
                                      </p:to>
                                    </p:set>
                                    <p:animEffect transition="in" filter="blinds(horizontal)">
                                      <p:cBhvr>
                                        <p:cTn id="17" dur="500"/>
                                        <p:tgtEl>
                                          <p:spTgt spid="10247">
                                            <p:txEl>
                                              <p:charRg st="0" end="8"/>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10247">
                                            <p:txEl>
                                              <p:charRg st="8" end="28"/>
                                            </p:txEl>
                                          </p:spTgt>
                                        </p:tgtEl>
                                        <p:attrNameLst>
                                          <p:attrName>style.visibility</p:attrName>
                                        </p:attrNameLst>
                                      </p:cBhvr>
                                      <p:to>
                                        <p:strVal val="visible"/>
                                      </p:to>
                                    </p:set>
                                    <p:animEffect transition="in" filter="blinds(horizontal)">
                                      <p:cBhvr>
                                        <p:cTn id="20" dur="500"/>
                                        <p:tgtEl>
                                          <p:spTgt spid="10247">
                                            <p:txEl>
                                              <p:charRg st="8" end="28"/>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10247">
                                            <p:txEl>
                                              <p:charRg st="28" end="47"/>
                                            </p:txEl>
                                          </p:spTgt>
                                        </p:tgtEl>
                                        <p:attrNameLst>
                                          <p:attrName>style.visibility</p:attrName>
                                        </p:attrNameLst>
                                      </p:cBhvr>
                                      <p:to>
                                        <p:strVal val="visible"/>
                                      </p:to>
                                    </p:set>
                                    <p:animEffect transition="in" filter="blinds(horizontal)">
                                      <p:cBhvr>
                                        <p:cTn id="23" dur="500"/>
                                        <p:tgtEl>
                                          <p:spTgt spid="10247">
                                            <p:txEl>
                                              <p:charRg st="28" end="4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0248">
                                            <p:txEl>
                                              <p:charRg st="0" end="22"/>
                                            </p:txEl>
                                          </p:spTgt>
                                        </p:tgtEl>
                                        <p:attrNameLst>
                                          <p:attrName>style.visibility</p:attrName>
                                        </p:attrNameLst>
                                      </p:cBhvr>
                                      <p:to>
                                        <p:strVal val="visible"/>
                                      </p:to>
                                    </p:set>
                                    <p:animEffect transition="in" filter="blinds(horizontal)">
                                      <p:cBhvr>
                                        <p:cTn id="28" dur="500"/>
                                        <p:tgtEl>
                                          <p:spTgt spid="10248">
                                            <p:txEl>
                                              <p:charRg st="0" end="22"/>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10248">
                                            <p:txEl>
                                              <p:charRg st="22" end="44"/>
                                            </p:txEl>
                                          </p:spTgt>
                                        </p:tgtEl>
                                        <p:attrNameLst>
                                          <p:attrName>style.visibility</p:attrName>
                                        </p:attrNameLst>
                                      </p:cBhvr>
                                      <p:to>
                                        <p:strVal val="visible"/>
                                      </p:to>
                                    </p:set>
                                    <p:animEffect transition="in" filter="blinds(horizontal)">
                                      <p:cBhvr>
                                        <p:cTn id="31" dur="500"/>
                                        <p:tgtEl>
                                          <p:spTgt spid="10248">
                                            <p:txEl>
                                              <p:charRg st="22" end="44"/>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0248">
                                            <p:txEl>
                                              <p:charRg st="44" end="68"/>
                                            </p:txEl>
                                          </p:spTgt>
                                        </p:tgtEl>
                                        <p:attrNameLst>
                                          <p:attrName>style.visibility</p:attrName>
                                        </p:attrNameLst>
                                      </p:cBhvr>
                                      <p:to>
                                        <p:strVal val="visible"/>
                                      </p:to>
                                    </p:set>
                                    <p:animEffect transition="in" filter="blinds(horizontal)">
                                      <p:cBhvr>
                                        <p:cTn id="34" dur="500"/>
                                        <p:tgtEl>
                                          <p:spTgt spid="10248">
                                            <p:txEl>
                                              <p:charRg st="44" end="68"/>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10248">
                                            <p:txEl>
                                              <p:charRg st="68" end="87"/>
                                            </p:txEl>
                                          </p:spTgt>
                                        </p:tgtEl>
                                        <p:attrNameLst>
                                          <p:attrName>style.visibility</p:attrName>
                                        </p:attrNameLst>
                                      </p:cBhvr>
                                      <p:to>
                                        <p:strVal val="visible"/>
                                      </p:to>
                                    </p:set>
                                    <p:animEffect transition="in" filter="blinds(horizontal)">
                                      <p:cBhvr>
                                        <p:cTn id="37" dur="500"/>
                                        <p:tgtEl>
                                          <p:spTgt spid="10248">
                                            <p:txEl>
                                              <p:charRg st="68" end="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1026"/>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zh-CN" sz="4000" b="1" dirty="0">
                <a:ea typeface="楷体_GB2312" pitchFamily="49" charset="-122"/>
              </a:rPr>
              <a:t>本篇的内容</a:t>
            </a:r>
            <a:endParaRPr lang="zh-CN" altLang="zh-CN" sz="4000" b="1" dirty="0">
              <a:latin typeface="GreekS" pitchFamily="2" charset="0"/>
              <a:ea typeface="楷体_GB2312" pitchFamily="49" charset="-122"/>
            </a:endParaRPr>
          </a:p>
        </p:txBody>
      </p:sp>
      <p:sp>
        <p:nvSpPr>
          <p:cNvPr id="20483" name="Rectangle 1027"/>
          <p:cNvSpPr>
            <a:spLocks noGrp="1"/>
          </p:cNvSpPr>
          <p:nvPr>
            <p:ph type="body" sz="half"/>
          </p:nvPr>
        </p:nvSpPr>
        <p:spPr>
          <a:xfrm>
            <a:off x="906463" y="1619250"/>
            <a:ext cx="5105400" cy="3538538"/>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marL="476250" lvl="0" indent="-476250" eaLnBrk="1" hangingPunct="1"/>
            <a:r>
              <a:rPr lang="zh-CN" altLang="zh-CN" sz="2400" b="1" dirty="0">
                <a:solidFill>
                  <a:srgbClr val="FF3300"/>
                </a:solidFill>
                <a:ea typeface="楷体_GB2312" pitchFamily="49" charset="-122"/>
              </a:rPr>
              <a:t>铸造工艺基础</a:t>
            </a:r>
            <a:endParaRPr lang="zh-CN" altLang="zh-CN" sz="2400" b="1" dirty="0">
              <a:solidFill>
                <a:srgbClr val="FF3300"/>
              </a:solidFill>
              <a:ea typeface="楷体_GB2312" pitchFamily="49" charset="-122"/>
            </a:endParaRPr>
          </a:p>
          <a:p>
            <a:pPr marL="857250" lvl="1" indent="-400050" eaLnBrk="1" hangingPunct="1"/>
            <a:r>
              <a:rPr lang="zh-CN" altLang="zh-CN" sz="2400" b="1" dirty="0">
                <a:ea typeface="楷体_GB2312" pitchFamily="49" charset="-122"/>
                <a:hlinkClick r:id="rId1" action="ppaction://hlinksldjump"/>
              </a:rPr>
              <a:t>液态合金的充型</a:t>
            </a:r>
            <a:endParaRPr lang="zh-CN" altLang="zh-CN" sz="2400" b="1" dirty="0">
              <a:ea typeface="楷体_GB2312" pitchFamily="49" charset="-122"/>
            </a:endParaRPr>
          </a:p>
          <a:p>
            <a:pPr marL="857250" lvl="1" indent="-400050" eaLnBrk="1" hangingPunct="1"/>
            <a:r>
              <a:rPr lang="zh-CN" altLang="zh-CN" sz="2400" b="1" dirty="0">
                <a:ea typeface="楷体_GB2312" pitchFamily="49" charset="-122"/>
                <a:hlinkClick r:id="rId2" action="ppaction://hlinksldjump"/>
              </a:rPr>
              <a:t>凝固与收缩</a:t>
            </a:r>
            <a:endParaRPr lang="zh-CN" altLang="zh-CN" sz="2400" b="1" dirty="0">
              <a:ea typeface="楷体_GB2312" pitchFamily="49" charset="-122"/>
            </a:endParaRPr>
          </a:p>
          <a:p>
            <a:pPr marL="857250" lvl="1" indent="-400050" eaLnBrk="1" hangingPunct="1"/>
            <a:r>
              <a:rPr lang="zh-CN" altLang="zh-CN" sz="2400" b="1" dirty="0">
                <a:ea typeface="楷体_GB2312" pitchFamily="49" charset="-122"/>
                <a:hlinkClick r:id="rId3" action="ppaction://hlinksldjump"/>
              </a:rPr>
              <a:t>铸造内应力、变形和裂纹</a:t>
            </a:r>
            <a:endParaRPr lang="zh-CN" altLang="zh-CN" sz="2400" b="1" dirty="0">
              <a:ea typeface="楷体_GB2312" pitchFamily="49" charset="-122"/>
            </a:endParaRPr>
          </a:p>
          <a:p>
            <a:pPr marL="1295400" lvl="2" indent="-381000" eaLnBrk="1" hangingPunct="1">
              <a:buNone/>
            </a:pPr>
            <a:endParaRPr lang="zh-CN" altLang="zh-CN" sz="2400" b="1" dirty="0">
              <a:ea typeface="楷体_GB2312" pitchFamily="49" charset="-122"/>
            </a:endParaRPr>
          </a:p>
          <a:p>
            <a:pPr marL="476250" lvl="0" indent="-476250" eaLnBrk="1" hangingPunct="1"/>
            <a:r>
              <a:rPr lang="zh-CN" altLang="zh-CN" sz="2400" b="1" dirty="0">
                <a:solidFill>
                  <a:srgbClr val="FF3300"/>
                </a:solidFill>
                <a:ea typeface="楷体_GB2312" pitchFamily="49" charset="-122"/>
              </a:rPr>
              <a:t>常用铸造方法、结构设计</a:t>
            </a:r>
            <a:endParaRPr lang="zh-CN" altLang="zh-CN" sz="2400" b="1" dirty="0">
              <a:solidFill>
                <a:srgbClr val="FF3300"/>
              </a:solidFill>
              <a:ea typeface="楷体_GB2312" pitchFamily="49" charset="-122"/>
            </a:endParaRPr>
          </a:p>
          <a:p>
            <a:pPr marL="857250" lvl="1" indent="-400050" eaLnBrk="1" hangingPunct="1"/>
            <a:r>
              <a:rPr lang="zh-CN" altLang="zh-CN" sz="2400" b="1" dirty="0">
                <a:solidFill>
                  <a:srgbClr val="0000FF"/>
                </a:solidFill>
                <a:ea typeface="楷体_GB2312" pitchFamily="49" charset="-122"/>
                <a:hlinkClick r:id="rId4" action="ppaction://hlinksldjump"/>
              </a:rPr>
              <a:t>砂型铸造</a:t>
            </a:r>
            <a:endParaRPr lang="zh-CN" altLang="zh-CN" sz="2400" b="1" dirty="0">
              <a:solidFill>
                <a:srgbClr val="0000FF"/>
              </a:solidFill>
              <a:ea typeface="楷体_GB2312" pitchFamily="49" charset="-122"/>
            </a:endParaRPr>
          </a:p>
          <a:p>
            <a:pPr marL="857250" lvl="1" indent="-400050" eaLnBrk="1" hangingPunct="1"/>
            <a:r>
              <a:rPr lang="zh-CN" altLang="zh-CN" sz="2400" b="1" dirty="0">
                <a:solidFill>
                  <a:srgbClr val="0000FF"/>
                </a:solidFill>
                <a:ea typeface="楷体_GB2312" pitchFamily="49" charset="-122"/>
                <a:hlinkClick r:id="rId5" action="ppaction://hlinksldjump"/>
              </a:rPr>
              <a:t>特种铸造</a:t>
            </a:r>
            <a:endParaRPr lang="zh-CN" altLang="zh-CN" sz="2400" b="1" dirty="0">
              <a:solidFill>
                <a:srgbClr val="0000FF"/>
              </a:solidFill>
              <a:ea typeface="楷体_GB2312" pitchFamily="49" charset="-122"/>
            </a:endParaRPr>
          </a:p>
          <a:p>
            <a:pPr marL="857250" lvl="1" indent="-400050" eaLnBrk="1" hangingPunct="1"/>
            <a:r>
              <a:rPr lang="zh-CN" altLang="zh-CN" sz="2400" b="1" dirty="0">
                <a:solidFill>
                  <a:srgbClr val="0000FF"/>
                </a:solidFill>
                <a:ea typeface="楷体_GB2312" pitchFamily="49" charset="-122"/>
                <a:hlinkClick r:id="rId6" action="ppaction://hlinksldjump"/>
              </a:rPr>
              <a:t>铸件结构设计</a:t>
            </a:r>
            <a:endParaRPr lang="zh-CN" altLang="zh-CN" sz="2400" b="1" dirty="0">
              <a:solidFill>
                <a:srgbClr val="0000FF"/>
              </a:solidFill>
              <a:ea typeface="楷体_GB2312"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3"/>
          <p:cNvSpPr>
            <a:spLocks noGrp="1" noChangeArrowheads="1"/>
          </p:cNvSpPr>
          <p:nvPr>
            <p:ph type="body" sz="half" idx="1"/>
          </p:nvPr>
        </p:nvSpPr>
        <p:spPr>
          <a:xfrm>
            <a:off x="1370013" y="1827213"/>
            <a:ext cx="737870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a:pPr>
            <a:r>
              <a:rPr kumimoji="0" lang="zh-CN" altLang="en-US" sz="2800" b="0" i="0" u="none" strike="noStrike" kern="1200" cap="none" spc="0" normalizeH="0" baseline="0" noProof="0">
                <a:ln>
                  <a:noFill/>
                </a:ln>
                <a:solidFill>
                  <a:schemeClr val="tx1"/>
                </a:solidFill>
                <a:effectLst/>
                <a:uLnTx/>
                <a:uFillTx/>
                <a:latin typeface="+mn-lt"/>
                <a:ea typeface="+mn-ea"/>
                <a:cs typeface="+mn-cs"/>
              </a:rPr>
              <a:t>铸造基本要求</a:t>
            </a:r>
            <a:r>
              <a:rPr kumimoji="0" lang="en-US" altLang="zh-CN" sz="2800" b="0" i="0" u="none" strike="noStrike" kern="1200" cap="none" spc="0" normalizeH="0" baseline="0" noProof="0">
                <a:ln>
                  <a:noFill/>
                </a:ln>
                <a:solidFill>
                  <a:schemeClr val="tx1"/>
                </a:solidFill>
                <a:effectLst/>
                <a:uLnTx/>
                <a:uFillTx/>
                <a:latin typeface="Arial" panose="020B0604020202020204" pitchFamily="34" charset="0"/>
                <a:ea typeface="+mn-ea"/>
                <a:cs typeface="+mn-cs"/>
              </a:rPr>
              <a:t>——</a:t>
            </a:r>
            <a:r>
              <a:rPr kumimoji="0" lang="zh-CN" altLang="en-US" sz="2800" b="0" i="0" u="none" strike="noStrike" kern="1200" cap="none" spc="0" normalizeH="0" baseline="0" noProof="0">
                <a:ln>
                  <a:noFill/>
                </a:ln>
                <a:solidFill>
                  <a:schemeClr val="tx1"/>
                </a:solidFill>
                <a:effectLst/>
                <a:uLnTx/>
                <a:uFillTx/>
                <a:latin typeface="+mn-lt"/>
                <a:ea typeface="+mn-ea"/>
                <a:cs typeface="+mn-cs"/>
              </a:rPr>
              <a:t>获得</a:t>
            </a:r>
            <a:r>
              <a:rPr kumimoji="0" lang="zh-CN" altLang="en-US" sz="2800" b="1" i="0" u="sng" strike="noStrike" kern="1200" cap="none" spc="0" normalizeH="0" baseline="0" noProof="0">
                <a:ln>
                  <a:noFill/>
                </a:ln>
                <a:solidFill>
                  <a:srgbClr val="FF0000"/>
                </a:solidFill>
                <a:effectLst/>
                <a:uLnTx/>
                <a:uFillTx/>
                <a:latin typeface="+mn-lt"/>
                <a:ea typeface="+mn-ea"/>
                <a:cs typeface="+mn-cs"/>
              </a:rPr>
              <a:t>优质铸件</a:t>
            </a:r>
            <a:r>
              <a:rPr kumimoji="0" lang="zh-CN" altLang="en-US" sz="2800" b="0" i="0" u="none" strike="noStrike" kern="1200" cap="none" spc="0" normalizeH="0" baseline="0" noProof="0">
                <a:ln>
                  <a:noFill/>
                </a:ln>
                <a:solidFill>
                  <a:schemeClr val="tx1"/>
                </a:solidFill>
                <a:effectLst/>
                <a:uLnTx/>
                <a:uFillTx/>
                <a:latin typeface="+mn-lt"/>
                <a:ea typeface="+mn-ea"/>
                <a:cs typeface="+mn-cs"/>
              </a:rPr>
              <a:t>。</a:t>
            </a: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a:pPr>
            <a:r>
              <a:rPr kumimoji="0" lang="zh-CN" altLang="en-US" sz="2800" b="1" i="0" u="sng" strike="noStrike" kern="1200" cap="none" spc="0" normalizeH="0" baseline="0" noProof="0">
                <a:ln>
                  <a:noFill/>
                </a:ln>
                <a:solidFill>
                  <a:srgbClr val="FF0000"/>
                </a:solidFill>
                <a:effectLst/>
                <a:uLnTx/>
                <a:uFillTx/>
                <a:latin typeface="+mn-lt"/>
                <a:ea typeface="+mn-ea"/>
                <a:cs typeface="+mn-cs"/>
              </a:rPr>
              <a:t>优质铸件</a:t>
            </a:r>
            <a:r>
              <a:rPr kumimoji="0" lang="en-US" altLang="zh-CN" sz="2800" b="0" i="0" u="none" strike="noStrike" kern="1200" cap="none" spc="0" normalizeH="0" baseline="0" noProof="0">
                <a:ln>
                  <a:noFill/>
                </a:ln>
                <a:solidFill>
                  <a:schemeClr val="tx1"/>
                </a:solidFill>
                <a:effectLst/>
                <a:uLnTx/>
                <a:uFillTx/>
                <a:latin typeface="Arial" panose="020B0604020202020204" pitchFamily="34" charset="0"/>
                <a:ea typeface="+mn-ea"/>
                <a:cs typeface="+mn-cs"/>
              </a:rPr>
              <a:t>——</a:t>
            </a:r>
            <a:r>
              <a:rPr kumimoji="0" lang="zh-CN" altLang="en-US" sz="2800" b="0" i="0" u="none" strike="noStrike" kern="1200" cap="none" spc="0" normalizeH="0" baseline="0" noProof="0">
                <a:ln>
                  <a:noFill/>
                </a:ln>
                <a:solidFill>
                  <a:schemeClr val="tx1"/>
                </a:solidFill>
                <a:effectLst/>
                <a:uLnTx/>
                <a:uFillTx/>
                <a:latin typeface="+mn-lt"/>
                <a:ea typeface="+mn-ea"/>
                <a:cs typeface="+mn-cs"/>
              </a:rPr>
              <a:t>铸件轮廓清晰、尺寸准确、表面光洁、组织致密、力学性能合格，没有超出技术要求的</a:t>
            </a:r>
            <a:r>
              <a:rPr kumimoji="0" lang="zh-CN" altLang="en-US" sz="2800" b="1" i="0" u="sng" strike="noStrike" kern="120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铸造缺陷</a:t>
            </a:r>
            <a:r>
              <a:rPr kumimoji="0" lang="zh-CN" altLang="en-US" sz="2800" b="0" i="0" u="none" strike="noStrike" kern="1200" cap="none" spc="0" normalizeH="0" baseline="0" noProof="0">
                <a:ln>
                  <a:noFill/>
                </a:ln>
                <a:solidFill>
                  <a:schemeClr val="tx1"/>
                </a:solidFill>
                <a:effectLst/>
                <a:uLnTx/>
                <a:uFillTx/>
                <a:latin typeface="+mn-lt"/>
                <a:ea typeface="+mn-ea"/>
                <a:cs typeface="+mn-cs"/>
              </a:rPr>
              <a:t>。</a:t>
            </a: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a:pPr>
            <a:r>
              <a:rPr kumimoji="0" lang="zh-CN" altLang="en-US" sz="2800" b="0" i="0" u="none" strike="noStrike" kern="1200" cap="none" spc="0" normalizeH="0" baseline="0" noProof="0">
                <a:ln>
                  <a:noFill/>
                </a:ln>
                <a:solidFill>
                  <a:schemeClr val="tx1"/>
                </a:solidFill>
                <a:effectLst/>
                <a:uLnTx/>
                <a:uFillTx/>
                <a:latin typeface="+mn-lt"/>
                <a:ea typeface="+mn-ea"/>
                <a:cs typeface="+mn-cs"/>
              </a:rPr>
              <a:t>观看铸造缺陷视频</a:t>
            </a: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2291" name="Rectangle 4"/>
          <p:cNvSpPr>
            <a:spLocks noChangeArrowheads="1"/>
          </p:cNvSpPr>
          <p:nvPr/>
        </p:nvSpPr>
        <p:spPr bwMode="auto">
          <a:xfrm>
            <a:off x="1798638" y="558800"/>
            <a:ext cx="5868988" cy="762000"/>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第一章	铸造工艺基础</a:t>
            </a:r>
            <a:endParaRPr kumimoji="0" lang="zh-CN" altLang="en-US" sz="4400" b="1" i="0" u="none" strike="noStrike" kern="1200" cap="none" spc="0" normalizeH="0" baseline="0" noProof="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pic>
        <p:nvPicPr>
          <p:cNvPr id="21508" name="Picture 10" descr="bengti3"/>
          <p:cNvPicPr>
            <a:picLocks noChangeAspect="1"/>
          </p:cNvPicPr>
          <p:nvPr/>
        </p:nvPicPr>
        <p:blipFill>
          <a:blip r:embed="rId1"/>
          <a:stretch>
            <a:fillRect/>
          </a:stretch>
        </p:blipFill>
        <p:spPr>
          <a:xfrm>
            <a:off x="1619250" y="4292600"/>
            <a:ext cx="3133725" cy="2390775"/>
          </a:xfrm>
          <a:prstGeom prst="rect">
            <a:avLst/>
          </a:prstGeom>
          <a:noFill/>
          <a:ln w="9525">
            <a:noFill/>
          </a:ln>
        </p:spPr>
      </p:pic>
      <p:pic>
        <p:nvPicPr>
          <p:cNvPr id="12293" name="浇不到和冷隔.MPG">
            <a:hlinkClick r:id="" action="ppaction://media"/>
          </p:cNvPr>
          <p:cNvPicPr>
            <a:picLocks noRot="1" noChangeAspect="1"/>
          </p:cNvPicPr>
          <p:nvPr>
            <p:ph sz="half" idx="1"/>
            <a:videoFile r:link="rId2"/>
            <p:extLst>
              <p:ext uri="{DAA4B4D4-6D71-4841-9C94-3DE7FCFB9230}">
                <p14:media xmlns:p14="http://schemas.microsoft.com/office/powerpoint/2010/main" r:link="rId3"/>
              </p:ext>
            </p:extLst>
          </p:nvPr>
        </p:nvPicPr>
        <p:blipFill>
          <a:blip r:embed="rId4"/>
          <a:srcRect/>
          <a:stretch>
            <a:fillRect/>
          </a:stretch>
        </p:blipFill>
        <p:spPr>
          <a:xfrm>
            <a:off x="5292725" y="4292600"/>
            <a:ext cx="3048000" cy="2286000"/>
          </a:xfrm>
        </p:spPr>
      </p:pic>
    </p:spTree>
  </p:cSld>
  <p:clrMapOvr>
    <a:masterClrMapping/>
  </p:clrMapOvr>
  <p:timing>
    <p:tnLst>
      <p:par>
        <p:cTn id="1" dur="indefinite" restart="never" nodeType="tmRoot">
          <p:childTnLst>
            <p:video>
              <p:cMediaNode>
                <p:cTn id="2" fill="hold" display="0">
                  <p:stCondLst>
                    <p:cond delay="indefinite"/>
                  </p:stCondLst>
                  <p:endCondLst>
                    <p:cond evt="onNext" delay="0">
                      <p:tgtEl>
                        <p:sldTgt/>
                      </p:tgtEl>
                    </p:cond>
                    <p:cond evt="onPrev" delay="0">
                      <p:tgtEl>
                        <p:sldTgt/>
                      </p:tgtEl>
                    </p:cond>
                  </p:endCondLst>
                </p:cTn>
                <p:tgtEl>
                  <p:spTgt spid="12293"/>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标题 1"/>
          <p:cNvSpPr>
            <a:spLocks noGrp="1"/>
          </p:cNvSpPr>
          <p:nvPr>
            <p:ph type="title"/>
          </p:nvPr>
        </p:nvSpPr>
        <p:spPr>
          <a:xfrm>
            <a:off x="1370013" y="301625"/>
            <a:ext cx="7313613" cy="1143000"/>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上节回顾</a:t>
            </a:r>
            <a:r>
              <a:rPr kumimoji="0" lang="en-US" altLang="zh-CN"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a:t>
            </a:r>
            <a:r>
              <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铸造缺陷</a:t>
            </a:r>
            <a:endPar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grpSp>
        <p:nvGrpSpPr>
          <p:cNvPr id="22531" name="组合 28"/>
          <p:cNvGrpSpPr/>
          <p:nvPr/>
        </p:nvGrpSpPr>
        <p:grpSpPr>
          <a:xfrm>
            <a:off x="571500" y="1785938"/>
            <a:ext cx="2643188" cy="2857500"/>
            <a:chOff x="4848225" y="1266825"/>
            <a:chExt cx="2076450" cy="2019300"/>
          </a:xfrm>
        </p:grpSpPr>
        <p:pic>
          <p:nvPicPr>
            <p:cNvPr id="22559" name="Picture 2" descr="10 拷贝"/>
            <p:cNvPicPr>
              <a:picLocks noChangeAspect="1"/>
            </p:cNvPicPr>
            <p:nvPr/>
          </p:nvPicPr>
          <p:blipFill>
            <a:blip r:embed="rId1"/>
            <a:stretch>
              <a:fillRect/>
            </a:stretch>
          </p:blipFill>
          <p:spPr>
            <a:xfrm>
              <a:off x="4848225" y="1266825"/>
              <a:ext cx="2076450" cy="2019300"/>
            </a:xfrm>
            <a:prstGeom prst="rect">
              <a:avLst/>
            </a:prstGeom>
            <a:noFill/>
            <a:ln w="9525">
              <a:noFill/>
            </a:ln>
          </p:spPr>
        </p:pic>
        <p:sp>
          <p:nvSpPr>
            <p:cNvPr id="22560" name="Oval 16"/>
            <p:cNvSpPr/>
            <p:nvPr/>
          </p:nvSpPr>
          <p:spPr>
            <a:xfrm>
              <a:off x="5886450" y="2705100"/>
              <a:ext cx="438150" cy="428625"/>
            </a:xfrm>
            <a:prstGeom prst="ellipse">
              <a:avLst/>
            </a:prstGeom>
            <a:noFill/>
            <a:ln w="28575"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endParaRPr lang="zh-CN" altLang="en-US" sz="1800" dirty="0"/>
            </a:p>
          </p:txBody>
        </p:sp>
      </p:grpSp>
      <p:grpSp>
        <p:nvGrpSpPr>
          <p:cNvPr id="22532" name="组合 27"/>
          <p:cNvGrpSpPr/>
          <p:nvPr/>
        </p:nvGrpSpPr>
        <p:grpSpPr>
          <a:xfrm>
            <a:off x="3429000" y="1857375"/>
            <a:ext cx="2500313" cy="2428875"/>
            <a:chOff x="2781300" y="1266825"/>
            <a:chExt cx="1962150" cy="2009775"/>
          </a:xfrm>
        </p:grpSpPr>
        <p:pic>
          <p:nvPicPr>
            <p:cNvPr id="22557" name="Picture 1" descr="18 拷贝"/>
            <p:cNvPicPr>
              <a:picLocks noChangeAspect="1"/>
            </p:cNvPicPr>
            <p:nvPr/>
          </p:nvPicPr>
          <p:blipFill>
            <a:blip r:embed="rId2"/>
            <a:stretch>
              <a:fillRect/>
            </a:stretch>
          </p:blipFill>
          <p:spPr>
            <a:xfrm>
              <a:off x="2781300" y="1266825"/>
              <a:ext cx="1962150" cy="2009775"/>
            </a:xfrm>
            <a:prstGeom prst="rect">
              <a:avLst/>
            </a:prstGeom>
            <a:noFill/>
            <a:ln w="9525">
              <a:noFill/>
            </a:ln>
          </p:spPr>
        </p:pic>
        <p:sp>
          <p:nvSpPr>
            <p:cNvPr id="22558" name="Oval 22"/>
            <p:cNvSpPr/>
            <p:nvPr/>
          </p:nvSpPr>
          <p:spPr>
            <a:xfrm>
              <a:off x="3476625" y="2019300"/>
              <a:ext cx="514350" cy="495300"/>
            </a:xfrm>
            <a:prstGeom prst="ellipse">
              <a:avLst/>
            </a:prstGeom>
            <a:noFill/>
            <a:ln w="28575"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endParaRPr lang="zh-CN" altLang="en-US" sz="1800" dirty="0"/>
            </a:p>
          </p:txBody>
        </p:sp>
      </p:grpSp>
      <p:grpSp>
        <p:nvGrpSpPr>
          <p:cNvPr id="22533" name="组合 25"/>
          <p:cNvGrpSpPr/>
          <p:nvPr/>
        </p:nvGrpSpPr>
        <p:grpSpPr>
          <a:xfrm>
            <a:off x="6357938" y="2071688"/>
            <a:ext cx="2571750" cy="2381250"/>
            <a:chOff x="581025" y="1285875"/>
            <a:chExt cx="2028825" cy="1952625"/>
          </a:xfrm>
        </p:grpSpPr>
        <p:pic>
          <p:nvPicPr>
            <p:cNvPr id="22555" name="Picture 5" descr="19 拷贝"/>
            <p:cNvPicPr>
              <a:picLocks noChangeAspect="1"/>
            </p:cNvPicPr>
            <p:nvPr/>
          </p:nvPicPr>
          <p:blipFill>
            <a:blip r:embed="rId3"/>
            <a:stretch>
              <a:fillRect/>
            </a:stretch>
          </p:blipFill>
          <p:spPr>
            <a:xfrm>
              <a:off x="581025" y="1285875"/>
              <a:ext cx="2028825" cy="1952625"/>
            </a:xfrm>
            <a:prstGeom prst="rect">
              <a:avLst/>
            </a:prstGeom>
            <a:noFill/>
            <a:ln w="9525">
              <a:noFill/>
            </a:ln>
          </p:spPr>
        </p:pic>
        <p:sp>
          <p:nvSpPr>
            <p:cNvPr id="22556" name="Oval 24"/>
            <p:cNvSpPr/>
            <p:nvPr/>
          </p:nvSpPr>
          <p:spPr>
            <a:xfrm>
              <a:off x="1114425" y="1876425"/>
              <a:ext cx="809625" cy="1019175"/>
            </a:xfrm>
            <a:prstGeom prst="ellipse">
              <a:avLst/>
            </a:prstGeom>
            <a:noFill/>
            <a:ln w="28575"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endParaRPr lang="zh-CN" altLang="en-US" sz="1800" dirty="0"/>
            </a:p>
          </p:txBody>
        </p:sp>
      </p:grpSp>
      <p:graphicFrame>
        <p:nvGraphicFramePr>
          <p:cNvPr id="30" name="表格 29"/>
          <p:cNvGraphicFramePr>
            <a:graphicFrameLocks noGrp="1"/>
          </p:cNvGraphicFramePr>
          <p:nvPr/>
        </p:nvGraphicFramePr>
        <p:xfrm>
          <a:off x="428625" y="5072063"/>
          <a:ext cx="2714625" cy="1524000"/>
        </p:xfrm>
        <a:graphic>
          <a:graphicData uri="http://schemas.openxmlformats.org/drawingml/2006/table">
            <a:tbl>
              <a:tblPr/>
              <a:tblGrid>
                <a:gridCol w="2714625"/>
              </a:tblGrid>
              <a:tr h="981075">
                <a:tc>
                  <a:txBody>
                    <a:bodyPr/>
                    <a:lstStyle/>
                    <a:p>
                      <a:pPr algn="l" fontAlgn="t"/>
                      <a:r>
                        <a:rPr lang="zh-CN" altLang="en-US" sz="2000" b="0" i="0" u="none" strike="noStrike">
                          <a:latin typeface="宋体" panose="02010600030101010101" pitchFamily="2" charset="-122"/>
                        </a:rPr>
                        <a:t>常出现在铸件最后凝固的部位（热节处），形状</a:t>
                      </a:r>
                      <a:r>
                        <a:rPr lang="zh-CN" altLang="en-US" sz="2000" b="0" i="0" u="none" strike="noStrike" dirty="0">
                          <a:latin typeface="宋体" panose="02010600030101010101" pitchFamily="2" charset="-122"/>
                        </a:rPr>
                        <a:t>为不规则的封闭或敞露的孔洞，孔壁粗糙并带有枝</a:t>
                      </a:r>
                      <a:r>
                        <a:rPr lang="zh-CN" altLang="en-US" sz="2000" b="0" i="0" u="none" strike="noStrike">
                          <a:latin typeface="宋体" panose="02010600030101010101" pitchFamily="2" charset="-122"/>
                        </a:rPr>
                        <a:t>晶状。</a:t>
                      </a:r>
                      <a:endParaRPr lang="zh-CN" altLang="en-US" sz="2000" b="0" i="0" u="none" strike="noStrike" dirty="0">
                        <a:latin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2" name="表格 31"/>
          <p:cNvGraphicFramePr>
            <a:graphicFrameLocks noGrp="1"/>
          </p:cNvGraphicFramePr>
          <p:nvPr/>
        </p:nvGraphicFramePr>
        <p:xfrm>
          <a:off x="3571875" y="4714875"/>
          <a:ext cx="2357438" cy="1828800"/>
        </p:xfrm>
        <a:graphic>
          <a:graphicData uri="http://schemas.openxmlformats.org/drawingml/2006/table">
            <a:tbl>
              <a:tblPr/>
              <a:tblGrid>
                <a:gridCol w="2357438"/>
              </a:tblGrid>
              <a:tr h="981075">
                <a:tc>
                  <a:txBody>
                    <a:bodyPr/>
                    <a:lstStyle/>
                    <a:p>
                      <a:pPr algn="l" fontAlgn="t"/>
                      <a:r>
                        <a:rPr lang="zh-CN" altLang="en-US" sz="2000" b="0" i="0" u="none" strike="noStrike" dirty="0">
                          <a:latin typeface="宋体" panose="02010600030101010101" pitchFamily="2" charset="-122"/>
                        </a:rPr>
                        <a:t>在铸件内部、表面或近于表面处有大小不等的光滑孔眼。一般为圆球形或近似于球形的团球形孔洞，孔壁光滑。</a:t>
                      </a:r>
                      <a:endParaRPr lang="zh-CN" altLang="en-US" sz="2000" b="0" i="0" u="none" strike="noStrike" dirty="0">
                        <a:latin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3" name="表格 32"/>
          <p:cNvGraphicFramePr>
            <a:graphicFrameLocks noGrp="1"/>
          </p:cNvGraphicFramePr>
          <p:nvPr/>
        </p:nvGraphicFramePr>
        <p:xfrm>
          <a:off x="6572250" y="5000625"/>
          <a:ext cx="2159000" cy="981075"/>
        </p:xfrm>
        <a:graphic>
          <a:graphicData uri="http://schemas.openxmlformats.org/drawingml/2006/table">
            <a:tbl>
              <a:tblPr/>
              <a:tblGrid>
                <a:gridCol w="2159000"/>
              </a:tblGrid>
              <a:tr h="981075">
                <a:tc>
                  <a:txBody>
                    <a:bodyPr/>
                    <a:lstStyle/>
                    <a:p>
                      <a:pPr algn="l" fontAlgn="t"/>
                      <a:r>
                        <a:rPr lang="zh-CN" altLang="en-US" sz="2000" b="0" i="0" u="none" strike="noStrike" dirty="0">
                          <a:latin typeface="宋体" panose="02010600030101010101" pitchFamily="2" charset="-122"/>
                        </a:rPr>
                        <a:t>在铸件表面或内部有充塞着型砂的孔眼。</a:t>
                      </a:r>
                      <a:endParaRPr lang="zh-CN" altLang="en-US" sz="2000" b="0" i="0" u="none" strike="noStrike" dirty="0">
                        <a:latin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34" name="圆角矩形标注 33"/>
          <p:cNvSpPr/>
          <p:nvPr/>
        </p:nvSpPr>
        <p:spPr>
          <a:xfrm>
            <a:off x="785813" y="1428750"/>
            <a:ext cx="785812" cy="428625"/>
          </a:xfrm>
          <a:prstGeom prst="wedgeRoundRectCallout">
            <a:avLst>
              <a:gd name="adj1" fmla="val -32278"/>
              <a:gd name="adj2" fmla="val 111463"/>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2000" dirty="0"/>
              <a:t>缩孔</a:t>
            </a:r>
            <a:endParaRPr lang="zh-CN" altLang="en-US" sz="2000" dirty="0"/>
          </a:p>
        </p:txBody>
      </p:sp>
      <p:sp>
        <p:nvSpPr>
          <p:cNvPr id="35" name="圆角矩形标注 34"/>
          <p:cNvSpPr/>
          <p:nvPr/>
        </p:nvSpPr>
        <p:spPr>
          <a:xfrm>
            <a:off x="7215188" y="1714500"/>
            <a:ext cx="785812" cy="428625"/>
          </a:xfrm>
          <a:prstGeom prst="wedgeRoundRectCallout">
            <a:avLst>
              <a:gd name="adj1" fmla="val -34185"/>
              <a:gd name="adj2" fmla="val 83481"/>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2000" dirty="0"/>
              <a:t>砂眼</a:t>
            </a:r>
            <a:endParaRPr lang="zh-CN" altLang="en-US" sz="2000" dirty="0"/>
          </a:p>
        </p:txBody>
      </p:sp>
      <p:sp>
        <p:nvSpPr>
          <p:cNvPr id="36" name="圆角矩形标注 35"/>
          <p:cNvSpPr/>
          <p:nvPr/>
        </p:nvSpPr>
        <p:spPr>
          <a:xfrm>
            <a:off x="4000500" y="1571625"/>
            <a:ext cx="785813" cy="428625"/>
          </a:xfrm>
          <a:prstGeom prst="wedgeRoundRectCallout">
            <a:avLst>
              <a:gd name="adj1" fmla="val -32278"/>
              <a:gd name="adj2" fmla="val 93977"/>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2000" dirty="0"/>
              <a:t>气孔</a:t>
            </a:r>
            <a:endParaRPr lang="zh-CN" altLang="en-US" sz="2000" dirty="0"/>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4">
                                            <p:txEl>
                                              <p:charRg st="0" end="3"/>
                                            </p:txEl>
                                          </p:spTgt>
                                        </p:tgtEl>
                                        <p:attrNameLst>
                                          <p:attrName>style.visibility</p:attrName>
                                        </p:attrNameLst>
                                      </p:cBhvr>
                                      <p:to>
                                        <p:strVal val="visible"/>
                                      </p:to>
                                    </p:set>
                                    <p:anim calcmode="lin" valueType="num">
                                      <p:cBhvr additive="base">
                                        <p:cTn id="11" dur="500" fill="hold"/>
                                        <p:tgtEl>
                                          <p:spTgt spid="34">
                                            <p:txEl>
                                              <p:charRg st="0"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
                                            <p:txEl>
                                              <p:charRg st="0"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additive="base">
                                        <p:cTn id="17" dur="500" fill="hold"/>
                                        <p:tgtEl>
                                          <p:spTgt spid="36"/>
                                        </p:tgtEl>
                                        <p:attrNameLst>
                                          <p:attrName>ppt_x</p:attrName>
                                        </p:attrNameLst>
                                      </p:cBhvr>
                                      <p:tavLst>
                                        <p:tav tm="0">
                                          <p:val>
                                            <p:strVal val="#ppt_x"/>
                                          </p:val>
                                        </p:tav>
                                        <p:tav tm="100000">
                                          <p:val>
                                            <p:strVal val="#ppt_x"/>
                                          </p:val>
                                        </p:tav>
                                      </p:tavLst>
                                    </p:anim>
                                    <p:anim calcmode="lin" valueType="num">
                                      <p:cBhvr additive="base">
                                        <p:cTn id="18" dur="500" fill="hold"/>
                                        <p:tgtEl>
                                          <p:spTgt spid="3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txEl>
                                              <p:charRg st="0" end="3"/>
                                            </p:txEl>
                                          </p:spTgt>
                                        </p:tgtEl>
                                        <p:attrNameLst>
                                          <p:attrName>style.visibility</p:attrName>
                                        </p:attrNameLst>
                                      </p:cBhvr>
                                      <p:to>
                                        <p:strVal val="visible"/>
                                      </p:to>
                                    </p:set>
                                    <p:anim calcmode="lin" valueType="num">
                                      <p:cBhvr additive="base">
                                        <p:cTn id="21" dur="500" fill="hold"/>
                                        <p:tgtEl>
                                          <p:spTgt spid="36">
                                            <p:txEl>
                                              <p:charRg st="0"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txEl>
                                              <p:charRg st="0"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ppt_x"/>
                                          </p:val>
                                        </p:tav>
                                        <p:tav tm="100000">
                                          <p:val>
                                            <p:strVal val="#ppt_x"/>
                                          </p:val>
                                        </p:tav>
                                      </p:tavLst>
                                    </p:anim>
                                    <p:anim calcmode="lin" valueType="num">
                                      <p:cBhvr additive="base">
                                        <p:cTn id="28" dur="500" fill="hold"/>
                                        <p:tgtEl>
                                          <p:spTgt spid="3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5">
                                            <p:txEl>
                                              <p:charRg st="0" end="3"/>
                                            </p:txEl>
                                          </p:spTgt>
                                        </p:tgtEl>
                                        <p:attrNameLst>
                                          <p:attrName>style.visibility</p:attrName>
                                        </p:attrNameLst>
                                      </p:cBhvr>
                                      <p:to>
                                        <p:strVal val="visible"/>
                                      </p:to>
                                    </p:set>
                                    <p:anim calcmode="lin" valueType="num">
                                      <p:cBhvr additive="base">
                                        <p:cTn id="31" dur="500" fill="hold"/>
                                        <p:tgtEl>
                                          <p:spTgt spid="35">
                                            <p:txEl>
                                              <p:charRg st="0"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charRg st="0"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build="p"/>
      <p:bldP spid="35" grpId="0" animBg="1" build="p"/>
      <p:bldP spid="36" grpId="0" animBg="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4" name="Picture 14" descr="27 拷贝"/>
          <p:cNvPicPr>
            <a:picLocks noChangeAspect="1"/>
          </p:cNvPicPr>
          <p:nvPr/>
        </p:nvPicPr>
        <p:blipFill>
          <a:blip r:embed="rId1"/>
          <a:stretch>
            <a:fillRect/>
          </a:stretch>
        </p:blipFill>
        <p:spPr>
          <a:xfrm>
            <a:off x="3429000" y="2143125"/>
            <a:ext cx="2286000" cy="2168525"/>
          </a:xfrm>
          <a:prstGeom prst="rect">
            <a:avLst/>
          </a:prstGeom>
          <a:noFill/>
          <a:ln w="9525">
            <a:noFill/>
          </a:ln>
        </p:spPr>
      </p:pic>
      <p:pic>
        <p:nvPicPr>
          <p:cNvPr id="23555" name="Picture 29" descr="30 拷贝"/>
          <p:cNvPicPr>
            <a:picLocks noChangeAspect="1"/>
          </p:cNvPicPr>
          <p:nvPr/>
        </p:nvPicPr>
        <p:blipFill>
          <a:blip r:embed="rId2"/>
          <a:stretch>
            <a:fillRect/>
          </a:stretch>
        </p:blipFill>
        <p:spPr>
          <a:xfrm>
            <a:off x="6286500" y="2214563"/>
            <a:ext cx="2455863" cy="2243137"/>
          </a:xfrm>
          <a:prstGeom prst="rect">
            <a:avLst/>
          </a:prstGeom>
          <a:noFill/>
          <a:ln w="9525">
            <a:noFill/>
          </a:ln>
        </p:spPr>
      </p:pic>
      <p:pic>
        <p:nvPicPr>
          <p:cNvPr id="23556" name="Picture 13" descr="17a 拷贝"/>
          <p:cNvPicPr>
            <a:picLocks noChangeAspect="1"/>
          </p:cNvPicPr>
          <p:nvPr/>
        </p:nvPicPr>
        <p:blipFill>
          <a:blip r:embed="rId3"/>
          <a:stretch>
            <a:fillRect/>
          </a:stretch>
        </p:blipFill>
        <p:spPr>
          <a:xfrm>
            <a:off x="357188" y="2000250"/>
            <a:ext cx="2643187" cy="2643188"/>
          </a:xfrm>
          <a:prstGeom prst="rect">
            <a:avLst/>
          </a:prstGeom>
          <a:noFill/>
          <a:ln w="9525">
            <a:noFill/>
          </a:ln>
        </p:spPr>
      </p:pic>
      <p:sp>
        <p:nvSpPr>
          <p:cNvPr id="27653" name="标题 1"/>
          <p:cNvSpPr>
            <a:spLocks noGrp="1"/>
          </p:cNvSpPr>
          <p:nvPr>
            <p:ph type="title"/>
          </p:nvPr>
        </p:nvSpPr>
        <p:spPr>
          <a:xfrm>
            <a:off x="1370013" y="301625"/>
            <a:ext cx="7313613" cy="1143000"/>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上节回顾</a:t>
            </a:r>
            <a:r>
              <a:rPr kumimoji="0" lang="en-US" altLang="zh-CN" sz="4400" b="1" i="0" u="none" strike="noStrike" kern="1200" cap="none" spc="0" normalizeH="0" baseline="0" noProof="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a:t>
            </a:r>
            <a:r>
              <a:rPr kumimoji="0" lang="zh-CN" altLang="en-US" sz="4400" b="1" i="0" u="none" strike="noStrike" kern="1200" cap="none" spc="0" normalizeH="0" baseline="0" noProof="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铸造</a:t>
            </a:r>
            <a:r>
              <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缺陷</a:t>
            </a:r>
            <a:endPar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
        <p:nvSpPr>
          <p:cNvPr id="34" name="圆角矩形标注 33"/>
          <p:cNvSpPr/>
          <p:nvPr/>
        </p:nvSpPr>
        <p:spPr>
          <a:xfrm>
            <a:off x="1214438" y="1571625"/>
            <a:ext cx="1071562" cy="428625"/>
          </a:xfrm>
          <a:prstGeom prst="wedgeRoundRectCallout">
            <a:avLst>
              <a:gd name="adj1" fmla="val -32278"/>
              <a:gd name="adj2" fmla="val 111463"/>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2000" dirty="0"/>
              <a:t>浇不足</a:t>
            </a:r>
            <a:endParaRPr lang="zh-CN" altLang="en-US" sz="2000" dirty="0"/>
          </a:p>
        </p:txBody>
      </p:sp>
      <p:sp>
        <p:nvSpPr>
          <p:cNvPr id="35" name="圆角矩形标注 34"/>
          <p:cNvSpPr/>
          <p:nvPr/>
        </p:nvSpPr>
        <p:spPr>
          <a:xfrm>
            <a:off x="7715250" y="1714500"/>
            <a:ext cx="785813" cy="428625"/>
          </a:xfrm>
          <a:prstGeom prst="wedgeRoundRectCallout">
            <a:avLst>
              <a:gd name="adj1" fmla="val -34185"/>
              <a:gd name="adj2" fmla="val 83481"/>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2000" dirty="0"/>
              <a:t>粘砂</a:t>
            </a:r>
            <a:endParaRPr lang="zh-CN" altLang="en-US" sz="2000" dirty="0"/>
          </a:p>
        </p:txBody>
      </p:sp>
      <p:sp>
        <p:nvSpPr>
          <p:cNvPr id="36" name="圆角矩形标注 35"/>
          <p:cNvSpPr/>
          <p:nvPr/>
        </p:nvSpPr>
        <p:spPr>
          <a:xfrm>
            <a:off x="4357688" y="1571625"/>
            <a:ext cx="785812" cy="428625"/>
          </a:xfrm>
          <a:prstGeom prst="wedgeRoundRectCallout">
            <a:avLst>
              <a:gd name="adj1" fmla="val -32278"/>
              <a:gd name="adj2" fmla="val 93977"/>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2000" dirty="0"/>
              <a:t>冷隔</a:t>
            </a:r>
            <a:endParaRPr lang="zh-CN" altLang="en-US" sz="2000" dirty="0"/>
          </a:p>
        </p:txBody>
      </p:sp>
      <p:sp>
        <p:nvSpPr>
          <p:cNvPr id="23561" name="Oval 19"/>
          <p:cNvSpPr/>
          <p:nvPr/>
        </p:nvSpPr>
        <p:spPr>
          <a:xfrm>
            <a:off x="928688" y="2071688"/>
            <a:ext cx="1676400" cy="447675"/>
          </a:xfrm>
          <a:prstGeom prst="ellipse">
            <a:avLst/>
          </a:prstGeom>
          <a:noFill/>
          <a:ln w="28575"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endParaRPr lang="zh-CN" altLang="en-US" sz="1800" dirty="0"/>
          </a:p>
        </p:txBody>
      </p:sp>
      <p:sp>
        <p:nvSpPr>
          <p:cNvPr id="23562" name="Oval 30"/>
          <p:cNvSpPr/>
          <p:nvPr/>
        </p:nvSpPr>
        <p:spPr>
          <a:xfrm>
            <a:off x="6929438" y="3500438"/>
            <a:ext cx="1457325" cy="828675"/>
          </a:xfrm>
          <a:prstGeom prst="ellipse">
            <a:avLst/>
          </a:prstGeom>
          <a:noFill/>
          <a:ln w="28575"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endParaRPr lang="zh-CN" altLang="en-US" sz="1800" dirty="0"/>
          </a:p>
        </p:txBody>
      </p:sp>
      <p:sp>
        <p:nvSpPr>
          <p:cNvPr id="23563" name="Oval 21"/>
          <p:cNvSpPr/>
          <p:nvPr/>
        </p:nvSpPr>
        <p:spPr>
          <a:xfrm rot="-1800000">
            <a:off x="4303713" y="2806700"/>
            <a:ext cx="809625" cy="571500"/>
          </a:xfrm>
          <a:prstGeom prst="ellipse">
            <a:avLst/>
          </a:prstGeom>
          <a:noFill/>
          <a:ln w="28575" cap="flat" cmpd="sng">
            <a:solidFill>
              <a:srgbClr val="FF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endParaRPr lang="zh-CN" altLang="en-US" sz="1800" dirty="0"/>
          </a:p>
        </p:txBody>
      </p:sp>
      <p:graphicFrame>
        <p:nvGraphicFramePr>
          <p:cNvPr id="31" name="表格 30"/>
          <p:cNvGraphicFramePr>
            <a:graphicFrameLocks noGrp="1"/>
          </p:cNvGraphicFramePr>
          <p:nvPr/>
        </p:nvGraphicFramePr>
        <p:xfrm>
          <a:off x="571500" y="5000625"/>
          <a:ext cx="2159000" cy="981075"/>
        </p:xfrm>
        <a:graphic>
          <a:graphicData uri="http://schemas.openxmlformats.org/drawingml/2006/table">
            <a:tbl>
              <a:tblPr/>
              <a:tblGrid>
                <a:gridCol w="2159000"/>
              </a:tblGrid>
              <a:tr h="981075">
                <a:tc>
                  <a:txBody>
                    <a:bodyPr/>
                    <a:lstStyle/>
                    <a:p>
                      <a:pPr algn="l" fontAlgn="t"/>
                      <a:r>
                        <a:rPr lang="zh-CN" altLang="en-US" sz="2000" b="0" i="0" u="none" strike="noStrike" dirty="0">
                          <a:latin typeface="宋体" panose="02010600030101010101" pitchFamily="2" charset="-122"/>
                        </a:rPr>
                        <a:t>由于金属液未完全充满型腔而产生的铸件缺肉。</a:t>
                      </a:r>
                      <a:endParaRPr lang="zh-CN" altLang="en-US" sz="2000" b="0" i="0" u="none" strike="noStrike" dirty="0">
                        <a:latin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37" name="表格 36"/>
          <p:cNvGraphicFramePr>
            <a:graphicFrameLocks noGrp="1"/>
          </p:cNvGraphicFramePr>
          <p:nvPr/>
        </p:nvGraphicFramePr>
        <p:xfrm>
          <a:off x="3214688" y="4643438"/>
          <a:ext cx="2643188" cy="1828800"/>
        </p:xfrm>
        <a:graphic>
          <a:graphicData uri="http://schemas.openxmlformats.org/drawingml/2006/table">
            <a:tbl>
              <a:tblPr/>
              <a:tblGrid>
                <a:gridCol w="2643187"/>
              </a:tblGrid>
              <a:tr h="1009650">
                <a:tc>
                  <a:txBody>
                    <a:bodyPr/>
                    <a:lstStyle/>
                    <a:p>
                      <a:pPr algn="just" fontAlgn="t"/>
                      <a:r>
                        <a:rPr lang="zh-CN" altLang="en-US" sz="2000" b="0" i="0" u="none" strike="noStrike" dirty="0">
                          <a:latin typeface="宋体" panose="02010600030101010101" pitchFamily="2" charset="-122"/>
                        </a:rPr>
                        <a:t>铸件上未完全融合的缝隙或洼坑，其交接边缘呈圆角，多出现在远离浇口的铸件宽大上表面和薄壁处、金属流股汇合处或激冷部位。</a:t>
                      </a:r>
                      <a:endParaRPr lang="zh-CN" altLang="en-US" sz="2000" b="0" i="0" u="none" strike="noStrike" dirty="0">
                        <a:latin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8" name="表格 37"/>
          <p:cNvGraphicFramePr>
            <a:graphicFrameLocks noGrp="1"/>
          </p:cNvGraphicFramePr>
          <p:nvPr/>
        </p:nvGraphicFramePr>
        <p:xfrm>
          <a:off x="6357938" y="4786313"/>
          <a:ext cx="2428875" cy="1643063"/>
        </p:xfrm>
        <a:graphic>
          <a:graphicData uri="http://schemas.openxmlformats.org/drawingml/2006/table">
            <a:tbl>
              <a:tblPr/>
              <a:tblGrid>
                <a:gridCol w="2428875"/>
              </a:tblGrid>
              <a:tr h="1643062">
                <a:tc>
                  <a:txBody>
                    <a:bodyPr/>
                    <a:lstStyle/>
                    <a:p>
                      <a:pPr algn="just" fontAlgn="t"/>
                      <a:r>
                        <a:rPr lang="zh-CN" altLang="en-US" sz="2000" b="0" i="0" u="none" strike="noStrike" dirty="0">
                          <a:latin typeface="宋体" panose="02010600030101010101" pitchFamily="2" charset="-122"/>
                        </a:rPr>
                        <a:t>在铸件表面上、全部或部分覆盖着金属与砂的混合物，或一层烧结的型砂，致使铸件表面粗糙。</a:t>
                      </a:r>
                      <a:endParaRPr lang="zh-CN" altLang="en-US" sz="2000" b="0" i="0" u="none" strike="noStrike" dirty="0">
                        <a:latin typeface="宋体" panose="02010600030101010101" pitchFamily="2" charset="-122"/>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4">
                                            <p:txEl>
                                              <p:charRg st="0" end="4"/>
                                            </p:txEl>
                                          </p:spTgt>
                                        </p:tgtEl>
                                        <p:attrNameLst>
                                          <p:attrName>style.visibility</p:attrName>
                                        </p:attrNameLst>
                                      </p:cBhvr>
                                      <p:to>
                                        <p:strVal val="visible"/>
                                      </p:to>
                                    </p:set>
                                    <p:anim calcmode="lin" valueType="num">
                                      <p:cBhvr additive="base">
                                        <p:cTn id="11" dur="500" fill="hold"/>
                                        <p:tgtEl>
                                          <p:spTgt spid="34">
                                            <p:txEl>
                                              <p:charRg st="0"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
                                            <p:txEl>
                                              <p:charRg st="0"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additive="base">
                                        <p:cTn id="17" dur="500" fill="hold"/>
                                        <p:tgtEl>
                                          <p:spTgt spid="36"/>
                                        </p:tgtEl>
                                        <p:attrNameLst>
                                          <p:attrName>ppt_x</p:attrName>
                                        </p:attrNameLst>
                                      </p:cBhvr>
                                      <p:tavLst>
                                        <p:tav tm="0">
                                          <p:val>
                                            <p:strVal val="#ppt_x"/>
                                          </p:val>
                                        </p:tav>
                                        <p:tav tm="100000">
                                          <p:val>
                                            <p:strVal val="#ppt_x"/>
                                          </p:val>
                                        </p:tav>
                                      </p:tavLst>
                                    </p:anim>
                                    <p:anim calcmode="lin" valueType="num">
                                      <p:cBhvr additive="base">
                                        <p:cTn id="18" dur="500" fill="hold"/>
                                        <p:tgtEl>
                                          <p:spTgt spid="3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txEl>
                                              <p:charRg st="0" end="3"/>
                                            </p:txEl>
                                          </p:spTgt>
                                        </p:tgtEl>
                                        <p:attrNameLst>
                                          <p:attrName>style.visibility</p:attrName>
                                        </p:attrNameLst>
                                      </p:cBhvr>
                                      <p:to>
                                        <p:strVal val="visible"/>
                                      </p:to>
                                    </p:set>
                                    <p:anim calcmode="lin" valueType="num">
                                      <p:cBhvr additive="base">
                                        <p:cTn id="21" dur="500" fill="hold"/>
                                        <p:tgtEl>
                                          <p:spTgt spid="36">
                                            <p:txEl>
                                              <p:charRg st="0"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txEl>
                                              <p:charRg st="0"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ppt_x"/>
                                          </p:val>
                                        </p:tav>
                                        <p:tav tm="100000">
                                          <p:val>
                                            <p:strVal val="#ppt_x"/>
                                          </p:val>
                                        </p:tav>
                                      </p:tavLst>
                                    </p:anim>
                                    <p:anim calcmode="lin" valueType="num">
                                      <p:cBhvr additive="base">
                                        <p:cTn id="28" dur="500" fill="hold"/>
                                        <p:tgtEl>
                                          <p:spTgt spid="3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5">
                                            <p:txEl>
                                              <p:charRg st="0" end="3"/>
                                            </p:txEl>
                                          </p:spTgt>
                                        </p:tgtEl>
                                        <p:attrNameLst>
                                          <p:attrName>style.visibility</p:attrName>
                                        </p:attrNameLst>
                                      </p:cBhvr>
                                      <p:to>
                                        <p:strVal val="visible"/>
                                      </p:to>
                                    </p:set>
                                    <p:anim calcmode="lin" valueType="num">
                                      <p:cBhvr additive="base">
                                        <p:cTn id="31" dur="500" fill="hold"/>
                                        <p:tgtEl>
                                          <p:spTgt spid="35">
                                            <p:txEl>
                                              <p:charRg st="0"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5">
                                            <p:txEl>
                                              <p:charRg st="0"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build="p"/>
      <p:bldP spid="35" grpId="0" animBg="1" build="p"/>
      <p:bldP spid="36" grpId="0" animBg="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3"/>
          <p:cNvSpPr/>
          <p:nvPr/>
        </p:nvSpPr>
        <p:spPr>
          <a:xfrm>
            <a:off x="971550" y="1700213"/>
            <a:ext cx="4789488" cy="51911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en-US" altLang="zh-CN" sz="2800" b="1" dirty="0">
                <a:solidFill>
                  <a:srgbClr val="FF3300"/>
                </a:solidFill>
                <a:ea typeface="楷体_GB2312" pitchFamily="49" charset="-122"/>
              </a:rPr>
              <a:t> </a:t>
            </a:r>
            <a:r>
              <a:rPr lang="zh-CN" altLang="en-US" sz="2800" b="1" dirty="0">
                <a:solidFill>
                  <a:srgbClr val="FF3300"/>
                </a:solidFill>
                <a:ea typeface="楷体_GB2312" pitchFamily="49" charset="-122"/>
              </a:rPr>
              <a:t>合金的铸造性能</a:t>
            </a:r>
            <a:endParaRPr lang="zh-CN" altLang="en-US" sz="2800" b="1" dirty="0">
              <a:solidFill>
                <a:srgbClr val="FF3300"/>
              </a:solidFill>
              <a:ea typeface="楷体_GB2312" pitchFamily="49" charset="-122"/>
            </a:endParaRPr>
          </a:p>
        </p:txBody>
      </p:sp>
      <p:sp>
        <p:nvSpPr>
          <p:cNvPr id="24579" name="Rectangle 4"/>
          <p:cNvSpPr/>
          <p:nvPr/>
        </p:nvSpPr>
        <p:spPr>
          <a:xfrm>
            <a:off x="1403350" y="2451101"/>
            <a:ext cx="7272338" cy="15684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2400" b="1" dirty="0">
                <a:solidFill>
                  <a:schemeClr val="tx2"/>
                </a:solidFill>
                <a:ea typeface="楷体_GB2312" pitchFamily="49" charset="-122"/>
              </a:rPr>
              <a:t>    </a:t>
            </a:r>
            <a:r>
              <a:rPr lang="zh-CN" altLang="en-US" sz="2400" b="1" dirty="0">
                <a:solidFill>
                  <a:schemeClr val="tx2"/>
                </a:solidFill>
                <a:ea typeface="楷体_GB2312" pitchFamily="49" charset="-122"/>
              </a:rPr>
              <a:t>是指合金在铸造成形时获得外形准确、内部健全铸件的能力，主要包括合金的</a:t>
            </a:r>
            <a:r>
              <a:rPr lang="zh-CN" altLang="en-US" sz="2400" b="1" dirty="0">
                <a:solidFill>
                  <a:srgbClr val="FF3300"/>
                </a:solidFill>
                <a:latin typeface="楷体_GB2312" pitchFamily="49" charset="-122"/>
                <a:ea typeface="楷体_GB2312" pitchFamily="49" charset="-122"/>
              </a:rPr>
              <a:t>流动性、凝固特性、收缩性、吸气性等。</a:t>
            </a:r>
            <a:endParaRPr lang="en-US" altLang="zh-CN" sz="2400" b="1" dirty="0">
              <a:solidFill>
                <a:srgbClr val="FF3300"/>
              </a:solidFill>
              <a:latin typeface="楷体_GB2312" pitchFamily="49" charset="-122"/>
              <a:ea typeface="楷体_GB2312" pitchFamily="49" charset="-122"/>
            </a:endParaRPr>
          </a:p>
          <a:p>
            <a:pPr marL="0" lvl="0" indent="0" eaLnBrk="1" hangingPunct="1">
              <a:spcBef>
                <a:spcPct val="0"/>
              </a:spcBef>
              <a:buClrTx/>
              <a:buSzTx/>
              <a:buNone/>
            </a:pPr>
            <a:r>
              <a:rPr lang="zh-CN" altLang="en-US" sz="2400" b="1" dirty="0">
                <a:solidFill>
                  <a:schemeClr val="tx2"/>
                </a:solidFill>
                <a:ea typeface="楷体_GB2312" pitchFamily="49" charset="-122"/>
              </a:rPr>
              <a:t>   </a:t>
            </a:r>
            <a:endParaRPr lang="zh-CN" altLang="en-US" sz="2400" b="1" dirty="0"/>
          </a:p>
        </p:txBody>
      </p:sp>
      <p:sp>
        <p:nvSpPr>
          <p:cNvPr id="13316" name="Rectangle 11"/>
          <p:cNvSpPr>
            <a:spLocks noChangeArrowheads="1"/>
          </p:cNvSpPr>
          <p:nvPr/>
        </p:nvSpPr>
        <p:spPr bwMode="auto">
          <a:xfrm>
            <a:off x="1798638" y="558800"/>
            <a:ext cx="5868988" cy="762000"/>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第一章	铸造工艺基础</a:t>
            </a:r>
            <a:endParaRPr kumimoji="0" lang="zh-CN" altLang="en-US" sz="4400" b="1" i="0" u="none" strike="noStrike" kern="1200" cap="none" spc="0" normalizeH="0" baseline="0" noProof="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
        <p:nvSpPr>
          <p:cNvPr id="13317" name="Rectangle 12"/>
          <p:cNvSpPr/>
          <p:nvPr/>
        </p:nvSpPr>
        <p:spPr>
          <a:xfrm>
            <a:off x="1416050" y="3933190"/>
            <a:ext cx="6311900" cy="13731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457200" lvl="1" indent="0" eaLnBrk="1" hangingPunct="1">
              <a:spcBef>
                <a:spcPct val="0"/>
              </a:spcBef>
              <a:buClrTx/>
              <a:buSzTx/>
              <a:buNone/>
            </a:pPr>
            <a:r>
              <a:rPr lang="zh-CN" altLang="zh-CN" sz="2800" b="1" dirty="0"/>
              <a:t>第一节：</a:t>
            </a:r>
            <a:r>
              <a:rPr lang="zh-CN" altLang="zh-CN" sz="2800" b="1" dirty="0">
                <a:hlinkClick r:id="rId1" action="ppaction://hlinksldjump"/>
              </a:rPr>
              <a:t>液态合金的充型</a:t>
            </a:r>
            <a:endParaRPr lang="zh-CN" altLang="zh-CN" sz="2800" b="1" dirty="0"/>
          </a:p>
          <a:p>
            <a:pPr marL="457200" lvl="1" indent="0" eaLnBrk="1" hangingPunct="1">
              <a:spcBef>
                <a:spcPct val="0"/>
              </a:spcBef>
              <a:buClrTx/>
              <a:buSzTx/>
              <a:buNone/>
            </a:pPr>
            <a:r>
              <a:rPr lang="zh-CN" altLang="zh-CN" sz="2800" b="1" dirty="0"/>
              <a:t>第二节：</a:t>
            </a:r>
            <a:r>
              <a:rPr lang="zh-CN" altLang="zh-CN" sz="2800" b="1" u="sng" dirty="0">
                <a:solidFill>
                  <a:schemeClr val="hlink"/>
                </a:solidFill>
              </a:rPr>
              <a:t>铸件的</a:t>
            </a:r>
            <a:r>
              <a:rPr lang="zh-CN" altLang="zh-CN" sz="2800" b="1" dirty="0">
                <a:hlinkClick r:id="rId2" action="ppaction://hlinksldjump"/>
              </a:rPr>
              <a:t>凝固与收缩</a:t>
            </a:r>
            <a:endParaRPr lang="zh-CN" altLang="zh-CN" sz="2800" b="1" dirty="0"/>
          </a:p>
          <a:p>
            <a:pPr marL="457200" lvl="1" indent="0" eaLnBrk="1" hangingPunct="1">
              <a:spcBef>
                <a:spcPct val="0"/>
              </a:spcBef>
              <a:buClrTx/>
              <a:buSzTx/>
              <a:buNone/>
            </a:pPr>
            <a:r>
              <a:rPr lang="zh-CN" altLang="zh-CN" sz="2800" b="1" dirty="0"/>
              <a:t>第三节：</a:t>
            </a:r>
            <a:r>
              <a:rPr lang="zh-CN" altLang="zh-CN" sz="2800" b="1" dirty="0">
                <a:hlinkClick r:id="rId3" action="ppaction://hlinksldjump"/>
              </a:rPr>
              <a:t>铸造内应力、变形和裂纹</a:t>
            </a:r>
            <a:endParaRPr lang="zh-CN" altLang="zh-CN"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blinds(horizontal)">
                                      <p:cBhvr>
                                        <p:cTn id="7" dur="500"/>
                                        <p:tgtEl>
                                          <p:spTgt spid="13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标题 1"/>
          <p:cNvSpPr>
            <a:spLocks noGrp="1"/>
          </p:cNvSpPr>
          <p:nvPr>
            <p:ph type="title"/>
          </p:nvPr>
        </p:nvSpPr>
        <p:spPr/>
        <p:txBody>
          <a:bodyPr vert="horz" wrap="square" lIns="91440" tIns="45720" rIns="91440" bIns="45720" anchor="b" anchorCtr="0"/>
          <a:p>
            <a:r>
              <a:rPr lang="zh-CN" altLang="en-US" dirty="0"/>
              <a:t>铁碳相图回顾</a:t>
            </a:r>
            <a:endParaRPr lang="zh-CN" altLang="en-US" dirty="0"/>
          </a:p>
        </p:txBody>
      </p:sp>
      <p:pic>
        <p:nvPicPr>
          <p:cNvPr id="25603" name="图片 2"/>
          <p:cNvPicPr>
            <a:picLocks noChangeAspect="1"/>
          </p:cNvPicPr>
          <p:nvPr/>
        </p:nvPicPr>
        <p:blipFill>
          <a:blip r:embed="rId1"/>
          <a:stretch>
            <a:fillRect/>
          </a:stretch>
        </p:blipFill>
        <p:spPr>
          <a:xfrm>
            <a:off x="792163" y="1700213"/>
            <a:ext cx="7596187" cy="4976812"/>
          </a:xfrm>
          <a:prstGeom prst="rect">
            <a:avLst/>
          </a:prstGeom>
          <a:noFill/>
          <a:ln w="9525">
            <a:noFill/>
          </a:ln>
        </p:spPr>
      </p:pic>
      <p:sp>
        <p:nvSpPr>
          <p:cNvPr id="25604" name="圆角矩形标注 1"/>
          <p:cNvSpPr/>
          <p:nvPr/>
        </p:nvSpPr>
        <p:spPr>
          <a:xfrm>
            <a:off x="5003800" y="225425"/>
            <a:ext cx="3384550" cy="1295400"/>
          </a:xfrm>
          <a:prstGeom prst="wedgeRoundRectCallout">
            <a:avLst>
              <a:gd name="adj1" fmla="val -44968"/>
              <a:gd name="adj2" fmla="val 92380"/>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457200" lvl="1" indent="0">
              <a:spcBef>
                <a:spcPct val="0"/>
              </a:spcBef>
              <a:buClrTx/>
              <a:buSzTx/>
              <a:buFontTx/>
              <a:buNone/>
            </a:pPr>
            <a:r>
              <a:rPr lang="zh-CN" altLang="en-US" sz="2000" dirty="0"/>
              <a:t>谁能说说：</a:t>
            </a:r>
            <a:endParaRPr lang="en-US" altLang="zh-CN" sz="2000" dirty="0"/>
          </a:p>
          <a:p>
            <a:pPr marL="457200" lvl="1" indent="0">
              <a:spcBef>
                <a:spcPct val="0"/>
              </a:spcBef>
              <a:buClrTx/>
              <a:buSzTx/>
              <a:buFontTx/>
              <a:buNone/>
            </a:pPr>
            <a:r>
              <a:rPr lang="zh-CN" altLang="en-US" sz="2000" dirty="0"/>
              <a:t>铸铁、分类、共晶反应、结晶过程与特点？</a:t>
            </a:r>
            <a:endParaRPr lang="en-US" altLang="zh-CN" sz="2000" dirty="0"/>
          </a:p>
          <a:p>
            <a:pPr marL="0" lvl="0" indent="0">
              <a:spcBef>
                <a:spcPct val="0"/>
              </a:spcBef>
              <a:buClrTx/>
              <a:buSzTx/>
              <a:buFontTx/>
              <a:buNone/>
            </a:pPr>
            <a:endParaRPr lang="zh-CN" alt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矩形 1"/>
          <p:cNvSpPr/>
          <p:nvPr/>
        </p:nvSpPr>
        <p:spPr>
          <a:xfrm>
            <a:off x="919163" y="5805488"/>
            <a:ext cx="7848600"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2400" dirty="0">
                <a:solidFill>
                  <a:srgbClr val="333333"/>
                </a:solidFill>
                <a:latin typeface="PingFang SC"/>
              </a:rPr>
              <a:t>铸铁：亚共晶铸铁、共晶铸铁、过共晶铸铁，都含有莱氏体</a:t>
            </a:r>
            <a:endParaRPr lang="zh-CN" altLang="en-US" sz="2400" dirty="0"/>
          </a:p>
        </p:txBody>
      </p:sp>
      <p:pic>
        <p:nvPicPr>
          <p:cNvPr id="26627" name="图片 2"/>
          <p:cNvPicPr>
            <a:picLocks noChangeAspect="1"/>
          </p:cNvPicPr>
          <p:nvPr/>
        </p:nvPicPr>
        <p:blipFill>
          <a:blip r:embed="rId1"/>
          <a:stretch>
            <a:fillRect/>
          </a:stretch>
        </p:blipFill>
        <p:spPr>
          <a:xfrm>
            <a:off x="434975" y="71438"/>
            <a:ext cx="8313738" cy="5445125"/>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矩形 1"/>
          <p:cNvSpPr/>
          <p:nvPr/>
        </p:nvSpPr>
        <p:spPr>
          <a:xfrm>
            <a:off x="684213" y="5287963"/>
            <a:ext cx="7848600" cy="15700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2400" dirty="0">
                <a:solidFill>
                  <a:srgbClr val="333333"/>
                </a:solidFill>
                <a:latin typeface="PingFang SC"/>
              </a:rPr>
              <a:t>共晶反应：液体全部转化为莱氏体（高温：奥氏体和渗碳体的机械混合物，低温：珠光体</a:t>
            </a:r>
            <a:r>
              <a:rPr lang="en-US" altLang="zh-CN" sz="2400" dirty="0">
                <a:solidFill>
                  <a:srgbClr val="333333"/>
                </a:solidFill>
                <a:latin typeface="PingFang SC"/>
              </a:rPr>
              <a:t>+</a:t>
            </a:r>
            <a:r>
              <a:rPr lang="zh-CN" altLang="en-US" sz="2400" dirty="0">
                <a:solidFill>
                  <a:srgbClr val="333333"/>
                </a:solidFill>
                <a:latin typeface="PingFang SC"/>
              </a:rPr>
              <a:t>渗碳体）。</a:t>
            </a:r>
            <a:br>
              <a:rPr lang="zh-CN" altLang="en-US" sz="2400" dirty="0"/>
            </a:br>
            <a:r>
              <a:rPr lang="zh-CN" altLang="en-US" sz="2400" dirty="0">
                <a:solidFill>
                  <a:srgbClr val="333333"/>
                </a:solidFill>
                <a:latin typeface="PingFang SC"/>
              </a:rPr>
              <a:t>特点：反应是在恒温下发生，反应物和产物具有特定成分的相。</a:t>
            </a:r>
            <a:endParaRPr lang="zh-CN" altLang="en-US" sz="2400" dirty="0"/>
          </a:p>
        </p:txBody>
      </p:sp>
      <p:pic>
        <p:nvPicPr>
          <p:cNvPr id="27651" name="图片 2"/>
          <p:cNvPicPr>
            <a:picLocks noChangeAspect="1"/>
          </p:cNvPicPr>
          <p:nvPr/>
        </p:nvPicPr>
        <p:blipFill>
          <a:blip r:embed="rId1"/>
          <a:stretch>
            <a:fillRect/>
          </a:stretch>
        </p:blipFill>
        <p:spPr>
          <a:xfrm>
            <a:off x="827088" y="17463"/>
            <a:ext cx="7777162" cy="509270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p:txBody>
          <a:bodyPr vert="horz" wrap="square" lIns="91440" tIns="45720" rIns="91440" bIns="45720" anchor="b" anchorCtr="0"/>
          <a:p>
            <a:pPr eaLnBrk="1" hangingPunct="1"/>
            <a:r>
              <a:rPr lang="zh-CN" altLang="en-US" sz="4400" dirty="0">
                <a:latin typeface="Times New Roman" panose="02020603050405020304" pitchFamily="18" charset="0"/>
                <a:ea typeface="华文彩云" panose="02010800040101010101" pitchFamily="2" charset="-122"/>
              </a:rPr>
              <a:t>金属的结晶过程</a:t>
            </a:r>
            <a:endParaRPr lang="zh-CN" altLang="en-US" sz="4400" dirty="0">
              <a:latin typeface="Times New Roman" panose="02020603050405020304" pitchFamily="18" charset="0"/>
              <a:ea typeface="华文彩云" panose="02010800040101010101" pitchFamily="2" charset="-122"/>
            </a:endParaRPr>
          </a:p>
        </p:txBody>
      </p:sp>
      <p:pic>
        <p:nvPicPr>
          <p:cNvPr id="28675" name="Picture 11" descr="结晶过程"/>
          <p:cNvPicPr>
            <a:picLocks noChangeAspect="1"/>
          </p:cNvPicPr>
          <p:nvPr/>
        </p:nvPicPr>
        <p:blipFill>
          <a:blip r:embed="rId1"/>
          <a:stretch>
            <a:fillRect/>
          </a:stretch>
        </p:blipFill>
        <p:spPr>
          <a:xfrm>
            <a:off x="428625" y="3962400"/>
            <a:ext cx="8286750" cy="2770188"/>
          </a:xfrm>
          <a:prstGeom prst="rect">
            <a:avLst/>
          </a:prstGeom>
          <a:noFill/>
          <a:ln w="9525" cap="flat" cmpd="sng">
            <a:solidFill>
              <a:srgbClr val="9900CC"/>
            </a:solidFill>
            <a:prstDash val="solid"/>
            <a:miter/>
            <a:headEnd type="none" w="med" len="med"/>
            <a:tailEnd type="none" w="med" len="med"/>
          </a:ln>
        </p:spPr>
      </p:pic>
      <p:sp>
        <p:nvSpPr>
          <p:cNvPr id="28676" name="Rectangle 12"/>
          <p:cNvSpPr>
            <a:spLocks noGrp="1"/>
          </p:cNvSpPr>
          <p:nvPr>
            <p:ph idx="1"/>
          </p:nvPr>
        </p:nvSpPr>
        <p:spPr>
          <a:xfrm>
            <a:off x="838200" y="1447800"/>
            <a:ext cx="7943850" cy="685800"/>
          </a:xfrm>
        </p:spPr>
        <p:txBody>
          <a:bodyPr vert="horz" wrap="square" lIns="91440" tIns="45720" rIns="91440" bIns="45720" anchor="t" anchorCtr="0"/>
          <a:p>
            <a:pPr eaLnBrk="1" hangingPunct="1">
              <a:buClr>
                <a:schemeClr val="accent2"/>
              </a:buClr>
              <a:buSzPct val="75000"/>
              <a:buFont typeface="Wingdings" panose="05000000000000000000" pitchFamily="2" charset="2"/>
              <a:buChar char="l"/>
            </a:pPr>
            <a:r>
              <a:rPr lang="zh-CN" altLang="en-US" sz="2800" b="1" dirty="0"/>
              <a:t>形核和长大</a:t>
            </a:r>
            <a:endParaRPr lang="zh-CN" altLang="en-US" sz="2800" b="1" dirty="0"/>
          </a:p>
        </p:txBody>
      </p:sp>
      <p:grpSp>
        <p:nvGrpSpPr>
          <p:cNvPr id="28677" name="Group 13"/>
          <p:cNvGrpSpPr/>
          <p:nvPr/>
        </p:nvGrpSpPr>
        <p:grpSpPr>
          <a:xfrm>
            <a:off x="2989263" y="3070225"/>
            <a:ext cx="1830387" cy="785813"/>
            <a:chOff x="1746" y="3566"/>
            <a:chExt cx="1153" cy="495"/>
          </a:xfrm>
        </p:grpSpPr>
        <p:sp>
          <p:nvSpPr>
            <p:cNvPr id="28685" name="Line 14"/>
            <p:cNvSpPr/>
            <p:nvPr/>
          </p:nvSpPr>
          <p:spPr>
            <a:xfrm>
              <a:off x="1746" y="3566"/>
              <a:ext cx="227" cy="227"/>
            </a:xfrm>
            <a:prstGeom prst="line">
              <a:avLst/>
            </a:prstGeom>
            <a:ln w="19050" cap="flat" cmpd="sng">
              <a:solidFill>
                <a:srgbClr val="993300"/>
              </a:solidFill>
              <a:prstDash val="solid"/>
              <a:headEnd type="none" w="med" len="med"/>
              <a:tailEnd type="triangle" w="med" len="med"/>
            </a:ln>
          </p:spPr>
        </p:sp>
        <p:sp>
          <p:nvSpPr>
            <p:cNvPr id="28686" name="Rectangle 15"/>
            <p:cNvSpPr/>
            <p:nvPr/>
          </p:nvSpPr>
          <p:spPr>
            <a:xfrm>
              <a:off x="2018" y="3657"/>
              <a:ext cx="881" cy="404"/>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dirty="0">
                  <a:solidFill>
                    <a:srgbClr val="993300"/>
                  </a:solidFill>
                  <a:latin typeface="Arial" panose="020B0604020202020204" pitchFamily="34" charset="0"/>
                </a:rPr>
                <a:t>自发形核 </a:t>
              </a:r>
              <a:endParaRPr lang="zh-CN" altLang="en-US" sz="1800" b="1" dirty="0">
                <a:solidFill>
                  <a:srgbClr val="993300"/>
                </a:solidFill>
                <a:latin typeface="Arial" panose="020B0604020202020204" pitchFamily="34" charset="0"/>
              </a:endParaRPr>
            </a:p>
            <a:p>
              <a:pPr marL="0" lvl="0" indent="0" eaLnBrk="1" hangingPunct="1">
                <a:spcBef>
                  <a:spcPct val="0"/>
                </a:spcBef>
                <a:buClrTx/>
                <a:buSzTx/>
                <a:buFontTx/>
                <a:buNone/>
              </a:pPr>
              <a:r>
                <a:rPr lang="zh-CN" altLang="en-US" sz="1800" b="1" dirty="0">
                  <a:solidFill>
                    <a:srgbClr val="993300"/>
                  </a:solidFill>
                  <a:latin typeface="Arial" panose="020B0604020202020204" pitchFamily="34" charset="0"/>
                </a:rPr>
                <a:t>非自发形核</a:t>
              </a:r>
              <a:r>
                <a:rPr lang="zh-CN" altLang="en-US" sz="1800" b="1" dirty="0">
                  <a:latin typeface="Arial" panose="020B0604020202020204" pitchFamily="34" charset="0"/>
                </a:rPr>
                <a:t> </a:t>
              </a:r>
              <a:endParaRPr lang="zh-CN" altLang="en-US" sz="1800" b="1" dirty="0">
                <a:latin typeface="Arial" panose="020B0604020202020204" pitchFamily="34" charset="0"/>
              </a:endParaRPr>
            </a:p>
          </p:txBody>
        </p:sp>
      </p:grpSp>
      <p:grpSp>
        <p:nvGrpSpPr>
          <p:cNvPr id="28678" name="Group 16"/>
          <p:cNvGrpSpPr/>
          <p:nvPr/>
        </p:nvGrpSpPr>
        <p:grpSpPr>
          <a:xfrm>
            <a:off x="4068763" y="2925763"/>
            <a:ext cx="2752725" cy="655637"/>
            <a:chOff x="2426" y="3475"/>
            <a:chExt cx="1734" cy="413"/>
          </a:xfrm>
        </p:grpSpPr>
        <p:sp>
          <p:nvSpPr>
            <p:cNvPr id="28683" name="Line 17"/>
            <p:cNvSpPr/>
            <p:nvPr/>
          </p:nvSpPr>
          <p:spPr>
            <a:xfrm>
              <a:off x="2426" y="3475"/>
              <a:ext cx="908" cy="273"/>
            </a:xfrm>
            <a:prstGeom prst="line">
              <a:avLst/>
            </a:prstGeom>
            <a:ln w="19050" cap="flat" cmpd="sng">
              <a:solidFill>
                <a:srgbClr val="993300"/>
              </a:solidFill>
              <a:prstDash val="solid"/>
              <a:headEnd type="none" w="med" len="med"/>
              <a:tailEnd type="triangle" w="med" len="med"/>
            </a:ln>
          </p:spPr>
        </p:sp>
        <p:sp>
          <p:nvSpPr>
            <p:cNvPr id="28684" name="Rectangle 18"/>
            <p:cNvSpPr/>
            <p:nvPr/>
          </p:nvSpPr>
          <p:spPr>
            <a:xfrm>
              <a:off x="3424" y="3657"/>
              <a:ext cx="736" cy="231"/>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dirty="0">
                  <a:solidFill>
                    <a:srgbClr val="993300"/>
                  </a:solidFill>
                  <a:latin typeface="Arial" panose="020B0604020202020204" pitchFamily="34" charset="0"/>
                </a:rPr>
                <a:t>呈树枝状</a:t>
              </a:r>
              <a:r>
                <a:rPr lang="zh-CN" altLang="en-US" sz="1800" b="1" dirty="0">
                  <a:latin typeface="Arial" panose="020B0604020202020204" pitchFamily="34" charset="0"/>
                </a:rPr>
                <a:t> </a:t>
              </a:r>
              <a:endParaRPr lang="zh-CN" altLang="en-US" sz="1800" b="1" dirty="0">
                <a:latin typeface="Arial" panose="020B0604020202020204" pitchFamily="34" charset="0"/>
              </a:endParaRPr>
            </a:p>
          </p:txBody>
        </p:sp>
      </p:grpSp>
      <p:sp>
        <p:nvSpPr>
          <p:cNvPr id="28679" name="Rectangle 19"/>
          <p:cNvSpPr/>
          <p:nvPr/>
        </p:nvSpPr>
        <p:spPr>
          <a:xfrm>
            <a:off x="1268413" y="2422525"/>
            <a:ext cx="64452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dirty="0">
                <a:solidFill>
                  <a:srgbClr val="0000FF"/>
                </a:solidFill>
                <a:latin typeface="Arial" panose="020B0604020202020204" pitchFamily="34" charset="0"/>
              </a:rPr>
              <a:t>特点</a:t>
            </a:r>
            <a:endParaRPr lang="zh-CN" altLang="en-US" sz="1800" b="1" dirty="0">
              <a:solidFill>
                <a:srgbClr val="0000FF"/>
              </a:solidFill>
              <a:latin typeface="Arial" panose="020B0604020202020204" pitchFamily="34" charset="0"/>
            </a:endParaRPr>
          </a:p>
        </p:txBody>
      </p:sp>
      <p:grpSp>
        <p:nvGrpSpPr>
          <p:cNvPr id="28680" name="Group 20"/>
          <p:cNvGrpSpPr/>
          <p:nvPr/>
        </p:nvGrpSpPr>
        <p:grpSpPr>
          <a:xfrm>
            <a:off x="1981200" y="2133600"/>
            <a:ext cx="4608513" cy="1009650"/>
            <a:chOff x="1111" y="2976"/>
            <a:chExt cx="2903" cy="636"/>
          </a:xfrm>
        </p:grpSpPr>
        <p:sp>
          <p:nvSpPr>
            <p:cNvPr id="28681" name="Rectangle 21"/>
            <p:cNvSpPr/>
            <p:nvPr/>
          </p:nvSpPr>
          <p:spPr>
            <a:xfrm>
              <a:off x="1111" y="2976"/>
              <a:ext cx="2903" cy="636"/>
            </a:xfrm>
            <a:prstGeom prst="rect">
              <a:avLst/>
            </a:prstGeom>
            <a:noFill/>
            <a:ln w="9525" cap="flat" cmpd="sng">
              <a:solidFill>
                <a:srgbClr val="FF0000"/>
              </a:solidFill>
              <a:prstDash val="solid"/>
              <a:miter/>
              <a:headEnd type="none" w="med" len="med"/>
              <a:tailEnd type="none" w="med" len="med"/>
            </a:ln>
          </p:spPr>
          <p:txBody>
            <a:bodyPr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Tx/>
                <a:buNone/>
              </a:pPr>
              <a:r>
                <a:rPr lang="zh-CN" altLang="en-US" sz="1800" b="1" dirty="0">
                  <a:solidFill>
                    <a:srgbClr val="0000FF"/>
                  </a:solidFill>
                  <a:latin typeface="Arial" panose="020B0604020202020204" pitchFamily="34" charset="0"/>
                </a:rPr>
                <a:t>在一定时间内完成 </a:t>
              </a:r>
              <a:endParaRPr lang="zh-CN" altLang="en-US" sz="1800" b="1" dirty="0">
                <a:solidFill>
                  <a:srgbClr val="0000FF"/>
                </a:solidFill>
                <a:latin typeface="Arial" panose="020B0604020202020204" pitchFamily="34" charset="0"/>
              </a:endParaRPr>
            </a:p>
            <a:p>
              <a:pPr marL="0" lvl="0" indent="0" eaLnBrk="1" hangingPunct="1">
                <a:spcBef>
                  <a:spcPct val="0"/>
                </a:spcBef>
                <a:buClrTx/>
                <a:buSzTx/>
                <a:buFontTx/>
                <a:buNone/>
              </a:pPr>
              <a:r>
                <a:rPr lang="zh-CN" altLang="en-US" sz="1800" b="1" dirty="0">
                  <a:solidFill>
                    <a:srgbClr val="0000FF"/>
                  </a:solidFill>
                  <a:latin typeface="Arial" panose="020B0604020202020204" pitchFamily="34" charset="0"/>
                </a:rPr>
                <a:t>过程：局部           整体 </a:t>
              </a:r>
              <a:endParaRPr lang="zh-CN" altLang="en-US" sz="1800" b="1" dirty="0">
                <a:solidFill>
                  <a:srgbClr val="0000FF"/>
                </a:solidFill>
                <a:latin typeface="Arial" panose="020B0604020202020204" pitchFamily="34" charset="0"/>
              </a:endParaRPr>
            </a:p>
            <a:p>
              <a:pPr marL="0" lvl="0" indent="0" eaLnBrk="1" hangingPunct="1">
                <a:spcBef>
                  <a:spcPct val="0"/>
                </a:spcBef>
                <a:buClrTx/>
                <a:buSzTx/>
                <a:buFontTx/>
                <a:buNone/>
              </a:pPr>
              <a:r>
                <a:rPr lang="zh-CN" altLang="en-US" sz="1800" b="1" dirty="0">
                  <a:solidFill>
                    <a:srgbClr val="0000FF"/>
                  </a:solidFill>
                  <a:latin typeface="Arial" panose="020B0604020202020204" pitchFamily="34" charset="0"/>
                </a:rPr>
                <a:t>实质：</a:t>
              </a:r>
              <a:r>
                <a:rPr lang="zh-CN" altLang="en-US" sz="1800" b="1" u="sng" dirty="0">
                  <a:solidFill>
                    <a:srgbClr val="0000FF"/>
                  </a:solidFill>
                  <a:latin typeface="Arial" panose="020B0604020202020204" pitchFamily="34" charset="0"/>
                </a:rPr>
                <a:t>形核</a:t>
              </a:r>
              <a:r>
                <a:rPr lang="zh-CN" altLang="en-US" sz="1800" b="1" dirty="0">
                  <a:solidFill>
                    <a:srgbClr val="0000FF"/>
                  </a:solidFill>
                  <a:latin typeface="Arial" panose="020B0604020202020204" pitchFamily="34" charset="0"/>
                </a:rPr>
                <a:t> ＋ </a:t>
              </a:r>
              <a:r>
                <a:rPr lang="zh-CN" altLang="en-US" sz="1800" b="1" u="sng" dirty="0">
                  <a:solidFill>
                    <a:srgbClr val="0000FF"/>
                  </a:solidFill>
                  <a:latin typeface="Arial" panose="020B0604020202020204" pitchFamily="34" charset="0"/>
                </a:rPr>
                <a:t>长大</a:t>
              </a:r>
              <a:r>
                <a:rPr lang="zh-CN" altLang="en-US" sz="1800" b="1" dirty="0">
                  <a:solidFill>
                    <a:srgbClr val="0000FF"/>
                  </a:solidFill>
                  <a:latin typeface="Arial" panose="020B0604020202020204" pitchFamily="34" charset="0"/>
                </a:rPr>
                <a:t> </a:t>
              </a:r>
              <a:endParaRPr lang="zh-CN" altLang="en-US" sz="1800" b="1" dirty="0">
                <a:solidFill>
                  <a:srgbClr val="0000FF"/>
                </a:solidFill>
                <a:latin typeface="Arial" panose="020B0604020202020204" pitchFamily="34" charset="0"/>
              </a:endParaRPr>
            </a:p>
          </p:txBody>
        </p:sp>
        <p:sp>
          <p:nvSpPr>
            <p:cNvPr id="28682" name="Line 22"/>
            <p:cNvSpPr/>
            <p:nvPr/>
          </p:nvSpPr>
          <p:spPr>
            <a:xfrm>
              <a:off x="1927" y="3294"/>
              <a:ext cx="363" cy="0"/>
            </a:xfrm>
            <a:prstGeom prst="line">
              <a:avLst/>
            </a:prstGeom>
            <a:ln w="9525" cap="flat" cmpd="sng">
              <a:solidFill>
                <a:schemeClr val="hlink"/>
              </a:solidFill>
              <a:prstDash val="solid"/>
              <a:headEnd type="none" w="med" len="med"/>
              <a:tailEnd type="triangle" w="med" len="med"/>
            </a:ln>
          </p:spPr>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p:txBody>
          <a:bodyPr vert="horz" wrap="square" lIns="91440" tIns="45720" rIns="91440" bIns="45720" anchor="b" anchorCtr="0"/>
          <a:p>
            <a:pPr eaLnBrk="1" hangingPunct="1"/>
            <a:r>
              <a:rPr lang="zh-CN" altLang="en-US" sz="4400" dirty="0">
                <a:latin typeface="Times New Roman" panose="02020603050405020304" pitchFamily="18" charset="0"/>
                <a:ea typeface="华文彩云" panose="02010800040101010101" pitchFamily="2" charset="-122"/>
              </a:rPr>
              <a:t>金属的结晶过程</a:t>
            </a:r>
            <a:endParaRPr lang="zh-CN" altLang="en-US" sz="4400" dirty="0">
              <a:latin typeface="Times New Roman" panose="02020603050405020304" pitchFamily="18" charset="0"/>
              <a:ea typeface="华文彩云" panose="02010800040101010101" pitchFamily="2" charset="-122"/>
            </a:endParaRPr>
          </a:p>
        </p:txBody>
      </p:sp>
      <p:pic>
        <p:nvPicPr>
          <p:cNvPr id="130052" name="Picture 4" descr="树枝状晶"/>
          <p:cNvPicPr>
            <a:picLocks noChangeAspect="1"/>
          </p:cNvPicPr>
          <p:nvPr/>
        </p:nvPicPr>
        <p:blipFill>
          <a:blip r:embed="rId1"/>
          <a:stretch>
            <a:fillRect/>
          </a:stretch>
        </p:blipFill>
        <p:spPr>
          <a:xfrm>
            <a:off x="381000" y="3124200"/>
            <a:ext cx="4968875" cy="3205163"/>
          </a:xfrm>
          <a:prstGeom prst="rect">
            <a:avLst/>
          </a:prstGeom>
          <a:noFill/>
          <a:ln w="9525" cap="flat" cmpd="sng">
            <a:solidFill>
              <a:srgbClr val="9900CC"/>
            </a:solidFill>
            <a:prstDash val="solid"/>
            <a:miter/>
            <a:headEnd type="none" w="med" len="med"/>
            <a:tailEnd type="none" w="med" len="med"/>
          </a:ln>
        </p:spPr>
      </p:pic>
      <p:pic>
        <p:nvPicPr>
          <p:cNvPr id="130053" name="Picture 5" descr="钢锭中的树枝状晶"/>
          <p:cNvPicPr>
            <a:picLocks noChangeAspect="1"/>
          </p:cNvPicPr>
          <p:nvPr/>
        </p:nvPicPr>
        <p:blipFill>
          <a:blip r:embed="rId2"/>
          <a:stretch>
            <a:fillRect/>
          </a:stretch>
        </p:blipFill>
        <p:spPr>
          <a:xfrm>
            <a:off x="5562600" y="3124200"/>
            <a:ext cx="3257550" cy="3194050"/>
          </a:xfrm>
          <a:prstGeom prst="rect">
            <a:avLst/>
          </a:prstGeom>
          <a:noFill/>
          <a:ln w="9525" cap="flat" cmpd="sng">
            <a:solidFill>
              <a:srgbClr val="9900CC"/>
            </a:solidFill>
            <a:prstDash val="solid"/>
            <a:miter/>
            <a:headEnd type="none" w="med" len="med"/>
            <a:tailEnd type="none" w="med" len="med"/>
          </a:ln>
        </p:spPr>
      </p:pic>
      <p:sp>
        <p:nvSpPr>
          <p:cNvPr id="29701" name="Text Box 6"/>
          <p:cNvSpPr txBox="1"/>
          <p:nvPr/>
        </p:nvSpPr>
        <p:spPr>
          <a:xfrm>
            <a:off x="1476375" y="1901825"/>
            <a:ext cx="6888163" cy="830263"/>
          </a:xfrm>
          <a:prstGeom prst="rect">
            <a:avLst/>
          </a:prstGeom>
          <a:solidFill>
            <a:srgbClr val="FFFF00"/>
          </a:solid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2400" b="1" dirty="0">
                <a:solidFill>
                  <a:srgbClr val="FF0066"/>
                </a:solidFill>
                <a:latin typeface="Tahoma" panose="020B0604030504040204" pitchFamily="34" charset="0"/>
              </a:rPr>
              <a:t>晶核长大</a:t>
            </a:r>
            <a:r>
              <a:rPr lang="en-US" altLang="zh-CN" sz="2400" b="1" dirty="0">
                <a:latin typeface="Arial" panose="020B0604020202020204" pitchFamily="34" charset="0"/>
              </a:rPr>
              <a:t>—</a:t>
            </a:r>
            <a:r>
              <a:rPr lang="zh-CN" altLang="en-US" sz="2400" b="1" dirty="0">
                <a:latin typeface="Tahoma" panose="020B0604030504040204" pitchFamily="34" charset="0"/>
              </a:rPr>
              <a:t>沿着有利于散热的方向按树枝状方式生长。</a:t>
            </a:r>
            <a:endParaRPr lang="zh-CN" altLang="en-US" sz="2400" b="1" dirty="0">
              <a:latin typeface="Tahoma" panose="020B0604030504040204" pitchFamily="34" charset="0"/>
            </a:endParaRPr>
          </a:p>
        </p:txBody>
      </p:sp>
      <p:sp>
        <p:nvSpPr>
          <p:cNvPr id="29702" name="AutoShape 8"/>
          <p:cNvSpPr/>
          <p:nvPr/>
        </p:nvSpPr>
        <p:spPr>
          <a:xfrm>
            <a:off x="533400" y="1752600"/>
            <a:ext cx="685800" cy="914400"/>
          </a:xfrm>
          <a:prstGeom prst="verticalScroll">
            <a:avLst>
              <a:gd name="adj" fmla="val 12500"/>
            </a:avLst>
          </a:prstGeom>
          <a:solidFill>
            <a:schemeClr val="accent1"/>
          </a:solidFill>
          <a:ln w="9525" cap="flat" cmpd="sng">
            <a:solidFill>
              <a:schemeClr val="tx1"/>
            </a:solidFill>
            <a:prstDash val="solid"/>
            <a:headEnd type="none" w="med" len="med"/>
            <a:tailEnd type="none" w="med" len="med"/>
          </a:ln>
        </p:spPr>
        <p:txBody>
          <a:bodyPr vert="eaVert"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Tx/>
              <a:buNone/>
            </a:pPr>
            <a:endParaRPr lang="zh-CN" altLang="en-US" sz="1800" dirty="0">
              <a:latin typeface="Tahoma" panose="020B0604030504040204" pitchFamily="34" charset="0"/>
            </a:endParaRPr>
          </a:p>
        </p:txBody>
      </p:sp>
      <p:sp>
        <p:nvSpPr>
          <p:cNvPr id="29703" name="Text Box 9"/>
          <p:cNvSpPr txBox="1"/>
          <p:nvPr/>
        </p:nvSpPr>
        <p:spPr>
          <a:xfrm>
            <a:off x="684213" y="1905000"/>
            <a:ext cx="458787" cy="609600"/>
          </a:xfrm>
          <a:prstGeom prst="rect">
            <a:avLst/>
          </a:prstGeom>
          <a:noFill/>
          <a:ln w="9525">
            <a:noFill/>
          </a:ln>
        </p:spPr>
        <p:txBody>
          <a:bodyPr vert="eaVert">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FontTx/>
              <a:buNone/>
            </a:pPr>
            <a:r>
              <a:rPr lang="zh-CN" altLang="en-US" sz="1800" b="1" dirty="0">
                <a:latin typeface="Tahoma" panose="020B0604030504040204" pitchFamily="34" charset="0"/>
              </a:rPr>
              <a:t>术语</a:t>
            </a:r>
            <a:endParaRPr lang="zh-CN" altLang="en-US" sz="1800" b="1" dirty="0">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30052"/>
                                        </p:tgtEl>
                                        <p:attrNameLst>
                                          <p:attrName>style.visibility</p:attrName>
                                        </p:attrNameLst>
                                      </p:cBhvr>
                                      <p:to>
                                        <p:strVal val="visible"/>
                                      </p:to>
                                    </p:set>
                                    <p:animEffect transition="in" filter="wedge">
                                      <p:cBhvr>
                                        <p:cTn id="7" dur="500"/>
                                        <p:tgtEl>
                                          <p:spTgt spid="13005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30053"/>
                                        </p:tgtEl>
                                        <p:attrNameLst>
                                          <p:attrName>style.visibility</p:attrName>
                                        </p:attrNameLst>
                                      </p:cBhvr>
                                      <p:to>
                                        <p:strVal val="visible"/>
                                      </p:to>
                                    </p:set>
                                    <p:animEffect transition="in" filter="checkerboard(across)">
                                      <p:cBhvr>
                                        <p:cTn id="12" dur="500"/>
                                        <p:tgtEl>
                                          <p:spTgt spid="130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ChangeArrowheads="1"/>
          </p:cNvSpPr>
          <p:nvPr/>
        </p:nvSpPr>
        <p:spPr bwMode="auto">
          <a:xfrm>
            <a:off x="827088" y="549275"/>
            <a:ext cx="6302375" cy="762000"/>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第一节	液态合金的充型</a:t>
            </a:r>
            <a:endParaRPr kumimoji="0" lang="zh-CN" altLang="en-US" sz="4400" b="1" i="0" u="none" strike="noStrike" kern="1200" cap="none" spc="0" normalizeH="0" baseline="0" noProof="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
        <p:nvSpPr>
          <p:cNvPr id="30723" name="Rectangle 5"/>
          <p:cNvSpPr/>
          <p:nvPr/>
        </p:nvSpPr>
        <p:spPr>
          <a:xfrm>
            <a:off x="684213" y="1844675"/>
            <a:ext cx="7704137" cy="470852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en-US" altLang="zh-CN" sz="2400" b="1" dirty="0">
                <a:solidFill>
                  <a:srgbClr val="F9275E"/>
                </a:solidFill>
              </a:rPr>
              <a:t> </a:t>
            </a:r>
            <a:r>
              <a:rPr lang="zh-CN" altLang="en-US" sz="2800" b="1" dirty="0">
                <a:solidFill>
                  <a:srgbClr val="FF3300"/>
                </a:solidFill>
                <a:ea typeface="楷体_GB2312" pitchFamily="49" charset="-122"/>
              </a:rPr>
              <a:t>充型</a:t>
            </a:r>
            <a:endParaRPr lang="zh-CN" altLang="en-US" sz="2800" b="1" dirty="0">
              <a:solidFill>
                <a:srgbClr val="FF3300"/>
              </a:solidFill>
              <a:ea typeface="楷体_GB2312" pitchFamily="49" charset="-122"/>
            </a:endParaRPr>
          </a:p>
          <a:p>
            <a:pPr marL="0" lvl="0" indent="0" eaLnBrk="1" hangingPunct="1">
              <a:spcBef>
                <a:spcPct val="0"/>
              </a:spcBef>
              <a:buClrTx/>
              <a:buSzTx/>
              <a:buNone/>
            </a:pPr>
            <a:r>
              <a:rPr lang="zh-CN" altLang="en-US" sz="2400" b="1" dirty="0">
                <a:solidFill>
                  <a:schemeClr val="tx2"/>
                </a:solidFill>
                <a:ea typeface="楷体_GB2312" pitchFamily="49" charset="-122"/>
              </a:rPr>
              <a:t>    液态合金填充铸型的过程，称为充型。</a:t>
            </a:r>
            <a:endParaRPr lang="zh-CN" altLang="en-US" sz="2400" b="1" dirty="0">
              <a:solidFill>
                <a:srgbClr val="FF3300"/>
              </a:solidFill>
              <a:ea typeface="楷体_GB2312" pitchFamily="49" charset="-122"/>
            </a:endParaRPr>
          </a:p>
          <a:p>
            <a:pPr marL="0" lvl="0" indent="0" eaLnBrk="1" hangingPunct="1">
              <a:spcBef>
                <a:spcPct val="0"/>
              </a:spcBef>
              <a:buClrTx/>
              <a:buSzTx/>
              <a:buFont typeface="Wingdings" panose="05000000000000000000" pitchFamily="2" charset="2"/>
              <a:buChar char="p"/>
            </a:pPr>
            <a:r>
              <a:rPr lang="zh-CN" altLang="en-US" sz="2400" b="1" dirty="0">
                <a:solidFill>
                  <a:srgbClr val="FF3300"/>
                </a:solidFill>
                <a:ea typeface="楷体_GB2312" pitchFamily="49" charset="-122"/>
              </a:rPr>
              <a:t> </a:t>
            </a:r>
            <a:r>
              <a:rPr lang="zh-CN" altLang="en-US" sz="2800" b="1" dirty="0">
                <a:solidFill>
                  <a:srgbClr val="FF3300"/>
                </a:solidFill>
                <a:ea typeface="楷体_GB2312" pitchFamily="49" charset="-122"/>
              </a:rPr>
              <a:t>充型能力</a:t>
            </a:r>
            <a:endParaRPr lang="zh-CN" altLang="en-US" sz="2800" b="1" dirty="0">
              <a:solidFill>
                <a:srgbClr val="FF3300"/>
              </a:solidFill>
              <a:ea typeface="楷体_GB2312" pitchFamily="49" charset="-122"/>
            </a:endParaRPr>
          </a:p>
          <a:p>
            <a:pPr marL="0" lvl="0" indent="0" eaLnBrk="1" hangingPunct="1">
              <a:spcBef>
                <a:spcPct val="0"/>
              </a:spcBef>
              <a:buClrTx/>
              <a:buSzTx/>
              <a:buNone/>
            </a:pPr>
            <a:r>
              <a:rPr lang="zh-CN" altLang="en-US" sz="2400" b="1" dirty="0">
                <a:solidFill>
                  <a:schemeClr val="tx2"/>
                </a:solidFill>
                <a:ea typeface="楷体_GB2312" pitchFamily="49" charset="-122"/>
              </a:rPr>
              <a:t>    液态合金充满铸型型腔，获得尺寸精确、轮廓清晰铸件的能力，称为液态合金的充型能力。</a:t>
            </a:r>
            <a:endParaRPr lang="en-US" altLang="zh-CN" sz="2400" b="1" dirty="0">
              <a:solidFill>
                <a:schemeClr val="tx2"/>
              </a:solidFill>
              <a:ea typeface="楷体_GB2312" pitchFamily="49" charset="-122"/>
            </a:endParaRPr>
          </a:p>
          <a:p>
            <a:pPr marL="0" lvl="0" indent="0" eaLnBrk="1" hangingPunct="1">
              <a:spcBef>
                <a:spcPct val="0"/>
              </a:spcBef>
              <a:buClr>
                <a:srgbClr val="009900"/>
              </a:buClr>
              <a:buSzTx/>
              <a:buFont typeface="Wingdings" panose="05000000000000000000" pitchFamily="2" charset="2"/>
              <a:buChar char="Ø"/>
            </a:pPr>
            <a:r>
              <a:rPr lang="zh-CN" altLang="en-US" sz="3200" b="1" dirty="0">
                <a:solidFill>
                  <a:srgbClr val="009900"/>
                </a:solidFill>
                <a:ea typeface="楷体_GB2312" pitchFamily="49" charset="-122"/>
              </a:rPr>
              <a:t>影响充型能力的因素：</a:t>
            </a:r>
            <a:endParaRPr lang="zh-CN" altLang="en-US" sz="3200" b="1" dirty="0">
              <a:solidFill>
                <a:srgbClr val="009900"/>
              </a:solidFill>
              <a:ea typeface="楷体_GB2312" pitchFamily="49" charset="-122"/>
            </a:endParaRPr>
          </a:p>
          <a:p>
            <a:pPr marL="742950" lvl="1" indent="-285750" eaLnBrk="1" hangingPunct="1">
              <a:spcBef>
                <a:spcPct val="0"/>
              </a:spcBef>
              <a:buClr>
                <a:srgbClr val="009900"/>
              </a:buClr>
              <a:buSzTx/>
            </a:pPr>
            <a:r>
              <a:rPr lang="zh-CN" altLang="en-US" sz="2800" b="1" dirty="0">
                <a:solidFill>
                  <a:srgbClr val="0000CC"/>
                </a:solidFill>
                <a:ea typeface="楷体_GB2312" pitchFamily="49" charset="-122"/>
              </a:rPr>
              <a:t>合金的</a:t>
            </a:r>
            <a:r>
              <a:rPr lang="zh-CN" altLang="en-US" sz="2800" b="1" u="sng" dirty="0">
                <a:solidFill>
                  <a:srgbClr val="FF0000"/>
                </a:solidFill>
                <a:ea typeface="楷体_GB2312" pitchFamily="49" charset="-122"/>
              </a:rPr>
              <a:t>流动性</a:t>
            </a:r>
            <a:endParaRPr lang="en-US" altLang="zh-CN" sz="2800" b="1" dirty="0">
              <a:solidFill>
                <a:srgbClr val="0000CC"/>
              </a:solidFill>
              <a:ea typeface="楷体_GB2312" pitchFamily="49" charset="-122"/>
            </a:endParaRPr>
          </a:p>
          <a:p>
            <a:pPr marL="742950" lvl="1" indent="-285750" eaLnBrk="1" hangingPunct="1">
              <a:spcBef>
                <a:spcPct val="0"/>
              </a:spcBef>
              <a:buClr>
                <a:srgbClr val="009900"/>
              </a:buClr>
              <a:buSzTx/>
            </a:pPr>
            <a:r>
              <a:rPr lang="zh-CN" altLang="en-US" sz="2800" b="1" dirty="0">
                <a:solidFill>
                  <a:srgbClr val="0000CC"/>
                </a:solidFill>
                <a:ea typeface="楷体_GB2312" pitchFamily="49" charset="-122"/>
              </a:rPr>
              <a:t>浇注条件</a:t>
            </a:r>
            <a:r>
              <a:rPr lang="en-US" altLang="zh-CN" sz="2800" b="1" dirty="0">
                <a:solidFill>
                  <a:srgbClr val="0000CC"/>
                </a:solidFill>
                <a:ea typeface="楷体_GB2312" pitchFamily="49" charset="-122"/>
              </a:rPr>
              <a:t>: </a:t>
            </a:r>
            <a:r>
              <a:rPr lang="zh-CN" altLang="en-US" sz="2800" b="1" dirty="0">
                <a:solidFill>
                  <a:srgbClr val="0000CC"/>
                </a:solidFill>
                <a:ea typeface="楷体_GB2312" pitchFamily="49" charset="-122"/>
              </a:rPr>
              <a:t>比如</a:t>
            </a:r>
            <a:r>
              <a:rPr lang="zh-CN" altLang="en-US" sz="2800" b="1" u="sng" dirty="0">
                <a:solidFill>
                  <a:srgbClr val="00B050"/>
                </a:solidFill>
                <a:ea typeface="楷体_GB2312" pitchFamily="49" charset="-122"/>
              </a:rPr>
              <a:t>浇注温度</a:t>
            </a:r>
            <a:r>
              <a:rPr lang="zh-CN" altLang="en-US" sz="2800" b="1" dirty="0">
                <a:solidFill>
                  <a:srgbClr val="00B050"/>
                </a:solidFill>
                <a:ea typeface="楷体_GB2312" pitchFamily="49" charset="-122"/>
              </a:rPr>
              <a:t>、</a:t>
            </a:r>
            <a:r>
              <a:rPr lang="zh-CN" altLang="en-US" sz="2800" b="1" u="sng" dirty="0">
                <a:solidFill>
                  <a:srgbClr val="00B050"/>
                </a:solidFill>
                <a:ea typeface="楷体_GB2312" pitchFamily="49" charset="-122"/>
              </a:rPr>
              <a:t>充型压力</a:t>
            </a:r>
            <a:endParaRPr lang="en-US" altLang="zh-CN" sz="2800" b="1" dirty="0">
              <a:solidFill>
                <a:srgbClr val="0000CC"/>
              </a:solidFill>
              <a:ea typeface="楷体_GB2312" pitchFamily="49" charset="-122"/>
            </a:endParaRPr>
          </a:p>
          <a:p>
            <a:pPr marL="742950" lvl="1" indent="-285750" eaLnBrk="1" hangingPunct="1">
              <a:spcBef>
                <a:spcPct val="0"/>
              </a:spcBef>
              <a:buClr>
                <a:srgbClr val="009900"/>
              </a:buClr>
              <a:buSzTx/>
            </a:pPr>
            <a:r>
              <a:rPr lang="zh-CN" altLang="en-US" sz="2800" b="1" dirty="0">
                <a:solidFill>
                  <a:srgbClr val="0000CC"/>
                </a:solidFill>
                <a:ea typeface="楷体_GB2312" pitchFamily="49" charset="-122"/>
              </a:rPr>
              <a:t>铸型填充条件</a:t>
            </a:r>
            <a:r>
              <a:rPr lang="en-US" altLang="zh-CN" sz="2800" b="1" dirty="0">
                <a:solidFill>
                  <a:srgbClr val="0000CC"/>
                </a:solidFill>
                <a:ea typeface="楷体_GB2312" pitchFamily="49" charset="-122"/>
              </a:rPr>
              <a:t>: </a:t>
            </a:r>
            <a:r>
              <a:rPr lang="zh-CN" altLang="en-US" sz="2800" b="1" dirty="0">
                <a:solidFill>
                  <a:srgbClr val="0000CC"/>
                </a:solidFill>
                <a:ea typeface="楷体_GB2312" pitchFamily="49" charset="-122"/>
              </a:rPr>
              <a:t>比如铸型</a:t>
            </a:r>
            <a:r>
              <a:rPr lang="zh-CN" altLang="en-US" sz="2800" b="1" dirty="0">
                <a:solidFill>
                  <a:srgbClr val="FFC000"/>
                </a:solidFill>
                <a:ea typeface="楷体_GB2312" pitchFamily="49" charset="-122"/>
              </a:rPr>
              <a:t>蓄热系数、铸型温度、铸型中的气体</a:t>
            </a:r>
            <a:r>
              <a:rPr lang="zh-CN" altLang="en-US" sz="2800" b="1" dirty="0">
                <a:solidFill>
                  <a:srgbClr val="0000CC"/>
                </a:solidFill>
                <a:ea typeface="楷体_GB2312" pitchFamily="49" charset="-122"/>
              </a:rPr>
              <a:t>、</a:t>
            </a:r>
            <a:r>
              <a:rPr lang="zh-CN" altLang="en-US" sz="2800" b="1" u="sng" dirty="0">
                <a:solidFill>
                  <a:srgbClr val="00B050"/>
                </a:solidFill>
                <a:ea typeface="楷体_GB2312" pitchFamily="49" charset="-122"/>
              </a:rPr>
              <a:t>浇注系统的结构</a:t>
            </a:r>
            <a:r>
              <a:rPr lang="zh-CN" altLang="en-US" sz="2800" b="1" dirty="0">
                <a:solidFill>
                  <a:srgbClr val="0000CC"/>
                </a:solidFill>
                <a:ea typeface="楷体_GB2312" pitchFamily="49" charset="-122"/>
              </a:rPr>
              <a:t>、</a:t>
            </a:r>
            <a:r>
              <a:rPr lang="zh-CN" altLang="en-US" sz="2800" b="1" dirty="0">
                <a:solidFill>
                  <a:srgbClr val="A50021"/>
                </a:solidFill>
                <a:ea typeface="楷体_GB2312" pitchFamily="49" charset="-122"/>
              </a:rPr>
              <a:t>铸件的折算厚度、铸件的复杂程度</a:t>
            </a:r>
            <a:r>
              <a:rPr lang="zh-CN" altLang="en-US" sz="2800" b="1" dirty="0">
                <a:solidFill>
                  <a:srgbClr val="0000CC"/>
                </a:solidFill>
                <a:ea typeface="楷体_GB2312" pitchFamily="49" charset="-122"/>
              </a:rPr>
              <a:t>等。</a:t>
            </a:r>
            <a:r>
              <a:rPr lang="zh-CN" altLang="en-US" sz="2400" b="1" dirty="0"/>
              <a:t>     </a:t>
            </a:r>
            <a:r>
              <a:rPr lang="zh-CN" altLang="en-US" sz="2400" b="1" dirty="0">
                <a:solidFill>
                  <a:srgbClr val="FF3300"/>
                </a:solidFill>
                <a:ea typeface="楷体_GB2312" pitchFamily="49" charset="-122"/>
              </a:rPr>
              <a:t>     </a:t>
            </a:r>
            <a:endParaRPr lang="zh-CN" altLang="en-US" sz="2400" b="1" dirty="0">
              <a:solidFill>
                <a:srgbClr val="FF3300"/>
              </a:solidFill>
              <a:ea typeface="楷体_GB2312" pitchFamily="49" charset="-122"/>
            </a:endParaRPr>
          </a:p>
        </p:txBody>
      </p:sp>
      <p:pic>
        <p:nvPicPr>
          <p:cNvPr id="30724" name="Picture 9" descr="https://timgsa.baidu.com/timg?image&amp;quality=80&amp;size=b9999_10000&amp;sec=1537007607959&amp;di=976618e640916a5e863b82fbd61a354f&amp;imgtype=0&amp;src=http%3A%2F%2Fimgsrc.baidu.com%2Fimage%2Fc0%253Dshijue1%252C0%252C0%252C294%252C40%2Fsign%3Dc588f4f27cc6a7efad2ba0659593c524%2Fcf1b9d16fdfaaf51d147d092865494eef01f7a72.jpg"/>
          <p:cNvPicPr>
            <a:picLocks noChangeAspect="1"/>
          </p:cNvPicPr>
          <p:nvPr/>
        </p:nvPicPr>
        <p:blipFill>
          <a:blip r:embed="rId1"/>
          <a:stretch>
            <a:fillRect/>
          </a:stretch>
        </p:blipFill>
        <p:spPr>
          <a:xfrm>
            <a:off x="6711950" y="573088"/>
            <a:ext cx="2432050" cy="1655762"/>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3"/>
          <p:cNvSpPr>
            <a:spLocks noGrp="1"/>
          </p:cNvSpPr>
          <p:nvPr>
            <p:ph type="body"/>
          </p:nvPr>
        </p:nvSpPr>
        <p:spPr>
          <a:xfrm>
            <a:off x="1133475" y="1989138"/>
            <a:ext cx="7632700" cy="4608512"/>
          </a:xfrm>
        </p:spPr>
        <p:txBody>
          <a:bodyPr vert="horz" wrap="square" lIns="91440" tIns="45720" rIns="91440" bIns="45720" anchor="t" anchorCtr="0"/>
          <a:p>
            <a:pPr eaLnBrk="1" hangingPunct="1">
              <a:lnSpc>
                <a:spcPct val="90000"/>
              </a:lnSpc>
            </a:pPr>
            <a:r>
              <a:rPr lang="zh-CN" altLang="en-US" sz="2800" b="1" dirty="0">
                <a:solidFill>
                  <a:srgbClr val="0000FF"/>
                </a:solidFill>
                <a:latin typeface="楷体_GB2312" pitchFamily="49" charset="-122"/>
                <a:ea typeface="楷体_GB2312" pitchFamily="49" charset="-122"/>
              </a:rPr>
              <a:t>指液态合金本身的流动能力，是</a:t>
            </a:r>
            <a:r>
              <a:rPr lang="zh-CN" altLang="en-US" sz="2800" b="1" dirty="0">
                <a:solidFill>
                  <a:srgbClr val="660066"/>
                </a:solidFill>
                <a:latin typeface="楷体_GB2312" pitchFamily="49" charset="-122"/>
                <a:ea typeface="楷体_GB2312" pitchFamily="49" charset="-122"/>
              </a:rPr>
              <a:t>合金的本质</a:t>
            </a:r>
            <a:endParaRPr lang="en-US" altLang="zh-CN" sz="2800" b="1" dirty="0">
              <a:solidFill>
                <a:srgbClr val="660066"/>
              </a:solidFill>
              <a:latin typeface="楷体_GB2312" pitchFamily="49" charset="-122"/>
              <a:ea typeface="楷体_GB2312" pitchFamily="49" charset="-122"/>
            </a:endParaRPr>
          </a:p>
          <a:p>
            <a:pPr eaLnBrk="1" hangingPunct="1">
              <a:lnSpc>
                <a:spcPct val="90000"/>
              </a:lnSpc>
              <a:buNone/>
            </a:pPr>
            <a:r>
              <a:rPr lang="zh-CN" altLang="en-US" sz="2800" b="1" dirty="0">
                <a:solidFill>
                  <a:srgbClr val="660066"/>
                </a:solidFill>
                <a:latin typeface="楷体_GB2312" pitchFamily="49" charset="-122"/>
                <a:ea typeface="楷体_GB2312" pitchFamily="49" charset="-122"/>
              </a:rPr>
              <a:t>属性</a:t>
            </a:r>
            <a:endParaRPr lang="zh-CN" altLang="en-US" sz="2800" b="1" dirty="0">
              <a:solidFill>
                <a:schemeClr val="tx2"/>
              </a:solidFill>
              <a:latin typeface="楷体_GB2312" pitchFamily="49" charset="-122"/>
              <a:ea typeface="楷体_GB2312" pitchFamily="49" charset="-122"/>
            </a:endParaRPr>
          </a:p>
          <a:p>
            <a:pPr lvl="1" eaLnBrk="1" hangingPunct="1">
              <a:lnSpc>
                <a:spcPct val="90000"/>
              </a:lnSpc>
            </a:pPr>
            <a:r>
              <a:rPr lang="zh-CN" altLang="en-US" sz="2400" b="1" dirty="0">
                <a:solidFill>
                  <a:srgbClr val="FF3300"/>
                </a:solidFill>
                <a:latin typeface="楷体_GB2312" pitchFamily="49" charset="-122"/>
                <a:ea typeface="楷体_GB2312" pitchFamily="49" charset="-122"/>
              </a:rPr>
              <a:t>流动性好：</a:t>
            </a:r>
            <a:r>
              <a:rPr lang="zh-CN" altLang="en-US" sz="2400" b="1" dirty="0">
                <a:latin typeface="楷体_GB2312" pitchFamily="49" charset="-122"/>
                <a:ea typeface="楷体_GB2312" pitchFamily="49" charset="-122"/>
              </a:rPr>
              <a:t>可以获得</a:t>
            </a:r>
            <a:r>
              <a:rPr lang="zh-CN" altLang="en-US" sz="2400" b="1" dirty="0">
                <a:solidFill>
                  <a:srgbClr val="FF3300"/>
                </a:solidFill>
                <a:latin typeface="楷体_GB2312" pitchFamily="49" charset="-122"/>
                <a:ea typeface="楷体_GB2312" pitchFamily="49" charset="-122"/>
              </a:rPr>
              <a:t>轮廓清晰、尺寸精确、薄而复杂的铸件，而且有助于合金在铸型中收缩时得到补充。有利于液态金属中的非金属夹杂物和气体的上浮与排除。</a:t>
            </a:r>
            <a:endParaRPr lang="en-US" altLang="zh-CN" sz="2400" b="1" dirty="0">
              <a:solidFill>
                <a:srgbClr val="FF3300"/>
              </a:solidFill>
              <a:latin typeface="楷体_GB2312" pitchFamily="49" charset="-122"/>
              <a:ea typeface="楷体_GB2312" pitchFamily="49" charset="-122"/>
            </a:endParaRPr>
          </a:p>
          <a:p>
            <a:pPr lvl="1" eaLnBrk="1" hangingPunct="1">
              <a:lnSpc>
                <a:spcPct val="90000"/>
              </a:lnSpc>
            </a:pPr>
            <a:endParaRPr lang="en-US" altLang="zh-CN" sz="2400" b="1" dirty="0">
              <a:solidFill>
                <a:srgbClr val="FF3300"/>
              </a:solidFill>
              <a:latin typeface="楷体_GB2312" pitchFamily="49" charset="-122"/>
              <a:ea typeface="楷体_GB2312" pitchFamily="49" charset="-122"/>
            </a:endParaRPr>
          </a:p>
          <a:p>
            <a:pPr lvl="1" eaLnBrk="1" hangingPunct="1">
              <a:lnSpc>
                <a:spcPct val="90000"/>
              </a:lnSpc>
            </a:pPr>
            <a:r>
              <a:rPr lang="zh-CN" altLang="en-US" sz="2400" b="1" dirty="0">
                <a:solidFill>
                  <a:srgbClr val="FF3300"/>
                </a:solidFill>
                <a:latin typeface="楷体_GB2312" pitchFamily="49" charset="-122"/>
                <a:ea typeface="楷体_GB2312" pitchFamily="49" charset="-122"/>
              </a:rPr>
              <a:t>流动性不好：</a:t>
            </a:r>
            <a:r>
              <a:rPr lang="zh-CN" altLang="en-US" sz="2400" b="1" dirty="0">
                <a:latin typeface="楷体_GB2312" pitchFamily="49" charset="-122"/>
                <a:ea typeface="楷体_GB2312" pitchFamily="49" charset="-122"/>
              </a:rPr>
              <a:t>则铸件会产生浇不足或冷隔缺陷，其它如气孔、夹渣和缩孔等缺陷也容易产生。</a:t>
            </a:r>
            <a:endParaRPr lang="zh-CN" altLang="en-US" sz="2400" b="1" dirty="0">
              <a:latin typeface="楷体_GB2312" pitchFamily="49" charset="-122"/>
              <a:ea typeface="楷体_GB2312" pitchFamily="49" charset="-122"/>
            </a:endParaRPr>
          </a:p>
          <a:p>
            <a:pPr eaLnBrk="1" hangingPunct="1">
              <a:lnSpc>
                <a:spcPct val="90000"/>
              </a:lnSpc>
              <a:buNone/>
            </a:pPr>
            <a:endParaRPr lang="zh-CN" altLang="en-US" sz="2800" b="1" dirty="0">
              <a:solidFill>
                <a:schemeClr val="bg2"/>
              </a:solidFill>
              <a:latin typeface="楷体_GB2312" pitchFamily="49" charset="-122"/>
              <a:ea typeface="楷体_GB2312" pitchFamily="49" charset="-122"/>
            </a:endParaRPr>
          </a:p>
          <a:p>
            <a:pPr eaLnBrk="1" hangingPunct="1">
              <a:lnSpc>
                <a:spcPct val="90000"/>
              </a:lnSpc>
              <a:buNone/>
            </a:pPr>
            <a:endParaRPr lang="zh-CN" altLang="en-US" sz="2800" b="1" dirty="0">
              <a:solidFill>
                <a:schemeClr val="bg2"/>
              </a:solidFill>
              <a:latin typeface="楷体_GB2312" pitchFamily="49" charset="-122"/>
              <a:ea typeface="楷体_GB2312" pitchFamily="49" charset="-122"/>
            </a:endParaRPr>
          </a:p>
          <a:p>
            <a:pPr eaLnBrk="1" hangingPunct="1">
              <a:lnSpc>
                <a:spcPct val="90000"/>
              </a:lnSpc>
              <a:buNone/>
            </a:pPr>
            <a:r>
              <a:rPr lang="zh-CN" altLang="en-US" sz="2800" b="1" dirty="0">
                <a:solidFill>
                  <a:srgbClr val="FFFF99"/>
                </a:solidFill>
                <a:latin typeface="楷体_GB2312" pitchFamily="49" charset="-122"/>
                <a:ea typeface="楷体_GB2312" pitchFamily="49" charset="-122"/>
              </a:rPr>
              <a:t>   </a:t>
            </a:r>
            <a:endParaRPr lang="zh-CN" altLang="en-US" sz="2800" b="1" dirty="0">
              <a:latin typeface="楷体_GB2312" pitchFamily="49" charset="-122"/>
              <a:ea typeface="楷体_GB2312" pitchFamily="49" charset="-122"/>
            </a:endParaRPr>
          </a:p>
          <a:p>
            <a:pPr lvl="1" eaLnBrk="1" hangingPunct="1">
              <a:lnSpc>
                <a:spcPct val="90000"/>
              </a:lnSpc>
              <a:buNone/>
            </a:pPr>
            <a:endParaRPr lang="zh-CN" altLang="en-US" sz="2800" dirty="0">
              <a:solidFill>
                <a:schemeClr val="bg2"/>
              </a:solidFill>
            </a:endParaRPr>
          </a:p>
          <a:p>
            <a:pPr lvl="1" eaLnBrk="1" hangingPunct="1">
              <a:lnSpc>
                <a:spcPct val="90000"/>
              </a:lnSpc>
              <a:buNone/>
            </a:pPr>
            <a:endParaRPr lang="en-US" altLang="zh-CN" sz="2800" dirty="0"/>
          </a:p>
        </p:txBody>
      </p:sp>
      <p:sp>
        <p:nvSpPr>
          <p:cNvPr id="18435" name="Rectangle 1029"/>
          <p:cNvSpPr>
            <a:spLocks noChangeArrowheads="1"/>
          </p:cNvSpPr>
          <p:nvPr/>
        </p:nvSpPr>
        <p:spPr bwMode="auto">
          <a:xfrm>
            <a:off x="1798638" y="558800"/>
            <a:ext cx="6302375" cy="769938"/>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dirty="0">
                <a:ln>
                  <a:noFill/>
                </a:ln>
                <a:solidFill>
                  <a:srgbClr val="009900"/>
                </a:solidFill>
                <a:effectLst/>
                <a:uLnTx/>
                <a:uFillTx/>
                <a:latin typeface="楷体_GB2312" pitchFamily="49" charset="-122"/>
                <a:ea typeface="楷体_GB2312" pitchFamily="49" charset="-122"/>
                <a:cs typeface="+mn-cs"/>
              </a:rPr>
              <a:t>合金的流动性</a:t>
            </a:r>
            <a:endPar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434">
                                            <p:txEl>
                                              <p:charRg st="0" end="2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434">
                                            <p:txEl>
                                              <p:charRg st="20" end="2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8434">
                                            <p:txEl>
                                              <p:charRg st="23" end="9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8434">
                                            <p:txEl>
                                              <p:charRg st="96" end="13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434">
                                            <p:txEl>
                                              <p:charRg st="140" end="14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770" name="Picture 16" descr="a62">
            <a:hlinkClick r:id="rId1" action="ppaction://hlinkfile"/>
          </p:cNvPr>
          <p:cNvPicPr>
            <a:picLocks noChangeAspect="1"/>
          </p:cNvPicPr>
          <p:nvPr/>
        </p:nvPicPr>
        <p:blipFill>
          <a:blip r:embed="rId2"/>
          <a:stretch>
            <a:fillRect/>
          </a:stretch>
        </p:blipFill>
        <p:spPr>
          <a:xfrm>
            <a:off x="4370388" y="2143125"/>
            <a:ext cx="4773612" cy="3757613"/>
          </a:xfrm>
          <a:prstGeom prst="rect">
            <a:avLst/>
          </a:prstGeom>
          <a:noFill/>
          <a:ln w="9525">
            <a:noFill/>
          </a:ln>
        </p:spPr>
      </p:pic>
      <p:sp>
        <p:nvSpPr>
          <p:cNvPr id="19458" name="Rectangle 4"/>
          <p:cNvSpPr>
            <a:spLocks noChangeArrowheads="1"/>
          </p:cNvSpPr>
          <p:nvPr/>
        </p:nvSpPr>
        <p:spPr bwMode="auto">
          <a:xfrm>
            <a:off x="539750" y="1866900"/>
            <a:ext cx="4824413" cy="3022600"/>
          </a:xfrm>
          <a:prstGeom prst="rect">
            <a:avLst/>
          </a:prstGeom>
          <a:noFill/>
          <a:ln>
            <a:noFill/>
          </a:ln>
          <a:effectLst/>
        </p:spPr>
        <p:txBody>
          <a:bodyPr>
            <a:spAutoFit/>
          </a:bodyPr>
          <a:lstStyle>
            <a:lvl1pPr marL="342900" indent="-342900">
              <a:defRPr>
                <a:solidFill>
                  <a:schemeClr val="tx1"/>
                </a:solidFill>
                <a:latin typeface="Verdana" panose="020B0604030504040204" pitchFamily="34" charset="0"/>
                <a:ea typeface="宋体" panose="02010600030101010101" pitchFamily="2" charset="-122"/>
              </a:defRPr>
            </a:lvl1pPr>
            <a:lvl2pPr>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457200" marR="0" lvl="1" indent="0" algn="l" defTabSz="914400" rtl="0" eaLnBrk="1" fontAlgn="base" latinLnBrk="0" hangingPunct="1">
              <a:lnSpc>
                <a:spcPct val="100000"/>
              </a:lnSpc>
              <a:spcBef>
                <a:spcPct val="20000"/>
              </a:spcBef>
              <a:spcAft>
                <a:spcPct val="0"/>
              </a:spcAft>
              <a:buClr>
                <a:schemeClr val="tx1"/>
              </a:buClr>
              <a:buSzTx/>
              <a:buFont typeface="Arial" panose="020B0604020202020204" pitchFamily="34" charset="0"/>
              <a:buChar char="•"/>
              <a:defRPr/>
            </a:pPr>
            <a:r>
              <a:rPr kumimoji="0" lang="zh-CN" altLang="en-US" sz="2800" b="1" i="0" u="none" strike="noStrike" kern="1200" cap="none" spc="0" normalizeH="0" baseline="0" noProof="0" dirty="0">
                <a:ln>
                  <a:noFill/>
                </a:ln>
                <a:solidFill>
                  <a:srgbClr val="FF3300"/>
                </a:solidFill>
                <a:effectLst/>
                <a:uLnTx/>
                <a:uFillTx/>
                <a:latin typeface="楷体_GB2312" pitchFamily="49" charset="-122"/>
                <a:ea typeface="楷体_GB2312" pitchFamily="49" charset="-122"/>
                <a:cs typeface="+mn-cs"/>
              </a:rPr>
              <a:t>流动性</a:t>
            </a:r>
            <a:r>
              <a:rPr kumimoji="0" lang="zh-CN" altLang="en-US" sz="2800" b="1" i="0" u="none" strike="noStrike" kern="1200" cap="none" spc="0" normalizeH="0" baseline="0" noProof="0" dirty="0">
                <a:ln>
                  <a:noFill/>
                </a:ln>
                <a:solidFill>
                  <a:srgbClr val="FF3300"/>
                </a:solidFill>
                <a:effectLst/>
                <a:uLnTx/>
                <a:uFillTx/>
                <a:latin typeface="Arial" panose="020B0604020202020204" pitchFamily="34" charset="0"/>
                <a:ea typeface="楷体_GB2312" pitchFamily="49" charset="-122"/>
                <a:cs typeface="+mn-cs"/>
              </a:rPr>
              <a:t>“</a:t>
            </a:r>
            <a:r>
              <a:rPr kumimoji="0" lang="zh-CN" altLang="en-US" sz="2800" b="1" i="0" u="none" strike="noStrike" kern="1200" cap="none" spc="0" normalizeH="0" baseline="0" noProof="0" dirty="0">
                <a:ln>
                  <a:noFill/>
                </a:ln>
                <a:solidFill>
                  <a:srgbClr val="FF3300"/>
                </a:solidFill>
                <a:effectLst/>
                <a:uLnTx/>
                <a:uFillTx/>
                <a:latin typeface="楷体_GB2312" pitchFamily="49" charset="-122"/>
                <a:ea typeface="楷体_GB2312" pitchFamily="49" charset="-122"/>
                <a:cs typeface="+mn-cs"/>
              </a:rPr>
              <a:t>好坏</a:t>
            </a:r>
            <a:r>
              <a:rPr kumimoji="0" lang="zh-CN" altLang="en-US" sz="2800" b="1" i="0" u="none" strike="noStrike" kern="1200" cap="none" spc="0" normalizeH="0" baseline="0" noProof="0" dirty="0">
                <a:ln>
                  <a:noFill/>
                </a:ln>
                <a:solidFill>
                  <a:srgbClr val="FF3300"/>
                </a:solidFill>
                <a:effectLst/>
                <a:uLnTx/>
                <a:uFillTx/>
                <a:latin typeface="Arial" panose="020B0604020202020204" pitchFamily="34" charset="0"/>
                <a:ea typeface="楷体_GB2312" pitchFamily="49" charset="-122"/>
                <a:cs typeface="+mn-cs"/>
              </a:rPr>
              <a:t>”</a:t>
            </a:r>
            <a:r>
              <a:rPr kumimoji="0" lang="zh-CN" altLang="en-US" sz="2800" b="1" i="0" u="none" strike="noStrike" kern="1200" cap="none" spc="0" normalizeH="0" baseline="0" noProof="0" dirty="0">
                <a:ln>
                  <a:noFill/>
                </a:ln>
                <a:solidFill>
                  <a:srgbClr val="FF3300"/>
                </a:solidFill>
                <a:effectLst/>
                <a:uLnTx/>
                <a:uFillTx/>
                <a:latin typeface="楷体_GB2312" pitchFamily="49" charset="-122"/>
                <a:ea typeface="楷体_GB2312" pitchFamily="49" charset="-122"/>
                <a:cs typeface="+mn-cs"/>
              </a:rPr>
              <a:t>判定方法：</a:t>
            </a:r>
            <a:endParaRPr kumimoji="0" lang="zh-CN" altLang="en-US" sz="2800" b="1" i="0" u="none" strike="noStrike" kern="1200" cap="none" spc="0" normalizeH="0" baseline="0" noProof="0" dirty="0">
              <a:ln>
                <a:noFill/>
              </a:ln>
              <a:solidFill>
                <a:srgbClr val="FF3300"/>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tx1"/>
              </a:buClr>
              <a:buSzTx/>
              <a:buFont typeface="Arial" panose="020B0604020202020204" pitchFamily="34" charset="0"/>
              <a:buNone/>
              <a:defRPr/>
            </a:pPr>
            <a:r>
              <a:rPr kumimoji="0" lang="zh-CN" altLang="en-US" sz="2800" b="1" i="0" u="none" strike="noStrike" kern="1200" cap="none" spc="0" normalizeH="0" baseline="0" noProof="0" dirty="0">
                <a:ln>
                  <a:noFill/>
                </a:ln>
                <a:solidFill>
                  <a:srgbClr val="3333FF"/>
                </a:solidFill>
                <a:effectLst/>
                <a:uLnTx/>
                <a:uFillTx/>
                <a:latin typeface="楷体_GB2312" pitchFamily="49" charset="-122"/>
                <a:ea typeface="楷体_GB2312" pitchFamily="49" charset="-122"/>
                <a:cs typeface="+mn-cs"/>
              </a:rPr>
              <a:t>以</a:t>
            </a:r>
            <a:r>
              <a:rPr kumimoji="0" lang="zh-CN" altLang="en-US" sz="2800" b="1" i="0" u="none" strike="noStrike" kern="1200" cap="none" spc="0" normalizeH="0" baseline="0" noProof="0" dirty="0">
                <a:ln>
                  <a:noFill/>
                </a:ln>
                <a:solidFill>
                  <a:srgbClr val="3333FF"/>
                </a:solidFill>
                <a:effectLst/>
                <a:uLnTx/>
                <a:uFillTx/>
                <a:latin typeface="宋体" panose="02010600030101010101" pitchFamily="2" charset="-122"/>
                <a:ea typeface="楷体_GB2312" pitchFamily="49" charset="-122"/>
                <a:cs typeface="+mn-cs"/>
              </a:rPr>
              <a:t>“</a:t>
            </a:r>
            <a:r>
              <a:rPr kumimoji="0" lang="zh-CN" altLang="en-US" sz="2800" b="1" i="0" u="none" strike="noStrike" kern="1200" cap="none" spc="0" normalizeH="0" baseline="0" noProof="0" dirty="0">
                <a:ln>
                  <a:noFill/>
                </a:ln>
                <a:solidFill>
                  <a:srgbClr val="3333FF"/>
                </a:solidFill>
                <a:effectLst/>
                <a:uLnTx/>
                <a:uFillTx/>
                <a:latin typeface="楷体_GB2312" pitchFamily="49" charset="-122"/>
                <a:ea typeface="楷体_GB2312" pitchFamily="49" charset="-122"/>
                <a:cs typeface="+mn-cs"/>
              </a:rPr>
              <a:t>螺旋形</a:t>
            </a:r>
            <a:r>
              <a:rPr kumimoji="0" lang="zh-CN" altLang="en-US" sz="2800" b="1" i="0" u="none" strike="noStrike" kern="1200" cap="none" spc="0" normalizeH="0" baseline="0" noProof="0" dirty="0">
                <a:ln>
                  <a:noFill/>
                </a:ln>
                <a:solidFill>
                  <a:srgbClr val="3333FF"/>
                </a:solidFill>
                <a:effectLst/>
                <a:uLnTx/>
                <a:uFillTx/>
                <a:latin typeface="宋体" panose="02010600030101010101" pitchFamily="2" charset="-122"/>
                <a:ea typeface="楷体_GB2312" pitchFamily="49" charset="-122"/>
                <a:cs typeface="+mn-cs"/>
              </a:rPr>
              <a:t>”</a:t>
            </a:r>
            <a:r>
              <a:rPr kumimoji="0" lang="zh-CN" altLang="en-US" sz="2800" b="1" i="0" u="none" strike="noStrike" kern="1200" cap="none" spc="0" normalizeH="0" baseline="0" noProof="0" dirty="0">
                <a:ln>
                  <a:noFill/>
                </a:ln>
                <a:solidFill>
                  <a:srgbClr val="3333FF"/>
                </a:solidFill>
                <a:effectLst/>
                <a:uLnTx/>
                <a:uFillTx/>
                <a:latin typeface="楷体_GB2312" pitchFamily="49" charset="-122"/>
                <a:ea typeface="楷体_GB2312" pitchFamily="49" charset="-122"/>
                <a:cs typeface="+mn-cs"/>
              </a:rPr>
              <a:t>试样长度来衡量。</a:t>
            </a:r>
            <a:endParaRPr kumimoji="0" lang="zh-CN" altLang="en-US" sz="2800" b="1" i="0" u="none" strike="noStrike" kern="1200" cap="none" spc="0" normalizeH="0" baseline="0" noProof="0" dirty="0">
              <a:ln>
                <a:noFill/>
              </a:ln>
              <a:solidFill>
                <a:srgbClr val="3333FF"/>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tx1"/>
              </a:buClr>
              <a:buSzTx/>
              <a:buFont typeface="Arial" panose="020B0604020202020204" pitchFamily="34" charset="0"/>
              <a:buChar char="•"/>
              <a:defRPr/>
            </a:pPr>
            <a:r>
              <a:rPr kumimoji="0" lang="zh-CN" altLang="en-US"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rPr>
              <a:t>相同浇注条件</a:t>
            </a:r>
            <a:r>
              <a:rPr kumimoji="0" lang="en-US" altLang="zh-CN"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rPr>
              <a:t>:</a:t>
            </a:r>
            <a:endParaRPr kumimoji="0" lang="en-US" altLang="zh-CN"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tx1"/>
              </a:buClr>
              <a:buSzTx/>
              <a:buFont typeface="Arial" panose="020B0604020202020204" pitchFamily="34" charset="0"/>
              <a:buNone/>
              <a:defRPr/>
            </a:pPr>
            <a:r>
              <a:rPr kumimoji="0" lang="en-US" altLang="zh-CN"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   </a:t>
            </a:r>
            <a:r>
              <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合金的流动性越好</a:t>
            </a:r>
            <a:r>
              <a:rPr kumimoji="0" lang="en-US" altLang="zh-CN"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a:t>
            </a:r>
            <a:endParaRPr kumimoji="0" lang="en-US" altLang="zh-CN"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457200" marR="0" lvl="1" indent="0" algn="l" defTabSz="914400" rtl="0" eaLnBrk="1" fontAlgn="base" latinLnBrk="0" hangingPunct="1">
              <a:lnSpc>
                <a:spcPct val="100000"/>
              </a:lnSpc>
              <a:spcBef>
                <a:spcPct val="20000"/>
              </a:spcBef>
              <a:spcAft>
                <a:spcPct val="0"/>
              </a:spcAft>
              <a:buClr>
                <a:schemeClr val="tx1"/>
              </a:buClr>
              <a:buSzTx/>
              <a:buFont typeface="Arial" panose="020B0604020202020204" pitchFamily="34" charset="0"/>
              <a:buNone/>
              <a:defRPr/>
            </a:pPr>
            <a:r>
              <a:rPr kumimoji="0" lang="en-US" altLang="zh-CN" sz="28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   </a:t>
            </a:r>
            <a:r>
              <a:rPr kumimoji="0" lang="zh-CN" altLang="en-US" sz="2800" b="1" i="0" u="none" strike="noStrike" kern="1200" cap="none" spc="0" normalizeH="0" baseline="0" noProof="0" dirty="0">
                <a:ln>
                  <a:noFill/>
                </a:ln>
                <a:solidFill>
                  <a:srgbClr val="FF3300"/>
                </a:solidFill>
                <a:effectLst/>
                <a:uLnTx/>
                <a:uFillTx/>
                <a:latin typeface="楷体_GB2312" pitchFamily="49" charset="-122"/>
                <a:ea typeface="楷体_GB2312" pitchFamily="49" charset="-122"/>
                <a:cs typeface="+mn-cs"/>
              </a:rPr>
              <a:t>所浇出的试样越长。</a:t>
            </a:r>
            <a:endParaRPr kumimoji="0" lang="zh-CN" altLang="en-US" sz="2800" b="1" i="0" u="none" strike="noStrike" kern="1200" cap="none" spc="0" normalizeH="0" baseline="0" noProof="0" dirty="0">
              <a:ln>
                <a:noFill/>
              </a:ln>
              <a:solidFill>
                <a:srgbClr val="FF3300"/>
              </a:solidFill>
              <a:effectLst/>
              <a:uLnTx/>
              <a:uFillTx/>
              <a:latin typeface="楷体_GB2312" pitchFamily="49" charset="-122"/>
              <a:ea typeface="楷体_GB2312" pitchFamily="49" charset="-122"/>
              <a:cs typeface="+mn-cs"/>
            </a:endParaRPr>
          </a:p>
        </p:txBody>
      </p:sp>
      <p:sp>
        <p:nvSpPr>
          <p:cNvPr id="19459" name="Rectangle 5"/>
          <p:cNvSpPr/>
          <p:nvPr/>
        </p:nvSpPr>
        <p:spPr>
          <a:xfrm>
            <a:off x="539750" y="5084763"/>
            <a:ext cx="7848600" cy="1600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457200" lvl="1" indent="0" eaLnBrk="1" hangingPunct="1">
              <a:spcBef>
                <a:spcPct val="50000"/>
              </a:spcBef>
              <a:buClr>
                <a:schemeClr val="tx1"/>
              </a:buClr>
              <a:buSzTx/>
              <a:buFont typeface="Arial" panose="020B0604020202020204" pitchFamily="34" charset="0"/>
              <a:buNone/>
            </a:pPr>
            <a:r>
              <a:rPr lang="zh-CN" altLang="en-US" sz="2800" b="1" dirty="0">
                <a:solidFill>
                  <a:srgbClr val="FF0000"/>
                </a:solidFill>
                <a:latin typeface="楷体_GB2312" pitchFamily="49" charset="-122"/>
                <a:ea typeface="楷体_GB2312" pitchFamily="49" charset="-122"/>
              </a:rPr>
              <a:t>实验得知</a:t>
            </a:r>
            <a:r>
              <a:rPr lang="en-US" altLang="zh-CN" sz="2800" b="1" dirty="0">
                <a:solidFill>
                  <a:srgbClr val="FF0000"/>
                </a:solidFill>
                <a:latin typeface="楷体_GB2312" pitchFamily="49" charset="-122"/>
                <a:ea typeface="楷体_GB2312" pitchFamily="49" charset="-122"/>
              </a:rPr>
              <a:t>:</a:t>
            </a:r>
            <a:endParaRPr lang="en-US" altLang="zh-CN" sz="2800" b="1" dirty="0">
              <a:solidFill>
                <a:srgbClr val="FF0000"/>
              </a:solidFill>
              <a:latin typeface="楷体_GB2312" pitchFamily="49" charset="-122"/>
              <a:ea typeface="楷体_GB2312" pitchFamily="49" charset="-122"/>
            </a:endParaRPr>
          </a:p>
          <a:p>
            <a:pPr marL="457200" lvl="1" indent="0" eaLnBrk="1" hangingPunct="1">
              <a:spcBef>
                <a:spcPct val="50000"/>
              </a:spcBef>
              <a:buClr>
                <a:schemeClr val="tx1"/>
              </a:buClr>
              <a:buSzTx/>
              <a:buFont typeface="Arial" panose="020B0604020202020204" pitchFamily="34" charset="0"/>
              <a:buNone/>
            </a:pPr>
            <a:r>
              <a:rPr lang="zh-CN" altLang="en-US" sz="2800" b="1" dirty="0">
                <a:solidFill>
                  <a:srgbClr val="009900"/>
                </a:solidFill>
                <a:latin typeface="楷体_GB2312" pitchFamily="49" charset="-122"/>
                <a:ea typeface="楷体_GB2312" pitchFamily="49" charset="-122"/>
              </a:rPr>
              <a:t>灰铸铁、硅黄铜的流动性为最好；铝合金其次；</a:t>
            </a:r>
            <a:r>
              <a:rPr lang="zh-CN" altLang="en-US" sz="2800" b="1" dirty="0">
                <a:latin typeface="楷体_GB2312" pitchFamily="49" charset="-122"/>
                <a:ea typeface="楷体_GB2312" pitchFamily="49" charset="-122"/>
              </a:rPr>
              <a:t>铸钢的流动性最差。</a:t>
            </a:r>
            <a:endParaRPr lang="zh-CN" altLang="en-US" sz="2800" b="1" dirty="0">
              <a:latin typeface="楷体_GB2312" pitchFamily="49" charset="-122"/>
              <a:ea typeface="楷体_GB2312" pitchFamily="49" charset="-122"/>
            </a:endParaRPr>
          </a:p>
        </p:txBody>
      </p:sp>
      <p:sp>
        <p:nvSpPr>
          <p:cNvPr id="19460" name="Rectangle 7"/>
          <p:cNvSpPr>
            <a:spLocks noChangeArrowheads="1"/>
          </p:cNvSpPr>
          <p:nvPr/>
        </p:nvSpPr>
        <p:spPr bwMode="auto">
          <a:xfrm>
            <a:off x="1403350" y="739775"/>
            <a:ext cx="4238625"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流动性判定方法</a:t>
            </a:r>
            <a:endPar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58">
                                            <p:txEl>
                                              <p:charRg st="0" end="13"/>
                                            </p:txEl>
                                          </p:spTgt>
                                        </p:tgtEl>
                                        <p:attrNameLst>
                                          <p:attrName>style.visibility</p:attrName>
                                        </p:attrNameLst>
                                      </p:cBhvr>
                                      <p:to>
                                        <p:strVal val="visible"/>
                                      </p:to>
                                    </p:set>
                                    <p:animEffect transition="in" filter="blinds(horizontal)">
                                      <p:cBhvr>
                                        <p:cTn id="7" dur="500"/>
                                        <p:tgtEl>
                                          <p:spTgt spid="19458">
                                            <p:txEl>
                                              <p:charRg st="0" end="1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458">
                                            <p:txEl>
                                              <p:charRg st="13" end="28"/>
                                            </p:txEl>
                                          </p:spTgt>
                                        </p:tgtEl>
                                        <p:attrNameLst>
                                          <p:attrName>style.visibility</p:attrName>
                                        </p:attrNameLst>
                                      </p:cBhvr>
                                      <p:to>
                                        <p:strVal val="visible"/>
                                      </p:to>
                                    </p:set>
                                    <p:animEffect transition="in" filter="blinds(horizontal)">
                                      <p:cBhvr>
                                        <p:cTn id="10" dur="500"/>
                                        <p:tgtEl>
                                          <p:spTgt spid="19458">
                                            <p:txEl>
                                              <p:charRg st="13" end="28"/>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9458">
                                            <p:txEl>
                                              <p:charRg st="28" end="36"/>
                                            </p:txEl>
                                          </p:spTgt>
                                        </p:tgtEl>
                                        <p:attrNameLst>
                                          <p:attrName>style.visibility</p:attrName>
                                        </p:attrNameLst>
                                      </p:cBhvr>
                                      <p:to>
                                        <p:strVal val="visible"/>
                                      </p:to>
                                    </p:set>
                                    <p:animEffect transition="in" filter="blinds(horizontal)">
                                      <p:cBhvr>
                                        <p:cTn id="15" dur="500"/>
                                        <p:tgtEl>
                                          <p:spTgt spid="19458">
                                            <p:txEl>
                                              <p:charRg st="28" end="36"/>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9458">
                                            <p:txEl>
                                              <p:charRg st="36" end="49"/>
                                            </p:txEl>
                                          </p:spTgt>
                                        </p:tgtEl>
                                        <p:attrNameLst>
                                          <p:attrName>style.visibility</p:attrName>
                                        </p:attrNameLst>
                                      </p:cBhvr>
                                      <p:to>
                                        <p:strVal val="visible"/>
                                      </p:to>
                                    </p:set>
                                    <p:animEffect transition="in" filter="blinds(horizontal)">
                                      <p:cBhvr>
                                        <p:cTn id="18" dur="500"/>
                                        <p:tgtEl>
                                          <p:spTgt spid="19458">
                                            <p:txEl>
                                              <p:charRg st="36" end="49"/>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9458">
                                            <p:txEl>
                                              <p:charRg st="49" end="62"/>
                                            </p:txEl>
                                          </p:spTgt>
                                        </p:tgtEl>
                                        <p:attrNameLst>
                                          <p:attrName>style.visibility</p:attrName>
                                        </p:attrNameLst>
                                      </p:cBhvr>
                                      <p:to>
                                        <p:strVal val="visible"/>
                                      </p:to>
                                    </p:set>
                                    <p:animEffect transition="in" filter="blinds(horizontal)">
                                      <p:cBhvr>
                                        <p:cTn id="21" dur="500"/>
                                        <p:tgtEl>
                                          <p:spTgt spid="19458">
                                            <p:txEl>
                                              <p:charRg st="49" end="6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9459">
                                            <p:txEl>
                                              <p:charRg st="0" end="6"/>
                                            </p:txEl>
                                          </p:spTgt>
                                        </p:tgtEl>
                                        <p:attrNameLst>
                                          <p:attrName>style.visibility</p:attrName>
                                        </p:attrNameLst>
                                      </p:cBhvr>
                                      <p:to>
                                        <p:strVal val="visible"/>
                                      </p:to>
                                    </p:set>
                                    <p:animEffect transition="in" filter="blinds(horizontal)">
                                      <p:cBhvr>
                                        <p:cTn id="26" dur="500"/>
                                        <p:tgtEl>
                                          <p:spTgt spid="19459">
                                            <p:txEl>
                                              <p:charRg st="0" end="6"/>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9459">
                                            <p:txEl>
                                              <p:charRg st="6" end="37"/>
                                            </p:txEl>
                                          </p:spTgt>
                                        </p:tgtEl>
                                        <p:attrNameLst>
                                          <p:attrName>style.visibility</p:attrName>
                                        </p:attrNameLst>
                                      </p:cBhvr>
                                      <p:to>
                                        <p:strVal val="visible"/>
                                      </p:to>
                                    </p:set>
                                    <p:animEffect transition="in" filter="blinds(horizontal)">
                                      <p:cBhvr>
                                        <p:cTn id="29" dur="500"/>
                                        <p:tgtEl>
                                          <p:spTgt spid="19459">
                                            <p:txEl>
                                              <p:charRg st="6" end="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1027"/>
          <p:cNvSpPr>
            <a:spLocks noGrp="1" noChangeArrowheads="1"/>
          </p:cNvSpPr>
          <p:nvPr>
            <p:ph type="body" sz="half" idx="1"/>
          </p:nvPr>
        </p:nvSpPr>
        <p:spPr>
          <a:xfrm>
            <a:off x="0" y="1643063"/>
            <a:ext cx="8715375" cy="4895850"/>
          </a:xfrm>
        </p:spPr>
        <p:txBody>
          <a:bodyPr vert="horz" wrap="square" lIns="91440" tIns="45720" rIns="91440" bIns="45720" numCol="1" anchor="t" anchorCtr="0" compatLnSpc="1"/>
          <a:lstStyle/>
          <a:p>
            <a:pPr marL="742950" marR="0" lvl="1" indent="-28575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p"/>
              <a:defRPr/>
            </a:pPr>
            <a:r>
              <a:rPr kumimoji="0" lang="zh-CN" altLang="zh-CN" sz="2400" b="1" i="0" u="none" strike="noStrike" kern="1200" cap="none" spc="0" normalizeH="0" baseline="0" noProof="0" dirty="0">
                <a:ln>
                  <a:noFill/>
                </a:ln>
                <a:solidFill>
                  <a:srgbClr val="FF6600"/>
                </a:solidFill>
                <a:effectLst/>
                <a:uLnTx/>
                <a:uFillTx/>
                <a:latin typeface="楷体_GB2312" pitchFamily="49" charset="-122"/>
                <a:ea typeface="楷体_GB2312" pitchFamily="49" charset="-122"/>
                <a:cs typeface="+mn-cs"/>
              </a:rPr>
              <a:t>合金的化学成分</a:t>
            </a:r>
            <a:r>
              <a:rPr kumimoji="0" lang="zh-CN" altLang="zh-CN" sz="22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a:t>
            </a:r>
            <a:endParaRPr kumimoji="0" lang="zh-CN" altLang="zh-CN" sz="22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endParaRPr>
          </a:p>
          <a:p>
            <a:pPr marL="914400" marR="0" lvl="1" indent="-457200" algn="l" defTabSz="914400" rtl="0" eaLnBrk="1" fontAlgn="base" latinLnBrk="0" hangingPunct="1">
              <a:lnSpc>
                <a:spcPct val="100000"/>
              </a:lnSpc>
              <a:spcBef>
                <a:spcPct val="20000"/>
              </a:spcBef>
              <a:spcAft>
                <a:spcPct val="0"/>
              </a:spcAft>
              <a:buClr>
                <a:schemeClr val="accent2"/>
              </a:buClr>
              <a:buSzPct val="70000"/>
              <a:buFont typeface="+mj-ea"/>
              <a:buAutoNum type="circleNumDbPlain"/>
              <a:defRPr/>
            </a:pPr>
            <a:r>
              <a:rPr kumimoji="0" lang="zh-CN" altLang="zh-CN" sz="22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共晶成份：合金的结晶在恒温下进行</a:t>
            </a:r>
            <a:r>
              <a:rPr kumimoji="0" lang="zh-CN" altLang="en-US" sz="22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（且温度最低，液态流动时间最长）</a:t>
            </a:r>
            <a:r>
              <a:rPr kumimoji="0" lang="en-US" altLang="zh-CN" sz="22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a:t>
            </a:r>
            <a:r>
              <a:rPr kumimoji="0" lang="zh-CN" altLang="zh-CN" sz="22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液态合金从表层向中心逐层凝固，已结晶固体层表面光滑，对金属液流动阻力小，流动性好。</a:t>
            </a:r>
            <a:endParaRPr kumimoji="0" lang="zh-CN" altLang="zh-CN" sz="22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p:txBody>
      </p:sp>
      <p:sp>
        <p:nvSpPr>
          <p:cNvPr id="20486" name="Rectangle 1041"/>
          <p:cNvSpPr>
            <a:spLocks noChangeArrowheads="1"/>
          </p:cNvSpPr>
          <p:nvPr/>
        </p:nvSpPr>
        <p:spPr bwMode="auto">
          <a:xfrm>
            <a:off x="1231900" y="631825"/>
            <a:ext cx="6302375" cy="769938"/>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44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影响流动性的主要因素</a:t>
            </a:r>
            <a:endPar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
        <p:nvSpPr>
          <p:cNvPr id="33796" name="圆角矩形标注 3"/>
          <p:cNvSpPr/>
          <p:nvPr/>
        </p:nvSpPr>
        <p:spPr>
          <a:xfrm>
            <a:off x="6972300" y="193675"/>
            <a:ext cx="1625600" cy="1216025"/>
          </a:xfrm>
          <a:prstGeom prst="wedgeRoundRectCallout">
            <a:avLst>
              <a:gd name="adj1" fmla="val -49051"/>
              <a:gd name="adj2" fmla="val 86412"/>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1800" dirty="0"/>
              <a:t>不同的合金成分，结晶特点不同</a:t>
            </a:r>
            <a:endParaRPr lang="zh-CN" altLang="en-US" sz="1800" dirty="0"/>
          </a:p>
        </p:txBody>
      </p:sp>
      <p:pic>
        <p:nvPicPr>
          <p:cNvPr id="33797" name="Picture 10" descr="https://timgsa.baidu.com/timg?image&amp;quality=80&amp;size=b9999_10000&amp;sec=1537010752767&amp;di=4ca8726cf1dc5a53f3a98620e7eac55e&amp;imgtype=0&amp;src=http%3A%2F%2Ff.hiphotos.baidu.com%2Fzhidao%2Fpic%2Fitem%2Fcefc1e178a82b901774249f3748da9773812ef07.jpg"/>
          <p:cNvPicPr>
            <a:picLocks noChangeAspect="1"/>
          </p:cNvPicPr>
          <p:nvPr/>
        </p:nvPicPr>
        <p:blipFill>
          <a:blip r:embed="rId1"/>
          <a:stretch>
            <a:fillRect/>
          </a:stretch>
        </p:blipFill>
        <p:spPr>
          <a:xfrm>
            <a:off x="1071563" y="3214688"/>
            <a:ext cx="7334250" cy="36433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blinds(horizontal)">
                                      <p:cBhvr>
                                        <p:cTn id="7" dur="500"/>
                                        <p:tgtEl>
                                          <p:spTgt spid="20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1027"/>
          <p:cNvSpPr>
            <a:spLocks noGrp="1"/>
          </p:cNvSpPr>
          <p:nvPr>
            <p:ph type="body" sz="half"/>
          </p:nvPr>
        </p:nvSpPr>
        <p:spPr>
          <a:xfrm>
            <a:off x="0" y="1643063"/>
            <a:ext cx="8786813" cy="489585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1" eaLnBrk="1" hangingPunct="1">
              <a:buFont typeface="Wingdings" panose="05000000000000000000" pitchFamily="2" charset="2"/>
              <a:buChar char="p"/>
            </a:pPr>
            <a:r>
              <a:rPr lang="zh-CN" altLang="zh-CN" sz="2400" b="1" dirty="0">
                <a:solidFill>
                  <a:srgbClr val="FF6600"/>
                </a:solidFill>
                <a:latin typeface="楷体_GB2312" pitchFamily="49" charset="-122"/>
                <a:ea typeface="楷体_GB2312" pitchFamily="49" charset="-122"/>
              </a:rPr>
              <a:t>合金的化学成分</a:t>
            </a:r>
            <a:r>
              <a:rPr lang="zh-CN" altLang="zh-CN" sz="2200" b="1" dirty="0">
                <a:solidFill>
                  <a:schemeClr val="tx2"/>
                </a:solidFill>
                <a:latin typeface="楷体_GB2312" pitchFamily="49" charset="-122"/>
                <a:ea typeface="楷体_GB2312" pitchFamily="49" charset="-122"/>
              </a:rPr>
              <a:t>：</a:t>
            </a:r>
            <a:endParaRPr lang="zh-CN" altLang="zh-CN" sz="2200" b="1" dirty="0">
              <a:solidFill>
                <a:schemeClr val="tx2"/>
              </a:solidFill>
              <a:latin typeface="楷体_GB2312" pitchFamily="49" charset="-122"/>
              <a:ea typeface="楷体_GB2312" pitchFamily="49" charset="-122"/>
            </a:endParaRPr>
          </a:p>
          <a:p>
            <a:pPr lvl="1" eaLnBrk="1" hangingPunct="1">
              <a:buFont typeface="Wingdings" panose="05000000000000000000" pitchFamily="2" charset="2"/>
              <a:buChar char="n"/>
            </a:pPr>
            <a:r>
              <a:rPr lang="zh-CN" altLang="zh-CN" sz="2200" b="1" dirty="0">
                <a:latin typeface="楷体_GB2312" pitchFamily="49" charset="-122"/>
                <a:ea typeface="楷体_GB2312" pitchFamily="49" charset="-122"/>
              </a:rPr>
              <a:t>其它成份：（除纯金属）在一定温度范围内逐步凝固，结晶在一定宽度的凝固区进行，初生的树枝状晶体使固体表层粗糙，合金的流动性变差。</a:t>
            </a:r>
            <a:endParaRPr lang="zh-CN" altLang="zh-CN" sz="2200" b="1" dirty="0">
              <a:latin typeface="楷体_GB2312" pitchFamily="49" charset="-122"/>
              <a:ea typeface="楷体_GB2312" pitchFamily="49" charset="-122"/>
            </a:endParaRPr>
          </a:p>
          <a:p>
            <a:pPr lvl="1" eaLnBrk="1" hangingPunct="1">
              <a:buFont typeface="Wingdings" panose="05000000000000000000" pitchFamily="2" charset="2"/>
              <a:buChar char="n"/>
            </a:pPr>
            <a:r>
              <a:rPr lang="zh-CN" altLang="zh-CN" sz="2200" b="1" dirty="0">
                <a:solidFill>
                  <a:srgbClr val="009900"/>
                </a:solidFill>
                <a:latin typeface="楷体_GB2312" pitchFamily="49" charset="-122"/>
                <a:ea typeface="楷体_GB2312" pitchFamily="49" charset="-122"/>
              </a:rPr>
              <a:t>成份越远离共晶点，  结晶温度范围越宽，  流动性越差。</a:t>
            </a:r>
            <a:endParaRPr lang="zh-CN" altLang="zh-CN" sz="2200" b="1" dirty="0">
              <a:latin typeface="楷体_GB2312" pitchFamily="49" charset="-122"/>
              <a:ea typeface="楷体_GB2312" pitchFamily="49" charset="-122"/>
            </a:endParaRPr>
          </a:p>
        </p:txBody>
      </p:sp>
      <p:sp>
        <p:nvSpPr>
          <p:cNvPr id="20486" name="Rectangle 1041"/>
          <p:cNvSpPr>
            <a:spLocks noChangeArrowheads="1"/>
          </p:cNvSpPr>
          <p:nvPr/>
        </p:nvSpPr>
        <p:spPr bwMode="auto">
          <a:xfrm>
            <a:off x="1231900" y="631825"/>
            <a:ext cx="6302375" cy="769938"/>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44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影响流动性的主要因素</a:t>
            </a:r>
            <a:endPar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
        <p:nvSpPr>
          <p:cNvPr id="34820" name="圆角矩形标注 3"/>
          <p:cNvSpPr/>
          <p:nvPr/>
        </p:nvSpPr>
        <p:spPr>
          <a:xfrm>
            <a:off x="6972300" y="193675"/>
            <a:ext cx="1625600" cy="1216025"/>
          </a:xfrm>
          <a:prstGeom prst="wedgeRoundRectCallout">
            <a:avLst>
              <a:gd name="adj1" fmla="val -49051"/>
              <a:gd name="adj2" fmla="val 86412"/>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1800" dirty="0"/>
              <a:t>不同的合金成分，结晶特点不同</a:t>
            </a:r>
            <a:endParaRPr lang="zh-CN" altLang="en-US" sz="1800" dirty="0"/>
          </a:p>
        </p:txBody>
      </p:sp>
      <p:pic>
        <p:nvPicPr>
          <p:cNvPr id="34821" name="Picture 10" descr="https://timgsa.baidu.com/timg?image&amp;quality=80&amp;size=b9999_10000&amp;sec=1537010752767&amp;di=4ca8726cf1dc5a53f3a98620e7eac55e&amp;imgtype=0&amp;src=http%3A%2F%2Ff.hiphotos.baidu.com%2Fzhidao%2Fpic%2Fitem%2Fcefc1e178a82b901774249f3748da9773812ef07.jpg"/>
          <p:cNvPicPr>
            <a:picLocks noChangeAspect="1"/>
          </p:cNvPicPr>
          <p:nvPr/>
        </p:nvPicPr>
        <p:blipFill>
          <a:blip r:embed="rId1"/>
          <a:stretch>
            <a:fillRect/>
          </a:stretch>
        </p:blipFill>
        <p:spPr>
          <a:xfrm>
            <a:off x="1357313" y="3629025"/>
            <a:ext cx="6500812" cy="32289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blinds(horizontal)">
                                      <p:cBhvr>
                                        <p:cTn id="7" dur="500"/>
                                        <p:tgtEl>
                                          <p:spTgt spid="20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2" name="Picture 2"/>
          <p:cNvPicPr>
            <a:picLocks noChangeAspect="1"/>
          </p:cNvPicPr>
          <p:nvPr/>
        </p:nvPicPr>
        <p:blipFill>
          <a:blip r:embed="rId1"/>
          <a:stretch>
            <a:fillRect/>
          </a:stretch>
        </p:blipFill>
        <p:spPr>
          <a:xfrm>
            <a:off x="1500188" y="1733550"/>
            <a:ext cx="6153150" cy="5124450"/>
          </a:xfrm>
          <a:prstGeom prst="rect">
            <a:avLst/>
          </a:prstGeom>
          <a:noFill/>
          <a:ln w="9525">
            <a:noFill/>
          </a:ln>
        </p:spPr>
      </p:pic>
      <p:sp>
        <p:nvSpPr>
          <p:cNvPr id="3" name="Rectangle 1041"/>
          <p:cNvSpPr>
            <a:spLocks noChangeArrowheads="1"/>
          </p:cNvSpPr>
          <p:nvPr/>
        </p:nvSpPr>
        <p:spPr bwMode="auto">
          <a:xfrm>
            <a:off x="1231900" y="631825"/>
            <a:ext cx="6302375" cy="769938"/>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44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影响流动性的主要因素</a:t>
            </a:r>
            <a:endPar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液态合金的充型</a:t>
            </a:r>
            <a:endParaRPr lang="zh-CN" altLang="zh-CN" sz="4000" b="1" dirty="0">
              <a:ea typeface="楷体_GB2312" pitchFamily="49" charset="-122"/>
            </a:endParaRPr>
          </a:p>
        </p:txBody>
      </p:sp>
      <p:sp>
        <p:nvSpPr>
          <p:cNvPr id="21507" name="Rectangle 3"/>
          <p:cNvSpPr>
            <a:spLocks noGrp="1"/>
          </p:cNvSpPr>
          <p:nvPr>
            <p:ph type="body"/>
          </p:nvPr>
        </p:nvSpPr>
        <p:spPr>
          <a:xfrm>
            <a:off x="395288" y="1600200"/>
            <a:ext cx="8569325" cy="5029200"/>
          </a:xfrm>
        </p:spPr>
        <p:txBody>
          <a:bodyPr vert="horz" wrap="square" lIns="91440" tIns="45720" rIns="91440" bIns="45720" anchor="t" anchorCtr="0"/>
          <a:p>
            <a:pPr eaLnBrk="1" hangingPunct="1">
              <a:lnSpc>
                <a:spcPct val="90000"/>
              </a:lnSpc>
              <a:buNone/>
            </a:pPr>
            <a:r>
              <a:rPr lang="zh-CN" altLang="en-US" sz="2800" b="1" dirty="0">
                <a:solidFill>
                  <a:srgbClr val="FF3300"/>
                </a:solidFill>
                <a:latin typeface="楷体_GB2312" pitchFamily="49" charset="-122"/>
                <a:ea typeface="楷体_GB2312" pitchFamily="49" charset="-122"/>
              </a:rPr>
              <a:t>二 、浇注条件</a:t>
            </a:r>
            <a:endParaRPr lang="zh-CN" altLang="en-US" sz="2800" b="1" dirty="0">
              <a:solidFill>
                <a:srgbClr val="FF3300"/>
              </a:solidFill>
              <a:latin typeface="楷体_GB2312" pitchFamily="49" charset="-122"/>
              <a:ea typeface="楷体_GB2312" pitchFamily="49" charset="-122"/>
            </a:endParaRPr>
          </a:p>
          <a:p>
            <a:pPr lvl="1" eaLnBrk="1" hangingPunct="1">
              <a:lnSpc>
                <a:spcPct val="90000"/>
              </a:lnSpc>
              <a:buNone/>
            </a:pPr>
            <a:r>
              <a:rPr lang="en-US" altLang="zh-CN" sz="2400" b="1" dirty="0">
                <a:solidFill>
                  <a:srgbClr val="660066"/>
                </a:solidFill>
                <a:latin typeface="楷体_GB2312" pitchFamily="49" charset="-122"/>
                <a:ea typeface="楷体_GB2312" pitchFamily="49" charset="-122"/>
              </a:rPr>
              <a:t>1. </a:t>
            </a:r>
            <a:r>
              <a:rPr lang="zh-CN" altLang="en-US" sz="2400" b="1" dirty="0">
                <a:solidFill>
                  <a:srgbClr val="660066"/>
                </a:solidFill>
                <a:latin typeface="楷体_GB2312" pitchFamily="49" charset="-122"/>
                <a:ea typeface="楷体_GB2312" pitchFamily="49" charset="-122"/>
              </a:rPr>
              <a:t>浇注温度</a:t>
            </a:r>
            <a:endParaRPr lang="zh-CN" altLang="en-US" sz="2400" b="1" dirty="0">
              <a:solidFill>
                <a:srgbClr val="660066"/>
              </a:solidFill>
              <a:latin typeface="楷体_GB2312" pitchFamily="49" charset="-122"/>
              <a:ea typeface="楷体_GB2312" pitchFamily="49" charset="-122"/>
            </a:endParaRPr>
          </a:p>
          <a:p>
            <a:pPr lvl="2" eaLnBrk="1" hangingPunct="1">
              <a:lnSpc>
                <a:spcPct val="90000"/>
              </a:lnSpc>
            </a:pPr>
            <a:r>
              <a:rPr lang="zh-CN" altLang="en-US" sz="2400" b="1" dirty="0">
                <a:solidFill>
                  <a:srgbClr val="FF00FF"/>
                </a:solidFill>
                <a:latin typeface="楷体_GB2312" pitchFamily="49" charset="-122"/>
                <a:ea typeface="楷体_GB2312" pitchFamily="49" charset="-122"/>
              </a:rPr>
              <a:t>浇注温度高</a:t>
            </a:r>
            <a:r>
              <a:rPr lang="zh-CN" altLang="en-US" sz="2400" b="1" dirty="0">
                <a:solidFill>
                  <a:srgbClr val="FF0066"/>
                </a:solidFill>
                <a:latin typeface="楷体_GB2312" pitchFamily="49" charset="-122"/>
                <a:ea typeface="楷体_GB2312" pitchFamily="49" charset="-122"/>
              </a:rPr>
              <a:t>      </a:t>
            </a:r>
            <a:r>
              <a:rPr lang="zh-CN" altLang="en-US" sz="2400" b="1" dirty="0">
                <a:solidFill>
                  <a:srgbClr val="009900"/>
                </a:solidFill>
                <a:latin typeface="楷体_GB2312" pitchFamily="49" charset="-122"/>
                <a:ea typeface="楷体_GB2312" pitchFamily="49" charset="-122"/>
              </a:rPr>
              <a:t>合金的粘度下降，流动性增强，充型能力提高</a:t>
            </a:r>
            <a:endParaRPr lang="zh-CN" altLang="en-US" sz="2400" b="1" dirty="0">
              <a:solidFill>
                <a:srgbClr val="009900"/>
              </a:solidFill>
              <a:latin typeface="楷体_GB2312" pitchFamily="49" charset="-122"/>
              <a:ea typeface="楷体_GB2312" pitchFamily="49" charset="-122"/>
            </a:endParaRPr>
          </a:p>
          <a:p>
            <a:pPr lvl="2" eaLnBrk="1" hangingPunct="1">
              <a:lnSpc>
                <a:spcPct val="90000"/>
              </a:lnSpc>
            </a:pPr>
            <a:r>
              <a:rPr lang="zh-CN" altLang="en-US" sz="2400" b="1" dirty="0">
                <a:latin typeface="楷体_GB2312" pitchFamily="49" charset="-122"/>
                <a:ea typeface="楷体_GB2312" pitchFamily="49" charset="-122"/>
              </a:rPr>
              <a:t>对薄壁铸件或流动性较差的合金</a:t>
            </a:r>
            <a:r>
              <a:rPr lang="zh-CN" altLang="en-US" sz="2400" b="1" dirty="0">
                <a:solidFill>
                  <a:srgbClr val="FF00FF"/>
                </a:solidFill>
                <a:latin typeface="楷体_GB2312" pitchFamily="49" charset="-122"/>
                <a:ea typeface="楷体_GB2312" pitchFamily="49" charset="-122"/>
              </a:rPr>
              <a:t>适当提高浇注温度，流动时间延长，</a:t>
            </a:r>
            <a:r>
              <a:rPr lang="zh-CN" altLang="en-US" sz="2400" b="1" dirty="0">
                <a:latin typeface="楷体_GB2312" pitchFamily="49" charset="-122"/>
                <a:ea typeface="楷体_GB2312" pitchFamily="49" charset="-122"/>
              </a:rPr>
              <a:t>可以防止浇不足和冷隔缺陷。</a:t>
            </a:r>
            <a:endParaRPr lang="zh-CN" altLang="en-US" sz="2400" b="1" dirty="0">
              <a:latin typeface="楷体_GB2312" pitchFamily="49" charset="-122"/>
              <a:ea typeface="楷体_GB2312" pitchFamily="49" charset="-122"/>
            </a:endParaRPr>
          </a:p>
          <a:p>
            <a:pPr lvl="2" eaLnBrk="1" hangingPunct="1">
              <a:lnSpc>
                <a:spcPct val="90000"/>
              </a:lnSpc>
            </a:pPr>
            <a:r>
              <a:rPr lang="zh-CN" altLang="en-US" sz="2400" b="1" dirty="0">
                <a:solidFill>
                  <a:srgbClr val="FF00FF"/>
                </a:solidFill>
                <a:latin typeface="楷体_GB2312" pitchFamily="49" charset="-122"/>
                <a:ea typeface="楷体_GB2312" pitchFamily="49" charset="-122"/>
              </a:rPr>
              <a:t>浇注温度过高</a:t>
            </a:r>
            <a:r>
              <a:rPr lang="en-US" altLang="zh-CN" sz="2400" b="1" dirty="0">
                <a:solidFill>
                  <a:srgbClr val="FF00FF"/>
                </a:solidFill>
                <a:latin typeface="楷体_GB2312" pitchFamily="49" charset="-122"/>
                <a:ea typeface="楷体_GB2312" pitchFamily="49" charset="-122"/>
              </a:rPr>
              <a:t>:</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金属的收缩量增加，吸气增多，氧化也越严重。</a:t>
            </a:r>
            <a:r>
              <a:rPr lang="zh-CN" altLang="en-US" sz="2400" b="1" dirty="0">
                <a:solidFill>
                  <a:srgbClr val="009900"/>
                </a:solidFill>
                <a:latin typeface="楷体_GB2312" pitchFamily="49" charset="-122"/>
                <a:ea typeface="楷体_GB2312" pitchFamily="49" charset="-122"/>
              </a:rPr>
              <a:t>铸件易产生缩孔、缩松、粘砂、气孔、粗晶等缺陷，</a:t>
            </a:r>
            <a:r>
              <a:rPr lang="zh-CN" altLang="en-US" sz="2400" b="1" dirty="0">
                <a:latin typeface="楷体_GB2312" pitchFamily="49" charset="-122"/>
                <a:ea typeface="楷体_GB2312" pitchFamily="49" charset="-122"/>
              </a:rPr>
              <a:t>保证充型能力前提下，浇注温度不宜过高。</a:t>
            </a:r>
            <a:endParaRPr lang="zh-CN" altLang="en-US" sz="2400" b="1" dirty="0">
              <a:latin typeface="楷体_GB2312" pitchFamily="49" charset="-122"/>
              <a:ea typeface="楷体_GB2312" pitchFamily="49" charset="-122"/>
            </a:endParaRPr>
          </a:p>
          <a:p>
            <a:pPr lvl="2" eaLnBrk="1" hangingPunct="1">
              <a:lnSpc>
                <a:spcPct val="90000"/>
              </a:lnSpc>
              <a:buNone/>
            </a:pPr>
            <a:endParaRPr lang="zh-CN" altLang="en-US" sz="2400" b="1" dirty="0">
              <a:latin typeface="楷体_GB2312" pitchFamily="49" charset="-122"/>
              <a:ea typeface="楷体_GB2312" pitchFamily="49" charset="-122"/>
            </a:endParaRPr>
          </a:p>
          <a:p>
            <a:pPr lvl="1" eaLnBrk="1" hangingPunct="1">
              <a:lnSpc>
                <a:spcPct val="90000"/>
              </a:lnSpc>
              <a:buNone/>
            </a:pPr>
            <a:r>
              <a:rPr lang="en-US" altLang="zh-CN" sz="2400" b="1" dirty="0">
                <a:solidFill>
                  <a:srgbClr val="660066"/>
                </a:solidFill>
                <a:latin typeface="楷体_GB2312" pitchFamily="49" charset="-122"/>
                <a:ea typeface="楷体_GB2312" pitchFamily="49" charset="-122"/>
              </a:rPr>
              <a:t>2. </a:t>
            </a:r>
            <a:r>
              <a:rPr lang="zh-CN" altLang="en-US" sz="2400" b="1" dirty="0">
                <a:solidFill>
                  <a:srgbClr val="660066"/>
                </a:solidFill>
                <a:latin typeface="楷体_GB2312" pitchFamily="49" charset="-122"/>
                <a:ea typeface="楷体_GB2312" pitchFamily="49" charset="-122"/>
              </a:rPr>
              <a:t>充型压力</a:t>
            </a:r>
            <a:endParaRPr lang="zh-CN" altLang="en-US" sz="2400" b="1" dirty="0">
              <a:solidFill>
                <a:srgbClr val="660066"/>
              </a:solidFill>
              <a:latin typeface="楷体_GB2312" pitchFamily="49" charset="-122"/>
              <a:ea typeface="楷体_GB2312" pitchFamily="49" charset="-122"/>
            </a:endParaRPr>
          </a:p>
          <a:p>
            <a:pPr lvl="2" eaLnBrk="1" hangingPunct="1">
              <a:lnSpc>
                <a:spcPct val="90000"/>
              </a:lnSpc>
            </a:pPr>
            <a:r>
              <a:rPr lang="zh-CN" altLang="en-US" sz="2400" b="1" dirty="0">
                <a:latin typeface="楷体_GB2312" pitchFamily="49" charset="-122"/>
                <a:ea typeface="楷体_GB2312" pitchFamily="49" charset="-122"/>
              </a:rPr>
              <a:t>液态合金流动方向</a:t>
            </a:r>
            <a:r>
              <a:rPr lang="zh-CN" altLang="en-US" sz="2400" b="1" dirty="0">
                <a:solidFill>
                  <a:srgbClr val="FF00FF"/>
                </a:solidFill>
                <a:latin typeface="楷体_GB2312" pitchFamily="49" charset="-122"/>
                <a:ea typeface="楷体_GB2312" pitchFamily="49" charset="-122"/>
              </a:rPr>
              <a:t>压力大</a:t>
            </a:r>
            <a:r>
              <a:rPr lang="zh-CN" altLang="en-US" sz="2400" b="1" dirty="0">
                <a:solidFill>
                  <a:srgbClr val="FF3300"/>
                </a:solidFill>
                <a:latin typeface="楷体_GB2312" pitchFamily="49" charset="-122"/>
                <a:ea typeface="楷体_GB2312" pitchFamily="49" charset="-122"/>
              </a:rPr>
              <a:t>      </a:t>
            </a:r>
            <a:r>
              <a:rPr lang="zh-CN" altLang="en-US" sz="2400" b="1" dirty="0">
                <a:solidFill>
                  <a:srgbClr val="FF0066"/>
                </a:solidFill>
                <a:latin typeface="楷体_GB2312" pitchFamily="49" charset="-122"/>
                <a:ea typeface="楷体_GB2312" pitchFamily="49" charset="-122"/>
              </a:rPr>
              <a:t>充型能力强</a:t>
            </a:r>
            <a:endParaRPr lang="zh-CN" altLang="en-US" sz="2400" b="1" dirty="0">
              <a:solidFill>
                <a:srgbClr val="FF0066"/>
              </a:solidFill>
              <a:latin typeface="楷体_GB2312" pitchFamily="49" charset="-122"/>
              <a:ea typeface="楷体_GB2312" pitchFamily="49" charset="-122"/>
            </a:endParaRPr>
          </a:p>
        </p:txBody>
      </p:sp>
      <p:sp>
        <p:nvSpPr>
          <p:cNvPr id="21508" name="AutoShape 10"/>
          <p:cNvSpPr/>
          <p:nvPr/>
        </p:nvSpPr>
        <p:spPr>
          <a:xfrm>
            <a:off x="3275013" y="2571750"/>
            <a:ext cx="576262" cy="215900"/>
          </a:xfrm>
          <a:prstGeom prst="rightArrow">
            <a:avLst>
              <a:gd name="adj1" fmla="val 50000"/>
              <a:gd name="adj2" fmla="val 62415"/>
            </a:avLst>
          </a:prstGeom>
          <a:solidFill>
            <a:srgbClr val="FF6600"/>
          </a:solidFill>
          <a:ln w="95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800" dirty="0"/>
              <a:t> </a:t>
            </a:r>
            <a:endParaRPr lang="en-US" altLang="zh-CN" sz="1800" dirty="0"/>
          </a:p>
        </p:txBody>
      </p:sp>
      <p:sp>
        <p:nvSpPr>
          <p:cNvPr id="21509" name="AutoShape 11"/>
          <p:cNvSpPr/>
          <p:nvPr/>
        </p:nvSpPr>
        <p:spPr>
          <a:xfrm>
            <a:off x="5075238" y="5854700"/>
            <a:ext cx="576262" cy="288925"/>
          </a:xfrm>
          <a:prstGeom prst="rightArrow">
            <a:avLst>
              <a:gd name="adj1" fmla="val 50000"/>
              <a:gd name="adj2" fmla="val 62189"/>
            </a:avLst>
          </a:prstGeom>
          <a:solidFill>
            <a:srgbClr val="FF6600"/>
          </a:solidFill>
          <a:ln w="95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800" dirty="0"/>
              <a:t> </a:t>
            </a:r>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7">
                                            <p:txEl>
                                              <p:charRg st="8" end="16"/>
                                            </p:txEl>
                                          </p:spTgt>
                                        </p:tgtEl>
                                        <p:attrNameLst>
                                          <p:attrName>style.visibility</p:attrName>
                                        </p:attrNameLst>
                                      </p:cBhvr>
                                      <p:to>
                                        <p:strVal val="visible"/>
                                      </p:to>
                                    </p:set>
                                    <p:animEffect transition="in" filter="blinds(horizontal)">
                                      <p:cBhvr>
                                        <p:cTn id="7" dur="500"/>
                                        <p:tgtEl>
                                          <p:spTgt spid="21507">
                                            <p:txEl>
                                              <p:charRg st="8" end="16"/>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1508"/>
                                        </p:tgtEl>
                                        <p:attrNameLst>
                                          <p:attrName>style.visibility</p:attrName>
                                        </p:attrNameLst>
                                      </p:cBhvr>
                                      <p:to>
                                        <p:strVal val="visible"/>
                                      </p:to>
                                    </p:set>
                                    <p:animEffect transition="in" filter="diamond(in)">
                                      <p:cBhvr>
                                        <p:cTn id="12" dur="2000"/>
                                        <p:tgtEl>
                                          <p:spTgt spid="21508"/>
                                        </p:tgtEl>
                                      </p:cBhvr>
                                    </p:animEffect>
                                  </p:childTnLst>
                                </p:cTn>
                              </p:par>
                              <p:par>
                                <p:cTn id="13" presetID="3" presetClass="entr" presetSubtype="10" fill="hold" nodeType="withEffect">
                                  <p:stCondLst>
                                    <p:cond delay="0"/>
                                  </p:stCondLst>
                                  <p:childTnLst>
                                    <p:set>
                                      <p:cBhvr>
                                        <p:cTn id="14" dur="1" fill="hold">
                                          <p:stCondLst>
                                            <p:cond delay="0"/>
                                          </p:stCondLst>
                                        </p:cTn>
                                        <p:tgtEl>
                                          <p:spTgt spid="21507">
                                            <p:txEl>
                                              <p:charRg st="16" end="48"/>
                                            </p:txEl>
                                          </p:spTgt>
                                        </p:tgtEl>
                                        <p:attrNameLst>
                                          <p:attrName>style.visibility</p:attrName>
                                        </p:attrNameLst>
                                      </p:cBhvr>
                                      <p:to>
                                        <p:strVal val="visible"/>
                                      </p:to>
                                    </p:set>
                                    <p:animEffect transition="in" filter="blinds(horizontal)">
                                      <p:cBhvr>
                                        <p:cTn id="15" dur="500"/>
                                        <p:tgtEl>
                                          <p:spTgt spid="21507">
                                            <p:txEl>
                                              <p:charRg st="16" end="4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1507">
                                            <p:txEl>
                                              <p:charRg st="48" end="92"/>
                                            </p:txEl>
                                          </p:spTgt>
                                        </p:tgtEl>
                                        <p:attrNameLst>
                                          <p:attrName>style.visibility</p:attrName>
                                        </p:attrNameLst>
                                      </p:cBhvr>
                                      <p:to>
                                        <p:strVal val="visible"/>
                                      </p:to>
                                    </p:set>
                                    <p:animEffect transition="in" filter="blinds(horizontal)">
                                      <p:cBhvr>
                                        <p:cTn id="20" dur="500"/>
                                        <p:tgtEl>
                                          <p:spTgt spid="21507">
                                            <p:txEl>
                                              <p:charRg st="48" end="9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1507">
                                            <p:txEl>
                                              <p:charRg st="92" end="164"/>
                                            </p:txEl>
                                          </p:spTgt>
                                        </p:tgtEl>
                                        <p:attrNameLst>
                                          <p:attrName>style.visibility</p:attrName>
                                        </p:attrNameLst>
                                      </p:cBhvr>
                                      <p:to>
                                        <p:strVal val="visible"/>
                                      </p:to>
                                    </p:set>
                                    <p:animEffect transition="in" filter="blinds(horizontal)">
                                      <p:cBhvr>
                                        <p:cTn id="25" dur="500"/>
                                        <p:tgtEl>
                                          <p:spTgt spid="21507">
                                            <p:txEl>
                                              <p:charRg st="92" end="16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1507">
                                            <p:txEl>
                                              <p:charRg st="165" end="173"/>
                                            </p:txEl>
                                          </p:spTgt>
                                        </p:tgtEl>
                                        <p:attrNameLst>
                                          <p:attrName>style.visibility</p:attrName>
                                        </p:attrNameLst>
                                      </p:cBhvr>
                                      <p:to>
                                        <p:strVal val="visible"/>
                                      </p:to>
                                    </p:set>
                                    <p:animEffect transition="in" filter="blinds(horizontal)">
                                      <p:cBhvr>
                                        <p:cTn id="30" dur="500"/>
                                        <p:tgtEl>
                                          <p:spTgt spid="21507">
                                            <p:txEl>
                                              <p:charRg st="165" end="17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1509"/>
                                        </p:tgtEl>
                                        <p:attrNameLst>
                                          <p:attrName>style.visibility</p:attrName>
                                        </p:attrNameLst>
                                      </p:cBhvr>
                                      <p:to>
                                        <p:strVal val="visible"/>
                                      </p:to>
                                    </p:set>
                                    <p:anim calcmode="lin" valueType="num">
                                      <p:cBhvr additive="base">
                                        <p:cTn id="35" dur="500" fill="hold"/>
                                        <p:tgtEl>
                                          <p:spTgt spid="21509"/>
                                        </p:tgtEl>
                                        <p:attrNameLst>
                                          <p:attrName>ppt_x</p:attrName>
                                        </p:attrNameLst>
                                      </p:cBhvr>
                                      <p:tavLst>
                                        <p:tav tm="0">
                                          <p:val>
                                            <p:strVal val="#ppt_x"/>
                                          </p:val>
                                        </p:tav>
                                        <p:tav tm="100000">
                                          <p:val>
                                            <p:strVal val="#ppt_x"/>
                                          </p:val>
                                        </p:tav>
                                      </p:tavLst>
                                    </p:anim>
                                    <p:anim calcmode="lin" valueType="num">
                                      <p:cBhvr additive="base">
                                        <p:cTn id="36" dur="500" fill="hold"/>
                                        <p:tgtEl>
                                          <p:spTgt spid="21509"/>
                                        </p:tgtEl>
                                        <p:attrNameLst>
                                          <p:attrName>ppt_y</p:attrName>
                                        </p:attrNameLst>
                                      </p:cBhvr>
                                      <p:tavLst>
                                        <p:tav tm="0">
                                          <p:val>
                                            <p:strVal val="1+#ppt_h/2"/>
                                          </p:val>
                                        </p:tav>
                                        <p:tav tm="100000">
                                          <p:val>
                                            <p:strVal val="#ppt_y"/>
                                          </p:val>
                                        </p:tav>
                                      </p:tavLst>
                                    </p:anim>
                                  </p:childTnLst>
                                </p:cTn>
                              </p:par>
                              <p:par>
                                <p:cTn id="37" presetID="3" presetClass="entr" presetSubtype="10" fill="hold" nodeType="withEffect">
                                  <p:stCondLst>
                                    <p:cond delay="0"/>
                                  </p:stCondLst>
                                  <p:childTnLst>
                                    <p:set>
                                      <p:cBhvr>
                                        <p:cTn id="38" dur="1" fill="hold">
                                          <p:stCondLst>
                                            <p:cond delay="0"/>
                                          </p:stCondLst>
                                        </p:cTn>
                                        <p:tgtEl>
                                          <p:spTgt spid="21507">
                                            <p:txEl>
                                              <p:charRg st="173" end="196"/>
                                            </p:txEl>
                                          </p:spTgt>
                                        </p:tgtEl>
                                        <p:attrNameLst>
                                          <p:attrName>style.visibility</p:attrName>
                                        </p:attrNameLst>
                                      </p:cBhvr>
                                      <p:to>
                                        <p:strVal val="visible"/>
                                      </p:to>
                                    </p:set>
                                    <p:animEffect transition="in" filter="blinds(horizontal)">
                                      <p:cBhvr>
                                        <p:cTn id="39" dur="500"/>
                                        <p:tgtEl>
                                          <p:spTgt spid="21507">
                                            <p:txEl>
                                              <p:charRg st="173" end="1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animBg="1"/>
      <p:bldP spid="2150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液态合金的充型</a:t>
            </a:r>
            <a:endParaRPr lang="zh-CN" altLang="zh-CN" sz="4000" b="1" dirty="0">
              <a:ea typeface="楷体_GB2312" pitchFamily="49" charset="-122"/>
            </a:endParaRPr>
          </a:p>
        </p:txBody>
      </p:sp>
      <p:sp>
        <p:nvSpPr>
          <p:cNvPr id="22531" name="Rectangle 3"/>
          <p:cNvSpPr>
            <a:spLocks noGrp="1" noChangeArrowheads="1"/>
          </p:cNvSpPr>
          <p:nvPr>
            <p:ph type="body" sz="half" idx="1"/>
          </p:nvPr>
        </p:nvSpPr>
        <p:spPr>
          <a:xfrm>
            <a:off x="204788" y="1773238"/>
            <a:ext cx="8759825" cy="4103688"/>
          </a:xfrm>
        </p:spPr>
        <p:txBody>
          <a:bodyPr vert="horz" wrap="square" lIns="91440" tIns="45720" rIns="91440" bIns="45720" numCol="1" anchor="t" anchorCtr="0" compatLnSpc="1"/>
          <a:lstStyle/>
          <a:p>
            <a:pPr marL="571500" marR="0" lvl="0" indent="-5715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a:pPr>
            <a:r>
              <a:rPr kumimoji="0" lang="en-US" altLang="zh-CN" sz="2400" b="1" i="0" u="none" strike="noStrike" kern="1200" cap="none" spc="0" normalizeH="0" baseline="0" noProof="0" dirty="0">
                <a:ln>
                  <a:noFill/>
                </a:ln>
                <a:solidFill>
                  <a:srgbClr val="FF0066"/>
                </a:solidFill>
                <a:effectLst/>
                <a:uLnTx/>
                <a:uFillTx/>
                <a:latin typeface="+mn-lt"/>
                <a:ea typeface="+mn-ea"/>
                <a:cs typeface="+mn-cs"/>
              </a:rPr>
              <a:t>      </a:t>
            </a:r>
            <a:r>
              <a:rPr kumimoji="0" lang="zh-CN" altLang="en-US" sz="2400" b="1" i="0" u="none" strike="noStrike" kern="1200" cap="none" spc="0" normalizeH="0" baseline="0" noProof="0" dirty="0">
                <a:ln>
                  <a:noFill/>
                </a:ln>
                <a:solidFill>
                  <a:srgbClr val="FF3300"/>
                </a:solidFill>
                <a:effectLst/>
                <a:uLnTx/>
                <a:uFillTx/>
                <a:latin typeface="楷体_GB2312" pitchFamily="49" charset="-122"/>
                <a:ea typeface="楷体_GB2312" pitchFamily="49" charset="-122"/>
                <a:cs typeface="+mn-cs"/>
              </a:rPr>
              <a:t>三、 铸型填充条件</a:t>
            </a:r>
            <a:r>
              <a:rPr kumimoji="0" lang="zh-CN" altLang="en-US" sz="21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a:t>
            </a:r>
            <a:endParaRPr kumimoji="0" lang="zh-CN" altLang="en-US" sz="21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840105" marR="0" lvl="1" indent="-382905"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rPr>
              <a:t>铸型材料</a:t>
            </a:r>
            <a:endParaRPr kumimoji="0" lang="zh-CN" altLang="en-US" sz="24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endParaRPr>
          </a:p>
          <a:p>
            <a:pPr marL="840105" marR="0" lvl="1" indent="-382905"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铸型材料导热系数    对液态合金激冷能力强     充型能力低</a:t>
            </a:r>
            <a:endParaRPr kumimoji="0" lang="en-US" altLang="zh-CN"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   铸型材料储热能力越强，合金充型能力越好</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  （温度下降慢，合金流动时间长）</a:t>
            </a:r>
            <a:endParaRPr kumimoji="0" lang="zh-CN" altLang="en-US" sz="24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   如金属型比砂型容易产生浇不足缺陷</a:t>
            </a:r>
            <a:endParaRPr kumimoji="0" lang="en-US" altLang="zh-CN" sz="1600" b="0" i="0" u="none" strike="noStrike" kern="1200" cap="none" spc="0" normalizeH="0" baseline="0" noProof="0" dirty="0">
              <a:ln>
                <a:noFill/>
              </a:ln>
              <a:solidFill>
                <a:schemeClr val="tx1"/>
              </a:solidFill>
              <a:effectLst/>
              <a:uLnTx/>
              <a:uFillTx/>
              <a:latin typeface="+mn-lt"/>
              <a:ea typeface="+mn-ea"/>
              <a:cs typeface="+mn-cs"/>
            </a:endParaRPr>
          </a:p>
          <a:p>
            <a:pPr marL="840105" marR="0" lvl="1" indent="-382905"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l"/>
              <a:defRPr/>
            </a:pPr>
            <a:r>
              <a:rPr kumimoji="0" lang="zh-CN" altLang="en-US" sz="24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rPr>
              <a:t>铸型温度</a:t>
            </a:r>
            <a:endParaRPr kumimoji="0" lang="zh-CN" altLang="en-US" sz="24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endParaRPr>
          </a:p>
          <a:p>
            <a:pPr marL="1090930" marR="0" lvl="2" indent="-176530" algn="l" defTabSz="914400" rtl="0" eaLnBrk="1" fontAlgn="base" latinLnBrk="0" hangingPunct="1">
              <a:lnSpc>
                <a:spcPct val="100000"/>
              </a:lnSpc>
              <a:spcBef>
                <a:spcPct val="20000"/>
              </a:spcBef>
              <a:spcAft>
                <a:spcPct val="0"/>
              </a:spcAft>
              <a:buClr>
                <a:schemeClr val="tx2"/>
              </a:buClr>
              <a:buSzPct val="65000"/>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由于铸型预热        金属液冷却速度低       充型能力强  </a:t>
            </a:r>
            <a:endParaRPr kumimoji="0" lang="en-US" altLang="zh-CN"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    温度越高，合金流动时间越长</a:t>
            </a:r>
            <a:endParaRPr kumimoji="0" lang="zh-CN" altLang="en-US" sz="16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1090930" marR="0" lvl="2" indent="-176530" algn="l" defTabSz="914400" rtl="0" eaLnBrk="1" fontAlgn="base" latinLnBrk="0" hangingPunct="1">
              <a:lnSpc>
                <a:spcPct val="100000"/>
              </a:lnSpc>
              <a:spcBef>
                <a:spcPct val="20000"/>
              </a:spcBef>
              <a:spcAft>
                <a:spcPct val="0"/>
              </a:spcAft>
              <a:buClr>
                <a:schemeClr val="tx2"/>
              </a:buClr>
              <a:buSzPct val="65000"/>
              <a:buFont typeface="Wingdings" panose="05000000000000000000" pitchFamily="2" charset="2"/>
              <a:buNone/>
              <a:defRPr/>
            </a:pPr>
            <a:endParaRPr kumimoji="0" lang="en-US" altLang="zh-CN" sz="2000" b="1" i="0" u="none" strike="noStrike" kern="1200" cap="none" spc="0" normalizeH="0" baseline="0" noProof="0" dirty="0">
              <a:ln>
                <a:noFill/>
              </a:ln>
              <a:solidFill>
                <a:schemeClr val="bg2"/>
              </a:solidFill>
              <a:effectLst/>
              <a:uLnTx/>
              <a:uFillTx/>
              <a:latin typeface="楷体_GB2312" pitchFamily="49" charset="-122"/>
              <a:ea typeface="楷体_GB2312" pitchFamily="49" charset="-122"/>
              <a:cs typeface="+mn-cs"/>
            </a:endParaRPr>
          </a:p>
        </p:txBody>
      </p:sp>
      <p:sp>
        <p:nvSpPr>
          <p:cNvPr id="22532" name="AutoShape 19"/>
          <p:cNvSpPr/>
          <p:nvPr/>
        </p:nvSpPr>
        <p:spPr>
          <a:xfrm>
            <a:off x="3852863" y="2841625"/>
            <a:ext cx="360362" cy="144463"/>
          </a:xfrm>
          <a:prstGeom prst="rightArrow">
            <a:avLst>
              <a:gd name="adj1" fmla="val 50000"/>
              <a:gd name="adj2" fmla="val 62362"/>
            </a:avLst>
          </a:prstGeom>
          <a:solidFill>
            <a:srgbClr val="FF6600"/>
          </a:solidFill>
          <a:ln w="95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800" dirty="0"/>
              <a:t> </a:t>
            </a:r>
            <a:endParaRPr lang="en-US" altLang="zh-CN" sz="1800" dirty="0"/>
          </a:p>
        </p:txBody>
      </p:sp>
      <p:sp>
        <p:nvSpPr>
          <p:cNvPr id="22533" name="AutoShape 20"/>
          <p:cNvSpPr/>
          <p:nvPr/>
        </p:nvSpPr>
        <p:spPr>
          <a:xfrm>
            <a:off x="7558088" y="2833688"/>
            <a:ext cx="360362" cy="144462"/>
          </a:xfrm>
          <a:prstGeom prst="rightArrow">
            <a:avLst>
              <a:gd name="adj1" fmla="val 50000"/>
              <a:gd name="adj2" fmla="val 62362"/>
            </a:avLst>
          </a:prstGeom>
          <a:solidFill>
            <a:srgbClr val="FF6600"/>
          </a:solidFill>
          <a:ln w="95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800" dirty="0"/>
              <a:t> </a:t>
            </a:r>
            <a:endParaRPr lang="en-US" altLang="zh-CN" sz="1800" dirty="0"/>
          </a:p>
        </p:txBody>
      </p:sp>
      <p:sp>
        <p:nvSpPr>
          <p:cNvPr id="22535" name="AutoShape 22"/>
          <p:cNvSpPr/>
          <p:nvPr/>
        </p:nvSpPr>
        <p:spPr>
          <a:xfrm>
            <a:off x="3168650" y="5300663"/>
            <a:ext cx="684213" cy="276225"/>
          </a:xfrm>
          <a:prstGeom prst="rightArrow">
            <a:avLst>
              <a:gd name="adj1" fmla="val 50000"/>
              <a:gd name="adj2" fmla="val 62292"/>
            </a:avLst>
          </a:prstGeom>
          <a:solidFill>
            <a:srgbClr val="FF6600"/>
          </a:solidFill>
          <a:ln w="95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800" dirty="0"/>
              <a:t> </a:t>
            </a:r>
            <a:endParaRPr lang="en-US" altLang="zh-CN" sz="1800" dirty="0"/>
          </a:p>
        </p:txBody>
      </p:sp>
      <p:sp>
        <p:nvSpPr>
          <p:cNvPr id="22536" name="AutoShape 25"/>
          <p:cNvSpPr/>
          <p:nvPr/>
        </p:nvSpPr>
        <p:spPr>
          <a:xfrm>
            <a:off x="6919913" y="5334000"/>
            <a:ext cx="641350" cy="209550"/>
          </a:xfrm>
          <a:prstGeom prst="rightArrow">
            <a:avLst>
              <a:gd name="adj1" fmla="val 50000"/>
              <a:gd name="adj2" fmla="val 62600"/>
            </a:avLst>
          </a:prstGeom>
          <a:solidFill>
            <a:srgbClr val="FF6600"/>
          </a:solidFill>
          <a:ln w="95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800" dirty="0"/>
              <a:t> </a:t>
            </a:r>
            <a:endParaRPr lang="en-US" altLang="zh-CN" sz="1800" dirty="0"/>
          </a:p>
        </p:txBody>
      </p:sp>
      <p:sp>
        <p:nvSpPr>
          <p:cNvPr id="22538" name="AutoShape 4"/>
          <p:cNvSpPr/>
          <p:nvPr/>
        </p:nvSpPr>
        <p:spPr>
          <a:xfrm>
            <a:off x="3708400" y="2651125"/>
            <a:ext cx="144463" cy="431800"/>
          </a:xfrm>
          <a:prstGeom prst="upArrow">
            <a:avLst>
              <a:gd name="adj1" fmla="val 50000"/>
              <a:gd name="adj2" fmla="val 7472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1" name="AutoShape 4"/>
          <p:cNvSpPr/>
          <p:nvPr/>
        </p:nvSpPr>
        <p:spPr>
          <a:xfrm>
            <a:off x="7388225" y="2643188"/>
            <a:ext cx="144463" cy="431800"/>
          </a:xfrm>
          <a:prstGeom prst="upArrow">
            <a:avLst>
              <a:gd name="adj1" fmla="val 50000"/>
              <a:gd name="adj2" fmla="val 7472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2" name="AutoShape 4"/>
          <p:cNvSpPr/>
          <p:nvPr/>
        </p:nvSpPr>
        <p:spPr>
          <a:xfrm flipV="1">
            <a:off x="2089150" y="3070225"/>
            <a:ext cx="152400" cy="466725"/>
          </a:xfrm>
          <a:prstGeom prst="upArrow">
            <a:avLst>
              <a:gd name="adj1" fmla="val 50000"/>
              <a:gd name="adj2" fmla="val 74719"/>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3" name="AutoShape 4"/>
          <p:cNvSpPr/>
          <p:nvPr/>
        </p:nvSpPr>
        <p:spPr>
          <a:xfrm>
            <a:off x="2133600" y="5661025"/>
            <a:ext cx="144463" cy="431800"/>
          </a:xfrm>
          <a:prstGeom prst="upArrow">
            <a:avLst>
              <a:gd name="adj1" fmla="val 50000"/>
              <a:gd name="adj2" fmla="val 7472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1">
                                            <p:txEl>
                                              <p:charRg st="0" end="18"/>
                                            </p:txEl>
                                          </p:spTgt>
                                        </p:tgtEl>
                                        <p:attrNameLst>
                                          <p:attrName>style.visibility</p:attrName>
                                        </p:attrNameLst>
                                      </p:cBhvr>
                                      <p:to>
                                        <p:strVal val="visible"/>
                                      </p:to>
                                    </p:set>
                                    <p:animEffect transition="in" filter="blinds(horizontal)">
                                      <p:cBhvr>
                                        <p:cTn id="7" dur="500"/>
                                        <p:tgtEl>
                                          <p:spTgt spid="22531">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1">
                                            <p:txEl>
                                              <p:charRg st="18" end="23"/>
                                            </p:txEl>
                                          </p:spTgt>
                                        </p:tgtEl>
                                        <p:attrNameLst>
                                          <p:attrName>style.visibility</p:attrName>
                                        </p:attrNameLst>
                                      </p:cBhvr>
                                      <p:to>
                                        <p:strVal val="visible"/>
                                      </p:to>
                                    </p:set>
                                    <p:animEffect transition="in" filter="blinds(horizontal)">
                                      <p:cBhvr>
                                        <p:cTn id="12" dur="500"/>
                                        <p:tgtEl>
                                          <p:spTgt spid="22531">
                                            <p:txEl>
                                              <p:charRg st="18" end="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531">
                                            <p:txEl>
                                              <p:charRg st="23" end="59"/>
                                            </p:txEl>
                                          </p:spTgt>
                                        </p:tgtEl>
                                        <p:attrNameLst>
                                          <p:attrName>style.visibility</p:attrName>
                                        </p:attrNameLst>
                                      </p:cBhvr>
                                      <p:to>
                                        <p:strVal val="visible"/>
                                      </p:to>
                                    </p:set>
                                    <p:animEffect transition="in" filter="blinds(horizontal)">
                                      <p:cBhvr>
                                        <p:cTn id="17" dur="500"/>
                                        <p:tgtEl>
                                          <p:spTgt spid="22531">
                                            <p:txEl>
                                              <p:charRg st="23" end="5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531">
                                            <p:txEl>
                                              <p:charRg st="59" end="82"/>
                                            </p:txEl>
                                          </p:spTgt>
                                        </p:tgtEl>
                                        <p:attrNameLst>
                                          <p:attrName>style.visibility</p:attrName>
                                        </p:attrNameLst>
                                      </p:cBhvr>
                                      <p:to>
                                        <p:strVal val="visible"/>
                                      </p:to>
                                    </p:set>
                                    <p:animEffect transition="in" filter="blinds(horizontal)">
                                      <p:cBhvr>
                                        <p:cTn id="22" dur="500"/>
                                        <p:tgtEl>
                                          <p:spTgt spid="22531">
                                            <p:txEl>
                                              <p:charRg st="59" end="8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531">
                                            <p:txEl>
                                              <p:charRg st="100" end="120"/>
                                            </p:txEl>
                                          </p:spTgt>
                                        </p:tgtEl>
                                        <p:attrNameLst>
                                          <p:attrName>style.visibility</p:attrName>
                                        </p:attrNameLst>
                                      </p:cBhvr>
                                      <p:to>
                                        <p:strVal val="visible"/>
                                      </p:to>
                                    </p:set>
                                    <p:animEffect transition="in" filter="blinds(horizontal)">
                                      <p:cBhvr>
                                        <p:cTn id="27" dur="500"/>
                                        <p:tgtEl>
                                          <p:spTgt spid="22531">
                                            <p:txEl>
                                              <p:charRg st="100" end="12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2531">
                                            <p:txEl>
                                              <p:charRg st="82" end="100"/>
                                            </p:txEl>
                                          </p:spTgt>
                                        </p:tgtEl>
                                        <p:attrNameLst>
                                          <p:attrName>style.visibility</p:attrName>
                                        </p:attrNameLst>
                                      </p:cBhvr>
                                      <p:to>
                                        <p:strVal val="visible"/>
                                      </p:to>
                                    </p:set>
                                    <p:animEffect transition="in" filter="blinds(horizontal)">
                                      <p:cBhvr>
                                        <p:cTn id="32" dur="500"/>
                                        <p:tgtEl>
                                          <p:spTgt spid="22531">
                                            <p:txEl>
                                              <p:charRg st="82" end="10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538"/>
                                        </p:tgtEl>
                                        <p:attrNameLst>
                                          <p:attrName>style.visibility</p:attrName>
                                        </p:attrNameLst>
                                      </p:cBhvr>
                                      <p:to>
                                        <p:strVal val="visible"/>
                                      </p:to>
                                    </p:set>
                                    <p:animEffect transition="in" filter="blinds(horizontal)">
                                      <p:cBhvr>
                                        <p:cTn id="37" dur="500"/>
                                        <p:tgtEl>
                                          <p:spTgt spid="2253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532"/>
                                        </p:tgtEl>
                                        <p:attrNameLst>
                                          <p:attrName>style.visibility</p:attrName>
                                        </p:attrNameLst>
                                      </p:cBhvr>
                                      <p:to>
                                        <p:strVal val="visible"/>
                                      </p:to>
                                    </p:set>
                                    <p:animEffect transition="in" filter="blinds(horizontal)">
                                      <p:cBhvr>
                                        <p:cTn id="42" dur="500"/>
                                        <p:tgtEl>
                                          <p:spTgt spid="2253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2533"/>
                                        </p:tgtEl>
                                        <p:attrNameLst>
                                          <p:attrName>style.visibility</p:attrName>
                                        </p:attrNameLst>
                                      </p:cBhvr>
                                      <p:to>
                                        <p:strVal val="visible"/>
                                      </p:to>
                                    </p:set>
                                    <p:animEffect transition="in" filter="blinds(horizontal)">
                                      <p:cBhvr>
                                        <p:cTn id="47" dur="500"/>
                                        <p:tgtEl>
                                          <p:spTgt spid="2253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2531">
                                            <p:txEl>
                                              <p:charRg st="120" end="125"/>
                                            </p:txEl>
                                          </p:spTgt>
                                        </p:tgtEl>
                                        <p:attrNameLst>
                                          <p:attrName>style.visibility</p:attrName>
                                        </p:attrNameLst>
                                      </p:cBhvr>
                                      <p:to>
                                        <p:strVal val="visible"/>
                                      </p:to>
                                    </p:set>
                                    <p:animEffect transition="in" filter="blinds(horizontal)">
                                      <p:cBhvr>
                                        <p:cTn id="52" dur="500"/>
                                        <p:tgtEl>
                                          <p:spTgt spid="22531">
                                            <p:txEl>
                                              <p:charRg st="120" end="12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2531">
                                            <p:txEl>
                                              <p:charRg st="125" end="162"/>
                                            </p:txEl>
                                          </p:spTgt>
                                        </p:tgtEl>
                                        <p:attrNameLst>
                                          <p:attrName>style.visibility</p:attrName>
                                        </p:attrNameLst>
                                      </p:cBhvr>
                                      <p:to>
                                        <p:strVal val="visible"/>
                                      </p:to>
                                    </p:set>
                                    <p:animEffect transition="in" filter="blinds(horizontal)">
                                      <p:cBhvr>
                                        <p:cTn id="57" dur="500"/>
                                        <p:tgtEl>
                                          <p:spTgt spid="22531">
                                            <p:txEl>
                                              <p:charRg st="125" end="16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2531">
                                            <p:txEl>
                                              <p:charRg st="162" end="180"/>
                                            </p:txEl>
                                          </p:spTgt>
                                        </p:tgtEl>
                                        <p:attrNameLst>
                                          <p:attrName>style.visibility</p:attrName>
                                        </p:attrNameLst>
                                      </p:cBhvr>
                                      <p:to>
                                        <p:strVal val="visible"/>
                                      </p:to>
                                    </p:set>
                                    <p:animEffect transition="in" filter="blinds(horizontal)">
                                      <p:cBhvr>
                                        <p:cTn id="62" dur="500"/>
                                        <p:tgtEl>
                                          <p:spTgt spid="22531">
                                            <p:txEl>
                                              <p:charRg st="162" end="18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2535"/>
                                        </p:tgtEl>
                                        <p:attrNameLst>
                                          <p:attrName>style.visibility</p:attrName>
                                        </p:attrNameLst>
                                      </p:cBhvr>
                                      <p:to>
                                        <p:strVal val="visible"/>
                                      </p:to>
                                    </p:set>
                                    <p:animEffect transition="in" filter="blinds(horizontal)">
                                      <p:cBhvr>
                                        <p:cTn id="67" dur="500"/>
                                        <p:tgtEl>
                                          <p:spTgt spid="22535"/>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2536"/>
                                        </p:tgtEl>
                                        <p:attrNameLst>
                                          <p:attrName>style.visibility</p:attrName>
                                        </p:attrNameLst>
                                      </p:cBhvr>
                                      <p:to>
                                        <p:strVal val="visible"/>
                                      </p:to>
                                    </p:set>
                                    <p:animEffect transition="in" filter="blinds(horizontal)">
                                      <p:cBhvr>
                                        <p:cTn id="72" dur="500"/>
                                        <p:tgtEl>
                                          <p:spTgt spid="22536"/>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blinds(horizontal)">
                                      <p:cBhvr>
                                        <p:cTn id="77" dur="500"/>
                                        <p:tgtEl>
                                          <p:spTgt spid="11"/>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blinds(horizontal)">
                                      <p:cBhvr>
                                        <p:cTn id="82" dur="500"/>
                                        <p:tgtEl>
                                          <p:spTgt spid="12"/>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13"/>
                                        </p:tgtEl>
                                        <p:attrNameLst>
                                          <p:attrName>style.visibility</p:attrName>
                                        </p:attrNameLst>
                                      </p:cBhvr>
                                      <p:to>
                                        <p:strVal val="visible"/>
                                      </p:to>
                                    </p:set>
                                    <p:animEffect transition="in" filter="blinds(horizontal)">
                                      <p:cBhvr>
                                        <p:cTn id="8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animBg="1"/>
      <p:bldP spid="22533" grpId="0" animBg="1"/>
      <p:bldP spid="22535" grpId="0" animBg="1"/>
      <p:bldP spid="22536" grpId="0" animBg="1"/>
      <p:bldP spid="22538" grpId="0" animBg="1"/>
      <p:bldP spid="11" grpId="0" animBg="1"/>
      <p:bldP spid="12" grpId="0" animBg="1"/>
      <p:bldP spid="1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液态合金的充型</a:t>
            </a:r>
            <a:endParaRPr lang="zh-CN" altLang="zh-CN" sz="4000" b="1" dirty="0">
              <a:ea typeface="楷体_GB2312" pitchFamily="49" charset="-122"/>
            </a:endParaRPr>
          </a:p>
        </p:txBody>
      </p:sp>
      <p:sp>
        <p:nvSpPr>
          <p:cNvPr id="22531" name="Rectangle 3"/>
          <p:cNvSpPr>
            <a:spLocks noGrp="1"/>
          </p:cNvSpPr>
          <p:nvPr>
            <p:ph type="body" sz="half"/>
          </p:nvPr>
        </p:nvSpPr>
        <p:spPr>
          <a:xfrm>
            <a:off x="204788" y="1773238"/>
            <a:ext cx="8759825" cy="4103687"/>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marL="571500" lvl="0" indent="-571500" eaLnBrk="1" hangingPunct="1">
              <a:buNone/>
            </a:pPr>
            <a:r>
              <a:rPr lang="en-US" altLang="zh-CN" sz="2400" b="1" dirty="0">
                <a:solidFill>
                  <a:srgbClr val="FF0066"/>
                </a:solidFill>
              </a:rPr>
              <a:t>      </a:t>
            </a:r>
            <a:r>
              <a:rPr lang="zh-CN" altLang="en-US" sz="2400" b="1" dirty="0">
                <a:solidFill>
                  <a:srgbClr val="FF3300"/>
                </a:solidFill>
                <a:latin typeface="楷体_GB2312" pitchFamily="49" charset="-122"/>
                <a:ea typeface="楷体_GB2312" pitchFamily="49" charset="-122"/>
              </a:rPr>
              <a:t>三、 铸型填充条件</a:t>
            </a:r>
            <a:r>
              <a:rPr lang="zh-CN" altLang="en-US" sz="2100" b="1" dirty="0">
                <a:latin typeface="楷体_GB2312" pitchFamily="49" charset="-122"/>
                <a:ea typeface="楷体_GB2312" pitchFamily="49" charset="-122"/>
              </a:rPr>
              <a:t>  </a:t>
            </a:r>
            <a:endParaRPr lang="zh-CN" altLang="en-US" sz="2100" b="1" dirty="0">
              <a:latin typeface="楷体_GB2312" pitchFamily="49" charset="-122"/>
              <a:ea typeface="楷体_GB2312" pitchFamily="49" charset="-122"/>
            </a:endParaRPr>
          </a:p>
          <a:p>
            <a:pPr marL="840105" lvl="1" indent="-382905" eaLnBrk="1" hangingPunct="1"/>
            <a:r>
              <a:rPr lang="zh-CN" altLang="en-US" sz="2400" b="1" dirty="0">
                <a:solidFill>
                  <a:srgbClr val="FF00FF"/>
                </a:solidFill>
                <a:latin typeface="楷体_GB2312" pitchFamily="49" charset="-122"/>
                <a:ea typeface="楷体_GB2312" pitchFamily="49" charset="-122"/>
              </a:rPr>
              <a:t>铸型中气体</a:t>
            </a:r>
            <a:r>
              <a:rPr lang="zh-CN" altLang="en-US" sz="2400" b="1" dirty="0">
                <a:latin typeface="楷体_GB2312" pitchFamily="49" charset="-122"/>
                <a:ea typeface="楷体_GB2312" pitchFamily="49" charset="-122"/>
              </a:rPr>
              <a:t> </a:t>
            </a:r>
            <a:r>
              <a:rPr lang="zh-CN" altLang="en-US" sz="2400" b="1" dirty="0">
                <a:solidFill>
                  <a:srgbClr val="009900"/>
                </a:solidFill>
                <a:latin typeface="楷体_GB2312" pitchFamily="49" charset="-122"/>
                <a:ea typeface="楷体_GB2312" pitchFamily="49" charset="-122"/>
              </a:rPr>
              <a:t>（铸型中将产生大量气体，阻碍液态合金的充型）</a:t>
            </a:r>
            <a:endParaRPr lang="en-US" altLang="zh-CN" sz="2400" b="1" dirty="0">
              <a:solidFill>
                <a:srgbClr val="009900"/>
              </a:solidFill>
              <a:latin typeface="楷体_GB2312" pitchFamily="49" charset="-122"/>
              <a:ea typeface="楷体_GB2312" pitchFamily="49" charset="-122"/>
            </a:endParaRPr>
          </a:p>
          <a:p>
            <a:pPr marL="840105" lvl="1" indent="-382905" eaLnBrk="1" hangingPunct="1">
              <a:buNone/>
            </a:pPr>
            <a:r>
              <a:rPr lang="en-US" altLang="zh-CN" sz="2400" b="1" dirty="0">
                <a:solidFill>
                  <a:srgbClr val="009900"/>
                </a:solidFill>
                <a:latin typeface="楷体_GB2312" pitchFamily="49" charset="-122"/>
                <a:ea typeface="楷体_GB2312" pitchFamily="49" charset="-122"/>
              </a:rPr>
              <a:t>	</a:t>
            </a:r>
            <a:r>
              <a:rPr lang="zh-CN" altLang="en-US" sz="2400" b="1" dirty="0">
                <a:latin typeface="楷体_GB2312" pitchFamily="49" charset="-122"/>
                <a:ea typeface="楷体_GB2312" pitchFamily="49" charset="-122"/>
              </a:rPr>
              <a:t>铸型排气能力强        透气性高       充型能力强</a:t>
            </a:r>
            <a:endParaRPr lang="en-US" altLang="zh-CN" sz="2400" b="1" dirty="0">
              <a:latin typeface="楷体_GB2312" pitchFamily="49" charset="-122"/>
              <a:ea typeface="楷体_GB2312" pitchFamily="49" charset="-122"/>
            </a:endParaRPr>
          </a:p>
          <a:p>
            <a:pPr marL="840105" lvl="1" indent="-382905" eaLnBrk="1" hangingPunct="1"/>
            <a:r>
              <a:rPr lang="zh-CN" altLang="en-US" sz="2400" b="1" dirty="0">
                <a:latin typeface="楷体_GB2312" pitchFamily="49" charset="-122"/>
                <a:ea typeface="楷体_GB2312" pitchFamily="49" charset="-122"/>
              </a:rPr>
              <a:t>铸件结构</a:t>
            </a:r>
            <a:endParaRPr lang="en-US" altLang="zh-CN" sz="2400" b="1" dirty="0">
              <a:latin typeface="楷体_GB2312" pitchFamily="49" charset="-122"/>
              <a:ea typeface="楷体_GB2312" pitchFamily="49" charset="-122"/>
            </a:endParaRPr>
          </a:p>
          <a:p>
            <a:pPr marL="840105" lvl="1" indent="-382905" eaLnBrk="1" hangingPunct="1">
              <a:buNone/>
            </a:pP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铸件壁厚过薄或有大的水平面，流动性下降。</a:t>
            </a:r>
            <a:endParaRPr lang="en-US" altLang="zh-CN" sz="2400" b="1" dirty="0">
              <a:latin typeface="楷体_GB2312" pitchFamily="49" charset="-122"/>
              <a:ea typeface="楷体_GB2312" pitchFamily="49" charset="-122"/>
            </a:endParaRPr>
          </a:p>
          <a:p>
            <a:pPr marL="840105" lvl="1" indent="-382905" eaLnBrk="1" hangingPunct="1">
              <a:buNone/>
            </a:pP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壁厚应大于最小壁厚值</a:t>
            </a:r>
            <a:endParaRPr lang="zh-CN" altLang="en-US" sz="2400" b="1" dirty="0">
              <a:latin typeface="楷体_GB2312" pitchFamily="49" charset="-122"/>
              <a:ea typeface="楷体_GB2312" pitchFamily="49" charset="-122"/>
            </a:endParaRPr>
          </a:p>
          <a:p>
            <a:pPr marL="1090930" lvl="2" indent="-176530" eaLnBrk="1" hangingPunct="1">
              <a:buNone/>
            </a:pPr>
            <a:endParaRPr lang="en-US" altLang="zh-CN" b="1" dirty="0">
              <a:solidFill>
                <a:schemeClr val="bg2"/>
              </a:solidFill>
              <a:latin typeface="楷体_GB2312" pitchFamily="49" charset="-122"/>
              <a:ea typeface="楷体_GB2312" pitchFamily="49" charset="-122"/>
            </a:endParaRPr>
          </a:p>
        </p:txBody>
      </p:sp>
      <p:sp>
        <p:nvSpPr>
          <p:cNvPr id="22535" name="AutoShape 22"/>
          <p:cNvSpPr/>
          <p:nvPr/>
        </p:nvSpPr>
        <p:spPr>
          <a:xfrm>
            <a:off x="3455988" y="3143250"/>
            <a:ext cx="684212" cy="276225"/>
          </a:xfrm>
          <a:prstGeom prst="rightArrow">
            <a:avLst>
              <a:gd name="adj1" fmla="val 50000"/>
              <a:gd name="adj2" fmla="val 62292"/>
            </a:avLst>
          </a:prstGeom>
          <a:solidFill>
            <a:srgbClr val="FF6600"/>
          </a:solidFill>
          <a:ln w="95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800" dirty="0"/>
              <a:t> </a:t>
            </a:r>
            <a:endParaRPr lang="en-US" altLang="zh-CN" sz="1800" dirty="0"/>
          </a:p>
        </p:txBody>
      </p:sp>
      <p:sp>
        <p:nvSpPr>
          <p:cNvPr id="22536" name="AutoShape 25"/>
          <p:cNvSpPr/>
          <p:nvPr/>
        </p:nvSpPr>
        <p:spPr>
          <a:xfrm>
            <a:off x="5802313" y="3143250"/>
            <a:ext cx="641350" cy="209550"/>
          </a:xfrm>
          <a:prstGeom prst="rightArrow">
            <a:avLst>
              <a:gd name="adj1" fmla="val 50000"/>
              <a:gd name="adj2" fmla="val 62600"/>
            </a:avLst>
          </a:prstGeom>
          <a:solidFill>
            <a:srgbClr val="FF6600"/>
          </a:solidFill>
          <a:ln w="9525" cap="flat" cmpd="sng">
            <a:solidFill>
              <a:srgbClr val="FF66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800" dirty="0"/>
              <a:t> </a:t>
            </a:r>
            <a:endParaRPr lang="en-US" altLang="zh-CN" sz="1800" dirty="0"/>
          </a:p>
        </p:txBody>
      </p:sp>
      <p:sp>
        <p:nvSpPr>
          <p:cNvPr id="13" name="AutoShape 4"/>
          <p:cNvSpPr/>
          <p:nvPr/>
        </p:nvSpPr>
        <p:spPr>
          <a:xfrm>
            <a:off x="8482013" y="3032125"/>
            <a:ext cx="144462" cy="431800"/>
          </a:xfrm>
          <a:prstGeom prst="upArrow">
            <a:avLst>
              <a:gd name="adj1" fmla="val 50000"/>
              <a:gd name="adj2" fmla="val 7472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1">
                                            <p:txEl>
                                              <p:charRg st="0" end="18"/>
                                            </p:txEl>
                                          </p:spTgt>
                                        </p:tgtEl>
                                        <p:attrNameLst>
                                          <p:attrName>style.visibility</p:attrName>
                                        </p:attrNameLst>
                                      </p:cBhvr>
                                      <p:to>
                                        <p:strVal val="visible"/>
                                      </p:to>
                                    </p:set>
                                    <p:animEffect transition="in" filter="blinds(horizontal)">
                                      <p:cBhvr>
                                        <p:cTn id="7" dur="500"/>
                                        <p:tgtEl>
                                          <p:spTgt spid="22531">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1">
                                            <p:txEl>
                                              <p:charRg st="18" end="47"/>
                                            </p:txEl>
                                          </p:spTgt>
                                        </p:tgtEl>
                                        <p:attrNameLst>
                                          <p:attrName>style.visibility</p:attrName>
                                        </p:attrNameLst>
                                      </p:cBhvr>
                                      <p:to>
                                        <p:strVal val="visible"/>
                                      </p:to>
                                    </p:set>
                                    <p:animEffect transition="in" filter="blinds(horizontal)">
                                      <p:cBhvr>
                                        <p:cTn id="12" dur="500"/>
                                        <p:tgtEl>
                                          <p:spTgt spid="22531">
                                            <p:txEl>
                                              <p:charRg st="18" end="4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531">
                                            <p:txEl>
                                              <p:charRg st="47" end="80"/>
                                            </p:txEl>
                                          </p:spTgt>
                                        </p:tgtEl>
                                        <p:attrNameLst>
                                          <p:attrName>style.visibility</p:attrName>
                                        </p:attrNameLst>
                                      </p:cBhvr>
                                      <p:to>
                                        <p:strVal val="visible"/>
                                      </p:to>
                                    </p:set>
                                    <p:animEffect transition="in" filter="blinds(horizontal)">
                                      <p:cBhvr>
                                        <p:cTn id="17" dur="500"/>
                                        <p:tgtEl>
                                          <p:spTgt spid="22531">
                                            <p:txEl>
                                              <p:charRg st="47" end="8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531">
                                            <p:txEl>
                                              <p:charRg st="80" end="85"/>
                                            </p:txEl>
                                          </p:spTgt>
                                        </p:tgtEl>
                                        <p:attrNameLst>
                                          <p:attrName>style.visibility</p:attrName>
                                        </p:attrNameLst>
                                      </p:cBhvr>
                                      <p:to>
                                        <p:strVal val="visible"/>
                                      </p:to>
                                    </p:set>
                                    <p:animEffect transition="in" filter="blinds(horizontal)">
                                      <p:cBhvr>
                                        <p:cTn id="22" dur="500"/>
                                        <p:tgtEl>
                                          <p:spTgt spid="22531">
                                            <p:txEl>
                                              <p:charRg st="80" end="8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531">
                                            <p:txEl>
                                              <p:charRg st="85" end="107"/>
                                            </p:txEl>
                                          </p:spTgt>
                                        </p:tgtEl>
                                        <p:attrNameLst>
                                          <p:attrName>style.visibility</p:attrName>
                                        </p:attrNameLst>
                                      </p:cBhvr>
                                      <p:to>
                                        <p:strVal val="visible"/>
                                      </p:to>
                                    </p:set>
                                    <p:animEffect transition="in" filter="blinds(horizontal)">
                                      <p:cBhvr>
                                        <p:cTn id="27" dur="500"/>
                                        <p:tgtEl>
                                          <p:spTgt spid="22531">
                                            <p:txEl>
                                              <p:charRg st="85" end="10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2531">
                                            <p:txEl>
                                              <p:charRg st="107" end="119"/>
                                            </p:txEl>
                                          </p:spTgt>
                                        </p:tgtEl>
                                        <p:attrNameLst>
                                          <p:attrName>style.visibility</p:attrName>
                                        </p:attrNameLst>
                                      </p:cBhvr>
                                      <p:to>
                                        <p:strVal val="visible"/>
                                      </p:to>
                                    </p:set>
                                    <p:animEffect transition="in" filter="blinds(horizontal)">
                                      <p:cBhvr>
                                        <p:cTn id="32" dur="500"/>
                                        <p:tgtEl>
                                          <p:spTgt spid="22531">
                                            <p:txEl>
                                              <p:charRg st="107" end="11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535"/>
                                        </p:tgtEl>
                                        <p:attrNameLst>
                                          <p:attrName>style.visibility</p:attrName>
                                        </p:attrNameLst>
                                      </p:cBhvr>
                                      <p:to>
                                        <p:strVal val="visible"/>
                                      </p:to>
                                    </p:set>
                                    <p:animEffect transition="in" filter="blinds(horizontal)">
                                      <p:cBhvr>
                                        <p:cTn id="37" dur="500"/>
                                        <p:tgtEl>
                                          <p:spTgt spid="2253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2536"/>
                                        </p:tgtEl>
                                        <p:attrNameLst>
                                          <p:attrName>style.visibility</p:attrName>
                                        </p:attrNameLst>
                                      </p:cBhvr>
                                      <p:to>
                                        <p:strVal val="visible"/>
                                      </p:to>
                                    </p:set>
                                    <p:animEffect transition="in" filter="blinds(horizontal)">
                                      <p:cBhvr>
                                        <p:cTn id="42" dur="500"/>
                                        <p:tgtEl>
                                          <p:spTgt spid="2253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blinds(horizontal)">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animBg="1"/>
      <p:bldP spid="22536" grpId="0" animBg="1"/>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12"/>
          <p:cNvGrpSpPr/>
          <p:nvPr/>
        </p:nvGrpSpPr>
        <p:grpSpPr>
          <a:xfrm>
            <a:off x="1331913" y="2924175"/>
            <a:ext cx="7056437" cy="3817938"/>
            <a:chOff x="0" y="0"/>
            <a:chExt cx="4354" cy="2630"/>
          </a:xfrm>
        </p:grpSpPr>
        <p:pic>
          <p:nvPicPr>
            <p:cNvPr id="39941" name="Picture 5" descr="2"/>
            <p:cNvPicPr>
              <a:picLocks noChangeAspect="1"/>
            </p:cNvPicPr>
            <p:nvPr/>
          </p:nvPicPr>
          <p:blipFill>
            <a:blip r:embed="rId1">
              <a:lum bright="6000"/>
            </a:blip>
            <a:stretch>
              <a:fillRect/>
            </a:stretch>
          </p:blipFill>
          <p:spPr>
            <a:xfrm>
              <a:off x="0" y="0"/>
              <a:ext cx="4354" cy="2306"/>
            </a:xfrm>
            <a:prstGeom prst="rect">
              <a:avLst/>
            </a:prstGeom>
            <a:solidFill>
              <a:srgbClr val="003300"/>
            </a:solidFill>
            <a:ln w="9525">
              <a:noFill/>
            </a:ln>
          </p:spPr>
        </p:pic>
        <p:sp>
          <p:nvSpPr>
            <p:cNvPr id="39942" name="Text Box 6"/>
            <p:cNvSpPr txBox="1"/>
            <p:nvPr/>
          </p:nvSpPr>
          <p:spPr>
            <a:xfrm>
              <a:off x="1325" y="2404"/>
              <a:ext cx="1668" cy="22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400" b="1" dirty="0">
                  <a:latin typeface="楷体_GB2312" pitchFamily="49" charset="-122"/>
                  <a:ea typeface="楷体_GB2312" pitchFamily="49" charset="-122"/>
                </a:rPr>
                <a:t>图</a:t>
              </a:r>
              <a:r>
                <a:rPr lang="en-US" altLang="zh-CN" sz="1400" b="1" dirty="0">
                  <a:latin typeface="楷体_GB2312" pitchFamily="49" charset="-122"/>
                  <a:ea typeface="楷体_GB2312" pitchFamily="49" charset="-122"/>
                </a:rPr>
                <a:t>2.3 </a:t>
              </a:r>
              <a:r>
                <a:rPr lang="zh-CN" altLang="en-US" sz="1400" b="1" dirty="0">
                  <a:latin typeface="楷体_GB2312" pitchFamily="49" charset="-122"/>
                  <a:ea typeface="楷体_GB2312" pitchFamily="49" charset="-122"/>
                </a:rPr>
                <a:t>铸件的凝固方式</a:t>
              </a:r>
              <a:r>
                <a:rPr lang="zh-CN" altLang="en-US" sz="1800" dirty="0">
                  <a:latin typeface="楷体_GB2312" pitchFamily="49" charset="-122"/>
                  <a:ea typeface="楷体_GB2312" pitchFamily="49" charset="-122"/>
                </a:rPr>
                <a:t>	</a:t>
              </a:r>
              <a:endParaRPr lang="zh-CN" altLang="en-US" sz="1800" dirty="0">
                <a:latin typeface="楷体_GB2312" pitchFamily="49" charset="-122"/>
                <a:ea typeface="楷体_GB2312" pitchFamily="49" charset="-122"/>
              </a:endParaRPr>
            </a:p>
            <a:p>
              <a:pPr marL="0" lvl="0" indent="0" eaLnBrk="1" hangingPunct="1">
                <a:spcBef>
                  <a:spcPct val="0"/>
                </a:spcBef>
                <a:buClrTx/>
                <a:buSzTx/>
                <a:buNone/>
              </a:pPr>
              <a:endParaRPr lang="en-US" altLang="zh-CN" sz="1800" dirty="0">
                <a:latin typeface="楷体_GB2312" pitchFamily="49" charset="-122"/>
                <a:ea typeface="楷体_GB2312" pitchFamily="49" charset="-122"/>
              </a:endParaRPr>
            </a:p>
          </p:txBody>
        </p:sp>
      </p:grpSp>
      <p:sp>
        <p:nvSpPr>
          <p:cNvPr id="23557" name="Rectangle 7"/>
          <p:cNvSpPr>
            <a:spLocks noChangeArrowheads="1"/>
          </p:cNvSpPr>
          <p:nvPr/>
        </p:nvSpPr>
        <p:spPr bwMode="auto">
          <a:xfrm>
            <a:off x="1619250" y="639763"/>
            <a:ext cx="6265863"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铸件的凝固</a:t>
            </a:r>
            <a:endPar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
        <p:nvSpPr>
          <p:cNvPr id="23558" name="Rectangle 10"/>
          <p:cNvSpPr>
            <a:spLocks noChangeArrowheads="1"/>
          </p:cNvSpPr>
          <p:nvPr/>
        </p:nvSpPr>
        <p:spPr bwMode="auto">
          <a:xfrm>
            <a:off x="973138" y="1571625"/>
            <a:ext cx="7920038" cy="1187450"/>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dirty="0">
                <a:ln>
                  <a:noFill/>
                </a:ln>
                <a:solidFill>
                  <a:schemeClr val="tx1"/>
                </a:solidFill>
                <a:effectLst/>
                <a:uLnTx/>
                <a:uFillTx/>
                <a:latin typeface="Verdana" panose="020B0604030504040204" pitchFamily="34" charset="0"/>
                <a:ea typeface="宋体" panose="02010600030101010101" pitchFamily="2" charset="-122"/>
                <a:cs typeface="+mn-cs"/>
              </a:rPr>
              <a:t> </a:t>
            </a:r>
            <a:r>
              <a:rPr kumimoji="0" lang="en-US" altLang="zh-CN" sz="2000" b="1" i="0" u="none" strike="noStrike" kern="1200" cap="none" spc="0" normalizeH="0" baseline="0" noProof="0" dirty="0">
                <a:ln>
                  <a:noFill/>
                </a:ln>
                <a:solidFill>
                  <a:srgbClr val="FF0066"/>
                </a:solidFill>
                <a:effectLst/>
                <a:uLnTx/>
                <a:uFillTx/>
                <a:latin typeface="楷体_GB2312" pitchFamily="49" charset="-122"/>
                <a:ea typeface="楷体_GB2312" pitchFamily="49" charset="-122"/>
                <a:cs typeface="+mn-cs"/>
              </a:rPr>
              <a:t>   </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在铸件的凝固过程中，其断面上一般存在三个区域，即</a:t>
            </a:r>
            <a:r>
              <a:rPr kumimoji="0" lang="zh-CN" altLang="en-US" sz="2400" b="1" i="0" u="none" strike="noStrike" kern="1200" cap="none" spc="0" normalizeH="0" baseline="0" noProof="0" dirty="0">
                <a:ln>
                  <a:noFill/>
                </a:ln>
                <a:solidFill>
                  <a:srgbClr val="0000FF"/>
                </a:solidFill>
                <a:effectLst/>
                <a:uLnTx/>
                <a:uFillTx/>
                <a:latin typeface="楷体_GB2312" pitchFamily="49" charset="-122"/>
                <a:ea typeface="楷体_GB2312" pitchFamily="49" charset="-122"/>
                <a:cs typeface="+mn-cs"/>
              </a:rPr>
              <a:t>固相区、凝固区和液相区</a:t>
            </a:r>
            <a:r>
              <a:rPr kumimoji="0" lang="zh-CN" altLang="en-US" sz="24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，其中对铸件质量影响较大的主要是液相和固相并存的</a:t>
            </a:r>
            <a:r>
              <a:rPr kumimoji="0" lang="zh-CN" altLang="en-US" sz="2400" b="1" i="0" u="none" strike="noStrike" kern="1200" cap="none" spc="0" normalizeH="0" baseline="0" noProof="0" dirty="0">
                <a:ln>
                  <a:noFill/>
                </a:ln>
                <a:solidFill>
                  <a:srgbClr val="FF3300"/>
                </a:solidFill>
                <a:effectLst/>
                <a:uLnTx/>
                <a:uFillTx/>
                <a:latin typeface="楷体_GB2312" pitchFamily="49" charset="-122"/>
                <a:ea typeface="楷体_GB2312" pitchFamily="49" charset="-122"/>
                <a:cs typeface="+mn-cs"/>
              </a:rPr>
              <a:t>凝固区的宽窄。</a:t>
            </a:r>
            <a:endParaRPr kumimoji="0" lang="zh-CN" altLang="en-US" sz="2400" b="1" i="0" u="none" strike="noStrike" kern="1200" cap="none" spc="0" normalizeH="0" baseline="0" noProof="0" dirty="0">
              <a:ln>
                <a:noFill/>
              </a:ln>
              <a:solidFill>
                <a:srgbClr val="FF3300"/>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558">
                                            <p:txEl>
                                              <p:charRg st="0" end="71"/>
                                            </p:txEl>
                                          </p:spTgt>
                                        </p:tgtEl>
                                        <p:attrNameLst>
                                          <p:attrName>style.visibility</p:attrName>
                                        </p:attrNameLst>
                                      </p:cBhvr>
                                      <p:to>
                                        <p:strVal val="visible"/>
                                      </p:to>
                                    </p:set>
                                    <p:animEffect transition="in" filter="blinds(horizontal)">
                                      <p:cBhvr>
                                        <p:cTn id="7" dur="500"/>
                                        <p:tgtEl>
                                          <p:spTgt spid="23558">
                                            <p:txEl>
                                              <p:charRg st="0" end="71"/>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additive="base">
                                        <p:cTn id="10" dur="500" fill="hold"/>
                                        <p:tgtEl>
                                          <p:spTgt spid="2"/>
                                        </p:tgtEl>
                                        <p:attrNameLst>
                                          <p:attrName>ppt_x</p:attrName>
                                        </p:attrNameLst>
                                      </p:cBhvr>
                                      <p:tavLst>
                                        <p:tav tm="0">
                                          <p:val>
                                            <p:strVal val="#ppt_x"/>
                                          </p:val>
                                        </p:tav>
                                        <p:tav tm="100000">
                                          <p:val>
                                            <p:strVal val="#ppt_x"/>
                                          </p:val>
                                        </p:tav>
                                      </p:tavLst>
                                    </p:anim>
                                    <p:anim calcmode="lin" valueType="num">
                                      <p:cBhvr additive="base">
                                        <p:cTn id="1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zh-CN" sz="4000" b="1" dirty="0">
                <a:ea typeface="楷体_GB2312" pitchFamily="49" charset="-122"/>
              </a:rPr>
              <a:t>铸件的凝固</a:t>
            </a:r>
            <a:endParaRPr lang="zh-CN" altLang="zh-CN" sz="4000" b="1" dirty="0">
              <a:ea typeface="楷体_GB2312" pitchFamily="49" charset="-122"/>
            </a:endParaRPr>
          </a:p>
        </p:txBody>
      </p:sp>
      <p:sp>
        <p:nvSpPr>
          <p:cNvPr id="24579" name="Rectangle 3"/>
          <p:cNvSpPr>
            <a:spLocks noGrp="1"/>
          </p:cNvSpPr>
          <p:nvPr>
            <p:ph type="body" sz="half"/>
          </p:nvPr>
        </p:nvSpPr>
        <p:spPr>
          <a:xfrm>
            <a:off x="971550" y="1555750"/>
            <a:ext cx="7632700" cy="3960813"/>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r>
              <a:rPr lang="zh-CN" altLang="en-US" sz="2000" b="1" dirty="0">
                <a:ea typeface="楷体_GB2312" pitchFamily="49" charset="-122"/>
              </a:rPr>
              <a:t>铸件的凝固方式（根据凝固区的宽窄划分）</a:t>
            </a:r>
            <a:endParaRPr lang="zh-CN" altLang="en-US" sz="2000" b="1" dirty="0">
              <a:ea typeface="楷体_GB2312" pitchFamily="49" charset="-122"/>
            </a:endParaRPr>
          </a:p>
          <a:p>
            <a:pPr lvl="1" eaLnBrk="1" hangingPunct="1"/>
            <a:r>
              <a:rPr lang="zh-CN" altLang="en-US" sz="1800" b="1" dirty="0">
                <a:solidFill>
                  <a:srgbClr val="FF0066"/>
                </a:solidFill>
                <a:ea typeface="楷体_GB2312" pitchFamily="49" charset="-122"/>
              </a:rPr>
              <a:t>逐层凝固</a:t>
            </a:r>
            <a:endParaRPr lang="zh-CN" altLang="en-US" sz="1800" b="1" dirty="0">
              <a:solidFill>
                <a:srgbClr val="FF0066"/>
              </a:solidFill>
              <a:ea typeface="楷体_GB2312" pitchFamily="49" charset="-122"/>
            </a:endParaRPr>
          </a:p>
          <a:p>
            <a:pPr lvl="2" eaLnBrk="1" hangingPunct="1"/>
            <a:r>
              <a:rPr lang="zh-CN" altLang="en-US" sz="1800" b="1" dirty="0">
                <a:solidFill>
                  <a:srgbClr val="FF6600"/>
                </a:solidFill>
                <a:ea typeface="楷体_GB2312" pitchFamily="49" charset="-122"/>
              </a:rPr>
              <a:t>纯金属或共晶成分合金</a:t>
            </a:r>
            <a:r>
              <a:rPr lang="zh-CN" altLang="en-US" sz="1800" b="1" dirty="0">
                <a:ea typeface="楷体_GB2312" pitchFamily="49" charset="-122"/>
              </a:rPr>
              <a:t>在凝固过程中，</a:t>
            </a:r>
            <a:r>
              <a:rPr lang="zh-CN" altLang="en-US" sz="1800" b="1" dirty="0">
                <a:solidFill>
                  <a:srgbClr val="009900"/>
                </a:solidFill>
                <a:ea typeface="楷体_GB2312" pitchFamily="49" charset="-122"/>
              </a:rPr>
              <a:t>不存在液、固并存的凝固区，</a:t>
            </a:r>
            <a:r>
              <a:rPr lang="zh-CN" altLang="en-US" sz="1800" b="1" dirty="0">
                <a:ea typeface="楷体_GB2312" pitchFamily="49" charset="-122"/>
              </a:rPr>
              <a:t>断面上外层的固相和内层的液相由一条界限分开。随着温度的下降，固体层不断加厚、液体层不断减少，直到铸件的中心，</a:t>
            </a:r>
            <a:r>
              <a:rPr lang="zh-CN" altLang="en-US" sz="1800" b="1" dirty="0">
                <a:solidFill>
                  <a:srgbClr val="0033CC"/>
                </a:solidFill>
                <a:ea typeface="楷体_GB2312" pitchFamily="49" charset="-122"/>
              </a:rPr>
              <a:t>称为逐层凝固，充型能力强。</a:t>
            </a:r>
            <a:endParaRPr lang="zh-CN" altLang="en-US" sz="1800" b="1" dirty="0">
              <a:solidFill>
                <a:srgbClr val="0033CC"/>
              </a:solidFill>
              <a:ea typeface="楷体_GB2312" pitchFamily="49" charset="-122"/>
            </a:endParaRPr>
          </a:p>
          <a:p>
            <a:pPr lvl="1" eaLnBrk="1" hangingPunct="1"/>
            <a:r>
              <a:rPr lang="zh-CN" altLang="en-US" sz="1800" b="1" dirty="0">
                <a:solidFill>
                  <a:srgbClr val="FF0066"/>
                </a:solidFill>
                <a:ea typeface="楷体_GB2312" pitchFamily="49" charset="-122"/>
              </a:rPr>
              <a:t>糊状凝固</a:t>
            </a:r>
            <a:endParaRPr lang="zh-CN" altLang="en-US" sz="1800" b="1" dirty="0">
              <a:solidFill>
                <a:srgbClr val="FF0066"/>
              </a:solidFill>
              <a:ea typeface="楷体_GB2312" pitchFamily="49" charset="-122"/>
            </a:endParaRPr>
          </a:p>
          <a:p>
            <a:pPr lvl="2" eaLnBrk="1" hangingPunct="1"/>
            <a:r>
              <a:rPr lang="zh-CN" altLang="en-US" sz="1800" b="1" dirty="0">
                <a:solidFill>
                  <a:srgbClr val="FF6600"/>
                </a:solidFill>
                <a:ea typeface="楷体_GB2312" pitchFamily="49" charset="-122"/>
              </a:rPr>
              <a:t>合金的结晶温度范围越宽，</a:t>
            </a:r>
            <a:r>
              <a:rPr lang="zh-CN" altLang="en-US" sz="1800" b="1" dirty="0">
                <a:ea typeface="楷体_GB2312" pitchFamily="49" charset="-122"/>
              </a:rPr>
              <a:t>且铸件的温度分布较平坦，在凝固的某段时间内，不存在固体层，而液、固并存的凝固区贯穿整个断面，</a:t>
            </a:r>
            <a:r>
              <a:rPr lang="zh-CN" altLang="en-US" sz="1800" b="1" dirty="0">
                <a:solidFill>
                  <a:srgbClr val="0033CC"/>
                </a:solidFill>
                <a:ea typeface="楷体_GB2312" pitchFamily="49" charset="-122"/>
              </a:rPr>
              <a:t>称为糊状凝固</a:t>
            </a:r>
            <a:r>
              <a:rPr lang="en-US" altLang="zh-CN" sz="1800" b="1" dirty="0">
                <a:solidFill>
                  <a:srgbClr val="0033CC"/>
                </a:solidFill>
                <a:ea typeface="楷体_GB2312" pitchFamily="49" charset="-122"/>
              </a:rPr>
              <a:t>,</a:t>
            </a:r>
            <a:r>
              <a:rPr lang="zh-CN" altLang="en-US" sz="1800" b="1" dirty="0">
                <a:solidFill>
                  <a:srgbClr val="0033CC"/>
                </a:solidFill>
                <a:ea typeface="楷体_GB2312" pitchFamily="49" charset="-122"/>
              </a:rPr>
              <a:t>易产生缺陷。</a:t>
            </a:r>
            <a:endParaRPr lang="zh-CN" altLang="en-US" sz="1800" b="1" dirty="0">
              <a:solidFill>
                <a:srgbClr val="0033CC"/>
              </a:solidFill>
              <a:ea typeface="楷体_GB2312" pitchFamily="49" charset="-122"/>
            </a:endParaRPr>
          </a:p>
          <a:p>
            <a:pPr lvl="1" eaLnBrk="1" hangingPunct="1"/>
            <a:r>
              <a:rPr lang="zh-CN" altLang="en-US" sz="1800" b="1" dirty="0">
                <a:solidFill>
                  <a:srgbClr val="FF0066"/>
                </a:solidFill>
                <a:ea typeface="楷体_GB2312" pitchFamily="49" charset="-122"/>
              </a:rPr>
              <a:t>中间凝固</a:t>
            </a:r>
            <a:endParaRPr lang="zh-CN" altLang="en-US" sz="1800" b="1" dirty="0">
              <a:solidFill>
                <a:srgbClr val="FF0066"/>
              </a:solidFill>
              <a:ea typeface="楷体_GB2312" pitchFamily="49" charset="-122"/>
            </a:endParaRPr>
          </a:p>
          <a:p>
            <a:pPr lvl="2" eaLnBrk="1" hangingPunct="1"/>
            <a:r>
              <a:rPr lang="zh-CN" altLang="en-US" sz="1800" b="1" dirty="0">
                <a:ea typeface="楷体_GB2312" pitchFamily="49" charset="-122"/>
              </a:rPr>
              <a:t>介于逐层凝固和糊状凝固之间的凝固方式，</a:t>
            </a:r>
            <a:r>
              <a:rPr lang="zh-CN" altLang="en-US" sz="1800" b="1" dirty="0">
                <a:solidFill>
                  <a:srgbClr val="3333FF"/>
                </a:solidFill>
                <a:ea typeface="楷体_GB2312" pitchFamily="49" charset="-122"/>
              </a:rPr>
              <a:t>称为中间凝固。</a:t>
            </a:r>
            <a:endParaRPr lang="zh-CN" altLang="en-US" sz="1800" b="1" dirty="0">
              <a:solidFill>
                <a:srgbClr val="3333FF"/>
              </a:solidFill>
              <a:ea typeface="楷体_GB2312" pitchFamily="49" charset="-122"/>
            </a:endParaRPr>
          </a:p>
          <a:p>
            <a:pPr lvl="2" eaLnBrk="1" hangingPunct="1"/>
            <a:endParaRPr lang="en-US" altLang="zh-CN" sz="1800" b="1" dirty="0">
              <a:solidFill>
                <a:srgbClr val="3333FF"/>
              </a:solidFill>
              <a:ea typeface="楷体_GB2312" pitchFamily="49" charset="-122"/>
            </a:endParaRPr>
          </a:p>
        </p:txBody>
      </p:sp>
      <p:graphicFrame>
        <p:nvGraphicFramePr>
          <p:cNvPr id="24580" name="Object 8"/>
          <p:cNvGraphicFramePr>
            <a:graphicFrameLocks noChangeAspect="1"/>
          </p:cNvGraphicFramePr>
          <p:nvPr>
            <p:ph sz="half" idx="1"/>
          </p:nvPr>
        </p:nvGraphicFramePr>
        <p:xfrm>
          <a:off x="2124075" y="5514975"/>
          <a:ext cx="5400675" cy="1298575"/>
        </p:xfrm>
        <a:graphic>
          <a:graphicData uri="http://schemas.openxmlformats.org/presentationml/2006/ole">
            <mc:AlternateContent xmlns:mc="http://schemas.openxmlformats.org/markup-compatibility/2006">
              <mc:Choice xmlns:v="urn:schemas-microsoft-com:vml" Requires="v">
                <p:oleObj spid="_x0000_s3076" name="" r:id="rId1" imgW="5283200" imgH="1275715" progId="Visio.Drawing.6">
                  <p:embed/>
                </p:oleObj>
              </mc:Choice>
              <mc:Fallback>
                <p:oleObj name="" r:id="rId1" imgW="5283200" imgH="1275715" progId="Visio.Drawing.6">
                  <p:embed/>
                  <p:pic>
                    <p:nvPicPr>
                      <p:cNvPr id="0" name="图片 3075"/>
                      <p:cNvPicPr/>
                      <p:nvPr/>
                    </p:nvPicPr>
                    <p:blipFill>
                      <a:blip r:embed="rId2"/>
                      <a:srcRect/>
                      <a:stretch>
                        <a:fillRect/>
                      </a:stretch>
                    </p:blipFill>
                    <p:spPr>
                      <a:xfrm>
                        <a:off x="2124075" y="5514975"/>
                        <a:ext cx="5400675" cy="1298575"/>
                      </a:xfrm>
                      <a:prstGeom prst="rect">
                        <a:avLst/>
                      </a:prstGeom>
                      <a:solidFill>
                        <a:srgbClr val="CCFFFF">
                          <a:alpha val="100000"/>
                        </a:srgbClr>
                      </a:solidFill>
                      <a:ln>
                        <a:solidFill>
                          <a:srgbClr val="FFFF99">
                            <a:alpha val="100000"/>
                          </a:srgbClr>
                        </a:solidFill>
                        <a:miter lim="800000"/>
                        <a:headEnd/>
                        <a:tailEnd/>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4579">
                                            <p:txEl>
                                              <p:charRg st="20" end="25"/>
                                            </p:txEl>
                                          </p:spTgt>
                                        </p:tgtEl>
                                        <p:attrNameLst>
                                          <p:attrName>style.visibility</p:attrName>
                                        </p:attrNameLst>
                                      </p:cBhvr>
                                      <p:to>
                                        <p:strVal val="visible"/>
                                      </p:to>
                                    </p:set>
                                    <p:animEffect transition="in" filter="diamond(in)">
                                      <p:cBhvr>
                                        <p:cTn id="7" dur="2000"/>
                                        <p:tgtEl>
                                          <p:spTgt spid="24579">
                                            <p:txEl>
                                              <p:charRg st="20" end="25"/>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24579">
                                            <p:txEl>
                                              <p:charRg st="25" end="123"/>
                                            </p:txEl>
                                          </p:spTgt>
                                        </p:tgtEl>
                                        <p:attrNameLst>
                                          <p:attrName>style.visibility</p:attrName>
                                        </p:attrNameLst>
                                      </p:cBhvr>
                                      <p:to>
                                        <p:strVal val="visible"/>
                                      </p:to>
                                    </p:set>
                                    <p:animEffect transition="in" filter="diamond(in)">
                                      <p:cBhvr>
                                        <p:cTn id="10" dur="2000"/>
                                        <p:tgtEl>
                                          <p:spTgt spid="24579">
                                            <p:txEl>
                                              <p:charRg st="25" end="12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nodeType="clickEffect">
                                  <p:stCondLst>
                                    <p:cond delay="0"/>
                                  </p:stCondLst>
                                  <p:childTnLst>
                                    <p:set>
                                      <p:cBhvr>
                                        <p:cTn id="14" dur="1" fill="hold">
                                          <p:stCondLst>
                                            <p:cond delay="0"/>
                                          </p:stCondLst>
                                        </p:cTn>
                                        <p:tgtEl>
                                          <p:spTgt spid="24580"/>
                                        </p:tgtEl>
                                        <p:attrNameLst>
                                          <p:attrName>style.visibility</p:attrName>
                                        </p:attrNameLst>
                                      </p:cBhvr>
                                      <p:to>
                                        <p:strVal val="visible"/>
                                      </p:to>
                                    </p:set>
                                    <p:animEffect transition="in" filter="diamond(in)">
                                      <p:cBhvr>
                                        <p:cTn id="15" dur="2000"/>
                                        <p:tgtEl>
                                          <p:spTgt spid="24580"/>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nodeType="clickEffect">
                                  <p:stCondLst>
                                    <p:cond delay="0"/>
                                  </p:stCondLst>
                                  <p:childTnLst>
                                    <p:set>
                                      <p:cBhvr>
                                        <p:cTn id="19" dur="1" fill="hold">
                                          <p:stCondLst>
                                            <p:cond delay="0"/>
                                          </p:stCondLst>
                                        </p:cTn>
                                        <p:tgtEl>
                                          <p:spTgt spid="24579">
                                            <p:txEl>
                                              <p:charRg st="123" end="128"/>
                                            </p:txEl>
                                          </p:spTgt>
                                        </p:tgtEl>
                                        <p:attrNameLst>
                                          <p:attrName>style.visibility</p:attrName>
                                        </p:attrNameLst>
                                      </p:cBhvr>
                                      <p:to>
                                        <p:strVal val="visible"/>
                                      </p:to>
                                    </p:set>
                                    <p:animEffect transition="in" filter="diamond(in)">
                                      <p:cBhvr>
                                        <p:cTn id="20" dur="2000"/>
                                        <p:tgtEl>
                                          <p:spTgt spid="24579">
                                            <p:txEl>
                                              <p:charRg st="123" end="128"/>
                                            </p:txEl>
                                          </p:spTgt>
                                        </p:tgtEl>
                                      </p:cBhvr>
                                    </p:animEffect>
                                  </p:childTnLst>
                                </p:cTn>
                              </p:par>
                              <p:par>
                                <p:cTn id="21" presetID="8" presetClass="entr" presetSubtype="16" fill="hold" nodeType="withEffect">
                                  <p:stCondLst>
                                    <p:cond delay="0"/>
                                  </p:stCondLst>
                                  <p:childTnLst>
                                    <p:set>
                                      <p:cBhvr>
                                        <p:cTn id="22" dur="1" fill="hold">
                                          <p:stCondLst>
                                            <p:cond delay="0"/>
                                          </p:stCondLst>
                                        </p:cTn>
                                        <p:tgtEl>
                                          <p:spTgt spid="24579">
                                            <p:txEl>
                                              <p:charRg st="128" end="200"/>
                                            </p:txEl>
                                          </p:spTgt>
                                        </p:tgtEl>
                                        <p:attrNameLst>
                                          <p:attrName>style.visibility</p:attrName>
                                        </p:attrNameLst>
                                      </p:cBhvr>
                                      <p:to>
                                        <p:strVal val="visible"/>
                                      </p:to>
                                    </p:set>
                                    <p:animEffect transition="in" filter="diamond(in)">
                                      <p:cBhvr>
                                        <p:cTn id="23" dur="2000"/>
                                        <p:tgtEl>
                                          <p:spTgt spid="24579">
                                            <p:txEl>
                                              <p:charRg st="128" end="20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4579">
                                            <p:txEl>
                                              <p:charRg st="200" end="205"/>
                                            </p:txEl>
                                          </p:spTgt>
                                        </p:tgtEl>
                                        <p:attrNameLst>
                                          <p:attrName>style.visibility</p:attrName>
                                        </p:attrNameLst>
                                      </p:cBhvr>
                                      <p:to>
                                        <p:strVal val="visible"/>
                                      </p:to>
                                    </p:set>
                                    <p:animEffect transition="in" filter="blinds(horizontal)">
                                      <p:cBhvr>
                                        <p:cTn id="28" dur="500"/>
                                        <p:tgtEl>
                                          <p:spTgt spid="24579">
                                            <p:txEl>
                                              <p:charRg st="200" end="205"/>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24579">
                                            <p:txEl>
                                              <p:charRg st="205" end="232"/>
                                            </p:txEl>
                                          </p:spTgt>
                                        </p:tgtEl>
                                        <p:attrNameLst>
                                          <p:attrName>style.visibility</p:attrName>
                                        </p:attrNameLst>
                                      </p:cBhvr>
                                      <p:to>
                                        <p:strVal val="visible"/>
                                      </p:to>
                                    </p:set>
                                    <p:animEffect transition="in" filter="blinds(horizontal)">
                                      <p:cBhvr>
                                        <p:cTn id="31" dur="500"/>
                                        <p:tgtEl>
                                          <p:spTgt spid="24579">
                                            <p:txEl>
                                              <p:charRg st="205" end="2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zh-CN" sz="4000" b="1" dirty="0">
                <a:ea typeface="楷体_GB2312" pitchFamily="49" charset="-122"/>
              </a:rPr>
              <a:t>铸件的凝固</a:t>
            </a:r>
            <a:endParaRPr lang="zh-CN" altLang="zh-CN" sz="4000" b="1" dirty="0">
              <a:ea typeface="楷体_GB2312" pitchFamily="49" charset="-122"/>
            </a:endParaRPr>
          </a:p>
        </p:txBody>
      </p:sp>
      <p:sp>
        <p:nvSpPr>
          <p:cNvPr id="25603" name="Rectangle 3"/>
          <p:cNvSpPr>
            <a:spLocks noGrp="1"/>
          </p:cNvSpPr>
          <p:nvPr>
            <p:ph type="body" sz="half"/>
          </p:nvPr>
        </p:nvSpPr>
        <p:spPr>
          <a:xfrm>
            <a:off x="971550" y="1555750"/>
            <a:ext cx="7632700" cy="3960813"/>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r>
              <a:rPr lang="zh-CN" altLang="zh-CN" sz="2800" b="1" dirty="0">
                <a:solidFill>
                  <a:srgbClr val="FF3300"/>
                </a:solidFill>
                <a:latin typeface="楷体_GB2312" pitchFamily="49" charset="-122"/>
                <a:ea typeface="楷体_GB2312" pitchFamily="49" charset="-122"/>
              </a:rPr>
              <a:t>铸件的凝固方式</a:t>
            </a:r>
            <a:endParaRPr lang="zh-CN" altLang="zh-CN" sz="2800" b="1" dirty="0">
              <a:solidFill>
                <a:srgbClr val="FF3300"/>
              </a:solidFill>
              <a:latin typeface="楷体_GB2312" pitchFamily="49" charset="-122"/>
              <a:ea typeface="楷体_GB2312" pitchFamily="49" charset="-122"/>
            </a:endParaRPr>
          </a:p>
          <a:p>
            <a:pPr lvl="0" eaLnBrk="1" hangingPunct="1">
              <a:buNone/>
            </a:pPr>
            <a:r>
              <a:rPr lang="zh-CN" altLang="zh-CN" sz="2400" b="1" dirty="0">
                <a:solidFill>
                  <a:srgbClr val="FF0066"/>
                </a:solidFill>
                <a:latin typeface="楷体_GB2312" pitchFamily="49" charset="-122"/>
                <a:ea typeface="楷体_GB2312" pitchFamily="49" charset="-122"/>
              </a:rPr>
              <a:t>铸件质量与凝固方式密切相关</a:t>
            </a:r>
            <a:endParaRPr lang="zh-CN" altLang="zh-CN" sz="2400" b="1" dirty="0">
              <a:solidFill>
                <a:srgbClr val="FF0066"/>
              </a:solidFill>
              <a:latin typeface="楷体_GB2312" pitchFamily="49" charset="-122"/>
              <a:ea typeface="楷体_GB2312" pitchFamily="49" charset="-122"/>
            </a:endParaRPr>
          </a:p>
          <a:p>
            <a:pPr lvl="0" eaLnBrk="1" hangingPunct="1">
              <a:buNone/>
            </a:pPr>
            <a:r>
              <a:rPr lang="zh-CN" altLang="zh-CN" sz="2400" dirty="0">
                <a:latin typeface="楷体_GB2312" pitchFamily="49" charset="-122"/>
                <a:ea typeface="楷体_GB2312" pitchFamily="49" charset="-122"/>
              </a:rPr>
              <a:t>   </a:t>
            </a:r>
            <a:r>
              <a:rPr lang="zh-CN" altLang="zh-CN" sz="2400" b="1" dirty="0">
                <a:solidFill>
                  <a:srgbClr val="0000FF"/>
                </a:solidFill>
                <a:latin typeface="楷体_GB2312" pitchFamily="49" charset="-122"/>
                <a:ea typeface="楷体_GB2312" pitchFamily="49" charset="-122"/>
              </a:rPr>
              <a:t>☆ 逐层凝固，充型能力强，便于防止缩孔、缩松</a:t>
            </a:r>
            <a:endParaRPr lang="zh-CN" altLang="zh-CN" sz="2400" b="1" dirty="0">
              <a:solidFill>
                <a:srgbClr val="0000FF"/>
              </a:solidFill>
              <a:latin typeface="楷体_GB2312" pitchFamily="49" charset="-122"/>
              <a:ea typeface="楷体_GB2312" pitchFamily="49" charset="-122"/>
            </a:endParaRPr>
          </a:p>
          <a:p>
            <a:pPr lvl="0" eaLnBrk="1" hangingPunct="1">
              <a:buNone/>
            </a:pPr>
            <a:r>
              <a:rPr lang="zh-CN" altLang="zh-CN" sz="2400" b="1" dirty="0">
                <a:solidFill>
                  <a:srgbClr val="0000FF"/>
                </a:solidFill>
                <a:latin typeface="楷体_GB2312" pitchFamily="49" charset="-122"/>
                <a:ea typeface="楷体_GB2312" pitchFamily="49" charset="-122"/>
              </a:rPr>
              <a:t>                灰铸铁和铝硅合金等倾向于逐层凝固</a:t>
            </a:r>
            <a:endParaRPr lang="zh-CN" altLang="zh-CN" sz="2400" b="1" dirty="0">
              <a:solidFill>
                <a:srgbClr val="0000FF"/>
              </a:solidFill>
              <a:latin typeface="楷体_GB2312" pitchFamily="49" charset="-122"/>
              <a:ea typeface="楷体_GB2312" pitchFamily="49" charset="-122"/>
            </a:endParaRPr>
          </a:p>
          <a:p>
            <a:pPr lvl="0" eaLnBrk="1" hangingPunct="1">
              <a:buNone/>
            </a:pPr>
            <a:r>
              <a:rPr lang="zh-CN" altLang="zh-CN" sz="2400" b="1" dirty="0">
                <a:solidFill>
                  <a:srgbClr val="0066FF"/>
                </a:solidFill>
                <a:latin typeface="楷体_GB2312" pitchFamily="49" charset="-122"/>
                <a:ea typeface="楷体_GB2312" pitchFamily="49" charset="-122"/>
              </a:rPr>
              <a:t>   </a:t>
            </a:r>
            <a:r>
              <a:rPr lang="zh-CN" altLang="zh-CN" sz="2400" b="1" dirty="0">
                <a:solidFill>
                  <a:srgbClr val="009900"/>
                </a:solidFill>
                <a:latin typeface="楷体_GB2312" pitchFamily="49" charset="-122"/>
                <a:ea typeface="楷体_GB2312" pitchFamily="49" charset="-122"/>
              </a:rPr>
              <a:t>☆ 糊状凝固，难以获得结晶紧实的铸件</a:t>
            </a:r>
            <a:r>
              <a:rPr lang="zh-CN" altLang="en-US" sz="2400" b="1" dirty="0">
                <a:solidFill>
                  <a:srgbClr val="009900"/>
                </a:solidFill>
                <a:latin typeface="楷体_GB2312" pitchFamily="49" charset="-122"/>
                <a:ea typeface="楷体_GB2312" pitchFamily="49" charset="-122"/>
              </a:rPr>
              <a:t>，缩松（补液不充足）</a:t>
            </a:r>
            <a:endParaRPr lang="zh-CN" altLang="zh-CN" sz="2400" b="1" dirty="0">
              <a:solidFill>
                <a:srgbClr val="009900"/>
              </a:solidFill>
              <a:latin typeface="楷体_GB2312" pitchFamily="49" charset="-122"/>
              <a:ea typeface="楷体_GB2312" pitchFamily="49" charset="-122"/>
            </a:endParaRPr>
          </a:p>
          <a:p>
            <a:pPr lvl="0" eaLnBrk="1" hangingPunct="1">
              <a:buNone/>
            </a:pPr>
            <a:r>
              <a:rPr lang="zh-CN" altLang="zh-CN" sz="2400" b="1" dirty="0">
                <a:solidFill>
                  <a:srgbClr val="009900"/>
                </a:solidFill>
                <a:latin typeface="楷体_GB2312" pitchFamily="49" charset="-122"/>
                <a:ea typeface="楷体_GB2312" pitchFamily="49" charset="-122"/>
              </a:rPr>
              <a:t>                球墨铸铁、锡青铜、铝铜合金等倾向   </a:t>
            </a:r>
            <a:endParaRPr lang="zh-CN" altLang="zh-CN" sz="2400" b="1" dirty="0">
              <a:solidFill>
                <a:srgbClr val="009900"/>
              </a:solidFill>
              <a:latin typeface="楷体_GB2312" pitchFamily="49" charset="-122"/>
              <a:ea typeface="楷体_GB2312" pitchFamily="49" charset="-122"/>
            </a:endParaRPr>
          </a:p>
          <a:p>
            <a:pPr lvl="0" eaLnBrk="1" hangingPunct="1">
              <a:buNone/>
            </a:pPr>
            <a:r>
              <a:rPr lang="zh-CN" altLang="zh-CN" sz="2400" b="1" dirty="0">
                <a:solidFill>
                  <a:srgbClr val="009900"/>
                </a:solidFill>
                <a:latin typeface="楷体_GB2312" pitchFamily="49" charset="-122"/>
                <a:ea typeface="楷体_GB2312" pitchFamily="49" charset="-122"/>
              </a:rPr>
              <a:t>                于糊状凝固</a:t>
            </a:r>
            <a:endParaRPr lang="zh-CN" altLang="zh-CN" sz="2400" b="1" dirty="0">
              <a:solidFill>
                <a:srgbClr val="0099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5603">
                                            <p:txEl>
                                              <p:charRg st="22" end="48"/>
                                            </p:txEl>
                                          </p:spTgt>
                                        </p:tgtEl>
                                        <p:attrNameLst>
                                          <p:attrName>style.visibility</p:attrName>
                                        </p:attrNameLst>
                                      </p:cBhvr>
                                      <p:to>
                                        <p:strVal val="visible"/>
                                      </p:to>
                                    </p:set>
                                    <p:animEffect transition="in" filter="box(in)">
                                      <p:cBhvr>
                                        <p:cTn id="7" dur="500"/>
                                        <p:tgtEl>
                                          <p:spTgt spid="25603">
                                            <p:txEl>
                                              <p:charRg st="22" end="48"/>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5603">
                                            <p:txEl>
                                              <p:charRg st="48" end="81"/>
                                            </p:txEl>
                                          </p:spTgt>
                                        </p:tgtEl>
                                        <p:attrNameLst>
                                          <p:attrName>style.visibility</p:attrName>
                                        </p:attrNameLst>
                                      </p:cBhvr>
                                      <p:to>
                                        <p:strVal val="visible"/>
                                      </p:to>
                                    </p:set>
                                    <p:animEffect transition="in" filter="box(in)">
                                      <p:cBhvr>
                                        <p:cTn id="10" dur="500"/>
                                        <p:tgtEl>
                                          <p:spTgt spid="25603">
                                            <p:txEl>
                                              <p:charRg st="48" end="8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25603">
                                            <p:txEl>
                                              <p:charRg st="81" end="113"/>
                                            </p:txEl>
                                          </p:spTgt>
                                        </p:tgtEl>
                                        <p:attrNameLst>
                                          <p:attrName>style.visibility</p:attrName>
                                        </p:attrNameLst>
                                      </p:cBhvr>
                                      <p:to>
                                        <p:strVal val="visible"/>
                                      </p:to>
                                    </p:set>
                                    <p:animEffect transition="in" filter="box(in)">
                                      <p:cBhvr>
                                        <p:cTn id="15" dur="500"/>
                                        <p:tgtEl>
                                          <p:spTgt spid="25603">
                                            <p:txEl>
                                              <p:charRg st="81" end="113"/>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25603">
                                            <p:txEl>
                                              <p:charRg st="113" end="149"/>
                                            </p:txEl>
                                          </p:spTgt>
                                        </p:tgtEl>
                                        <p:attrNameLst>
                                          <p:attrName>style.visibility</p:attrName>
                                        </p:attrNameLst>
                                      </p:cBhvr>
                                      <p:to>
                                        <p:strVal val="visible"/>
                                      </p:to>
                                    </p:set>
                                    <p:animEffect transition="in" filter="box(in)">
                                      <p:cBhvr>
                                        <p:cTn id="18" dur="500"/>
                                        <p:tgtEl>
                                          <p:spTgt spid="25603">
                                            <p:txEl>
                                              <p:charRg st="113" end="149"/>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25603">
                                            <p:txEl>
                                              <p:charRg st="149" end="171"/>
                                            </p:txEl>
                                          </p:spTgt>
                                        </p:tgtEl>
                                        <p:attrNameLst>
                                          <p:attrName>style.visibility</p:attrName>
                                        </p:attrNameLst>
                                      </p:cBhvr>
                                      <p:to>
                                        <p:strVal val="visible"/>
                                      </p:to>
                                    </p:set>
                                    <p:animEffect transition="in" filter="box(in)">
                                      <p:cBhvr>
                                        <p:cTn id="21" dur="500"/>
                                        <p:tgtEl>
                                          <p:spTgt spid="25603">
                                            <p:txEl>
                                              <p:charRg st="149" end="17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3010" name="Picture 2"/>
          <p:cNvPicPr>
            <a:picLocks noChangeAspect="1"/>
          </p:cNvPicPr>
          <p:nvPr/>
        </p:nvPicPr>
        <p:blipFill>
          <a:blip r:embed="rId1"/>
          <a:stretch>
            <a:fillRect/>
          </a:stretch>
        </p:blipFill>
        <p:spPr>
          <a:xfrm>
            <a:off x="1714500" y="1733550"/>
            <a:ext cx="6153150" cy="5124450"/>
          </a:xfrm>
          <a:prstGeom prst="rect">
            <a:avLst/>
          </a:prstGeom>
          <a:noFill/>
          <a:ln w="9525">
            <a:noFill/>
          </a:ln>
        </p:spPr>
      </p:pic>
      <p:sp>
        <p:nvSpPr>
          <p:cNvPr id="3" name="Rectangle 2"/>
          <p:cNvSpPr txBox="1">
            <a:spLocks noChangeArrowheads="1"/>
          </p:cNvSpPr>
          <p:nvPr/>
        </p:nvSpPr>
        <p:spPr bwMode="auto">
          <a:xfrm>
            <a:off x="457200" y="201613"/>
            <a:ext cx="8229600" cy="1139825"/>
          </a:xfrm>
          <a:prstGeom prst="rect">
            <a:avLst/>
          </a:prstGeom>
          <a:noFill/>
          <a:ln w="9525">
            <a:noFill/>
            <a:miter lim="800000"/>
          </a:ln>
        </p:spPr>
        <p:txBody>
          <a:bodyPr anchor="b"/>
          <a:lstStyle/>
          <a:p>
            <a:pPr marR="0" algn="ctr" defTabSz="914400" eaLnBrk="1" hangingPunct="1">
              <a:buClrTx/>
              <a:buSzTx/>
              <a:buFontTx/>
              <a:buNone/>
              <a:defRPr/>
            </a:pPr>
            <a:r>
              <a:rPr kumimoji="0" lang="zh-CN" altLang="zh-CN" sz="4000" b="1" kern="1200" cap="none" spc="0" normalizeH="0" baseline="0" noProof="0" dirty="0">
                <a:solidFill>
                  <a:schemeClr val="tx2"/>
                </a:solidFill>
                <a:latin typeface="+mj-lt"/>
                <a:ea typeface="楷体_GB2312" pitchFamily="49" charset="-122"/>
                <a:cs typeface="+mj-cs"/>
              </a:rPr>
              <a:t>铸件凝固</a:t>
            </a:r>
            <a:r>
              <a:rPr kumimoji="0" lang="zh-CN" altLang="en-US" sz="4000" b="1" kern="1200" cap="none" spc="0" normalizeH="0" baseline="0" noProof="0" dirty="0">
                <a:solidFill>
                  <a:schemeClr val="tx2"/>
                </a:solidFill>
                <a:latin typeface="+mj-lt"/>
                <a:ea typeface="楷体_GB2312" pitchFamily="49" charset="-122"/>
                <a:cs typeface="+mj-cs"/>
              </a:rPr>
              <a:t>过程中液态金属的补充 </a:t>
            </a:r>
            <a:endParaRPr kumimoji="0" lang="zh-CN" altLang="zh-CN" sz="4000" b="1" kern="1200" cap="none" spc="0" normalizeH="0" baseline="0" noProof="0" dirty="0">
              <a:solidFill>
                <a:schemeClr val="tx2"/>
              </a:solidFill>
              <a:latin typeface="+mj-lt"/>
              <a:ea typeface="楷体_GB2312" pitchFamily="49" charset="-122"/>
              <a:cs typeface="+mj-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xfrm>
            <a:off x="457200" y="273050"/>
            <a:ext cx="8229600" cy="1139825"/>
          </a:xfrm>
        </p:spPr>
        <p:txBody>
          <a:bodyPr vert="horz" wrap="square" lIns="91440" tIns="45720" rIns="91440" bIns="45720" anchor="b" anchorCtr="0"/>
          <a:p>
            <a:pPr algn="ctr" eaLnBrk="1" hangingPunct="1"/>
            <a:r>
              <a:rPr lang="zh-CN" altLang="zh-CN" sz="4000" b="1" dirty="0">
                <a:ea typeface="楷体_GB2312" pitchFamily="49" charset="-122"/>
              </a:rPr>
              <a:t>铸件的收缩</a:t>
            </a:r>
            <a:endParaRPr lang="zh-CN" altLang="zh-CN" sz="4000" b="1" dirty="0">
              <a:ea typeface="楷体_GB2312" pitchFamily="49" charset="-122"/>
            </a:endParaRPr>
          </a:p>
        </p:txBody>
      </p:sp>
      <p:sp>
        <p:nvSpPr>
          <p:cNvPr id="26627" name="Rectangle 3"/>
          <p:cNvSpPr>
            <a:spLocks noGrp="1"/>
          </p:cNvSpPr>
          <p:nvPr>
            <p:ph type="body"/>
          </p:nvPr>
        </p:nvSpPr>
        <p:spPr>
          <a:xfrm>
            <a:off x="755650" y="1700213"/>
            <a:ext cx="7920038" cy="4467225"/>
          </a:xfrm>
        </p:spPr>
        <p:txBody>
          <a:bodyPr vert="horz" wrap="square" lIns="91440" tIns="45720" rIns="91440" bIns="45720" anchor="t" anchorCtr="0"/>
          <a:p>
            <a:pPr eaLnBrk="1" hangingPunct="1">
              <a:lnSpc>
                <a:spcPct val="80000"/>
              </a:lnSpc>
              <a:buClr>
                <a:srgbClr val="CC3300"/>
              </a:buClr>
            </a:pPr>
            <a:r>
              <a:rPr lang="zh-CN" altLang="en-US" sz="2400" b="1" dirty="0">
                <a:solidFill>
                  <a:srgbClr val="FF3300"/>
                </a:solidFill>
                <a:latin typeface="楷体_GB2312" pitchFamily="49" charset="-122"/>
                <a:ea typeface="楷体_GB2312" pitchFamily="49" charset="-122"/>
              </a:rPr>
              <a:t>铸造合金的收缩</a:t>
            </a:r>
            <a:endParaRPr lang="zh-CN" altLang="en-US" sz="2400" b="1" dirty="0">
              <a:solidFill>
                <a:srgbClr val="009900"/>
              </a:solidFill>
              <a:latin typeface="楷体_GB2312" pitchFamily="49" charset="-122"/>
              <a:ea typeface="楷体_GB2312" pitchFamily="49" charset="-122"/>
            </a:endParaRPr>
          </a:p>
          <a:p>
            <a:pPr eaLnBrk="1" hangingPunct="1">
              <a:lnSpc>
                <a:spcPct val="80000"/>
              </a:lnSpc>
              <a:buNone/>
            </a:pPr>
            <a:r>
              <a:rPr lang="zh-CN" altLang="en-US" sz="2500" b="1" dirty="0">
                <a:latin typeface="楷体_GB2312" pitchFamily="49" charset="-122"/>
                <a:ea typeface="楷体_GB2312" pitchFamily="49" charset="-122"/>
              </a:rPr>
              <a:t>  </a:t>
            </a:r>
            <a:r>
              <a:rPr lang="en-US" altLang="zh-CN" sz="16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合金从浇注、凝固直至冷却到室温，其体积或尺寸缩减的现象，称收缩。是多种</a:t>
            </a:r>
            <a:r>
              <a:rPr lang="zh-CN" altLang="en-US" sz="1800" b="1" dirty="0">
                <a:latin typeface="楷体_GB2312" pitchFamily="49" charset="-122"/>
                <a:ea typeface="楷体_GB2312" pitchFamily="49" charset="-122"/>
              </a:rPr>
              <a:t>铸造缺陷的根源，如缩孔、缩松、裂纹、变形和残余应力等。</a:t>
            </a:r>
            <a:endParaRPr lang="zh-CN" altLang="en-US" sz="1800" b="1" dirty="0">
              <a:latin typeface="楷体_GB2312" pitchFamily="49" charset="-122"/>
              <a:ea typeface="楷体_GB2312" pitchFamily="49" charset="-122"/>
            </a:endParaRPr>
          </a:p>
          <a:p>
            <a:pPr eaLnBrk="1" hangingPunct="1">
              <a:lnSpc>
                <a:spcPct val="80000"/>
              </a:lnSpc>
            </a:pPr>
            <a:r>
              <a:rPr lang="zh-CN" altLang="en-US" sz="2400" b="1" dirty="0">
                <a:solidFill>
                  <a:srgbClr val="990033"/>
                </a:solidFill>
                <a:latin typeface="楷体_GB2312" pitchFamily="49" charset="-122"/>
                <a:ea typeface="楷体_GB2312" pitchFamily="49" charset="-122"/>
              </a:rPr>
              <a:t>收缩的三个阶段</a:t>
            </a:r>
            <a:endParaRPr lang="zh-CN" altLang="en-US" sz="2400" b="1" dirty="0">
              <a:solidFill>
                <a:srgbClr val="990033"/>
              </a:solidFill>
              <a:latin typeface="楷体_GB2312" pitchFamily="49" charset="-122"/>
              <a:ea typeface="楷体_GB2312" pitchFamily="49" charset="-122"/>
            </a:endParaRPr>
          </a:p>
          <a:p>
            <a:pPr eaLnBrk="1" hangingPunct="1">
              <a:lnSpc>
                <a:spcPct val="80000"/>
              </a:lnSpc>
              <a:buNone/>
            </a:pPr>
            <a:r>
              <a:rPr lang="zh-CN" altLang="en-US" sz="2500" b="1" dirty="0">
                <a:latin typeface="楷体_GB2312" pitchFamily="49" charset="-122"/>
                <a:ea typeface="楷体_GB2312" pitchFamily="49" charset="-122"/>
              </a:rPr>
              <a:t>   </a:t>
            </a:r>
            <a:r>
              <a:rPr lang="en-US" altLang="zh-CN" sz="2000" b="1" dirty="0">
                <a:solidFill>
                  <a:srgbClr val="009900"/>
                </a:solidFill>
                <a:latin typeface="楷体_GB2312" pitchFamily="49" charset="-122"/>
                <a:ea typeface="楷体_GB2312" pitchFamily="49" charset="-122"/>
              </a:rPr>
              <a:t>(1)</a:t>
            </a:r>
            <a:r>
              <a:rPr lang="zh-CN" altLang="en-US" sz="2000" b="1" dirty="0">
                <a:solidFill>
                  <a:srgbClr val="009900"/>
                </a:solidFill>
                <a:latin typeface="楷体_GB2312" pitchFamily="49" charset="-122"/>
                <a:ea typeface="楷体_GB2312" pitchFamily="49" charset="-122"/>
              </a:rPr>
              <a:t>液态收缩</a:t>
            </a:r>
            <a:r>
              <a:rPr lang="zh-CN" altLang="en-US" sz="2000" b="1" dirty="0">
                <a:latin typeface="楷体_GB2312" pitchFamily="49" charset="-122"/>
                <a:ea typeface="楷体_GB2312" pitchFamily="49" charset="-122"/>
              </a:rPr>
              <a:t>  </a:t>
            </a:r>
            <a:r>
              <a:rPr lang="zh-CN" altLang="en-US" sz="2000" b="1" dirty="0">
                <a:solidFill>
                  <a:srgbClr val="0000FF"/>
                </a:solidFill>
                <a:latin typeface="楷体_GB2312" pitchFamily="49" charset="-122"/>
                <a:ea typeface="楷体_GB2312" pitchFamily="49" charset="-122"/>
              </a:rPr>
              <a:t>从浇注温度到凝固开始温度间的收缩。表现为型</a:t>
            </a:r>
            <a:endParaRPr lang="en-US" altLang="zh-CN" sz="2000" b="1" dirty="0">
              <a:solidFill>
                <a:srgbClr val="0000FF"/>
              </a:solidFill>
              <a:latin typeface="楷体_GB2312" pitchFamily="49" charset="-122"/>
              <a:ea typeface="楷体_GB2312" pitchFamily="49" charset="-122"/>
            </a:endParaRPr>
          </a:p>
          <a:p>
            <a:pPr eaLnBrk="1" hangingPunct="1">
              <a:lnSpc>
                <a:spcPct val="80000"/>
              </a:lnSpc>
              <a:buNone/>
            </a:pPr>
            <a:r>
              <a:rPr lang="en-US" altLang="zh-CN" sz="2000" b="1" dirty="0">
                <a:solidFill>
                  <a:srgbClr val="0000FF"/>
                </a:solidFill>
                <a:latin typeface="楷体_GB2312" pitchFamily="49" charset="-122"/>
                <a:ea typeface="楷体_GB2312" pitchFamily="49" charset="-122"/>
              </a:rPr>
              <a:t>    </a:t>
            </a:r>
            <a:r>
              <a:rPr lang="zh-CN" altLang="en-US" sz="2000" b="1" dirty="0">
                <a:solidFill>
                  <a:srgbClr val="0000FF"/>
                </a:solidFill>
                <a:latin typeface="楷体_GB2312" pitchFamily="49" charset="-122"/>
                <a:ea typeface="楷体_GB2312" pitchFamily="49" charset="-122"/>
              </a:rPr>
              <a:t>腔内液面的降低</a:t>
            </a:r>
            <a:r>
              <a:rPr lang="en-US" altLang="zh-CN" sz="2000" b="1" dirty="0">
                <a:solidFill>
                  <a:srgbClr val="FF0066"/>
                </a:solidFill>
                <a:latin typeface="楷体_GB2312" pitchFamily="49" charset="-122"/>
                <a:ea typeface="楷体_GB2312" pitchFamily="49" charset="-122"/>
              </a:rPr>
              <a:t>(</a:t>
            </a:r>
            <a:r>
              <a:rPr lang="zh-CN" altLang="en-US" sz="2000" b="1" dirty="0">
                <a:solidFill>
                  <a:srgbClr val="FF0066"/>
                </a:solidFill>
                <a:latin typeface="楷体_GB2312" pitchFamily="49" charset="-122"/>
                <a:ea typeface="楷体_GB2312" pitchFamily="49" charset="-122"/>
              </a:rPr>
              <a:t>体积收缩</a:t>
            </a:r>
            <a:r>
              <a:rPr lang="en-US" altLang="zh-CN" sz="2000" b="1" dirty="0">
                <a:solidFill>
                  <a:srgbClr val="FF0066"/>
                </a:solidFill>
                <a:latin typeface="楷体_GB2312" pitchFamily="49" charset="-122"/>
                <a:ea typeface="楷体_GB2312" pitchFamily="49" charset="-122"/>
              </a:rPr>
              <a:t>)</a:t>
            </a:r>
            <a:r>
              <a:rPr lang="zh-CN" altLang="en-US" sz="2000" b="1" dirty="0">
                <a:solidFill>
                  <a:srgbClr val="0000FF"/>
                </a:solidFill>
                <a:latin typeface="楷体_GB2312" pitchFamily="49" charset="-122"/>
                <a:ea typeface="楷体_GB2312" pitchFamily="49" charset="-122"/>
              </a:rPr>
              <a:t>。</a:t>
            </a:r>
            <a:endParaRPr lang="zh-CN" altLang="en-US" sz="2000" b="1" dirty="0">
              <a:solidFill>
                <a:srgbClr val="0000FF"/>
              </a:solidFill>
              <a:latin typeface="楷体_GB2312" pitchFamily="49" charset="-122"/>
              <a:ea typeface="楷体_GB2312" pitchFamily="49" charset="-122"/>
            </a:endParaRPr>
          </a:p>
          <a:p>
            <a:pPr lvl="3" eaLnBrk="1" hangingPunct="1">
              <a:lnSpc>
                <a:spcPct val="80000"/>
              </a:lnSpc>
              <a:buNone/>
            </a:pPr>
            <a:endParaRPr lang="zh-CN" altLang="en-US" sz="2000" b="1" dirty="0">
              <a:solidFill>
                <a:srgbClr val="0000FF"/>
              </a:solidFill>
              <a:latin typeface="楷体_GB2312" pitchFamily="49" charset="-122"/>
              <a:ea typeface="楷体_GB2312" pitchFamily="49" charset="-122"/>
            </a:endParaRPr>
          </a:p>
          <a:p>
            <a:pPr eaLnBrk="1" hangingPunct="1">
              <a:lnSpc>
                <a:spcPct val="80000"/>
              </a:lnSpc>
              <a:buNone/>
            </a:pPr>
            <a:r>
              <a:rPr lang="zh-CN" altLang="en-US" sz="2000" b="1" dirty="0">
                <a:latin typeface="楷体_GB2312" pitchFamily="49" charset="-122"/>
                <a:ea typeface="楷体_GB2312" pitchFamily="49" charset="-122"/>
              </a:rPr>
              <a:t>    </a:t>
            </a:r>
            <a:r>
              <a:rPr lang="en-US" altLang="zh-CN" sz="2000" b="1" dirty="0">
                <a:solidFill>
                  <a:srgbClr val="009900"/>
                </a:solidFill>
                <a:latin typeface="楷体_GB2312" pitchFamily="49" charset="-122"/>
                <a:ea typeface="楷体_GB2312" pitchFamily="49" charset="-122"/>
              </a:rPr>
              <a:t>(2)</a:t>
            </a:r>
            <a:r>
              <a:rPr lang="zh-CN" altLang="en-US" sz="2000" b="1" dirty="0">
                <a:solidFill>
                  <a:srgbClr val="009900"/>
                </a:solidFill>
                <a:latin typeface="楷体_GB2312" pitchFamily="49" charset="-122"/>
                <a:ea typeface="楷体_GB2312" pitchFamily="49" charset="-122"/>
              </a:rPr>
              <a:t>凝固收缩</a:t>
            </a:r>
            <a:r>
              <a:rPr lang="zh-CN" altLang="en-US" sz="2000" b="1" dirty="0">
                <a:latin typeface="楷体_GB2312" pitchFamily="49" charset="-122"/>
                <a:ea typeface="楷体_GB2312" pitchFamily="49" charset="-122"/>
              </a:rPr>
              <a:t>  </a:t>
            </a:r>
            <a:r>
              <a:rPr lang="zh-CN" altLang="en-US" sz="2000" b="1" dirty="0">
                <a:solidFill>
                  <a:srgbClr val="0000FF"/>
                </a:solidFill>
                <a:latin typeface="楷体_GB2312" pitchFamily="49" charset="-122"/>
                <a:ea typeface="楷体_GB2312" pitchFamily="49" charset="-122"/>
              </a:rPr>
              <a:t>从凝固开始温度到凝固终止温度间的收缩。表现</a:t>
            </a:r>
            <a:endParaRPr lang="zh-CN" altLang="en-US" sz="2000" b="1" dirty="0">
              <a:solidFill>
                <a:srgbClr val="0000FF"/>
              </a:solidFill>
              <a:latin typeface="楷体_GB2312" pitchFamily="49" charset="-122"/>
              <a:ea typeface="楷体_GB2312" pitchFamily="49" charset="-122"/>
            </a:endParaRPr>
          </a:p>
          <a:p>
            <a:pPr eaLnBrk="1" hangingPunct="1">
              <a:lnSpc>
                <a:spcPct val="80000"/>
              </a:lnSpc>
              <a:buNone/>
            </a:pPr>
            <a:r>
              <a:rPr lang="zh-CN" altLang="en-US" sz="2000" b="1" dirty="0">
                <a:solidFill>
                  <a:srgbClr val="0000FF"/>
                </a:solidFill>
                <a:latin typeface="楷体_GB2312" pitchFamily="49" charset="-122"/>
                <a:ea typeface="楷体_GB2312" pitchFamily="49" charset="-122"/>
              </a:rPr>
              <a:t>    为型腔内液面的降低</a:t>
            </a:r>
            <a:r>
              <a:rPr lang="en-US" altLang="zh-CN" sz="2000" b="1" dirty="0">
                <a:solidFill>
                  <a:srgbClr val="FF0066"/>
                </a:solidFill>
                <a:latin typeface="楷体_GB2312" pitchFamily="49" charset="-122"/>
                <a:ea typeface="楷体_GB2312" pitchFamily="49" charset="-122"/>
              </a:rPr>
              <a:t>(</a:t>
            </a:r>
            <a:r>
              <a:rPr lang="zh-CN" altLang="en-US" sz="2000" b="1" dirty="0">
                <a:solidFill>
                  <a:srgbClr val="FF0066"/>
                </a:solidFill>
                <a:latin typeface="楷体_GB2312" pitchFamily="49" charset="-122"/>
                <a:ea typeface="楷体_GB2312" pitchFamily="49" charset="-122"/>
              </a:rPr>
              <a:t>体积收缩</a:t>
            </a:r>
            <a:r>
              <a:rPr lang="en-US" altLang="zh-CN" sz="2000" b="1" dirty="0">
                <a:solidFill>
                  <a:srgbClr val="FF0066"/>
                </a:solidFill>
                <a:latin typeface="楷体_GB2312" pitchFamily="49" charset="-122"/>
                <a:ea typeface="楷体_GB2312" pitchFamily="49" charset="-122"/>
              </a:rPr>
              <a:t>)</a:t>
            </a:r>
            <a:r>
              <a:rPr lang="zh-CN" altLang="en-US" sz="2000" b="1" dirty="0">
                <a:solidFill>
                  <a:srgbClr val="0000FF"/>
                </a:solidFill>
                <a:latin typeface="楷体_GB2312" pitchFamily="49" charset="-122"/>
                <a:ea typeface="楷体_GB2312" pitchFamily="49" charset="-122"/>
              </a:rPr>
              <a:t>，是缩松</a:t>
            </a:r>
            <a:r>
              <a:rPr lang="en-US" altLang="zh-CN" sz="2000" b="1" dirty="0">
                <a:solidFill>
                  <a:srgbClr val="0000FF"/>
                </a:solidFill>
                <a:latin typeface="楷体_GB2312" pitchFamily="49" charset="-122"/>
                <a:ea typeface="楷体_GB2312" pitchFamily="49" charset="-122"/>
              </a:rPr>
              <a:t>(</a:t>
            </a:r>
            <a:r>
              <a:rPr lang="zh-CN" altLang="en-US" sz="2000" b="1" dirty="0">
                <a:solidFill>
                  <a:srgbClr val="0000FF"/>
                </a:solidFill>
                <a:latin typeface="楷体_GB2312" pitchFamily="49" charset="-122"/>
                <a:ea typeface="楷体_GB2312" pitchFamily="49" charset="-122"/>
              </a:rPr>
              <a:t>孔</a:t>
            </a:r>
            <a:r>
              <a:rPr lang="en-US" altLang="zh-CN" sz="2000" b="1" dirty="0">
                <a:solidFill>
                  <a:srgbClr val="0000FF"/>
                </a:solidFill>
                <a:latin typeface="楷体_GB2312" pitchFamily="49" charset="-122"/>
                <a:ea typeface="楷体_GB2312" pitchFamily="49" charset="-122"/>
              </a:rPr>
              <a:t>)</a:t>
            </a:r>
            <a:r>
              <a:rPr lang="zh-CN" altLang="en-US" sz="2000" b="1" dirty="0">
                <a:solidFill>
                  <a:srgbClr val="0000FF"/>
                </a:solidFill>
                <a:latin typeface="楷体_GB2312" pitchFamily="49" charset="-122"/>
                <a:ea typeface="楷体_GB2312" pitchFamily="49" charset="-122"/>
              </a:rPr>
              <a:t>的基本原因。</a:t>
            </a:r>
            <a:endParaRPr lang="zh-CN" altLang="en-US" sz="2000" b="1" dirty="0">
              <a:solidFill>
                <a:srgbClr val="0000FF"/>
              </a:solidFill>
              <a:latin typeface="楷体_GB2312" pitchFamily="49" charset="-122"/>
              <a:ea typeface="楷体_GB2312" pitchFamily="49" charset="-122"/>
            </a:endParaRPr>
          </a:p>
          <a:p>
            <a:pPr eaLnBrk="1" hangingPunct="1">
              <a:lnSpc>
                <a:spcPct val="80000"/>
              </a:lnSpc>
              <a:buNone/>
            </a:pPr>
            <a:endParaRPr lang="zh-CN" altLang="en-US" sz="2000" b="1" dirty="0">
              <a:solidFill>
                <a:schemeClr val="tx2"/>
              </a:solidFill>
              <a:latin typeface="楷体_GB2312" pitchFamily="49" charset="-122"/>
              <a:ea typeface="楷体_GB2312" pitchFamily="49" charset="-122"/>
            </a:endParaRPr>
          </a:p>
          <a:p>
            <a:pPr eaLnBrk="1" hangingPunct="1">
              <a:lnSpc>
                <a:spcPct val="80000"/>
              </a:lnSpc>
              <a:buNone/>
            </a:pPr>
            <a:r>
              <a:rPr lang="zh-CN" altLang="en-US" sz="2000" b="1" dirty="0">
                <a:latin typeface="楷体_GB2312" pitchFamily="49" charset="-122"/>
                <a:ea typeface="楷体_GB2312" pitchFamily="49" charset="-122"/>
              </a:rPr>
              <a:t>    </a:t>
            </a:r>
            <a:r>
              <a:rPr lang="en-US" altLang="zh-CN" sz="2000" b="1" dirty="0">
                <a:solidFill>
                  <a:srgbClr val="009900"/>
                </a:solidFill>
                <a:latin typeface="楷体_GB2312" pitchFamily="49" charset="-122"/>
                <a:ea typeface="楷体_GB2312" pitchFamily="49" charset="-122"/>
              </a:rPr>
              <a:t>(3)</a:t>
            </a:r>
            <a:r>
              <a:rPr lang="zh-CN" altLang="en-US" sz="2000" b="1" dirty="0">
                <a:solidFill>
                  <a:srgbClr val="009900"/>
                </a:solidFill>
                <a:latin typeface="楷体_GB2312" pitchFamily="49" charset="-122"/>
                <a:ea typeface="楷体_GB2312" pitchFamily="49" charset="-122"/>
              </a:rPr>
              <a:t>固态收缩</a:t>
            </a:r>
            <a:r>
              <a:rPr lang="zh-CN" altLang="en-US" sz="2000" b="1" dirty="0">
                <a:latin typeface="楷体_GB2312" pitchFamily="49" charset="-122"/>
                <a:ea typeface="楷体_GB2312" pitchFamily="49" charset="-122"/>
              </a:rPr>
              <a:t> </a:t>
            </a:r>
            <a:r>
              <a:rPr lang="zh-CN" altLang="en-US" sz="2000" b="1" dirty="0">
                <a:solidFill>
                  <a:srgbClr val="0000FF"/>
                </a:solidFill>
                <a:latin typeface="楷体_GB2312" pitchFamily="49" charset="-122"/>
                <a:ea typeface="楷体_GB2312" pitchFamily="49" charset="-122"/>
              </a:rPr>
              <a:t>从凝固终止温度到室温间的收缩。表现为三个方向</a:t>
            </a:r>
            <a:endParaRPr lang="zh-CN" altLang="en-US" sz="2000" b="1" dirty="0">
              <a:solidFill>
                <a:srgbClr val="0000FF"/>
              </a:solidFill>
              <a:latin typeface="楷体_GB2312" pitchFamily="49" charset="-122"/>
              <a:ea typeface="楷体_GB2312" pitchFamily="49" charset="-122"/>
            </a:endParaRPr>
          </a:p>
          <a:p>
            <a:pPr eaLnBrk="1" hangingPunct="1">
              <a:lnSpc>
                <a:spcPct val="80000"/>
              </a:lnSpc>
              <a:buNone/>
            </a:pPr>
            <a:r>
              <a:rPr lang="zh-CN" altLang="en-US" sz="2000" b="1" dirty="0">
                <a:solidFill>
                  <a:srgbClr val="0000FF"/>
                </a:solidFill>
                <a:latin typeface="楷体_GB2312" pitchFamily="49" charset="-122"/>
                <a:ea typeface="楷体_GB2312" pitchFamily="49" charset="-122"/>
              </a:rPr>
              <a:t>    线尺寸的缩小，即三个方向的</a:t>
            </a:r>
            <a:r>
              <a:rPr lang="zh-CN" altLang="en-US" sz="2000" b="1" dirty="0">
                <a:solidFill>
                  <a:srgbClr val="FF0066"/>
                </a:solidFill>
                <a:latin typeface="楷体_GB2312" pitchFamily="49" charset="-122"/>
                <a:ea typeface="楷体_GB2312" pitchFamily="49" charset="-122"/>
              </a:rPr>
              <a:t>线收缩</a:t>
            </a:r>
            <a:r>
              <a:rPr lang="zh-CN" altLang="en-US" sz="2000" b="1" dirty="0">
                <a:solidFill>
                  <a:srgbClr val="0000FF"/>
                </a:solidFill>
                <a:latin typeface="楷体_GB2312" pitchFamily="49" charset="-122"/>
                <a:ea typeface="楷体_GB2312" pitchFamily="49" charset="-122"/>
              </a:rPr>
              <a:t>，是铸造应力和变形、裂纹</a:t>
            </a:r>
            <a:endParaRPr lang="zh-CN" altLang="en-US" sz="2000" b="1" dirty="0">
              <a:solidFill>
                <a:srgbClr val="0000FF"/>
              </a:solidFill>
              <a:latin typeface="楷体_GB2312" pitchFamily="49" charset="-122"/>
              <a:ea typeface="楷体_GB2312" pitchFamily="49" charset="-122"/>
            </a:endParaRPr>
          </a:p>
          <a:p>
            <a:pPr eaLnBrk="1" hangingPunct="1">
              <a:lnSpc>
                <a:spcPct val="80000"/>
              </a:lnSpc>
              <a:buNone/>
            </a:pPr>
            <a:r>
              <a:rPr lang="zh-CN" altLang="en-US" sz="2000" b="1" dirty="0">
                <a:solidFill>
                  <a:srgbClr val="0000FF"/>
                </a:solidFill>
                <a:latin typeface="楷体_GB2312" pitchFamily="49" charset="-122"/>
                <a:ea typeface="楷体_GB2312" pitchFamily="49" charset="-122"/>
              </a:rPr>
              <a:t>    基本原因。</a:t>
            </a:r>
            <a:endParaRPr lang="zh-CN" altLang="en-US" sz="2000" b="1" dirty="0">
              <a:solidFill>
                <a:srgbClr val="0000FF"/>
              </a:solidFill>
              <a:latin typeface="楷体_GB2312" pitchFamily="49" charset="-122"/>
              <a:ea typeface="楷体_GB2312" pitchFamily="49" charset="-122"/>
            </a:endParaRPr>
          </a:p>
          <a:p>
            <a:pPr eaLnBrk="1" hangingPunct="1">
              <a:lnSpc>
                <a:spcPct val="80000"/>
              </a:lnSpc>
              <a:buNone/>
            </a:pPr>
            <a:endParaRPr lang="en-US" altLang="zh-CN" sz="2000" b="1" dirty="0">
              <a:solidFill>
                <a:schemeClr val="tx2"/>
              </a:solidFill>
              <a:latin typeface="楷体_GB2312" pitchFamily="49" charset="-122"/>
              <a:ea typeface="楷体_GB2312" pitchFamily="49" charset="-122"/>
            </a:endParaRPr>
          </a:p>
        </p:txBody>
      </p:sp>
      <p:sp>
        <p:nvSpPr>
          <p:cNvPr id="44036" name="AutoShape 1039"/>
          <p:cNvSpPr/>
          <p:nvPr/>
        </p:nvSpPr>
        <p:spPr>
          <a:xfrm>
            <a:off x="1006475" y="6281738"/>
            <a:ext cx="8137525" cy="576262"/>
          </a:xfrm>
          <a:prstGeom prst="wedgeRoundRectCallout">
            <a:avLst>
              <a:gd name="adj1" fmla="val -3958"/>
              <a:gd name="adj2" fmla="val -96833"/>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800" b="1" dirty="0">
                <a:solidFill>
                  <a:srgbClr val="0000FF"/>
                </a:solidFill>
              </a:rPr>
              <a:t>铸件的实际收缩率与其化学成分、浇注温度、铸件结构和铸型条件有关。</a:t>
            </a:r>
            <a:endParaRPr lang="zh-CN" altLang="en-US" sz="1800" b="1" dirty="0">
              <a:solidFill>
                <a:srgbClr val="0000FF"/>
              </a:solidFill>
            </a:endParaRPr>
          </a:p>
          <a:p>
            <a:pPr marL="0" lvl="0" indent="0" algn="ctr" eaLnBrk="1" hangingPunct="1">
              <a:spcBef>
                <a:spcPct val="0"/>
              </a:spcBef>
              <a:buClrTx/>
              <a:buSzTx/>
              <a:buNone/>
            </a:pPr>
            <a:endParaRPr lang="en-US" altLang="zh-CN"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26627">
                                            <p:txEl>
                                              <p:charRg st="8" end="74"/>
                                            </p:txEl>
                                          </p:spTgt>
                                        </p:tgtEl>
                                        <p:attrNameLst>
                                          <p:attrName>style.visibility</p:attrName>
                                        </p:attrNameLst>
                                      </p:cBhvr>
                                      <p:to>
                                        <p:strVal val="visible"/>
                                      </p:to>
                                    </p:set>
                                    <p:animEffect transition="in" filter="box(in)">
                                      <p:cBhvr>
                                        <p:cTn id="7" dur="500"/>
                                        <p:tgtEl>
                                          <p:spTgt spid="26627">
                                            <p:txEl>
                                              <p:charRg st="8" end="7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6627">
                                            <p:txEl>
                                              <p:charRg st="74" end="82"/>
                                            </p:txEl>
                                          </p:spTgt>
                                        </p:tgtEl>
                                        <p:attrNameLst>
                                          <p:attrName>style.visibility</p:attrName>
                                        </p:attrNameLst>
                                      </p:cBhvr>
                                      <p:to>
                                        <p:strVal val="visible"/>
                                      </p:to>
                                    </p:set>
                                    <p:animEffect transition="in" filter="box(in)">
                                      <p:cBhvr>
                                        <p:cTn id="12" dur="500"/>
                                        <p:tgtEl>
                                          <p:spTgt spid="26627">
                                            <p:txEl>
                                              <p:charRg st="74" end="8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6627">
                                            <p:txEl>
                                              <p:charRg st="82" end="116"/>
                                            </p:txEl>
                                          </p:spTgt>
                                        </p:tgtEl>
                                        <p:attrNameLst>
                                          <p:attrName>style.visibility</p:attrName>
                                        </p:attrNameLst>
                                      </p:cBhvr>
                                      <p:to>
                                        <p:strVal val="visible"/>
                                      </p:to>
                                    </p:set>
                                    <p:animEffect transition="in" filter="box(in)">
                                      <p:cBhvr>
                                        <p:cTn id="15" dur="500"/>
                                        <p:tgtEl>
                                          <p:spTgt spid="26627">
                                            <p:txEl>
                                              <p:charRg st="82" end="116"/>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26627">
                                            <p:txEl>
                                              <p:charRg st="116" end="135"/>
                                            </p:txEl>
                                          </p:spTgt>
                                        </p:tgtEl>
                                        <p:attrNameLst>
                                          <p:attrName>style.visibility</p:attrName>
                                        </p:attrNameLst>
                                      </p:cBhvr>
                                      <p:to>
                                        <p:strVal val="visible"/>
                                      </p:to>
                                    </p:set>
                                    <p:animEffect transition="in" filter="box(in)">
                                      <p:cBhvr>
                                        <p:cTn id="18" dur="500"/>
                                        <p:tgtEl>
                                          <p:spTgt spid="26627">
                                            <p:txEl>
                                              <p:charRg st="116" end="13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26627">
                                            <p:txEl>
                                              <p:charRg st="136" end="171"/>
                                            </p:txEl>
                                          </p:spTgt>
                                        </p:tgtEl>
                                        <p:attrNameLst>
                                          <p:attrName>style.visibility</p:attrName>
                                        </p:attrNameLst>
                                      </p:cBhvr>
                                      <p:to>
                                        <p:strVal val="visible"/>
                                      </p:to>
                                    </p:set>
                                    <p:animEffect transition="in" filter="box(in)">
                                      <p:cBhvr>
                                        <p:cTn id="23" dur="500"/>
                                        <p:tgtEl>
                                          <p:spTgt spid="26627">
                                            <p:txEl>
                                              <p:charRg st="136" end="17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26627">
                                            <p:txEl>
                                              <p:charRg st="171" end="204"/>
                                            </p:txEl>
                                          </p:spTgt>
                                        </p:tgtEl>
                                        <p:attrNameLst>
                                          <p:attrName>style.visibility</p:attrName>
                                        </p:attrNameLst>
                                      </p:cBhvr>
                                      <p:to>
                                        <p:strVal val="visible"/>
                                      </p:to>
                                    </p:set>
                                    <p:animEffect transition="in" filter="box(in)">
                                      <p:cBhvr>
                                        <p:cTn id="28" dur="500"/>
                                        <p:tgtEl>
                                          <p:spTgt spid="26627">
                                            <p:txEl>
                                              <p:charRg st="171" end="20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26627">
                                            <p:txEl>
                                              <p:charRg st="205" end="240"/>
                                            </p:txEl>
                                          </p:spTgt>
                                        </p:tgtEl>
                                        <p:attrNameLst>
                                          <p:attrName>style.visibility</p:attrName>
                                        </p:attrNameLst>
                                      </p:cBhvr>
                                      <p:to>
                                        <p:strVal val="visible"/>
                                      </p:to>
                                    </p:set>
                                    <p:animEffect transition="in" filter="box(in)">
                                      <p:cBhvr>
                                        <p:cTn id="33" dur="500"/>
                                        <p:tgtEl>
                                          <p:spTgt spid="26627">
                                            <p:txEl>
                                              <p:charRg st="205" end="24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nodeType="clickEffect">
                                  <p:stCondLst>
                                    <p:cond delay="0"/>
                                  </p:stCondLst>
                                  <p:childTnLst>
                                    <p:set>
                                      <p:cBhvr>
                                        <p:cTn id="37" dur="1" fill="hold">
                                          <p:stCondLst>
                                            <p:cond delay="0"/>
                                          </p:stCondLst>
                                        </p:cTn>
                                        <p:tgtEl>
                                          <p:spTgt spid="26627">
                                            <p:txEl>
                                              <p:charRg st="240" end="273"/>
                                            </p:txEl>
                                          </p:spTgt>
                                        </p:tgtEl>
                                        <p:attrNameLst>
                                          <p:attrName>style.visibility</p:attrName>
                                        </p:attrNameLst>
                                      </p:cBhvr>
                                      <p:to>
                                        <p:strVal val="visible"/>
                                      </p:to>
                                    </p:set>
                                    <p:animEffect transition="in" filter="box(in)">
                                      <p:cBhvr>
                                        <p:cTn id="38" dur="500"/>
                                        <p:tgtEl>
                                          <p:spTgt spid="26627">
                                            <p:txEl>
                                              <p:charRg st="240" end="27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26627">
                                            <p:txEl>
                                              <p:charRg st="273" end="283"/>
                                            </p:txEl>
                                          </p:spTgt>
                                        </p:tgtEl>
                                        <p:attrNameLst>
                                          <p:attrName>style.visibility</p:attrName>
                                        </p:attrNameLst>
                                      </p:cBhvr>
                                      <p:to>
                                        <p:strVal val="visible"/>
                                      </p:to>
                                    </p:set>
                                    <p:animEffect transition="in" filter="box(in)">
                                      <p:cBhvr>
                                        <p:cTn id="43" dur="500"/>
                                        <p:tgtEl>
                                          <p:spTgt spid="26627">
                                            <p:txEl>
                                              <p:charRg st="273" end="2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590550" y="201613"/>
            <a:ext cx="8229600" cy="1139825"/>
          </a:xfrm>
        </p:spPr>
        <p:txBody>
          <a:bodyPr vert="horz" wrap="square" lIns="91440" tIns="45720" rIns="91440" bIns="45720" anchor="b" anchorCtr="0"/>
          <a:p>
            <a:pPr algn="ctr" eaLnBrk="1" hangingPunct="1"/>
            <a:r>
              <a:rPr lang="zh-CN" altLang="zh-CN" sz="4000" b="1" dirty="0">
                <a:ea typeface="楷体_GB2312" pitchFamily="49" charset="-122"/>
              </a:rPr>
              <a:t>铸件的收缩</a:t>
            </a:r>
            <a:endParaRPr lang="zh-CN" altLang="zh-CN" sz="4000" b="1" dirty="0">
              <a:ea typeface="楷体_GB2312" pitchFamily="49" charset="-122"/>
            </a:endParaRPr>
          </a:p>
        </p:txBody>
      </p:sp>
      <p:sp>
        <p:nvSpPr>
          <p:cNvPr id="27651" name="Rectangle 3"/>
          <p:cNvSpPr>
            <a:spLocks noGrp="1"/>
          </p:cNvSpPr>
          <p:nvPr>
            <p:ph type="body" sz="half"/>
          </p:nvPr>
        </p:nvSpPr>
        <p:spPr>
          <a:xfrm>
            <a:off x="755650" y="1557338"/>
            <a:ext cx="8064500" cy="5229225"/>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lnSpc>
                <a:spcPct val="90000"/>
              </a:lnSpc>
              <a:buSzPct val="60000"/>
              <a:buNone/>
            </a:pPr>
            <a:endParaRPr lang="en-US" altLang="zh-CN" sz="2000" b="1" dirty="0">
              <a:solidFill>
                <a:srgbClr val="0000FF"/>
              </a:solidFill>
              <a:latin typeface="宋体" panose="02010600030101010101" pitchFamily="2" charset="-122"/>
              <a:ea typeface="楷体_GB2312" pitchFamily="49" charset="-122"/>
            </a:endParaRPr>
          </a:p>
          <a:p>
            <a:pPr lvl="0" eaLnBrk="1" hangingPunct="1">
              <a:lnSpc>
                <a:spcPct val="90000"/>
              </a:lnSpc>
              <a:buClr>
                <a:srgbClr val="CC3300"/>
              </a:buClr>
            </a:pPr>
            <a:r>
              <a:rPr lang="zh-CN" altLang="en-US" sz="2000" b="1" dirty="0">
                <a:solidFill>
                  <a:srgbClr val="CC3300"/>
                </a:solidFill>
                <a:latin typeface="楷体_GB2312" pitchFamily="49" charset="-122"/>
                <a:ea typeface="楷体_GB2312" pitchFamily="49" charset="-122"/>
              </a:rPr>
              <a:t>影响铸造合金收缩的因素</a:t>
            </a:r>
            <a:endParaRPr lang="zh-CN" altLang="en-US" sz="2000" b="1" dirty="0">
              <a:solidFill>
                <a:srgbClr val="CC3300"/>
              </a:solidFill>
              <a:latin typeface="楷体_GB2312" pitchFamily="49" charset="-122"/>
              <a:ea typeface="楷体_GB2312" pitchFamily="49" charset="-122"/>
            </a:endParaRPr>
          </a:p>
          <a:p>
            <a:pPr lvl="1" eaLnBrk="1" hangingPunct="1">
              <a:lnSpc>
                <a:spcPct val="90000"/>
              </a:lnSpc>
            </a:pPr>
            <a:r>
              <a:rPr lang="zh-CN" altLang="en-US" sz="2000" b="1" dirty="0">
                <a:solidFill>
                  <a:srgbClr val="FF0000"/>
                </a:solidFill>
                <a:latin typeface="楷体_GB2312" pitchFamily="49" charset="-122"/>
                <a:ea typeface="楷体_GB2312" pitchFamily="49" charset="-122"/>
              </a:rPr>
              <a:t>化学成分</a:t>
            </a:r>
            <a:r>
              <a:rPr lang="en-US" altLang="zh-CN" sz="2000" b="1" dirty="0">
                <a:solidFill>
                  <a:srgbClr val="FF0000"/>
                </a:solidFill>
                <a:latin typeface="楷体_GB2312" pitchFamily="49" charset="-122"/>
                <a:ea typeface="楷体_GB2312" pitchFamily="49" charset="-122"/>
              </a:rPr>
              <a:t>:</a:t>
            </a:r>
            <a:r>
              <a:rPr lang="zh-CN" altLang="en-US" sz="2000" b="1" dirty="0">
                <a:latin typeface="楷体_GB2312" pitchFamily="49" charset="-122"/>
                <a:ea typeface="楷体_GB2312" pitchFamily="49" charset="-122"/>
              </a:rPr>
              <a:t>不同种类的合金，</a:t>
            </a:r>
            <a:endParaRPr lang="zh-CN" altLang="en-US" sz="2000" b="1" dirty="0">
              <a:latin typeface="楷体_GB2312" pitchFamily="49" charset="-122"/>
              <a:ea typeface="楷体_GB2312" pitchFamily="49" charset="-122"/>
            </a:endParaRPr>
          </a:p>
          <a:p>
            <a:pPr lvl="1" eaLnBrk="1" hangingPunct="1">
              <a:lnSpc>
                <a:spcPct val="90000"/>
              </a:lnSpc>
              <a:buNone/>
            </a:pPr>
            <a:r>
              <a:rPr lang="zh-CN" altLang="en-US" sz="2000" b="1" dirty="0">
                <a:latin typeface="楷体_GB2312" pitchFamily="49" charset="-122"/>
                <a:ea typeface="楷体_GB2312" pitchFamily="49" charset="-122"/>
              </a:rPr>
              <a:t>	其收缩率不同。在常用的铸</a:t>
            </a:r>
            <a:endParaRPr lang="zh-CN" altLang="en-US" sz="2000" b="1" dirty="0">
              <a:latin typeface="楷体_GB2312" pitchFamily="49" charset="-122"/>
              <a:ea typeface="楷体_GB2312" pitchFamily="49" charset="-122"/>
            </a:endParaRPr>
          </a:p>
          <a:p>
            <a:pPr lvl="1" eaLnBrk="1" hangingPunct="1">
              <a:lnSpc>
                <a:spcPct val="90000"/>
              </a:lnSpc>
              <a:buNone/>
            </a:pPr>
            <a:r>
              <a:rPr lang="zh-CN" altLang="en-US" sz="2000" b="1" dirty="0">
                <a:latin typeface="楷体_GB2312" pitchFamily="49" charset="-122"/>
                <a:ea typeface="楷体_GB2312" pitchFamily="49" charset="-122"/>
              </a:rPr>
              <a:t>  造合金中铸钢的收缩最大，</a:t>
            </a:r>
            <a:endParaRPr lang="zh-CN" altLang="en-US" sz="2000" b="1" dirty="0">
              <a:latin typeface="楷体_GB2312" pitchFamily="49" charset="-122"/>
              <a:ea typeface="楷体_GB2312" pitchFamily="49" charset="-122"/>
            </a:endParaRPr>
          </a:p>
          <a:p>
            <a:pPr lvl="1" eaLnBrk="1" hangingPunct="1">
              <a:lnSpc>
                <a:spcPct val="90000"/>
              </a:lnSpc>
              <a:buNone/>
            </a:pPr>
            <a:r>
              <a:rPr lang="zh-CN" altLang="en-US" sz="2000" b="1" dirty="0">
                <a:latin typeface="楷体_GB2312" pitchFamily="49" charset="-122"/>
                <a:ea typeface="楷体_GB2312" pitchFamily="49" charset="-122"/>
              </a:rPr>
              <a:t>  灰铸铁最小（表２</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lvl="1" eaLnBrk="1" hangingPunct="1">
              <a:lnSpc>
                <a:spcPct val="90000"/>
              </a:lnSpc>
              <a:buNone/>
            </a:pPr>
            <a:endParaRPr lang="zh-CN" altLang="en-US" sz="2000" b="1" dirty="0">
              <a:latin typeface="楷体_GB2312" pitchFamily="49" charset="-122"/>
              <a:ea typeface="楷体_GB2312" pitchFamily="49" charset="-122"/>
            </a:endParaRPr>
          </a:p>
          <a:p>
            <a:pPr lvl="1" eaLnBrk="1" hangingPunct="1">
              <a:lnSpc>
                <a:spcPct val="90000"/>
              </a:lnSpc>
              <a:spcBef>
                <a:spcPct val="50000"/>
              </a:spcBef>
            </a:pPr>
            <a:r>
              <a:rPr lang="zh-CN" altLang="en-US" sz="2000" b="1" dirty="0">
                <a:solidFill>
                  <a:srgbClr val="FF0000"/>
                </a:solidFill>
                <a:latin typeface="楷体_GB2312" pitchFamily="49" charset="-122"/>
                <a:ea typeface="楷体_GB2312" pitchFamily="49" charset="-122"/>
              </a:rPr>
              <a:t>铸件结构与铸型条件 </a:t>
            </a:r>
            <a:r>
              <a:rPr lang="en-US" altLang="zh-CN" sz="2000" b="1" dirty="0">
                <a:solidFill>
                  <a:srgbClr val="FF0000"/>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铸件在铸型中各部分冷却速度不一，彼此相互制约，产生收缩阻力。铸型和型芯对铸件收缩产生机械阻力</a:t>
            </a:r>
            <a:r>
              <a:rPr lang="en-US" altLang="zh-CN" sz="2000" b="1" dirty="0">
                <a:solidFill>
                  <a:srgbClr val="FF3300"/>
                </a:solidFill>
                <a:latin typeface="楷体_GB2312" pitchFamily="49" charset="-122"/>
                <a:ea typeface="楷体_GB2312" pitchFamily="49" charset="-122"/>
              </a:rPr>
              <a:t>(</a:t>
            </a:r>
            <a:r>
              <a:rPr lang="zh-CN" altLang="en-US" sz="2000" b="1" dirty="0">
                <a:solidFill>
                  <a:srgbClr val="FF3300"/>
                </a:solidFill>
                <a:latin typeface="楷体_GB2312" pitchFamily="49" charset="-122"/>
                <a:ea typeface="楷体_GB2312" pitchFamily="49" charset="-122"/>
              </a:rPr>
              <a:t>如图</a:t>
            </a:r>
            <a:r>
              <a:rPr lang="en-US" altLang="zh-CN" sz="2000" b="1" dirty="0">
                <a:solidFill>
                  <a:srgbClr val="FF3300"/>
                </a:solidFill>
                <a:latin typeface="楷体_GB2312" pitchFamily="49" charset="-122"/>
                <a:ea typeface="楷体_GB2312" pitchFamily="49" charset="-122"/>
              </a:rPr>
              <a:t>)</a:t>
            </a:r>
            <a:r>
              <a:rPr lang="zh-CN" altLang="en-US" sz="2000" b="1" dirty="0">
                <a:latin typeface="楷体_GB2312" pitchFamily="49" charset="-122"/>
                <a:ea typeface="楷体_GB2312" pitchFamily="49" charset="-122"/>
              </a:rPr>
              <a:t>，故实际线收缩率比自由线收缩率小。设计模样时，须根据合金的种类，铸件的形状、尺寸等，选择收缩率。</a:t>
            </a:r>
            <a:endParaRPr lang="zh-CN" altLang="en-US" sz="2000" b="1" dirty="0">
              <a:latin typeface="楷体_GB2312" pitchFamily="49" charset="-122"/>
              <a:ea typeface="楷体_GB2312" pitchFamily="49" charset="-122"/>
            </a:endParaRPr>
          </a:p>
          <a:p>
            <a:pPr lvl="1" eaLnBrk="1" hangingPunct="1">
              <a:lnSpc>
                <a:spcPct val="90000"/>
              </a:lnSpc>
              <a:spcBef>
                <a:spcPct val="50000"/>
              </a:spcBef>
              <a:buNone/>
            </a:pPr>
            <a:endParaRPr lang="zh-CN" altLang="en-US" sz="2000" b="1" dirty="0">
              <a:latin typeface="楷体_GB2312" pitchFamily="49" charset="-122"/>
              <a:ea typeface="楷体_GB2312" pitchFamily="49" charset="-122"/>
            </a:endParaRPr>
          </a:p>
          <a:p>
            <a:pPr lvl="1" eaLnBrk="1" hangingPunct="1">
              <a:lnSpc>
                <a:spcPct val="90000"/>
              </a:lnSpc>
              <a:spcBef>
                <a:spcPct val="50000"/>
              </a:spcBef>
            </a:pPr>
            <a:r>
              <a:rPr lang="zh-CN" altLang="en-US" sz="2000" b="1" dirty="0">
                <a:solidFill>
                  <a:srgbClr val="FF0000"/>
                </a:solidFill>
                <a:latin typeface="楷体_GB2312" pitchFamily="49" charset="-122"/>
                <a:ea typeface="楷体_GB2312" pitchFamily="49" charset="-122"/>
              </a:rPr>
              <a:t>浇注温度</a:t>
            </a:r>
            <a:r>
              <a:rPr lang="en-US" altLang="zh-CN" sz="2000" b="1" dirty="0">
                <a:solidFill>
                  <a:srgbClr val="FF0000"/>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浇注温度愈高，液态收缩愈大，一般浇注温度每提高</a:t>
            </a:r>
            <a:r>
              <a:rPr lang="en-US" altLang="zh-CN" sz="2000" b="1" dirty="0">
                <a:latin typeface="楷体_GB2312" pitchFamily="49" charset="-122"/>
                <a:ea typeface="楷体_GB2312" pitchFamily="49" charset="-122"/>
              </a:rPr>
              <a:t>100</a:t>
            </a:r>
            <a:r>
              <a:rPr lang="zh-CN" altLang="en-US" sz="2000" b="1" dirty="0">
                <a:latin typeface="楷体_GB2312" pitchFamily="49" charset="-122"/>
                <a:ea typeface="楷体_GB2312" pitchFamily="49" charset="-122"/>
              </a:rPr>
              <a:t>度，体积收缩将会增加</a:t>
            </a:r>
            <a:r>
              <a:rPr lang="en-US" altLang="zh-CN" sz="2000" b="1" dirty="0">
                <a:latin typeface="楷体_GB2312" pitchFamily="49" charset="-122"/>
                <a:ea typeface="楷体_GB2312" pitchFamily="49" charset="-122"/>
              </a:rPr>
              <a:t>1.6</a:t>
            </a:r>
            <a:r>
              <a:rPr lang="zh-CN" altLang="en-US" sz="2000" b="1" dirty="0">
                <a:latin typeface="楷体_GB2312" pitchFamily="49" charset="-122"/>
                <a:ea typeface="楷体_GB2312" pitchFamily="49" charset="-122"/>
              </a:rPr>
              <a:t>％左右。</a:t>
            </a:r>
            <a:r>
              <a:rPr lang="zh-CN" altLang="en-US" dirty="0"/>
              <a:t> </a:t>
            </a:r>
            <a:endParaRPr lang="zh-CN" altLang="en-US" dirty="0"/>
          </a:p>
          <a:p>
            <a:pPr lvl="1" eaLnBrk="1" hangingPunct="1">
              <a:lnSpc>
                <a:spcPct val="90000"/>
              </a:lnSpc>
            </a:pPr>
            <a:endParaRPr lang="en-US" altLang="zh-CN" dirty="0"/>
          </a:p>
        </p:txBody>
      </p:sp>
      <p:pic>
        <p:nvPicPr>
          <p:cNvPr id="45060" name="Picture 7" descr="2-8机械应力"/>
          <p:cNvPicPr>
            <a:picLocks noChangeAspect="1"/>
          </p:cNvPicPr>
          <p:nvPr/>
        </p:nvPicPr>
        <p:blipFill>
          <a:blip r:embed="rId1"/>
          <a:stretch>
            <a:fillRect/>
          </a:stretch>
        </p:blipFill>
        <p:spPr>
          <a:xfrm>
            <a:off x="5435600" y="1844675"/>
            <a:ext cx="2519363" cy="20383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51">
                                            <p:txEl>
                                              <p:charRg st="1" end="13"/>
                                            </p:txEl>
                                          </p:spTgt>
                                        </p:tgtEl>
                                        <p:attrNameLst>
                                          <p:attrName>style.visibility</p:attrName>
                                        </p:attrNameLst>
                                      </p:cBhvr>
                                      <p:to>
                                        <p:strVal val="visible"/>
                                      </p:to>
                                    </p:set>
                                    <p:animEffect transition="in" filter="blinds(horizontal)">
                                      <p:cBhvr>
                                        <p:cTn id="7" dur="500"/>
                                        <p:tgtEl>
                                          <p:spTgt spid="27651">
                                            <p:txEl>
                                              <p:charRg st="1"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651">
                                            <p:txEl>
                                              <p:charRg st="13" end="27"/>
                                            </p:txEl>
                                          </p:spTgt>
                                        </p:tgtEl>
                                        <p:attrNameLst>
                                          <p:attrName>style.visibility</p:attrName>
                                        </p:attrNameLst>
                                      </p:cBhvr>
                                      <p:to>
                                        <p:strVal val="visible"/>
                                      </p:to>
                                    </p:set>
                                    <p:animEffect transition="in" filter="blinds(horizontal)">
                                      <p:cBhvr>
                                        <p:cTn id="12" dur="500"/>
                                        <p:tgtEl>
                                          <p:spTgt spid="27651">
                                            <p:txEl>
                                              <p:charRg st="13" end="27"/>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27651">
                                            <p:txEl>
                                              <p:charRg st="27" end="41"/>
                                            </p:txEl>
                                          </p:spTgt>
                                        </p:tgtEl>
                                        <p:attrNameLst>
                                          <p:attrName>style.visibility</p:attrName>
                                        </p:attrNameLst>
                                      </p:cBhvr>
                                      <p:to>
                                        <p:strVal val="visible"/>
                                      </p:to>
                                    </p:set>
                                    <p:animEffect transition="in" filter="blinds(horizontal)">
                                      <p:cBhvr>
                                        <p:cTn id="15" dur="500"/>
                                        <p:tgtEl>
                                          <p:spTgt spid="27651">
                                            <p:txEl>
                                              <p:charRg st="27" end="4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7651">
                                            <p:txEl>
                                              <p:charRg st="41" end="56"/>
                                            </p:txEl>
                                          </p:spTgt>
                                        </p:tgtEl>
                                        <p:attrNameLst>
                                          <p:attrName>style.visibility</p:attrName>
                                        </p:attrNameLst>
                                      </p:cBhvr>
                                      <p:to>
                                        <p:strVal val="visible"/>
                                      </p:to>
                                    </p:set>
                                    <p:animEffect transition="in" filter="blinds(horizontal)">
                                      <p:cBhvr>
                                        <p:cTn id="18" dur="500"/>
                                        <p:tgtEl>
                                          <p:spTgt spid="27651">
                                            <p:txEl>
                                              <p:charRg st="41" end="5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7651">
                                            <p:txEl>
                                              <p:charRg st="56" end="71"/>
                                            </p:txEl>
                                          </p:spTgt>
                                        </p:tgtEl>
                                        <p:attrNameLst>
                                          <p:attrName>style.visibility</p:attrName>
                                        </p:attrNameLst>
                                      </p:cBhvr>
                                      <p:to>
                                        <p:strVal val="visible"/>
                                      </p:to>
                                    </p:set>
                                    <p:animEffect transition="in" filter="blinds(horizontal)">
                                      <p:cBhvr>
                                        <p:cTn id="21" dur="500"/>
                                        <p:tgtEl>
                                          <p:spTgt spid="27651">
                                            <p:txEl>
                                              <p:charRg st="56" end="7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7651">
                                            <p:txEl>
                                              <p:charRg st="72" end="183"/>
                                            </p:txEl>
                                          </p:spTgt>
                                        </p:tgtEl>
                                        <p:attrNameLst>
                                          <p:attrName>style.visibility</p:attrName>
                                        </p:attrNameLst>
                                      </p:cBhvr>
                                      <p:to>
                                        <p:strVal val="visible"/>
                                      </p:to>
                                    </p:set>
                                    <p:animEffect transition="in" filter="blinds(horizontal)">
                                      <p:cBhvr>
                                        <p:cTn id="26" dur="500"/>
                                        <p:tgtEl>
                                          <p:spTgt spid="27651">
                                            <p:txEl>
                                              <p:charRg st="72" end="18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7651">
                                            <p:txEl>
                                              <p:charRg st="184" end="235"/>
                                            </p:txEl>
                                          </p:spTgt>
                                        </p:tgtEl>
                                        <p:attrNameLst>
                                          <p:attrName>style.visibility</p:attrName>
                                        </p:attrNameLst>
                                      </p:cBhvr>
                                      <p:to>
                                        <p:strVal val="visible"/>
                                      </p:to>
                                    </p:set>
                                    <p:animEffect transition="in" filter="blinds(horizontal)">
                                      <p:cBhvr>
                                        <p:cTn id="31" dur="500"/>
                                        <p:tgtEl>
                                          <p:spTgt spid="27651">
                                            <p:txEl>
                                              <p:charRg st="184" end="2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xfrm>
            <a:off x="457200" y="273050"/>
            <a:ext cx="8229600" cy="1139825"/>
          </a:xfrm>
        </p:spPr>
        <p:txBody>
          <a:bodyPr vert="horz" wrap="square" lIns="91440" tIns="45720" rIns="91440" bIns="45720" anchor="b" anchorCtr="0"/>
          <a:p>
            <a:pPr algn="ctr" eaLnBrk="1" hangingPunct="1"/>
            <a:r>
              <a:rPr lang="zh-CN" altLang="en-US" sz="4000" b="1" dirty="0">
                <a:solidFill>
                  <a:srgbClr val="CC3300"/>
                </a:solidFill>
                <a:latin typeface="楷体_GB2312" pitchFamily="49" charset="-122"/>
                <a:ea typeface="楷体_GB2312" pitchFamily="49" charset="-122"/>
              </a:rPr>
              <a:t>铸件中的缩孔与缩松</a:t>
            </a:r>
            <a:endParaRPr lang="zh-CN" altLang="en-US" sz="4000" b="1" dirty="0">
              <a:solidFill>
                <a:srgbClr val="CC3300"/>
              </a:solidFill>
              <a:latin typeface="楷体_GB2312" pitchFamily="49" charset="-122"/>
              <a:ea typeface="楷体_GB2312" pitchFamily="49" charset="-122"/>
            </a:endParaRPr>
          </a:p>
        </p:txBody>
      </p:sp>
      <p:sp>
        <p:nvSpPr>
          <p:cNvPr id="46083" name="Rectangle 3"/>
          <p:cNvSpPr>
            <a:spLocks noGrp="1"/>
          </p:cNvSpPr>
          <p:nvPr>
            <p:ph type="body" sz="half"/>
          </p:nvPr>
        </p:nvSpPr>
        <p:spPr>
          <a:xfrm>
            <a:off x="468313" y="1557338"/>
            <a:ext cx="8496300" cy="2663825"/>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1" eaLnBrk="1" hangingPunct="1">
              <a:buNone/>
            </a:pPr>
            <a:r>
              <a:rPr lang="zh-CN" altLang="en-US" sz="1800" b="1" dirty="0">
                <a:solidFill>
                  <a:srgbClr val="FF00FF"/>
                </a:solidFill>
                <a:latin typeface="楷体_GB2312" pitchFamily="49" charset="-122"/>
                <a:ea typeface="楷体_GB2312" pitchFamily="49" charset="-122"/>
              </a:rPr>
              <a:t>１．缩孔与缩松的形成：</a:t>
            </a:r>
            <a:r>
              <a:rPr lang="zh-CN" altLang="en-US" sz="1800" b="1" dirty="0">
                <a:latin typeface="楷体_GB2312" pitchFamily="49" charset="-122"/>
                <a:ea typeface="楷体_GB2312" pitchFamily="49" charset="-122"/>
              </a:rPr>
              <a:t>液态合金在冷凝过程中，若其液态收缩和凝固收缩所缩减的容积得不到补足，则在铸件最后凝固部位形成一些孔洞。按</a:t>
            </a:r>
            <a:r>
              <a:rPr lang="zh-CN" altLang="en-US" sz="1800" b="1" dirty="0">
                <a:solidFill>
                  <a:srgbClr val="FF0066"/>
                </a:solidFill>
                <a:latin typeface="楷体_GB2312" pitchFamily="49" charset="-122"/>
                <a:ea typeface="楷体_GB2312" pitchFamily="49" charset="-122"/>
              </a:rPr>
              <a:t>孔洞的大小和分布分为缩孔和缩松。</a:t>
            </a:r>
            <a:r>
              <a:rPr lang="zh-CN" altLang="en-US" sz="1800" b="1" dirty="0">
                <a:solidFill>
                  <a:srgbClr val="0000FF"/>
                </a:solidFill>
                <a:latin typeface="楷体_GB2312" pitchFamily="49" charset="-122"/>
                <a:ea typeface="楷体_GB2312" pitchFamily="49" charset="-122"/>
              </a:rPr>
              <a:t>缩孔和缩松可使铸件力学性能、气密性和物化性能大大降低，以至成为废品。是极其有害的铸造缺陷之一。</a:t>
            </a:r>
            <a:endParaRPr lang="zh-CN" altLang="en-US" sz="1800" b="1" dirty="0">
              <a:solidFill>
                <a:srgbClr val="0000FF"/>
              </a:solidFill>
              <a:latin typeface="楷体_GB2312" pitchFamily="49" charset="-122"/>
              <a:ea typeface="楷体_GB2312" pitchFamily="49" charset="-122"/>
            </a:endParaRPr>
          </a:p>
          <a:p>
            <a:pPr lvl="1" eaLnBrk="1" hangingPunct="1">
              <a:buNone/>
            </a:pPr>
            <a:r>
              <a:rPr lang="zh-CN" altLang="en-US" sz="1600" b="1" dirty="0">
                <a:solidFill>
                  <a:srgbClr val="009900"/>
                </a:solidFill>
                <a:latin typeface="楷体_GB2312" pitchFamily="49" charset="-122"/>
                <a:ea typeface="楷体_GB2312" pitchFamily="49" charset="-122"/>
              </a:rPr>
              <a:t>（１）</a:t>
            </a:r>
            <a:r>
              <a:rPr lang="zh-CN" altLang="en-US" sz="1800" b="1" dirty="0">
                <a:solidFill>
                  <a:srgbClr val="009900"/>
                </a:solidFill>
                <a:latin typeface="楷体_GB2312" pitchFamily="49" charset="-122"/>
                <a:ea typeface="楷体_GB2312" pitchFamily="49" charset="-122"/>
              </a:rPr>
              <a:t>缩孔</a:t>
            </a:r>
            <a:r>
              <a:rPr lang="zh-CN" altLang="en-US" sz="1800" b="1" dirty="0">
                <a:latin typeface="楷体_GB2312" pitchFamily="49" charset="-122"/>
                <a:ea typeface="楷体_GB2312" pitchFamily="49" charset="-122"/>
              </a:rPr>
              <a:t>  集中在铸件上部或最后凝固部位容积较大的孔洞。形状多呈倒锥形，内表面粗糙。</a:t>
            </a:r>
            <a:endParaRPr lang="zh-CN" altLang="en-US" sz="1800" b="1" dirty="0">
              <a:latin typeface="楷体_GB2312" pitchFamily="49" charset="-122"/>
              <a:ea typeface="楷体_GB2312" pitchFamily="49" charset="-122"/>
            </a:endParaRPr>
          </a:p>
          <a:p>
            <a:pPr lvl="1" eaLnBrk="1" hangingPunct="1"/>
            <a:r>
              <a:rPr lang="zh-CN" altLang="en-US" sz="1800" b="1" dirty="0">
                <a:solidFill>
                  <a:srgbClr val="FF3300"/>
                </a:solidFill>
                <a:latin typeface="楷体_GB2312" pitchFamily="49" charset="-122"/>
                <a:ea typeface="楷体_GB2312" pitchFamily="49" charset="-122"/>
              </a:rPr>
              <a:t>形成过程</a:t>
            </a:r>
            <a:endParaRPr lang="zh-CN" altLang="en-US" sz="1800" b="1" dirty="0">
              <a:solidFill>
                <a:srgbClr val="FF3300"/>
              </a:solidFill>
              <a:latin typeface="楷体_GB2312" pitchFamily="49" charset="-122"/>
              <a:ea typeface="楷体_GB2312" pitchFamily="49" charset="-122"/>
            </a:endParaRPr>
          </a:p>
          <a:p>
            <a:pPr lvl="2" eaLnBrk="1" hangingPunct="1"/>
            <a:endParaRPr lang="en-US" altLang="zh-CN" sz="1800" b="1" dirty="0">
              <a:solidFill>
                <a:srgbClr val="FF3300"/>
              </a:solidFill>
              <a:latin typeface="宋体" panose="02010600030101010101" pitchFamily="2" charset="-122"/>
            </a:endParaRPr>
          </a:p>
        </p:txBody>
      </p:sp>
      <p:grpSp>
        <p:nvGrpSpPr>
          <p:cNvPr id="46084" name="Group 13"/>
          <p:cNvGrpSpPr/>
          <p:nvPr/>
        </p:nvGrpSpPr>
        <p:grpSpPr>
          <a:xfrm>
            <a:off x="1476375" y="3705225"/>
            <a:ext cx="6786563" cy="3143250"/>
            <a:chOff x="0" y="0"/>
            <a:chExt cx="3403" cy="1683"/>
          </a:xfrm>
        </p:grpSpPr>
        <p:pic>
          <p:nvPicPr>
            <p:cNvPr id="46086" name="Picture 10" descr="a63">
              <a:hlinkClick r:id="rId1" action="ppaction://hlinkfile"/>
            </p:cNvPr>
            <p:cNvPicPr>
              <a:picLocks noChangeAspect="1"/>
            </p:cNvPicPr>
            <p:nvPr/>
          </p:nvPicPr>
          <p:blipFill>
            <a:blip r:embed="rId2"/>
            <a:stretch>
              <a:fillRect/>
            </a:stretch>
          </p:blipFill>
          <p:spPr>
            <a:xfrm>
              <a:off x="0" y="0"/>
              <a:ext cx="3403" cy="1683"/>
            </a:xfrm>
            <a:prstGeom prst="rect">
              <a:avLst/>
            </a:prstGeom>
            <a:noFill/>
            <a:ln w="9525">
              <a:noFill/>
            </a:ln>
          </p:spPr>
        </p:pic>
        <p:sp>
          <p:nvSpPr>
            <p:cNvPr id="2" name="Text Box 8"/>
            <p:cNvSpPr txBox="1">
              <a:spLocks noChangeArrowheads="1"/>
            </p:cNvSpPr>
            <p:nvPr/>
          </p:nvSpPr>
          <p:spPr bwMode="auto">
            <a:xfrm>
              <a:off x="954" y="1315"/>
              <a:ext cx="1482" cy="222"/>
            </a:xfrm>
            <a:prstGeom prst="rect">
              <a:avLst/>
            </a:prstGeom>
            <a:solidFill>
              <a:schemeClr val="bg1"/>
            </a:solid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图２</a:t>
              </a:r>
              <a:r>
                <a:rPr kumimoji="0" lang="en-US" altLang="zh-CN" sz="1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r>
                <a:rPr kumimoji="0" lang="zh-CN" altLang="en-US" sz="1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４</a:t>
              </a:r>
              <a:r>
                <a:rPr kumimoji="0" lang="zh-CN" altLang="en-US" sz="14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缩孔形成过程示意图</a:t>
              </a:r>
              <a:r>
                <a:rPr kumimoji="0" lang="zh-CN" altLang="en-US" sz="1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　</a:t>
              </a:r>
              <a:endParaRPr kumimoji="0" lang="zh-CN" altLang="en-US" sz="18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p:txBody>
        </p:sp>
      </p:grpSp>
      <p:sp>
        <p:nvSpPr>
          <p:cNvPr id="47109" name="AutoShape 2"/>
          <p:cNvSpPr/>
          <p:nvPr/>
        </p:nvSpPr>
        <p:spPr>
          <a:xfrm>
            <a:off x="6156325" y="357188"/>
            <a:ext cx="2987675" cy="3284537"/>
          </a:xfrm>
          <a:prstGeom prst="wedgeRoundRectCallout">
            <a:avLst>
              <a:gd name="adj1" fmla="val -46787"/>
              <a:gd name="adj2" fmla="val 64111"/>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800" dirty="0">
                <a:ea typeface="华文中宋" panose="02010600040101010101" pitchFamily="2" charset="-122"/>
              </a:rPr>
              <a:t>a.</a:t>
            </a:r>
            <a:r>
              <a:rPr lang="zh-CN" altLang="en-US" sz="1800" dirty="0">
                <a:ea typeface="华文中宋" panose="02010600040101010101" pitchFamily="2" charset="-122"/>
              </a:rPr>
              <a:t>液态合金充满型腔。</a:t>
            </a:r>
            <a:endParaRPr lang="en-US" altLang="zh-CN" sz="1800" dirty="0">
              <a:ea typeface="华文中宋" panose="02010600040101010101" pitchFamily="2" charset="-122"/>
            </a:endParaRPr>
          </a:p>
          <a:p>
            <a:pPr marL="0" lvl="0" indent="0" algn="ctr" eaLnBrk="1" hangingPunct="1">
              <a:spcBef>
                <a:spcPct val="0"/>
              </a:spcBef>
              <a:buClrTx/>
              <a:buSzTx/>
              <a:buNone/>
            </a:pPr>
            <a:r>
              <a:rPr lang="en-US" altLang="zh-CN" sz="1800" dirty="0">
                <a:ea typeface="华文中宋" panose="02010600040101010101" pitchFamily="2" charset="-122"/>
              </a:rPr>
              <a:t>b.</a:t>
            </a:r>
            <a:r>
              <a:rPr lang="zh-CN" altLang="en-US" sz="1800" dirty="0">
                <a:ea typeface="华文中宋" panose="02010600040101010101" pitchFamily="2" charset="-122"/>
              </a:rPr>
              <a:t>靠近型腔最先形成一层外壳，内部为高温液体。</a:t>
            </a:r>
            <a:endParaRPr lang="en-US" altLang="zh-CN" sz="1800" dirty="0">
              <a:ea typeface="华文中宋" panose="02010600040101010101" pitchFamily="2" charset="-122"/>
            </a:endParaRPr>
          </a:p>
          <a:p>
            <a:pPr marL="0" lvl="0" indent="0" algn="ctr" eaLnBrk="1" hangingPunct="1">
              <a:spcBef>
                <a:spcPct val="0"/>
              </a:spcBef>
              <a:buClrTx/>
              <a:buSzTx/>
              <a:buNone/>
            </a:pPr>
            <a:r>
              <a:rPr lang="en-US" altLang="zh-CN" sz="1800" dirty="0">
                <a:ea typeface="华文中宋" panose="02010600040101010101" pitchFamily="2" charset="-122"/>
              </a:rPr>
              <a:t>C.</a:t>
            </a:r>
            <a:r>
              <a:rPr lang="zh-CN" altLang="en-US" sz="1800" dirty="0">
                <a:ea typeface="华文中宋" panose="02010600040101010101" pitchFamily="2" charset="-122"/>
              </a:rPr>
              <a:t>温度继续下降，液态收缩</a:t>
            </a:r>
            <a:r>
              <a:rPr lang="en-US" altLang="zh-CN" sz="1800" dirty="0">
                <a:ea typeface="华文中宋" panose="02010600040101010101" pitchFamily="2" charset="-122"/>
              </a:rPr>
              <a:t>+</a:t>
            </a:r>
            <a:r>
              <a:rPr lang="zh-CN" altLang="en-US" sz="1800" dirty="0">
                <a:ea typeface="华文中宋" panose="02010600040101010101" pitchFamily="2" charset="-122"/>
              </a:rPr>
              <a:t>凝固收缩，体积缩减、液面下降，出现空隙。</a:t>
            </a:r>
            <a:endParaRPr lang="en-US" altLang="zh-CN" sz="1800" dirty="0">
              <a:ea typeface="华文中宋" panose="02010600040101010101" pitchFamily="2" charset="-122"/>
            </a:endParaRPr>
          </a:p>
          <a:p>
            <a:pPr marL="0" lvl="0" indent="0" algn="ctr" eaLnBrk="1" hangingPunct="1">
              <a:spcBef>
                <a:spcPct val="0"/>
              </a:spcBef>
              <a:buClrTx/>
              <a:buSzTx/>
              <a:buNone/>
            </a:pPr>
            <a:r>
              <a:rPr lang="en-US" altLang="zh-CN" sz="1800" dirty="0">
                <a:ea typeface="华文中宋" panose="02010600040101010101" pitchFamily="2" charset="-122"/>
              </a:rPr>
              <a:t>d. </a:t>
            </a:r>
            <a:r>
              <a:rPr lang="zh-CN" altLang="en-US" sz="1800" dirty="0">
                <a:ea typeface="华文中宋" panose="02010600040101010101" pitchFamily="2" charset="-122"/>
              </a:rPr>
              <a:t>以此类推至完全凝固。</a:t>
            </a:r>
            <a:endParaRPr lang="en-US" altLang="zh-CN" sz="1800" dirty="0">
              <a:ea typeface="华文中宋" panose="02010600040101010101" pitchFamily="2" charset="-122"/>
            </a:endParaRPr>
          </a:p>
          <a:p>
            <a:pPr marL="0" lvl="0" indent="0" algn="ctr" eaLnBrk="1" hangingPunct="1">
              <a:spcBef>
                <a:spcPct val="0"/>
              </a:spcBef>
              <a:buClrTx/>
              <a:buSzTx/>
              <a:buNone/>
            </a:pPr>
            <a:r>
              <a:rPr lang="en-US" altLang="zh-CN" sz="1800" dirty="0">
                <a:ea typeface="华文中宋" panose="02010600040101010101" pitchFamily="2" charset="-122"/>
              </a:rPr>
              <a:t>e.</a:t>
            </a:r>
            <a:r>
              <a:rPr lang="zh-CN" altLang="en-US" sz="1800" dirty="0">
                <a:ea typeface="华文中宋" panose="02010600040101010101" pitchFamily="2" charset="-122"/>
              </a:rPr>
              <a:t>室温时，固态收缩使得外廓尺寸缩小</a:t>
            </a:r>
            <a:endParaRPr lang="en-US" altLang="zh-CN" sz="1800" dirty="0">
              <a:ea typeface="华文中宋" panose="02010600040101010101" pitchFamily="2" charset="-122"/>
            </a:endParaRPr>
          </a:p>
          <a:p>
            <a:pPr marL="0" lvl="0" indent="0" algn="ctr" eaLnBrk="1" hangingPunct="1">
              <a:spcBef>
                <a:spcPct val="0"/>
              </a:spcBef>
              <a:buClrTx/>
              <a:buSzTx/>
              <a:buNone/>
            </a:pPr>
            <a:endParaRPr lang="zh-CN" altLang="en-US" sz="1800" dirty="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09"/>
                                        </p:tgtEl>
                                        <p:attrNameLst>
                                          <p:attrName>style.visibility</p:attrName>
                                        </p:attrNameLst>
                                      </p:cBhvr>
                                      <p:to>
                                        <p:strVal val="visible"/>
                                      </p:to>
                                    </p:set>
                                    <p:animEffect transition="in" filter="blinds(horizontal)">
                                      <p:cBhvr>
                                        <p:cTn id="7" dur="500"/>
                                        <p:tgtEl>
                                          <p:spTgt spid="47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en-US" sz="4000" b="1" dirty="0">
                <a:solidFill>
                  <a:srgbClr val="CC3300"/>
                </a:solidFill>
                <a:latin typeface="楷体_GB2312" pitchFamily="49" charset="-122"/>
                <a:ea typeface="楷体_GB2312" pitchFamily="49" charset="-122"/>
              </a:rPr>
              <a:t>铸件中的缩孔与缩松</a:t>
            </a:r>
            <a:endParaRPr lang="zh-CN" altLang="zh-CN" sz="4000" b="1" dirty="0">
              <a:ea typeface="楷体_GB2312" pitchFamily="49" charset="-122"/>
            </a:endParaRPr>
          </a:p>
        </p:txBody>
      </p:sp>
      <p:sp>
        <p:nvSpPr>
          <p:cNvPr id="30723" name="Rectangle 3"/>
          <p:cNvSpPr>
            <a:spLocks noGrp="1"/>
          </p:cNvSpPr>
          <p:nvPr>
            <p:ph type="body" sz="half"/>
          </p:nvPr>
        </p:nvSpPr>
        <p:spPr>
          <a:xfrm>
            <a:off x="395288" y="1557338"/>
            <a:ext cx="8532812" cy="3167062"/>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buNone/>
            </a:pPr>
            <a:r>
              <a:rPr lang="zh-CN" altLang="zh-CN" sz="2400" b="1" dirty="0">
                <a:solidFill>
                  <a:srgbClr val="CC3300"/>
                </a:solidFill>
                <a:latin typeface="楷体_GB2312" pitchFamily="49" charset="-122"/>
                <a:ea typeface="楷体_GB2312" pitchFamily="49" charset="-122"/>
              </a:rPr>
              <a:t>（２）缩松</a:t>
            </a:r>
            <a:endParaRPr lang="zh-CN" altLang="zh-CN" sz="2400" b="1" dirty="0">
              <a:solidFill>
                <a:srgbClr val="CC3300"/>
              </a:solidFill>
              <a:latin typeface="楷体_GB2312" pitchFamily="49" charset="-122"/>
              <a:ea typeface="楷体_GB2312" pitchFamily="49" charset="-122"/>
            </a:endParaRPr>
          </a:p>
          <a:p>
            <a:pPr lvl="0" eaLnBrk="1" hangingPunct="1">
              <a:buNone/>
            </a:pPr>
            <a:r>
              <a:rPr lang="zh-CN" altLang="zh-CN" sz="2000" b="1" dirty="0">
                <a:latin typeface="楷体_GB2312" pitchFamily="49" charset="-122"/>
                <a:ea typeface="楷体_GB2312" pitchFamily="49" charset="-122"/>
              </a:rPr>
              <a:t>       </a:t>
            </a:r>
            <a:r>
              <a:rPr lang="zh-CN" altLang="zh-CN" sz="2400" b="1" dirty="0">
                <a:latin typeface="楷体_GB2312" pitchFamily="49" charset="-122"/>
                <a:ea typeface="楷体_GB2312" pitchFamily="49" charset="-122"/>
              </a:rPr>
              <a:t>缩松是分散在某区域内的细小缩孔。</a:t>
            </a:r>
            <a:endParaRPr lang="zh-CN" altLang="zh-CN" sz="2400" b="1" dirty="0">
              <a:latin typeface="楷体_GB2312" pitchFamily="49" charset="-122"/>
              <a:ea typeface="楷体_GB2312" pitchFamily="49" charset="-122"/>
            </a:endParaRPr>
          </a:p>
          <a:p>
            <a:pPr lvl="0" eaLnBrk="1" hangingPunct="1">
              <a:buNone/>
            </a:pPr>
            <a:r>
              <a:rPr lang="zh-CN" altLang="zh-CN" sz="2400" b="1" dirty="0">
                <a:latin typeface="楷体_GB2312" pitchFamily="49" charset="-122"/>
                <a:ea typeface="楷体_GB2312" pitchFamily="49" charset="-122"/>
              </a:rPr>
              <a:t>       产生缩松的原因是由于铸件最后凝固区域的收缩未能得到补足，或者由于</a:t>
            </a:r>
            <a:r>
              <a:rPr lang="zh-CN" altLang="zh-CN" sz="2400" b="1" dirty="0">
                <a:solidFill>
                  <a:srgbClr val="0000FF"/>
                </a:solidFill>
                <a:latin typeface="楷体_GB2312" pitchFamily="49" charset="-122"/>
                <a:ea typeface="楷体_GB2312" pitchFamily="49" charset="-122"/>
              </a:rPr>
              <a:t>合金的结晶区间太宽，被树枝状晶分隔开的小液体难以得到补缩所致。</a:t>
            </a:r>
            <a:r>
              <a:rPr lang="zh-CN" altLang="zh-CN" sz="2400" b="1" dirty="0">
                <a:latin typeface="楷体_GB2312" pitchFamily="49" charset="-122"/>
                <a:ea typeface="楷体_GB2312" pitchFamily="49" charset="-122"/>
              </a:rPr>
              <a:t>缩松隐藏于铸件内部，外观难以发现。</a:t>
            </a:r>
            <a:endParaRPr lang="zh-CN" altLang="zh-CN" sz="2400" b="1" dirty="0">
              <a:latin typeface="楷体_GB2312" pitchFamily="49" charset="-122"/>
              <a:ea typeface="楷体_GB2312" pitchFamily="49" charset="-122"/>
            </a:endParaRPr>
          </a:p>
          <a:p>
            <a:pPr lvl="0" eaLnBrk="1" hangingPunct="1">
              <a:buNone/>
            </a:pPr>
            <a:r>
              <a:rPr lang="zh-CN" altLang="zh-CN" sz="2000" b="1" dirty="0">
                <a:latin typeface="楷体_GB2312" pitchFamily="49" charset="-122"/>
                <a:ea typeface="楷体_GB2312" pitchFamily="49" charset="-122"/>
              </a:rPr>
              <a:t>　　　</a:t>
            </a:r>
            <a:endParaRPr lang="zh-CN" altLang="zh-CN" sz="2000" b="1" dirty="0">
              <a:latin typeface="楷体_GB2312" pitchFamily="49" charset="-122"/>
              <a:ea typeface="楷体_GB2312" pitchFamily="49" charset="-122"/>
            </a:endParaRPr>
          </a:p>
        </p:txBody>
      </p:sp>
      <p:pic>
        <p:nvPicPr>
          <p:cNvPr id="47108" name="Picture 6" descr="https://timgsa.baidu.com/timg?image&amp;quality=80&amp;size=b9999_10000&amp;sec=1537012310259&amp;di=b800bfc4590f72527e125c00c59a1ef3&amp;imgtype=0&amp;src=http%3A%2F%2Fwww.jdzj.com%2Fgongyi%2Fgongyiedit%2FUploadFile%2F201055151430292.gif"/>
          <p:cNvPicPr>
            <a:picLocks noChangeAspect="1"/>
          </p:cNvPicPr>
          <p:nvPr/>
        </p:nvPicPr>
        <p:blipFill>
          <a:blip r:embed="rId1"/>
          <a:stretch>
            <a:fillRect/>
          </a:stretch>
        </p:blipFill>
        <p:spPr>
          <a:xfrm>
            <a:off x="1571625" y="3643313"/>
            <a:ext cx="7081838" cy="32146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3">
                                            <p:txEl>
                                              <p:charRg st="0"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23">
                                            <p:txEl>
                                              <p:charRg st="6" end="3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723">
                                            <p:txEl>
                                              <p:charRg st="30" end="11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723">
                                            <p:txEl>
                                              <p:charRg st="118" end="12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8130" name="Group 5"/>
          <p:cNvGrpSpPr/>
          <p:nvPr/>
        </p:nvGrpSpPr>
        <p:grpSpPr>
          <a:xfrm>
            <a:off x="4554538" y="1116013"/>
            <a:ext cx="4968875" cy="5456237"/>
            <a:chOff x="0" y="0"/>
            <a:chExt cx="3130" cy="3437"/>
          </a:xfrm>
        </p:grpSpPr>
        <p:sp>
          <p:nvSpPr>
            <p:cNvPr id="48134" name="Text Box 2"/>
            <p:cNvSpPr txBox="1"/>
            <p:nvPr/>
          </p:nvSpPr>
          <p:spPr>
            <a:xfrm>
              <a:off x="0" y="3206"/>
              <a:ext cx="3130" cy="231"/>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en-US" sz="1800" b="1" dirty="0">
                  <a:solidFill>
                    <a:srgbClr val="000000"/>
                  </a:solidFill>
                  <a:latin typeface="楷体_GB2312" pitchFamily="49" charset="-122"/>
                  <a:ea typeface="楷体_GB2312" pitchFamily="49" charset="-122"/>
                </a:rPr>
                <a:t>图</a:t>
              </a:r>
              <a:r>
                <a:rPr lang="en-US" altLang="zh-CN" sz="1800" b="1" dirty="0">
                  <a:solidFill>
                    <a:srgbClr val="000000"/>
                  </a:solidFill>
                  <a:latin typeface="楷体_GB2312" pitchFamily="49" charset="-122"/>
                  <a:ea typeface="楷体_GB2312" pitchFamily="49" charset="-122"/>
                </a:rPr>
                <a:t>2-6 </a:t>
              </a:r>
              <a:r>
                <a:rPr lang="zh-CN" altLang="en-US" sz="1800" b="1" dirty="0">
                  <a:solidFill>
                    <a:srgbClr val="000000"/>
                  </a:solidFill>
                  <a:latin typeface="楷体_GB2312" pitchFamily="49" charset="-122"/>
                  <a:ea typeface="楷体_GB2312" pitchFamily="49" charset="-122"/>
                </a:rPr>
                <a:t>相图与缩孔</a:t>
              </a:r>
              <a:r>
                <a:rPr lang="en-US" altLang="zh-CN" sz="1800" b="1" dirty="0">
                  <a:solidFill>
                    <a:srgbClr val="000000"/>
                  </a:solidFill>
                  <a:latin typeface="楷体_GB2312" pitchFamily="49" charset="-122"/>
                  <a:ea typeface="楷体_GB2312" pitchFamily="49" charset="-122"/>
                </a:rPr>
                <a:t>/</a:t>
              </a:r>
              <a:r>
                <a:rPr lang="zh-CN" altLang="en-US" sz="1800" b="1" dirty="0">
                  <a:solidFill>
                    <a:srgbClr val="000000"/>
                  </a:solidFill>
                  <a:latin typeface="楷体_GB2312" pitchFamily="49" charset="-122"/>
                  <a:ea typeface="楷体_GB2312" pitchFamily="49" charset="-122"/>
                </a:rPr>
                <a:t>缩松和铸件致密性的关系</a:t>
              </a:r>
              <a:endParaRPr lang="zh-CN" altLang="en-US" sz="1800" b="1" dirty="0">
                <a:solidFill>
                  <a:srgbClr val="000000"/>
                </a:solidFill>
                <a:latin typeface="楷体_GB2312" pitchFamily="49" charset="-122"/>
                <a:ea typeface="楷体_GB2312" pitchFamily="49" charset="-122"/>
              </a:endParaRPr>
            </a:p>
          </p:txBody>
        </p:sp>
        <p:pic>
          <p:nvPicPr>
            <p:cNvPr id="48135" name="Picture 3" descr="2-6相图与缩孔关系"/>
            <p:cNvPicPr>
              <a:picLocks noChangeAspect="1"/>
            </p:cNvPicPr>
            <p:nvPr/>
          </p:nvPicPr>
          <p:blipFill>
            <a:blip r:embed="rId1"/>
            <a:stretch>
              <a:fillRect/>
            </a:stretch>
          </p:blipFill>
          <p:spPr>
            <a:xfrm>
              <a:off x="419" y="0"/>
              <a:ext cx="2292" cy="3190"/>
            </a:xfrm>
            <a:prstGeom prst="rect">
              <a:avLst/>
            </a:prstGeom>
            <a:noFill/>
            <a:ln w="9525">
              <a:noFill/>
            </a:ln>
          </p:spPr>
        </p:pic>
      </p:grpSp>
      <p:sp>
        <p:nvSpPr>
          <p:cNvPr id="48131" name="Text Box 4"/>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26</a:t>
            </a:r>
            <a:endParaRPr lang="en-US" altLang="zh-CN" sz="1400" b="1" dirty="0">
              <a:solidFill>
                <a:schemeClr val="bg1"/>
              </a:solidFill>
              <a:latin typeface="Arial" panose="020B0604020202020204" pitchFamily="34" charset="0"/>
            </a:endParaRPr>
          </a:p>
        </p:txBody>
      </p:sp>
      <p:sp>
        <p:nvSpPr>
          <p:cNvPr id="48132" name="矩形 1"/>
          <p:cNvSpPr/>
          <p:nvPr/>
        </p:nvSpPr>
        <p:spPr>
          <a:xfrm>
            <a:off x="827088" y="2133600"/>
            <a:ext cx="4176712" cy="3416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400" b="1" dirty="0">
                <a:solidFill>
                  <a:srgbClr val="009900"/>
                </a:solidFill>
                <a:latin typeface="楷体_GB2312" pitchFamily="49" charset="-122"/>
                <a:ea typeface="楷体_GB2312" pitchFamily="49" charset="-122"/>
              </a:rPr>
              <a:t>不同铸造合金的缩孔和缩松倾向不同。</a:t>
            </a:r>
            <a:r>
              <a:rPr lang="zh-CN" altLang="en-US" sz="2400" b="1" dirty="0">
                <a:solidFill>
                  <a:srgbClr val="FF0066"/>
                </a:solidFill>
                <a:latin typeface="楷体_GB2312" pitchFamily="49" charset="-122"/>
                <a:ea typeface="楷体_GB2312" pitchFamily="49" charset="-122"/>
              </a:rPr>
              <a:t>纯金属、共晶合金或窄结晶温度范围合金的缩孔倾向大、缩松倾向小：</a:t>
            </a:r>
            <a:endParaRPr lang="en-US" altLang="zh-CN" sz="2400" b="1" dirty="0">
              <a:solidFill>
                <a:srgbClr val="FF0066"/>
              </a:solidFill>
              <a:latin typeface="楷体_GB2312" pitchFamily="49" charset="-122"/>
              <a:ea typeface="楷体_GB2312" pitchFamily="49" charset="-122"/>
            </a:endParaRPr>
          </a:p>
          <a:p>
            <a:pPr marL="0" lvl="0" indent="0" eaLnBrk="1" hangingPunct="1">
              <a:spcBef>
                <a:spcPct val="0"/>
              </a:spcBef>
              <a:buClrTx/>
              <a:buSzTx/>
              <a:buNone/>
            </a:pPr>
            <a:r>
              <a:rPr lang="zh-CN" altLang="en-US" sz="2400" b="1" dirty="0">
                <a:solidFill>
                  <a:srgbClr val="0000FF"/>
                </a:solidFill>
                <a:latin typeface="楷体_GB2312" pitchFamily="49" charset="-122"/>
                <a:ea typeface="楷体_GB2312" pitchFamily="49" charset="-122"/>
              </a:rPr>
              <a:t>反之，结晶区间大的合金缩孔倾向虽小，但极易产生缩松。</a:t>
            </a:r>
            <a:r>
              <a:rPr lang="zh-CN" altLang="en-US" sz="2400" b="1" dirty="0">
                <a:latin typeface="楷体_GB2312" pitchFamily="49" charset="-122"/>
                <a:ea typeface="楷体_GB2312" pitchFamily="49" charset="-122"/>
              </a:rPr>
              <a:t>采用一些工艺措施可以控制铸件的凝固方式</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缩孔和缩松可在一定范围内使其互相转化。</a:t>
            </a:r>
            <a:endParaRPr lang="zh-CN" altLang="en-US" sz="2400" b="1" dirty="0">
              <a:latin typeface="楷体_GB2312" pitchFamily="49" charset="-122"/>
              <a:ea typeface="楷体_GB2312" pitchFamily="49" charset="-122"/>
            </a:endParaRPr>
          </a:p>
        </p:txBody>
      </p:sp>
      <p:sp>
        <p:nvSpPr>
          <p:cNvPr id="7" name="Rectangle 2"/>
          <p:cNvSpPr txBox="1">
            <a:spLocks noChangeArrowheads="1"/>
          </p:cNvSpPr>
          <p:nvPr/>
        </p:nvSpPr>
        <p:spPr bwMode="auto">
          <a:xfrm>
            <a:off x="200025" y="0"/>
            <a:ext cx="8229600" cy="1139825"/>
          </a:xfrm>
          <a:prstGeom prst="rect">
            <a:avLst/>
          </a:prstGeom>
          <a:noFill/>
          <a:ln w="9525">
            <a:noFill/>
            <a:miter lim="800000"/>
          </a:ln>
        </p:spPr>
        <p:txBody>
          <a:bodyPr anchor="b"/>
          <a:lstStyle/>
          <a:p>
            <a:pPr marR="0" algn="ctr" defTabSz="914400" eaLnBrk="1" hangingPunct="1">
              <a:buClrTx/>
              <a:buSzTx/>
              <a:buFontTx/>
              <a:buNone/>
              <a:defRPr/>
            </a:pPr>
            <a:r>
              <a:rPr kumimoji="0" lang="zh-CN" altLang="en-US" sz="4000" b="1" kern="1200" cap="none" spc="0" normalizeH="0" baseline="0" noProof="0">
                <a:solidFill>
                  <a:srgbClr val="CC3300"/>
                </a:solidFill>
                <a:latin typeface="楷体_GB2312" pitchFamily="49" charset="-122"/>
                <a:ea typeface="楷体_GB2312" pitchFamily="49" charset="-122"/>
                <a:cs typeface="+mj-cs"/>
              </a:rPr>
              <a:t>铸件中的缩孔与缩松</a:t>
            </a:r>
            <a:endParaRPr kumimoji="0" lang="zh-CN" altLang="zh-CN" sz="4000" b="1" kern="1200" cap="none" spc="0" normalizeH="0" baseline="0" noProof="0" dirty="0">
              <a:solidFill>
                <a:schemeClr val="tx2"/>
              </a:solidFill>
              <a:latin typeface="+mj-lt"/>
              <a:ea typeface="楷体_GB2312" pitchFamily="49" charset="-122"/>
              <a:cs typeface="+mj-cs"/>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p:nvPr/>
        </p:nvSpPr>
        <p:spPr>
          <a:xfrm>
            <a:off x="395288" y="1609725"/>
            <a:ext cx="8353425" cy="45799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342900" lvl="0" indent="-342900" eaLnBrk="1" hangingPunct="1">
              <a:lnSpc>
                <a:spcPct val="135000"/>
              </a:lnSpc>
              <a:spcBef>
                <a:spcPct val="0"/>
              </a:spcBef>
              <a:buClrTx/>
              <a:buSzTx/>
              <a:buFont typeface="Arial" panose="020B0604020202020204" pitchFamily="34" charset="0"/>
              <a:buChar char="•"/>
            </a:pPr>
            <a:r>
              <a:rPr lang="zh-CN" altLang="en-US" sz="2400" b="1" dirty="0">
                <a:latin typeface="楷体_GB2312" pitchFamily="49" charset="-122"/>
                <a:ea typeface="楷体_GB2312" pitchFamily="49" charset="-122"/>
              </a:rPr>
              <a:t>集中缩孔易于检查和修补，便于采取工艺措施防止。但缩松，特别是显微缩松，分布面广，</a:t>
            </a:r>
            <a:r>
              <a:rPr lang="zh-CN" altLang="en-US" sz="2400" b="1" dirty="0">
                <a:solidFill>
                  <a:srgbClr val="FF3399"/>
                </a:solidFill>
                <a:latin typeface="楷体_GB2312" pitchFamily="49" charset="-122"/>
                <a:ea typeface="楷体_GB2312" pitchFamily="49" charset="-122"/>
              </a:rPr>
              <a:t>既难以补缩，又难以发现</a:t>
            </a:r>
            <a:r>
              <a:rPr lang="zh-CN" altLang="en-US" sz="2400" dirty="0">
                <a:solidFill>
                  <a:srgbClr val="FF3399"/>
                </a:solidFill>
                <a:latin typeface="楷体_GB2312" pitchFamily="49" charset="-122"/>
                <a:ea typeface="楷体_GB2312" pitchFamily="49" charset="-122"/>
              </a:rPr>
              <a:t>。</a:t>
            </a:r>
            <a:endParaRPr lang="en-US" altLang="zh-CN" sz="2400" dirty="0">
              <a:solidFill>
                <a:srgbClr val="FF3399"/>
              </a:solidFill>
              <a:latin typeface="楷体_GB2312" pitchFamily="49" charset="-122"/>
              <a:ea typeface="楷体_GB2312" pitchFamily="49" charset="-122"/>
            </a:endParaRPr>
          </a:p>
          <a:p>
            <a:pPr marL="342900" lvl="0" indent="-342900" eaLnBrk="1" hangingPunct="1">
              <a:lnSpc>
                <a:spcPct val="135000"/>
              </a:lnSpc>
              <a:spcBef>
                <a:spcPct val="0"/>
              </a:spcBef>
              <a:buClrTx/>
              <a:buSzTx/>
              <a:buFont typeface="Arial" panose="020B0604020202020204" pitchFamily="34" charset="0"/>
              <a:buChar char="•"/>
            </a:pPr>
            <a:r>
              <a:rPr lang="zh-CN" altLang="en-US" sz="2400" b="1" dirty="0">
                <a:latin typeface="楷体_GB2312" pitchFamily="49" charset="-122"/>
                <a:ea typeface="楷体_GB2312" pitchFamily="49" charset="-122"/>
              </a:rPr>
              <a:t>合金液态收缩和凝固收缩愈大</a:t>
            </a:r>
            <a:r>
              <a:rPr lang="en-US" altLang="zh-CN" sz="2400" b="1" dirty="0">
                <a:solidFill>
                  <a:srgbClr val="009900"/>
                </a:solidFill>
                <a:latin typeface="楷体_GB2312" pitchFamily="49" charset="-122"/>
                <a:ea typeface="楷体_GB2312" pitchFamily="49" charset="-122"/>
              </a:rPr>
              <a:t>(</a:t>
            </a:r>
            <a:r>
              <a:rPr lang="zh-CN" altLang="en-US" sz="2400" b="1" dirty="0">
                <a:solidFill>
                  <a:srgbClr val="009900"/>
                </a:solidFill>
                <a:latin typeface="楷体_GB2312" pitchFamily="49" charset="-122"/>
                <a:ea typeface="楷体_GB2312" pitchFamily="49" charset="-122"/>
              </a:rPr>
              <a:t>如铸钢、白口铸铁、铝青铜等</a:t>
            </a:r>
            <a:r>
              <a:rPr lang="en-US" altLang="zh-CN" sz="2400" b="1" dirty="0">
                <a:solidFill>
                  <a:srgbClr val="0099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收缩的容积就愈大，愈易形成缩孔。</a:t>
            </a:r>
            <a:endParaRPr lang="en-US" altLang="zh-CN" sz="2400" b="1" dirty="0">
              <a:latin typeface="楷体_GB2312" pitchFamily="49" charset="-122"/>
              <a:ea typeface="楷体_GB2312" pitchFamily="49" charset="-122"/>
            </a:endParaRPr>
          </a:p>
          <a:p>
            <a:pPr marL="342900" lvl="0" indent="-342900" eaLnBrk="1" hangingPunct="1">
              <a:lnSpc>
                <a:spcPct val="135000"/>
              </a:lnSpc>
              <a:spcBef>
                <a:spcPct val="0"/>
              </a:spcBef>
              <a:buClrTx/>
              <a:buSzTx/>
              <a:buFont typeface="Arial" panose="020B0604020202020204" pitchFamily="34" charset="0"/>
              <a:buChar char="•"/>
            </a:pPr>
            <a:r>
              <a:rPr lang="zh-CN" altLang="en-US" sz="2400" b="1" dirty="0">
                <a:solidFill>
                  <a:srgbClr val="FF3399"/>
                </a:solidFill>
                <a:latin typeface="楷体_GB2312" pitchFamily="49" charset="-122"/>
                <a:ea typeface="楷体_GB2312" pitchFamily="49" charset="-122"/>
              </a:rPr>
              <a:t>合金浇注温度愈高，液态收缩也愈大</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通常每提高</a:t>
            </a:r>
            <a:r>
              <a:rPr lang="en-US" altLang="zh-CN" sz="2400" b="1" dirty="0">
                <a:latin typeface="楷体_GB2312" pitchFamily="49" charset="-122"/>
                <a:ea typeface="楷体_GB2312" pitchFamily="49" charset="-122"/>
              </a:rPr>
              <a:t>100℃</a:t>
            </a:r>
            <a:r>
              <a:rPr lang="zh-CN" altLang="en-US" sz="2400" b="1" dirty="0">
                <a:latin typeface="楷体_GB2312" pitchFamily="49" charset="-122"/>
                <a:ea typeface="楷体_GB2312" pitchFamily="49" charset="-122"/>
              </a:rPr>
              <a:t>，体积收缩增加</a:t>
            </a:r>
            <a:r>
              <a:rPr lang="en-US" altLang="zh-CN" sz="2400" b="1" dirty="0">
                <a:latin typeface="楷体_GB2312" pitchFamily="49" charset="-122"/>
                <a:ea typeface="楷体_GB2312" pitchFamily="49" charset="-122"/>
              </a:rPr>
              <a:t>1.6%</a:t>
            </a:r>
            <a:r>
              <a:rPr lang="zh-CN" altLang="en-US" sz="2400" b="1" dirty="0">
                <a:latin typeface="楷体_GB2312" pitchFamily="49" charset="-122"/>
                <a:ea typeface="楷体_GB2312" pitchFamily="49" charset="-122"/>
              </a:rPr>
              <a:t>左右</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a:t>
            </a:r>
            <a:r>
              <a:rPr lang="zh-CN" altLang="en-US" sz="2400" b="1" dirty="0">
                <a:solidFill>
                  <a:srgbClr val="FF3399"/>
                </a:solidFill>
                <a:latin typeface="楷体_GB2312" pitchFamily="49" charset="-122"/>
                <a:ea typeface="楷体_GB2312" pitchFamily="49" charset="-122"/>
              </a:rPr>
              <a:t>愈易产生缩孔。</a:t>
            </a:r>
            <a:endParaRPr lang="en-US" altLang="zh-CN" sz="2400" b="1" dirty="0">
              <a:solidFill>
                <a:srgbClr val="FF3399"/>
              </a:solidFill>
              <a:latin typeface="楷体_GB2312" pitchFamily="49" charset="-122"/>
              <a:ea typeface="楷体_GB2312" pitchFamily="49" charset="-122"/>
            </a:endParaRPr>
          </a:p>
          <a:p>
            <a:pPr marL="342900" lvl="0" indent="-342900" eaLnBrk="1" hangingPunct="1">
              <a:lnSpc>
                <a:spcPct val="135000"/>
              </a:lnSpc>
              <a:spcBef>
                <a:spcPct val="0"/>
              </a:spcBef>
              <a:buClrTx/>
              <a:buSzTx/>
              <a:buFont typeface="Arial" panose="020B0604020202020204" pitchFamily="34" charset="0"/>
              <a:buChar char="•"/>
            </a:pPr>
            <a:r>
              <a:rPr lang="zh-CN" altLang="en-US" sz="2400" b="1" dirty="0">
                <a:solidFill>
                  <a:srgbClr val="FF3399"/>
                </a:solidFill>
                <a:latin typeface="楷体_GB2312" pitchFamily="49" charset="-122"/>
                <a:ea typeface="楷体_GB2312" pitchFamily="49" charset="-122"/>
              </a:rPr>
              <a:t>结晶间隔大的合金，易于产生缩松；纯金属或共晶成分的合金，易于形成集中的缩孔</a:t>
            </a:r>
            <a:r>
              <a:rPr lang="zh-CN" altLang="en-US" sz="2400" dirty="0">
                <a:solidFill>
                  <a:srgbClr val="FF3399"/>
                </a:solidFill>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p:txBody>
      </p:sp>
      <p:sp>
        <p:nvSpPr>
          <p:cNvPr id="49155" name="Text Box 3"/>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25</a:t>
            </a:r>
            <a:endParaRPr lang="en-US" altLang="zh-CN" sz="1400" b="1" dirty="0">
              <a:solidFill>
                <a:schemeClr val="bg1"/>
              </a:solidFill>
              <a:latin typeface="Arial" panose="020B0604020202020204" pitchFamily="34" charset="0"/>
            </a:endParaRPr>
          </a:p>
        </p:txBody>
      </p:sp>
      <p:sp>
        <p:nvSpPr>
          <p:cNvPr id="5" name="Rectangle 2"/>
          <p:cNvSpPr txBox="1">
            <a:spLocks noChangeArrowheads="1"/>
          </p:cNvSpPr>
          <p:nvPr/>
        </p:nvSpPr>
        <p:spPr bwMode="auto">
          <a:xfrm>
            <a:off x="457200" y="201613"/>
            <a:ext cx="8229600" cy="1139825"/>
          </a:xfrm>
          <a:prstGeom prst="rect">
            <a:avLst/>
          </a:prstGeom>
          <a:noFill/>
          <a:ln w="9525">
            <a:noFill/>
            <a:miter lim="800000"/>
          </a:ln>
        </p:spPr>
        <p:txBody>
          <a:bodyPr anchor="b"/>
          <a:lstStyle/>
          <a:p>
            <a:pPr marR="0" algn="ctr" defTabSz="914400" eaLnBrk="1" hangingPunct="1">
              <a:buClrTx/>
              <a:buSzTx/>
              <a:buFontTx/>
              <a:buNone/>
              <a:defRPr/>
            </a:pPr>
            <a:r>
              <a:rPr kumimoji="0" lang="zh-CN" altLang="en-US" sz="4000" b="1" kern="1200" cap="none" spc="0" normalizeH="0" baseline="0" noProof="0">
                <a:solidFill>
                  <a:srgbClr val="CC3300"/>
                </a:solidFill>
                <a:latin typeface="楷体_GB2312" pitchFamily="49" charset="-122"/>
                <a:ea typeface="楷体_GB2312" pitchFamily="49" charset="-122"/>
                <a:cs typeface="+mj-cs"/>
              </a:rPr>
              <a:t>铸件中的缩孔与缩松</a:t>
            </a:r>
            <a:endParaRPr kumimoji="0" lang="zh-CN" altLang="zh-CN" sz="4000" b="1" kern="1200" cap="none" spc="0" normalizeH="0" baseline="0" noProof="0" dirty="0">
              <a:solidFill>
                <a:schemeClr val="tx2"/>
              </a:solidFill>
              <a:latin typeface="+mj-lt"/>
              <a:ea typeface="楷体_GB2312" pitchFamily="49" charset="-122"/>
              <a:cs typeface="+mj-cs"/>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5" name="Rectangle 3"/>
          <p:cNvSpPr>
            <a:spLocks noGrp="1"/>
          </p:cNvSpPr>
          <p:nvPr>
            <p:ph type="body"/>
          </p:nvPr>
        </p:nvSpPr>
        <p:spPr>
          <a:xfrm>
            <a:off x="428625" y="2071688"/>
            <a:ext cx="8208963" cy="4032250"/>
          </a:xfrm>
        </p:spPr>
        <p:txBody>
          <a:bodyPr vert="horz" wrap="square" lIns="91440" tIns="45720" rIns="91440" bIns="45720" anchor="t" anchorCtr="0"/>
          <a:p>
            <a:pPr eaLnBrk="1" hangingPunct="1">
              <a:buFont typeface="Wingdings" panose="05000000000000000000" pitchFamily="2" charset="2"/>
              <a:buChar char="p"/>
            </a:pPr>
            <a:r>
              <a:rPr lang="zh-CN" altLang="zh-CN" sz="2800" b="1" dirty="0">
                <a:solidFill>
                  <a:srgbClr val="CC3300"/>
                </a:solidFill>
                <a:ea typeface="楷体_GB2312" pitchFamily="49" charset="-122"/>
              </a:rPr>
              <a:t>缩孔和缩松的防止</a:t>
            </a:r>
            <a:endParaRPr lang="zh-CN" altLang="zh-CN" sz="2800" b="1" dirty="0">
              <a:solidFill>
                <a:srgbClr val="CC3300"/>
              </a:solidFill>
              <a:ea typeface="楷体_GB2312" pitchFamily="49" charset="-122"/>
            </a:endParaRPr>
          </a:p>
          <a:p>
            <a:pPr eaLnBrk="1" hangingPunct="1">
              <a:buNone/>
            </a:pPr>
            <a:r>
              <a:rPr lang="zh-CN" altLang="zh-CN" sz="2600" b="1" dirty="0">
                <a:ea typeface="楷体_GB2312" pitchFamily="49" charset="-122"/>
              </a:rPr>
              <a:t>　　　</a:t>
            </a:r>
            <a:r>
              <a:rPr lang="zh-CN" altLang="zh-CN" sz="2400" b="1" dirty="0">
                <a:solidFill>
                  <a:srgbClr val="009900"/>
                </a:solidFill>
                <a:ea typeface="楷体_GB2312" pitchFamily="49" charset="-122"/>
              </a:rPr>
              <a:t>缩孔和缩松都会使铸件的机械性能下降。</a:t>
            </a:r>
            <a:r>
              <a:rPr lang="zh-CN" altLang="zh-CN" sz="2400" b="1" dirty="0">
                <a:ea typeface="楷体_GB2312" pitchFamily="49" charset="-122"/>
              </a:rPr>
              <a:t>缩松还影响铸件的气密性和物理、化学性能。因此，必须防止。</a:t>
            </a:r>
            <a:endParaRPr lang="zh-CN" altLang="zh-CN" sz="2400" b="1" dirty="0">
              <a:ea typeface="楷体_GB2312" pitchFamily="49" charset="-122"/>
            </a:endParaRPr>
          </a:p>
          <a:p>
            <a:pPr eaLnBrk="1" hangingPunct="1">
              <a:buNone/>
            </a:pPr>
            <a:r>
              <a:rPr lang="zh-CN" altLang="zh-CN" sz="2400" b="1" dirty="0">
                <a:solidFill>
                  <a:srgbClr val="FF00FF"/>
                </a:solidFill>
                <a:ea typeface="楷体_GB2312" pitchFamily="49" charset="-122"/>
              </a:rPr>
              <a:t>       基本原则：</a:t>
            </a:r>
            <a:r>
              <a:rPr lang="zh-CN" altLang="zh-CN" sz="2400" b="1" dirty="0">
                <a:solidFill>
                  <a:srgbClr val="0000FF"/>
                </a:solidFill>
                <a:ea typeface="楷体_GB2312" pitchFamily="49" charset="-122"/>
              </a:rPr>
              <a:t>针对该合金的收缩和凝固特点制定正确的铸造工艺，使铸件在凝固过程中建立良好的补缩条件，</a:t>
            </a:r>
            <a:r>
              <a:rPr lang="zh-CN" altLang="zh-CN" sz="2400" b="1" dirty="0">
                <a:solidFill>
                  <a:srgbClr val="FF3300"/>
                </a:solidFill>
                <a:ea typeface="楷体_GB2312" pitchFamily="49" charset="-122"/>
              </a:rPr>
              <a:t>尽可能使缩松转化为缩孔，并使缩孔出现在铸件最后凝固的地方。</a:t>
            </a:r>
            <a:r>
              <a:rPr lang="zh-CN" altLang="zh-CN" sz="2400" b="1" dirty="0">
                <a:solidFill>
                  <a:srgbClr val="0000FF"/>
                </a:solidFill>
                <a:ea typeface="楷体_GB2312" pitchFamily="49" charset="-122"/>
              </a:rPr>
              <a:t>这样，在铸件最后凝固的地方安置一定尺寸的冒口，使缩孔集中于冒口中，或者把浇口开在最后凝固的地方直接补缩，就可以获得健全的铸件。</a:t>
            </a:r>
            <a:endParaRPr lang="zh-CN" altLang="zh-CN" sz="2400" b="1" dirty="0">
              <a:solidFill>
                <a:srgbClr val="0000FF"/>
              </a:solidFill>
              <a:ea typeface="楷体_GB2312" pitchFamily="49" charset="-122"/>
            </a:endParaRPr>
          </a:p>
        </p:txBody>
      </p:sp>
      <p:sp>
        <p:nvSpPr>
          <p:cNvPr id="4" name="Rectangle 2"/>
          <p:cNvSpPr txBox="1">
            <a:spLocks noChangeArrowheads="1"/>
          </p:cNvSpPr>
          <p:nvPr/>
        </p:nvSpPr>
        <p:spPr bwMode="auto">
          <a:xfrm>
            <a:off x="457200" y="201613"/>
            <a:ext cx="8229600" cy="1139825"/>
          </a:xfrm>
          <a:prstGeom prst="rect">
            <a:avLst/>
          </a:prstGeom>
          <a:noFill/>
          <a:ln w="9525">
            <a:noFill/>
            <a:miter lim="800000"/>
          </a:ln>
        </p:spPr>
        <p:txBody>
          <a:bodyPr anchor="b"/>
          <a:lstStyle/>
          <a:p>
            <a:pPr marR="0" algn="ctr" defTabSz="914400" eaLnBrk="1" hangingPunct="1">
              <a:buClrTx/>
              <a:buSzTx/>
              <a:buFontTx/>
              <a:buNone/>
              <a:defRPr/>
            </a:pPr>
            <a:r>
              <a:rPr kumimoji="0" lang="zh-CN" altLang="en-US" sz="4000" b="1" kern="1200" cap="none" spc="0" normalizeH="0" baseline="0" noProof="0">
                <a:solidFill>
                  <a:srgbClr val="CC3300"/>
                </a:solidFill>
                <a:latin typeface="楷体_GB2312" pitchFamily="49" charset="-122"/>
                <a:ea typeface="楷体_GB2312" pitchFamily="49" charset="-122"/>
                <a:cs typeface="+mj-cs"/>
              </a:rPr>
              <a:t>铸件中的缩孔与缩松</a:t>
            </a:r>
            <a:endParaRPr kumimoji="0" lang="zh-CN" altLang="zh-CN" sz="4000" b="1" kern="1200" cap="none" spc="0" normalizeH="0" baseline="0" noProof="0" dirty="0">
              <a:solidFill>
                <a:schemeClr val="tx2"/>
              </a:solidFill>
              <a:latin typeface="+mj-lt"/>
              <a:ea typeface="楷体_GB2312" pitchFamily="49"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5">
                                            <p:txEl>
                                              <p:charRg st="0"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charRg st="9" end="5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charRg st="59" end="20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p:nvPr/>
        </p:nvSpPr>
        <p:spPr>
          <a:xfrm>
            <a:off x="457200" y="228600"/>
            <a:ext cx="8229600" cy="628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lnSpc>
                <a:spcPct val="110000"/>
              </a:lnSpc>
              <a:spcBef>
                <a:spcPct val="0"/>
              </a:spcBef>
              <a:buClrTx/>
              <a:buSzTx/>
              <a:buNone/>
            </a:pPr>
            <a:r>
              <a:rPr lang="en-US" altLang="zh-CN" sz="32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51203" name="Rectangle 3"/>
          <p:cNvSpPr/>
          <p:nvPr/>
        </p:nvSpPr>
        <p:spPr>
          <a:xfrm>
            <a:off x="520700" y="1612900"/>
            <a:ext cx="8659813" cy="3508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lnSpc>
                <a:spcPct val="150000"/>
              </a:lnSpc>
              <a:spcBef>
                <a:spcPct val="0"/>
              </a:spcBef>
              <a:buClrTx/>
              <a:buSzTx/>
              <a:buNone/>
            </a:pPr>
            <a:r>
              <a:rPr lang="en-US" altLang="zh-CN" sz="2800" b="1" dirty="0">
                <a:solidFill>
                  <a:srgbClr val="990033"/>
                </a:solidFill>
                <a:latin typeface="楷体_GB2312" pitchFamily="49" charset="-122"/>
                <a:ea typeface="楷体_GB2312" pitchFamily="49" charset="-122"/>
              </a:rPr>
              <a:t>(1) </a:t>
            </a:r>
            <a:r>
              <a:rPr lang="zh-CN" altLang="en-US" sz="2800" b="1" dirty="0">
                <a:solidFill>
                  <a:srgbClr val="990033"/>
                </a:solidFill>
                <a:latin typeface="楷体_GB2312" pitchFamily="49" charset="-122"/>
                <a:ea typeface="楷体_GB2312" pitchFamily="49" charset="-122"/>
              </a:rPr>
              <a:t>使缩松转化为缩孔的方法</a:t>
            </a:r>
            <a:br>
              <a:rPr lang="zh-CN" altLang="en-US" sz="2800" b="1" dirty="0">
                <a:solidFill>
                  <a:srgbClr val="990033"/>
                </a:solidFill>
                <a:latin typeface="楷体_GB2312" pitchFamily="49" charset="-122"/>
                <a:ea typeface="楷体_GB2312" pitchFamily="49" charset="-122"/>
              </a:rPr>
            </a:br>
            <a:r>
              <a:rPr lang="zh-CN" altLang="en-US" sz="2400" dirty="0">
                <a:latin typeface="宋体" panose="02010600030101010101" pitchFamily="2" charset="-122"/>
              </a:rPr>
              <a:t>    </a:t>
            </a:r>
            <a:r>
              <a:rPr lang="zh-CN" altLang="en-US" sz="2400" b="1" dirty="0">
                <a:solidFill>
                  <a:srgbClr val="009900"/>
                </a:solidFill>
                <a:latin typeface="楷体_GB2312" pitchFamily="49" charset="-122"/>
                <a:ea typeface="楷体_GB2312" pitchFamily="49" charset="-122"/>
              </a:rPr>
              <a:t>缩松转化为缩孔的途径可从两方面考虑：</a:t>
            </a:r>
            <a:endParaRPr lang="zh-CN" altLang="en-US" sz="2400" b="1" dirty="0">
              <a:solidFill>
                <a:srgbClr val="009900"/>
              </a:solidFill>
              <a:latin typeface="楷体_GB2312" pitchFamily="49" charset="-122"/>
              <a:ea typeface="楷体_GB2312" pitchFamily="49" charset="-122"/>
            </a:endParaRPr>
          </a:p>
          <a:p>
            <a:pPr marL="0" lvl="0" indent="0" eaLnBrk="1" hangingPunct="1">
              <a:lnSpc>
                <a:spcPct val="150000"/>
              </a:lnSpc>
              <a:spcBef>
                <a:spcPct val="0"/>
              </a:spcBef>
              <a:buClrTx/>
              <a:buSzTx/>
              <a:buNone/>
            </a:pPr>
            <a:r>
              <a:rPr lang="zh-CN" altLang="en-US" sz="2400"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第一，</a:t>
            </a:r>
            <a:r>
              <a:rPr lang="zh-CN" altLang="en-US" sz="2400" b="1" dirty="0">
                <a:solidFill>
                  <a:srgbClr val="FF3300"/>
                </a:solidFill>
                <a:latin typeface="楷体_GB2312" pitchFamily="49" charset="-122"/>
                <a:ea typeface="楷体_GB2312" pitchFamily="49" charset="-122"/>
              </a:rPr>
              <a:t>尽量选择凝固区域较窄的合金，</a:t>
            </a:r>
            <a:r>
              <a:rPr lang="zh-CN" altLang="en-US" sz="2400" b="1" dirty="0">
                <a:latin typeface="楷体_GB2312" pitchFamily="49" charset="-122"/>
                <a:ea typeface="楷体_GB2312" pitchFamily="49" charset="-122"/>
              </a:rPr>
              <a:t>使合金倾向于逐层凝固，从根本上解决缩松的生成条件；</a:t>
            </a:r>
            <a:endParaRPr lang="zh-CN" altLang="en-US" sz="2400" b="1" dirty="0">
              <a:latin typeface="楷体_GB2312" pitchFamily="49" charset="-122"/>
              <a:ea typeface="楷体_GB2312" pitchFamily="49" charset="-122"/>
            </a:endParaRPr>
          </a:p>
          <a:p>
            <a:pPr marL="0" lvl="0" indent="0" eaLnBrk="1" hangingPunct="1">
              <a:lnSpc>
                <a:spcPct val="150000"/>
              </a:lnSpc>
              <a:spcBef>
                <a:spcPct val="0"/>
              </a:spcBef>
              <a:buClrTx/>
              <a:buSzTx/>
              <a:buNone/>
            </a:pPr>
            <a:r>
              <a:rPr lang="zh-CN" altLang="en-US" sz="2400"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第二，对一些凝固区域较宽的合金，</a:t>
            </a:r>
            <a:r>
              <a:rPr lang="zh-CN" altLang="en-US" sz="2400" b="1" dirty="0">
                <a:solidFill>
                  <a:srgbClr val="FF3300"/>
                </a:solidFill>
                <a:latin typeface="楷体_GB2312" pitchFamily="49" charset="-122"/>
                <a:ea typeface="楷体_GB2312" pitchFamily="49" charset="-122"/>
              </a:rPr>
              <a:t>可采用增大凝固的温度梯度办法</a:t>
            </a:r>
            <a:r>
              <a:rPr lang="zh-CN" altLang="en-US" sz="2400" dirty="0">
                <a:solidFill>
                  <a:srgbClr val="FF33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使合金尽可能地趋向于</a:t>
            </a:r>
            <a:r>
              <a:rPr lang="zh-CN" altLang="en-US" sz="2400" b="1" dirty="0">
                <a:solidFill>
                  <a:srgbClr val="FF0000"/>
                </a:solidFill>
                <a:latin typeface="楷体_GB2312" pitchFamily="49" charset="-122"/>
                <a:ea typeface="楷体_GB2312" pitchFamily="49" charset="-122"/>
              </a:rPr>
              <a:t>逐层凝固</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p:txBody>
      </p:sp>
      <p:sp>
        <p:nvSpPr>
          <p:cNvPr id="51204" name="Text Box 5"/>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32</a:t>
            </a:r>
            <a:endParaRPr lang="en-US" altLang="zh-CN" sz="1400" b="1" dirty="0">
              <a:solidFill>
                <a:schemeClr val="bg1"/>
              </a:solidFill>
              <a:latin typeface="Arial" panose="020B0604020202020204" pitchFamily="34" charset="0"/>
            </a:endParaRPr>
          </a:p>
        </p:txBody>
      </p:sp>
      <p:sp>
        <p:nvSpPr>
          <p:cNvPr id="6" name="Rectangle 2"/>
          <p:cNvSpPr txBox="1">
            <a:spLocks noChangeArrowheads="1"/>
          </p:cNvSpPr>
          <p:nvPr/>
        </p:nvSpPr>
        <p:spPr bwMode="auto">
          <a:xfrm>
            <a:off x="457200" y="201613"/>
            <a:ext cx="8229600" cy="1139825"/>
          </a:xfrm>
          <a:prstGeom prst="rect">
            <a:avLst/>
          </a:prstGeom>
          <a:noFill/>
          <a:ln w="9525">
            <a:noFill/>
            <a:miter lim="800000"/>
          </a:ln>
        </p:spPr>
        <p:txBody>
          <a:bodyPr anchor="b"/>
          <a:lstStyle/>
          <a:p>
            <a:pPr marR="0" algn="ctr" defTabSz="914400" eaLnBrk="1" hangingPunct="1">
              <a:buClrTx/>
              <a:buSzTx/>
              <a:buFontTx/>
              <a:buNone/>
              <a:defRPr/>
            </a:pPr>
            <a:r>
              <a:rPr kumimoji="0" lang="zh-CN" altLang="en-US" sz="4000" b="1" kern="1200" cap="none" spc="0" normalizeH="0" baseline="0" noProof="0">
                <a:solidFill>
                  <a:srgbClr val="CC3300"/>
                </a:solidFill>
                <a:latin typeface="楷体_GB2312" pitchFamily="49" charset="-122"/>
                <a:ea typeface="楷体_GB2312" pitchFamily="49" charset="-122"/>
                <a:cs typeface="+mj-cs"/>
              </a:rPr>
              <a:t>铸件中的缩孔与缩松</a:t>
            </a:r>
            <a:endParaRPr kumimoji="0" lang="zh-CN" altLang="zh-CN" sz="4000" b="1" kern="1200" cap="none" spc="0" normalizeH="0" baseline="0" noProof="0" dirty="0">
              <a:solidFill>
                <a:schemeClr val="tx2"/>
              </a:solidFill>
              <a:latin typeface="+mj-lt"/>
              <a:ea typeface="楷体_GB2312" pitchFamily="49" charset="-122"/>
              <a:cs typeface="+mj-cs"/>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p:nvPr/>
        </p:nvSpPr>
        <p:spPr>
          <a:xfrm>
            <a:off x="457200" y="228600"/>
            <a:ext cx="8229600" cy="628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lnSpc>
                <a:spcPct val="110000"/>
              </a:lnSpc>
              <a:spcBef>
                <a:spcPct val="0"/>
              </a:spcBef>
              <a:buClrTx/>
              <a:buSzTx/>
              <a:buNone/>
            </a:pPr>
            <a:r>
              <a:rPr lang="en-US" altLang="zh-CN" sz="32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52227" name="Rectangle 3"/>
          <p:cNvSpPr/>
          <p:nvPr/>
        </p:nvSpPr>
        <p:spPr>
          <a:xfrm>
            <a:off x="152400" y="2133600"/>
            <a:ext cx="8839200" cy="41100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lnSpc>
                <a:spcPct val="120000"/>
              </a:lnSpc>
              <a:spcBef>
                <a:spcPct val="0"/>
              </a:spcBef>
              <a:buClrTx/>
              <a:buSzTx/>
              <a:buNone/>
            </a:pPr>
            <a:r>
              <a:rPr lang="en-US" altLang="zh-CN" sz="2800" dirty="0">
                <a:solidFill>
                  <a:schemeClr val="bg1"/>
                </a:solidFill>
                <a:latin typeface="楷体_GB2312" pitchFamily="49" charset="-122"/>
                <a:ea typeface="楷体_GB2312" pitchFamily="49" charset="-122"/>
              </a:rPr>
              <a:t> </a:t>
            </a:r>
            <a:r>
              <a:rPr lang="en-US" altLang="zh-CN" sz="2800" b="1" dirty="0">
                <a:solidFill>
                  <a:srgbClr val="990033"/>
                </a:solidFill>
                <a:latin typeface="楷体_GB2312" pitchFamily="49" charset="-122"/>
                <a:ea typeface="楷体_GB2312" pitchFamily="49" charset="-122"/>
              </a:rPr>
              <a:t>(2) </a:t>
            </a:r>
            <a:r>
              <a:rPr lang="zh-CN" altLang="en-US" sz="2800" b="1" dirty="0">
                <a:solidFill>
                  <a:srgbClr val="990033"/>
                </a:solidFill>
                <a:latin typeface="楷体_GB2312" pitchFamily="49" charset="-122"/>
                <a:ea typeface="楷体_GB2312" pitchFamily="49" charset="-122"/>
              </a:rPr>
              <a:t>防止缩孔的方法</a:t>
            </a:r>
            <a:endParaRPr lang="zh-CN" altLang="en-US" sz="2800" b="1" dirty="0">
              <a:solidFill>
                <a:srgbClr val="990033"/>
              </a:solidFill>
              <a:latin typeface="楷体_GB2312" pitchFamily="49" charset="-122"/>
              <a:ea typeface="楷体_GB2312" pitchFamily="49" charset="-122"/>
            </a:endParaRPr>
          </a:p>
          <a:p>
            <a:pPr marL="0" lvl="0" indent="0" eaLnBrk="1" hangingPunct="1">
              <a:lnSpc>
                <a:spcPct val="120000"/>
              </a:lnSpc>
              <a:spcBef>
                <a:spcPct val="0"/>
              </a:spcBef>
              <a:buClrTx/>
              <a:buSzTx/>
              <a:buNone/>
            </a:pPr>
            <a:r>
              <a:rPr lang="zh-CN" altLang="en-US" sz="2400"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要使铸件在凝固过程中建立良好的补缩条件，主要是通过控制铸件的凝固方向使之符合</a:t>
            </a:r>
            <a:r>
              <a:rPr lang="zh-CN" altLang="en-US" sz="2400" b="1" dirty="0">
                <a:solidFill>
                  <a:srgbClr val="FF3300"/>
                </a:solidFill>
                <a:latin typeface="Arial" panose="020B0604020202020204" pitchFamily="34" charset="0"/>
                <a:ea typeface="楷体_GB2312" pitchFamily="49" charset="-122"/>
              </a:rPr>
              <a:t>“</a:t>
            </a:r>
            <a:r>
              <a:rPr lang="zh-CN" altLang="en-US" sz="2400" b="1" dirty="0">
                <a:solidFill>
                  <a:srgbClr val="FF3300"/>
                </a:solidFill>
                <a:latin typeface="楷体_GB2312" pitchFamily="49" charset="-122"/>
                <a:ea typeface="楷体_GB2312" pitchFamily="49" charset="-122"/>
              </a:rPr>
              <a:t>顺序凝固原则</a:t>
            </a:r>
            <a:r>
              <a:rPr lang="zh-CN" altLang="en-US" sz="2400" b="1" dirty="0">
                <a:solidFill>
                  <a:srgbClr val="FF3300"/>
                </a:solidFill>
                <a:latin typeface="Arial" panose="020B0604020202020204" pitchFamily="34" charset="0"/>
                <a:ea typeface="楷体_GB2312" pitchFamily="49" charset="-122"/>
              </a:rPr>
              <a:t>”</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marL="0" lvl="0" indent="0" eaLnBrk="1" hangingPunct="1">
              <a:lnSpc>
                <a:spcPct val="120000"/>
              </a:lnSpc>
              <a:spcBef>
                <a:spcPct val="0"/>
              </a:spcBef>
              <a:buClrTx/>
              <a:buSzTx/>
              <a:buNone/>
            </a:pPr>
            <a:r>
              <a:rPr lang="zh-CN" altLang="en-US" sz="2400" b="1" dirty="0">
                <a:latin typeface="楷体_GB2312" pitchFamily="49" charset="-122"/>
                <a:ea typeface="楷体_GB2312" pitchFamily="49" charset="-122"/>
              </a:rPr>
              <a:t>    </a:t>
            </a:r>
            <a:r>
              <a:rPr lang="zh-CN" altLang="en-US" sz="2400" b="1" dirty="0">
                <a:solidFill>
                  <a:srgbClr val="33CC33"/>
                </a:solidFill>
                <a:latin typeface="楷体_GB2312" pitchFamily="49" charset="-122"/>
                <a:ea typeface="楷体_GB2312" pitchFamily="49" charset="-122"/>
              </a:rPr>
              <a:t>铸件的顺序凝固原则，</a:t>
            </a:r>
            <a:r>
              <a:rPr lang="zh-CN" altLang="en-US" sz="2400" b="1" dirty="0">
                <a:latin typeface="楷体_GB2312" pitchFamily="49" charset="-122"/>
                <a:ea typeface="楷体_GB2312" pitchFamily="49" charset="-122"/>
              </a:rPr>
              <a:t>是采用各种措施保证铸件结构上各部分，</a:t>
            </a:r>
            <a:r>
              <a:rPr lang="zh-CN" altLang="en-US" sz="2400" b="1" dirty="0">
                <a:solidFill>
                  <a:srgbClr val="0000FF"/>
                </a:solidFill>
                <a:latin typeface="楷体_GB2312" pitchFamily="49" charset="-122"/>
                <a:ea typeface="楷体_GB2312" pitchFamily="49" charset="-122"/>
              </a:rPr>
              <a:t>按照远离冒口的部分最先凝固，然后朝冒口方向凝固，最后才是冒口本身凝固的次序进行，</a:t>
            </a:r>
            <a:r>
              <a:rPr lang="zh-CN" altLang="en-US" sz="2400" b="1" dirty="0">
                <a:latin typeface="楷体_GB2312" pitchFamily="49" charset="-122"/>
                <a:ea typeface="楷体_GB2312" pitchFamily="49" charset="-122"/>
              </a:rPr>
              <a:t>亦即使铸件上远离冒口或浇口的部分到冒口或浇口之间建立一个递增的温度梯度，如图</a:t>
            </a:r>
            <a:r>
              <a:rPr lang="en-US" altLang="zh-CN" sz="2400" b="1" dirty="0">
                <a:latin typeface="楷体_GB2312" pitchFamily="49" charset="-122"/>
                <a:ea typeface="楷体_GB2312" pitchFamily="49" charset="-122"/>
              </a:rPr>
              <a:t>2-7</a:t>
            </a:r>
            <a:r>
              <a:rPr lang="zh-CN" altLang="en-US" sz="2400" b="1" dirty="0">
                <a:latin typeface="楷体_GB2312" pitchFamily="49" charset="-122"/>
                <a:ea typeface="楷体_GB2312" pitchFamily="49" charset="-122"/>
              </a:rPr>
              <a:t>所示。铸件按照顺序凝固原则进行凝固，能保证缩孔集中在冒口中，获得致密的铸件。</a:t>
            </a:r>
            <a:endParaRPr lang="zh-CN" altLang="en-US" sz="2400" b="1" dirty="0">
              <a:latin typeface="楷体_GB2312" pitchFamily="49" charset="-122"/>
              <a:ea typeface="楷体_GB2312" pitchFamily="49" charset="-122"/>
            </a:endParaRPr>
          </a:p>
        </p:txBody>
      </p:sp>
      <p:sp>
        <p:nvSpPr>
          <p:cNvPr id="52228" name="Text Box 6"/>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33</a:t>
            </a:r>
            <a:endParaRPr lang="en-US" altLang="zh-CN" sz="1400" b="1" dirty="0">
              <a:solidFill>
                <a:schemeClr val="bg1"/>
              </a:solidFill>
              <a:latin typeface="Arial" panose="020B0604020202020204" pitchFamily="34" charset="0"/>
            </a:endParaRPr>
          </a:p>
        </p:txBody>
      </p:sp>
      <p:sp>
        <p:nvSpPr>
          <p:cNvPr id="6" name="Rectangle 2"/>
          <p:cNvSpPr txBox="1">
            <a:spLocks noChangeArrowheads="1"/>
          </p:cNvSpPr>
          <p:nvPr/>
        </p:nvSpPr>
        <p:spPr bwMode="auto">
          <a:xfrm>
            <a:off x="457200" y="201613"/>
            <a:ext cx="8229600" cy="1139825"/>
          </a:xfrm>
          <a:prstGeom prst="rect">
            <a:avLst/>
          </a:prstGeom>
          <a:noFill/>
          <a:ln w="9525">
            <a:noFill/>
            <a:miter lim="800000"/>
          </a:ln>
        </p:spPr>
        <p:txBody>
          <a:bodyPr anchor="b"/>
          <a:lstStyle/>
          <a:p>
            <a:pPr marR="0" algn="ctr" defTabSz="914400" eaLnBrk="1" hangingPunct="1">
              <a:buClrTx/>
              <a:buSzTx/>
              <a:buFontTx/>
              <a:buNone/>
              <a:defRPr/>
            </a:pPr>
            <a:r>
              <a:rPr kumimoji="0" lang="zh-CN" altLang="en-US" sz="4000" b="1" kern="1200" cap="none" spc="0" normalizeH="0" baseline="0" noProof="0">
                <a:solidFill>
                  <a:srgbClr val="CC3300"/>
                </a:solidFill>
                <a:latin typeface="楷体_GB2312" pitchFamily="49" charset="-122"/>
                <a:ea typeface="楷体_GB2312" pitchFamily="49" charset="-122"/>
                <a:cs typeface="+mj-cs"/>
              </a:rPr>
              <a:t>铸件中的缩孔与缩松</a:t>
            </a:r>
            <a:endParaRPr kumimoji="0" lang="zh-CN" altLang="zh-CN" sz="4000" b="1" kern="1200" cap="none" spc="0" normalizeH="0" baseline="0" noProof="0" dirty="0">
              <a:solidFill>
                <a:schemeClr val="tx2"/>
              </a:solidFill>
              <a:latin typeface="+mj-lt"/>
              <a:ea typeface="楷体_GB2312" pitchFamily="49" charset="-122"/>
              <a:cs typeface="+mj-cs"/>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3"/>
          <p:cNvSpPr>
            <a:spLocks noGrp="1"/>
          </p:cNvSpPr>
          <p:nvPr>
            <p:ph type="title"/>
          </p:nvPr>
        </p:nvSpPr>
        <p:spPr/>
        <p:txBody>
          <a:bodyPr vert="horz" wrap="square" lIns="91440" tIns="45720" rIns="91440" bIns="45720" anchor="b" anchorCtr="0"/>
          <a:p>
            <a:pPr eaLnBrk="1" hangingPunct="1"/>
            <a:r>
              <a:rPr lang="zh-CN" altLang="zh-CN" sz="1800" b="1" dirty="0">
                <a:solidFill>
                  <a:schemeClr val="bg1"/>
                </a:solidFill>
                <a:ea typeface="楷体_GB2312" pitchFamily="49" charset="-122"/>
              </a:rPr>
              <a:t>定向凝固方式示意图</a:t>
            </a:r>
            <a:r>
              <a:rPr lang="zh-CN" altLang="zh-CN" dirty="0"/>
              <a:t> </a:t>
            </a:r>
            <a:endParaRPr lang="zh-CN" altLang="zh-CN" dirty="0"/>
          </a:p>
        </p:txBody>
      </p:sp>
      <p:sp>
        <p:nvSpPr>
          <p:cNvPr id="53253" name="Rectangle 4"/>
          <p:cNvSpPr/>
          <p:nvPr/>
        </p:nvSpPr>
        <p:spPr>
          <a:xfrm>
            <a:off x="682943" y="1714183"/>
            <a:ext cx="4248150" cy="25019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266700" eaLnBrk="1" hangingPunct="1">
              <a:lnSpc>
                <a:spcPct val="110000"/>
              </a:lnSpc>
              <a:spcBef>
                <a:spcPct val="0"/>
              </a:spcBef>
              <a:buClrTx/>
              <a:buSzTx/>
              <a:buNone/>
            </a:pPr>
            <a:r>
              <a:rPr lang="zh-CN" altLang="zh-CN" sz="2400" b="1" dirty="0">
                <a:solidFill>
                  <a:srgbClr val="FF3300"/>
                </a:solidFill>
                <a:latin typeface="Arial" panose="020B0604020202020204" pitchFamily="34" charset="0"/>
                <a:ea typeface="楷体_GB2312" pitchFamily="49" charset="-122"/>
              </a:rPr>
              <a:t>顺序凝固的优点是：</a:t>
            </a:r>
            <a:endParaRPr lang="zh-CN" altLang="zh-CN" sz="2400" b="1" dirty="0">
              <a:solidFill>
                <a:srgbClr val="FF3300"/>
              </a:solidFill>
              <a:latin typeface="Arial" panose="020B0604020202020204" pitchFamily="34" charset="0"/>
              <a:ea typeface="楷体_GB2312" pitchFamily="49" charset="-122"/>
            </a:endParaRPr>
          </a:p>
          <a:p>
            <a:pPr marL="0" lvl="0" indent="266700" eaLnBrk="1" hangingPunct="1">
              <a:lnSpc>
                <a:spcPct val="110000"/>
              </a:lnSpc>
              <a:spcBef>
                <a:spcPct val="0"/>
              </a:spcBef>
              <a:buClrTx/>
              <a:buSzTx/>
              <a:buNone/>
            </a:pPr>
            <a:r>
              <a:rPr lang="zh-CN" altLang="zh-CN" sz="2400" b="1" dirty="0">
                <a:latin typeface="Arial" panose="020B0604020202020204" pitchFamily="34" charset="0"/>
                <a:ea typeface="楷体_GB2312" pitchFamily="49" charset="-122"/>
              </a:rPr>
              <a:t>冒口补缩作用好，可防止缩孔和缩松，铸件致密。因此对于凝固收缩大，结晶温度范围较小的合金，常采用顺序凝固原则以保证铸件质量。</a:t>
            </a:r>
            <a:endParaRPr lang="zh-CN" altLang="zh-CN" sz="2400" b="1" dirty="0">
              <a:latin typeface="Arial" panose="020B0604020202020204" pitchFamily="34" charset="0"/>
              <a:ea typeface="楷体_GB2312" pitchFamily="49" charset="-122"/>
            </a:endParaRPr>
          </a:p>
        </p:txBody>
      </p:sp>
      <p:sp>
        <p:nvSpPr>
          <p:cNvPr id="53254" name="Rectangle 5"/>
          <p:cNvSpPr/>
          <p:nvPr/>
        </p:nvSpPr>
        <p:spPr>
          <a:xfrm>
            <a:off x="538798" y="4364673"/>
            <a:ext cx="8424862" cy="19383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lnSpc>
                <a:spcPct val="120000"/>
              </a:lnSpc>
              <a:spcBef>
                <a:spcPct val="0"/>
              </a:spcBef>
              <a:buClrTx/>
              <a:buSzTx/>
              <a:buNone/>
            </a:pPr>
            <a:r>
              <a:rPr lang="en-US" altLang="zh-CN" sz="2800" dirty="0">
                <a:solidFill>
                  <a:schemeClr val="bg1"/>
                </a:solidFill>
                <a:latin typeface="Arial" panose="020B0604020202020204" pitchFamily="34" charset="0"/>
                <a:ea typeface="楷体_GB2312" pitchFamily="49" charset="-122"/>
              </a:rPr>
              <a:t>  </a:t>
            </a:r>
            <a:r>
              <a:rPr lang="zh-CN" altLang="en-US" sz="2400" b="1" dirty="0">
                <a:solidFill>
                  <a:srgbClr val="FF3300"/>
                </a:solidFill>
                <a:latin typeface="Arial" panose="020B0604020202020204" pitchFamily="34" charset="0"/>
                <a:ea typeface="楷体_GB2312" pitchFamily="49" charset="-122"/>
              </a:rPr>
              <a:t>顺序凝固的缺点是：</a:t>
            </a:r>
            <a:r>
              <a:rPr lang="zh-CN" altLang="en-US" sz="2400" b="1" dirty="0">
                <a:latin typeface="Arial" panose="020B0604020202020204" pitchFamily="34" charset="0"/>
                <a:ea typeface="楷体_GB2312" pitchFamily="49" charset="-122"/>
              </a:rPr>
              <a:t>由于铸件各部分有温差，在凝固期间容易产生热裂，凝固后也容易使铸件产生应力和变形。顺序凝固原则需加冒口和补铁（在靠近冒口的铸件壁上逐渐增加的厚度），工艺出品率低，且切割冒口费工。</a:t>
            </a:r>
            <a:endParaRPr lang="zh-CN" altLang="en-US" sz="2400" b="1" dirty="0">
              <a:latin typeface="Arial" panose="020B0604020202020204" pitchFamily="34" charset="0"/>
              <a:ea typeface="楷体_GB2312" pitchFamily="49" charset="-122"/>
            </a:endParaRPr>
          </a:p>
        </p:txBody>
      </p:sp>
      <p:sp>
        <p:nvSpPr>
          <p:cNvPr id="53255" name="Text Box 6"/>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34</a:t>
            </a:r>
            <a:endParaRPr lang="en-US" altLang="zh-CN" sz="1400" b="1" dirty="0">
              <a:solidFill>
                <a:schemeClr val="bg1"/>
              </a:solidFill>
              <a:latin typeface="Arial" panose="020B0604020202020204" pitchFamily="34" charset="0"/>
            </a:endParaRPr>
          </a:p>
        </p:txBody>
      </p:sp>
      <p:grpSp>
        <p:nvGrpSpPr>
          <p:cNvPr id="53256" name="Group 9"/>
          <p:cNvGrpSpPr/>
          <p:nvPr/>
        </p:nvGrpSpPr>
        <p:grpSpPr>
          <a:xfrm>
            <a:off x="4834255" y="1340485"/>
            <a:ext cx="4129405" cy="2915973"/>
            <a:chOff x="0" y="0"/>
            <a:chExt cx="2457" cy="1673"/>
          </a:xfrm>
        </p:grpSpPr>
        <p:sp>
          <p:nvSpPr>
            <p:cNvPr id="53257" name="Text Box 7"/>
            <p:cNvSpPr txBox="1"/>
            <p:nvPr/>
          </p:nvSpPr>
          <p:spPr>
            <a:xfrm>
              <a:off x="137" y="1497"/>
              <a:ext cx="2222" cy="176"/>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50000"/>
                </a:spcBef>
                <a:buClrTx/>
                <a:buSzTx/>
                <a:buNone/>
              </a:pPr>
              <a:r>
                <a:rPr lang="zh-CN" altLang="en-US" sz="1400" b="1" dirty="0">
                  <a:latin typeface="楷体_GB2312" pitchFamily="49" charset="-122"/>
                  <a:ea typeface="楷体_GB2312" pitchFamily="49" charset="-122"/>
                </a:rPr>
                <a:t>图</a:t>
              </a:r>
              <a:r>
                <a:rPr lang="en-US" altLang="zh-CN" sz="1400" b="1" dirty="0">
                  <a:latin typeface="楷体_GB2312" pitchFamily="49" charset="-122"/>
                  <a:ea typeface="楷体_GB2312" pitchFamily="49" charset="-122"/>
                </a:rPr>
                <a:t>2-7 </a:t>
              </a:r>
              <a:r>
                <a:rPr lang="zh-CN" altLang="en-US" sz="1400" b="1" dirty="0">
                  <a:latin typeface="楷体_GB2312" pitchFamily="49" charset="-122"/>
                  <a:ea typeface="楷体_GB2312" pitchFamily="49" charset="-122"/>
                </a:rPr>
                <a:t>定向凝固方式示意图</a:t>
              </a:r>
              <a:endParaRPr lang="zh-CN" altLang="en-US" sz="1400" b="1" dirty="0">
                <a:latin typeface="楷体_GB2312" pitchFamily="49" charset="-122"/>
                <a:ea typeface="楷体_GB2312" pitchFamily="49" charset="-122"/>
              </a:endParaRPr>
            </a:p>
          </p:txBody>
        </p:sp>
        <p:pic>
          <p:nvPicPr>
            <p:cNvPr id="53258" name="Picture 8" descr="1-1"/>
            <p:cNvPicPr>
              <a:picLocks noChangeAspect="1"/>
            </p:cNvPicPr>
            <p:nvPr/>
          </p:nvPicPr>
          <p:blipFill>
            <a:blip r:embed="rId1"/>
            <a:stretch>
              <a:fillRect/>
            </a:stretch>
          </p:blipFill>
          <p:spPr>
            <a:xfrm>
              <a:off x="0" y="0"/>
              <a:ext cx="2457" cy="1431"/>
            </a:xfrm>
            <a:prstGeom prst="rect">
              <a:avLst/>
            </a:prstGeom>
            <a:noFill/>
            <a:ln w="9525">
              <a:noFill/>
            </a:ln>
          </p:spPr>
        </p:pic>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p:cNvSpPr>
          <p:nvPr>
            <p:ph type="title"/>
          </p:nvPr>
        </p:nvSpPr>
        <p:spPr>
          <a:xfrm>
            <a:off x="1116013" y="301625"/>
            <a:ext cx="7567612" cy="1143000"/>
          </a:xfrm>
        </p:spPr>
        <p:txBody>
          <a:bodyPr vert="horz" wrap="square" lIns="91440" tIns="45720" rIns="91440" bIns="45720" anchor="b" anchorCtr="0"/>
          <a:p>
            <a:pPr algn="ctr" eaLnBrk="1" hangingPunct="1"/>
            <a:r>
              <a:rPr lang="zh-CN" altLang="zh-CN" sz="4000" b="1" dirty="0">
                <a:ea typeface="楷体_GB2312" pitchFamily="49" charset="-122"/>
              </a:rPr>
              <a:t>第三节 铸造内应力、变形和裂纹</a:t>
            </a:r>
            <a:endParaRPr lang="zh-CN" altLang="zh-CN" sz="4000" b="1" dirty="0">
              <a:ea typeface="楷体_GB2312" pitchFamily="49" charset="-122"/>
            </a:endParaRPr>
          </a:p>
        </p:txBody>
      </p:sp>
      <p:sp>
        <p:nvSpPr>
          <p:cNvPr id="37891" name="Rectangle 3"/>
          <p:cNvSpPr>
            <a:spLocks noGrp="1"/>
          </p:cNvSpPr>
          <p:nvPr>
            <p:ph type="body" sz="half"/>
          </p:nvPr>
        </p:nvSpPr>
        <p:spPr>
          <a:xfrm>
            <a:off x="755650" y="1701800"/>
            <a:ext cx="7559675" cy="3095625"/>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buClr>
                <a:srgbClr val="CC3300"/>
              </a:buClr>
            </a:pPr>
            <a:r>
              <a:rPr lang="zh-CN" altLang="en-US" sz="2800" b="1" dirty="0">
                <a:solidFill>
                  <a:srgbClr val="CC3300"/>
                </a:solidFill>
                <a:ea typeface="楷体_GB2312" pitchFamily="49" charset="-122"/>
              </a:rPr>
              <a:t>内应力：</a:t>
            </a:r>
            <a:r>
              <a:rPr lang="zh-CN" altLang="en-US" sz="2800" dirty="0"/>
              <a:t>指当外部荷载去掉以后，仍残存在物体内部的应力。它是由于材料内部宏观或微观的组织发生了不均匀的体积变化而产生的。大小为截面某一点</a:t>
            </a:r>
            <a:r>
              <a:rPr lang="zh-CN" altLang="en-US" sz="2800" b="1" dirty="0"/>
              <a:t>单位面积上的内力</a:t>
            </a:r>
            <a:r>
              <a:rPr lang="zh-CN" altLang="en-US" sz="2800" dirty="0"/>
              <a:t>。</a:t>
            </a:r>
            <a:endParaRPr lang="en-US" altLang="zh-CN" sz="2800" b="1" dirty="0">
              <a:solidFill>
                <a:srgbClr val="CC3300"/>
              </a:solidFill>
              <a:ea typeface="楷体_GB2312" pitchFamily="49" charset="-122"/>
            </a:endParaRPr>
          </a:p>
          <a:p>
            <a:pPr lvl="0" eaLnBrk="1" hangingPunct="1">
              <a:buClr>
                <a:srgbClr val="CC3300"/>
              </a:buClr>
            </a:pPr>
            <a:r>
              <a:rPr lang="zh-CN" altLang="zh-CN" sz="2800" b="1" dirty="0">
                <a:solidFill>
                  <a:srgbClr val="CC3300"/>
                </a:solidFill>
                <a:ea typeface="楷体_GB2312" pitchFamily="49" charset="-122"/>
              </a:rPr>
              <a:t>铸造内应力</a:t>
            </a:r>
            <a:endParaRPr lang="zh-CN" altLang="zh-CN" sz="2800" b="1" dirty="0">
              <a:solidFill>
                <a:srgbClr val="CC3300"/>
              </a:solidFill>
              <a:ea typeface="楷体_GB2312" pitchFamily="49" charset="-122"/>
            </a:endParaRPr>
          </a:p>
          <a:p>
            <a:pPr lvl="1" eaLnBrk="1" hangingPunct="1"/>
            <a:r>
              <a:rPr lang="zh-CN" altLang="zh-CN" sz="2400" b="1" dirty="0">
                <a:solidFill>
                  <a:srgbClr val="FF3300"/>
                </a:solidFill>
                <a:ea typeface="楷体_GB2312" pitchFamily="49" charset="-122"/>
              </a:rPr>
              <a:t>定义</a:t>
            </a:r>
            <a:r>
              <a:rPr lang="zh-CN" altLang="zh-CN" sz="2400" b="1" dirty="0">
                <a:ea typeface="楷体_GB2312" pitchFamily="49" charset="-122"/>
              </a:rPr>
              <a:t>：铸件在凝固后继续冷却时，若在固态收缩阶段受到阻碍，则将产生内应力，称为铸造内应力。</a:t>
            </a:r>
            <a:endParaRPr lang="en-US" altLang="zh-CN" sz="2400" b="1" dirty="0">
              <a:ea typeface="楷体_GB2312" pitchFamily="49" charset="-122"/>
            </a:endParaRPr>
          </a:p>
          <a:p>
            <a:pPr lvl="1" eaLnBrk="1" hangingPunct="1"/>
            <a:r>
              <a:rPr lang="zh-CN" altLang="zh-CN" sz="2400" b="1" dirty="0">
                <a:ea typeface="楷体_GB2312" pitchFamily="49" charset="-122"/>
              </a:rPr>
              <a:t>是产生铸件变形、裂纹等缺陷的主要原因。</a:t>
            </a:r>
            <a:endParaRPr lang="zh-CN" altLang="zh-CN" sz="2400" b="1" dirty="0">
              <a:ea typeface="楷体_GB2312" pitchFamily="49" charset="-122"/>
            </a:endParaRPr>
          </a:p>
          <a:p>
            <a:pPr lvl="1" eaLnBrk="1" hangingPunct="1"/>
            <a:r>
              <a:rPr lang="zh-CN" altLang="zh-CN" sz="2400" b="1" dirty="0">
                <a:ea typeface="楷体_GB2312" pitchFamily="49" charset="-122"/>
              </a:rPr>
              <a:t>按照内应力产生原因分</a:t>
            </a:r>
            <a:r>
              <a:rPr lang="zh-CN" altLang="zh-CN" sz="2400" b="1" dirty="0">
                <a:solidFill>
                  <a:srgbClr val="FF00FF"/>
                </a:solidFill>
                <a:ea typeface="楷体_GB2312" pitchFamily="49" charset="-122"/>
              </a:rPr>
              <a:t>热应力和机械应力。</a:t>
            </a:r>
            <a:endParaRPr lang="en-US" altLang="zh-CN" sz="2400" b="1" dirty="0">
              <a:solidFill>
                <a:srgbClr val="FF00FF"/>
              </a:solidFill>
              <a:ea typeface="楷体_GB2312" pitchFamily="49" charset="-122"/>
            </a:endParaRPr>
          </a:p>
          <a:p>
            <a:pPr lvl="1" eaLnBrk="1" hangingPunct="1">
              <a:buNone/>
            </a:pPr>
            <a:r>
              <a:rPr lang="zh-CN" altLang="zh-CN" sz="2400" b="1" dirty="0">
                <a:solidFill>
                  <a:srgbClr val="FFFF00"/>
                </a:solidFill>
                <a:ea typeface="楷体_GB2312" pitchFamily="49" charset="-122"/>
              </a:rPr>
              <a:t>　　　　</a:t>
            </a:r>
            <a:endParaRPr lang="zh-CN" altLang="zh-CN" sz="2400" b="1"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91">
                                            <p:txEl>
                                              <p:charRg st="83" end="128"/>
                                            </p:txEl>
                                          </p:spTgt>
                                        </p:tgtEl>
                                        <p:attrNameLst>
                                          <p:attrName>style.visibility</p:attrName>
                                        </p:attrNameLst>
                                      </p:cBhvr>
                                      <p:to>
                                        <p:strVal val="visible"/>
                                      </p:to>
                                    </p:set>
                                    <p:animEffect transition="in" filter="blinds(horizontal)">
                                      <p:cBhvr>
                                        <p:cTn id="7" dur="500"/>
                                        <p:tgtEl>
                                          <p:spTgt spid="37891">
                                            <p:txEl>
                                              <p:charRg st="83" end="1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891">
                                            <p:txEl>
                                              <p:charRg st="128" end="148"/>
                                            </p:txEl>
                                          </p:spTgt>
                                        </p:tgtEl>
                                        <p:attrNameLst>
                                          <p:attrName>style.visibility</p:attrName>
                                        </p:attrNameLst>
                                      </p:cBhvr>
                                      <p:to>
                                        <p:strVal val="visible"/>
                                      </p:to>
                                    </p:set>
                                    <p:animEffect transition="in" filter="blinds(horizontal)">
                                      <p:cBhvr>
                                        <p:cTn id="12" dur="500"/>
                                        <p:tgtEl>
                                          <p:spTgt spid="37891">
                                            <p:txEl>
                                              <p:charRg st="128" end="14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891">
                                            <p:txEl>
                                              <p:charRg st="148" end="168"/>
                                            </p:txEl>
                                          </p:spTgt>
                                        </p:tgtEl>
                                        <p:attrNameLst>
                                          <p:attrName>style.visibility</p:attrName>
                                        </p:attrNameLst>
                                      </p:cBhvr>
                                      <p:to>
                                        <p:strVal val="visible"/>
                                      </p:to>
                                    </p:set>
                                    <p:animEffect transition="in" filter="blinds(horizontal)">
                                      <p:cBhvr>
                                        <p:cTn id="17" dur="500"/>
                                        <p:tgtEl>
                                          <p:spTgt spid="37891">
                                            <p:txEl>
                                              <p:charRg st="148" end="1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p:nvPr/>
        </p:nvSpPr>
        <p:spPr>
          <a:xfrm>
            <a:off x="827088" y="188913"/>
            <a:ext cx="8208962" cy="1630362"/>
          </a:xfrm>
          <a:prstGeom prst="rect">
            <a:avLst/>
          </a:prstGeom>
          <a:solidFill>
            <a:schemeClr val="bg1"/>
          </a:solid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266700">
              <a:spcBef>
                <a:spcPct val="0"/>
              </a:spcBef>
              <a:buClrTx/>
              <a:buSzTx/>
              <a:buFontTx/>
              <a:buNone/>
            </a:pPr>
            <a:r>
              <a:rPr lang="en-US" altLang="zh-CN" sz="2400" b="1" dirty="0">
                <a:solidFill>
                  <a:srgbClr val="A50021"/>
                </a:solidFill>
                <a:latin typeface="楷体_GB2312" pitchFamily="49" charset="-122"/>
                <a:ea typeface="楷体_GB2312" pitchFamily="49" charset="-122"/>
              </a:rPr>
              <a:t>1)</a:t>
            </a:r>
            <a:r>
              <a:rPr lang="zh-CN" altLang="en-US" sz="2400" b="1" dirty="0">
                <a:solidFill>
                  <a:srgbClr val="A50021"/>
                </a:solidFill>
                <a:latin typeface="楷体_GB2312" pitchFamily="49" charset="-122"/>
                <a:ea typeface="楷体_GB2312" pitchFamily="49" charset="-122"/>
              </a:rPr>
              <a:t>热应力</a:t>
            </a:r>
            <a:r>
              <a:rPr lang="zh-CN" altLang="en-US" sz="2800" dirty="0">
                <a:latin typeface="楷体_GB2312" pitchFamily="49" charset="-122"/>
                <a:ea typeface="楷体_GB2312" pitchFamily="49" charset="-122"/>
              </a:rPr>
              <a:t>                                             </a:t>
            </a:r>
            <a:endParaRPr lang="zh-CN" altLang="en-US" sz="2800" dirty="0">
              <a:latin typeface="楷体_GB2312" pitchFamily="49" charset="-122"/>
              <a:ea typeface="楷体_GB2312" pitchFamily="49" charset="-122"/>
            </a:endParaRPr>
          </a:p>
          <a:p>
            <a:pPr marL="0" lvl="0" indent="266700">
              <a:spcBef>
                <a:spcPct val="0"/>
              </a:spcBef>
              <a:buClrTx/>
              <a:buSzTx/>
              <a:buFontTx/>
              <a:buNone/>
            </a:pPr>
            <a:r>
              <a:rPr lang="zh-CN" altLang="en-US" sz="2400" b="1" dirty="0">
                <a:latin typeface="楷体_GB2312" pitchFamily="49" charset="-122"/>
                <a:ea typeface="楷体_GB2312" pitchFamily="49" charset="-122"/>
              </a:rPr>
              <a:t>  由于铸件壁厚有厚薄，冷却有先后，造成铸件的厚壁或心部受拉伸，薄壁或表层受压缩。铸件的壁厚差别愈大，合金的线收缩率愈高，弹性模量愈大，热应力也就愈大。</a:t>
            </a:r>
            <a:endParaRPr lang="zh-CN" altLang="en-US" sz="2400" b="1" dirty="0">
              <a:latin typeface="楷体_GB2312" pitchFamily="49" charset="-122"/>
              <a:ea typeface="楷体_GB2312" pitchFamily="49" charset="-122"/>
            </a:endParaRPr>
          </a:p>
        </p:txBody>
      </p:sp>
      <p:sp>
        <p:nvSpPr>
          <p:cNvPr id="55299" name="Text Box 4"/>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en-US" altLang="zh-CN" sz="1400" b="1" dirty="0">
                <a:solidFill>
                  <a:schemeClr val="bg1"/>
                </a:solidFill>
                <a:latin typeface="Arial" panose="020B0604020202020204" pitchFamily="34" charset="0"/>
              </a:rPr>
              <a:t>28</a:t>
            </a:r>
            <a:endParaRPr lang="en-US" altLang="zh-CN" sz="1400" b="1" dirty="0">
              <a:solidFill>
                <a:schemeClr val="bg1"/>
              </a:solidFill>
              <a:latin typeface="Arial" panose="020B0604020202020204" pitchFamily="34" charset="0"/>
            </a:endParaRPr>
          </a:p>
        </p:txBody>
      </p:sp>
      <p:sp>
        <p:nvSpPr>
          <p:cNvPr id="55300" name="Rectangle 5"/>
          <p:cNvSpPr/>
          <p:nvPr/>
        </p:nvSpPr>
        <p:spPr>
          <a:xfrm>
            <a:off x="5435600" y="6021388"/>
            <a:ext cx="1873250" cy="287337"/>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endParaRPr lang="zh-CN" altLang="en-US" sz="1800" dirty="0"/>
          </a:p>
        </p:txBody>
      </p:sp>
      <p:pic>
        <p:nvPicPr>
          <p:cNvPr id="55301" name="Picture 7" descr="图片2"/>
          <p:cNvPicPr>
            <a:picLocks noChangeAspect="1"/>
          </p:cNvPicPr>
          <p:nvPr/>
        </p:nvPicPr>
        <p:blipFill>
          <a:blip r:embed="rId1"/>
          <a:stretch>
            <a:fillRect/>
          </a:stretch>
        </p:blipFill>
        <p:spPr>
          <a:xfrm>
            <a:off x="4719638" y="2089150"/>
            <a:ext cx="4424362" cy="4373563"/>
          </a:xfrm>
          <a:prstGeom prst="rect">
            <a:avLst/>
          </a:prstGeom>
          <a:noFill/>
          <a:ln w="9525">
            <a:noFill/>
          </a:ln>
        </p:spPr>
      </p:pic>
      <p:pic>
        <p:nvPicPr>
          <p:cNvPr id="55302" name="图片 1"/>
          <p:cNvPicPr>
            <a:picLocks noChangeAspect="1"/>
          </p:cNvPicPr>
          <p:nvPr/>
        </p:nvPicPr>
        <p:blipFill>
          <a:blip r:embed="rId2"/>
          <a:stretch>
            <a:fillRect/>
          </a:stretch>
        </p:blipFill>
        <p:spPr>
          <a:xfrm>
            <a:off x="-50800" y="1928813"/>
            <a:ext cx="5235575" cy="4694237"/>
          </a:xfrm>
          <a:prstGeom prst="rect">
            <a:avLst/>
          </a:prstGeom>
          <a:noFill/>
          <a:ln w="9525">
            <a:noFill/>
          </a:ln>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ontrols>
      <mc:AlternateContent xmlns:mc="http://schemas.openxmlformats.org/markup-compatibility/2006">
        <mc:Choice xmlns:v="urn:schemas-microsoft-com:vml" Requires="v">
          <p:control spid="56322" name="" r:id="rId1" imgW="8856980" imgH="6858000"/>
        </mc:Choice>
        <mc:Fallback>
          <p:control name="" r:id="rId1" imgW="8856980" imgH="6858000">
            <p:pic>
              <p:nvPicPr>
                <p:cNvPr id="0" name="Host Control  56321"/>
                <p:cNvPicPr/>
                <p:nvPr/>
              </p:nvPicPr>
              <p:blipFill>
                <a:blip r:embed="rId2"/>
                <a:stretch>
                  <a:fillRect/>
                </a:stretch>
              </p:blipFill>
              <p:spPr>
                <a:xfrm>
                  <a:off x="107950" y="0"/>
                  <a:ext cx="8856980" cy="6858000"/>
                </a:xfrm>
                <a:prstGeom prst="rect">
                  <a:avLst/>
                </a:prstGeom>
              </p:spPr>
            </p:pic>
          </p:control>
        </mc:Fallback>
      </mc:AlternateContent>
    </p:controls>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对象 1"/>
          <p:cNvGraphicFramePr/>
          <p:nvPr/>
        </p:nvGraphicFramePr>
        <p:xfrm>
          <a:off x="-69850" y="6985"/>
          <a:ext cx="9284335" cy="6844030"/>
        </p:xfrm>
        <a:graphic>
          <a:graphicData uri="http://schemas.openxmlformats.org/presentationml/2006/ole">
            <mc:AlternateContent xmlns:mc="http://schemas.openxmlformats.org/markup-compatibility/2006">
              <mc:Choice xmlns:v="urn:schemas-microsoft-com:vml" Requires="v">
                <p:oleObj spid="_x0000_s3" name="" r:id="rId1" imgW="9277350" imgH="6838950" progId="Paint.Picture">
                  <p:embed/>
                </p:oleObj>
              </mc:Choice>
              <mc:Fallback>
                <p:oleObj name="" r:id="rId1" imgW="9277350" imgH="6838950" progId="Paint.Picture">
                  <p:embed/>
                  <p:pic>
                    <p:nvPicPr>
                      <p:cNvPr id="0" name="图片 2"/>
                      <p:cNvPicPr/>
                      <p:nvPr/>
                    </p:nvPicPr>
                    <p:blipFill>
                      <a:blip r:embed="rId2"/>
                      <a:stretch>
                        <a:fillRect/>
                      </a:stretch>
                    </p:blipFill>
                    <p:spPr>
                      <a:xfrm>
                        <a:off x="-69850" y="6985"/>
                        <a:ext cx="9284335" cy="6844030"/>
                      </a:xfrm>
                      <a:prstGeom prst="rect">
                        <a:avLst/>
                      </a:prstGeom>
                    </p:spPr>
                  </p:pic>
                </p:oleObj>
              </mc:Fallback>
            </mc:AlternateContent>
          </a:graphicData>
        </a:graphic>
      </p:graphicFrame>
      <p:graphicFrame>
        <p:nvGraphicFramePr>
          <p:cNvPr id="4" name="对象 3"/>
          <p:cNvGraphicFramePr/>
          <p:nvPr/>
        </p:nvGraphicFramePr>
        <p:xfrm>
          <a:off x="179705" y="3860800"/>
          <a:ext cx="3145790" cy="1328420"/>
        </p:xfrm>
        <a:graphic>
          <a:graphicData uri="http://schemas.openxmlformats.org/presentationml/2006/ole">
            <mc:AlternateContent xmlns:mc="http://schemas.openxmlformats.org/markup-compatibility/2006">
              <mc:Choice xmlns:v="urn:schemas-microsoft-com:vml" Requires="v">
                <p:oleObj spid="_x0000_s5" name="" r:id="rId3" imgW="3143250" imgH="1327150" progId="Paint.Picture">
                  <p:embed/>
                </p:oleObj>
              </mc:Choice>
              <mc:Fallback>
                <p:oleObj name="" r:id="rId3" imgW="3143250" imgH="1327150" progId="Paint.Picture">
                  <p:embed/>
                  <p:pic>
                    <p:nvPicPr>
                      <p:cNvPr id="0" name="图片 4"/>
                      <p:cNvPicPr/>
                      <p:nvPr/>
                    </p:nvPicPr>
                    <p:blipFill>
                      <a:blip r:embed="rId4"/>
                      <a:stretch>
                        <a:fillRect/>
                      </a:stretch>
                    </p:blipFill>
                    <p:spPr>
                      <a:xfrm>
                        <a:off x="179705" y="3860800"/>
                        <a:ext cx="3145790" cy="1328420"/>
                      </a:xfrm>
                      <a:prstGeom prst="rect">
                        <a:avLst/>
                      </a:prstGeom>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对象 1"/>
          <p:cNvGraphicFramePr/>
          <p:nvPr/>
        </p:nvGraphicFramePr>
        <p:xfrm>
          <a:off x="-19050" y="26035"/>
          <a:ext cx="9182735" cy="6805930"/>
        </p:xfrm>
        <a:graphic>
          <a:graphicData uri="http://schemas.openxmlformats.org/presentationml/2006/ole">
            <mc:AlternateContent xmlns:mc="http://schemas.openxmlformats.org/markup-compatibility/2006">
              <mc:Choice xmlns:v="urn:schemas-microsoft-com:vml" Requires="v">
                <p:oleObj spid="_x0000_s3" name="" r:id="rId1" imgW="9175750" imgH="6800850" progId="Paint.Picture">
                  <p:embed/>
                </p:oleObj>
              </mc:Choice>
              <mc:Fallback>
                <p:oleObj name="" r:id="rId1" imgW="9175750" imgH="6800850" progId="Paint.Picture">
                  <p:embed/>
                  <p:pic>
                    <p:nvPicPr>
                      <p:cNvPr id="0" name="图片 2"/>
                      <p:cNvPicPr/>
                      <p:nvPr/>
                    </p:nvPicPr>
                    <p:blipFill>
                      <a:blip r:embed="rId2"/>
                      <a:stretch>
                        <a:fillRect/>
                      </a:stretch>
                    </p:blipFill>
                    <p:spPr>
                      <a:xfrm>
                        <a:off x="-19050" y="26035"/>
                        <a:ext cx="9182735" cy="6805930"/>
                      </a:xfrm>
                      <a:prstGeom prst="rect">
                        <a:avLst/>
                      </a:prstGeom>
                    </p:spPr>
                  </p:pic>
                </p:oleObj>
              </mc:Fallback>
            </mc:AlternateContent>
          </a:graphicData>
        </a:graphic>
      </p:graphicFrame>
      <p:graphicFrame>
        <p:nvGraphicFramePr>
          <p:cNvPr id="4" name="对象 3"/>
          <p:cNvGraphicFramePr/>
          <p:nvPr/>
        </p:nvGraphicFramePr>
        <p:xfrm>
          <a:off x="-36195" y="908685"/>
          <a:ext cx="9107170" cy="2433955"/>
        </p:xfrm>
        <a:graphic>
          <a:graphicData uri="http://schemas.openxmlformats.org/presentationml/2006/ole">
            <mc:AlternateContent xmlns:mc="http://schemas.openxmlformats.org/markup-compatibility/2006">
              <mc:Choice xmlns:v="urn:schemas-microsoft-com:vml" Requires="v">
                <p:oleObj spid="_x0000_s5" name="" r:id="rId3" imgW="9099550" imgH="2432050" progId="Paint.Picture">
                  <p:embed/>
                </p:oleObj>
              </mc:Choice>
              <mc:Fallback>
                <p:oleObj name="" r:id="rId3" imgW="9099550" imgH="2432050" progId="Paint.Picture">
                  <p:embed/>
                  <p:pic>
                    <p:nvPicPr>
                      <p:cNvPr id="0" name="图片 4"/>
                      <p:cNvPicPr/>
                      <p:nvPr/>
                    </p:nvPicPr>
                    <p:blipFill>
                      <a:blip r:embed="rId4"/>
                      <a:stretch>
                        <a:fillRect/>
                      </a:stretch>
                    </p:blipFill>
                    <p:spPr>
                      <a:xfrm>
                        <a:off x="-36195" y="908685"/>
                        <a:ext cx="9107170" cy="2433955"/>
                      </a:xfrm>
                      <a:prstGeom prst="rect">
                        <a:avLst/>
                      </a:prstGeom>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对象 3"/>
          <p:cNvGraphicFramePr/>
          <p:nvPr/>
        </p:nvGraphicFramePr>
        <p:xfrm>
          <a:off x="-44450" y="311785"/>
          <a:ext cx="9233535" cy="6234430"/>
        </p:xfrm>
        <a:graphic>
          <a:graphicData uri="http://schemas.openxmlformats.org/presentationml/2006/ole">
            <mc:AlternateContent xmlns:mc="http://schemas.openxmlformats.org/markup-compatibility/2006">
              <mc:Choice xmlns:v="urn:schemas-microsoft-com:vml" Requires="v">
                <p:oleObj spid="_x0000_s5" name="" r:id="rId1" imgW="9226550" imgH="6229350" progId="Paint.Picture">
                  <p:embed/>
                </p:oleObj>
              </mc:Choice>
              <mc:Fallback>
                <p:oleObj name="" r:id="rId1" imgW="9226550" imgH="6229350" progId="Paint.Picture">
                  <p:embed/>
                  <p:pic>
                    <p:nvPicPr>
                      <p:cNvPr id="0" name="图片 4"/>
                      <p:cNvPicPr/>
                      <p:nvPr/>
                    </p:nvPicPr>
                    <p:blipFill>
                      <a:blip r:embed="rId2"/>
                      <a:stretch>
                        <a:fillRect/>
                      </a:stretch>
                    </p:blipFill>
                    <p:spPr>
                      <a:xfrm>
                        <a:off x="-44450" y="311785"/>
                        <a:ext cx="9233535" cy="6234430"/>
                      </a:xfrm>
                      <a:prstGeom prst="rect">
                        <a:avLst/>
                      </a:prstGeom>
                    </p:spPr>
                  </p:pic>
                </p:oleObj>
              </mc:Fallback>
            </mc:AlternateContent>
          </a:graphicData>
        </a:graphic>
      </p:graphicFrame>
      <p:graphicFrame>
        <p:nvGraphicFramePr>
          <p:cNvPr id="6" name="对象 5"/>
          <p:cNvGraphicFramePr/>
          <p:nvPr/>
        </p:nvGraphicFramePr>
        <p:xfrm>
          <a:off x="107315" y="488315"/>
          <a:ext cx="8245475" cy="2186305"/>
        </p:xfrm>
        <a:graphic>
          <a:graphicData uri="http://schemas.openxmlformats.org/presentationml/2006/ole">
            <mc:AlternateContent xmlns:mc="http://schemas.openxmlformats.org/markup-compatibility/2006">
              <mc:Choice xmlns:v="urn:schemas-microsoft-com:vml" Requires="v">
                <p:oleObj spid="_x0000_s7" name="" r:id="rId3" imgW="7880350" imgH="1911350" progId="Paint.Picture">
                  <p:embed/>
                </p:oleObj>
              </mc:Choice>
              <mc:Fallback>
                <p:oleObj name="" r:id="rId3" imgW="7880350" imgH="1911350" progId="Paint.Picture">
                  <p:embed/>
                  <p:pic>
                    <p:nvPicPr>
                      <p:cNvPr id="0" name="图片 6"/>
                      <p:cNvPicPr/>
                      <p:nvPr/>
                    </p:nvPicPr>
                    <p:blipFill>
                      <a:blip r:embed="rId4"/>
                      <a:stretch>
                        <a:fillRect/>
                      </a:stretch>
                    </p:blipFill>
                    <p:spPr>
                      <a:xfrm>
                        <a:off x="107315" y="488315"/>
                        <a:ext cx="8245475" cy="2186305"/>
                      </a:xfrm>
                      <a:prstGeom prst="rect">
                        <a:avLst/>
                      </a:prstGeom>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对象 1"/>
          <p:cNvGraphicFramePr/>
          <p:nvPr/>
        </p:nvGraphicFramePr>
        <p:xfrm>
          <a:off x="-6985" y="26035"/>
          <a:ext cx="9157970" cy="6805930"/>
        </p:xfrm>
        <a:graphic>
          <a:graphicData uri="http://schemas.openxmlformats.org/presentationml/2006/ole">
            <mc:AlternateContent xmlns:mc="http://schemas.openxmlformats.org/markup-compatibility/2006">
              <mc:Choice xmlns:v="urn:schemas-microsoft-com:vml" Requires="v">
                <p:oleObj spid="_x0000_s3" name="" r:id="rId1" imgW="9150350" imgH="6800850" progId="Paint.Picture">
                  <p:embed/>
                </p:oleObj>
              </mc:Choice>
              <mc:Fallback>
                <p:oleObj name="" r:id="rId1" imgW="9150350" imgH="6800850" progId="Paint.Picture">
                  <p:embed/>
                  <p:pic>
                    <p:nvPicPr>
                      <p:cNvPr id="0" name="图片 2"/>
                      <p:cNvPicPr/>
                      <p:nvPr/>
                    </p:nvPicPr>
                    <p:blipFill>
                      <a:blip r:embed="rId2"/>
                      <a:stretch>
                        <a:fillRect/>
                      </a:stretch>
                    </p:blipFill>
                    <p:spPr>
                      <a:xfrm>
                        <a:off x="-6985" y="26035"/>
                        <a:ext cx="9157970" cy="6805930"/>
                      </a:xfrm>
                      <a:prstGeom prst="rect">
                        <a:avLst/>
                      </a:prstGeom>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6" name="图片 1"/>
          <p:cNvPicPr>
            <a:picLocks noChangeAspect="1"/>
          </p:cNvPicPr>
          <p:nvPr/>
        </p:nvPicPr>
        <p:blipFill>
          <a:blip r:embed="rId1"/>
          <a:stretch>
            <a:fillRect/>
          </a:stretch>
        </p:blipFill>
        <p:spPr>
          <a:xfrm>
            <a:off x="0" y="-27622"/>
            <a:ext cx="8851900" cy="7091362"/>
          </a:xfrm>
          <a:prstGeom prst="rect">
            <a:avLst/>
          </a:prstGeom>
          <a:noFill/>
          <a:ln w="9525">
            <a:noFill/>
          </a:ln>
        </p:spPr>
      </p:pic>
      <p:sp>
        <p:nvSpPr>
          <p:cNvPr id="3" name="圆角矩形标注 2"/>
          <p:cNvSpPr/>
          <p:nvPr/>
        </p:nvSpPr>
        <p:spPr>
          <a:xfrm>
            <a:off x="2362835" y="241300"/>
            <a:ext cx="3073400" cy="1511300"/>
          </a:xfrm>
          <a:prstGeom prst="wedgeRoundRectCallout">
            <a:avLst>
              <a:gd name="adj1" fmla="val -79173"/>
              <a:gd name="adj2" fmla="val 155588"/>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en-US" altLang="zh-CN" sz="1800" dirty="0">
                <a:latin typeface="Arial" panose="020B0604020202020204" pitchFamily="34" charset="0"/>
                <a:sym typeface="+mn-ea"/>
              </a:rPr>
              <a:t>t0-t1</a:t>
            </a:r>
            <a:r>
              <a:rPr lang="zh-CN" altLang="en-US" sz="1800" dirty="0">
                <a:latin typeface="Arial" panose="020B0604020202020204" pitchFamily="34" charset="0"/>
                <a:sym typeface="+mn-ea"/>
              </a:rPr>
              <a:t>两杆都塑性状态，冷速不同、收缩不同步，瞬时应力通过塑性变形自行消失，铸件内无应力产生（</a:t>
            </a:r>
            <a:r>
              <a:rPr lang="en-US" altLang="zh-CN" sz="1800" dirty="0">
                <a:latin typeface="Arial" panose="020B0604020202020204" pitchFamily="34" charset="0"/>
                <a:sym typeface="+mn-ea"/>
              </a:rPr>
              <a:t>a</a:t>
            </a:r>
            <a:r>
              <a:rPr lang="zh-CN" altLang="en-US" sz="1800" dirty="0">
                <a:latin typeface="Arial" panose="020B0604020202020204" pitchFamily="34" charset="0"/>
                <a:sym typeface="+mn-ea"/>
              </a:rPr>
              <a:t>）图</a:t>
            </a:r>
            <a:endParaRPr kumimoji="0" lang="zh-CN" altLang="zh-CN"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p:txBody>
      </p:sp>
      <p:sp>
        <p:nvSpPr>
          <p:cNvPr id="4" name="圆角矩形标注 3"/>
          <p:cNvSpPr/>
          <p:nvPr/>
        </p:nvSpPr>
        <p:spPr>
          <a:xfrm>
            <a:off x="5939790" y="116840"/>
            <a:ext cx="3072130" cy="1298575"/>
          </a:xfrm>
          <a:prstGeom prst="wedgeRoundRectCallout">
            <a:avLst>
              <a:gd name="adj1" fmla="val -132926"/>
              <a:gd name="adj2" fmla="val 197334"/>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en-US" altLang="zh-CN" sz="1800" dirty="0">
                <a:latin typeface="Arial" panose="020B0604020202020204" pitchFamily="34" charset="0"/>
                <a:sym typeface="+mn-ea"/>
              </a:rPr>
              <a:t>t1-t2</a:t>
            </a:r>
            <a:r>
              <a:rPr lang="zh-CN" altLang="en-US" sz="1800" dirty="0">
                <a:latin typeface="Arial" panose="020B0604020202020204" pitchFamily="34" charset="0"/>
                <a:sym typeface="+mn-ea"/>
              </a:rPr>
              <a:t>杆</a:t>
            </a:r>
            <a:r>
              <a:rPr lang="en-US" altLang="zh-CN" sz="1800" dirty="0">
                <a:latin typeface="Arial" panose="020B0604020202020204" pitchFamily="34" charset="0"/>
                <a:sym typeface="+mn-ea"/>
              </a:rPr>
              <a:t>II</a:t>
            </a:r>
            <a:r>
              <a:rPr lang="zh-CN" altLang="en-US" sz="1800" dirty="0">
                <a:latin typeface="Arial" panose="020B0604020202020204" pitchFamily="34" charset="0"/>
                <a:sym typeface="+mn-ea"/>
              </a:rPr>
              <a:t>弹性状态，粗杆</a:t>
            </a:r>
            <a:r>
              <a:rPr lang="en-US" altLang="zh-CN" sz="1800" dirty="0">
                <a:latin typeface="Arial" panose="020B0604020202020204" pitchFamily="34" charset="0"/>
                <a:sym typeface="+mn-ea"/>
              </a:rPr>
              <a:t>I</a:t>
            </a:r>
            <a:r>
              <a:rPr lang="zh-CN" altLang="en-US" sz="1800" dirty="0">
                <a:latin typeface="Arial" panose="020B0604020202020204" pitchFamily="34" charset="0"/>
                <a:sym typeface="+mn-ea"/>
              </a:rPr>
              <a:t>塑性状态，杆</a:t>
            </a:r>
            <a:r>
              <a:rPr lang="en-US" altLang="zh-CN" sz="1800" dirty="0">
                <a:latin typeface="Arial" panose="020B0604020202020204" pitchFamily="34" charset="0"/>
                <a:sym typeface="+mn-ea"/>
              </a:rPr>
              <a:t>II</a:t>
            </a:r>
            <a:r>
              <a:rPr lang="zh-CN" altLang="en-US" sz="1800" dirty="0">
                <a:latin typeface="Arial" panose="020B0604020202020204" pitchFamily="34" charset="0"/>
                <a:sym typeface="+mn-ea"/>
              </a:rPr>
              <a:t>冷速快、收缩大，杆</a:t>
            </a:r>
            <a:r>
              <a:rPr lang="en-US" altLang="zh-CN" sz="1800" dirty="0">
                <a:latin typeface="Arial" panose="020B0604020202020204" pitchFamily="34" charset="0"/>
                <a:sym typeface="+mn-ea"/>
              </a:rPr>
              <a:t>II</a:t>
            </a:r>
            <a:r>
              <a:rPr lang="zh-CN" altLang="en-US" sz="1800" dirty="0">
                <a:latin typeface="Arial" panose="020B0604020202020204" pitchFamily="34" charset="0"/>
                <a:sym typeface="+mn-ea"/>
              </a:rPr>
              <a:t>受拉，杆</a:t>
            </a:r>
            <a:r>
              <a:rPr lang="en-US" altLang="zh-CN" sz="1800" dirty="0">
                <a:latin typeface="Arial" panose="020B0604020202020204" pitchFamily="34" charset="0"/>
                <a:sym typeface="+mn-ea"/>
              </a:rPr>
              <a:t>I</a:t>
            </a:r>
            <a:r>
              <a:rPr lang="zh-CN" altLang="en-US" sz="1800" dirty="0">
                <a:latin typeface="Arial" panose="020B0604020202020204" pitchFamily="34" charset="0"/>
                <a:sym typeface="+mn-ea"/>
              </a:rPr>
              <a:t>受压，形成暂时内应力（</a:t>
            </a:r>
            <a:r>
              <a:rPr lang="en-US" altLang="zh-CN" sz="1800" dirty="0">
                <a:latin typeface="Arial" panose="020B0604020202020204" pitchFamily="34" charset="0"/>
                <a:sym typeface="+mn-ea"/>
              </a:rPr>
              <a:t>b</a:t>
            </a:r>
            <a:r>
              <a:rPr lang="zh-CN" altLang="en-US" sz="1800" dirty="0">
                <a:latin typeface="Arial" panose="020B0604020202020204" pitchFamily="34" charset="0"/>
                <a:sym typeface="+mn-ea"/>
              </a:rPr>
              <a:t>图）。</a:t>
            </a:r>
            <a:endParaRPr lang="zh-CN" altLang="en-US" sz="1800" dirty="0">
              <a:solidFill>
                <a:schemeClr val="tx1"/>
              </a:solidFill>
              <a:latin typeface="Arial" panose="020B060402020202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p:txBody>
      </p:sp>
      <p:grpSp>
        <p:nvGrpSpPr>
          <p:cNvPr id="12" name="组合 11"/>
          <p:cNvGrpSpPr/>
          <p:nvPr/>
        </p:nvGrpSpPr>
        <p:grpSpPr>
          <a:xfrm>
            <a:off x="1332230" y="5877560"/>
            <a:ext cx="6752590" cy="440055"/>
            <a:chOff x="2098" y="9256"/>
            <a:chExt cx="10634" cy="693"/>
          </a:xfrm>
        </p:grpSpPr>
        <p:sp>
          <p:nvSpPr>
            <p:cNvPr id="6" name="文本框 5"/>
            <p:cNvSpPr txBox="1"/>
            <p:nvPr/>
          </p:nvSpPr>
          <p:spPr>
            <a:xfrm>
              <a:off x="2098" y="9256"/>
              <a:ext cx="1337" cy="580"/>
            </a:xfrm>
            <a:prstGeom prst="rect">
              <a:avLst/>
            </a:prstGeom>
            <a:noFill/>
          </p:spPr>
          <p:txBody>
            <a:bodyPr wrap="square" rtlCol="0">
              <a:spAutoFit/>
            </a:bodyPr>
            <a:p>
              <a:r>
                <a:rPr lang="en-US" altLang="zh-CN"/>
                <a:t>a</a:t>
              </a:r>
              <a:endParaRPr lang="en-US" altLang="zh-CN"/>
            </a:p>
          </p:txBody>
        </p:sp>
        <p:sp>
          <p:nvSpPr>
            <p:cNvPr id="9" name="文本框 8"/>
            <p:cNvSpPr txBox="1"/>
            <p:nvPr/>
          </p:nvSpPr>
          <p:spPr>
            <a:xfrm>
              <a:off x="5046" y="9369"/>
              <a:ext cx="1337" cy="580"/>
            </a:xfrm>
            <a:prstGeom prst="rect">
              <a:avLst/>
            </a:prstGeom>
            <a:noFill/>
          </p:spPr>
          <p:txBody>
            <a:bodyPr wrap="square" rtlCol="0">
              <a:spAutoFit/>
            </a:bodyPr>
            <a:p>
              <a:pPr algn="ctr"/>
              <a:r>
                <a:rPr lang="en-US" altLang="zh-CN"/>
                <a:t>b</a:t>
              </a:r>
              <a:endParaRPr lang="en-US" altLang="zh-CN"/>
            </a:p>
          </p:txBody>
        </p:sp>
        <p:sp>
          <p:nvSpPr>
            <p:cNvPr id="10" name="文本框 9"/>
            <p:cNvSpPr txBox="1"/>
            <p:nvPr/>
          </p:nvSpPr>
          <p:spPr>
            <a:xfrm>
              <a:off x="8561" y="9369"/>
              <a:ext cx="1337" cy="580"/>
            </a:xfrm>
            <a:prstGeom prst="rect">
              <a:avLst/>
            </a:prstGeom>
            <a:noFill/>
          </p:spPr>
          <p:txBody>
            <a:bodyPr wrap="square" rtlCol="0">
              <a:spAutoFit/>
            </a:bodyPr>
            <a:p>
              <a:pPr algn="ctr"/>
              <a:r>
                <a:rPr lang="en-US" altLang="zh-CN"/>
                <a:t>c</a:t>
              </a:r>
              <a:endParaRPr lang="en-US" altLang="zh-CN"/>
            </a:p>
          </p:txBody>
        </p:sp>
        <p:sp>
          <p:nvSpPr>
            <p:cNvPr id="11" name="文本框 10"/>
            <p:cNvSpPr txBox="1"/>
            <p:nvPr/>
          </p:nvSpPr>
          <p:spPr>
            <a:xfrm>
              <a:off x="11396" y="9369"/>
              <a:ext cx="1337" cy="580"/>
            </a:xfrm>
            <a:prstGeom prst="rect">
              <a:avLst/>
            </a:prstGeom>
            <a:noFill/>
          </p:spPr>
          <p:txBody>
            <a:bodyPr wrap="square" rtlCol="0">
              <a:spAutoFit/>
            </a:bodyPr>
            <a:p>
              <a:pPr algn="ctr"/>
              <a:r>
                <a:rPr lang="en-US" altLang="zh-CN"/>
                <a:t>d</a:t>
              </a:r>
              <a:endParaRPr lang="en-US" altLang="zh-CN"/>
            </a:p>
          </p:txBody>
        </p:sp>
      </p:grpSp>
      <p:pic>
        <p:nvPicPr>
          <p:cNvPr id="100" name="图片 99"/>
          <p:cNvPicPr/>
          <p:nvPr/>
        </p:nvPicPr>
        <p:blipFill>
          <a:blip r:embed="rId2"/>
          <a:stretch>
            <a:fillRect/>
          </a:stretch>
        </p:blipFill>
        <p:spPr>
          <a:xfrm>
            <a:off x="6732270" y="1557020"/>
            <a:ext cx="2364740" cy="1623695"/>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6" name="图片 1"/>
          <p:cNvPicPr>
            <a:picLocks noChangeAspect="1"/>
          </p:cNvPicPr>
          <p:nvPr/>
        </p:nvPicPr>
        <p:blipFill>
          <a:blip r:embed="rId1"/>
          <a:stretch>
            <a:fillRect/>
          </a:stretch>
        </p:blipFill>
        <p:spPr>
          <a:xfrm>
            <a:off x="0" y="-317"/>
            <a:ext cx="8851900" cy="7091362"/>
          </a:xfrm>
          <a:prstGeom prst="rect">
            <a:avLst/>
          </a:prstGeom>
          <a:noFill/>
          <a:ln w="9525">
            <a:noFill/>
          </a:ln>
        </p:spPr>
      </p:pic>
      <p:sp>
        <p:nvSpPr>
          <p:cNvPr id="3" name="圆角矩形标注 2"/>
          <p:cNvSpPr/>
          <p:nvPr/>
        </p:nvSpPr>
        <p:spPr>
          <a:xfrm>
            <a:off x="5939790" y="188595"/>
            <a:ext cx="3187065" cy="2662555"/>
          </a:xfrm>
          <a:prstGeom prst="wedgeRoundRectCallout">
            <a:avLst>
              <a:gd name="adj1" fmla="val -81460"/>
              <a:gd name="adj2" fmla="val 69484"/>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en-US" altLang="zh-CN" sz="1800" dirty="0">
                <a:latin typeface="Arial" panose="020B0604020202020204" pitchFamily="34" charset="0"/>
                <a:sym typeface="+mn-ea"/>
              </a:rPr>
              <a:t>t2-t3</a:t>
            </a:r>
            <a:r>
              <a:rPr lang="zh-CN" altLang="en-US" sz="1800" dirty="0">
                <a:latin typeface="Arial" panose="020B0604020202020204" pitchFamily="34" charset="0"/>
                <a:sym typeface="+mn-ea"/>
              </a:rPr>
              <a:t>，均弹性状态，两杆温度不同、冷却速度不同，收缩也不同步，杆</a:t>
            </a:r>
            <a:r>
              <a:rPr lang="en-US" altLang="zh-CN" sz="1800" dirty="0">
                <a:latin typeface="Arial" panose="020B0604020202020204" pitchFamily="34" charset="0"/>
                <a:sym typeface="+mn-ea"/>
              </a:rPr>
              <a:t>I</a:t>
            </a:r>
            <a:r>
              <a:rPr lang="zh-CN" altLang="en-US" sz="1800" dirty="0">
                <a:latin typeface="Arial" panose="020B0604020202020204" pitchFamily="34" charset="0"/>
                <a:sym typeface="+mn-ea"/>
              </a:rPr>
              <a:t>的温度较高，还要进行较大的收缩，杆</a:t>
            </a:r>
            <a:r>
              <a:rPr lang="en-US" altLang="zh-CN" sz="1800" dirty="0">
                <a:latin typeface="Arial" panose="020B0604020202020204" pitchFamily="34" charset="0"/>
                <a:sym typeface="+mn-ea"/>
              </a:rPr>
              <a:t>II</a:t>
            </a:r>
            <a:r>
              <a:rPr lang="zh-CN" altLang="en-US" sz="1800" dirty="0">
                <a:latin typeface="Arial" panose="020B0604020202020204" pitchFamily="34" charset="0"/>
                <a:sym typeface="+mn-ea"/>
              </a:rPr>
              <a:t>的温度较低，收缩已趋于停止，杆</a:t>
            </a:r>
            <a:r>
              <a:rPr lang="en-US" altLang="zh-CN" sz="1800" dirty="0">
                <a:latin typeface="Arial" panose="020B0604020202020204" pitchFamily="34" charset="0"/>
                <a:sym typeface="+mn-ea"/>
              </a:rPr>
              <a:t>I</a:t>
            </a:r>
            <a:r>
              <a:rPr lang="zh-CN" altLang="en-US" sz="1800" dirty="0">
                <a:latin typeface="Arial" panose="020B0604020202020204" pitchFamily="34" charset="0"/>
                <a:sym typeface="+mn-ea"/>
              </a:rPr>
              <a:t>收缩受到杆</a:t>
            </a:r>
            <a:r>
              <a:rPr lang="en-US" altLang="zh-CN" sz="1800" dirty="0">
                <a:latin typeface="Arial" panose="020B0604020202020204" pitchFamily="34" charset="0"/>
                <a:sym typeface="+mn-ea"/>
              </a:rPr>
              <a:t>II</a:t>
            </a:r>
            <a:r>
              <a:rPr lang="zh-CN" altLang="en-US" sz="1800" dirty="0">
                <a:latin typeface="Arial" panose="020B0604020202020204" pitchFamily="34" charset="0"/>
                <a:sym typeface="+mn-ea"/>
              </a:rPr>
              <a:t>阻碍，杆</a:t>
            </a:r>
            <a:r>
              <a:rPr lang="en-US" altLang="zh-CN" sz="1800" dirty="0">
                <a:latin typeface="Arial" panose="020B0604020202020204" pitchFamily="34" charset="0"/>
                <a:sym typeface="+mn-ea"/>
              </a:rPr>
              <a:t>II</a:t>
            </a:r>
            <a:r>
              <a:rPr lang="zh-CN" altLang="en-US" sz="1800" dirty="0">
                <a:latin typeface="Arial" panose="020B0604020202020204" pitchFamily="34" charset="0"/>
                <a:sym typeface="+mn-ea"/>
              </a:rPr>
              <a:t>受压，杆</a:t>
            </a:r>
            <a:r>
              <a:rPr lang="en-US" altLang="zh-CN" sz="1800" dirty="0">
                <a:latin typeface="Arial" panose="020B0604020202020204" pitchFamily="34" charset="0"/>
                <a:sym typeface="+mn-ea"/>
              </a:rPr>
              <a:t>I</a:t>
            </a:r>
            <a:r>
              <a:rPr lang="zh-CN" altLang="en-US" sz="1800" dirty="0">
                <a:latin typeface="Arial" panose="020B0604020202020204" pitchFamily="34" charset="0"/>
                <a:sym typeface="+mn-ea"/>
              </a:rPr>
              <a:t>受拉（</a:t>
            </a:r>
            <a:r>
              <a:rPr lang="en-US" altLang="zh-CN" sz="1800" dirty="0">
                <a:latin typeface="Arial" panose="020B0604020202020204" pitchFamily="34" charset="0"/>
                <a:sym typeface="+mn-ea"/>
              </a:rPr>
              <a:t>d</a:t>
            </a:r>
            <a:r>
              <a:rPr lang="zh-CN" altLang="en-US" sz="1800" dirty="0">
                <a:latin typeface="Arial" panose="020B0604020202020204" pitchFamily="34" charset="0"/>
                <a:sym typeface="+mn-ea"/>
              </a:rPr>
              <a:t>图），直到室温 </a:t>
            </a:r>
            <a:endParaRPr kumimoji="0" lang="zh-CN" altLang="zh-CN"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p:txBody>
      </p:sp>
      <p:sp>
        <p:nvSpPr>
          <p:cNvPr id="4" name="圆角矩形标注 3"/>
          <p:cNvSpPr/>
          <p:nvPr/>
        </p:nvSpPr>
        <p:spPr>
          <a:xfrm>
            <a:off x="2753995" y="548640"/>
            <a:ext cx="2611755" cy="899795"/>
          </a:xfrm>
          <a:prstGeom prst="wedgeRoundRectCallout">
            <a:avLst>
              <a:gd name="adj1" fmla="val -33729"/>
              <a:gd name="adj2" fmla="val 264043"/>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lang="en-US" altLang="zh-CN" sz="1800" dirty="0">
                <a:latin typeface="Arial" panose="020B0604020202020204" pitchFamily="34" charset="0"/>
                <a:sym typeface="+mn-ea"/>
              </a:rPr>
              <a:t>t1-t2</a:t>
            </a:r>
            <a:r>
              <a:rPr lang="zh-CN" altLang="en-US" sz="1800" dirty="0">
                <a:latin typeface="Arial" panose="020B0604020202020204" pitchFamily="34" charset="0"/>
                <a:sym typeface="+mn-ea"/>
              </a:rPr>
              <a:t>内应力</a:t>
            </a:r>
            <a:r>
              <a:rPr lang="zh-CN" altLang="en-US" sz="1800" dirty="0">
                <a:latin typeface="Arial" panose="020B0604020202020204" pitchFamily="34" charset="0"/>
                <a:sym typeface="+mn-ea"/>
              </a:rPr>
              <a:t>因杆</a:t>
            </a:r>
            <a:r>
              <a:rPr lang="en-US" altLang="zh-CN" sz="1800" dirty="0">
                <a:latin typeface="Arial" panose="020B0604020202020204" pitchFamily="34" charset="0"/>
                <a:sym typeface="+mn-ea"/>
              </a:rPr>
              <a:t>I</a:t>
            </a:r>
            <a:r>
              <a:rPr lang="zh-CN" altLang="en-US" sz="1800" dirty="0">
                <a:latin typeface="Arial" panose="020B0604020202020204" pitchFamily="34" charset="0"/>
                <a:sym typeface="+mn-ea"/>
              </a:rPr>
              <a:t>发生了微量的受压塑性变形而自行消失（</a:t>
            </a:r>
            <a:r>
              <a:rPr lang="en-US" altLang="zh-CN" sz="1800" dirty="0">
                <a:latin typeface="Arial" panose="020B0604020202020204" pitchFamily="34" charset="0"/>
                <a:sym typeface="+mn-ea"/>
              </a:rPr>
              <a:t>c</a:t>
            </a:r>
            <a:r>
              <a:rPr lang="zh-CN" altLang="en-US" sz="1800" dirty="0">
                <a:latin typeface="Arial" panose="020B0604020202020204" pitchFamily="34" charset="0"/>
                <a:sym typeface="+mn-ea"/>
              </a:rPr>
              <a:t>图）</a:t>
            </a:r>
            <a:r>
              <a:rPr lang="zh-CN" altLang="en-US" sz="1800" dirty="0">
                <a:latin typeface="Arial" panose="020B0604020202020204" pitchFamily="34" charset="0"/>
                <a:sym typeface="+mn-ea"/>
              </a:rPr>
              <a:t>。</a:t>
            </a:r>
            <a:endParaRPr lang="zh-CN" altLang="en-US" sz="1800" dirty="0">
              <a:solidFill>
                <a:schemeClr val="tx1"/>
              </a:solidFill>
              <a:latin typeface="Arial" panose="020B0604020202020204" pitchFamily="34" charset="0"/>
              <a:ea typeface="宋体" panose="02010600030101010101" pitchFamily="2" charset="-122"/>
            </a:endParaRPr>
          </a:p>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p:txBody>
      </p:sp>
      <p:grpSp>
        <p:nvGrpSpPr>
          <p:cNvPr id="12" name="组合 11"/>
          <p:cNvGrpSpPr/>
          <p:nvPr/>
        </p:nvGrpSpPr>
        <p:grpSpPr>
          <a:xfrm>
            <a:off x="1332230" y="5877560"/>
            <a:ext cx="6752590" cy="440055"/>
            <a:chOff x="2098" y="9256"/>
            <a:chExt cx="10634" cy="693"/>
          </a:xfrm>
        </p:grpSpPr>
        <p:sp>
          <p:nvSpPr>
            <p:cNvPr id="6" name="文本框 5"/>
            <p:cNvSpPr txBox="1"/>
            <p:nvPr/>
          </p:nvSpPr>
          <p:spPr>
            <a:xfrm>
              <a:off x="2098" y="9256"/>
              <a:ext cx="1337" cy="580"/>
            </a:xfrm>
            <a:prstGeom prst="rect">
              <a:avLst/>
            </a:prstGeom>
            <a:noFill/>
          </p:spPr>
          <p:txBody>
            <a:bodyPr wrap="square" rtlCol="0">
              <a:spAutoFit/>
            </a:bodyPr>
            <a:p>
              <a:r>
                <a:rPr lang="en-US" altLang="zh-CN"/>
                <a:t>a</a:t>
              </a:r>
              <a:endParaRPr lang="en-US" altLang="zh-CN"/>
            </a:p>
          </p:txBody>
        </p:sp>
        <p:sp>
          <p:nvSpPr>
            <p:cNvPr id="9" name="文本框 8"/>
            <p:cNvSpPr txBox="1"/>
            <p:nvPr/>
          </p:nvSpPr>
          <p:spPr>
            <a:xfrm>
              <a:off x="5046" y="9369"/>
              <a:ext cx="1337" cy="580"/>
            </a:xfrm>
            <a:prstGeom prst="rect">
              <a:avLst/>
            </a:prstGeom>
            <a:noFill/>
          </p:spPr>
          <p:txBody>
            <a:bodyPr wrap="square" rtlCol="0">
              <a:spAutoFit/>
            </a:bodyPr>
            <a:p>
              <a:pPr algn="ctr"/>
              <a:r>
                <a:rPr lang="en-US" altLang="zh-CN"/>
                <a:t>b</a:t>
              </a:r>
              <a:endParaRPr lang="en-US" altLang="zh-CN"/>
            </a:p>
          </p:txBody>
        </p:sp>
        <p:sp>
          <p:nvSpPr>
            <p:cNvPr id="10" name="文本框 9"/>
            <p:cNvSpPr txBox="1"/>
            <p:nvPr/>
          </p:nvSpPr>
          <p:spPr>
            <a:xfrm>
              <a:off x="8561" y="9369"/>
              <a:ext cx="1337" cy="580"/>
            </a:xfrm>
            <a:prstGeom prst="rect">
              <a:avLst/>
            </a:prstGeom>
            <a:noFill/>
          </p:spPr>
          <p:txBody>
            <a:bodyPr wrap="square" rtlCol="0">
              <a:spAutoFit/>
            </a:bodyPr>
            <a:p>
              <a:pPr algn="ctr"/>
              <a:r>
                <a:rPr lang="en-US" altLang="zh-CN"/>
                <a:t>c</a:t>
              </a:r>
              <a:endParaRPr lang="en-US" altLang="zh-CN"/>
            </a:p>
          </p:txBody>
        </p:sp>
        <p:sp>
          <p:nvSpPr>
            <p:cNvPr id="11" name="文本框 10"/>
            <p:cNvSpPr txBox="1"/>
            <p:nvPr/>
          </p:nvSpPr>
          <p:spPr>
            <a:xfrm>
              <a:off x="11396" y="9369"/>
              <a:ext cx="1337" cy="580"/>
            </a:xfrm>
            <a:prstGeom prst="rect">
              <a:avLst/>
            </a:prstGeom>
            <a:noFill/>
          </p:spPr>
          <p:txBody>
            <a:bodyPr wrap="square" rtlCol="0">
              <a:spAutoFit/>
            </a:bodyPr>
            <a:p>
              <a:pPr algn="ctr"/>
              <a:r>
                <a:rPr lang="en-US" altLang="zh-CN"/>
                <a:t>d</a:t>
              </a:r>
              <a:endParaRPr lang="en-US" altLang="zh-CN"/>
            </a:p>
          </p:txBody>
        </p:sp>
      </p:grpSp>
      <p:graphicFrame>
        <p:nvGraphicFramePr>
          <p:cNvPr id="13" name="对象 12"/>
          <p:cNvGraphicFramePr/>
          <p:nvPr/>
        </p:nvGraphicFramePr>
        <p:xfrm>
          <a:off x="35560" y="1845310"/>
          <a:ext cx="2160905" cy="2522855"/>
        </p:xfrm>
        <a:graphic>
          <a:graphicData uri="http://schemas.openxmlformats.org/presentationml/2006/ole">
            <mc:AlternateContent xmlns:mc="http://schemas.openxmlformats.org/markup-compatibility/2006">
              <mc:Choice xmlns:v="urn:schemas-microsoft-com:vml" Requires="v">
                <p:oleObj spid="_x0000_s14" name="" r:id="rId2" imgW="2159000" imgH="2520950" progId="Paint.Picture">
                  <p:embed/>
                </p:oleObj>
              </mc:Choice>
              <mc:Fallback>
                <p:oleObj name="" r:id="rId2" imgW="2159000" imgH="2520950" progId="Paint.Picture">
                  <p:embed/>
                  <p:pic>
                    <p:nvPicPr>
                      <p:cNvPr id="0" name="图片 13"/>
                      <p:cNvPicPr/>
                      <p:nvPr/>
                    </p:nvPicPr>
                    <p:blipFill>
                      <a:blip r:embed="rId3"/>
                      <a:stretch>
                        <a:fillRect/>
                      </a:stretch>
                    </p:blipFill>
                    <p:spPr>
                      <a:xfrm>
                        <a:off x="35560" y="1845310"/>
                        <a:ext cx="2160905" cy="2522855"/>
                      </a:xfrm>
                      <a:prstGeom prst="rect">
                        <a:avLst/>
                      </a:prstGeom>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p:nvPr/>
        </p:nvSpPr>
        <p:spPr>
          <a:xfrm>
            <a:off x="611188" y="1674813"/>
            <a:ext cx="8064500" cy="16300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2800" dirty="0">
                <a:solidFill>
                  <a:schemeClr val="bg1"/>
                </a:solidFill>
                <a:latin typeface="楷体_GB2312" pitchFamily="49" charset="-122"/>
                <a:ea typeface="楷体_GB2312" pitchFamily="49" charset="-122"/>
              </a:rPr>
              <a:t> </a:t>
            </a:r>
            <a:r>
              <a:rPr lang="en-US" altLang="zh-CN" sz="2400" b="1" dirty="0">
                <a:solidFill>
                  <a:srgbClr val="A50021"/>
                </a:solidFill>
                <a:latin typeface="楷体_GB2312" pitchFamily="49" charset="-122"/>
                <a:ea typeface="楷体_GB2312" pitchFamily="49" charset="-122"/>
              </a:rPr>
              <a:t>2)</a:t>
            </a:r>
            <a:r>
              <a:rPr lang="zh-CN" altLang="en-US" sz="2400" b="1" dirty="0">
                <a:solidFill>
                  <a:srgbClr val="A50021"/>
                </a:solidFill>
                <a:latin typeface="楷体_GB2312" pitchFamily="49" charset="-122"/>
                <a:ea typeface="楷体_GB2312" pitchFamily="49" charset="-122"/>
              </a:rPr>
              <a:t>机械应力  </a:t>
            </a:r>
            <a:r>
              <a:rPr lang="zh-CN" altLang="en-US" sz="2400" b="1" dirty="0">
                <a:latin typeface="楷体_GB2312" pitchFamily="49" charset="-122"/>
                <a:ea typeface="楷体_GB2312" pitchFamily="49" charset="-122"/>
              </a:rPr>
              <a:t>铸件在固态收缩时，因受到铸型、型芯、浇冒口、箱挡等外力阻碍而产生的应力称为机械应力。机械应力使铸件产生拉应力或压应力。</a:t>
            </a:r>
            <a:r>
              <a:rPr lang="zh-CN" altLang="en-US" sz="2400" b="1" dirty="0">
                <a:solidFill>
                  <a:srgbClr val="FF3300"/>
                </a:solidFill>
                <a:latin typeface="楷体_GB2312" pitchFamily="49" charset="-122"/>
                <a:ea typeface="楷体_GB2312" pitchFamily="49" charset="-122"/>
              </a:rPr>
              <a:t>当铸件落砂清理，障碍消除后，机械应力也随之消失。</a:t>
            </a:r>
            <a:endParaRPr lang="zh-CN" altLang="en-US" sz="2400" b="1" dirty="0">
              <a:solidFill>
                <a:srgbClr val="FF3300"/>
              </a:solidFill>
              <a:latin typeface="楷体_GB2312" pitchFamily="49" charset="-122"/>
              <a:ea typeface="楷体_GB2312" pitchFamily="49" charset="-122"/>
            </a:endParaRPr>
          </a:p>
        </p:txBody>
      </p:sp>
      <p:pic>
        <p:nvPicPr>
          <p:cNvPr id="58371" name="Picture 4" descr="2-8机械应力"/>
          <p:cNvPicPr>
            <a:picLocks noChangeAspect="1"/>
          </p:cNvPicPr>
          <p:nvPr/>
        </p:nvPicPr>
        <p:blipFill>
          <a:blip r:embed="rId1"/>
          <a:stretch>
            <a:fillRect/>
          </a:stretch>
        </p:blipFill>
        <p:spPr>
          <a:xfrm>
            <a:off x="4292600" y="3311525"/>
            <a:ext cx="4256088" cy="3444875"/>
          </a:xfrm>
          <a:prstGeom prst="rect">
            <a:avLst/>
          </a:prstGeom>
          <a:noFill/>
          <a:ln w="9525">
            <a:noFill/>
          </a:ln>
        </p:spPr>
      </p:pic>
      <p:sp>
        <p:nvSpPr>
          <p:cNvPr id="58372" name="Rectangle 5"/>
          <p:cNvSpPr/>
          <p:nvPr/>
        </p:nvSpPr>
        <p:spPr>
          <a:xfrm>
            <a:off x="468313" y="3789363"/>
            <a:ext cx="3743325" cy="1920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lnSpc>
                <a:spcPct val="125000"/>
              </a:lnSpc>
              <a:spcBef>
                <a:spcPct val="0"/>
              </a:spcBef>
              <a:buClrTx/>
              <a:buSzTx/>
              <a:buNone/>
            </a:pPr>
            <a:r>
              <a:rPr lang="en-US" altLang="zh-CN" sz="2400" b="1" dirty="0">
                <a:latin typeface="Arial" panose="020B0604020202020204" pitchFamily="34" charset="0"/>
                <a:ea typeface="楷体_GB2312" pitchFamily="49" charset="-122"/>
              </a:rPr>
              <a:t>      </a:t>
            </a:r>
            <a:r>
              <a:rPr lang="zh-CN" altLang="en-US" sz="2400" b="1" dirty="0">
                <a:latin typeface="Arial" panose="020B0604020202020204" pitchFamily="34" charset="0"/>
                <a:ea typeface="楷体_GB2312" pitchFamily="49" charset="-122"/>
              </a:rPr>
              <a:t>如果在某一瞬间机械应力和热应力同时作用超过了铸件的强度极限时，铸件将产生裂纹。</a:t>
            </a:r>
            <a:endParaRPr lang="zh-CN" altLang="en-US" sz="2400" b="1" dirty="0">
              <a:latin typeface="Arial" panose="020B0604020202020204" pitchFamily="34" charset="0"/>
              <a:ea typeface="楷体_GB2312" pitchFamily="49" charset="-122"/>
            </a:endParaRPr>
          </a:p>
        </p:txBody>
      </p:sp>
      <p:sp>
        <p:nvSpPr>
          <p:cNvPr id="58373" name="Text Box 6"/>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29</a:t>
            </a:r>
            <a:endParaRPr lang="en-US" altLang="zh-CN" sz="1400" b="1" dirty="0">
              <a:solidFill>
                <a:schemeClr val="bg1"/>
              </a:solidFill>
              <a:latin typeface="Arial" panose="020B0604020202020204" pitchFamily="34" charset="0"/>
            </a:endParaRPr>
          </a:p>
        </p:txBody>
      </p:sp>
      <p:sp>
        <p:nvSpPr>
          <p:cNvPr id="58374" name="Rectangle 8"/>
          <p:cNvSpPr>
            <a:spLocks noGrp="1"/>
          </p:cNvSpPr>
          <p:nvPr>
            <p:ph type="title"/>
          </p:nvPr>
        </p:nvSpPr>
        <p:spPr>
          <a:xfrm>
            <a:off x="1042988" y="301625"/>
            <a:ext cx="7640637" cy="1143000"/>
          </a:xfrm>
        </p:spPr>
        <p:txBody>
          <a:bodyPr vert="horz" wrap="square" lIns="91440" tIns="45720" rIns="91440" bIns="45720" anchor="b" anchorCtr="0"/>
          <a:p>
            <a:pPr algn="ctr" eaLnBrk="1" hangingPunct="1"/>
            <a:r>
              <a:rPr lang="zh-CN" altLang="zh-CN" sz="4000" b="1" dirty="0">
                <a:ea typeface="楷体_GB2312" pitchFamily="49" charset="-122"/>
              </a:rPr>
              <a:t>第三节 铸造内应力、变形和裂纹</a:t>
            </a:r>
            <a:endParaRPr lang="zh-CN" altLang="zh-CN" sz="4000" b="1" dirty="0">
              <a:ea typeface="楷体_GB2312" pitchFamily="49"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p:nvPr/>
        </p:nvSpPr>
        <p:spPr>
          <a:xfrm>
            <a:off x="457200" y="228600"/>
            <a:ext cx="8229600" cy="628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lnSpc>
                <a:spcPct val="110000"/>
              </a:lnSpc>
              <a:spcBef>
                <a:spcPct val="0"/>
              </a:spcBef>
              <a:buClrTx/>
              <a:buSzTx/>
              <a:buNone/>
            </a:pPr>
            <a:r>
              <a:rPr lang="en-US" altLang="zh-CN" sz="32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59395" name="Rectangle 3"/>
          <p:cNvSpPr/>
          <p:nvPr/>
        </p:nvSpPr>
        <p:spPr>
          <a:xfrm>
            <a:off x="828675" y="1654175"/>
            <a:ext cx="8064500" cy="1514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lnSpc>
                <a:spcPct val="110000"/>
              </a:lnSpc>
              <a:spcBef>
                <a:spcPct val="0"/>
              </a:spcBef>
              <a:buClrTx/>
              <a:buSzTx/>
              <a:buFont typeface="Wingdings" panose="05000000000000000000" pitchFamily="2" charset="2"/>
              <a:buChar char="p"/>
            </a:pPr>
            <a:r>
              <a:rPr lang="zh-CN" altLang="en-US" sz="2000" b="1" dirty="0">
                <a:latin typeface="楷体_GB2312" pitchFamily="49" charset="-122"/>
                <a:ea typeface="楷体_GB2312" pitchFamily="49" charset="-122"/>
              </a:rPr>
              <a:t>方法：创造一个凝固条件，</a:t>
            </a:r>
            <a:r>
              <a:rPr lang="zh-CN" altLang="en-US" sz="2000" b="1" dirty="0">
                <a:solidFill>
                  <a:schemeClr val="tx1"/>
                </a:solidFill>
                <a:latin typeface="楷体_GB2312" pitchFamily="49" charset="-122"/>
                <a:ea typeface="楷体_GB2312" pitchFamily="49" charset="-122"/>
              </a:rPr>
              <a:t>保证铸件结构的温度尽量均匀一致。</a:t>
            </a:r>
            <a:endParaRPr lang="zh-CN" altLang="en-US" sz="2000" b="1" dirty="0">
              <a:solidFill>
                <a:schemeClr val="tx1"/>
              </a:solidFill>
              <a:latin typeface="楷体_GB2312" pitchFamily="49" charset="-122"/>
              <a:ea typeface="楷体_GB2312" pitchFamily="49" charset="-122"/>
            </a:endParaRPr>
          </a:p>
          <a:p>
            <a:pPr marL="0" lvl="0" indent="0" eaLnBrk="1" hangingPunct="1">
              <a:lnSpc>
                <a:spcPct val="110000"/>
              </a:lnSpc>
              <a:spcBef>
                <a:spcPct val="0"/>
              </a:spcBef>
              <a:buClrTx/>
              <a:buSzTx/>
              <a:buNone/>
            </a:pPr>
            <a:r>
              <a:rPr lang="zh-CN" altLang="en-US" sz="2400" b="1" dirty="0">
                <a:solidFill>
                  <a:schemeClr val="tx1"/>
                </a:solidFill>
                <a:latin typeface="楷体_GB2312" pitchFamily="49" charset="-122"/>
                <a:ea typeface="楷体_GB2312" pitchFamily="49" charset="-122"/>
              </a:rPr>
              <a:t>   </a:t>
            </a:r>
            <a:r>
              <a:rPr lang="zh-CN" altLang="en-US" sz="2000" b="1" dirty="0">
                <a:solidFill>
                  <a:schemeClr val="tx1"/>
                </a:solidFill>
                <a:latin typeface="楷体_GB2312" pitchFamily="49" charset="-122"/>
                <a:ea typeface="楷体_GB2312" pitchFamily="49" charset="-122"/>
              </a:rPr>
              <a:t>同时凝固原则  </a:t>
            </a:r>
            <a:r>
              <a:rPr lang="zh-CN" altLang="en-US" sz="2000" b="1" dirty="0">
                <a:solidFill>
                  <a:schemeClr val="tx1"/>
                </a:solidFill>
                <a:ea typeface="楷体_GB2312" pitchFamily="49" charset="-122"/>
              </a:rPr>
              <a:t>将内浇道设在薄壁处．使其在浇注过程中的升温较厚壁处高，可补偿薄壁处的冷速快的现象。另外，在厚壁处设置冷铁，使厚壁处的冷却速度加快。</a:t>
            </a:r>
            <a:endParaRPr lang="zh-CN" altLang="en-US" sz="2000" b="1" dirty="0">
              <a:solidFill>
                <a:schemeClr val="tx1"/>
              </a:solidFill>
              <a:latin typeface="楷体_GB2312" pitchFamily="49" charset="-122"/>
              <a:ea typeface="楷体_GB2312" pitchFamily="49" charset="-122"/>
            </a:endParaRPr>
          </a:p>
        </p:txBody>
      </p:sp>
      <p:sp>
        <p:nvSpPr>
          <p:cNvPr id="59396" name="Rectangle 8"/>
          <p:cNvSpPr/>
          <p:nvPr/>
        </p:nvSpPr>
        <p:spPr>
          <a:xfrm>
            <a:off x="1370013" y="188913"/>
            <a:ext cx="7313612"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en-US" sz="4000" b="1" dirty="0">
                <a:solidFill>
                  <a:schemeClr val="tx2"/>
                </a:solidFill>
                <a:latin typeface="Arial" panose="020B0604020202020204" pitchFamily="34" charset="0"/>
                <a:ea typeface="楷体_GB2312" pitchFamily="49" charset="-122"/>
              </a:rPr>
              <a:t>防止</a:t>
            </a:r>
            <a:r>
              <a:rPr lang="zh-CN" altLang="zh-CN" sz="4000" b="1" dirty="0">
                <a:solidFill>
                  <a:schemeClr val="tx2"/>
                </a:solidFill>
                <a:latin typeface="Arial" panose="020B0604020202020204" pitchFamily="34" charset="0"/>
                <a:ea typeface="楷体_GB2312" pitchFamily="49" charset="-122"/>
              </a:rPr>
              <a:t>铸造内应力</a:t>
            </a:r>
            <a:r>
              <a:rPr lang="zh-CN" altLang="en-US" sz="4000" b="1" dirty="0">
                <a:solidFill>
                  <a:schemeClr val="tx2"/>
                </a:solidFill>
                <a:latin typeface="Arial" panose="020B0604020202020204" pitchFamily="34" charset="0"/>
                <a:ea typeface="楷体_GB2312" pitchFamily="49" charset="-122"/>
              </a:rPr>
              <a:t>的方法</a:t>
            </a:r>
            <a:endParaRPr lang="zh-CN" altLang="zh-CN" sz="4000" b="1" dirty="0">
              <a:solidFill>
                <a:schemeClr val="tx2"/>
              </a:solidFill>
              <a:latin typeface="Arial" panose="020B0604020202020204" pitchFamily="34" charset="0"/>
              <a:ea typeface="楷体_GB2312" pitchFamily="49" charset="-122"/>
            </a:endParaRPr>
          </a:p>
        </p:txBody>
      </p:sp>
      <p:grpSp>
        <p:nvGrpSpPr>
          <p:cNvPr id="59397" name="Group 21"/>
          <p:cNvGrpSpPr/>
          <p:nvPr/>
        </p:nvGrpSpPr>
        <p:grpSpPr>
          <a:xfrm>
            <a:off x="1979930" y="3500438"/>
            <a:ext cx="4633913" cy="3189287"/>
            <a:chOff x="0" y="55"/>
            <a:chExt cx="2058" cy="1400"/>
          </a:xfrm>
        </p:grpSpPr>
        <p:sp>
          <p:nvSpPr>
            <p:cNvPr id="59400" name="Rectangle 17"/>
            <p:cNvSpPr/>
            <p:nvPr/>
          </p:nvSpPr>
          <p:spPr>
            <a:xfrm>
              <a:off x="262" y="1263"/>
              <a:ext cx="1488" cy="192"/>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400" b="1" dirty="0">
                  <a:ea typeface="楷体_GB2312" pitchFamily="49" charset="-122"/>
                </a:rPr>
                <a:t>图</a:t>
              </a:r>
              <a:r>
                <a:rPr lang="en-US" altLang="zh-CN" sz="1400" b="1" dirty="0">
                  <a:ea typeface="楷体_GB2312" pitchFamily="49" charset="-122"/>
                </a:rPr>
                <a:t>2-8 </a:t>
              </a:r>
              <a:r>
                <a:rPr lang="zh-CN" altLang="en-US" sz="1400" b="1" dirty="0">
                  <a:ea typeface="楷体_GB2312" pitchFamily="49" charset="-122"/>
                </a:rPr>
                <a:t>同时凝固原则示意图</a:t>
              </a:r>
              <a:endParaRPr lang="zh-CN" altLang="en-US" sz="1400" b="1" dirty="0">
                <a:ea typeface="楷体_GB2312" pitchFamily="49" charset="-122"/>
              </a:endParaRPr>
            </a:p>
          </p:txBody>
        </p:sp>
        <p:pic>
          <p:nvPicPr>
            <p:cNvPr id="59401" name="Picture 20" descr="图片2"/>
            <p:cNvPicPr>
              <a:picLocks noChangeAspect="1"/>
            </p:cNvPicPr>
            <p:nvPr/>
          </p:nvPicPr>
          <p:blipFill>
            <a:blip r:embed="rId1"/>
            <a:stretch>
              <a:fillRect/>
            </a:stretch>
          </p:blipFill>
          <p:spPr>
            <a:xfrm>
              <a:off x="0" y="55"/>
              <a:ext cx="2058" cy="1291"/>
            </a:xfrm>
            <a:prstGeom prst="rect">
              <a:avLst/>
            </a:prstGeom>
            <a:noFill/>
            <a:ln w="9525">
              <a:noFill/>
            </a:ln>
          </p:spPr>
        </p:pic>
      </p:grpSp>
      <p:sp>
        <p:nvSpPr>
          <p:cNvPr id="40968" name="AutoShape 23"/>
          <p:cNvSpPr/>
          <p:nvPr/>
        </p:nvSpPr>
        <p:spPr>
          <a:xfrm>
            <a:off x="6423025" y="3651250"/>
            <a:ext cx="2686050" cy="2441575"/>
          </a:xfrm>
          <a:prstGeom prst="wedgeEllipseCallout">
            <a:avLst>
              <a:gd name="adj1" fmla="val -69546"/>
              <a:gd name="adj2" fmla="val 43153"/>
            </a:avLst>
          </a:prstGeom>
          <a:solidFill>
            <a:srgbClr val="CCFF99"/>
          </a:solidFill>
          <a:ln w="9525" cap="flat" cmpd="sng">
            <a:solidFill>
              <a:srgbClr val="FF99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000" b="1" dirty="0">
                <a:ea typeface="楷体_GB2312" pitchFamily="49" charset="-122"/>
              </a:rPr>
              <a:t>冷铁的作用是加快铸件某处的冷却速度，以控制或改变铸件的凝固顺序。</a:t>
            </a:r>
            <a:endParaRPr lang="zh-CN" altLang="en-US" sz="2000" b="1" dirty="0">
              <a:ea typeface="楷体_GB2312" pitchFamily="49" charset="-122"/>
            </a:endParaRPr>
          </a:p>
        </p:txBody>
      </p:sp>
      <p:sp>
        <p:nvSpPr>
          <p:cNvPr id="59399" name="圆角矩形标注 2"/>
          <p:cNvSpPr/>
          <p:nvPr/>
        </p:nvSpPr>
        <p:spPr>
          <a:xfrm>
            <a:off x="179388" y="3962400"/>
            <a:ext cx="1368425" cy="2678113"/>
          </a:xfrm>
          <a:prstGeom prst="wedgeRoundRectCallout">
            <a:avLst>
              <a:gd name="adj1" fmla="val 114829"/>
              <a:gd name="adj2" fmla="val 51287"/>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1800" b="1" dirty="0">
                <a:latin typeface="楷体_GB2312" pitchFamily="49" charset="-122"/>
                <a:ea typeface="楷体_GB2312" pitchFamily="49" charset="-122"/>
              </a:rPr>
              <a:t>铸造热应力：铸件壁厚有大小，冷却有先后，致使铸件收缩不一致而形成。</a:t>
            </a:r>
            <a:endParaRPr lang="en-US" altLang="zh-CN" sz="1800" b="1" dirty="0">
              <a:latin typeface="楷体_GB2312" pitchFamily="49" charset="-122"/>
              <a:ea typeface="楷体_GB2312" pitchFamily="49" charset="-122"/>
            </a:endParaRPr>
          </a:p>
          <a:p>
            <a:pPr marL="0" lvl="0" indent="0">
              <a:spcBef>
                <a:spcPct val="0"/>
              </a:spcBef>
              <a:buClrTx/>
              <a:buSzTx/>
              <a:buFont typeface="Arial" panose="020B0604020202020204" pitchFamily="34" charset="0"/>
              <a:buNone/>
            </a:pP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0968"/>
                                        </p:tgtEl>
                                        <p:attrNameLst>
                                          <p:attrName>style.visibility</p:attrName>
                                        </p:attrNameLst>
                                      </p:cBhvr>
                                      <p:to>
                                        <p:strVal val="visible"/>
                                      </p:to>
                                    </p:set>
                                    <p:animEffect transition="in" filter="diamond(in)">
                                      <p:cBhvr>
                                        <p:cTn id="7" dur="2000"/>
                                        <p:tgtEl>
                                          <p:spTgt spid="40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p:nvPr/>
        </p:nvSpPr>
        <p:spPr>
          <a:xfrm>
            <a:off x="250825" y="1665288"/>
            <a:ext cx="8675688" cy="44878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342900" lvl="0" indent="-342900" algn="just" eaLnBrk="1" hangingPunct="1">
              <a:lnSpc>
                <a:spcPct val="140000"/>
              </a:lnSpc>
              <a:spcBef>
                <a:spcPct val="0"/>
              </a:spcBef>
              <a:buClrTx/>
              <a:buSzTx/>
              <a:buFont typeface="Arial" panose="020B0604020202020204" pitchFamily="34" charset="0"/>
              <a:buNone/>
            </a:pPr>
            <a:r>
              <a:rPr lang="zh-CN" altLang="en-US" sz="2400" b="1" dirty="0">
                <a:solidFill>
                  <a:schemeClr val="tx1"/>
                </a:solidFill>
                <a:latin typeface="楷体_GB2312" pitchFamily="49" charset="-122"/>
                <a:ea typeface="楷体_GB2312" pitchFamily="49" charset="-122"/>
              </a:rPr>
              <a:t>同时凝固原则的优点： </a:t>
            </a:r>
            <a:endParaRPr lang="zh-CN" altLang="en-US" sz="2400" b="1" dirty="0">
              <a:solidFill>
                <a:schemeClr val="tx1"/>
              </a:solidFill>
              <a:latin typeface="楷体_GB2312" pitchFamily="49" charset="-122"/>
              <a:ea typeface="楷体_GB2312" pitchFamily="49" charset="-122"/>
            </a:endParaRPr>
          </a:p>
          <a:p>
            <a:pPr marL="342900" lvl="0" indent="-342900" algn="just" eaLnBrk="1" hangingPunct="1">
              <a:lnSpc>
                <a:spcPct val="140000"/>
              </a:lnSpc>
              <a:spcBef>
                <a:spcPct val="0"/>
              </a:spcBef>
              <a:buClrTx/>
              <a:buSzTx/>
              <a:buFont typeface="Arial" panose="020B0604020202020204" pitchFamily="34" charset="0"/>
              <a:buNone/>
            </a:pPr>
            <a:r>
              <a:rPr lang="zh-CN" altLang="en-US" sz="2800" dirty="0">
                <a:solidFill>
                  <a:schemeClr val="tx1"/>
                </a:solidFill>
                <a:latin typeface="楷体_GB2312" pitchFamily="49" charset="-122"/>
                <a:ea typeface="楷体_GB2312" pitchFamily="49" charset="-122"/>
              </a:rPr>
              <a:t>   </a:t>
            </a:r>
            <a:r>
              <a:rPr lang="zh-CN" altLang="en-US" sz="2400" b="1" dirty="0">
                <a:solidFill>
                  <a:schemeClr val="tx1"/>
                </a:solidFill>
                <a:latin typeface="楷体_GB2312" pitchFamily="49" charset="-122"/>
                <a:ea typeface="楷体_GB2312" pitchFamily="49" charset="-122"/>
              </a:rPr>
              <a:t>凝固期间不容易产生热裂，凝固后也不易引起应力、变形；由于不用冒口或冒口很小而节省金属，简化工艺、减少工作量。缺点是铸件中心区域往往有缩松，铸件不致密。</a:t>
            </a:r>
            <a:endParaRPr lang="zh-CN" altLang="en-US" sz="2400" b="1" dirty="0">
              <a:solidFill>
                <a:schemeClr val="tx1"/>
              </a:solidFill>
              <a:latin typeface="楷体_GB2312" pitchFamily="49" charset="-122"/>
              <a:ea typeface="楷体_GB2312" pitchFamily="49" charset="-122"/>
            </a:endParaRPr>
          </a:p>
          <a:p>
            <a:pPr marL="342900" lvl="0" indent="-342900" eaLnBrk="1" hangingPunct="1">
              <a:lnSpc>
                <a:spcPct val="140000"/>
              </a:lnSpc>
              <a:spcBef>
                <a:spcPct val="0"/>
              </a:spcBef>
              <a:buClrTx/>
              <a:buSzTx/>
              <a:buFont typeface="Arial" panose="020B0604020202020204" pitchFamily="34" charset="0"/>
              <a:buNone/>
            </a:pPr>
            <a:r>
              <a:rPr lang="zh-CN" altLang="en-US" sz="2400" b="1" dirty="0">
                <a:solidFill>
                  <a:schemeClr val="tx1"/>
                </a:solidFill>
                <a:latin typeface="楷体_GB2312" pitchFamily="49" charset="-122"/>
                <a:ea typeface="楷体_GB2312" pitchFamily="49" charset="-122"/>
              </a:rPr>
              <a:t>同时凝固一般用于以下情况：</a:t>
            </a:r>
            <a:endParaRPr lang="zh-CN" altLang="en-US" sz="2400" b="1" dirty="0">
              <a:solidFill>
                <a:schemeClr val="tx1"/>
              </a:solidFill>
              <a:latin typeface="楷体_GB2312" pitchFamily="49" charset="-122"/>
              <a:ea typeface="楷体_GB2312" pitchFamily="49" charset="-122"/>
            </a:endParaRPr>
          </a:p>
          <a:p>
            <a:pPr marL="342900" lvl="0" indent="-342900" eaLnBrk="1" hangingPunct="1">
              <a:lnSpc>
                <a:spcPct val="140000"/>
              </a:lnSpc>
              <a:spcBef>
                <a:spcPct val="0"/>
              </a:spcBef>
              <a:buClrTx/>
              <a:buSzTx/>
              <a:buFont typeface="Arial" panose="020B0604020202020204" pitchFamily="34" charset="0"/>
              <a:buAutoNum type="arabicParenBoth"/>
            </a:pPr>
            <a:r>
              <a:rPr lang="zh-CN" altLang="en-US" sz="2400" b="1" dirty="0">
                <a:solidFill>
                  <a:schemeClr val="tx1"/>
                </a:solidFill>
                <a:latin typeface="楷体_GB2312" pitchFamily="49" charset="-122"/>
                <a:ea typeface="楷体_GB2312" pitchFamily="49" charset="-122"/>
              </a:rPr>
              <a:t>碳硅含量高的灰铸铁，其体积收缩较小甚至不收缩，合金本身不易产生缩孔和缩松。</a:t>
            </a:r>
            <a:endParaRPr lang="zh-CN" altLang="en-US" sz="2400" b="1" dirty="0">
              <a:solidFill>
                <a:schemeClr val="tx1"/>
              </a:solidFill>
              <a:latin typeface="楷体_GB2312" pitchFamily="49" charset="-122"/>
              <a:ea typeface="楷体_GB2312" pitchFamily="49" charset="-122"/>
            </a:endParaRPr>
          </a:p>
          <a:p>
            <a:pPr marL="342900" lvl="0" indent="-342900" eaLnBrk="1" hangingPunct="1">
              <a:spcBef>
                <a:spcPct val="0"/>
              </a:spcBef>
              <a:buClrTx/>
              <a:buSzTx/>
              <a:buFont typeface="Arial" panose="020B0604020202020204" pitchFamily="34" charset="0"/>
              <a:buNone/>
            </a:pPr>
            <a:r>
              <a:rPr lang="en-US" altLang="zh-CN" sz="2400" b="1" dirty="0">
                <a:solidFill>
                  <a:schemeClr val="tx1"/>
                </a:solidFill>
                <a:latin typeface="楷体_GB2312" pitchFamily="49" charset="-122"/>
                <a:ea typeface="楷体_GB2312" pitchFamily="49" charset="-122"/>
              </a:rPr>
              <a:t>(2) </a:t>
            </a:r>
            <a:r>
              <a:rPr lang="zh-CN" altLang="en-US" sz="2400" b="1" dirty="0">
                <a:solidFill>
                  <a:schemeClr val="tx1"/>
                </a:solidFill>
                <a:latin typeface="楷体_GB2312" pitchFamily="49" charset="-122"/>
                <a:ea typeface="楷体_GB2312" pitchFamily="49" charset="-122"/>
              </a:rPr>
              <a:t>结晶温度范围大，容易产生缩松的合金（如锡青铜），对气密性要求不高时，可采用同时凝固。</a:t>
            </a:r>
            <a:endParaRPr lang="zh-CN" altLang="en-US" sz="2400" b="1" dirty="0">
              <a:solidFill>
                <a:schemeClr val="tx1"/>
              </a:solidFill>
              <a:latin typeface="楷体_GB2312" pitchFamily="49" charset="-122"/>
              <a:ea typeface="楷体_GB2312" pitchFamily="49" charset="-122"/>
            </a:endParaRPr>
          </a:p>
        </p:txBody>
      </p:sp>
      <p:sp>
        <p:nvSpPr>
          <p:cNvPr id="61443" name="Text Box 3"/>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36</a:t>
            </a:r>
            <a:endParaRPr lang="en-US" altLang="zh-CN" sz="1400" b="1" dirty="0">
              <a:solidFill>
                <a:schemeClr val="bg1"/>
              </a:solidFill>
              <a:latin typeface="Arial" panose="020B0604020202020204" pitchFamily="34" charset="0"/>
            </a:endParaRPr>
          </a:p>
        </p:txBody>
      </p:sp>
      <p:sp>
        <p:nvSpPr>
          <p:cNvPr id="61444" name="Rectangle 5"/>
          <p:cNvSpPr/>
          <p:nvPr/>
        </p:nvSpPr>
        <p:spPr>
          <a:xfrm>
            <a:off x="900113" y="269875"/>
            <a:ext cx="7313612"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4000" b="1" dirty="0">
                <a:solidFill>
                  <a:schemeClr val="tx2"/>
                </a:solidFill>
                <a:latin typeface="Arial" panose="020B0604020202020204" pitchFamily="34" charset="0"/>
                <a:ea typeface="楷体_GB2312" pitchFamily="49" charset="-122"/>
              </a:rPr>
              <a:t>铸造内应力、变形和裂纹</a:t>
            </a:r>
            <a:endParaRPr lang="zh-CN" altLang="zh-CN" sz="4000" b="1" dirty="0">
              <a:solidFill>
                <a:schemeClr val="tx2"/>
              </a:solidFill>
              <a:latin typeface="Arial" panose="020B0604020202020204" pitchFamily="34" charset="0"/>
              <a:ea typeface="楷体_GB2312" pitchFamily="49"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2466" name="Picture 2" descr="a66">
            <a:hlinkClick r:id="rId1" action="ppaction://hlinkfile"/>
          </p:cNvPr>
          <p:cNvPicPr>
            <a:picLocks noChangeAspect="1"/>
          </p:cNvPicPr>
          <p:nvPr/>
        </p:nvPicPr>
        <p:blipFill>
          <a:blip r:embed="rId2"/>
          <a:stretch>
            <a:fillRect/>
          </a:stretch>
        </p:blipFill>
        <p:spPr>
          <a:xfrm>
            <a:off x="2984500" y="1962150"/>
            <a:ext cx="6086475" cy="4565650"/>
          </a:xfrm>
          <a:prstGeom prst="rect">
            <a:avLst/>
          </a:prstGeom>
          <a:noFill/>
          <a:ln w="9525">
            <a:noFill/>
          </a:ln>
        </p:spPr>
      </p:pic>
      <p:sp>
        <p:nvSpPr>
          <p:cNvPr id="62467" name="Rectangle 4"/>
          <p:cNvSpPr/>
          <p:nvPr/>
        </p:nvSpPr>
        <p:spPr>
          <a:xfrm>
            <a:off x="468313" y="1819275"/>
            <a:ext cx="2951162" cy="45243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400" b="1" dirty="0">
                <a:latin typeface="楷体_GB2312" pitchFamily="49" charset="-122"/>
                <a:ea typeface="楷体_GB2312" pitchFamily="49" charset="-122"/>
              </a:rPr>
              <a:t>带有内应力的铸件处于</a:t>
            </a:r>
            <a:r>
              <a:rPr lang="zh-CN" altLang="en-US" sz="2400" b="1" dirty="0">
                <a:latin typeface="Arial" panose="020B0604020202020204" pitchFamily="34" charset="0"/>
                <a:ea typeface="楷体_GB2312" pitchFamily="49" charset="-122"/>
              </a:rPr>
              <a:t>‘</a:t>
            </a:r>
            <a:r>
              <a:rPr lang="zh-CN" altLang="en-US" sz="2400" b="1" dirty="0">
                <a:latin typeface="楷体_GB2312" pitchFamily="49" charset="-122"/>
                <a:ea typeface="楷体_GB2312" pitchFamily="49" charset="-122"/>
              </a:rPr>
              <a:t>应力屈服</a:t>
            </a:r>
            <a:r>
              <a:rPr lang="zh-CN" altLang="en-US" sz="2400" b="1" dirty="0">
                <a:latin typeface="Arial" panose="020B0604020202020204" pitchFamily="34" charset="0"/>
                <a:ea typeface="楷体_GB2312" pitchFamily="49" charset="-122"/>
              </a:rPr>
              <a:t>’</a:t>
            </a:r>
            <a:r>
              <a:rPr lang="zh-CN" altLang="en-US" sz="2400" b="1" dirty="0">
                <a:latin typeface="楷体_GB2312" pitchFamily="49" charset="-122"/>
                <a:ea typeface="楷体_GB2312" pitchFamily="49" charset="-122"/>
              </a:rPr>
              <a:t>状态是不稳定的，将通过变形以减少内应力，趋于稳定状态．因此，铸件常发生不同程度的变形，其变形方向则是</a:t>
            </a:r>
            <a:r>
              <a:rPr lang="zh-CN" altLang="en-US" sz="2400" b="1" dirty="0">
                <a:solidFill>
                  <a:srgbClr val="FF0066"/>
                </a:solidFill>
                <a:latin typeface="楷体_GB2312" pitchFamily="49" charset="-122"/>
                <a:ea typeface="楷体_GB2312" pitchFamily="49" charset="-122"/>
              </a:rPr>
              <a:t>受压缩的部位向外凸．受拉伸的部位向内凹。</a:t>
            </a:r>
            <a:r>
              <a:rPr lang="zh-CN" altLang="en-US" sz="2400" b="1" dirty="0">
                <a:latin typeface="楷体_GB2312" pitchFamily="49" charset="-122"/>
                <a:ea typeface="楷体_GB2312" pitchFamily="49" charset="-122"/>
              </a:rPr>
              <a:t>细而长或大而薄等刚度差的铸件变形尤为明显。</a:t>
            </a:r>
            <a:endParaRPr lang="zh-CN" altLang="en-US" sz="2400" b="1" dirty="0">
              <a:latin typeface="楷体_GB2312" pitchFamily="49" charset="-122"/>
              <a:ea typeface="楷体_GB2312" pitchFamily="49" charset="-122"/>
            </a:endParaRPr>
          </a:p>
        </p:txBody>
      </p:sp>
      <p:sp>
        <p:nvSpPr>
          <p:cNvPr id="62468" name="Text Box 6"/>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30</a:t>
            </a:r>
            <a:endParaRPr lang="en-US" altLang="zh-CN" sz="1400" b="1" dirty="0">
              <a:solidFill>
                <a:schemeClr val="bg1"/>
              </a:solidFill>
              <a:latin typeface="Arial" panose="020B0604020202020204" pitchFamily="34" charset="0"/>
            </a:endParaRPr>
          </a:p>
        </p:txBody>
      </p:sp>
      <p:sp>
        <p:nvSpPr>
          <p:cNvPr id="62469" name="Rectangle 7"/>
          <p:cNvSpPr/>
          <p:nvPr/>
        </p:nvSpPr>
        <p:spPr>
          <a:xfrm>
            <a:off x="1370013" y="301625"/>
            <a:ext cx="7313612"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en-US" sz="4000" b="1" dirty="0">
                <a:solidFill>
                  <a:schemeClr val="tx2"/>
                </a:solidFill>
                <a:latin typeface="Arial" panose="020B0604020202020204" pitchFamily="34" charset="0"/>
                <a:ea typeface="楷体_GB2312" pitchFamily="49" charset="-122"/>
              </a:rPr>
              <a:t>铸件的</a:t>
            </a:r>
            <a:r>
              <a:rPr lang="zh-CN" altLang="zh-CN" sz="4000" b="1" dirty="0">
                <a:solidFill>
                  <a:schemeClr val="tx2"/>
                </a:solidFill>
                <a:latin typeface="Arial" panose="020B0604020202020204" pitchFamily="34" charset="0"/>
                <a:ea typeface="楷体_GB2312" pitchFamily="49" charset="-122"/>
              </a:rPr>
              <a:t>变形</a:t>
            </a:r>
            <a:endParaRPr lang="zh-CN" altLang="zh-CN" sz="4000" b="1" dirty="0">
              <a:solidFill>
                <a:schemeClr val="tx2"/>
              </a:solidFill>
              <a:latin typeface="Arial" panose="020B0604020202020204" pitchFamily="34" charset="0"/>
              <a:ea typeface="楷体_GB2312" pitchFamily="49"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p:txBody>
          <a:bodyPr vert="horz" wrap="square" lIns="91440" tIns="45720" rIns="91440" bIns="45720" anchor="b" anchorCtr="0"/>
          <a:p>
            <a:pPr algn="ctr" eaLnBrk="1" hangingPunct="1"/>
            <a:r>
              <a:rPr lang="zh-CN" altLang="en-US" sz="4000" b="1" dirty="0">
                <a:ea typeface="楷体_GB2312" pitchFamily="49" charset="-122"/>
              </a:rPr>
              <a:t>铸件的变形</a:t>
            </a:r>
            <a:endParaRPr lang="zh-CN" altLang="zh-CN" sz="4000" b="1" dirty="0">
              <a:ea typeface="楷体_GB2312" pitchFamily="49" charset="-122"/>
            </a:endParaRPr>
          </a:p>
        </p:txBody>
      </p:sp>
      <p:grpSp>
        <p:nvGrpSpPr>
          <p:cNvPr id="63491" name="Group 15"/>
          <p:cNvGrpSpPr/>
          <p:nvPr/>
        </p:nvGrpSpPr>
        <p:grpSpPr>
          <a:xfrm>
            <a:off x="1619250" y="3397250"/>
            <a:ext cx="6873875" cy="3055938"/>
            <a:chOff x="0" y="0"/>
            <a:chExt cx="3198" cy="1062"/>
          </a:xfrm>
        </p:grpSpPr>
        <p:pic>
          <p:nvPicPr>
            <p:cNvPr id="63493" name="Picture 16"/>
            <p:cNvPicPr>
              <a:picLocks noChangeAspect="1"/>
            </p:cNvPicPr>
            <p:nvPr/>
          </p:nvPicPr>
          <p:blipFill>
            <a:blip r:embed="rId1"/>
            <a:stretch>
              <a:fillRect/>
            </a:stretch>
          </p:blipFill>
          <p:spPr>
            <a:xfrm>
              <a:off x="0" y="0"/>
              <a:ext cx="3198" cy="1062"/>
            </a:xfrm>
            <a:prstGeom prst="rect">
              <a:avLst/>
            </a:prstGeom>
            <a:noFill/>
            <a:ln w="9525">
              <a:noFill/>
            </a:ln>
          </p:spPr>
        </p:pic>
        <p:sp>
          <p:nvSpPr>
            <p:cNvPr id="63494" name="Text Box 17"/>
            <p:cNvSpPr txBox="1"/>
            <p:nvPr/>
          </p:nvSpPr>
          <p:spPr>
            <a:xfrm>
              <a:off x="730" y="870"/>
              <a:ext cx="404" cy="173"/>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r>
                <a:rPr lang="zh-CN" altLang="en-US" sz="1200" b="1" dirty="0">
                  <a:solidFill>
                    <a:srgbClr val="000000"/>
                  </a:solidFill>
                  <a:latin typeface="宋体" panose="02010600030101010101" pitchFamily="2" charset="-122"/>
                </a:rPr>
                <a:t>图</a:t>
              </a:r>
              <a:r>
                <a:rPr lang="en-US" altLang="zh-CN" sz="1200" b="1" dirty="0">
                  <a:solidFill>
                    <a:srgbClr val="000000"/>
                  </a:solidFill>
                  <a:latin typeface="宋体" panose="02010600030101010101" pitchFamily="2" charset="-122"/>
                </a:rPr>
                <a:t>2-11</a:t>
              </a:r>
              <a:endParaRPr lang="en-US" altLang="zh-CN" sz="1200" b="1" dirty="0">
                <a:solidFill>
                  <a:srgbClr val="000000"/>
                </a:solidFill>
                <a:latin typeface="宋体" panose="02010600030101010101" pitchFamily="2" charset="-122"/>
              </a:endParaRPr>
            </a:p>
          </p:txBody>
        </p:sp>
      </p:grpSp>
      <p:sp>
        <p:nvSpPr>
          <p:cNvPr id="63492" name="Rectangle 19"/>
          <p:cNvSpPr/>
          <p:nvPr/>
        </p:nvSpPr>
        <p:spPr>
          <a:xfrm>
            <a:off x="971550" y="1773238"/>
            <a:ext cx="7272338" cy="1295400"/>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342900" lvl="0" indent="-342900" eaLnBrk="1" hangingPunct="1">
              <a:buClr>
                <a:srgbClr val="CC3300"/>
              </a:buClr>
              <a:buFont typeface="Wingdings" panose="05000000000000000000" pitchFamily="2" charset="2"/>
              <a:buChar char="Ø"/>
            </a:pPr>
            <a:r>
              <a:rPr lang="zh-CN" altLang="en-US" sz="2400" b="1" dirty="0">
                <a:ea typeface="楷体_GB2312" pitchFamily="49" charset="-122"/>
              </a:rPr>
              <a:t>图为车床床身，</a:t>
            </a:r>
            <a:r>
              <a:rPr lang="zh-CN" altLang="en-US" sz="2400" b="1" dirty="0">
                <a:solidFill>
                  <a:srgbClr val="FF0066"/>
                </a:solidFill>
                <a:ea typeface="楷体_GB2312" pitchFamily="49" charset="-122"/>
              </a:rPr>
              <a:t>导轨部分较厚，铸后产生拉应力，侧壁较薄，铸后产生压应力。</a:t>
            </a:r>
            <a:r>
              <a:rPr lang="zh-CN" altLang="en-US" sz="2400" b="1" dirty="0">
                <a:ea typeface="楷体_GB2312" pitchFamily="49" charset="-122"/>
              </a:rPr>
              <a:t>变形的结果，导轨面中心下凹，侧壁凸起。</a:t>
            </a:r>
            <a:endParaRPr lang="zh-CN" altLang="en-US" sz="2400" b="1" dirty="0">
              <a:ea typeface="楷体_GB2312" pitchFamily="49" charset="-122"/>
            </a:endParaRPr>
          </a:p>
          <a:p>
            <a:pPr marL="342900" lvl="0" indent="-342900" eaLnBrk="1" hangingPunct="1">
              <a:buClr>
                <a:srgbClr val="CC3300"/>
              </a:buClr>
              <a:buNone/>
            </a:pPr>
            <a:endParaRPr lang="en-US" altLang="zh-CN" sz="2400" b="1" dirty="0">
              <a:ea typeface="楷体_GB2312" pitchFamily="49"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p:cNvSpPr>
          <p:nvPr>
            <p:ph type="title"/>
          </p:nvPr>
        </p:nvSpPr>
        <p:spPr/>
        <p:txBody>
          <a:bodyPr vert="horz" wrap="square" lIns="91440" tIns="45720" rIns="91440" bIns="45720" anchor="b" anchorCtr="0"/>
          <a:p>
            <a:pPr algn="ctr" eaLnBrk="1" hangingPunct="1"/>
            <a:r>
              <a:rPr lang="zh-CN" altLang="en-US" sz="4000" b="1" dirty="0">
                <a:ea typeface="楷体_GB2312" pitchFamily="49" charset="-122"/>
              </a:rPr>
              <a:t>铸件的变形</a:t>
            </a:r>
            <a:endParaRPr lang="zh-CN" altLang="zh-CN" sz="4000" b="1" dirty="0">
              <a:ea typeface="楷体_GB2312" pitchFamily="49" charset="-122"/>
            </a:endParaRPr>
          </a:p>
        </p:txBody>
      </p:sp>
      <p:sp>
        <p:nvSpPr>
          <p:cNvPr id="64515" name="Rectangle 3"/>
          <p:cNvSpPr>
            <a:spLocks noGrp="1"/>
          </p:cNvSpPr>
          <p:nvPr>
            <p:ph type="body" sz="half"/>
          </p:nvPr>
        </p:nvSpPr>
        <p:spPr>
          <a:xfrm>
            <a:off x="468313" y="2205038"/>
            <a:ext cx="3527425" cy="230505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lnSpc>
                <a:spcPct val="80000"/>
              </a:lnSpc>
              <a:buClr>
                <a:srgbClr val="CC3300"/>
              </a:buClr>
            </a:pPr>
            <a:r>
              <a:rPr lang="zh-CN" altLang="zh-CN" sz="2400" b="1" dirty="0">
                <a:ea typeface="楷体_GB2312" pitchFamily="49" charset="-122"/>
              </a:rPr>
              <a:t>图为平板形铸件的变形，平板中心冷却比四周慢，铸后产生拉应力，而四周产生压应力，</a:t>
            </a:r>
            <a:r>
              <a:rPr lang="zh-CN" altLang="zh-CN" sz="2400" b="1" dirty="0">
                <a:solidFill>
                  <a:srgbClr val="009900"/>
                </a:solidFill>
                <a:ea typeface="楷体_GB2312" pitchFamily="49" charset="-122"/>
              </a:rPr>
              <a:t>当平板上、下面有温差时，就可能产生挠曲变形。</a:t>
            </a:r>
            <a:endParaRPr lang="zh-CN" altLang="zh-CN" sz="2400" b="1" dirty="0">
              <a:solidFill>
                <a:srgbClr val="009900"/>
              </a:solidFill>
              <a:ea typeface="楷体_GB2312" pitchFamily="49" charset="-122"/>
            </a:endParaRPr>
          </a:p>
        </p:txBody>
      </p:sp>
      <p:grpSp>
        <p:nvGrpSpPr>
          <p:cNvPr id="64516" name="Group 18"/>
          <p:cNvGrpSpPr/>
          <p:nvPr/>
        </p:nvGrpSpPr>
        <p:grpSpPr>
          <a:xfrm>
            <a:off x="4356100" y="1700213"/>
            <a:ext cx="4103688" cy="4537075"/>
            <a:chOff x="0" y="0"/>
            <a:chExt cx="1516" cy="2058"/>
          </a:xfrm>
        </p:grpSpPr>
        <p:grpSp>
          <p:nvGrpSpPr>
            <p:cNvPr id="64517" name="Group 16"/>
            <p:cNvGrpSpPr/>
            <p:nvPr/>
          </p:nvGrpSpPr>
          <p:grpSpPr>
            <a:xfrm>
              <a:off x="0" y="0"/>
              <a:ext cx="1516" cy="2058"/>
              <a:chOff x="0" y="0"/>
              <a:chExt cx="1470" cy="2058"/>
            </a:xfrm>
          </p:grpSpPr>
          <p:pic>
            <p:nvPicPr>
              <p:cNvPr id="64519" name="Picture 9"/>
              <p:cNvPicPr>
                <a:picLocks noChangeAspect="1"/>
              </p:cNvPicPr>
              <p:nvPr/>
            </p:nvPicPr>
            <p:blipFill>
              <a:blip r:embed="rId1"/>
              <a:stretch>
                <a:fillRect/>
              </a:stretch>
            </p:blipFill>
            <p:spPr>
              <a:xfrm>
                <a:off x="0" y="0"/>
                <a:ext cx="1470" cy="2058"/>
              </a:xfrm>
              <a:prstGeom prst="rect">
                <a:avLst/>
              </a:prstGeom>
              <a:noFill/>
              <a:ln w="9525">
                <a:noFill/>
              </a:ln>
            </p:spPr>
          </p:pic>
          <p:sp>
            <p:nvSpPr>
              <p:cNvPr id="64520" name="Rectangle 14"/>
              <p:cNvSpPr/>
              <p:nvPr/>
            </p:nvSpPr>
            <p:spPr>
              <a:xfrm>
                <a:off x="48" y="1674"/>
                <a:ext cx="336" cy="14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sp>
          <p:nvSpPr>
            <p:cNvPr id="64518" name="Rectangle 17"/>
            <p:cNvSpPr/>
            <p:nvPr/>
          </p:nvSpPr>
          <p:spPr>
            <a:xfrm>
              <a:off x="20" y="1670"/>
              <a:ext cx="1360" cy="346"/>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en-US" altLang="zh-CN" sz="1400" b="1" dirty="0">
                <a:latin typeface="楷体_GB2312" pitchFamily="49" charset="-122"/>
                <a:ea typeface="楷体_GB2312" pitchFamily="49" charset="-122"/>
              </a:endParaRPr>
            </a:p>
            <a:p>
              <a:pPr marL="0" lvl="0" indent="0" eaLnBrk="1" hangingPunct="1">
                <a:spcBef>
                  <a:spcPct val="0"/>
                </a:spcBef>
                <a:buClrTx/>
                <a:buSzTx/>
                <a:buNone/>
              </a:pPr>
              <a:r>
                <a:rPr lang="zh-CN" altLang="en-US" sz="1600" b="1" dirty="0">
                  <a:latin typeface="楷体_GB2312" pitchFamily="49" charset="-122"/>
                  <a:ea typeface="楷体_GB2312" pitchFamily="49" charset="-122"/>
                </a:rPr>
                <a:t>图 平板形铸件的变形</a:t>
              </a:r>
              <a:endParaRPr lang="zh-CN" altLang="en-US" sz="1600" b="1" dirty="0">
                <a:latin typeface="楷体_GB2312" pitchFamily="49" charset="-122"/>
                <a:ea typeface="楷体_GB2312" pitchFamily="49" charset="-122"/>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p:txBody>
          <a:bodyPr vert="horz" wrap="square" lIns="91440" tIns="45720" rIns="91440" bIns="45720" anchor="b" anchorCtr="0"/>
          <a:p>
            <a:pPr eaLnBrk="1" hangingPunct="1"/>
            <a:r>
              <a:rPr lang="zh-CN" altLang="en-US" sz="4000" b="1" dirty="0">
                <a:solidFill>
                  <a:srgbClr val="FF6600"/>
                </a:solidFill>
                <a:latin typeface="楷体_GB2312" pitchFamily="49" charset="-122"/>
                <a:ea typeface="楷体_GB2312" pitchFamily="49" charset="-122"/>
              </a:rPr>
              <a:t>铸件的变形</a:t>
            </a:r>
            <a:endParaRPr lang="zh-CN" altLang="zh-CN" sz="4000" b="1" dirty="0">
              <a:ea typeface="楷体_GB2312" pitchFamily="49" charset="-122"/>
            </a:endParaRPr>
          </a:p>
        </p:txBody>
      </p:sp>
      <p:sp>
        <p:nvSpPr>
          <p:cNvPr id="47107" name="Rectangle 3"/>
          <p:cNvSpPr>
            <a:spLocks noGrp="1"/>
          </p:cNvSpPr>
          <p:nvPr>
            <p:ph type="body" sz="half"/>
          </p:nvPr>
        </p:nvSpPr>
        <p:spPr>
          <a:xfrm>
            <a:off x="427038" y="1525588"/>
            <a:ext cx="4608512" cy="4054475"/>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1" eaLnBrk="1" hangingPunct="1">
              <a:lnSpc>
                <a:spcPct val="90000"/>
              </a:lnSpc>
              <a:buClr>
                <a:srgbClr val="F19BFD"/>
              </a:buClr>
              <a:buFont typeface="Wingdings" panose="05000000000000000000" pitchFamily="2" charset="2"/>
              <a:buChar char="Ø"/>
            </a:pPr>
            <a:r>
              <a:rPr lang="zh-CN" altLang="en-US" sz="2400" dirty="0">
                <a:latin typeface="楷体_GB2312" pitchFamily="49" charset="-122"/>
                <a:ea typeface="楷体_GB2312" pitchFamily="49" charset="-122"/>
              </a:rPr>
              <a:t>皮带轮结构特点</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轮缘和轮辐比轮毂薄，当轮毂进入弹性状态时，轮缘和轮辐的温度比轮毂低，</a:t>
            </a:r>
            <a:r>
              <a:rPr lang="zh-CN" altLang="en-US" sz="2400" dirty="0">
                <a:solidFill>
                  <a:srgbClr val="0033CC"/>
                </a:solidFill>
                <a:latin typeface="楷体_GB2312" pitchFamily="49" charset="-122"/>
                <a:ea typeface="楷体_GB2312" pitchFamily="49" charset="-122"/>
              </a:rPr>
              <a:t>轮毂的继续收缩受到轮缘和轮辐的阻碍、轮缘受压应力，轮毂和轮辐受拉应力（热应力）。</a:t>
            </a:r>
            <a:endParaRPr lang="en-US" altLang="zh-CN" sz="2400" dirty="0">
              <a:solidFill>
                <a:srgbClr val="0033CC"/>
              </a:solidFill>
              <a:latin typeface="楷体_GB2312" pitchFamily="49" charset="-122"/>
              <a:ea typeface="楷体_GB2312" pitchFamily="49" charset="-122"/>
            </a:endParaRPr>
          </a:p>
          <a:p>
            <a:pPr lvl="1" eaLnBrk="1" hangingPunct="1">
              <a:lnSpc>
                <a:spcPct val="90000"/>
              </a:lnSpc>
              <a:buClr>
                <a:srgbClr val="F19BFD"/>
              </a:buClr>
              <a:buFont typeface="Wingdings" panose="05000000000000000000" pitchFamily="2" charset="2"/>
              <a:buChar char="Ø"/>
            </a:pPr>
            <a:r>
              <a:rPr lang="zh-CN" altLang="en-US" sz="2400" b="1" dirty="0">
                <a:latin typeface="楷体_GB2312" pitchFamily="49" charset="-122"/>
                <a:ea typeface="楷体_GB2312" pitchFamily="49" charset="-122"/>
              </a:rPr>
              <a:t>如图（</a:t>
            </a:r>
            <a:r>
              <a:rPr lang="en-US" altLang="zh-CN" sz="2400" b="1" dirty="0">
                <a:latin typeface="楷体_GB2312" pitchFamily="49" charset="-122"/>
                <a:ea typeface="楷体_GB2312" pitchFamily="49" charset="-122"/>
              </a:rPr>
              <a:t>b</a:t>
            </a:r>
            <a:r>
              <a:rPr lang="zh-CN" altLang="en-US" sz="2400" b="1" dirty="0">
                <a:latin typeface="楷体_GB2312" pitchFamily="49" charset="-122"/>
                <a:ea typeface="楷体_GB2312" pitchFamily="49" charset="-122"/>
              </a:rPr>
              <a:t>）所示，</a:t>
            </a:r>
            <a:r>
              <a:rPr lang="en-US" altLang="zh-CN" sz="2400" b="1" dirty="0">
                <a:latin typeface="楷体_GB2312" pitchFamily="49" charset="-122"/>
                <a:ea typeface="楷体_GB2312" pitchFamily="49" charset="-122"/>
              </a:rPr>
              <a:t>P1</a:t>
            </a:r>
            <a:r>
              <a:rPr lang="zh-CN" altLang="en-US" sz="2400" b="1" dirty="0">
                <a:latin typeface="楷体_GB2312" pitchFamily="49" charset="-122"/>
                <a:ea typeface="楷体_GB2312" pitchFamily="49" charset="-122"/>
              </a:rPr>
              <a:t>为轮毂和轮辐把轮缘向里拉的力，</a:t>
            </a:r>
            <a:r>
              <a:rPr lang="en-US" altLang="zh-CN" sz="2400" b="1" dirty="0">
                <a:latin typeface="楷体_GB2312" pitchFamily="49" charset="-122"/>
                <a:ea typeface="楷体_GB2312" pitchFamily="49" charset="-122"/>
              </a:rPr>
              <a:t>P2</a:t>
            </a:r>
            <a:r>
              <a:rPr lang="zh-CN" altLang="en-US" sz="2400" b="1" dirty="0">
                <a:latin typeface="楷体_GB2312" pitchFamily="49" charset="-122"/>
                <a:ea typeface="楷体_GB2312" pitchFamily="49" charset="-122"/>
              </a:rPr>
              <a:t>是铸型阻碍轮缘收缩的力（机械应力）。</a:t>
            </a:r>
            <a:r>
              <a:rPr lang="zh-CN" altLang="en-US" sz="2400" dirty="0">
                <a:solidFill>
                  <a:srgbClr val="FF00FF"/>
                </a:solidFill>
                <a:latin typeface="楷体_GB2312" pitchFamily="49" charset="-122"/>
                <a:ea typeface="楷体_GB2312" pitchFamily="49" charset="-122"/>
              </a:rPr>
              <a:t>结果有可能把轮缘拉成波浪形。在切削加工时</a:t>
            </a:r>
            <a:r>
              <a:rPr lang="en-US" altLang="zh-CN" sz="2400" dirty="0">
                <a:solidFill>
                  <a:srgbClr val="FF00FF"/>
                </a:solidFill>
                <a:latin typeface="楷体_GB2312" pitchFamily="49" charset="-122"/>
                <a:ea typeface="楷体_GB2312" pitchFamily="49" charset="-122"/>
              </a:rPr>
              <a:t>A</a:t>
            </a:r>
            <a:r>
              <a:rPr lang="zh-CN" altLang="en-US" sz="2400" dirty="0">
                <a:solidFill>
                  <a:srgbClr val="FF00FF"/>
                </a:solidFill>
                <a:latin typeface="楷体_GB2312" pitchFamily="49" charset="-122"/>
                <a:ea typeface="楷体_GB2312" pitchFamily="49" charset="-122"/>
              </a:rPr>
              <a:t>处可能会出现</a:t>
            </a:r>
            <a:r>
              <a:rPr lang="zh-CN" altLang="en-US" sz="2400" dirty="0">
                <a:solidFill>
                  <a:schemeClr val="tx2"/>
                </a:solidFill>
                <a:latin typeface="楷体_GB2312" pitchFamily="49" charset="-122"/>
                <a:ea typeface="楷体_GB2312" pitchFamily="49" charset="-122"/>
              </a:rPr>
              <a:t>加工余量不足，</a:t>
            </a:r>
            <a:r>
              <a:rPr lang="en-US" altLang="zh-CN" sz="2400" dirty="0">
                <a:solidFill>
                  <a:srgbClr val="FF00FF"/>
                </a:solidFill>
                <a:latin typeface="楷体_GB2312" pitchFamily="49" charset="-122"/>
                <a:ea typeface="楷体_GB2312" pitchFamily="49" charset="-122"/>
              </a:rPr>
              <a:t>B</a:t>
            </a:r>
            <a:r>
              <a:rPr lang="zh-CN" altLang="en-US" sz="2400" dirty="0">
                <a:solidFill>
                  <a:srgbClr val="FF00FF"/>
                </a:solidFill>
                <a:latin typeface="楷体_GB2312" pitchFamily="49" charset="-122"/>
                <a:ea typeface="楷体_GB2312" pitchFamily="49" charset="-122"/>
              </a:rPr>
              <a:t>处加工后轮缘可能变得过薄。</a:t>
            </a:r>
            <a:endParaRPr lang="zh-CN" altLang="en-US" sz="2400" dirty="0">
              <a:solidFill>
                <a:srgbClr val="FF00FF"/>
              </a:solidFill>
              <a:latin typeface="楷体_GB2312" pitchFamily="49" charset="-122"/>
              <a:ea typeface="楷体_GB2312" pitchFamily="49" charset="-122"/>
            </a:endParaRPr>
          </a:p>
        </p:txBody>
      </p:sp>
      <p:pic>
        <p:nvPicPr>
          <p:cNvPr id="65540" name="Picture 11"/>
          <p:cNvPicPr>
            <a:picLocks noChangeAspect="1"/>
          </p:cNvPicPr>
          <p:nvPr/>
        </p:nvPicPr>
        <p:blipFill>
          <a:blip r:embed="rId1"/>
          <a:stretch>
            <a:fillRect/>
          </a:stretch>
        </p:blipFill>
        <p:spPr>
          <a:xfrm>
            <a:off x="5651500" y="476250"/>
            <a:ext cx="3276600" cy="6096000"/>
          </a:xfrm>
          <a:prstGeom prst="rect">
            <a:avLst/>
          </a:prstGeom>
          <a:noFill/>
          <a:ln w="9525">
            <a:noFill/>
          </a:ln>
        </p:spPr>
      </p:pic>
      <p:sp>
        <p:nvSpPr>
          <p:cNvPr id="65541" name="矩形 4"/>
          <p:cNvSpPr/>
          <p:nvPr/>
        </p:nvSpPr>
        <p:spPr>
          <a:xfrm>
            <a:off x="6286500" y="5572125"/>
            <a:ext cx="500063" cy="214313"/>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endParaRPr lang="zh-CN" altLang="en-US" sz="18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6562" name="图片 1"/>
          <p:cNvPicPr>
            <a:picLocks noChangeAspect="1"/>
          </p:cNvPicPr>
          <p:nvPr/>
        </p:nvPicPr>
        <p:blipFill>
          <a:blip r:embed="rId1"/>
          <a:stretch>
            <a:fillRect/>
          </a:stretch>
        </p:blipFill>
        <p:spPr>
          <a:xfrm>
            <a:off x="250825" y="66675"/>
            <a:ext cx="8726488" cy="6791325"/>
          </a:xfrm>
          <a:prstGeom prst="rect">
            <a:avLst/>
          </a:prstGeom>
          <a:noFill/>
          <a:ln w="9525">
            <a:noFill/>
          </a:ln>
        </p:spPr>
      </p:pic>
      <p:graphicFrame>
        <p:nvGraphicFramePr>
          <p:cNvPr id="3" name="对象 2"/>
          <p:cNvGraphicFramePr/>
          <p:nvPr/>
        </p:nvGraphicFramePr>
        <p:xfrm>
          <a:off x="6299835" y="2167255"/>
          <a:ext cx="2160905" cy="2522855"/>
        </p:xfrm>
        <a:graphic>
          <a:graphicData uri="http://schemas.openxmlformats.org/presentationml/2006/ole">
            <mc:AlternateContent xmlns:mc="http://schemas.openxmlformats.org/markup-compatibility/2006">
              <mc:Choice xmlns:v="urn:schemas-microsoft-com:vml" Requires="v">
                <p:oleObj spid="_x0000_s4" name="" r:id="rId2" imgW="2159000" imgH="2520950" progId="Paint.Picture">
                  <p:embed/>
                </p:oleObj>
              </mc:Choice>
              <mc:Fallback>
                <p:oleObj name="" r:id="rId2" imgW="2159000" imgH="2520950" progId="Paint.Picture">
                  <p:embed/>
                  <p:pic>
                    <p:nvPicPr>
                      <p:cNvPr id="0" name="图片 13"/>
                      <p:cNvPicPr/>
                      <p:nvPr/>
                    </p:nvPicPr>
                    <p:blipFill>
                      <a:blip r:embed="rId3"/>
                      <a:stretch>
                        <a:fillRect/>
                      </a:stretch>
                    </p:blipFill>
                    <p:spPr>
                      <a:xfrm>
                        <a:off x="6299835" y="2167255"/>
                        <a:ext cx="2160905" cy="2522855"/>
                      </a:xfrm>
                      <a:prstGeom prst="rect">
                        <a:avLst/>
                      </a:prstGeom>
                    </p:spPr>
                  </p:pic>
                </p:oleObj>
              </mc:Fallback>
            </mc:AlternateContent>
          </a:graphicData>
        </a:graphic>
      </p:graphicFrame>
      <p:sp>
        <p:nvSpPr>
          <p:cNvPr id="5" name="文本框 4"/>
          <p:cNvSpPr txBox="1"/>
          <p:nvPr/>
        </p:nvSpPr>
        <p:spPr>
          <a:xfrm>
            <a:off x="6647180" y="4725035"/>
            <a:ext cx="1466215" cy="645160"/>
          </a:xfrm>
          <a:prstGeom prst="rect">
            <a:avLst/>
          </a:prstGeom>
          <a:noFill/>
        </p:spPr>
        <p:txBody>
          <a:bodyPr wrap="square" rtlCol="0">
            <a:spAutoFit/>
          </a:bodyPr>
          <a:p>
            <a:r>
              <a:rPr lang="zh-CN" altLang="en-US"/>
              <a:t>如果结松了的话，会？</a:t>
            </a: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铸造内应力、变形和裂纹</a:t>
            </a:r>
            <a:endParaRPr lang="zh-CN" altLang="zh-CN" sz="4000" b="1" dirty="0">
              <a:ea typeface="楷体_GB2312" pitchFamily="49" charset="-122"/>
            </a:endParaRPr>
          </a:p>
        </p:txBody>
      </p:sp>
      <p:sp>
        <p:nvSpPr>
          <p:cNvPr id="48131" name="Rectangle 3"/>
          <p:cNvSpPr>
            <a:spLocks noGrp="1"/>
          </p:cNvSpPr>
          <p:nvPr>
            <p:ph type="body" sz="half"/>
          </p:nvPr>
        </p:nvSpPr>
        <p:spPr>
          <a:xfrm>
            <a:off x="900113" y="1865313"/>
            <a:ext cx="7715250" cy="2932112"/>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r>
              <a:rPr lang="zh-CN" altLang="zh-CN" sz="2400" b="1" dirty="0">
                <a:solidFill>
                  <a:srgbClr val="FF6600"/>
                </a:solidFill>
                <a:latin typeface="楷体_GB2312" pitchFamily="49" charset="-122"/>
                <a:ea typeface="楷体_GB2312" pitchFamily="49" charset="-122"/>
              </a:rPr>
              <a:t>铸件的变形与防止</a:t>
            </a:r>
            <a:endParaRPr lang="zh-CN" altLang="zh-CN" sz="2400" b="1" dirty="0">
              <a:solidFill>
                <a:srgbClr val="FF6600"/>
              </a:solidFill>
              <a:latin typeface="楷体_GB2312" pitchFamily="49" charset="-122"/>
              <a:ea typeface="楷体_GB2312" pitchFamily="49" charset="-122"/>
            </a:endParaRPr>
          </a:p>
          <a:p>
            <a:pPr lvl="0" eaLnBrk="1" hangingPunct="1">
              <a:buNone/>
            </a:pPr>
            <a:r>
              <a:rPr lang="zh-CN" altLang="zh-CN" sz="2400" b="1" dirty="0">
                <a:latin typeface="楷体_GB2312" pitchFamily="49" charset="-122"/>
                <a:ea typeface="楷体_GB2312" pitchFamily="49" charset="-122"/>
              </a:rPr>
              <a:t>      </a:t>
            </a:r>
            <a:r>
              <a:rPr lang="zh-CN" altLang="zh-CN" sz="2400" b="1" dirty="0">
                <a:solidFill>
                  <a:srgbClr val="0000FF"/>
                </a:solidFill>
                <a:latin typeface="楷体_GB2312" pitchFamily="49" charset="-122"/>
                <a:ea typeface="楷体_GB2312" pitchFamily="49" charset="-122"/>
              </a:rPr>
              <a:t>铸件的变形往往使铸件精度降低，严重时可能使铸件报废必须予以防止。</a:t>
            </a:r>
            <a:endParaRPr lang="zh-CN" altLang="zh-CN" sz="2400" b="1" dirty="0">
              <a:solidFill>
                <a:srgbClr val="0000FF"/>
              </a:solidFill>
              <a:latin typeface="楷体_GB2312" pitchFamily="49" charset="-122"/>
              <a:ea typeface="楷体_GB2312" pitchFamily="49" charset="-122"/>
            </a:endParaRPr>
          </a:p>
          <a:p>
            <a:pPr lvl="0" eaLnBrk="1" hangingPunct="1">
              <a:buNone/>
            </a:pPr>
            <a:r>
              <a:rPr lang="zh-CN" altLang="zh-CN" sz="2400" b="1" dirty="0">
                <a:solidFill>
                  <a:srgbClr val="FF3300"/>
                </a:solidFill>
                <a:latin typeface="楷体_GB2312" pitchFamily="49" charset="-122"/>
                <a:ea typeface="楷体_GB2312" pitchFamily="49" charset="-122"/>
              </a:rPr>
              <a:t>  防止：</a:t>
            </a:r>
            <a:endParaRPr lang="zh-CN" altLang="zh-CN" sz="2400" b="1" dirty="0">
              <a:solidFill>
                <a:srgbClr val="FF3300"/>
              </a:solidFill>
              <a:latin typeface="楷体_GB2312" pitchFamily="49" charset="-122"/>
              <a:ea typeface="楷体_GB2312" pitchFamily="49" charset="-122"/>
            </a:endParaRPr>
          </a:p>
          <a:p>
            <a:pPr lvl="1" eaLnBrk="1" hangingPunct="1"/>
            <a:r>
              <a:rPr lang="zh-CN" altLang="zh-CN" sz="2400" b="1" dirty="0">
                <a:latin typeface="楷体_GB2312" pitchFamily="49" charset="-122"/>
                <a:ea typeface="楷体_GB2312" pitchFamily="49" charset="-122"/>
              </a:rPr>
              <a:t>设计铸件时，力求壁厚均匀、形状简单而</a:t>
            </a:r>
            <a:r>
              <a:rPr lang="zh-CN" altLang="zh-CN" sz="2400" b="1" dirty="0">
                <a:solidFill>
                  <a:srgbClr val="FF3300"/>
                </a:solidFill>
                <a:latin typeface="楷体_GB2312" pitchFamily="49" charset="-122"/>
                <a:ea typeface="楷体_GB2312" pitchFamily="49" charset="-122"/>
              </a:rPr>
              <a:t>对称</a:t>
            </a:r>
            <a:r>
              <a:rPr lang="zh-CN" altLang="zh-CN" sz="2400" b="1" dirty="0">
                <a:latin typeface="楷体_GB2312" pitchFamily="49" charset="-122"/>
                <a:ea typeface="楷体_GB2312" pitchFamily="49" charset="-122"/>
              </a:rPr>
              <a:t>。</a:t>
            </a:r>
            <a:endParaRPr lang="zh-CN" altLang="zh-CN" sz="2400" b="1" dirty="0">
              <a:latin typeface="楷体_GB2312" pitchFamily="49" charset="-122"/>
              <a:ea typeface="楷体_GB2312" pitchFamily="49" charset="-122"/>
            </a:endParaRPr>
          </a:p>
          <a:p>
            <a:pPr lvl="1" eaLnBrk="1" hangingPunct="1"/>
            <a:r>
              <a:rPr lang="zh-CN" altLang="zh-CN" sz="2400" b="1" dirty="0">
                <a:latin typeface="楷体_GB2312" pitchFamily="49" charset="-122"/>
                <a:ea typeface="楷体_GB2312" pitchFamily="49" charset="-122"/>
              </a:rPr>
              <a:t>对于细而长、大而薄等易变形铸件，可将模样制成与铸件变形方向相反的形状，待铸件冷却后变形正好与相反的形状抵消，称</a:t>
            </a:r>
            <a:r>
              <a:rPr lang="zh-CN" altLang="zh-CN" sz="2400" b="1" dirty="0">
                <a:latin typeface="Arial" panose="020B0604020202020204" pitchFamily="34" charset="0"/>
                <a:ea typeface="楷体_GB2312" pitchFamily="49" charset="-122"/>
              </a:rPr>
              <a:t>“</a:t>
            </a:r>
            <a:r>
              <a:rPr lang="zh-CN" altLang="zh-CN" sz="2400" b="1" dirty="0">
                <a:solidFill>
                  <a:srgbClr val="FF0066"/>
                </a:solidFill>
                <a:latin typeface="楷体_GB2312" pitchFamily="49" charset="-122"/>
                <a:ea typeface="楷体_GB2312" pitchFamily="49" charset="-122"/>
              </a:rPr>
              <a:t>反变形法</a:t>
            </a:r>
            <a:r>
              <a:rPr lang="zh-CN" altLang="zh-CN" sz="2400" b="1" dirty="0">
                <a:latin typeface="Arial" panose="020B0604020202020204" pitchFamily="34" charset="0"/>
                <a:ea typeface="楷体_GB2312" pitchFamily="49" charset="-122"/>
              </a:rPr>
              <a:t>”</a:t>
            </a:r>
            <a:r>
              <a:rPr lang="zh-CN" altLang="zh-CN" sz="2400" b="1" dirty="0">
                <a:latin typeface="楷体_GB2312" pitchFamily="49" charset="-122"/>
                <a:ea typeface="楷体_GB2312" pitchFamily="49" charset="-122"/>
              </a:rPr>
              <a:t> 。</a:t>
            </a:r>
            <a:endParaRPr lang="zh-CN" altLang="zh-CN" sz="2400" b="1" dirty="0">
              <a:latin typeface="楷体_GB2312" pitchFamily="49" charset="-122"/>
              <a:ea typeface="楷体_GB2312" pitchFamily="49" charset="-122"/>
            </a:endParaRPr>
          </a:p>
        </p:txBody>
      </p:sp>
      <p:grpSp>
        <p:nvGrpSpPr>
          <p:cNvPr id="2" name="Group 4"/>
          <p:cNvGrpSpPr/>
          <p:nvPr/>
        </p:nvGrpSpPr>
        <p:grpSpPr>
          <a:xfrm>
            <a:off x="1692275" y="5143500"/>
            <a:ext cx="6335713" cy="1598613"/>
            <a:chOff x="0" y="0"/>
            <a:chExt cx="2640" cy="720"/>
          </a:xfrm>
        </p:grpSpPr>
        <p:sp>
          <p:nvSpPr>
            <p:cNvPr id="67589" name="Rectangle 5"/>
            <p:cNvSpPr/>
            <p:nvPr/>
          </p:nvSpPr>
          <p:spPr>
            <a:xfrm>
              <a:off x="96" y="96"/>
              <a:ext cx="2544" cy="624"/>
            </a:xfrm>
            <a:prstGeom prst="rect">
              <a:avLst/>
            </a:prstGeom>
            <a:solidFill>
              <a:srgbClr val="CCFF99"/>
            </a:solidFill>
            <a:ln w="9525" cap="flat" cmpd="sng">
              <a:solidFill>
                <a:srgbClr val="FF99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en-US" sz="2400" b="1" dirty="0">
                  <a:solidFill>
                    <a:srgbClr val="FF0000"/>
                  </a:solidFill>
                  <a:latin typeface="Arial" panose="020B0604020202020204" pitchFamily="34" charset="0"/>
                  <a:ea typeface="楷体_GB2312" pitchFamily="49" charset="-122"/>
                </a:rPr>
                <a:t>对不允许发生变形的机件必须进行</a:t>
              </a:r>
              <a:endParaRPr lang="zh-CN" altLang="en-US" sz="2400" b="1" dirty="0">
                <a:solidFill>
                  <a:srgbClr val="FF0000"/>
                </a:solidFill>
                <a:latin typeface="Arial" panose="020B0604020202020204" pitchFamily="34" charset="0"/>
                <a:ea typeface="楷体_GB2312" pitchFamily="49" charset="-122"/>
              </a:endParaRPr>
            </a:p>
            <a:p>
              <a:pPr marL="0" lvl="0" indent="0" algn="ctr" eaLnBrk="1" hangingPunct="1">
                <a:spcBef>
                  <a:spcPct val="0"/>
                </a:spcBef>
                <a:buClrTx/>
                <a:buSzTx/>
                <a:buNone/>
              </a:pPr>
              <a:r>
                <a:rPr lang="zh-CN" altLang="en-US" sz="2400" b="1" dirty="0">
                  <a:solidFill>
                    <a:srgbClr val="FF0000"/>
                  </a:solidFill>
                  <a:latin typeface="Arial" panose="020B0604020202020204" pitchFamily="34" charset="0"/>
                  <a:ea typeface="楷体_GB2312" pitchFamily="49" charset="-122"/>
                </a:rPr>
                <a:t>时效处理</a:t>
              </a:r>
              <a:r>
                <a:rPr lang="en-US" altLang="zh-CN" sz="2400" b="1" dirty="0">
                  <a:solidFill>
                    <a:srgbClr val="FF0000"/>
                  </a:solidFill>
                  <a:latin typeface="Arial" panose="020B0604020202020204" pitchFamily="34" charset="0"/>
                  <a:ea typeface="楷体_GB2312" pitchFamily="49" charset="-122"/>
                </a:rPr>
                <a:t>——</a:t>
              </a:r>
              <a:r>
                <a:rPr lang="zh-CN" altLang="en-US" sz="2400" b="1" dirty="0">
                  <a:solidFill>
                    <a:srgbClr val="FF0000"/>
                  </a:solidFill>
                  <a:latin typeface="Arial" panose="020B0604020202020204" pitchFamily="34" charset="0"/>
                  <a:ea typeface="楷体_GB2312" pitchFamily="49" charset="-122"/>
                </a:rPr>
                <a:t>自然时效和人工时效</a:t>
              </a:r>
              <a:endParaRPr lang="zh-CN" altLang="en-US" sz="2400" b="1" dirty="0">
                <a:solidFill>
                  <a:srgbClr val="FF0000"/>
                </a:solidFill>
                <a:latin typeface="Arial" panose="020B0604020202020204" pitchFamily="34" charset="0"/>
                <a:ea typeface="楷体_GB2312" pitchFamily="49" charset="-122"/>
              </a:endParaRPr>
            </a:p>
          </p:txBody>
        </p:sp>
        <p:sp>
          <p:nvSpPr>
            <p:cNvPr id="67590" name="AutoShape 6"/>
            <p:cNvSpPr/>
            <p:nvPr/>
          </p:nvSpPr>
          <p:spPr>
            <a:xfrm>
              <a:off x="0" y="0"/>
              <a:ext cx="288" cy="240"/>
            </a:xfrm>
            <a:prstGeom prst="irregularSeal2">
              <a:avLst/>
            </a:prstGeom>
            <a:solidFill>
              <a:srgbClr val="FFFF00"/>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24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Effect transition="in" filter="blinds(horizontal)">
                                      <p:cBhvr>
                                        <p:cTn id="7" dur="500"/>
                                        <p:tgtEl>
                                          <p:spTgt spid="481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590550" y="273050"/>
            <a:ext cx="8229600" cy="1139825"/>
          </a:xfrm>
        </p:spPr>
        <p:txBody>
          <a:bodyPr vert="horz" wrap="square" lIns="91440" tIns="45720" rIns="91440" bIns="45720" anchor="b" anchorCtr="0"/>
          <a:p>
            <a:pPr algn="ctr" eaLnBrk="1" hangingPunct="1"/>
            <a:r>
              <a:rPr lang="zh-CN" altLang="en-US" sz="4000" b="1" dirty="0">
                <a:solidFill>
                  <a:srgbClr val="FF0000"/>
                </a:solidFill>
                <a:latin typeface="楷体_GB2312" pitchFamily="49" charset="-122"/>
                <a:ea typeface="楷体_GB2312" pitchFamily="49" charset="-122"/>
              </a:rPr>
              <a:t>铸件的裂纹与防止</a:t>
            </a:r>
            <a:endParaRPr lang="zh-CN" altLang="zh-CN" sz="4000" b="1" dirty="0">
              <a:ea typeface="楷体_GB2312" pitchFamily="49" charset="-122"/>
            </a:endParaRPr>
          </a:p>
        </p:txBody>
      </p:sp>
      <p:sp>
        <p:nvSpPr>
          <p:cNvPr id="49155" name="Rectangle 3"/>
          <p:cNvSpPr>
            <a:spLocks noGrp="1"/>
          </p:cNvSpPr>
          <p:nvPr>
            <p:ph type="body"/>
          </p:nvPr>
        </p:nvSpPr>
        <p:spPr>
          <a:xfrm>
            <a:off x="971550" y="1857375"/>
            <a:ext cx="7848600" cy="5000625"/>
          </a:xfrm>
        </p:spPr>
        <p:txBody>
          <a:bodyPr vert="horz" wrap="square" lIns="91440" tIns="45720" rIns="91440" bIns="45720" anchor="t" anchorCtr="0"/>
          <a:p>
            <a:pPr eaLnBrk="1" hangingPunct="1">
              <a:lnSpc>
                <a:spcPct val="80000"/>
              </a:lnSpc>
              <a:buClr>
                <a:srgbClr val="FF0066"/>
              </a:buClr>
            </a:pPr>
            <a:r>
              <a:rPr lang="zh-CN" altLang="en-US" sz="2800" b="1" dirty="0">
                <a:solidFill>
                  <a:schemeClr val="tx1"/>
                </a:solidFill>
                <a:latin typeface="楷体_GB2312" pitchFamily="49" charset="-122"/>
                <a:ea typeface="楷体_GB2312" pitchFamily="49" charset="-122"/>
              </a:rPr>
              <a:t>定义：</a:t>
            </a:r>
            <a:r>
              <a:rPr lang="zh-CN" altLang="en-US" sz="2800" b="1" dirty="0">
                <a:latin typeface="楷体_GB2312" pitchFamily="49" charset="-122"/>
                <a:ea typeface="楷体_GB2312" pitchFamily="49" charset="-122"/>
              </a:rPr>
              <a:t>当铸件内应力超过合金的</a:t>
            </a:r>
            <a:r>
              <a:rPr lang="zh-CN" altLang="en-US" sz="2800" b="1" dirty="0">
                <a:solidFill>
                  <a:srgbClr val="FF0000"/>
                </a:solidFill>
                <a:latin typeface="楷体_GB2312" pitchFamily="49" charset="-122"/>
                <a:ea typeface="楷体_GB2312" pitchFamily="49" charset="-122"/>
              </a:rPr>
              <a:t>强度极限</a:t>
            </a:r>
            <a:r>
              <a:rPr lang="zh-CN" altLang="en-US" sz="2800" b="1" dirty="0">
                <a:latin typeface="楷体_GB2312" pitchFamily="49" charset="-122"/>
                <a:ea typeface="楷体_GB2312" pitchFamily="49" charset="-122"/>
              </a:rPr>
              <a:t>时，铸件便产生裂纹。按裂纹形成的</a:t>
            </a:r>
            <a:r>
              <a:rPr lang="zh-CN" altLang="en-US" sz="2800" b="1" dirty="0">
                <a:solidFill>
                  <a:srgbClr val="FF0066"/>
                </a:solidFill>
                <a:latin typeface="楷体_GB2312" pitchFamily="49" charset="-122"/>
                <a:ea typeface="楷体_GB2312" pitchFamily="49" charset="-122"/>
              </a:rPr>
              <a:t>温度范围</a:t>
            </a:r>
            <a:r>
              <a:rPr lang="zh-CN" altLang="en-US" sz="2800" b="1" dirty="0">
                <a:latin typeface="楷体_GB2312" pitchFamily="49" charset="-122"/>
                <a:ea typeface="楷体_GB2312" pitchFamily="49" charset="-122"/>
              </a:rPr>
              <a:t>可分为</a:t>
            </a:r>
            <a:r>
              <a:rPr lang="zh-CN" altLang="en-US" sz="2800" b="1" dirty="0">
                <a:solidFill>
                  <a:srgbClr val="FF0066"/>
                </a:solidFill>
                <a:latin typeface="楷体_GB2312" pitchFamily="49" charset="-122"/>
                <a:ea typeface="楷体_GB2312" pitchFamily="49" charset="-122"/>
              </a:rPr>
              <a:t>热裂和冷裂</a:t>
            </a:r>
            <a:r>
              <a:rPr lang="zh-CN" altLang="en-US" sz="2800" b="1" dirty="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a:p>
            <a:pPr eaLnBrk="1" hangingPunct="1">
              <a:lnSpc>
                <a:spcPct val="80000"/>
              </a:lnSpc>
              <a:buNone/>
            </a:pPr>
            <a:r>
              <a:rPr lang="zh-CN" altLang="en-US" sz="2800" b="1" dirty="0">
                <a:solidFill>
                  <a:srgbClr val="FF00FF"/>
                </a:solidFill>
                <a:latin typeface="楷体_GB2312" pitchFamily="49" charset="-122"/>
                <a:ea typeface="楷体_GB2312" pitchFamily="49" charset="-122"/>
              </a:rPr>
              <a:t>   </a:t>
            </a:r>
            <a:r>
              <a:rPr lang="en-US" altLang="zh-CN" sz="2800" b="1" dirty="0">
                <a:solidFill>
                  <a:srgbClr val="FF00FF"/>
                </a:solidFill>
                <a:latin typeface="楷体_GB2312" pitchFamily="49" charset="-122"/>
                <a:ea typeface="楷体_GB2312" pitchFamily="49" charset="-122"/>
              </a:rPr>
              <a:t>1.</a:t>
            </a:r>
            <a:r>
              <a:rPr lang="zh-CN" altLang="en-US" sz="2800" b="1" dirty="0">
                <a:solidFill>
                  <a:srgbClr val="FF00FF"/>
                </a:solidFill>
                <a:latin typeface="楷体_GB2312" pitchFamily="49" charset="-122"/>
                <a:ea typeface="楷体_GB2312" pitchFamily="49" charset="-122"/>
              </a:rPr>
              <a:t>热裂</a:t>
            </a:r>
            <a:r>
              <a:rPr lang="zh-CN" altLang="en-US" sz="2800" b="1" dirty="0">
                <a:latin typeface="楷体_GB2312" pitchFamily="49" charset="-122"/>
                <a:ea typeface="楷体_GB2312" pitchFamily="49" charset="-122"/>
              </a:rPr>
              <a:t> 高温下形成的裂纹。</a:t>
            </a:r>
            <a:endParaRPr lang="zh-CN" altLang="en-US" sz="2800" b="1" dirty="0">
              <a:latin typeface="楷体_GB2312" pitchFamily="49" charset="-122"/>
              <a:ea typeface="楷体_GB2312" pitchFamily="49" charset="-122"/>
            </a:endParaRPr>
          </a:p>
          <a:p>
            <a:pPr eaLnBrk="1" hangingPunct="1">
              <a:lnSpc>
                <a:spcPct val="80000"/>
              </a:lnSpc>
              <a:buNone/>
            </a:pPr>
            <a:r>
              <a:rPr lang="zh-CN" altLang="en-US" sz="2800" b="1" dirty="0">
                <a:solidFill>
                  <a:srgbClr val="00CC00"/>
                </a:solidFill>
                <a:latin typeface="楷体_GB2312" pitchFamily="49" charset="-122"/>
                <a:ea typeface="楷体_GB2312" pitchFamily="49" charset="-122"/>
              </a:rPr>
              <a:t>     </a:t>
            </a:r>
            <a:r>
              <a:rPr lang="zh-CN" altLang="en-US" sz="2800" b="1" dirty="0">
                <a:solidFill>
                  <a:schemeClr val="tx1"/>
                </a:solidFill>
                <a:latin typeface="楷体_GB2312" pitchFamily="49" charset="-122"/>
                <a:ea typeface="楷体_GB2312" pitchFamily="49" charset="-122"/>
              </a:rPr>
              <a:t>特征</a:t>
            </a:r>
            <a:r>
              <a:rPr lang="en-US" altLang="zh-CN" sz="2800" b="1" dirty="0">
                <a:solidFill>
                  <a:schemeClr val="tx1"/>
                </a:solidFill>
                <a:latin typeface="楷体_GB2312" pitchFamily="49" charset="-122"/>
                <a:ea typeface="楷体_GB2312" pitchFamily="49" charset="-122"/>
              </a:rPr>
              <a:t>: </a:t>
            </a:r>
            <a:r>
              <a:rPr lang="zh-CN" altLang="en-US" sz="2800" b="1" dirty="0">
                <a:latin typeface="楷体_GB2312" pitchFamily="49" charset="-122"/>
                <a:ea typeface="楷体_GB2312" pitchFamily="49" charset="-122"/>
              </a:rPr>
              <a:t>缝隙宽、形状曲折、缝内呈氧化色。沿晶粒边界产生和发展。</a:t>
            </a:r>
            <a:endParaRPr lang="en-US" altLang="zh-CN" sz="2800" b="1" dirty="0">
              <a:latin typeface="楷体_GB2312" pitchFamily="49" charset="-122"/>
              <a:ea typeface="楷体_GB2312" pitchFamily="49" charset="-122"/>
            </a:endParaRPr>
          </a:p>
          <a:p>
            <a:pPr lvl="1" eaLnBrk="1" hangingPunct="1">
              <a:lnSpc>
                <a:spcPct val="80000"/>
              </a:lnSpc>
              <a:buFont typeface="Wingdings" panose="05000000000000000000" pitchFamily="2" charset="2"/>
              <a:buChar char="p"/>
            </a:pPr>
            <a:r>
              <a:rPr lang="zh-CN" altLang="en-US" sz="2400" b="1" dirty="0">
                <a:latin typeface="楷体_GB2312" pitchFamily="49" charset="-122"/>
                <a:ea typeface="楷体_GB2312" pitchFamily="49" charset="-122"/>
              </a:rPr>
              <a:t>合金结晶温度愈宽，液固两相区绝对收缩量愈大，热裂倾向大；</a:t>
            </a:r>
            <a:endParaRPr lang="en-US" altLang="zh-CN" sz="2400" b="1" dirty="0">
              <a:latin typeface="楷体_GB2312" pitchFamily="49" charset="-122"/>
              <a:ea typeface="楷体_GB2312" pitchFamily="49" charset="-122"/>
            </a:endParaRPr>
          </a:p>
          <a:p>
            <a:pPr lvl="1" eaLnBrk="1" hangingPunct="1">
              <a:lnSpc>
                <a:spcPct val="80000"/>
              </a:lnSpc>
              <a:buFont typeface="Wingdings" panose="05000000000000000000" pitchFamily="2" charset="2"/>
              <a:buChar char="p"/>
            </a:pPr>
            <a:r>
              <a:rPr lang="zh-CN" altLang="en-US" sz="2400" b="1" dirty="0">
                <a:latin typeface="楷体_GB2312" pitchFamily="49" charset="-122"/>
                <a:ea typeface="楷体_GB2312" pitchFamily="49" charset="-122"/>
              </a:rPr>
              <a:t>含硫愈高，热裂倾向大；</a:t>
            </a:r>
            <a:endParaRPr lang="en-US" altLang="zh-CN" sz="2400" b="1" dirty="0">
              <a:latin typeface="楷体_GB2312" pitchFamily="49" charset="-122"/>
              <a:ea typeface="楷体_GB2312" pitchFamily="49" charset="-122"/>
            </a:endParaRPr>
          </a:p>
          <a:p>
            <a:pPr lvl="1" eaLnBrk="1" hangingPunct="1">
              <a:lnSpc>
                <a:spcPct val="80000"/>
              </a:lnSpc>
              <a:buFont typeface="Wingdings" panose="05000000000000000000" pitchFamily="2" charset="2"/>
              <a:buChar char="p"/>
            </a:pPr>
            <a:r>
              <a:rPr lang="zh-CN" altLang="en-US" sz="2400" b="1" dirty="0">
                <a:latin typeface="楷体_GB2312" pitchFamily="49" charset="-122"/>
                <a:ea typeface="楷体_GB2312" pitchFamily="49" charset="-122"/>
              </a:rPr>
              <a:t>铸型退让性愈好，机械应力愈小，热裂倾向小。</a:t>
            </a:r>
            <a:endParaRPr lang="zh-CN" altLang="en-US" sz="2400" b="1" dirty="0">
              <a:latin typeface="楷体_GB2312" pitchFamily="49" charset="-122"/>
              <a:ea typeface="楷体_GB2312" pitchFamily="49" charset="-122"/>
            </a:endParaRPr>
          </a:p>
          <a:p>
            <a:pPr eaLnBrk="1" hangingPunct="1">
              <a:lnSpc>
                <a:spcPct val="80000"/>
              </a:lnSpc>
              <a:buNone/>
            </a:pPr>
            <a:r>
              <a:rPr lang="zh-CN" altLang="en-US" sz="2400" b="1" dirty="0">
                <a:latin typeface="楷体_GB2312" pitchFamily="49" charset="-122"/>
                <a:ea typeface="楷体_GB2312" pitchFamily="49" charset="-122"/>
              </a:rPr>
              <a:t>       </a:t>
            </a:r>
            <a:endParaRPr lang="zh-CN" altLang="en-US" sz="2400" b="1" dirty="0">
              <a:solidFill>
                <a:srgbClr val="0000FF"/>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49155">
                                            <p:txEl>
                                              <p:charRg st="0" end="48"/>
                                            </p:txEl>
                                          </p:spTgt>
                                        </p:tgtEl>
                                        <p:attrNameLst>
                                          <p:attrName>style.visibility</p:attrName>
                                        </p:attrNameLst>
                                      </p:cBhvr>
                                      <p:to>
                                        <p:strVal val="visible"/>
                                      </p:to>
                                    </p:set>
                                    <p:animEffect transition="in" filter="diamond(in)">
                                      <p:cBhvr>
                                        <p:cTn id="7" dur="2000"/>
                                        <p:tgtEl>
                                          <p:spTgt spid="49155">
                                            <p:txEl>
                                              <p:charRg st="0" end="48"/>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9155">
                                            <p:txEl>
                                              <p:charRg st="48" end="66"/>
                                            </p:txEl>
                                          </p:spTgt>
                                        </p:tgtEl>
                                        <p:attrNameLst>
                                          <p:attrName>style.visibility</p:attrName>
                                        </p:attrNameLst>
                                      </p:cBhvr>
                                      <p:to>
                                        <p:strVal val="visible"/>
                                      </p:to>
                                    </p:set>
                                    <p:animEffect transition="in" filter="diamond(in)">
                                      <p:cBhvr>
                                        <p:cTn id="12" dur="2000"/>
                                        <p:tgtEl>
                                          <p:spTgt spid="49155">
                                            <p:txEl>
                                              <p:charRg st="48" end="6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49155">
                                            <p:txEl>
                                              <p:charRg st="66" end="103"/>
                                            </p:txEl>
                                          </p:spTgt>
                                        </p:tgtEl>
                                        <p:attrNameLst>
                                          <p:attrName>style.visibility</p:attrName>
                                        </p:attrNameLst>
                                      </p:cBhvr>
                                      <p:to>
                                        <p:strVal val="visible"/>
                                      </p:to>
                                    </p:set>
                                    <p:animEffect transition="in" filter="diamond(in)">
                                      <p:cBhvr>
                                        <p:cTn id="17" dur="2000"/>
                                        <p:tgtEl>
                                          <p:spTgt spid="49155">
                                            <p:txEl>
                                              <p:charRg st="66" end="10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49155">
                                            <p:txEl>
                                              <p:charRg st="103" end="132"/>
                                            </p:txEl>
                                          </p:spTgt>
                                        </p:tgtEl>
                                        <p:attrNameLst>
                                          <p:attrName>style.visibility</p:attrName>
                                        </p:attrNameLst>
                                      </p:cBhvr>
                                      <p:to>
                                        <p:strVal val="visible"/>
                                      </p:to>
                                    </p:set>
                                    <p:animEffect transition="in" filter="diamond(in)">
                                      <p:cBhvr>
                                        <p:cTn id="22" dur="2000"/>
                                        <p:tgtEl>
                                          <p:spTgt spid="49155">
                                            <p:txEl>
                                              <p:charRg st="103" end="13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49155">
                                            <p:txEl>
                                              <p:charRg st="132" end="144"/>
                                            </p:txEl>
                                          </p:spTgt>
                                        </p:tgtEl>
                                        <p:attrNameLst>
                                          <p:attrName>style.visibility</p:attrName>
                                        </p:attrNameLst>
                                      </p:cBhvr>
                                      <p:to>
                                        <p:strVal val="visible"/>
                                      </p:to>
                                    </p:set>
                                    <p:animEffect transition="in" filter="diamond(in)">
                                      <p:cBhvr>
                                        <p:cTn id="27" dur="2000"/>
                                        <p:tgtEl>
                                          <p:spTgt spid="49155">
                                            <p:txEl>
                                              <p:charRg st="132" end="14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49155">
                                            <p:txEl>
                                              <p:charRg st="144" end="166"/>
                                            </p:txEl>
                                          </p:spTgt>
                                        </p:tgtEl>
                                        <p:attrNameLst>
                                          <p:attrName>style.visibility</p:attrName>
                                        </p:attrNameLst>
                                      </p:cBhvr>
                                      <p:to>
                                        <p:strVal val="visible"/>
                                      </p:to>
                                    </p:set>
                                    <p:animEffect transition="in" filter="diamond(in)">
                                      <p:cBhvr>
                                        <p:cTn id="32" dur="2000"/>
                                        <p:tgtEl>
                                          <p:spTgt spid="49155">
                                            <p:txEl>
                                              <p:charRg st="144" end="16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49155">
                                            <p:txEl>
                                              <p:charRg st="166" end="174"/>
                                            </p:txEl>
                                          </p:spTgt>
                                        </p:tgtEl>
                                        <p:attrNameLst>
                                          <p:attrName>style.visibility</p:attrName>
                                        </p:attrNameLst>
                                      </p:cBhvr>
                                      <p:to>
                                        <p:strVal val="visible"/>
                                      </p:to>
                                    </p:set>
                                    <p:animEffect transition="in" filter="diamond(in)">
                                      <p:cBhvr>
                                        <p:cTn id="37" dur="2000"/>
                                        <p:tgtEl>
                                          <p:spTgt spid="49155">
                                            <p:txEl>
                                              <p:charRg st="166" end="1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xfrm>
            <a:off x="590550" y="273050"/>
            <a:ext cx="8229600" cy="1139825"/>
          </a:xfrm>
        </p:spPr>
        <p:txBody>
          <a:bodyPr vert="horz" wrap="square" lIns="91440" tIns="45720" rIns="91440" bIns="45720" anchor="b" anchorCtr="0"/>
          <a:p>
            <a:pPr algn="ctr" eaLnBrk="1" hangingPunct="1"/>
            <a:r>
              <a:rPr lang="zh-CN" altLang="en-US" sz="4000" b="1" dirty="0">
                <a:solidFill>
                  <a:srgbClr val="FF0000"/>
                </a:solidFill>
                <a:latin typeface="楷体_GB2312" pitchFamily="49" charset="-122"/>
                <a:ea typeface="楷体_GB2312" pitchFamily="49" charset="-122"/>
              </a:rPr>
              <a:t>铸件的裂纹与防止</a:t>
            </a:r>
            <a:endParaRPr lang="zh-CN" altLang="zh-CN" sz="4000" b="1" dirty="0">
              <a:ea typeface="楷体_GB2312" pitchFamily="49" charset="-122"/>
            </a:endParaRPr>
          </a:p>
        </p:txBody>
      </p:sp>
      <p:sp>
        <p:nvSpPr>
          <p:cNvPr id="50179" name="Rectangle 3"/>
          <p:cNvSpPr>
            <a:spLocks noGrp="1"/>
          </p:cNvSpPr>
          <p:nvPr>
            <p:ph type="body"/>
          </p:nvPr>
        </p:nvSpPr>
        <p:spPr>
          <a:xfrm>
            <a:off x="971550" y="1557338"/>
            <a:ext cx="7848600" cy="3743325"/>
          </a:xfrm>
        </p:spPr>
        <p:txBody>
          <a:bodyPr vert="horz" wrap="square" lIns="91440" tIns="45720" rIns="91440" bIns="45720" anchor="t" anchorCtr="0"/>
          <a:p>
            <a:pPr eaLnBrk="1" hangingPunct="1">
              <a:buFont typeface="Wingdings" panose="05000000000000000000" pitchFamily="2" charset="2"/>
              <a:buChar char="p"/>
            </a:pPr>
            <a:r>
              <a:rPr lang="zh-CN" altLang="zh-CN" sz="2800" b="1" dirty="0">
                <a:solidFill>
                  <a:srgbClr val="0000FF"/>
                </a:solidFill>
                <a:latin typeface="楷体_GB2312" pitchFamily="49" charset="-122"/>
                <a:ea typeface="楷体_GB2312" pitchFamily="49" charset="-122"/>
              </a:rPr>
              <a:t>防止</a:t>
            </a:r>
            <a:r>
              <a:rPr lang="en-US" altLang="zh-CN" sz="2800" b="1" dirty="0">
                <a:solidFill>
                  <a:srgbClr val="0000FF"/>
                </a:solidFill>
                <a:latin typeface="楷体_GB2312" pitchFamily="49" charset="-122"/>
                <a:ea typeface="楷体_GB2312" pitchFamily="49" charset="-122"/>
              </a:rPr>
              <a:t>: </a:t>
            </a:r>
            <a:r>
              <a:rPr lang="zh-CN" altLang="zh-CN" sz="2800" b="1" dirty="0">
                <a:solidFill>
                  <a:srgbClr val="0000FF"/>
                </a:solidFill>
                <a:latin typeface="楷体_GB2312" pitchFamily="49" charset="-122"/>
                <a:ea typeface="楷体_GB2312" pitchFamily="49" charset="-122"/>
              </a:rPr>
              <a:t>铸件结构合理（图），提高铸型和型芯的退让性，减小浇</a:t>
            </a:r>
            <a:r>
              <a:rPr lang="zh-CN" altLang="en-US" sz="2800" b="1" dirty="0">
                <a:solidFill>
                  <a:srgbClr val="0000FF"/>
                </a:solidFill>
                <a:latin typeface="楷体_GB2312" pitchFamily="49" charset="-122"/>
                <a:ea typeface="楷体_GB2312" pitchFamily="49" charset="-122"/>
              </a:rPr>
              <a:t>、</a:t>
            </a:r>
            <a:r>
              <a:rPr lang="zh-CN" altLang="zh-CN" sz="2800" b="1" dirty="0">
                <a:solidFill>
                  <a:srgbClr val="0000FF"/>
                </a:solidFill>
                <a:latin typeface="楷体_GB2312" pitchFamily="49" charset="-122"/>
                <a:ea typeface="楷体_GB2312" pitchFamily="49" charset="-122"/>
              </a:rPr>
              <a:t>冒口对铸件收缩的机械阻碍，内烧口设置符合同时凝固方式，此外应尽量降低金属中有害杂质硫、磷的含量，减少低熔点化合物，提高金属的高温强度。</a:t>
            </a:r>
            <a:endParaRPr lang="zh-CN" altLang="zh-CN" sz="2800" b="1" dirty="0">
              <a:solidFill>
                <a:srgbClr val="0000FF"/>
              </a:solidFill>
              <a:latin typeface="楷体_GB2312" pitchFamily="49" charset="-122"/>
              <a:ea typeface="楷体_GB2312" pitchFamily="49" charset="-122"/>
            </a:endParaRPr>
          </a:p>
        </p:txBody>
      </p:sp>
      <p:pic>
        <p:nvPicPr>
          <p:cNvPr id="50180" name="Picture 4"/>
          <p:cNvPicPr>
            <a:picLocks noChangeAspect="1"/>
          </p:cNvPicPr>
          <p:nvPr/>
        </p:nvPicPr>
        <p:blipFill>
          <a:blip r:embed="rId1"/>
          <a:stretch>
            <a:fillRect/>
          </a:stretch>
        </p:blipFill>
        <p:spPr>
          <a:xfrm>
            <a:off x="1187450" y="3841750"/>
            <a:ext cx="7632700" cy="30511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0179">
                                            <p:txEl>
                                              <p:charRg st="0" end="98"/>
                                            </p:txEl>
                                          </p:spTgt>
                                        </p:tgtEl>
                                        <p:attrNameLst>
                                          <p:attrName>style.visibility</p:attrName>
                                        </p:attrNameLst>
                                      </p:cBhvr>
                                      <p:to>
                                        <p:strVal val="visible"/>
                                      </p:to>
                                    </p:set>
                                    <p:animEffect transition="in" filter="diamond(in)">
                                      <p:cBhvr>
                                        <p:cTn id="7" dur="2000"/>
                                        <p:tgtEl>
                                          <p:spTgt spid="50179">
                                            <p:txEl>
                                              <p:charRg st="0" end="98"/>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0180"/>
                                        </p:tgtEl>
                                        <p:attrNameLst>
                                          <p:attrName>style.visibility</p:attrName>
                                        </p:attrNameLst>
                                      </p:cBhvr>
                                      <p:to>
                                        <p:strVal val="visible"/>
                                      </p:to>
                                    </p:set>
                                    <p:animEffect transition="in" filter="diamond(in)">
                                      <p:cBhvr>
                                        <p:cTn id="12" dur="2000"/>
                                        <p:tgtEl>
                                          <p:spTgt spid="50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xfrm>
            <a:off x="590550" y="152400"/>
            <a:ext cx="8229600" cy="1139825"/>
          </a:xfrm>
        </p:spPr>
        <p:txBody>
          <a:bodyPr vert="horz" wrap="square" lIns="91440" tIns="45720" rIns="91440" bIns="45720" anchor="b" anchorCtr="0"/>
          <a:p>
            <a:pPr algn="ctr" eaLnBrk="1" hangingPunct="1"/>
            <a:r>
              <a:rPr lang="zh-CN" altLang="en-US" sz="4000" b="1" dirty="0">
                <a:solidFill>
                  <a:srgbClr val="FF0000"/>
                </a:solidFill>
                <a:latin typeface="楷体_GB2312" pitchFamily="49" charset="-122"/>
                <a:ea typeface="楷体_GB2312" pitchFamily="49" charset="-122"/>
              </a:rPr>
              <a:t>铸件的裂纹与防止</a:t>
            </a:r>
            <a:endParaRPr lang="zh-CN" altLang="zh-CN" sz="4000" b="1" dirty="0">
              <a:ea typeface="楷体_GB2312" pitchFamily="49" charset="-122"/>
            </a:endParaRPr>
          </a:p>
        </p:txBody>
      </p:sp>
      <p:sp>
        <p:nvSpPr>
          <p:cNvPr id="51203" name="Rectangle 3"/>
          <p:cNvSpPr>
            <a:spLocks noGrp="1" noChangeArrowheads="1"/>
          </p:cNvSpPr>
          <p:nvPr>
            <p:ph type="body" idx="1"/>
          </p:nvPr>
        </p:nvSpPr>
        <p:spPr>
          <a:xfrm>
            <a:off x="971550" y="2205038"/>
            <a:ext cx="7848600" cy="3095625"/>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20000"/>
              </a:spcBef>
              <a:spcAft>
                <a:spcPct val="0"/>
              </a:spcAft>
              <a:buClr>
                <a:srgbClr val="FF3300"/>
              </a:buClr>
              <a:buSzPct val="70000"/>
              <a:buFont typeface="Wingdings" panose="05000000000000000000" pitchFamily="2" charset="2"/>
              <a:buNone/>
              <a:defRPr/>
            </a:pPr>
            <a:r>
              <a:rPr kumimoji="0" lang="en-US" altLang="zh-CN" sz="2800" b="1" i="0" u="none" strike="noStrike" kern="1200" cap="none" spc="0" normalizeH="0" baseline="0" noProof="0" dirty="0">
                <a:ln>
                  <a:noFill/>
                </a:ln>
                <a:solidFill>
                  <a:srgbClr val="FF0000"/>
                </a:solidFill>
                <a:effectLst/>
                <a:uLnTx/>
                <a:uFillTx/>
                <a:latin typeface="楷体_GB2312" pitchFamily="49" charset="-122"/>
                <a:ea typeface="楷体_GB2312" pitchFamily="49" charset="-122"/>
                <a:cs typeface="+mn-cs"/>
              </a:rPr>
              <a:t>2.</a:t>
            </a:r>
            <a:r>
              <a:rPr kumimoji="0" lang="zh-CN" altLang="en-US" sz="2800" b="1" i="0" u="none" strike="noStrike" kern="1200" cap="none" spc="0" normalizeH="0" baseline="0" noProof="0" dirty="0">
                <a:ln>
                  <a:noFill/>
                </a:ln>
                <a:solidFill>
                  <a:srgbClr val="FF0000"/>
                </a:solidFill>
                <a:effectLst/>
                <a:uLnTx/>
                <a:uFillTx/>
                <a:latin typeface="楷体_GB2312" pitchFamily="49" charset="-122"/>
                <a:ea typeface="楷体_GB2312" pitchFamily="49" charset="-122"/>
                <a:cs typeface="+mn-cs"/>
              </a:rPr>
              <a:t>冷裂</a:t>
            </a:r>
            <a:r>
              <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  较低温下形成的裂纹。</a:t>
            </a:r>
            <a:endPar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a:pPr>
            <a:r>
              <a:rPr kumimoji="0" lang="zh-CN" altLang="en-US" sz="2800" b="1" i="0" u="none" strike="noStrike" kern="1200" cap="none" spc="0" normalizeH="0" baseline="0" noProof="0" dirty="0">
                <a:ln>
                  <a:noFill/>
                </a:ln>
                <a:solidFill>
                  <a:srgbClr val="00CC00"/>
                </a:solidFill>
                <a:effectLst/>
                <a:uLnTx/>
                <a:uFillTx/>
                <a:latin typeface="楷体_GB2312" pitchFamily="49" charset="-122"/>
                <a:ea typeface="楷体_GB2312" pitchFamily="49" charset="-122"/>
                <a:cs typeface="+mn-cs"/>
              </a:rPr>
              <a:t>  特征</a:t>
            </a:r>
            <a:r>
              <a:rPr kumimoji="0" lang="en-US" altLang="zh-CN" sz="2800" b="1" i="0" u="none" strike="noStrike" kern="1200" cap="none" spc="0" normalizeH="0" baseline="0" noProof="0" dirty="0">
                <a:ln>
                  <a:noFill/>
                </a:ln>
                <a:solidFill>
                  <a:srgbClr val="00CC00"/>
                </a:solidFill>
                <a:effectLst/>
                <a:uLnTx/>
                <a:uFillTx/>
                <a:latin typeface="楷体_GB2312" pitchFamily="49" charset="-122"/>
                <a:ea typeface="楷体_GB2312" pitchFamily="49" charset="-122"/>
                <a:cs typeface="+mn-cs"/>
              </a:rPr>
              <a:t>:</a:t>
            </a:r>
            <a:r>
              <a:rPr kumimoji="0" lang="en-US" altLang="zh-CN" sz="2800" b="1" i="0" u="none" strike="noStrike" kern="1200" cap="none" spc="0" normalizeH="0" baseline="0" noProof="0" dirty="0">
                <a:ln>
                  <a:noFill/>
                </a:ln>
                <a:solidFill>
                  <a:srgbClr val="FF3300"/>
                </a:solidFill>
                <a:effectLst/>
                <a:uLnTx/>
                <a:uFillTx/>
                <a:latin typeface="楷体_GB2312" pitchFamily="49" charset="-122"/>
                <a:ea typeface="楷体_GB2312" pitchFamily="49" charset="-122"/>
                <a:cs typeface="+mn-cs"/>
              </a:rPr>
              <a:t> </a:t>
            </a:r>
            <a:r>
              <a:rPr kumimoji="0" lang="zh-CN" altLang="en-US"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rPr>
              <a:t>裂纹细小、呈连续直线状。常发生在形状复杂工件受拉伸部位、特别是应力集中处。</a:t>
            </a:r>
            <a:endParaRPr kumimoji="0" lang="en-US" altLang="zh-CN" sz="2800" b="1" i="0" u="none" strike="noStrike" kern="1200" cap="none" spc="0" normalizeH="0" baseline="0" noProof="0" dirty="0">
              <a:ln>
                <a:noFill/>
              </a:ln>
              <a:solidFill>
                <a:schemeClr val="tx1"/>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p"/>
              <a:defRPr/>
            </a:pPr>
            <a:r>
              <a:rPr kumimoji="0" lang="zh-CN" altLang="en-US"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rPr>
              <a:t>塑性好的合金，冷裂倾向小；</a:t>
            </a:r>
            <a:endParaRPr kumimoji="0" lang="en-US" altLang="zh-CN"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a:pPr>
            <a:r>
              <a:rPr kumimoji="0" lang="zh-CN" altLang="en-US"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rPr>
              <a:t>反之，脆性大，冷裂倾向大。</a:t>
            </a:r>
            <a:endParaRPr kumimoji="0" lang="en-US" altLang="zh-CN"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a:pPr>
            <a:r>
              <a:rPr kumimoji="0" lang="zh-CN" altLang="en-US"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rPr>
              <a:t>防止</a:t>
            </a:r>
            <a:r>
              <a:rPr kumimoji="0" lang="en-US" altLang="zh-CN"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rPr>
              <a:t>:  </a:t>
            </a:r>
            <a:r>
              <a:rPr kumimoji="0" lang="zh-CN" altLang="en-US"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rPr>
              <a:t>消除内应力，控制含磷量。</a:t>
            </a:r>
            <a:endParaRPr kumimoji="0" lang="en-US" altLang="zh-CN"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
              <a:defRPr/>
            </a:pPr>
            <a:r>
              <a:rPr kumimoji="0" lang="zh-CN" altLang="en-US"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rPr>
              <a:t>硫高热脆，磷高冷脆</a:t>
            </a:r>
            <a:endParaRPr kumimoji="0" lang="zh-CN" altLang="en-US" sz="2800" b="1" i="0" u="none" strike="noStrike" kern="1200" cap="none" spc="0" normalizeH="0" baseline="0" noProof="0" dirty="0">
              <a:ln>
                <a:noFill/>
              </a:ln>
              <a:solidFill>
                <a:srgbClr val="FF00FF"/>
              </a:solidFill>
              <a:effectLst/>
              <a:uLnTx/>
              <a:uFillTx/>
              <a:latin typeface="楷体_GB2312" pitchFamily="49" charset="-122"/>
              <a:ea typeface="楷体_GB2312" pitchFamily="49" charset="-122"/>
              <a:cs typeface="+mn-cs"/>
            </a:endParaRPr>
          </a:p>
          <a:p>
            <a:pPr marL="342900" marR="0" lvl="0" indent="-34290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a:pPr>
            <a:r>
              <a:rPr kumimoji="0" lang="zh-CN" altLang="en-US" sz="2400" b="1" i="0" u="none" strike="noStrike" kern="1200" cap="none" spc="0" normalizeH="0" baseline="0" noProof="0" dirty="0">
                <a:ln>
                  <a:noFill/>
                </a:ln>
                <a:solidFill>
                  <a:srgbClr val="FFFF00"/>
                </a:solidFill>
                <a:effectLst/>
                <a:uLnTx/>
                <a:uFillTx/>
                <a:latin typeface="楷体_GB2312" pitchFamily="49" charset="-122"/>
                <a:ea typeface="楷体_GB2312" pitchFamily="49" charset="-122"/>
                <a:cs typeface="+mn-cs"/>
              </a:rPr>
              <a:t>       </a:t>
            </a:r>
            <a:endParaRPr kumimoji="0" lang="zh-CN" altLang="en-US" sz="3200" b="1" i="0" u="none" strike="noStrike" kern="1200" cap="none" spc="0" normalizeH="0" baseline="0" noProof="0" dirty="0">
              <a:ln>
                <a:noFill/>
              </a:ln>
              <a:solidFill>
                <a:srgbClr val="0000FF"/>
              </a:solidFill>
              <a:effectLst/>
              <a:uLnTx/>
              <a:uFillTx/>
              <a:latin typeface="楷体_GB2312" pitchFamily="49" charset="-122"/>
              <a:ea typeface="楷体_GB2312"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1203">
                                            <p:txEl>
                                              <p:charRg st="0" end="17"/>
                                            </p:txEl>
                                          </p:spTgt>
                                        </p:tgtEl>
                                        <p:attrNameLst>
                                          <p:attrName>style.visibility</p:attrName>
                                        </p:attrNameLst>
                                      </p:cBhvr>
                                      <p:to>
                                        <p:strVal val="visible"/>
                                      </p:to>
                                    </p:set>
                                    <p:animEffect transition="in" filter="diamond(in)">
                                      <p:cBhvr>
                                        <p:cTn id="7" dur="2000"/>
                                        <p:tgtEl>
                                          <p:spTgt spid="51203">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1203">
                                            <p:txEl>
                                              <p:charRg st="17" end="61"/>
                                            </p:txEl>
                                          </p:spTgt>
                                        </p:tgtEl>
                                        <p:attrNameLst>
                                          <p:attrName>style.visibility</p:attrName>
                                        </p:attrNameLst>
                                      </p:cBhvr>
                                      <p:to>
                                        <p:strVal val="visible"/>
                                      </p:to>
                                    </p:set>
                                    <p:animEffect transition="in" filter="diamond(in)">
                                      <p:cBhvr>
                                        <p:cTn id="12" dur="2000"/>
                                        <p:tgtEl>
                                          <p:spTgt spid="51203">
                                            <p:txEl>
                                              <p:charRg st="17" end="6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51203">
                                            <p:txEl>
                                              <p:charRg st="61" end="75"/>
                                            </p:txEl>
                                          </p:spTgt>
                                        </p:tgtEl>
                                        <p:attrNameLst>
                                          <p:attrName>style.visibility</p:attrName>
                                        </p:attrNameLst>
                                      </p:cBhvr>
                                      <p:to>
                                        <p:strVal val="visible"/>
                                      </p:to>
                                    </p:set>
                                    <p:animEffect transition="in" filter="diamond(in)">
                                      <p:cBhvr>
                                        <p:cTn id="17" dur="2000"/>
                                        <p:tgtEl>
                                          <p:spTgt spid="51203">
                                            <p:txEl>
                                              <p:charRg st="61" end="7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51203">
                                            <p:txEl>
                                              <p:charRg st="75" end="89"/>
                                            </p:txEl>
                                          </p:spTgt>
                                        </p:tgtEl>
                                        <p:attrNameLst>
                                          <p:attrName>style.visibility</p:attrName>
                                        </p:attrNameLst>
                                      </p:cBhvr>
                                      <p:to>
                                        <p:strVal val="visible"/>
                                      </p:to>
                                    </p:set>
                                    <p:animEffect transition="in" filter="diamond(in)">
                                      <p:cBhvr>
                                        <p:cTn id="22" dur="2000"/>
                                        <p:tgtEl>
                                          <p:spTgt spid="51203">
                                            <p:txEl>
                                              <p:charRg st="75" end="8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51203">
                                            <p:txEl>
                                              <p:charRg st="89" end="107"/>
                                            </p:txEl>
                                          </p:spTgt>
                                        </p:tgtEl>
                                        <p:attrNameLst>
                                          <p:attrName>style.visibility</p:attrName>
                                        </p:attrNameLst>
                                      </p:cBhvr>
                                      <p:to>
                                        <p:strVal val="visible"/>
                                      </p:to>
                                    </p:set>
                                    <p:animEffect transition="in" filter="diamond(in)">
                                      <p:cBhvr>
                                        <p:cTn id="27" dur="2000"/>
                                        <p:tgtEl>
                                          <p:spTgt spid="51203">
                                            <p:txEl>
                                              <p:charRg st="89" end="10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51203">
                                            <p:txEl>
                                              <p:charRg st="107" end="117"/>
                                            </p:txEl>
                                          </p:spTgt>
                                        </p:tgtEl>
                                        <p:attrNameLst>
                                          <p:attrName>style.visibility</p:attrName>
                                        </p:attrNameLst>
                                      </p:cBhvr>
                                      <p:to>
                                        <p:strVal val="visible"/>
                                      </p:to>
                                    </p:set>
                                    <p:animEffect transition="in" filter="diamond(in)">
                                      <p:cBhvr>
                                        <p:cTn id="32" dur="2000"/>
                                        <p:tgtEl>
                                          <p:spTgt spid="51203">
                                            <p:txEl>
                                              <p:charRg st="107" end="11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nodeType="clickEffect">
                                  <p:stCondLst>
                                    <p:cond delay="0"/>
                                  </p:stCondLst>
                                  <p:childTnLst>
                                    <p:set>
                                      <p:cBhvr>
                                        <p:cTn id="36" dur="1" fill="hold">
                                          <p:stCondLst>
                                            <p:cond delay="0"/>
                                          </p:stCondLst>
                                        </p:cTn>
                                        <p:tgtEl>
                                          <p:spTgt spid="51203">
                                            <p:txEl>
                                              <p:charRg st="117" end="125"/>
                                            </p:txEl>
                                          </p:spTgt>
                                        </p:tgtEl>
                                        <p:attrNameLst>
                                          <p:attrName>style.visibility</p:attrName>
                                        </p:attrNameLst>
                                      </p:cBhvr>
                                      <p:to>
                                        <p:strVal val="visible"/>
                                      </p:to>
                                    </p:set>
                                    <p:animEffect transition="in" filter="diamond(in)">
                                      <p:cBhvr>
                                        <p:cTn id="37" dur="2000"/>
                                        <p:tgtEl>
                                          <p:spTgt spid="51203">
                                            <p:txEl>
                                              <p:charRg st="117" end="1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xfrm>
            <a:off x="590550" y="152400"/>
            <a:ext cx="8229600" cy="1139825"/>
          </a:xfrm>
        </p:spPr>
        <p:txBody>
          <a:bodyPr vert="horz" wrap="square" lIns="91440" tIns="45720" rIns="91440" bIns="45720" anchor="b" anchorCtr="0"/>
          <a:p>
            <a:pPr algn="ctr" eaLnBrk="1" hangingPunct="1"/>
            <a:r>
              <a:rPr lang="zh-CN" altLang="en-US" sz="4000" b="1" dirty="0">
                <a:solidFill>
                  <a:srgbClr val="FF0000"/>
                </a:solidFill>
                <a:latin typeface="楷体_GB2312" pitchFamily="49" charset="-122"/>
                <a:ea typeface="楷体_GB2312" pitchFamily="49" charset="-122"/>
              </a:rPr>
              <a:t>铸件的裂纹与防止</a:t>
            </a:r>
            <a:endParaRPr lang="zh-CN" altLang="zh-CN" sz="4000" b="1" dirty="0">
              <a:ea typeface="楷体_GB2312" pitchFamily="49" charset="-122"/>
            </a:endParaRPr>
          </a:p>
        </p:txBody>
      </p:sp>
      <p:sp>
        <p:nvSpPr>
          <p:cNvPr id="52227" name="Rectangle 3"/>
          <p:cNvSpPr>
            <a:spLocks noGrp="1"/>
          </p:cNvSpPr>
          <p:nvPr>
            <p:ph type="body"/>
          </p:nvPr>
        </p:nvSpPr>
        <p:spPr>
          <a:xfrm>
            <a:off x="900113" y="1557338"/>
            <a:ext cx="7848600" cy="3095625"/>
          </a:xfrm>
        </p:spPr>
        <p:txBody>
          <a:bodyPr vert="horz" wrap="square" lIns="91440" tIns="45720" rIns="91440" bIns="45720" anchor="t" anchorCtr="0"/>
          <a:p>
            <a:pPr eaLnBrk="1" hangingPunct="1">
              <a:lnSpc>
                <a:spcPct val="90000"/>
              </a:lnSpc>
              <a:buClr>
                <a:srgbClr val="FF3300"/>
              </a:buClr>
            </a:pPr>
            <a:r>
              <a:rPr lang="zh-CN" altLang="en-US" sz="2400" b="1" dirty="0">
                <a:latin typeface="楷体_GB2312" pitchFamily="49" charset="-122"/>
                <a:ea typeface="楷体_GB2312" pitchFamily="49" charset="-122"/>
              </a:rPr>
              <a:t>冷裂常出现在铸件受拉应力部位，尤其是应力集中的地方。</a:t>
            </a:r>
            <a:r>
              <a:rPr lang="zh-CN" altLang="en-US" sz="2400" b="1" dirty="0">
                <a:solidFill>
                  <a:srgbClr val="0000FF"/>
                </a:solidFill>
                <a:latin typeface="楷体_GB2312" pitchFamily="49" charset="-122"/>
                <a:ea typeface="楷体_GB2312" pitchFamily="49" charset="-122"/>
              </a:rPr>
              <a:t>带轮的轮缘、轮辐比轮毂薄，冷却速度较快，比轮毂先收缩，并对轮毂施加压力，轮毂产生塑性变形。但当轮毂温度冷至较低温度进行收缩时，却受到先已冷却的轮缘的阻碍，轮辐中就会产生拉应力，拉应力过大时轮毂发生断裂，形成冷裂。飞轮的轮缘较厚，轮辐和轮毂较薄，易在轮缘中产生拉应力引起冷裂。</a:t>
            </a:r>
            <a:endParaRPr lang="zh-CN" altLang="en-US" sz="2400" b="1" dirty="0">
              <a:solidFill>
                <a:srgbClr val="0000FF"/>
              </a:solidFill>
              <a:latin typeface="楷体_GB2312" pitchFamily="49" charset="-122"/>
              <a:ea typeface="楷体_GB2312" pitchFamily="49" charset="-122"/>
            </a:endParaRPr>
          </a:p>
          <a:p>
            <a:pPr eaLnBrk="1" hangingPunct="1">
              <a:lnSpc>
                <a:spcPct val="90000"/>
              </a:lnSpc>
              <a:buNone/>
            </a:pPr>
            <a:endParaRPr lang="en-US" altLang="zh-CN" sz="3200" b="1" dirty="0">
              <a:solidFill>
                <a:srgbClr val="0000FF"/>
              </a:solidFill>
              <a:latin typeface="楷体_GB2312" pitchFamily="49" charset="-122"/>
              <a:ea typeface="楷体_GB2312" pitchFamily="49" charset="-122"/>
            </a:endParaRPr>
          </a:p>
        </p:txBody>
      </p:sp>
      <p:pic>
        <p:nvPicPr>
          <p:cNvPr id="52228" name="Picture 4"/>
          <p:cNvPicPr>
            <a:picLocks noChangeAspect="1"/>
          </p:cNvPicPr>
          <p:nvPr/>
        </p:nvPicPr>
        <p:blipFill>
          <a:blip r:embed="rId1"/>
          <a:stretch>
            <a:fillRect/>
          </a:stretch>
        </p:blipFill>
        <p:spPr>
          <a:xfrm>
            <a:off x="2339975" y="4021138"/>
            <a:ext cx="5329238" cy="28511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diamond(in)">
                                      <p:cBhvr>
                                        <p:cTn id="7" dur="2000"/>
                                        <p:tgtEl>
                                          <p:spTgt spid="5222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52227">
                                            <p:txEl>
                                              <p:charRg st="0" end="164"/>
                                            </p:txEl>
                                          </p:spTgt>
                                        </p:tgtEl>
                                        <p:attrNameLst>
                                          <p:attrName>style.visibility</p:attrName>
                                        </p:attrNameLst>
                                      </p:cBhvr>
                                      <p:to>
                                        <p:strVal val="visible"/>
                                      </p:to>
                                    </p:set>
                                    <p:animEffect transition="in" filter="diamond(in)">
                                      <p:cBhvr>
                                        <p:cTn id="12" dur="2000"/>
                                        <p:tgtEl>
                                          <p:spTgt spid="52227">
                                            <p:txEl>
                                              <p:charRg st="0" end="1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Text Box 7"/>
          <p:cNvSpPr txBox="1"/>
          <p:nvPr/>
        </p:nvSpPr>
        <p:spPr>
          <a:xfrm>
            <a:off x="3678238" y="720725"/>
            <a:ext cx="1458912" cy="7016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en-US" sz="4000" b="1" dirty="0">
                <a:solidFill>
                  <a:srgbClr val="FF6600"/>
                </a:solidFill>
                <a:latin typeface="楷体_GB2312" pitchFamily="49" charset="-122"/>
                <a:ea typeface="楷体_GB2312" pitchFamily="49" charset="-122"/>
              </a:rPr>
              <a:t>作业</a:t>
            </a:r>
            <a:r>
              <a:rPr lang="en-US" altLang="zh-CN" sz="4000" b="1" dirty="0">
                <a:solidFill>
                  <a:srgbClr val="FF6600"/>
                </a:solidFill>
                <a:latin typeface="楷体_GB2312" pitchFamily="49" charset="-122"/>
                <a:ea typeface="楷体_GB2312" pitchFamily="49" charset="-122"/>
              </a:rPr>
              <a:t>:</a:t>
            </a:r>
            <a:endParaRPr lang="en-US" altLang="zh-CN" sz="4000" b="1" dirty="0">
              <a:solidFill>
                <a:srgbClr val="FF6600"/>
              </a:solidFill>
              <a:latin typeface="楷体_GB2312" pitchFamily="49" charset="-122"/>
              <a:ea typeface="楷体_GB2312" pitchFamily="49" charset="-122"/>
            </a:endParaRPr>
          </a:p>
        </p:txBody>
      </p:sp>
      <p:sp>
        <p:nvSpPr>
          <p:cNvPr id="72707" name="Text Box 8"/>
          <p:cNvSpPr txBox="1"/>
          <p:nvPr/>
        </p:nvSpPr>
        <p:spPr>
          <a:xfrm>
            <a:off x="1116013" y="1708150"/>
            <a:ext cx="7028815" cy="64516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3600" b="1" dirty="0">
                <a:latin typeface="楷体_GB2312" pitchFamily="49" charset="-122"/>
                <a:ea typeface="楷体_GB2312" pitchFamily="49" charset="-122"/>
              </a:rPr>
              <a:t>P60: (2),(4),(5),</a:t>
            </a:r>
            <a:r>
              <a:rPr lang="en-US" altLang="zh-CN" sz="1800" dirty="0"/>
              <a:t> </a:t>
            </a:r>
            <a:r>
              <a:rPr lang="en-US" altLang="zh-CN" sz="3600" b="1" dirty="0">
                <a:latin typeface="楷体_GB2312" pitchFamily="49" charset="-122"/>
                <a:ea typeface="楷体_GB2312" pitchFamily="49" charset="-122"/>
              </a:rPr>
              <a:t>(6),(7),</a:t>
            </a:r>
            <a:r>
              <a:rPr lang="en-US" altLang="zh-CN" sz="1800" dirty="0"/>
              <a:t> </a:t>
            </a:r>
            <a:r>
              <a:rPr lang="en-US" altLang="zh-CN" sz="3600" b="1" dirty="0">
                <a:latin typeface="楷体_GB2312" pitchFamily="49" charset="-122"/>
                <a:ea typeface="楷体_GB2312" pitchFamily="49" charset="-122"/>
              </a:rPr>
              <a:t>(8).</a:t>
            </a:r>
            <a:endParaRPr lang="en-US" altLang="zh-CN" sz="3600" b="1" dirty="0">
              <a:latin typeface="楷体_GB2312" pitchFamily="49" charset="-122"/>
              <a:ea typeface="楷体_GB2312"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zh-CN" sz="4000" b="1" dirty="0">
                <a:ea typeface="楷体_GB2312" pitchFamily="49" charset="-122"/>
              </a:rPr>
              <a:t>本篇的内容</a:t>
            </a:r>
            <a:endParaRPr lang="zh-CN" altLang="zh-CN" sz="4000" b="1" dirty="0">
              <a:latin typeface="GreekS" pitchFamily="2" charset="0"/>
              <a:ea typeface="楷体_GB2312" pitchFamily="49" charset="-122"/>
            </a:endParaRPr>
          </a:p>
        </p:txBody>
      </p:sp>
      <p:sp>
        <p:nvSpPr>
          <p:cNvPr id="73731" name="Rectangle 3"/>
          <p:cNvSpPr>
            <a:spLocks noGrp="1"/>
          </p:cNvSpPr>
          <p:nvPr>
            <p:ph type="body" sz="half"/>
          </p:nvPr>
        </p:nvSpPr>
        <p:spPr>
          <a:xfrm>
            <a:off x="906463" y="1619250"/>
            <a:ext cx="5105400" cy="3538538"/>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marL="476250" lvl="0" indent="-476250" eaLnBrk="1" hangingPunct="1"/>
            <a:r>
              <a:rPr lang="zh-CN" altLang="zh-CN" sz="2400" b="1" dirty="0">
                <a:solidFill>
                  <a:srgbClr val="FF3300"/>
                </a:solidFill>
                <a:ea typeface="楷体_GB2312" pitchFamily="49" charset="-122"/>
              </a:rPr>
              <a:t>铸造工艺基础</a:t>
            </a:r>
            <a:endParaRPr lang="zh-CN" altLang="zh-CN" sz="2400" b="1" dirty="0">
              <a:solidFill>
                <a:srgbClr val="FF3300"/>
              </a:solidFill>
              <a:ea typeface="楷体_GB2312" pitchFamily="49" charset="-122"/>
            </a:endParaRPr>
          </a:p>
          <a:p>
            <a:pPr marL="857250" lvl="1" indent="-400050" eaLnBrk="1" hangingPunct="1"/>
            <a:r>
              <a:rPr lang="zh-CN" altLang="zh-CN" sz="2400" b="1" dirty="0">
                <a:ea typeface="楷体_GB2312" pitchFamily="49" charset="-122"/>
                <a:hlinkClick r:id="rId1" action="ppaction://hlinksldjump"/>
              </a:rPr>
              <a:t>液态合金的充型</a:t>
            </a:r>
            <a:endParaRPr lang="zh-CN" altLang="zh-CN" sz="2400" b="1" dirty="0">
              <a:ea typeface="楷体_GB2312" pitchFamily="49" charset="-122"/>
            </a:endParaRPr>
          </a:p>
          <a:p>
            <a:pPr marL="857250" lvl="1" indent="-400050" eaLnBrk="1" hangingPunct="1"/>
            <a:r>
              <a:rPr lang="zh-CN" altLang="zh-CN" sz="2400" b="1" dirty="0">
                <a:ea typeface="楷体_GB2312" pitchFamily="49" charset="-122"/>
                <a:hlinkClick r:id="rId2" action="ppaction://hlinksldjump"/>
              </a:rPr>
              <a:t>凝固与收缩</a:t>
            </a:r>
            <a:endParaRPr lang="zh-CN" altLang="zh-CN" sz="2400" b="1" dirty="0">
              <a:ea typeface="楷体_GB2312" pitchFamily="49" charset="-122"/>
            </a:endParaRPr>
          </a:p>
          <a:p>
            <a:pPr marL="857250" lvl="1" indent="-400050" eaLnBrk="1" hangingPunct="1"/>
            <a:r>
              <a:rPr lang="zh-CN" altLang="zh-CN" sz="2400" b="1" dirty="0">
                <a:ea typeface="楷体_GB2312" pitchFamily="49" charset="-122"/>
                <a:hlinkClick r:id="rId3" action="ppaction://hlinksldjump"/>
              </a:rPr>
              <a:t>铸造内应力、变形和裂纹</a:t>
            </a:r>
            <a:endParaRPr lang="zh-CN" altLang="zh-CN" sz="2400" b="1" dirty="0">
              <a:ea typeface="楷体_GB2312" pitchFamily="49" charset="-122"/>
            </a:endParaRPr>
          </a:p>
          <a:p>
            <a:pPr marL="1295400" lvl="2" indent="-381000" eaLnBrk="1" hangingPunct="1">
              <a:buNone/>
            </a:pPr>
            <a:endParaRPr lang="zh-CN" altLang="zh-CN" sz="2400" b="1" dirty="0">
              <a:ea typeface="楷体_GB2312" pitchFamily="49" charset="-122"/>
            </a:endParaRPr>
          </a:p>
          <a:p>
            <a:pPr marL="476250" lvl="0" indent="-476250" eaLnBrk="1" hangingPunct="1"/>
            <a:r>
              <a:rPr lang="zh-CN" altLang="zh-CN" sz="2400" b="1" dirty="0">
                <a:solidFill>
                  <a:srgbClr val="FF3300"/>
                </a:solidFill>
                <a:ea typeface="楷体_GB2312" pitchFamily="49" charset="-122"/>
              </a:rPr>
              <a:t>常用铸造方法、结构设计</a:t>
            </a:r>
            <a:endParaRPr lang="zh-CN" altLang="zh-CN" sz="2400" b="1" dirty="0">
              <a:solidFill>
                <a:srgbClr val="FF3300"/>
              </a:solidFill>
              <a:ea typeface="楷体_GB2312" pitchFamily="49" charset="-122"/>
            </a:endParaRPr>
          </a:p>
          <a:p>
            <a:pPr marL="857250" lvl="1" indent="-400050" eaLnBrk="1" hangingPunct="1"/>
            <a:r>
              <a:rPr lang="zh-CN" altLang="zh-CN" sz="2400" b="1" dirty="0">
                <a:solidFill>
                  <a:srgbClr val="0000FF"/>
                </a:solidFill>
                <a:ea typeface="楷体_GB2312" pitchFamily="49" charset="-122"/>
                <a:hlinkClick r:id="rId4" action="ppaction://hlinksldjump"/>
              </a:rPr>
              <a:t>砂型铸造</a:t>
            </a:r>
            <a:endParaRPr lang="zh-CN" altLang="zh-CN" sz="2400" b="1" dirty="0">
              <a:solidFill>
                <a:srgbClr val="0000FF"/>
              </a:solidFill>
              <a:ea typeface="楷体_GB2312" pitchFamily="49" charset="-122"/>
            </a:endParaRPr>
          </a:p>
          <a:p>
            <a:pPr marL="857250" lvl="1" indent="-400050" eaLnBrk="1" hangingPunct="1"/>
            <a:r>
              <a:rPr lang="zh-CN" altLang="zh-CN" sz="2400" b="1" dirty="0">
                <a:solidFill>
                  <a:srgbClr val="0000FF"/>
                </a:solidFill>
                <a:ea typeface="楷体_GB2312" pitchFamily="49" charset="-122"/>
                <a:hlinkClick r:id="rId5" action="ppaction://hlinksldjump"/>
              </a:rPr>
              <a:t>特种铸造</a:t>
            </a:r>
            <a:endParaRPr lang="zh-CN" altLang="zh-CN" sz="2400" b="1" dirty="0">
              <a:solidFill>
                <a:srgbClr val="0000FF"/>
              </a:solidFill>
              <a:ea typeface="楷体_GB2312" pitchFamily="49" charset="-122"/>
            </a:endParaRPr>
          </a:p>
          <a:p>
            <a:pPr marL="857250" lvl="1" indent="-400050" eaLnBrk="1" hangingPunct="1"/>
            <a:r>
              <a:rPr lang="zh-CN" altLang="zh-CN" sz="2400" b="1" dirty="0">
                <a:solidFill>
                  <a:srgbClr val="0000FF"/>
                </a:solidFill>
                <a:ea typeface="楷体_GB2312" pitchFamily="49" charset="-122"/>
                <a:hlinkClick r:id="rId6" action="ppaction://hlinksldjump"/>
              </a:rPr>
              <a:t>铸件结构设计</a:t>
            </a:r>
            <a:endParaRPr lang="zh-CN" altLang="zh-CN" sz="2400" b="1" dirty="0">
              <a:solidFill>
                <a:srgbClr val="0000FF"/>
              </a:solidFill>
              <a:ea typeface="楷体_GB2312"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a:xfrm>
            <a:off x="179388" y="273050"/>
            <a:ext cx="8229600" cy="1139825"/>
          </a:xfrm>
        </p:spPr>
        <p:txBody>
          <a:bodyPr vert="horz" wrap="square" lIns="91440" tIns="45720" rIns="91440" bIns="45720" anchor="b" anchorCtr="0"/>
          <a:p>
            <a:pPr algn="ctr" eaLnBrk="1" hangingPunct="1"/>
            <a:r>
              <a:rPr lang="zh-CN" altLang="zh-CN" sz="4000" b="1" dirty="0">
                <a:latin typeface="楷体_GB2312" pitchFamily="49" charset="-122"/>
                <a:ea typeface="楷体_GB2312" pitchFamily="49" charset="-122"/>
              </a:rPr>
              <a:t>第三章 砂型铸造</a:t>
            </a:r>
            <a:endParaRPr lang="zh-CN" altLang="zh-CN" sz="4000" b="1" dirty="0">
              <a:latin typeface="楷体_GB2312" pitchFamily="49" charset="-122"/>
              <a:ea typeface="楷体_GB2312" pitchFamily="49" charset="-122"/>
            </a:endParaRPr>
          </a:p>
        </p:txBody>
      </p:sp>
      <p:sp>
        <p:nvSpPr>
          <p:cNvPr id="55299" name="Rectangle 3"/>
          <p:cNvSpPr/>
          <p:nvPr/>
        </p:nvSpPr>
        <p:spPr>
          <a:xfrm>
            <a:off x="1116013" y="1557338"/>
            <a:ext cx="7558087" cy="17541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en-US" sz="2400" b="1" dirty="0">
                <a:solidFill>
                  <a:srgbClr val="A50021"/>
                </a:solidFill>
                <a:latin typeface="楷体_GB2312" pitchFamily="49" charset="-122"/>
                <a:ea typeface="楷体_GB2312" pitchFamily="49" charset="-122"/>
              </a:rPr>
              <a:t>铸造方法可分为砂型铸造和特种铸造两大类</a:t>
            </a:r>
            <a:endParaRPr lang="zh-CN" altLang="en-US" sz="2400" b="1" dirty="0">
              <a:solidFill>
                <a:srgbClr val="A50021"/>
              </a:solidFill>
              <a:latin typeface="楷体_GB2312" pitchFamily="49" charset="-122"/>
              <a:ea typeface="楷体_GB2312" pitchFamily="49" charset="-122"/>
            </a:endParaRPr>
          </a:p>
          <a:p>
            <a:pPr marL="0" lvl="0" indent="0" eaLnBrk="1" hangingPunct="1">
              <a:spcBef>
                <a:spcPct val="50000"/>
              </a:spcBef>
              <a:buClrTx/>
              <a:buSzTx/>
              <a:buNone/>
            </a:pPr>
            <a:r>
              <a:rPr lang="zh-CN" altLang="en-US" sz="2400" b="1" dirty="0">
                <a:latin typeface="楷体_GB2312" pitchFamily="49" charset="-122"/>
                <a:ea typeface="楷体_GB2312" pitchFamily="49" charset="-122"/>
              </a:rPr>
              <a:t>   </a:t>
            </a:r>
            <a:r>
              <a:rPr lang="zh-CN" altLang="en-US" sz="2400" b="1" dirty="0">
                <a:solidFill>
                  <a:srgbClr val="0000FF"/>
                </a:solidFill>
                <a:latin typeface="楷体_GB2312" pitchFamily="49" charset="-122"/>
                <a:ea typeface="楷体_GB2312" pitchFamily="49" charset="-122"/>
              </a:rPr>
              <a:t>砂型铸造是将熔化的金属注入砂型，凝固后获得铸件的方法，砂型在取出铸件后便损坏。所以</a:t>
            </a:r>
            <a:r>
              <a:rPr lang="en-US" altLang="zh-CN" sz="2400" b="1" dirty="0">
                <a:solidFill>
                  <a:srgbClr val="0000FF"/>
                </a:solidFill>
                <a:latin typeface="楷体_GB2312" pitchFamily="49" charset="-122"/>
                <a:ea typeface="楷体_GB2312" pitchFamily="49" charset="-122"/>
              </a:rPr>
              <a:t>,</a:t>
            </a:r>
            <a:r>
              <a:rPr lang="zh-CN" altLang="en-US" sz="2400" b="1" dirty="0">
                <a:solidFill>
                  <a:srgbClr val="0000FF"/>
                </a:solidFill>
                <a:latin typeface="楷体_GB2312" pitchFamily="49" charset="-122"/>
                <a:ea typeface="楷体_GB2312" pitchFamily="49" charset="-122"/>
              </a:rPr>
              <a:t>砂型铸造也称一次型铸造。</a:t>
            </a:r>
            <a:endParaRPr lang="zh-CN" altLang="en-US" sz="2400" b="1" dirty="0">
              <a:solidFill>
                <a:srgbClr val="0000FF"/>
              </a:solidFill>
              <a:latin typeface="楷体_GB2312" pitchFamily="49" charset="-122"/>
              <a:ea typeface="楷体_GB2312" pitchFamily="49" charset="-122"/>
            </a:endParaRPr>
          </a:p>
        </p:txBody>
      </p:sp>
      <p:pic>
        <p:nvPicPr>
          <p:cNvPr id="74756" name="图片 4" descr="image19.jpeg"/>
          <p:cNvPicPr>
            <a:picLocks noChangeAspect="1"/>
          </p:cNvPicPr>
          <p:nvPr/>
        </p:nvPicPr>
        <p:blipFill>
          <a:blip r:embed="rId1"/>
          <a:stretch>
            <a:fillRect/>
          </a:stretch>
        </p:blipFill>
        <p:spPr>
          <a:xfrm>
            <a:off x="533400" y="3260725"/>
            <a:ext cx="8077200" cy="30432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299">
                                            <p:txEl>
                                              <p:charRg st="20" end="78"/>
                                            </p:txEl>
                                          </p:spTgt>
                                        </p:tgtEl>
                                        <p:attrNameLst>
                                          <p:attrName>style.visibility</p:attrName>
                                        </p:attrNameLst>
                                      </p:cBhvr>
                                      <p:to>
                                        <p:strVal val="visible"/>
                                      </p:to>
                                    </p:set>
                                    <p:animEffect transition="in" filter="blinds(horizontal)">
                                      <p:cBhvr>
                                        <p:cTn id="7" dur="500"/>
                                        <p:tgtEl>
                                          <p:spTgt spid="55299">
                                            <p:txEl>
                                              <p:charRg st="20" end="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179388" y="273050"/>
            <a:ext cx="8229600" cy="1139825"/>
          </a:xfrm>
        </p:spPr>
        <p:txBody>
          <a:bodyPr vert="horz" wrap="square" lIns="91440" tIns="45720" rIns="91440" bIns="45720" anchor="b" anchorCtr="0"/>
          <a:p>
            <a:pPr algn="ctr" eaLnBrk="1" hangingPunct="1"/>
            <a:r>
              <a:rPr lang="zh-CN" altLang="zh-CN" sz="4000" b="1" dirty="0">
                <a:latin typeface="楷体_GB2312" pitchFamily="49" charset="-122"/>
                <a:ea typeface="楷体_GB2312" pitchFamily="49" charset="-122"/>
              </a:rPr>
              <a:t>第三章 砂型铸造</a:t>
            </a:r>
            <a:endParaRPr lang="zh-CN" altLang="zh-CN" sz="4000" b="1" dirty="0">
              <a:latin typeface="楷体_GB2312" pitchFamily="49" charset="-122"/>
              <a:ea typeface="楷体_GB2312" pitchFamily="49" charset="-122"/>
            </a:endParaRPr>
          </a:p>
        </p:txBody>
      </p:sp>
      <p:sp>
        <p:nvSpPr>
          <p:cNvPr id="75779" name="Rectangle 3"/>
          <p:cNvSpPr/>
          <p:nvPr/>
        </p:nvSpPr>
        <p:spPr>
          <a:xfrm>
            <a:off x="1117600" y="1700213"/>
            <a:ext cx="75580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r>
              <a:rPr lang="zh-CN" altLang="zh-CN" sz="2400" b="1" dirty="0">
                <a:solidFill>
                  <a:srgbClr val="A50021"/>
                </a:solidFill>
                <a:latin typeface="楷体_GB2312" pitchFamily="49" charset="-122"/>
                <a:ea typeface="楷体_GB2312" pitchFamily="49" charset="-122"/>
              </a:rPr>
              <a:t>其工艺流程如图所示</a:t>
            </a:r>
            <a:endParaRPr lang="zh-CN" altLang="zh-CN" sz="2000" b="1" dirty="0">
              <a:latin typeface="楷体_GB2312" pitchFamily="49" charset="-122"/>
              <a:ea typeface="楷体_GB2312" pitchFamily="49" charset="-122"/>
            </a:endParaRPr>
          </a:p>
        </p:txBody>
      </p:sp>
      <p:pic>
        <p:nvPicPr>
          <p:cNvPr id="75780" name="Picture 7" descr="图片1"/>
          <p:cNvPicPr>
            <a:picLocks noChangeAspect="1"/>
          </p:cNvPicPr>
          <p:nvPr/>
        </p:nvPicPr>
        <p:blipFill>
          <a:blip r:embed="rId1"/>
          <a:stretch>
            <a:fillRect/>
          </a:stretch>
        </p:blipFill>
        <p:spPr>
          <a:xfrm>
            <a:off x="682625" y="2981325"/>
            <a:ext cx="7273925" cy="4119563"/>
          </a:xfrm>
          <a:prstGeom prst="rect">
            <a:avLst/>
          </a:prstGeom>
          <a:noFill/>
          <a:ln w="9525">
            <a:noFill/>
          </a:ln>
        </p:spPr>
      </p:pic>
      <p:sp>
        <p:nvSpPr>
          <p:cNvPr id="75781" name="AutoShape 8"/>
          <p:cNvSpPr/>
          <p:nvPr/>
        </p:nvSpPr>
        <p:spPr>
          <a:xfrm>
            <a:off x="3708400" y="2349500"/>
            <a:ext cx="1800225" cy="935038"/>
          </a:xfrm>
          <a:prstGeom prst="wedgeEllipseCallout">
            <a:avLst>
              <a:gd name="adj1" fmla="val -132454"/>
              <a:gd name="adj2" fmla="val 771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800" dirty="0"/>
              <a:t>造型方法的选择</a:t>
            </a:r>
            <a:endParaRPr lang="zh-CN" altLang="zh-CN" sz="1800" dirty="0"/>
          </a:p>
        </p:txBody>
      </p:sp>
      <p:sp>
        <p:nvSpPr>
          <p:cNvPr id="75782" name="AutoShape 9"/>
          <p:cNvSpPr/>
          <p:nvPr/>
        </p:nvSpPr>
        <p:spPr>
          <a:xfrm>
            <a:off x="5159375" y="3284538"/>
            <a:ext cx="1800225" cy="935037"/>
          </a:xfrm>
          <a:prstGeom prst="wedgeEllipseCallout">
            <a:avLst>
              <a:gd name="adj1" fmla="val -214824"/>
              <a:gd name="adj2" fmla="val -1741"/>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800" dirty="0"/>
              <a:t>浇注位置的选择</a:t>
            </a:r>
            <a:endParaRPr lang="zh-CN" altLang="zh-CN" sz="1800" dirty="0"/>
          </a:p>
        </p:txBody>
      </p:sp>
      <p:pic>
        <p:nvPicPr>
          <p:cNvPr id="75783" name="图片 4" descr="image19.jpeg"/>
          <p:cNvPicPr>
            <a:picLocks noChangeAspect="1"/>
          </p:cNvPicPr>
          <p:nvPr/>
        </p:nvPicPr>
        <p:blipFill>
          <a:blip r:embed="rId2"/>
          <a:stretch>
            <a:fillRect/>
          </a:stretch>
        </p:blipFill>
        <p:spPr>
          <a:xfrm>
            <a:off x="3609975" y="179388"/>
            <a:ext cx="5354638" cy="2017712"/>
          </a:xfrm>
          <a:prstGeom prst="rect">
            <a:avLst/>
          </a:prstGeom>
          <a:noFill/>
          <a:ln w="9525">
            <a:noFill/>
          </a:ln>
        </p:spPr>
      </p:pic>
      <p:sp>
        <p:nvSpPr>
          <p:cNvPr id="75784" name="AutoShape 10"/>
          <p:cNvSpPr/>
          <p:nvPr/>
        </p:nvSpPr>
        <p:spPr>
          <a:xfrm>
            <a:off x="6608763" y="2689225"/>
            <a:ext cx="1800225" cy="935038"/>
          </a:xfrm>
          <a:prstGeom prst="wedgeEllipseCallout">
            <a:avLst>
              <a:gd name="adj1" fmla="val -45648"/>
              <a:gd name="adj2" fmla="val -223611"/>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800" dirty="0"/>
              <a:t>分型面的选择</a:t>
            </a:r>
            <a:endParaRPr lang="zh-CN" altLang="zh-CN" sz="1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6802" name="图片 4" descr="image20.jpeg"/>
          <p:cNvPicPr>
            <a:picLocks noChangeAspect="1"/>
          </p:cNvPicPr>
          <p:nvPr/>
        </p:nvPicPr>
        <p:blipFill>
          <a:blip r:embed="rId1"/>
          <a:stretch>
            <a:fillRect/>
          </a:stretch>
        </p:blipFill>
        <p:spPr>
          <a:xfrm>
            <a:off x="533400" y="1916113"/>
            <a:ext cx="8077200" cy="3863975"/>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zh-CN" sz="4000" b="1" dirty="0">
                <a:ea typeface="楷体_GB2312" pitchFamily="49" charset="-122"/>
              </a:rPr>
              <a:t>砂型铸造</a:t>
            </a:r>
            <a:endParaRPr lang="zh-CN" altLang="zh-CN" sz="4000" b="1" dirty="0">
              <a:ea typeface="楷体_GB2312" pitchFamily="49" charset="-122"/>
            </a:endParaRPr>
          </a:p>
        </p:txBody>
      </p:sp>
      <p:sp>
        <p:nvSpPr>
          <p:cNvPr id="57347" name="Rectangle 27"/>
          <p:cNvSpPr/>
          <p:nvPr/>
        </p:nvSpPr>
        <p:spPr>
          <a:xfrm>
            <a:off x="466725" y="1844675"/>
            <a:ext cx="8137525" cy="4464050"/>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342900" lvl="0" indent="-342900" eaLnBrk="1" hangingPunct="1">
              <a:buClr>
                <a:srgbClr val="FF6600"/>
              </a:buClr>
            </a:pPr>
            <a:r>
              <a:rPr lang="zh-CN" altLang="en-US" sz="2800" b="1" dirty="0">
                <a:solidFill>
                  <a:srgbClr val="FF6600"/>
                </a:solidFill>
                <a:latin typeface="楷体_GB2312" pitchFamily="49" charset="-122"/>
                <a:ea typeface="楷体_GB2312" pitchFamily="49" charset="-122"/>
              </a:rPr>
              <a:t>造型方法的选择</a:t>
            </a:r>
            <a:endParaRPr lang="zh-CN" altLang="en-US" sz="2800" b="1" dirty="0">
              <a:solidFill>
                <a:srgbClr val="FF6600"/>
              </a:solidFill>
              <a:latin typeface="楷体_GB2312" pitchFamily="49" charset="-122"/>
              <a:ea typeface="楷体_GB2312" pitchFamily="49" charset="-122"/>
            </a:endParaRPr>
          </a:p>
          <a:p>
            <a:pPr marL="742950" lvl="1" indent="-285750" eaLnBrk="1" hangingPunct="1"/>
            <a:r>
              <a:rPr lang="zh-CN" altLang="en-US" sz="2400" b="1" dirty="0">
                <a:solidFill>
                  <a:srgbClr val="F9275E"/>
                </a:solidFill>
                <a:latin typeface="楷体_GB2312" pitchFamily="49" charset="-122"/>
                <a:ea typeface="楷体_GB2312" pitchFamily="49" charset="-122"/>
              </a:rPr>
              <a:t>手工造型</a:t>
            </a:r>
            <a:r>
              <a:rPr lang="zh-CN" altLang="en-US" sz="2400" b="1" dirty="0">
                <a:latin typeface="楷体_GB2312" pitchFamily="49" charset="-122"/>
                <a:ea typeface="楷体_GB2312" pitchFamily="49" charset="-122"/>
              </a:rPr>
              <a:t>  用手工或手动工具完成紧砂、起模、修型工序。操作灵活，可按铸件尺寸、形状、批量与现场条件灵活选用造型方法，生产准备周期短，效率低，质量稳定性差，对工人技术要求高，劳动强度大。</a:t>
            </a:r>
            <a:endParaRPr lang="zh-CN" altLang="en-US" sz="2400" b="1" dirty="0">
              <a:latin typeface="楷体_GB2312" pitchFamily="49" charset="-122"/>
              <a:ea typeface="楷体_GB2312" pitchFamily="49" charset="-122"/>
            </a:endParaRPr>
          </a:p>
          <a:p>
            <a:pPr marL="742950" lvl="1" indent="-285750" eaLnBrk="1" hangingPunct="1"/>
            <a:r>
              <a:rPr lang="zh-CN" altLang="en-US" sz="2400" b="1" dirty="0">
                <a:solidFill>
                  <a:srgbClr val="F9275E"/>
                </a:solidFill>
                <a:latin typeface="楷体_GB2312" pitchFamily="49" charset="-122"/>
                <a:ea typeface="楷体_GB2312" pitchFamily="49" charset="-122"/>
              </a:rPr>
              <a:t>适用范围</a:t>
            </a:r>
            <a:r>
              <a:rPr lang="zh-CN" altLang="en-US" sz="2400" b="1" dirty="0">
                <a:latin typeface="楷体_GB2312" pitchFamily="49" charset="-122"/>
                <a:ea typeface="楷体_GB2312" pitchFamily="49" charset="-122"/>
              </a:rPr>
              <a:t>：单件、小批量铸件或难以用造型机械生产的形状复杂的大型铸件。</a:t>
            </a:r>
            <a:endParaRPr lang="zh-CN" altLang="en-US" sz="2400" b="1" dirty="0">
              <a:latin typeface="楷体_GB2312" pitchFamily="49" charset="-122"/>
              <a:ea typeface="楷体_GB2312" pitchFamily="49" charset="-122"/>
            </a:endParaRPr>
          </a:p>
          <a:p>
            <a:pPr marL="742950" lvl="1" indent="-285750" eaLnBrk="1" hangingPunct="1"/>
            <a:endParaRPr lang="zh-CN" altLang="en-US" sz="2400" dirty="0"/>
          </a:p>
          <a:p>
            <a:pPr marL="1143000" lvl="2" indent="-228600" eaLnBrk="1" hangingPunct="1"/>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347">
                                            <p:txEl>
                                              <p:charRg st="8" end="101"/>
                                            </p:txEl>
                                          </p:spTgt>
                                        </p:tgtEl>
                                        <p:attrNameLst>
                                          <p:attrName>style.visibility</p:attrName>
                                        </p:attrNameLst>
                                      </p:cBhvr>
                                      <p:to>
                                        <p:strVal val="visible"/>
                                      </p:to>
                                    </p:set>
                                    <p:animEffect transition="in" filter="blinds(horizontal)">
                                      <p:cBhvr>
                                        <p:cTn id="7" dur="500"/>
                                        <p:tgtEl>
                                          <p:spTgt spid="57347">
                                            <p:txEl>
                                              <p:charRg st="8" end="10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347">
                                            <p:txEl>
                                              <p:charRg st="101" end="136"/>
                                            </p:txEl>
                                          </p:spTgt>
                                        </p:tgtEl>
                                        <p:attrNameLst>
                                          <p:attrName>style.visibility</p:attrName>
                                        </p:attrNameLst>
                                      </p:cBhvr>
                                      <p:to>
                                        <p:strVal val="visible"/>
                                      </p:to>
                                    </p:set>
                                    <p:animEffect transition="in" filter="blinds(horizontal)">
                                      <p:cBhvr>
                                        <p:cTn id="12" dur="500"/>
                                        <p:tgtEl>
                                          <p:spTgt spid="57347">
                                            <p:txEl>
                                              <p:charRg st="101"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en-US" sz="4000" b="1" dirty="0">
                <a:solidFill>
                  <a:srgbClr val="F9275E"/>
                </a:solidFill>
                <a:latin typeface="楷体_GB2312" pitchFamily="49" charset="-122"/>
                <a:ea typeface="楷体_GB2312" pitchFamily="49" charset="-122"/>
              </a:rPr>
              <a:t>手工造型</a:t>
            </a:r>
            <a:r>
              <a:rPr lang="zh-CN" altLang="en-US" sz="4400" b="1" dirty="0">
                <a:solidFill>
                  <a:srgbClr val="F9275E"/>
                </a:solidFill>
                <a:latin typeface="楷体_GB2312" pitchFamily="49" charset="-122"/>
                <a:ea typeface="楷体_GB2312" pitchFamily="49" charset="-122"/>
              </a:rPr>
              <a:t> </a:t>
            </a:r>
            <a:endParaRPr lang="zh-CN" altLang="zh-CN" sz="4000" b="1" dirty="0">
              <a:ea typeface="楷体_GB2312" pitchFamily="49" charset="-122"/>
            </a:endParaRPr>
          </a:p>
        </p:txBody>
      </p:sp>
      <p:sp>
        <p:nvSpPr>
          <p:cNvPr id="78851" name="Rectangle 3"/>
          <p:cNvSpPr>
            <a:spLocks noGrp="1"/>
          </p:cNvSpPr>
          <p:nvPr>
            <p:ph type="body" sz="half"/>
          </p:nvPr>
        </p:nvSpPr>
        <p:spPr>
          <a:xfrm>
            <a:off x="360363" y="1773238"/>
            <a:ext cx="8243887" cy="194310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buClr>
                <a:srgbClr val="FF6600"/>
              </a:buClr>
            </a:pPr>
            <a:r>
              <a:rPr lang="zh-CN" altLang="en-US" sz="2400" b="1" dirty="0">
                <a:solidFill>
                  <a:srgbClr val="009900"/>
                </a:solidFill>
                <a:latin typeface="楷体_GB2312" pitchFamily="49" charset="-122"/>
                <a:ea typeface="楷体_GB2312" pitchFamily="49" charset="-122"/>
              </a:rPr>
              <a:t>（</a:t>
            </a:r>
            <a:r>
              <a:rPr lang="en-US" altLang="zh-CN" sz="2400" b="1" dirty="0">
                <a:solidFill>
                  <a:srgbClr val="009900"/>
                </a:solidFill>
                <a:latin typeface="楷体_GB2312" pitchFamily="49" charset="-122"/>
                <a:ea typeface="楷体_GB2312" pitchFamily="49" charset="-122"/>
              </a:rPr>
              <a:t>1</a:t>
            </a:r>
            <a:r>
              <a:rPr lang="zh-CN" altLang="en-US" sz="2400" b="1" dirty="0">
                <a:solidFill>
                  <a:srgbClr val="009900"/>
                </a:solidFill>
                <a:latin typeface="楷体_GB2312" pitchFamily="49" charset="-122"/>
                <a:ea typeface="楷体_GB2312" pitchFamily="49" charset="-122"/>
              </a:rPr>
              <a:t>）整模造型</a:t>
            </a:r>
            <a:r>
              <a:rPr lang="zh-CN" altLang="en-US" sz="2400" b="1" dirty="0">
                <a:latin typeface="楷体_GB2312" pitchFamily="49" charset="-122"/>
                <a:ea typeface="楷体_GB2312" pitchFamily="49" charset="-122"/>
              </a:rPr>
              <a:t>  模样是整体结构，最大截面在模样一端为平面；分型面多为平面；操作简单。</a:t>
            </a:r>
            <a:r>
              <a:rPr lang="zh-CN" altLang="en-US" sz="2400" b="1" dirty="0">
                <a:solidFill>
                  <a:srgbClr val="000099"/>
                </a:solidFill>
                <a:latin typeface="楷体_GB2312" pitchFamily="49" charset="-122"/>
                <a:ea typeface="楷体_GB2312" pitchFamily="49" charset="-122"/>
              </a:rPr>
              <a:t>适用于形状简单的铸件，如盘、盖类。</a:t>
            </a:r>
            <a:endParaRPr lang="zh-CN" altLang="en-US" sz="2400" b="1" dirty="0">
              <a:solidFill>
                <a:srgbClr val="000099"/>
              </a:solidFill>
              <a:latin typeface="楷体_GB2312" pitchFamily="49" charset="-122"/>
              <a:ea typeface="楷体_GB2312" pitchFamily="49" charset="-122"/>
            </a:endParaRPr>
          </a:p>
          <a:p>
            <a:pPr lvl="2" eaLnBrk="1" hangingPunct="1"/>
            <a:endParaRPr lang="en-US" altLang="zh-CN" sz="2400" b="1" dirty="0">
              <a:latin typeface="楷体_GB2312" pitchFamily="49" charset="-122"/>
              <a:ea typeface="楷体_GB2312" pitchFamily="49" charset="-122"/>
            </a:endParaRPr>
          </a:p>
        </p:txBody>
      </p:sp>
      <p:grpSp>
        <p:nvGrpSpPr>
          <p:cNvPr id="78852" name="Group 9"/>
          <p:cNvGrpSpPr/>
          <p:nvPr/>
        </p:nvGrpSpPr>
        <p:grpSpPr>
          <a:xfrm>
            <a:off x="457200" y="2924175"/>
            <a:ext cx="8229600" cy="4033838"/>
            <a:chOff x="0" y="0"/>
            <a:chExt cx="4148" cy="2171"/>
          </a:xfrm>
        </p:grpSpPr>
        <p:pic>
          <p:nvPicPr>
            <p:cNvPr id="78853" name="Picture 5" descr="1"/>
            <p:cNvPicPr>
              <a:picLocks noChangeAspect="1"/>
            </p:cNvPicPr>
            <p:nvPr/>
          </p:nvPicPr>
          <p:blipFill>
            <a:blip r:embed="rId1"/>
            <a:stretch>
              <a:fillRect/>
            </a:stretch>
          </p:blipFill>
          <p:spPr>
            <a:xfrm>
              <a:off x="289" y="0"/>
              <a:ext cx="3508" cy="2056"/>
            </a:xfrm>
            <a:prstGeom prst="rect">
              <a:avLst/>
            </a:prstGeom>
            <a:noFill/>
            <a:ln w="9525">
              <a:noFill/>
            </a:ln>
          </p:spPr>
        </p:pic>
        <p:sp>
          <p:nvSpPr>
            <p:cNvPr id="78854" name="Rectangle 8"/>
            <p:cNvSpPr/>
            <p:nvPr/>
          </p:nvSpPr>
          <p:spPr>
            <a:xfrm>
              <a:off x="0" y="773"/>
              <a:ext cx="4148" cy="1398"/>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400" b="1" dirty="0">
                  <a:latin typeface="楷体_GB2312" pitchFamily="49" charset="-122"/>
                  <a:ea typeface="楷体_GB2312" pitchFamily="49" charset="-122"/>
                </a:rPr>
                <a:t>(a)</a:t>
              </a:r>
              <a:r>
                <a:rPr lang="zh-CN" altLang="en-US" sz="1400" b="1" dirty="0">
                  <a:latin typeface="楷体_GB2312" pitchFamily="49" charset="-122"/>
                  <a:ea typeface="楷体_GB2312" pitchFamily="49" charset="-122"/>
                </a:rPr>
                <a:t>造下砂型、添砂、舂砂  </a:t>
              </a:r>
              <a:r>
                <a:rPr lang="en-US" altLang="zh-CN" sz="1400" b="1" dirty="0">
                  <a:latin typeface="楷体_GB2312" pitchFamily="49" charset="-122"/>
                  <a:ea typeface="楷体_GB2312" pitchFamily="49" charset="-122"/>
                </a:rPr>
                <a:t>(b)</a:t>
              </a:r>
              <a:r>
                <a:rPr lang="zh-CN" altLang="en-US" sz="1400" b="1" dirty="0">
                  <a:latin typeface="楷体_GB2312" pitchFamily="49" charset="-122"/>
                  <a:ea typeface="楷体_GB2312" pitchFamily="49" charset="-122"/>
                </a:rPr>
                <a:t>刮平、翻箱  </a:t>
              </a:r>
              <a:r>
                <a:rPr lang="en-US" altLang="zh-CN" sz="1400" b="1" dirty="0">
                  <a:latin typeface="楷体_GB2312" pitchFamily="49" charset="-122"/>
                  <a:ea typeface="楷体_GB2312" pitchFamily="49" charset="-122"/>
                </a:rPr>
                <a:t>(c)</a:t>
              </a:r>
              <a:r>
                <a:rPr lang="zh-CN" altLang="en-US" sz="1400" b="1" dirty="0">
                  <a:latin typeface="楷体_GB2312" pitchFamily="49" charset="-122"/>
                  <a:ea typeface="楷体_GB2312" pitchFamily="49" charset="-122"/>
                </a:rPr>
                <a:t>造上型、扎气孔、做泥号</a:t>
              </a:r>
              <a:endParaRPr lang="zh-CN" altLang="en-US" sz="1400" b="1" dirty="0">
                <a:latin typeface="楷体_GB2312" pitchFamily="49" charset="-122"/>
                <a:ea typeface="楷体_GB2312" pitchFamily="49" charset="-122"/>
              </a:endParaRPr>
            </a:p>
            <a:p>
              <a:pPr marL="0" lvl="0" indent="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0" algn="ctr" eaLnBrk="1" hangingPunct="1">
                <a:spcBef>
                  <a:spcPct val="0"/>
                </a:spcBef>
                <a:buClrTx/>
                <a:buSzTx/>
                <a:buNone/>
              </a:pPr>
              <a:r>
                <a:rPr lang="en-US" altLang="zh-CN" sz="1400" b="1" dirty="0">
                  <a:latin typeface="楷体_GB2312" pitchFamily="49" charset="-122"/>
                  <a:ea typeface="楷体_GB2312" pitchFamily="49" charset="-122"/>
                </a:rPr>
                <a:t>(d)</a:t>
              </a:r>
              <a:r>
                <a:rPr lang="zh-CN" altLang="en-US" sz="1400" b="1" dirty="0">
                  <a:latin typeface="楷体_GB2312" pitchFamily="49" charset="-122"/>
                  <a:ea typeface="楷体_GB2312" pitchFamily="49" charset="-122"/>
                </a:rPr>
                <a:t>起箱、起模、开浇口          </a:t>
              </a:r>
              <a:r>
                <a:rPr lang="en-US" altLang="zh-CN" sz="1400" b="1" dirty="0">
                  <a:latin typeface="楷体_GB2312" pitchFamily="49" charset="-122"/>
                  <a:ea typeface="楷体_GB2312" pitchFamily="49" charset="-122"/>
                </a:rPr>
                <a:t>(e)</a:t>
              </a:r>
              <a:r>
                <a:rPr lang="zh-CN" altLang="en-US" sz="1400" b="1" dirty="0">
                  <a:latin typeface="楷体_GB2312" pitchFamily="49" charset="-122"/>
                  <a:ea typeface="楷体_GB2312" pitchFamily="49" charset="-122"/>
                </a:rPr>
                <a:t>合型             </a:t>
              </a:r>
              <a:r>
                <a:rPr lang="en-US" altLang="zh-CN" sz="1400" b="1" dirty="0">
                  <a:latin typeface="楷体_GB2312" pitchFamily="49" charset="-122"/>
                  <a:ea typeface="楷体_GB2312" pitchFamily="49" charset="-122"/>
                </a:rPr>
                <a:t>(f)</a:t>
              </a:r>
              <a:r>
                <a:rPr lang="zh-CN" altLang="en-US" sz="1400" b="1" dirty="0">
                  <a:latin typeface="楷体_GB2312" pitchFamily="49" charset="-122"/>
                  <a:ea typeface="楷体_GB2312" pitchFamily="49" charset="-122"/>
                </a:rPr>
                <a:t>落砂后带浇口的铸件</a:t>
              </a:r>
              <a:endParaRPr lang="zh-CN" altLang="en-US" sz="1400" b="1" dirty="0">
                <a:latin typeface="楷体_GB2312" pitchFamily="49" charset="-122"/>
                <a:ea typeface="楷体_GB2312" pitchFamily="49" charset="-122"/>
              </a:endParaRPr>
            </a:p>
            <a:p>
              <a:pPr marL="0" lvl="0" indent="0" algn="ctr" eaLnBrk="1" hangingPunct="1">
                <a:spcBef>
                  <a:spcPct val="0"/>
                </a:spcBef>
                <a:buClrTx/>
                <a:buSzTx/>
                <a:buNone/>
              </a:pPr>
              <a:r>
                <a:rPr lang="zh-CN" altLang="en-US" sz="1400" b="1" dirty="0">
                  <a:latin typeface="楷体_GB2312" pitchFamily="49" charset="-122"/>
                  <a:ea typeface="楷体_GB2312" pitchFamily="49" charset="-122"/>
                </a:rPr>
                <a:t>图  齿轮整模造型过程</a:t>
              </a:r>
              <a:endParaRPr lang="zh-CN" altLang="en-US" sz="1400" b="1" dirty="0">
                <a:latin typeface="楷体_GB2312" pitchFamily="49" charset="-122"/>
                <a:ea typeface="楷体_GB2312" pitchFamily="49" charset="-122"/>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en-US" sz="4000" b="1" dirty="0">
                <a:solidFill>
                  <a:srgbClr val="F9275E"/>
                </a:solidFill>
                <a:latin typeface="楷体_GB2312" pitchFamily="49" charset="-122"/>
                <a:ea typeface="楷体_GB2312" pitchFamily="49" charset="-122"/>
              </a:rPr>
              <a:t>手工造型 </a:t>
            </a:r>
            <a:endParaRPr lang="zh-CN" altLang="zh-CN" sz="4000" b="1" dirty="0">
              <a:ea typeface="楷体_GB2312" pitchFamily="49" charset="-122"/>
            </a:endParaRPr>
          </a:p>
        </p:txBody>
      </p:sp>
      <p:sp>
        <p:nvSpPr>
          <p:cNvPr id="81923" name="Rectangle 3"/>
          <p:cNvSpPr>
            <a:spLocks noGrp="1"/>
          </p:cNvSpPr>
          <p:nvPr>
            <p:ph type="body" sz="half"/>
          </p:nvPr>
        </p:nvSpPr>
        <p:spPr>
          <a:xfrm>
            <a:off x="467043" y="1196658"/>
            <a:ext cx="8388350" cy="215900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buClr>
                <a:srgbClr val="FF6600"/>
              </a:buClr>
              <a:buNone/>
            </a:pPr>
            <a:r>
              <a:rPr lang="zh-CN" altLang="en-US" sz="2000" b="1" dirty="0">
                <a:solidFill>
                  <a:srgbClr val="009900"/>
                </a:solidFill>
                <a:latin typeface="楷体_GB2312" pitchFamily="49" charset="-122"/>
                <a:ea typeface="楷体_GB2312" pitchFamily="49" charset="-122"/>
              </a:rPr>
              <a:t>（</a:t>
            </a:r>
            <a:r>
              <a:rPr lang="en-US" altLang="zh-CN" sz="2000" b="1" dirty="0">
                <a:solidFill>
                  <a:srgbClr val="009900"/>
                </a:solidFill>
                <a:latin typeface="楷体_GB2312" pitchFamily="49" charset="-122"/>
                <a:ea typeface="楷体_GB2312" pitchFamily="49" charset="-122"/>
              </a:rPr>
              <a:t>2</a:t>
            </a:r>
            <a:r>
              <a:rPr lang="zh-CN" altLang="en-US" sz="2000" b="1" dirty="0">
                <a:solidFill>
                  <a:srgbClr val="009900"/>
                </a:solidFill>
                <a:latin typeface="楷体_GB2312" pitchFamily="49" charset="-122"/>
                <a:ea typeface="楷体_GB2312" pitchFamily="49" charset="-122"/>
              </a:rPr>
              <a:t>）分模造型</a:t>
            </a:r>
            <a:r>
              <a:rPr lang="zh-CN" altLang="en-US" sz="2000" b="1" dirty="0"/>
              <a:t>  </a:t>
            </a:r>
            <a:r>
              <a:rPr lang="zh-CN" altLang="en-US" sz="2000" b="1" dirty="0">
                <a:latin typeface="楷体_GB2312" pitchFamily="49" charset="-122"/>
                <a:ea typeface="楷体_GB2312" pitchFamily="49" charset="-122"/>
              </a:rPr>
              <a:t>模样是分开的，模样的分开面（称为分型面）必须是模样的最大截面，以利于起模。分模造型过程与整模造型基本相似，不同的是造上型时增加放上模样和取上半模样两个操作。</a:t>
            </a:r>
            <a:r>
              <a:rPr lang="zh-CN" altLang="en-US" sz="2000" b="1" dirty="0">
                <a:solidFill>
                  <a:srgbClr val="000099"/>
                </a:solidFill>
                <a:latin typeface="楷体_GB2312" pitchFamily="49" charset="-122"/>
                <a:ea typeface="楷体_GB2312" pitchFamily="49" charset="-122"/>
              </a:rPr>
              <a:t>分模造型适用于形状复杂的铸件，如套筒、管子和阀体等。</a:t>
            </a:r>
            <a:r>
              <a:rPr lang="zh-CN" altLang="en-US" sz="2800" b="1" dirty="0">
                <a:latin typeface="楷体_GB2312" pitchFamily="49" charset="-122"/>
                <a:ea typeface="楷体_GB2312" pitchFamily="49" charset="-122"/>
              </a:rPr>
              <a:t>  </a:t>
            </a:r>
            <a:endParaRPr lang="zh-CN" altLang="en-US" sz="2800" b="1" dirty="0">
              <a:solidFill>
                <a:srgbClr val="000099"/>
              </a:solidFill>
              <a:latin typeface="楷体_GB2312" pitchFamily="49" charset="-122"/>
              <a:ea typeface="楷体_GB2312" pitchFamily="49" charset="-122"/>
            </a:endParaRPr>
          </a:p>
          <a:p>
            <a:pPr lvl="2" eaLnBrk="1" hangingPunct="1"/>
            <a:endParaRPr lang="en-US" altLang="zh-CN" sz="2400" b="1" dirty="0">
              <a:latin typeface="楷体_GB2312" pitchFamily="49" charset="-122"/>
              <a:ea typeface="楷体_GB2312" pitchFamily="49" charset="-122"/>
            </a:endParaRPr>
          </a:p>
        </p:txBody>
      </p:sp>
      <p:grpSp>
        <p:nvGrpSpPr>
          <p:cNvPr id="81924" name="Group 11"/>
          <p:cNvGrpSpPr/>
          <p:nvPr/>
        </p:nvGrpSpPr>
        <p:grpSpPr>
          <a:xfrm>
            <a:off x="1187450" y="2619375"/>
            <a:ext cx="6650990" cy="4309858"/>
            <a:chOff x="0" y="0"/>
            <a:chExt cx="3374" cy="1990"/>
          </a:xfrm>
        </p:grpSpPr>
        <p:grpSp>
          <p:nvGrpSpPr>
            <p:cNvPr id="81925" name="Group 9"/>
            <p:cNvGrpSpPr/>
            <p:nvPr/>
          </p:nvGrpSpPr>
          <p:grpSpPr>
            <a:xfrm>
              <a:off x="0" y="0"/>
              <a:ext cx="3235" cy="1990"/>
              <a:chOff x="0" y="0"/>
              <a:chExt cx="3235" cy="1990"/>
            </a:xfrm>
          </p:grpSpPr>
          <p:pic>
            <p:nvPicPr>
              <p:cNvPr id="81927" name="Picture 7" descr="1"/>
              <p:cNvPicPr>
                <a:picLocks noChangeAspect="1"/>
              </p:cNvPicPr>
              <p:nvPr/>
            </p:nvPicPr>
            <p:blipFill>
              <a:blip r:embed="rId1"/>
              <a:stretch>
                <a:fillRect/>
              </a:stretch>
            </p:blipFill>
            <p:spPr>
              <a:xfrm>
                <a:off x="0" y="0"/>
                <a:ext cx="3235" cy="1899"/>
              </a:xfrm>
              <a:prstGeom prst="rect">
                <a:avLst/>
              </a:prstGeom>
              <a:noFill/>
              <a:ln w="9525">
                <a:noFill/>
              </a:ln>
            </p:spPr>
          </p:pic>
          <p:sp>
            <p:nvSpPr>
              <p:cNvPr id="81928" name="Rectangle 8"/>
              <p:cNvSpPr/>
              <p:nvPr/>
            </p:nvSpPr>
            <p:spPr>
              <a:xfrm>
                <a:off x="1105" y="1848"/>
                <a:ext cx="1236" cy="142"/>
              </a:xfrm>
              <a:prstGeom prst="rect">
                <a:avLst/>
              </a:prstGeom>
              <a:noFill/>
              <a:ln w="9525">
                <a:noFill/>
              </a:ln>
            </p:spPr>
            <p:txBody>
              <a:bodyPr wrap="squar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400" b="1" dirty="0">
                    <a:latin typeface="楷体_GB2312" pitchFamily="49" charset="-122"/>
                    <a:ea typeface="楷体_GB2312" pitchFamily="49" charset="-122"/>
                  </a:rPr>
                  <a:t>图  套筒分模造型过程</a:t>
                </a:r>
                <a:endParaRPr lang="zh-CN" altLang="zh-CN" sz="1400" b="1" dirty="0">
                  <a:latin typeface="楷体_GB2312" pitchFamily="49" charset="-122"/>
                  <a:ea typeface="楷体_GB2312" pitchFamily="49" charset="-122"/>
                </a:endParaRPr>
              </a:p>
            </p:txBody>
          </p:sp>
        </p:grpSp>
        <p:sp>
          <p:nvSpPr>
            <p:cNvPr id="81926" name="Rectangle 10"/>
            <p:cNvSpPr/>
            <p:nvPr/>
          </p:nvSpPr>
          <p:spPr>
            <a:xfrm>
              <a:off x="178" y="1104"/>
              <a:ext cx="3196" cy="639"/>
            </a:xfrm>
            <a:prstGeom prst="rect">
              <a:avLst/>
            </a:prstGeom>
            <a:noFill/>
            <a:ln w="9525">
              <a:noFill/>
            </a:ln>
          </p:spPr>
          <p:txBody>
            <a:bodyPr wrap="squar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342900" algn="ctr" eaLnBrk="1" hangingPunct="1">
                <a:spcBef>
                  <a:spcPct val="0"/>
                </a:spcBef>
                <a:buClrTx/>
                <a:buSzTx/>
                <a:buNone/>
              </a:pPr>
              <a:r>
                <a:rPr lang="en-US" altLang="zh-CN" sz="1400" b="1" dirty="0">
                  <a:latin typeface="楷体_GB2312" pitchFamily="49" charset="-122"/>
                  <a:ea typeface="楷体_GB2312" pitchFamily="49" charset="-122"/>
                </a:rPr>
                <a:t>(a)</a:t>
              </a:r>
              <a:r>
                <a:rPr lang="zh-CN" altLang="en-US" sz="1400" b="1" dirty="0">
                  <a:latin typeface="楷体_GB2312" pitchFamily="49" charset="-122"/>
                  <a:ea typeface="楷体_GB2312" pitchFamily="49" charset="-122"/>
                </a:rPr>
                <a:t>造下型            </a:t>
              </a:r>
              <a:r>
                <a:rPr lang="en-US" altLang="zh-CN" sz="1400" b="1" dirty="0">
                  <a:latin typeface="楷体_GB2312" pitchFamily="49" charset="-122"/>
                  <a:ea typeface="楷体_GB2312" pitchFamily="49" charset="-122"/>
                </a:rPr>
                <a:t>(b)</a:t>
              </a:r>
              <a:r>
                <a:rPr lang="zh-CN" altLang="en-US" sz="1400" b="1" dirty="0">
                  <a:latin typeface="楷体_GB2312" pitchFamily="49" charset="-122"/>
                  <a:ea typeface="楷体_GB2312" pitchFamily="49" charset="-122"/>
                </a:rPr>
                <a:t>造上型          </a:t>
              </a:r>
              <a:r>
                <a:rPr lang="en-US" altLang="zh-CN" sz="1400" b="1" dirty="0">
                  <a:latin typeface="楷体_GB2312" pitchFamily="49" charset="-122"/>
                  <a:ea typeface="楷体_GB2312" pitchFamily="49" charset="-122"/>
                </a:rPr>
                <a:t>(c)</a:t>
              </a:r>
              <a:r>
                <a:rPr lang="zh-CN" altLang="en-US" sz="1400" b="1" dirty="0">
                  <a:latin typeface="楷体_GB2312" pitchFamily="49" charset="-122"/>
                  <a:ea typeface="楷体_GB2312" pitchFamily="49" charset="-122"/>
                </a:rPr>
                <a:t>开箱、起模  </a:t>
              </a: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r>
                <a:rPr lang="en-US" altLang="zh-CN" sz="1400" b="1" dirty="0">
                  <a:latin typeface="楷体_GB2312" pitchFamily="49" charset="-122"/>
                  <a:ea typeface="楷体_GB2312" pitchFamily="49" charset="-122"/>
                </a:rPr>
                <a:t>(d)</a:t>
              </a:r>
              <a:r>
                <a:rPr lang="zh-CN" altLang="en-US" sz="1400" b="1" dirty="0">
                  <a:latin typeface="楷体_GB2312" pitchFamily="49" charset="-122"/>
                  <a:ea typeface="楷体_GB2312" pitchFamily="49" charset="-122"/>
                </a:rPr>
                <a:t>开浇口、下芯      </a:t>
              </a:r>
              <a:r>
                <a:rPr lang="en-US" altLang="zh-CN" sz="1400" b="1" dirty="0">
                  <a:latin typeface="楷体_GB2312" pitchFamily="49" charset="-122"/>
                  <a:ea typeface="楷体_GB2312" pitchFamily="49" charset="-122"/>
                </a:rPr>
                <a:t>(e)</a:t>
              </a:r>
              <a:r>
                <a:rPr lang="zh-CN" altLang="en-US" sz="1400" b="1" dirty="0">
                  <a:latin typeface="楷体_GB2312" pitchFamily="49" charset="-122"/>
                  <a:ea typeface="楷体_GB2312" pitchFamily="49" charset="-122"/>
                </a:rPr>
                <a:t>合型           </a:t>
              </a:r>
              <a:r>
                <a:rPr lang="en-US" altLang="zh-CN" sz="1400" b="1" dirty="0">
                  <a:latin typeface="楷体_GB2312" pitchFamily="49" charset="-122"/>
                  <a:ea typeface="楷体_GB2312" pitchFamily="49" charset="-122"/>
                </a:rPr>
                <a:t>(f)</a:t>
              </a:r>
              <a:r>
                <a:rPr lang="zh-CN" altLang="en-US" sz="1400" b="1" dirty="0">
                  <a:latin typeface="楷体_GB2312" pitchFamily="49" charset="-122"/>
                  <a:ea typeface="楷体_GB2312" pitchFamily="49" charset="-122"/>
                </a:rPr>
                <a:t>带浇口的铸件</a:t>
              </a:r>
              <a:endParaRPr lang="zh-CN" altLang="en-US" sz="1400" b="1" dirty="0">
                <a:latin typeface="楷体_GB2312" pitchFamily="49" charset="-122"/>
                <a:ea typeface="楷体_GB2312" pitchFamily="49" charset="-122"/>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en-US" sz="4000" b="1" dirty="0">
                <a:solidFill>
                  <a:srgbClr val="F9275E"/>
                </a:solidFill>
                <a:latin typeface="楷体_GB2312" pitchFamily="49" charset="-122"/>
                <a:ea typeface="楷体_GB2312" pitchFamily="49" charset="-122"/>
              </a:rPr>
              <a:t>手工造型 </a:t>
            </a:r>
            <a:endParaRPr lang="zh-CN" altLang="zh-CN" sz="4000" b="1" dirty="0">
              <a:ea typeface="楷体_GB2312" pitchFamily="49" charset="-122"/>
            </a:endParaRPr>
          </a:p>
        </p:txBody>
      </p:sp>
      <p:sp>
        <p:nvSpPr>
          <p:cNvPr id="82947" name="Rectangle 3"/>
          <p:cNvSpPr>
            <a:spLocks noGrp="1"/>
          </p:cNvSpPr>
          <p:nvPr>
            <p:ph type="body" sz="half"/>
          </p:nvPr>
        </p:nvSpPr>
        <p:spPr>
          <a:xfrm>
            <a:off x="576263" y="1557338"/>
            <a:ext cx="8243887" cy="215900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buClr>
                <a:srgbClr val="FF6600"/>
              </a:buClr>
              <a:buNone/>
            </a:pPr>
            <a:r>
              <a:rPr lang="en-US" altLang="zh-CN" sz="2000" b="1" dirty="0">
                <a:solidFill>
                  <a:srgbClr val="009900"/>
                </a:solidFill>
                <a:latin typeface="楷体_GB2312" pitchFamily="49" charset="-122"/>
                <a:ea typeface="楷体_GB2312" pitchFamily="49" charset="-122"/>
              </a:rPr>
              <a:t>(3)</a:t>
            </a:r>
            <a:r>
              <a:rPr lang="zh-CN" altLang="en-US" sz="2000" b="1" dirty="0">
                <a:solidFill>
                  <a:srgbClr val="009900"/>
                </a:solidFill>
                <a:latin typeface="楷体_GB2312" pitchFamily="49" charset="-122"/>
                <a:ea typeface="楷体_GB2312" pitchFamily="49" charset="-122"/>
              </a:rPr>
              <a:t>活块模造型</a:t>
            </a:r>
            <a:r>
              <a:rPr lang="zh-CN" altLang="en-US" b="1" dirty="0"/>
              <a:t>  </a:t>
            </a:r>
            <a:r>
              <a:rPr lang="zh-CN" altLang="en-US" sz="2000" b="1" dirty="0">
                <a:latin typeface="楷体_GB2312" pitchFamily="49" charset="-122"/>
                <a:ea typeface="楷体_GB2312" pitchFamily="49" charset="-122"/>
              </a:rPr>
              <a:t>模样上可拆卸或能活动的部分叫活块。当模样上有妨碍起模的侧面伸出部分</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如小凸台</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时，常将该部分做成活块。起模时，先将模样主体取出，再将留在铸型内的活块单独取出。</a:t>
            </a:r>
            <a:r>
              <a:rPr lang="zh-CN" altLang="en-US" sz="2000" b="1" dirty="0">
                <a:solidFill>
                  <a:srgbClr val="FF3300"/>
                </a:solidFill>
                <a:latin typeface="楷体_GB2312" pitchFamily="49" charset="-122"/>
                <a:ea typeface="楷体_GB2312" pitchFamily="49" charset="-122"/>
              </a:rPr>
              <a:t>用钉子连接的活块模造型时，应注意先将活块四周的型砂塞紧，然后拔出钉子。</a:t>
            </a:r>
            <a:endParaRPr lang="zh-CN" altLang="en-US" sz="2800" b="1" dirty="0">
              <a:solidFill>
                <a:srgbClr val="FF3300"/>
              </a:solidFill>
              <a:latin typeface="楷体_GB2312" pitchFamily="49" charset="-122"/>
              <a:ea typeface="楷体_GB2312" pitchFamily="49" charset="-122"/>
            </a:endParaRPr>
          </a:p>
          <a:p>
            <a:pPr lvl="2" eaLnBrk="1" hangingPunct="1"/>
            <a:endParaRPr lang="en-US" altLang="zh-CN" sz="2400" b="1" dirty="0">
              <a:latin typeface="楷体_GB2312" pitchFamily="49" charset="-122"/>
              <a:ea typeface="楷体_GB2312" pitchFamily="49" charset="-122"/>
            </a:endParaRPr>
          </a:p>
        </p:txBody>
      </p:sp>
      <p:grpSp>
        <p:nvGrpSpPr>
          <p:cNvPr id="82948" name="Group 10"/>
          <p:cNvGrpSpPr/>
          <p:nvPr/>
        </p:nvGrpSpPr>
        <p:grpSpPr>
          <a:xfrm>
            <a:off x="1152843" y="2924810"/>
            <a:ext cx="6697662" cy="3933114"/>
            <a:chOff x="0" y="0"/>
            <a:chExt cx="3422" cy="2024"/>
          </a:xfrm>
        </p:grpSpPr>
        <p:pic>
          <p:nvPicPr>
            <p:cNvPr id="82949" name="Picture 7" descr="1"/>
            <p:cNvPicPr>
              <a:picLocks noChangeAspect="1"/>
            </p:cNvPicPr>
            <p:nvPr/>
          </p:nvPicPr>
          <p:blipFill>
            <a:blip r:embed="rId1"/>
            <a:stretch>
              <a:fillRect/>
            </a:stretch>
          </p:blipFill>
          <p:spPr>
            <a:xfrm>
              <a:off x="349" y="0"/>
              <a:ext cx="3073" cy="1575"/>
            </a:xfrm>
            <a:prstGeom prst="rect">
              <a:avLst/>
            </a:prstGeom>
            <a:noFill/>
            <a:ln w="9525">
              <a:noFill/>
            </a:ln>
          </p:spPr>
        </p:pic>
        <p:sp>
          <p:nvSpPr>
            <p:cNvPr id="82950" name="Rectangle 8"/>
            <p:cNvSpPr/>
            <p:nvPr/>
          </p:nvSpPr>
          <p:spPr>
            <a:xfrm>
              <a:off x="1440" y="1812"/>
              <a:ext cx="891" cy="21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zh-CN" sz="1600" b="1" dirty="0">
                  <a:latin typeface="楷体_GB2312" pitchFamily="49" charset="-122"/>
                  <a:ea typeface="楷体_GB2312" pitchFamily="49" charset="-122"/>
                </a:rPr>
                <a:t>图  活块造型</a:t>
              </a:r>
              <a:endParaRPr lang="zh-CN" altLang="zh-CN" sz="1600" b="1" dirty="0">
                <a:latin typeface="楷体_GB2312" pitchFamily="49" charset="-122"/>
                <a:ea typeface="楷体_GB2312" pitchFamily="49" charset="-122"/>
              </a:endParaRPr>
            </a:p>
          </p:txBody>
        </p:sp>
        <p:sp>
          <p:nvSpPr>
            <p:cNvPr id="82951" name="Rectangle 9"/>
            <p:cNvSpPr/>
            <p:nvPr/>
          </p:nvSpPr>
          <p:spPr>
            <a:xfrm>
              <a:off x="0" y="583"/>
              <a:ext cx="3308" cy="1264"/>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457200" algn="ctr" eaLnBrk="1" hangingPunct="1">
                <a:spcBef>
                  <a:spcPct val="0"/>
                </a:spcBef>
                <a:buClrTx/>
                <a:buSzTx/>
                <a:buNone/>
              </a:pPr>
              <a:r>
                <a:rPr lang="zh-CN" altLang="en-US" sz="1400" b="1" dirty="0">
                  <a:latin typeface="楷体_GB2312" pitchFamily="49" charset="-122"/>
                  <a:ea typeface="楷体_GB2312" pitchFamily="49" charset="-122"/>
                </a:rPr>
                <a:t>零件图        铸件             模样</a:t>
              </a: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r>
                <a:rPr lang="zh-CN" altLang="en-US" sz="1400" b="1" dirty="0">
                  <a:latin typeface="楷体_GB2312" pitchFamily="49" charset="-122"/>
                  <a:ea typeface="楷体_GB2312" pitchFamily="49" charset="-122"/>
                </a:rPr>
                <a:t>   </a:t>
              </a:r>
              <a:r>
                <a:rPr lang="en-US" altLang="zh-CN" sz="1400" b="1" dirty="0">
                  <a:latin typeface="楷体_GB2312" pitchFamily="49" charset="-122"/>
                  <a:ea typeface="楷体_GB2312" pitchFamily="49" charset="-122"/>
                </a:rPr>
                <a:t>(a)</a:t>
              </a:r>
              <a:r>
                <a:rPr lang="zh-CN" altLang="en-US" sz="1400" b="1" dirty="0">
                  <a:latin typeface="楷体_GB2312" pitchFamily="49" charset="-122"/>
                  <a:ea typeface="楷体_GB2312" pitchFamily="49" charset="-122"/>
                </a:rPr>
                <a:t>造下型、拔出钉子    </a:t>
              </a:r>
              <a:r>
                <a:rPr lang="en-US" altLang="zh-CN" sz="1400" b="1" dirty="0">
                  <a:latin typeface="楷体_GB2312" pitchFamily="49" charset="-122"/>
                  <a:ea typeface="楷体_GB2312" pitchFamily="49" charset="-122"/>
                </a:rPr>
                <a:t>(b)</a:t>
              </a:r>
              <a:r>
                <a:rPr lang="zh-CN" altLang="en-US" sz="1400" b="1" dirty="0">
                  <a:latin typeface="楷体_GB2312" pitchFamily="49" charset="-122"/>
                  <a:ea typeface="楷体_GB2312" pitchFamily="49" charset="-122"/>
                </a:rPr>
                <a:t>取出模样主体     </a:t>
              </a:r>
              <a:r>
                <a:rPr lang="en-US" altLang="zh-CN" sz="1400" b="1" dirty="0">
                  <a:latin typeface="楷体_GB2312" pitchFamily="49" charset="-122"/>
                  <a:ea typeface="楷体_GB2312" pitchFamily="49" charset="-122"/>
                </a:rPr>
                <a:t>(c)</a:t>
              </a:r>
              <a:r>
                <a:rPr lang="zh-CN" altLang="en-US" sz="1400" b="1" dirty="0">
                  <a:latin typeface="楷体_GB2312" pitchFamily="49" charset="-122"/>
                  <a:ea typeface="楷体_GB2312" pitchFamily="49" charset="-122"/>
                </a:rPr>
                <a:t>取出活块</a:t>
              </a: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r>
                <a:rPr lang="en-US" altLang="zh-CN" sz="1400" b="1" dirty="0">
                  <a:latin typeface="楷体_GB2312" pitchFamily="49" charset="-122"/>
                  <a:ea typeface="楷体_GB2312" pitchFamily="49" charset="-122"/>
                </a:rPr>
                <a:t>1-</a:t>
              </a:r>
              <a:r>
                <a:rPr lang="zh-CN" altLang="en-US" sz="1400" b="1" dirty="0">
                  <a:latin typeface="楷体_GB2312" pitchFamily="49" charset="-122"/>
                  <a:ea typeface="楷体_GB2312" pitchFamily="49" charset="-122"/>
                </a:rPr>
                <a:t>用钉子连接活块  </a:t>
              </a:r>
              <a:r>
                <a:rPr lang="en-US" altLang="zh-CN" sz="1400" b="1" dirty="0">
                  <a:latin typeface="楷体_GB2312" pitchFamily="49" charset="-122"/>
                  <a:ea typeface="楷体_GB2312" pitchFamily="49" charset="-122"/>
                </a:rPr>
                <a:t>2-</a:t>
              </a:r>
              <a:r>
                <a:rPr lang="zh-CN" altLang="en-US" sz="1400" b="1" dirty="0">
                  <a:latin typeface="楷体_GB2312" pitchFamily="49" charset="-122"/>
                  <a:ea typeface="楷体_GB2312" pitchFamily="49" charset="-122"/>
                </a:rPr>
                <a:t>用燕尾连接活块</a:t>
              </a:r>
              <a:endParaRPr lang="zh-CN" altLang="en-US" sz="1400" b="1" dirty="0">
                <a:latin typeface="楷体_GB2312" pitchFamily="49" charset="-122"/>
                <a:ea typeface="楷体_GB2312" pitchFamily="49" charset="-122"/>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en-US" sz="4000" b="1" dirty="0">
                <a:solidFill>
                  <a:srgbClr val="F9275E"/>
                </a:solidFill>
                <a:latin typeface="楷体_GB2312" pitchFamily="49" charset="-122"/>
                <a:ea typeface="楷体_GB2312" pitchFamily="49" charset="-122"/>
              </a:rPr>
              <a:t>手工造型 </a:t>
            </a:r>
            <a:endParaRPr lang="zh-CN" altLang="zh-CN" sz="4000" b="1" dirty="0">
              <a:ea typeface="楷体_GB2312" pitchFamily="49" charset="-122"/>
            </a:endParaRPr>
          </a:p>
        </p:txBody>
      </p:sp>
      <p:sp>
        <p:nvSpPr>
          <p:cNvPr id="83971" name="Rectangle 3"/>
          <p:cNvSpPr>
            <a:spLocks noGrp="1"/>
          </p:cNvSpPr>
          <p:nvPr>
            <p:ph type="body" sz="half"/>
          </p:nvPr>
        </p:nvSpPr>
        <p:spPr>
          <a:xfrm>
            <a:off x="576263" y="1557338"/>
            <a:ext cx="8243887" cy="215900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buClr>
                <a:srgbClr val="FF6600"/>
              </a:buClr>
              <a:buNone/>
            </a:pPr>
            <a:r>
              <a:rPr lang="en-US" altLang="zh-CN" sz="2000" b="1" dirty="0">
                <a:solidFill>
                  <a:srgbClr val="009900"/>
                </a:solidFill>
                <a:latin typeface="楷体_GB2312" pitchFamily="49" charset="-122"/>
                <a:ea typeface="楷体_GB2312" pitchFamily="49" charset="-122"/>
              </a:rPr>
              <a:t>(4)</a:t>
            </a:r>
            <a:r>
              <a:rPr lang="zh-CN" altLang="en-US" sz="2000" b="1" dirty="0">
                <a:solidFill>
                  <a:srgbClr val="009900"/>
                </a:solidFill>
                <a:latin typeface="楷体_GB2312" pitchFamily="49" charset="-122"/>
                <a:ea typeface="楷体_GB2312" pitchFamily="49" charset="-122"/>
              </a:rPr>
              <a:t>挖砂造型</a:t>
            </a:r>
            <a:r>
              <a:rPr lang="zh-CN" altLang="en-US" b="1" dirty="0"/>
              <a:t>  </a:t>
            </a:r>
            <a:r>
              <a:rPr lang="zh-CN" altLang="en-US" sz="2000" b="1" dirty="0">
                <a:latin typeface="楷体_GB2312" pitchFamily="49" charset="-122"/>
                <a:ea typeface="楷体_GB2312" pitchFamily="49" charset="-122"/>
              </a:rPr>
              <a:t>当铸件按结构特点需要采用分模造型，但由于条件限制</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如模样太薄，制模困难</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仍做成整模时，为便于起模，下型分型面需挖成曲面或有高低变化的阶梯形状</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称不平分型面</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 。</a:t>
            </a:r>
            <a:endParaRPr lang="en-US" altLang="zh-CN" sz="2400" b="1" dirty="0">
              <a:latin typeface="楷体_GB2312" pitchFamily="49" charset="-122"/>
              <a:ea typeface="楷体_GB2312" pitchFamily="49" charset="-122"/>
            </a:endParaRPr>
          </a:p>
        </p:txBody>
      </p:sp>
      <p:grpSp>
        <p:nvGrpSpPr>
          <p:cNvPr id="83972" name="Group 10"/>
          <p:cNvGrpSpPr/>
          <p:nvPr/>
        </p:nvGrpSpPr>
        <p:grpSpPr>
          <a:xfrm>
            <a:off x="1547813" y="2852738"/>
            <a:ext cx="6337300" cy="4176712"/>
            <a:chOff x="0" y="0"/>
            <a:chExt cx="3231" cy="1905"/>
          </a:xfrm>
        </p:grpSpPr>
        <p:pic>
          <p:nvPicPr>
            <p:cNvPr id="83973" name="Picture 8" descr="2"/>
            <p:cNvPicPr>
              <a:picLocks noChangeAspect="1"/>
            </p:cNvPicPr>
            <p:nvPr/>
          </p:nvPicPr>
          <p:blipFill>
            <a:blip r:embed="rId1"/>
            <a:stretch>
              <a:fillRect/>
            </a:stretch>
          </p:blipFill>
          <p:spPr>
            <a:xfrm>
              <a:off x="0" y="0"/>
              <a:ext cx="3137" cy="1651"/>
            </a:xfrm>
            <a:prstGeom prst="rect">
              <a:avLst/>
            </a:prstGeom>
            <a:noFill/>
            <a:ln w="9525">
              <a:noFill/>
            </a:ln>
          </p:spPr>
        </p:pic>
        <p:sp>
          <p:nvSpPr>
            <p:cNvPr id="83974" name="Rectangle 9"/>
            <p:cNvSpPr/>
            <p:nvPr/>
          </p:nvSpPr>
          <p:spPr>
            <a:xfrm>
              <a:off x="35" y="641"/>
              <a:ext cx="3196" cy="1264"/>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342900" algn="ctr" eaLnBrk="1" hangingPunct="1">
                <a:spcBef>
                  <a:spcPct val="0"/>
                </a:spcBef>
                <a:buClrTx/>
                <a:buSzTx/>
                <a:buNone/>
              </a:pPr>
              <a:r>
                <a:rPr lang="en-US" altLang="zh-CN" sz="1400" b="1" dirty="0">
                  <a:latin typeface="楷体_GB2312" pitchFamily="49" charset="-122"/>
                  <a:ea typeface="楷体_GB2312" pitchFamily="49" charset="-122"/>
                </a:rPr>
                <a:t> </a:t>
              </a:r>
              <a:r>
                <a:rPr lang="zh-CN" altLang="en-US" sz="1400" b="1" dirty="0">
                  <a:latin typeface="楷体_GB2312" pitchFamily="49" charset="-122"/>
                  <a:ea typeface="楷体_GB2312" pitchFamily="49" charset="-122"/>
                </a:rPr>
                <a:t>零件图         </a:t>
              </a:r>
              <a:r>
                <a:rPr lang="en-US" altLang="zh-CN" sz="1400" b="1" dirty="0">
                  <a:latin typeface="楷体_GB2312" pitchFamily="49" charset="-122"/>
                  <a:ea typeface="楷体_GB2312" pitchFamily="49" charset="-122"/>
                </a:rPr>
                <a:t>(a)</a:t>
              </a:r>
              <a:r>
                <a:rPr lang="zh-CN" altLang="en-US" sz="1400" b="1" dirty="0">
                  <a:latin typeface="楷体_GB2312" pitchFamily="49" charset="-122"/>
                  <a:ea typeface="楷体_GB2312" pitchFamily="49" charset="-122"/>
                </a:rPr>
                <a:t>造下型       </a:t>
              </a:r>
              <a:r>
                <a:rPr lang="en-US" altLang="zh-CN" sz="1400" b="1" dirty="0">
                  <a:latin typeface="楷体_GB2312" pitchFamily="49" charset="-122"/>
                  <a:ea typeface="楷体_GB2312" pitchFamily="49" charset="-122"/>
                </a:rPr>
                <a:t>(b)</a:t>
              </a:r>
              <a:r>
                <a:rPr lang="zh-CN" altLang="en-US" sz="1400" b="1" dirty="0">
                  <a:latin typeface="楷体_GB2312" pitchFamily="49" charset="-122"/>
                  <a:ea typeface="楷体_GB2312" pitchFamily="49" charset="-122"/>
                </a:rPr>
                <a:t>翻下型、挖修分型面</a:t>
              </a: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r>
                <a:rPr lang="en-US" altLang="zh-CN" sz="1400" b="1" dirty="0">
                  <a:latin typeface="楷体_GB2312" pitchFamily="49" charset="-122"/>
                  <a:ea typeface="楷体_GB2312" pitchFamily="49" charset="-122"/>
                </a:rPr>
                <a:t>(c)</a:t>
              </a:r>
              <a:r>
                <a:rPr lang="zh-CN" altLang="en-US" sz="1400" b="1" dirty="0">
                  <a:latin typeface="楷体_GB2312" pitchFamily="49" charset="-122"/>
                  <a:ea typeface="楷体_GB2312" pitchFamily="49" charset="-122"/>
                </a:rPr>
                <a:t>造上型、敞箱、起模   </a:t>
              </a:r>
              <a:r>
                <a:rPr lang="en-US" altLang="zh-CN" sz="1400" b="1" dirty="0">
                  <a:latin typeface="楷体_GB2312" pitchFamily="49" charset="-122"/>
                  <a:ea typeface="楷体_GB2312" pitchFamily="49" charset="-122"/>
                </a:rPr>
                <a:t>(d)</a:t>
              </a:r>
              <a:r>
                <a:rPr lang="zh-CN" altLang="en-US" sz="1400" b="1" dirty="0">
                  <a:latin typeface="楷体_GB2312" pitchFamily="49" charset="-122"/>
                  <a:ea typeface="楷体_GB2312" pitchFamily="49" charset="-122"/>
                </a:rPr>
                <a:t>合箱         </a:t>
              </a:r>
              <a:r>
                <a:rPr lang="en-US" altLang="zh-CN" sz="1400" b="1" dirty="0">
                  <a:latin typeface="楷体_GB2312" pitchFamily="49" charset="-122"/>
                  <a:ea typeface="楷体_GB2312" pitchFamily="49" charset="-122"/>
                </a:rPr>
                <a:t>(e)</a:t>
              </a:r>
              <a:r>
                <a:rPr lang="zh-CN" altLang="en-US" sz="1400" b="1" dirty="0">
                  <a:latin typeface="楷体_GB2312" pitchFamily="49" charset="-122"/>
                  <a:ea typeface="楷体_GB2312" pitchFamily="49" charset="-122"/>
                </a:rPr>
                <a:t>带浇口的铸件</a:t>
              </a: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r>
                <a:rPr lang="zh-CN" altLang="en-US" sz="1400" b="1" dirty="0">
                  <a:latin typeface="楷体_GB2312" pitchFamily="49" charset="-122"/>
                  <a:ea typeface="楷体_GB2312" pitchFamily="49" charset="-122"/>
                </a:rPr>
                <a:t>图  手轮的挖砂造型过程</a:t>
              </a:r>
              <a:endParaRPr lang="zh-CN" altLang="en-US" sz="1400" b="1" dirty="0">
                <a:latin typeface="楷体_GB2312" pitchFamily="49" charset="-122"/>
                <a:ea typeface="楷体_GB2312" pitchFamily="49" charset="-122"/>
              </a:endParaRP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0118" name="图片 8"/>
          <p:cNvPicPr>
            <a:picLocks noChangeAspect="1"/>
          </p:cNvPicPr>
          <p:nvPr/>
        </p:nvPicPr>
        <p:blipFill>
          <a:blip r:embed="rId1"/>
          <a:stretch>
            <a:fillRect/>
          </a:stretch>
        </p:blipFill>
        <p:spPr>
          <a:xfrm>
            <a:off x="1810385" y="1844675"/>
            <a:ext cx="5522595" cy="4488815"/>
          </a:xfrm>
          <a:prstGeom prst="rect">
            <a:avLst/>
          </a:prstGeom>
          <a:noFill/>
          <a:ln w="9525">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en-US" sz="4000" b="1" dirty="0">
                <a:solidFill>
                  <a:srgbClr val="F9275E"/>
                </a:solidFill>
                <a:latin typeface="楷体_GB2312" pitchFamily="49" charset="-122"/>
                <a:ea typeface="楷体_GB2312" pitchFamily="49" charset="-122"/>
              </a:rPr>
              <a:t>手工造型 </a:t>
            </a:r>
            <a:endParaRPr lang="zh-CN" altLang="zh-CN" sz="4000" b="1" dirty="0">
              <a:ea typeface="楷体_GB2312" pitchFamily="49" charset="-122"/>
            </a:endParaRPr>
          </a:p>
        </p:txBody>
      </p:sp>
      <p:sp>
        <p:nvSpPr>
          <p:cNvPr id="91139" name="Rectangle 3"/>
          <p:cNvSpPr>
            <a:spLocks noGrp="1"/>
          </p:cNvSpPr>
          <p:nvPr>
            <p:ph type="body" sz="half"/>
          </p:nvPr>
        </p:nvSpPr>
        <p:spPr>
          <a:xfrm>
            <a:off x="576263" y="1557338"/>
            <a:ext cx="8243887" cy="215900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buClr>
                <a:srgbClr val="FF6600"/>
              </a:buClr>
              <a:buNone/>
            </a:pPr>
            <a:r>
              <a:rPr lang="en-US" altLang="zh-CN" sz="2000" b="1" dirty="0">
                <a:solidFill>
                  <a:srgbClr val="009900"/>
                </a:solidFill>
                <a:latin typeface="楷体_GB2312" pitchFamily="49" charset="-122"/>
                <a:ea typeface="楷体_GB2312" pitchFamily="49" charset="-122"/>
              </a:rPr>
              <a:t>(5)</a:t>
            </a:r>
            <a:r>
              <a:rPr lang="zh-CN" altLang="en-US" sz="2000" b="1" dirty="0">
                <a:solidFill>
                  <a:srgbClr val="009900"/>
                </a:solidFill>
                <a:latin typeface="楷体_GB2312" pitchFamily="49" charset="-122"/>
                <a:ea typeface="楷体_GB2312" pitchFamily="49" charset="-122"/>
              </a:rPr>
              <a:t>三箱造型</a:t>
            </a:r>
            <a:r>
              <a:rPr lang="zh-CN" altLang="en-US" b="1" dirty="0"/>
              <a:t>  </a:t>
            </a:r>
            <a:r>
              <a:rPr lang="zh-CN" altLang="en-US" sz="2000" b="1" dirty="0">
                <a:latin typeface="楷体_GB2312" pitchFamily="49" charset="-122"/>
                <a:ea typeface="楷体_GB2312" pitchFamily="49" charset="-122"/>
              </a:rPr>
              <a:t>有些铸件如两端截面尺寸大于中间截面时，需要用三个砂箱，从两个方向分别起模。</a:t>
            </a:r>
            <a:endParaRPr lang="en-US" altLang="zh-CN" sz="2400" b="1" dirty="0">
              <a:latin typeface="楷体_GB2312" pitchFamily="49" charset="-122"/>
              <a:ea typeface="楷体_GB2312" pitchFamily="49" charset="-122"/>
            </a:endParaRPr>
          </a:p>
        </p:txBody>
      </p:sp>
      <p:grpSp>
        <p:nvGrpSpPr>
          <p:cNvPr id="91140" name="Group 8"/>
          <p:cNvGrpSpPr/>
          <p:nvPr/>
        </p:nvGrpSpPr>
        <p:grpSpPr>
          <a:xfrm>
            <a:off x="353695" y="2272665"/>
            <a:ext cx="8339455" cy="4311650"/>
            <a:chOff x="0" y="0"/>
            <a:chExt cx="3420" cy="1756"/>
          </a:xfrm>
        </p:grpSpPr>
        <p:pic>
          <p:nvPicPr>
            <p:cNvPr id="91141" name="Picture 6" descr="3"/>
            <p:cNvPicPr>
              <a:picLocks noChangeAspect="1"/>
            </p:cNvPicPr>
            <p:nvPr/>
          </p:nvPicPr>
          <p:blipFill>
            <a:blip r:embed="rId1"/>
            <a:stretch>
              <a:fillRect/>
            </a:stretch>
          </p:blipFill>
          <p:spPr>
            <a:xfrm>
              <a:off x="45" y="0"/>
              <a:ext cx="3373" cy="1664"/>
            </a:xfrm>
            <a:prstGeom prst="rect">
              <a:avLst/>
            </a:prstGeom>
            <a:noFill/>
            <a:ln w="9525">
              <a:noFill/>
            </a:ln>
          </p:spPr>
        </p:pic>
        <p:sp>
          <p:nvSpPr>
            <p:cNvPr id="91142" name="Rectangle 7"/>
            <p:cNvSpPr/>
            <p:nvPr/>
          </p:nvSpPr>
          <p:spPr>
            <a:xfrm>
              <a:off x="0" y="754"/>
              <a:ext cx="3420" cy="1002"/>
            </a:xfrm>
            <a:prstGeom prst="rect">
              <a:avLst/>
            </a:prstGeom>
            <a:noFill/>
            <a:ln w="9525">
              <a:noFill/>
            </a:ln>
          </p:spPr>
          <p:txBody>
            <a:bodyPr wrap="squar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342900" algn="ctr" eaLnBrk="1" hangingPunct="1">
                <a:spcBef>
                  <a:spcPct val="0"/>
                </a:spcBef>
                <a:buClrTx/>
                <a:buSzTx/>
                <a:buNone/>
              </a:pPr>
              <a:r>
                <a:rPr lang="en-US" altLang="zh-CN" sz="1400" b="1" dirty="0">
                  <a:latin typeface="楷体_GB2312" pitchFamily="49" charset="-122"/>
                  <a:ea typeface="楷体_GB2312" pitchFamily="49" charset="-122"/>
                </a:rPr>
                <a:t>  </a:t>
              </a:r>
              <a:r>
                <a:rPr lang="zh-CN" altLang="en-US" sz="1400" b="1" dirty="0">
                  <a:latin typeface="楷体_GB2312" pitchFamily="49" charset="-122"/>
                  <a:ea typeface="楷体_GB2312" pitchFamily="49" charset="-122"/>
                </a:rPr>
                <a:t>铸件图      模样           </a:t>
              </a:r>
              <a:r>
                <a:rPr lang="en-US" altLang="zh-CN" sz="1400" b="1" dirty="0">
                  <a:latin typeface="楷体_GB2312" pitchFamily="49" charset="-122"/>
                  <a:ea typeface="楷体_GB2312" pitchFamily="49" charset="-122"/>
                </a:rPr>
                <a:t>(a)</a:t>
              </a:r>
              <a:r>
                <a:rPr lang="zh-CN" altLang="en-US" sz="1400" b="1" dirty="0">
                  <a:latin typeface="楷体_GB2312" pitchFamily="49" charset="-122"/>
                  <a:ea typeface="楷体_GB2312" pitchFamily="49" charset="-122"/>
                </a:rPr>
                <a:t>造下箱      </a:t>
              </a:r>
              <a:r>
                <a:rPr lang="en-US" altLang="zh-CN" sz="1400" b="1" dirty="0">
                  <a:latin typeface="楷体_GB2312" pitchFamily="49" charset="-122"/>
                  <a:ea typeface="楷体_GB2312" pitchFamily="49" charset="-122"/>
                </a:rPr>
                <a:t>(b)</a:t>
              </a:r>
              <a:r>
                <a:rPr lang="zh-CN" altLang="en-US" sz="1400" b="1" dirty="0">
                  <a:latin typeface="楷体_GB2312" pitchFamily="49" charset="-122"/>
                  <a:ea typeface="楷体_GB2312" pitchFamily="49" charset="-122"/>
                </a:rPr>
                <a:t>翻箱、造中箱</a:t>
              </a: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r>
                <a:rPr lang="zh-CN" altLang="en-US" sz="1400" b="1" dirty="0">
                  <a:latin typeface="楷体_GB2312" pitchFamily="49" charset="-122"/>
                  <a:ea typeface="楷体_GB2312" pitchFamily="49" charset="-122"/>
                </a:rPr>
                <a:t>  </a:t>
              </a:r>
              <a:r>
                <a:rPr lang="en-US" altLang="zh-CN" sz="1400" b="1" dirty="0">
                  <a:latin typeface="楷体_GB2312" pitchFamily="49" charset="-122"/>
                  <a:ea typeface="楷体_GB2312" pitchFamily="49" charset="-122"/>
                </a:rPr>
                <a:t>(c)</a:t>
              </a:r>
              <a:r>
                <a:rPr lang="zh-CN" altLang="en-US" sz="1400" b="1" dirty="0">
                  <a:latin typeface="楷体_GB2312" pitchFamily="49" charset="-122"/>
                  <a:ea typeface="楷体_GB2312" pitchFamily="49" charset="-122"/>
                </a:rPr>
                <a:t>造上箱               </a:t>
              </a:r>
              <a:r>
                <a:rPr lang="en-US" altLang="zh-CN" sz="1400" b="1" dirty="0">
                  <a:latin typeface="楷体_GB2312" pitchFamily="49" charset="-122"/>
                  <a:ea typeface="楷体_GB2312" pitchFamily="49" charset="-122"/>
                </a:rPr>
                <a:t>(d</a:t>
              </a:r>
              <a:r>
                <a:rPr lang="zh-CN" altLang="en-US" sz="1400" b="1" dirty="0">
                  <a:latin typeface="楷体_GB2312" pitchFamily="49" charset="-122"/>
                  <a:ea typeface="楷体_GB2312" pitchFamily="49" charset="-122"/>
                </a:rPr>
                <a:t>依次取箱         </a:t>
              </a:r>
              <a:r>
                <a:rPr lang="en-US" altLang="zh-CN" sz="1400" b="1" dirty="0">
                  <a:latin typeface="楷体_GB2312" pitchFamily="49" charset="-122"/>
                  <a:ea typeface="楷体_GB2312" pitchFamily="49" charset="-122"/>
                </a:rPr>
                <a:t>(e)</a:t>
              </a:r>
              <a:r>
                <a:rPr lang="zh-CN" altLang="en-US" sz="1400" b="1" dirty="0">
                  <a:latin typeface="楷体_GB2312" pitchFamily="49" charset="-122"/>
                  <a:ea typeface="楷体_GB2312" pitchFamily="49" charset="-122"/>
                </a:rPr>
                <a:t>下芯合型</a:t>
              </a: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342900" algn="ctr" eaLnBrk="1" hangingPunct="1">
                <a:spcBef>
                  <a:spcPct val="0"/>
                </a:spcBef>
                <a:buClrTx/>
                <a:buSzTx/>
                <a:buNone/>
              </a:pPr>
              <a:r>
                <a:rPr lang="zh-CN" altLang="en-US" sz="1400" b="1" dirty="0">
                  <a:latin typeface="楷体_GB2312" pitchFamily="49" charset="-122"/>
                  <a:ea typeface="楷体_GB2312" pitchFamily="49" charset="-122"/>
                </a:rPr>
                <a:t>图  带轮的三箱造型过程</a:t>
              </a:r>
              <a:endParaRPr lang="zh-CN" altLang="en-US" sz="1400" b="1" dirty="0">
                <a:latin typeface="楷体_GB2312" pitchFamily="49" charset="-122"/>
                <a:ea typeface="楷体_GB2312" pitchFamily="49" charset="-122"/>
              </a:endParaRPr>
            </a:p>
          </p:txBody>
        </p:sp>
      </p:gr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en-US" sz="4000" b="1" dirty="0">
                <a:solidFill>
                  <a:srgbClr val="F9275E"/>
                </a:solidFill>
                <a:latin typeface="楷体_GB2312" pitchFamily="49" charset="-122"/>
                <a:ea typeface="楷体_GB2312" pitchFamily="49" charset="-122"/>
              </a:rPr>
              <a:t>手工造型 </a:t>
            </a:r>
            <a:endParaRPr lang="zh-CN" altLang="zh-CN" sz="4000" b="1" dirty="0">
              <a:ea typeface="楷体_GB2312" pitchFamily="49" charset="-122"/>
            </a:endParaRPr>
          </a:p>
        </p:txBody>
      </p:sp>
      <p:sp>
        <p:nvSpPr>
          <p:cNvPr id="92163" name="Rectangle 3"/>
          <p:cNvSpPr>
            <a:spLocks noGrp="1"/>
          </p:cNvSpPr>
          <p:nvPr>
            <p:ph type="body" sz="half"/>
          </p:nvPr>
        </p:nvSpPr>
        <p:spPr>
          <a:xfrm>
            <a:off x="576263" y="1557338"/>
            <a:ext cx="8388350" cy="215900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buClr>
                <a:srgbClr val="FF6600"/>
              </a:buClr>
              <a:buNone/>
            </a:pPr>
            <a:r>
              <a:rPr lang="en-US" altLang="zh-CN" sz="2000" b="1" dirty="0">
                <a:solidFill>
                  <a:srgbClr val="009900"/>
                </a:solidFill>
                <a:latin typeface="楷体_GB2312" pitchFamily="49" charset="-122"/>
                <a:ea typeface="楷体_GB2312" pitchFamily="49" charset="-122"/>
              </a:rPr>
              <a:t>(6)</a:t>
            </a:r>
            <a:r>
              <a:rPr lang="zh-CN" altLang="en-US" sz="2000" b="1" dirty="0">
                <a:solidFill>
                  <a:srgbClr val="009900"/>
                </a:solidFill>
                <a:latin typeface="楷体_GB2312" pitchFamily="49" charset="-122"/>
                <a:ea typeface="楷体_GB2312" pitchFamily="49" charset="-122"/>
              </a:rPr>
              <a:t>刮板造型</a:t>
            </a:r>
            <a:r>
              <a:rPr lang="zh-CN" altLang="en-US" b="1" dirty="0"/>
              <a:t>  </a:t>
            </a:r>
            <a:r>
              <a:rPr lang="zh-CN" altLang="en-US" sz="2000" b="1" dirty="0">
                <a:latin typeface="楷体_GB2312" pitchFamily="49" charset="-122"/>
                <a:ea typeface="楷体_GB2312" pitchFamily="49" charset="-122"/>
              </a:rPr>
              <a:t>尺寸大于</a:t>
            </a:r>
            <a:r>
              <a:rPr lang="en-US" altLang="zh-CN" sz="2000" b="1" dirty="0">
                <a:latin typeface="楷体_GB2312" pitchFamily="49" charset="-122"/>
                <a:ea typeface="楷体_GB2312" pitchFamily="49" charset="-122"/>
              </a:rPr>
              <a:t>500mm</a:t>
            </a:r>
            <a:r>
              <a:rPr lang="zh-CN" altLang="en-US" sz="2000" b="1" dirty="0">
                <a:latin typeface="楷体_GB2312" pitchFamily="49" charset="-122"/>
                <a:ea typeface="楷体_GB2312" pitchFamily="49" charset="-122"/>
              </a:rPr>
              <a:t>的旋转体铸件，如带轮、飞轮、大齿轮等单件生产时，为节省木材、模样加工时间及费用，可以采用刮板造型。   </a:t>
            </a:r>
            <a:endParaRPr lang="zh-CN" altLang="en-US" sz="2000" b="1" dirty="0">
              <a:latin typeface="楷体_GB2312" pitchFamily="49" charset="-122"/>
              <a:ea typeface="楷体_GB2312" pitchFamily="49" charset="-122"/>
            </a:endParaRPr>
          </a:p>
          <a:p>
            <a:pPr lvl="0" eaLnBrk="1" hangingPunct="1">
              <a:buClr>
                <a:srgbClr val="FF6600"/>
              </a:buClr>
              <a:buNone/>
            </a:pPr>
            <a:r>
              <a:rPr lang="zh-CN" altLang="en-US" sz="2000" b="1" dirty="0">
                <a:latin typeface="楷体_GB2312" pitchFamily="49" charset="-122"/>
                <a:ea typeface="楷体_GB2312" pitchFamily="49" charset="-122"/>
              </a:rPr>
              <a:t>      刮板是一块和铸件截面形状相适应的木板。造型时将刮板绕着固定的中心轴旋转，在砂型中刮制出所需的型腔。</a:t>
            </a:r>
            <a:endParaRPr lang="zh-CN" altLang="en-US" sz="2900" b="1" dirty="0">
              <a:latin typeface="楷体_GB2312" pitchFamily="49" charset="-122"/>
              <a:ea typeface="楷体_GB2312" pitchFamily="49" charset="-122"/>
            </a:endParaRPr>
          </a:p>
        </p:txBody>
      </p:sp>
      <p:grpSp>
        <p:nvGrpSpPr>
          <p:cNvPr id="92164" name="Group 9"/>
          <p:cNvGrpSpPr/>
          <p:nvPr/>
        </p:nvGrpSpPr>
        <p:grpSpPr>
          <a:xfrm>
            <a:off x="1619250" y="3068638"/>
            <a:ext cx="6553200" cy="3527425"/>
            <a:chOff x="0" y="0"/>
            <a:chExt cx="3401" cy="1742"/>
          </a:xfrm>
        </p:grpSpPr>
        <p:pic>
          <p:nvPicPr>
            <p:cNvPr id="92165" name="Picture 7" descr="1"/>
            <p:cNvPicPr>
              <a:picLocks noChangeAspect="1"/>
            </p:cNvPicPr>
            <p:nvPr/>
          </p:nvPicPr>
          <p:blipFill>
            <a:blip r:embed="rId1"/>
            <a:stretch>
              <a:fillRect/>
            </a:stretch>
          </p:blipFill>
          <p:spPr>
            <a:xfrm>
              <a:off x="0" y="0"/>
              <a:ext cx="3401" cy="1485"/>
            </a:xfrm>
            <a:prstGeom prst="rect">
              <a:avLst/>
            </a:prstGeom>
            <a:noFill/>
            <a:ln w="9525">
              <a:noFill/>
            </a:ln>
          </p:spPr>
        </p:pic>
        <p:sp>
          <p:nvSpPr>
            <p:cNvPr id="92166" name="Rectangle 8"/>
            <p:cNvSpPr/>
            <p:nvPr/>
          </p:nvSpPr>
          <p:spPr>
            <a:xfrm>
              <a:off x="195" y="478"/>
              <a:ext cx="2916" cy="1264"/>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457200" algn="ctr" eaLnBrk="1" hangingPunct="1">
                <a:spcBef>
                  <a:spcPct val="0"/>
                </a:spcBef>
                <a:buClrTx/>
                <a:buSzTx/>
                <a:buNone/>
              </a:pPr>
              <a:r>
                <a:rPr lang="en-US" altLang="zh-CN" sz="1400" b="1" dirty="0">
                  <a:latin typeface="楷体_GB2312" pitchFamily="49" charset="-122"/>
                  <a:ea typeface="楷体_GB2312" pitchFamily="49" charset="-122"/>
                </a:rPr>
                <a:t>(a)</a:t>
              </a:r>
              <a:r>
                <a:rPr lang="zh-CN" altLang="en-US" sz="1400" b="1" dirty="0">
                  <a:latin typeface="楷体_GB2312" pitchFamily="49" charset="-122"/>
                  <a:ea typeface="楷体_GB2312" pitchFamily="49" charset="-122"/>
                </a:rPr>
                <a:t>皮带轮铸件       </a:t>
              </a:r>
              <a:r>
                <a:rPr lang="en-US" altLang="zh-CN" sz="1400" b="1" dirty="0">
                  <a:latin typeface="楷体_GB2312" pitchFamily="49" charset="-122"/>
                  <a:ea typeface="楷体_GB2312" pitchFamily="49" charset="-122"/>
                </a:rPr>
                <a:t>(b)</a:t>
              </a:r>
              <a:r>
                <a:rPr lang="zh-CN" altLang="en-US" sz="1400" b="1" dirty="0">
                  <a:latin typeface="楷体_GB2312" pitchFamily="49" charset="-122"/>
                  <a:ea typeface="楷体_GB2312" pitchFamily="49" charset="-122"/>
                </a:rPr>
                <a:t>刮板</a:t>
              </a: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r>
                <a:rPr lang="en-US" altLang="zh-CN" sz="1400" b="1" dirty="0">
                  <a:latin typeface="楷体_GB2312" pitchFamily="49" charset="-122"/>
                  <a:ea typeface="楷体_GB2312" pitchFamily="49" charset="-122"/>
                </a:rPr>
                <a:t>(c)</a:t>
              </a:r>
              <a:r>
                <a:rPr lang="zh-CN" altLang="en-US" sz="1400" b="1" dirty="0">
                  <a:latin typeface="楷体_GB2312" pitchFamily="49" charset="-122"/>
                  <a:ea typeface="楷体_GB2312" pitchFamily="49" charset="-122"/>
                </a:rPr>
                <a:t>刮制下型          </a:t>
              </a:r>
              <a:r>
                <a:rPr lang="en-US" altLang="zh-CN" sz="1400" b="1" dirty="0">
                  <a:latin typeface="楷体_GB2312" pitchFamily="49" charset="-122"/>
                  <a:ea typeface="楷体_GB2312" pitchFamily="49" charset="-122"/>
                </a:rPr>
                <a:t>(d)</a:t>
              </a:r>
              <a:r>
                <a:rPr lang="zh-CN" altLang="en-US" sz="1400" b="1" dirty="0">
                  <a:latin typeface="楷体_GB2312" pitchFamily="49" charset="-122"/>
                  <a:ea typeface="楷体_GB2312" pitchFamily="49" charset="-122"/>
                </a:rPr>
                <a:t>刮制上型           </a:t>
              </a:r>
              <a:r>
                <a:rPr lang="en-US" altLang="zh-CN" sz="1400" b="1" dirty="0">
                  <a:latin typeface="楷体_GB2312" pitchFamily="49" charset="-122"/>
                  <a:ea typeface="楷体_GB2312" pitchFamily="49" charset="-122"/>
                </a:rPr>
                <a:t>(e)</a:t>
              </a:r>
              <a:r>
                <a:rPr lang="zh-CN" altLang="en-US" sz="1400" b="1" dirty="0">
                  <a:latin typeface="楷体_GB2312" pitchFamily="49" charset="-122"/>
                  <a:ea typeface="楷体_GB2312" pitchFamily="49" charset="-122"/>
                </a:rPr>
                <a:t>合型</a:t>
              </a:r>
              <a:endParaRPr lang="zh-CN" altLang="en-US" sz="1400" b="1" dirty="0">
                <a:latin typeface="楷体_GB2312" pitchFamily="49" charset="-122"/>
                <a:ea typeface="楷体_GB2312" pitchFamily="49" charset="-122"/>
              </a:endParaRPr>
            </a:p>
            <a:p>
              <a:pPr marL="0" lvl="0" indent="457200" algn="ctr" eaLnBrk="1" hangingPunct="1">
                <a:spcBef>
                  <a:spcPct val="0"/>
                </a:spcBef>
                <a:buClrTx/>
                <a:buSzTx/>
                <a:buNone/>
              </a:pPr>
              <a:r>
                <a:rPr lang="zh-CN" altLang="en-US" sz="1400" b="1" dirty="0">
                  <a:latin typeface="楷体_GB2312" pitchFamily="49" charset="-122"/>
                  <a:ea typeface="楷体_GB2312" pitchFamily="49" charset="-122"/>
                </a:rPr>
                <a:t>图  皮带轮铸件的刮板造型过程</a:t>
              </a:r>
              <a:endParaRPr lang="zh-CN" altLang="en-US" sz="1400" b="1" dirty="0">
                <a:latin typeface="楷体_GB2312" pitchFamily="49" charset="-122"/>
                <a:ea typeface="楷体_GB2312" pitchFamily="49" charset="-122"/>
              </a:endParaRPr>
            </a:p>
          </p:txBody>
        </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en-US" sz="4000" b="1" dirty="0">
                <a:solidFill>
                  <a:srgbClr val="F9275E"/>
                </a:solidFill>
                <a:latin typeface="楷体_GB2312" pitchFamily="49" charset="-122"/>
                <a:ea typeface="楷体_GB2312" pitchFamily="49" charset="-122"/>
              </a:rPr>
              <a:t>手工造型 </a:t>
            </a:r>
            <a:endParaRPr lang="zh-CN" altLang="zh-CN" sz="4000" b="1" dirty="0">
              <a:ea typeface="楷体_GB2312" pitchFamily="49" charset="-122"/>
            </a:endParaRPr>
          </a:p>
        </p:txBody>
      </p:sp>
      <p:sp>
        <p:nvSpPr>
          <p:cNvPr id="93187" name="Rectangle 3"/>
          <p:cNvSpPr>
            <a:spLocks noGrp="1"/>
          </p:cNvSpPr>
          <p:nvPr>
            <p:ph type="body" sz="half"/>
          </p:nvPr>
        </p:nvSpPr>
        <p:spPr>
          <a:xfrm>
            <a:off x="576263" y="1557338"/>
            <a:ext cx="8388350" cy="215900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buClr>
                <a:srgbClr val="FF6600"/>
              </a:buClr>
              <a:buNone/>
            </a:pPr>
            <a:r>
              <a:rPr lang="en-US" altLang="zh-CN" sz="2000" b="1" dirty="0">
                <a:solidFill>
                  <a:srgbClr val="009900"/>
                </a:solidFill>
                <a:latin typeface="楷体_GB2312" pitchFamily="49" charset="-122"/>
                <a:ea typeface="楷体_GB2312" pitchFamily="49" charset="-122"/>
              </a:rPr>
              <a:t>(7) </a:t>
            </a:r>
            <a:r>
              <a:rPr lang="zh-CN" altLang="en-US" sz="2000" b="1" dirty="0">
                <a:solidFill>
                  <a:srgbClr val="009900"/>
                </a:solidFill>
                <a:latin typeface="楷体_GB2312" pitchFamily="49" charset="-122"/>
                <a:ea typeface="楷体_GB2312" pitchFamily="49" charset="-122"/>
              </a:rPr>
              <a:t>假箱造型</a:t>
            </a:r>
            <a:r>
              <a:rPr lang="zh-CN" altLang="en-US" b="1" dirty="0"/>
              <a:t>  </a:t>
            </a:r>
            <a:r>
              <a:rPr lang="zh-CN" altLang="en-US" sz="2000" b="1" dirty="0">
                <a:latin typeface="楷体_GB2312" pitchFamily="49" charset="-122"/>
                <a:ea typeface="楷体_GB2312" pitchFamily="49" charset="-122"/>
              </a:rPr>
              <a:t>假箱造型是利用预制的成形底板或假箱来代替挖砂造型中所挖去的型砂。</a:t>
            </a:r>
            <a:endParaRPr lang="zh-CN" altLang="en-US" sz="2000" b="1" dirty="0">
              <a:latin typeface="楷体_GB2312" pitchFamily="49" charset="-122"/>
              <a:ea typeface="楷体_GB2312" pitchFamily="49" charset="-122"/>
            </a:endParaRPr>
          </a:p>
        </p:txBody>
      </p:sp>
      <p:grpSp>
        <p:nvGrpSpPr>
          <p:cNvPr id="93188" name="Group 9"/>
          <p:cNvGrpSpPr/>
          <p:nvPr/>
        </p:nvGrpSpPr>
        <p:grpSpPr>
          <a:xfrm>
            <a:off x="1331913" y="2924175"/>
            <a:ext cx="6229350" cy="3602038"/>
            <a:chOff x="0" y="0"/>
            <a:chExt cx="3244" cy="1641"/>
          </a:xfrm>
        </p:grpSpPr>
        <p:pic>
          <p:nvPicPr>
            <p:cNvPr id="93189" name="Picture 7" descr="1"/>
            <p:cNvPicPr>
              <a:picLocks noChangeAspect="1"/>
            </p:cNvPicPr>
            <p:nvPr/>
          </p:nvPicPr>
          <p:blipFill>
            <a:blip r:embed="rId1"/>
            <a:stretch>
              <a:fillRect/>
            </a:stretch>
          </p:blipFill>
          <p:spPr>
            <a:xfrm>
              <a:off x="0" y="0"/>
              <a:ext cx="3244" cy="1074"/>
            </a:xfrm>
            <a:prstGeom prst="rect">
              <a:avLst/>
            </a:prstGeom>
            <a:noFill/>
            <a:ln w="9525">
              <a:noFill/>
            </a:ln>
          </p:spPr>
        </p:pic>
        <p:sp>
          <p:nvSpPr>
            <p:cNvPr id="93190" name="Rectangle 8"/>
            <p:cNvSpPr/>
            <p:nvPr/>
          </p:nvSpPr>
          <p:spPr>
            <a:xfrm>
              <a:off x="413" y="1047"/>
              <a:ext cx="2468" cy="594"/>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1438275" algn="ctr" eaLnBrk="1" hangingPunct="1">
                <a:spcBef>
                  <a:spcPct val="0"/>
                </a:spcBef>
                <a:buClrTx/>
                <a:buSzTx/>
                <a:buNone/>
              </a:pPr>
              <a:r>
                <a:rPr lang="en-US" altLang="zh-CN" sz="1400" b="1" dirty="0">
                  <a:latin typeface="楷体_GB2312" pitchFamily="49" charset="-122"/>
                  <a:ea typeface="楷体_GB2312" pitchFamily="49" charset="-122"/>
                </a:rPr>
                <a:t>a) </a:t>
              </a:r>
              <a:r>
                <a:rPr lang="zh-CN" altLang="en-US" sz="1400" b="1" dirty="0">
                  <a:latin typeface="楷体_GB2312" pitchFamily="49" charset="-122"/>
                  <a:ea typeface="楷体_GB2312" pitchFamily="49" charset="-122"/>
                </a:rPr>
                <a:t>假箱                 </a:t>
              </a:r>
              <a:r>
                <a:rPr lang="en-US" altLang="zh-CN" sz="1400" b="1" dirty="0">
                  <a:latin typeface="楷体_GB2312" pitchFamily="49" charset="-122"/>
                  <a:ea typeface="楷体_GB2312" pitchFamily="49" charset="-122"/>
                </a:rPr>
                <a:t>b)</a:t>
              </a:r>
              <a:r>
                <a:rPr lang="zh-CN" altLang="en-US" sz="1400" b="1" dirty="0">
                  <a:latin typeface="楷体_GB2312" pitchFamily="49" charset="-122"/>
                  <a:ea typeface="楷体_GB2312" pitchFamily="49" charset="-122"/>
                </a:rPr>
                <a:t>成形底板</a:t>
              </a:r>
              <a:endParaRPr lang="zh-CN" altLang="en-US" sz="1400" b="1" dirty="0">
                <a:latin typeface="楷体_GB2312" pitchFamily="49" charset="-122"/>
                <a:ea typeface="楷体_GB2312" pitchFamily="49" charset="-122"/>
              </a:endParaRPr>
            </a:p>
            <a:p>
              <a:pPr marL="0" lvl="0" indent="1438275" algn="ctr" eaLnBrk="1" hangingPunct="1">
                <a:spcBef>
                  <a:spcPct val="0"/>
                </a:spcBef>
                <a:buClrTx/>
                <a:buSzTx/>
                <a:buNone/>
              </a:pPr>
              <a:r>
                <a:rPr lang="en-US" altLang="zh-CN" sz="1400" b="1" dirty="0">
                  <a:latin typeface="楷体_GB2312" pitchFamily="49" charset="-122"/>
                  <a:ea typeface="楷体_GB2312" pitchFamily="49" charset="-122"/>
                </a:rPr>
                <a:t>1-</a:t>
              </a:r>
              <a:r>
                <a:rPr lang="zh-CN" altLang="en-US" sz="1400" b="1" dirty="0">
                  <a:latin typeface="楷体_GB2312" pitchFamily="49" charset="-122"/>
                  <a:ea typeface="楷体_GB2312" pitchFamily="49" charset="-122"/>
                </a:rPr>
                <a:t>假箱  </a:t>
              </a:r>
              <a:r>
                <a:rPr lang="en-US" altLang="zh-CN" sz="1400" b="1" dirty="0">
                  <a:latin typeface="楷体_GB2312" pitchFamily="49" charset="-122"/>
                  <a:ea typeface="楷体_GB2312" pitchFamily="49" charset="-122"/>
                </a:rPr>
                <a:t>2-</a:t>
              </a:r>
              <a:r>
                <a:rPr lang="zh-CN" altLang="en-US" sz="1400" b="1" dirty="0">
                  <a:latin typeface="楷体_GB2312" pitchFamily="49" charset="-122"/>
                  <a:ea typeface="楷体_GB2312" pitchFamily="49" charset="-122"/>
                </a:rPr>
                <a:t>下砂型  </a:t>
              </a:r>
              <a:r>
                <a:rPr lang="en-US" altLang="zh-CN" sz="1400" b="1" dirty="0">
                  <a:latin typeface="楷体_GB2312" pitchFamily="49" charset="-122"/>
                  <a:ea typeface="楷体_GB2312" pitchFamily="49" charset="-122"/>
                </a:rPr>
                <a:t>3-</a:t>
              </a:r>
              <a:r>
                <a:rPr lang="zh-CN" altLang="en-US" sz="1400" b="1" dirty="0">
                  <a:latin typeface="楷体_GB2312" pitchFamily="49" charset="-122"/>
                  <a:ea typeface="楷体_GB2312" pitchFamily="49" charset="-122"/>
                </a:rPr>
                <a:t>最大分型面  </a:t>
              </a:r>
              <a:r>
                <a:rPr lang="en-US" altLang="zh-CN" sz="1400" b="1" dirty="0">
                  <a:latin typeface="楷体_GB2312" pitchFamily="49" charset="-122"/>
                  <a:ea typeface="楷体_GB2312" pitchFamily="49" charset="-122"/>
                </a:rPr>
                <a:t>4-</a:t>
              </a:r>
              <a:r>
                <a:rPr lang="zh-CN" altLang="en-US" sz="1400" b="1" dirty="0">
                  <a:latin typeface="楷体_GB2312" pitchFamily="49" charset="-122"/>
                  <a:ea typeface="楷体_GB2312" pitchFamily="49" charset="-122"/>
                </a:rPr>
                <a:t>成形底板</a:t>
              </a:r>
              <a:endParaRPr lang="zh-CN" altLang="en-US" sz="1400" b="1" dirty="0">
                <a:latin typeface="楷体_GB2312" pitchFamily="49" charset="-122"/>
                <a:ea typeface="楷体_GB2312" pitchFamily="49" charset="-122"/>
              </a:endParaRPr>
            </a:p>
            <a:p>
              <a:pPr marL="0" lvl="0" indent="1438275" algn="ctr" eaLnBrk="1" hangingPunct="1">
                <a:spcBef>
                  <a:spcPct val="0"/>
                </a:spcBef>
                <a:buClrTx/>
                <a:buSzTx/>
                <a:buNone/>
              </a:pPr>
              <a:endParaRPr lang="zh-CN" altLang="en-US" sz="1400" b="1" dirty="0">
                <a:latin typeface="楷体_GB2312" pitchFamily="49" charset="-122"/>
                <a:ea typeface="楷体_GB2312" pitchFamily="49" charset="-122"/>
              </a:endParaRPr>
            </a:p>
            <a:p>
              <a:pPr marL="0" lvl="0" indent="1438275" algn="ctr" eaLnBrk="1" hangingPunct="1">
                <a:spcBef>
                  <a:spcPct val="0"/>
                </a:spcBef>
                <a:buClrTx/>
                <a:buSzTx/>
                <a:buNone/>
              </a:pPr>
              <a:r>
                <a:rPr lang="zh-CN" altLang="en-US" sz="1400" b="1" dirty="0">
                  <a:latin typeface="楷体_GB2312" pitchFamily="49" charset="-122"/>
                  <a:ea typeface="楷体_GB2312" pitchFamily="49" charset="-122"/>
                </a:rPr>
                <a:t>图  用假箱和成形底板造型</a:t>
              </a:r>
              <a:endParaRPr lang="zh-CN" altLang="en-US" sz="1400" b="1" dirty="0">
                <a:latin typeface="楷体_GB2312" pitchFamily="49" charset="-122"/>
                <a:ea typeface="楷体_GB2312" pitchFamily="49" charset="-122"/>
              </a:endParaRPr>
            </a:p>
          </p:txBody>
        </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砂型铸造</a:t>
            </a:r>
            <a:endParaRPr lang="zh-CN" altLang="zh-CN" sz="4000" b="1" dirty="0">
              <a:ea typeface="楷体_GB2312" pitchFamily="49" charset="-122"/>
            </a:endParaRPr>
          </a:p>
        </p:txBody>
      </p:sp>
      <p:sp>
        <p:nvSpPr>
          <p:cNvPr id="65539" name="Rectangle 3"/>
          <p:cNvSpPr>
            <a:spLocks noGrp="1"/>
          </p:cNvSpPr>
          <p:nvPr>
            <p:ph type="body"/>
          </p:nvPr>
        </p:nvSpPr>
        <p:spPr>
          <a:xfrm>
            <a:off x="611188" y="1700213"/>
            <a:ext cx="8569325" cy="3960812"/>
          </a:xfrm>
        </p:spPr>
        <p:txBody>
          <a:bodyPr vert="horz" wrap="square" lIns="91440" tIns="45720" rIns="91440" bIns="45720" anchor="t" anchorCtr="0"/>
          <a:p>
            <a:pPr eaLnBrk="1" hangingPunct="1">
              <a:lnSpc>
                <a:spcPct val="80000"/>
              </a:lnSpc>
            </a:pPr>
            <a:r>
              <a:rPr lang="zh-CN" altLang="en-US" sz="2800" b="1" dirty="0">
                <a:solidFill>
                  <a:srgbClr val="FF6600"/>
                </a:solidFill>
                <a:latin typeface="楷体_GB2312" pitchFamily="49" charset="-122"/>
                <a:ea typeface="楷体_GB2312" pitchFamily="49" charset="-122"/>
              </a:rPr>
              <a:t>造型方法的选择</a:t>
            </a:r>
            <a:endParaRPr lang="zh-CN" altLang="en-US" sz="2800" b="1" dirty="0">
              <a:solidFill>
                <a:srgbClr val="FF6600"/>
              </a:solidFill>
              <a:latin typeface="楷体_GB2312" pitchFamily="49" charset="-122"/>
              <a:ea typeface="楷体_GB2312" pitchFamily="49" charset="-122"/>
            </a:endParaRPr>
          </a:p>
          <a:p>
            <a:pPr lvl="1" eaLnBrk="1" hangingPunct="1">
              <a:lnSpc>
                <a:spcPct val="80000"/>
              </a:lnSpc>
            </a:pPr>
            <a:r>
              <a:rPr lang="zh-CN" altLang="en-US" sz="2400" b="1" dirty="0">
                <a:solidFill>
                  <a:srgbClr val="FF00FF"/>
                </a:solidFill>
                <a:latin typeface="楷体_GB2312" pitchFamily="49" charset="-122"/>
                <a:ea typeface="楷体_GB2312" pitchFamily="49" charset="-122"/>
              </a:rPr>
              <a:t>机器造型  </a:t>
            </a:r>
            <a:r>
              <a:rPr lang="zh-CN" altLang="en-US" sz="2400" b="1" dirty="0">
                <a:ea typeface="楷体_GB2312" pitchFamily="49" charset="-122"/>
              </a:rPr>
              <a:t>将填砂、紧砂和起模等操作全部由机械完成。机器造型劳动强度低、生产率高。铸件质量稳定，且加工余量小。但由于机器造型的紧砂方式不能紧实型腔穿通中箱，</a:t>
            </a:r>
            <a:r>
              <a:rPr lang="zh-CN" altLang="en-US" sz="2400" b="1" dirty="0">
                <a:solidFill>
                  <a:srgbClr val="0000FF"/>
                </a:solidFill>
                <a:ea typeface="楷体_GB2312" pitchFamily="49" charset="-122"/>
              </a:rPr>
              <a:t>故不能进行三箱造型。</a:t>
            </a:r>
            <a:endParaRPr lang="zh-CN" altLang="en-US" sz="2400" b="1" dirty="0">
              <a:solidFill>
                <a:srgbClr val="0000FF"/>
              </a:solidFill>
              <a:ea typeface="楷体_GB2312" pitchFamily="49" charset="-122"/>
            </a:endParaRPr>
          </a:p>
          <a:p>
            <a:pPr lvl="1" eaLnBrk="1" hangingPunct="1">
              <a:lnSpc>
                <a:spcPct val="80000"/>
              </a:lnSpc>
            </a:pPr>
            <a:r>
              <a:rPr lang="zh-CN" altLang="en-US" sz="2400" b="1" dirty="0">
                <a:latin typeface="楷体_GB2312" pitchFamily="49" charset="-122"/>
                <a:ea typeface="楷体_GB2312" pitchFamily="49" charset="-122"/>
              </a:rPr>
              <a:t>效率高、铸型和铸件质量好，但投资较大。</a:t>
            </a:r>
            <a:endParaRPr lang="zh-CN" altLang="en-US" sz="2400" b="1" dirty="0">
              <a:latin typeface="楷体_GB2312" pitchFamily="49" charset="-122"/>
              <a:ea typeface="楷体_GB2312" pitchFamily="49" charset="-122"/>
            </a:endParaRPr>
          </a:p>
          <a:p>
            <a:pPr lvl="1" eaLnBrk="1" hangingPunct="1">
              <a:lnSpc>
                <a:spcPct val="80000"/>
              </a:lnSpc>
            </a:pPr>
            <a:r>
              <a:rPr lang="zh-CN" altLang="en-US" sz="2400" b="1" dirty="0">
                <a:latin typeface="楷体_GB2312" pitchFamily="49" charset="-122"/>
                <a:ea typeface="楷体_GB2312" pitchFamily="49" charset="-122"/>
              </a:rPr>
              <a:t>应用范围：大量或成批生产的中小铸件。</a:t>
            </a:r>
            <a:endParaRPr lang="zh-CN" altLang="en-US" sz="2400" b="1" dirty="0">
              <a:latin typeface="楷体_GB2312" pitchFamily="49" charset="-122"/>
              <a:ea typeface="楷体_GB2312" pitchFamily="49" charset="-122"/>
            </a:endParaRPr>
          </a:p>
          <a:p>
            <a:pPr lvl="1" eaLnBrk="1" hangingPunct="1">
              <a:lnSpc>
                <a:spcPct val="80000"/>
              </a:lnSpc>
            </a:pPr>
            <a:r>
              <a:rPr lang="zh-CN" altLang="en-US" sz="2400" b="1" dirty="0">
                <a:latin typeface="楷体_GB2312" pitchFamily="49" charset="-122"/>
                <a:ea typeface="楷体_GB2312" pitchFamily="49" charset="-122"/>
              </a:rPr>
              <a:t>基本原理：根据紧砂和起模的方式不同，有各种不同造型方法。</a:t>
            </a:r>
            <a:endParaRPr lang="zh-CN" altLang="en-US" sz="2400" b="1" dirty="0">
              <a:latin typeface="楷体_GB2312" pitchFamily="49" charset="-122"/>
              <a:ea typeface="楷体_GB2312" pitchFamily="49" charset="-122"/>
            </a:endParaRPr>
          </a:p>
          <a:p>
            <a:pPr lvl="2" eaLnBrk="1" hangingPunct="1">
              <a:lnSpc>
                <a:spcPct val="80000"/>
              </a:lnSpc>
            </a:pPr>
            <a:r>
              <a:rPr lang="zh-CN" altLang="en-US" sz="2400" b="1" dirty="0">
                <a:solidFill>
                  <a:srgbClr val="00CC00"/>
                </a:solidFill>
                <a:latin typeface="楷体_GB2312" pitchFamily="49" charset="-122"/>
                <a:ea typeface="楷体_GB2312" pitchFamily="49" charset="-122"/>
              </a:rPr>
              <a:t>震压式造型法</a:t>
            </a:r>
            <a:endParaRPr lang="zh-CN" altLang="en-US" sz="2400" b="1" dirty="0">
              <a:solidFill>
                <a:srgbClr val="00CC00"/>
              </a:solidFill>
              <a:latin typeface="楷体_GB2312" pitchFamily="49" charset="-122"/>
              <a:ea typeface="楷体_GB2312" pitchFamily="49" charset="-122"/>
            </a:endParaRPr>
          </a:p>
          <a:p>
            <a:pPr lvl="2" eaLnBrk="1" hangingPunct="1">
              <a:lnSpc>
                <a:spcPct val="80000"/>
              </a:lnSpc>
            </a:pPr>
            <a:r>
              <a:rPr lang="zh-CN" altLang="en-US" sz="2400" b="1" dirty="0">
                <a:solidFill>
                  <a:srgbClr val="00CC00"/>
                </a:solidFill>
                <a:latin typeface="楷体_GB2312" pitchFamily="49" charset="-122"/>
                <a:ea typeface="楷体_GB2312" pitchFamily="49" charset="-122"/>
              </a:rPr>
              <a:t>射压造型法</a:t>
            </a:r>
            <a:endParaRPr lang="zh-CN" altLang="en-US" sz="2400" dirty="0">
              <a:solidFill>
                <a:srgbClr val="00CC00"/>
              </a:solidFill>
              <a:latin typeface="楷体_GB2312" pitchFamily="49" charset="-122"/>
              <a:ea typeface="楷体_GB2312" pitchFamily="49" charset="-122"/>
            </a:endParaRPr>
          </a:p>
          <a:p>
            <a:pPr lvl="1" eaLnBrk="1" hangingPunct="1">
              <a:lnSpc>
                <a:spcPct val="80000"/>
              </a:lnSpc>
              <a:buNone/>
            </a:pPr>
            <a:endParaRPr lang="en-US" altLang="zh-CN" sz="2400" dirty="0">
              <a:solidFill>
                <a:srgbClr val="00CC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539">
                                            <p:txEl>
                                              <p:charRg st="8" end="97"/>
                                            </p:txEl>
                                          </p:spTgt>
                                        </p:tgtEl>
                                        <p:attrNameLst>
                                          <p:attrName>style.visibility</p:attrName>
                                        </p:attrNameLst>
                                      </p:cBhvr>
                                      <p:to>
                                        <p:strVal val="visible"/>
                                      </p:to>
                                    </p:set>
                                    <p:animEffect transition="in" filter="blinds(horizontal)">
                                      <p:cBhvr>
                                        <p:cTn id="7" dur="500"/>
                                        <p:tgtEl>
                                          <p:spTgt spid="65539">
                                            <p:txEl>
                                              <p:charRg st="8" end="9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5539">
                                            <p:txEl>
                                              <p:charRg st="97" end="117"/>
                                            </p:txEl>
                                          </p:spTgt>
                                        </p:tgtEl>
                                        <p:attrNameLst>
                                          <p:attrName>style.visibility</p:attrName>
                                        </p:attrNameLst>
                                      </p:cBhvr>
                                      <p:to>
                                        <p:strVal val="visible"/>
                                      </p:to>
                                    </p:set>
                                    <p:animEffect transition="in" filter="blinds(horizontal)">
                                      <p:cBhvr>
                                        <p:cTn id="12" dur="500"/>
                                        <p:tgtEl>
                                          <p:spTgt spid="65539">
                                            <p:txEl>
                                              <p:charRg st="97" end="11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5539">
                                            <p:txEl>
                                              <p:charRg st="117" end="136"/>
                                            </p:txEl>
                                          </p:spTgt>
                                        </p:tgtEl>
                                        <p:attrNameLst>
                                          <p:attrName>style.visibility</p:attrName>
                                        </p:attrNameLst>
                                      </p:cBhvr>
                                      <p:to>
                                        <p:strVal val="visible"/>
                                      </p:to>
                                    </p:set>
                                    <p:animEffect transition="in" filter="blinds(horizontal)">
                                      <p:cBhvr>
                                        <p:cTn id="17" dur="500"/>
                                        <p:tgtEl>
                                          <p:spTgt spid="65539">
                                            <p:txEl>
                                              <p:charRg st="117" end="13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5539">
                                            <p:txEl>
                                              <p:charRg st="136" end="165"/>
                                            </p:txEl>
                                          </p:spTgt>
                                        </p:tgtEl>
                                        <p:attrNameLst>
                                          <p:attrName>style.visibility</p:attrName>
                                        </p:attrNameLst>
                                      </p:cBhvr>
                                      <p:to>
                                        <p:strVal val="visible"/>
                                      </p:to>
                                    </p:set>
                                    <p:animEffect transition="in" filter="blinds(horizontal)">
                                      <p:cBhvr>
                                        <p:cTn id="22" dur="500"/>
                                        <p:tgtEl>
                                          <p:spTgt spid="65539">
                                            <p:txEl>
                                              <p:charRg st="136" end="16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5539">
                                            <p:txEl>
                                              <p:charRg st="165" end="172"/>
                                            </p:txEl>
                                          </p:spTgt>
                                        </p:tgtEl>
                                        <p:attrNameLst>
                                          <p:attrName>style.visibility</p:attrName>
                                        </p:attrNameLst>
                                      </p:cBhvr>
                                      <p:to>
                                        <p:strVal val="visible"/>
                                      </p:to>
                                    </p:set>
                                    <p:animEffect transition="in" filter="blinds(horizontal)">
                                      <p:cBhvr>
                                        <p:cTn id="27" dur="500"/>
                                        <p:tgtEl>
                                          <p:spTgt spid="65539">
                                            <p:txEl>
                                              <p:charRg st="165" end="172"/>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65539">
                                            <p:txEl>
                                              <p:charRg st="172" end="178"/>
                                            </p:txEl>
                                          </p:spTgt>
                                        </p:tgtEl>
                                        <p:attrNameLst>
                                          <p:attrName>style.visibility</p:attrName>
                                        </p:attrNameLst>
                                      </p:cBhvr>
                                      <p:to>
                                        <p:strVal val="visible"/>
                                      </p:to>
                                    </p:set>
                                    <p:animEffect transition="in" filter="blinds(horizontal)">
                                      <p:cBhvr>
                                        <p:cTn id="30" dur="500"/>
                                        <p:tgtEl>
                                          <p:spTgt spid="65539">
                                            <p:txEl>
                                              <p:charRg st="172"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900113" y="4824413"/>
            <a:ext cx="7380288" cy="1193800"/>
          </a:xfrm>
          <a:prstGeom prst="rect">
            <a:avLst/>
          </a:prstGeom>
          <a:noFill/>
        </p:spPr>
        <p:txBody>
          <a:bodyPr lIns="0" tIns="0" rIns="0" bIns="0">
            <a:spAutoFit/>
          </a:bodyPr>
          <a:lstStyle/>
          <a:p>
            <a:pPr marR="0" algn="ctr" defTabSz="914400" latinLnBrk="1">
              <a:spcBef>
                <a:spcPts val="735"/>
              </a:spcBef>
              <a:buClrTx/>
              <a:buSzTx/>
              <a:buFontTx/>
              <a:buNone/>
              <a:defRPr/>
            </a:pPr>
            <a:r>
              <a:rPr kumimoji="0" lang="zh-CN" altLang="en-US" sz="1500" kern="0" cap="none" spc="0" normalizeH="0" baseline="0" noProof="0" dirty="0">
                <a:solidFill>
                  <a:srgbClr val="000000"/>
                </a:solidFill>
                <a:latin typeface="Times New Roman" panose="02020603050405020304" pitchFamily="65" charset="-122"/>
                <a:ea typeface="方正宋黑_GBK" pitchFamily="65" charset="-122"/>
                <a:cs typeface="+mn-cs"/>
              </a:rPr>
              <a:t>机器造型</a:t>
            </a:r>
            <a:endParaRPr kumimoji="0" lang="zh-CN" altLang="en-US" kern="1200" cap="none" spc="0" normalizeH="0" baseline="0" noProof="0" dirty="0">
              <a:latin typeface="Verdana" panose="020B0604030504040204" pitchFamily="34" charset="0"/>
              <a:ea typeface="宋体" panose="02010600030101010101" pitchFamily="2" charset="-122"/>
              <a:cs typeface="+mn-cs"/>
            </a:endParaRPr>
          </a:p>
          <a:p>
            <a:pPr marR="0" algn="ctr" defTabSz="914400" latinLnBrk="1">
              <a:spcBef>
                <a:spcPts val="735"/>
              </a:spcBef>
              <a:buClrTx/>
              <a:buSzTx/>
              <a:buFontTx/>
              <a:buNone/>
              <a:defRPr/>
            </a:pPr>
            <a:r>
              <a:rPr kumimoji="0" lang="zh-CN" altLang="en-US" sz="1500" kern="0" cap="none" spc="0" normalizeH="0" baseline="0" noProof="0" dirty="0">
                <a:solidFill>
                  <a:srgbClr val="000000"/>
                </a:solidFill>
                <a:latin typeface="Times New Roman" panose="02020603050405020304" pitchFamily="65" charset="-122"/>
                <a:ea typeface="方正宋黑_GBK" pitchFamily="65" charset="-122"/>
                <a:cs typeface="+mn-cs"/>
              </a:rPr>
              <a:t>a) 填砂　b) 振实　c) 压实　d) 起模</a:t>
            </a:r>
            <a:endParaRPr kumimoji="0" lang="zh-CN" altLang="en-US" kern="1200" cap="none" spc="0" normalizeH="0" baseline="0" noProof="0" dirty="0">
              <a:latin typeface="Verdana" panose="020B0604030504040204" pitchFamily="34" charset="0"/>
              <a:ea typeface="宋体" panose="02010600030101010101" pitchFamily="2" charset="-122"/>
              <a:cs typeface="+mn-cs"/>
            </a:endParaRPr>
          </a:p>
          <a:p>
            <a:pPr marR="0" algn="ctr" defTabSz="914400" latinLnBrk="1">
              <a:spcBef>
                <a:spcPts val="735"/>
              </a:spcBef>
              <a:buClrTx/>
              <a:buSzTx/>
              <a:buFontTx/>
              <a:buNone/>
              <a:defRPr/>
            </a:pPr>
            <a:r>
              <a:rPr kumimoji="0" lang="zh-CN" altLang="en-US" sz="1500" kern="0" cap="none" spc="0" normalizeH="0" baseline="0" noProof="0" dirty="0">
                <a:solidFill>
                  <a:srgbClr val="000000"/>
                </a:solidFill>
                <a:latin typeface="Times New Roman" panose="02020603050405020304" pitchFamily="65" charset="-122"/>
                <a:ea typeface="方正宋黑_GBK" pitchFamily="65" charset="-122"/>
                <a:cs typeface="+mn-cs"/>
              </a:rPr>
              <a:t>1—压头　2—模板　3—砂箱　4—振实活塞　5—压实活塞</a:t>
            </a:r>
            <a:endParaRPr kumimoji="0" lang="zh-CN" altLang="en-US" kern="1200" cap="none" spc="0" normalizeH="0" baseline="0" noProof="0" dirty="0">
              <a:latin typeface="Verdana" panose="020B0604030504040204" pitchFamily="34" charset="0"/>
              <a:ea typeface="宋体" panose="02010600030101010101" pitchFamily="2" charset="-122"/>
              <a:cs typeface="+mn-cs"/>
            </a:endParaRPr>
          </a:p>
          <a:p>
            <a:pPr marR="0" algn="ctr" defTabSz="914400" latinLnBrk="1">
              <a:spcBef>
                <a:spcPts val="735"/>
              </a:spcBef>
              <a:buClrTx/>
              <a:buSzTx/>
              <a:buFontTx/>
              <a:buNone/>
              <a:defRPr/>
            </a:pPr>
            <a:r>
              <a:rPr kumimoji="0" lang="zh-CN" altLang="en-US" sz="1500" kern="0" cap="none" spc="0" normalizeH="0" baseline="0" noProof="0" dirty="0">
                <a:solidFill>
                  <a:srgbClr val="000000"/>
                </a:solidFill>
                <a:latin typeface="Times New Roman" panose="02020603050405020304" pitchFamily="65" charset="-122"/>
                <a:ea typeface="方正宋黑_GBK" pitchFamily="65" charset="-122"/>
                <a:cs typeface="+mn-cs"/>
              </a:rPr>
              <a:t>6—压实气缸　7—进气口　8—气缸　9—顶杆</a:t>
            </a:r>
            <a:endParaRPr kumimoji="0" lang="zh-CN" altLang="en-US" kern="1200" cap="none" spc="0" normalizeH="0" baseline="0" noProof="0" dirty="0">
              <a:latin typeface="Verdana" panose="020B0604030504040204" pitchFamily="34" charset="0"/>
              <a:ea typeface="宋体" panose="02010600030101010101" pitchFamily="2" charset="-122"/>
              <a:cs typeface="+mn-cs"/>
            </a:endParaRPr>
          </a:p>
        </p:txBody>
      </p:sp>
      <p:pic>
        <p:nvPicPr>
          <p:cNvPr id="95235" name="图片 3" descr="textimage16.jpeg"/>
          <p:cNvPicPr>
            <a:picLocks noChangeAspect="1"/>
          </p:cNvPicPr>
          <p:nvPr/>
        </p:nvPicPr>
        <p:blipFill>
          <a:blip r:embed="rId1"/>
          <a:stretch>
            <a:fillRect/>
          </a:stretch>
        </p:blipFill>
        <p:spPr>
          <a:xfrm>
            <a:off x="900113" y="1804988"/>
            <a:ext cx="7380287" cy="2946400"/>
          </a:xfrm>
          <a:prstGeom prst="rect">
            <a:avLst/>
          </a:prstGeom>
          <a:noFill/>
          <a:ln w="9525">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22震压造型.MPG">
            <a:hlinkClick r:id="" action="ppaction://media"/>
          </p:cNvPr>
          <p:cNvPicPr>
            <a:picLocks noRot="1" noChangeAspect="1"/>
          </p:cNvPicPr>
          <p:nvPr>
            <a:videoFile r:link="rId1"/>
            <p:extLst>
              <p:ext uri="{DAA4B4D4-6D71-4841-9C94-3DE7FCFB9230}">
                <p14:media xmlns:p14="http://schemas.microsoft.com/office/powerpoint/2010/main" r:link="rId2"/>
              </p:ext>
            </p:extLst>
          </p:nvPr>
        </p:nvPicPr>
        <p:blipFill>
          <a:blip r:embed="rId3"/>
          <a:stretch>
            <a:fillRect/>
          </a:stretch>
        </p:blipFill>
        <p:spPr>
          <a:xfrm>
            <a:off x="26988" y="188913"/>
            <a:ext cx="9009062" cy="6192837"/>
          </a:xfrm>
          <a:prstGeom prst="rect">
            <a:avLst/>
          </a:prstGeom>
          <a:noFill/>
          <a:ln w="9525">
            <a:noFill/>
          </a:ln>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p:cNvSpPr>
          <p:nvPr>
            <p:ph type="title"/>
          </p:nvPr>
        </p:nvSpPr>
        <p:spPr>
          <a:xfrm>
            <a:off x="1370013" y="692150"/>
            <a:ext cx="7313612" cy="752475"/>
          </a:xfrm>
        </p:spPr>
        <p:txBody>
          <a:bodyPr vert="horz" wrap="square" lIns="91440" tIns="45720" rIns="91440" bIns="45720" anchor="b" anchorCtr="0"/>
          <a:p>
            <a:pPr algn="ctr" eaLnBrk="1" hangingPunct="1"/>
            <a:r>
              <a:rPr lang="zh-CN" altLang="zh-CN" sz="4000" b="1" dirty="0">
                <a:solidFill>
                  <a:srgbClr val="CC3300"/>
                </a:solidFill>
                <a:ea typeface="楷体_GB2312" pitchFamily="49" charset="-122"/>
              </a:rPr>
              <a:t>射压造型法的工作原理</a:t>
            </a:r>
            <a:endParaRPr lang="zh-CN" altLang="zh-CN" sz="4000" b="1" dirty="0">
              <a:ea typeface="楷体_GB2312" pitchFamily="49" charset="-122"/>
            </a:endParaRPr>
          </a:p>
        </p:txBody>
      </p:sp>
      <p:sp>
        <p:nvSpPr>
          <p:cNvPr id="97283" name="Rectangle 3"/>
          <p:cNvSpPr>
            <a:spLocks noGrp="1"/>
          </p:cNvSpPr>
          <p:nvPr>
            <p:ph type="body" sz="half"/>
          </p:nvPr>
        </p:nvSpPr>
        <p:spPr>
          <a:xfrm>
            <a:off x="1370013" y="1827213"/>
            <a:ext cx="7048500" cy="411480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endParaRPr lang="zh-CN" altLang="zh-CN" b="1" dirty="0">
              <a:solidFill>
                <a:srgbClr val="CC3300"/>
              </a:solidFill>
              <a:ea typeface="楷体_GB2312" pitchFamily="49" charset="-122"/>
            </a:endParaRPr>
          </a:p>
        </p:txBody>
      </p:sp>
      <p:grpSp>
        <p:nvGrpSpPr>
          <p:cNvPr id="97284" name="Group 11"/>
          <p:cNvGrpSpPr/>
          <p:nvPr/>
        </p:nvGrpSpPr>
        <p:grpSpPr>
          <a:xfrm>
            <a:off x="1238250" y="1844675"/>
            <a:ext cx="7313613" cy="4581525"/>
            <a:chOff x="0" y="0"/>
            <a:chExt cx="4294" cy="2079"/>
          </a:xfrm>
        </p:grpSpPr>
        <p:pic>
          <p:nvPicPr>
            <p:cNvPr id="97285" name="Picture 7"/>
            <p:cNvPicPr>
              <a:picLocks noChangeAspect="1"/>
            </p:cNvPicPr>
            <p:nvPr/>
          </p:nvPicPr>
          <p:blipFill>
            <a:blip r:embed="rId1"/>
            <a:stretch>
              <a:fillRect/>
            </a:stretch>
          </p:blipFill>
          <p:spPr>
            <a:xfrm>
              <a:off x="0" y="0"/>
              <a:ext cx="4294" cy="2079"/>
            </a:xfrm>
            <a:prstGeom prst="rect">
              <a:avLst/>
            </a:prstGeom>
            <a:solidFill>
              <a:schemeClr val="accent2"/>
            </a:solidFill>
            <a:ln w="9525">
              <a:noFill/>
            </a:ln>
          </p:spPr>
        </p:pic>
        <p:sp>
          <p:nvSpPr>
            <p:cNvPr id="97286" name="Text Box 9"/>
            <p:cNvSpPr txBox="1"/>
            <p:nvPr/>
          </p:nvSpPr>
          <p:spPr>
            <a:xfrm>
              <a:off x="3323" y="1785"/>
              <a:ext cx="491" cy="275"/>
            </a:xfrm>
            <a:prstGeom prst="rect">
              <a:avLst/>
            </a:prstGeom>
            <a:solidFill>
              <a:schemeClr val="accent2"/>
            </a:solid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zh-CN" sz="2000" dirty="0">
                  <a:solidFill>
                    <a:srgbClr val="000000"/>
                  </a:solidFill>
                </a:rPr>
                <a:t>压实</a:t>
              </a:r>
              <a:endParaRPr lang="zh-CN" altLang="zh-CN" sz="2000" dirty="0">
                <a:solidFill>
                  <a:srgbClr val="000000"/>
                </a:solidFill>
              </a:endParaRPr>
            </a:p>
          </p:txBody>
        </p:sp>
        <p:sp>
          <p:nvSpPr>
            <p:cNvPr id="97287" name="Text Box 10"/>
            <p:cNvSpPr txBox="1"/>
            <p:nvPr/>
          </p:nvSpPr>
          <p:spPr>
            <a:xfrm>
              <a:off x="1270" y="1785"/>
              <a:ext cx="491" cy="275"/>
            </a:xfrm>
            <a:prstGeom prst="rect">
              <a:avLst/>
            </a:prstGeom>
            <a:solidFill>
              <a:schemeClr val="accent2"/>
            </a:solid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zh-CN" sz="2000" dirty="0">
                  <a:solidFill>
                    <a:srgbClr val="000000"/>
                  </a:solidFill>
                </a:rPr>
                <a:t>射砂</a:t>
              </a:r>
              <a:endParaRPr lang="zh-CN" altLang="zh-CN" sz="2000" dirty="0">
                <a:solidFill>
                  <a:srgbClr val="000000"/>
                </a:solidFill>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4"/>
          <p:cNvSpPr>
            <a:spLocks noChangeArrowheads="1"/>
          </p:cNvSpPr>
          <p:nvPr/>
        </p:nvSpPr>
        <p:spPr bwMode="auto">
          <a:xfrm>
            <a:off x="2051050" y="711200"/>
            <a:ext cx="6019800" cy="70167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GreekS" pitchFamily="2" charset="0"/>
                <a:ea typeface="楷体_GB2312" pitchFamily="49" charset="-122"/>
                <a:cs typeface="+mn-cs"/>
              </a:rPr>
              <a:t>浇注位置与分型面的选择</a:t>
            </a:r>
            <a:r>
              <a:rPr kumimoji="0" lang="zh-CN" altLang="en-US" sz="36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rPr>
              <a:t> </a:t>
            </a:r>
            <a:endParaRPr kumimoji="0" lang="zh-CN" altLang="en-US" sz="3600" b="1" i="0" u="none" strike="noStrike" kern="1200" cap="none" spc="0" normalizeH="0" baseline="0" noProof="0">
              <a:ln>
                <a:noFill/>
              </a:ln>
              <a:solidFill>
                <a:srgbClr val="FF0066"/>
              </a:solidFill>
              <a:effectLst/>
              <a:uLnTx/>
              <a:uFillTx/>
              <a:latin typeface="宋体" panose="02010600030101010101" pitchFamily="2" charset="-122"/>
              <a:ea typeface="宋体" panose="02010600030101010101" pitchFamily="2" charset="-122"/>
              <a:cs typeface="+mn-cs"/>
            </a:endParaRPr>
          </a:p>
        </p:txBody>
      </p:sp>
      <p:sp>
        <p:nvSpPr>
          <p:cNvPr id="100355" name="Rectangle 24"/>
          <p:cNvSpPr/>
          <p:nvPr/>
        </p:nvSpPr>
        <p:spPr>
          <a:xfrm>
            <a:off x="0" y="214471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0356" name="Rectangle 25"/>
          <p:cNvSpPr/>
          <p:nvPr/>
        </p:nvSpPr>
        <p:spPr>
          <a:xfrm>
            <a:off x="0" y="21447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0357" name="Rectangle 36"/>
          <p:cNvSpPr/>
          <p:nvPr/>
        </p:nvSpPr>
        <p:spPr>
          <a:xfrm>
            <a:off x="0" y="23733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0358" name="Rectangle 47"/>
          <p:cNvSpPr/>
          <p:nvPr/>
        </p:nvSpPr>
        <p:spPr>
          <a:xfrm>
            <a:off x="0" y="26019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0359" name="Rectangle 58"/>
          <p:cNvSpPr/>
          <p:nvPr/>
        </p:nvSpPr>
        <p:spPr>
          <a:xfrm>
            <a:off x="0" y="28305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68617" name="Rectangle 80"/>
          <p:cNvSpPr/>
          <p:nvPr/>
        </p:nvSpPr>
        <p:spPr>
          <a:xfrm>
            <a:off x="611188" y="1773238"/>
            <a:ext cx="8137525"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2400" b="1" dirty="0">
                <a:solidFill>
                  <a:schemeClr val="hlink"/>
                </a:solidFill>
                <a:latin typeface="GreekS" pitchFamily="2" charset="0"/>
              </a:rPr>
              <a:t>   </a:t>
            </a:r>
            <a:r>
              <a:rPr lang="zh-CN" altLang="en-US" sz="2400" b="1" dirty="0">
                <a:solidFill>
                  <a:srgbClr val="FF00FF"/>
                </a:solidFill>
                <a:latin typeface="楷体_GB2312" pitchFamily="49" charset="-122"/>
                <a:ea typeface="楷体_GB2312" pitchFamily="49" charset="-122"/>
              </a:rPr>
              <a:t>浇注位置</a:t>
            </a:r>
            <a:r>
              <a:rPr lang="en-US" altLang="zh-CN" sz="2400" b="1" dirty="0">
                <a:solidFill>
                  <a:srgbClr val="FF00FF"/>
                </a:solidFill>
                <a:latin typeface="楷体_GB2312" pitchFamily="49" charset="-122"/>
                <a:ea typeface="楷体_GB2312" pitchFamily="49" charset="-122"/>
              </a:rPr>
              <a:t>:</a:t>
            </a:r>
            <a:r>
              <a:rPr lang="en-US" altLang="zh-CN" sz="2400" b="1" dirty="0">
                <a:solidFill>
                  <a:schemeClr val="hlink"/>
                </a:solidFill>
                <a:latin typeface="楷体_GB2312" pitchFamily="49" charset="-122"/>
                <a:ea typeface="楷体_GB2312" pitchFamily="49" charset="-122"/>
              </a:rPr>
              <a:t> </a:t>
            </a:r>
            <a:r>
              <a:rPr lang="zh-CN" altLang="en-US" sz="2400" b="1" dirty="0">
                <a:latin typeface="楷体_GB2312" pitchFamily="49" charset="-122"/>
                <a:ea typeface="楷体_GB2312" pitchFamily="49" charset="-122"/>
              </a:rPr>
              <a:t>浇注时铸件在铸型中所处的空间位置。</a:t>
            </a:r>
            <a:endParaRPr lang="zh-CN" altLang="en-US" sz="2400" b="1" dirty="0">
              <a:latin typeface="楷体_GB2312" pitchFamily="49" charset="-122"/>
              <a:ea typeface="楷体_GB2312" pitchFamily="49" charset="-122"/>
            </a:endParaRPr>
          </a:p>
          <a:p>
            <a:pPr marL="0" lvl="0" indent="0" eaLnBrk="1" hangingPunct="1">
              <a:spcBef>
                <a:spcPct val="0"/>
              </a:spcBef>
              <a:buClrTx/>
              <a:buSzTx/>
              <a:buNone/>
            </a:pPr>
            <a:r>
              <a:rPr lang="zh-CN" altLang="en-US" sz="1800" b="1" dirty="0"/>
              <a:t>       </a:t>
            </a:r>
            <a:r>
              <a:rPr lang="zh-CN" altLang="en-US" sz="2400" b="1" dirty="0">
                <a:solidFill>
                  <a:srgbClr val="FF00FF"/>
                </a:solidFill>
                <a:latin typeface="楷体_GB2312" pitchFamily="49" charset="-122"/>
                <a:ea typeface="楷体_GB2312" pitchFamily="49" charset="-122"/>
              </a:rPr>
              <a:t>分型面</a:t>
            </a:r>
            <a:r>
              <a:rPr lang="en-US" altLang="zh-CN" sz="2400" b="1" dirty="0">
                <a:solidFill>
                  <a:srgbClr val="FF00FF"/>
                </a:solidFill>
                <a:latin typeface="楷体_GB2312" pitchFamily="49" charset="-122"/>
                <a:ea typeface="楷体_GB2312" pitchFamily="49" charset="-122"/>
              </a:rPr>
              <a:t>: </a:t>
            </a:r>
            <a:r>
              <a:rPr lang="zh-CN" altLang="en-US" sz="2400" b="1" dirty="0">
                <a:latin typeface="楷体_GB2312" pitchFamily="49" charset="-122"/>
                <a:ea typeface="楷体_GB2312" pitchFamily="49" charset="-122"/>
              </a:rPr>
              <a:t>铸型组元间的接合面。</a:t>
            </a:r>
            <a:endParaRPr lang="zh-CN" altLang="en-US" sz="2400" b="1" dirty="0">
              <a:latin typeface="楷体_GB2312" pitchFamily="49" charset="-122"/>
              <a:ea typeface="楷体_GB2312" pitchFamily="49" charset="-122"/>
            </a:endParaRPr>
          </a:p>
        </p:txBody>
      </p:sp>
      <p:grpSp>
        <p:nvGrpSpPr>
          <p:cNvPr id="2" name="Group 83"/>
          <p:cNvGrpSpPr/>
          <p:nvPr/>
        </p:nvGrpSpPr>
        <p:grpSpPr>
          <a:xfrm>
            <a:off x="404813" y="2636838"/>
            <a:ext cx="7983537" cy="4225925"/>
            <a:chOff x="-517" y="0"/>
            <a:chExt cx="1969" cy="1225"/>
          </a:xfrm>
        </p:grpSpPr>
        <p:sp>
          <p:nvSpPr>
            <p:cNvPr id="100362" name="Text Box 11"/>
            <p:cNvSpPr txBox="1"/>
            <p:nvPr/>
          </p:nvSpPr>
          <p:spPr>
            <a:xfrm>
              <a:off x="-517" y="545"/>
              <a:ext cx="1406" cy="134"/>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800" b="1" dirty="0">
                  <a:solidFill>
                    <a:srgbClr val="FFFF00"/>
                  </a:solidFill>
                  <a:latin typeface="Times New Roman" panose="02020603050405020304" pitchFamily="18" charset="0"/>
                </a:rPr>
                <a:t>   </a:t>
              </a:r>
              <a:r>
                <a:rPr lang="zh-CN" altLang="en-US" sz="1600" b="1" dirty="0">
                  <a:latin typeface="楷体_GB2312" pitchFamily="49" charset="-122"/>
                  <a:ea typeface="楷体_GB2312" pitchFamily="49" charset="-122"/>
                </a:rPr>
                <a:t>车床床身浇注位置</a:t>
              </a:r>
              <a:r>
                <a:rPr lang="zh-CN" altLang="en-US" sz="1400" dirty="0">
                  <a:latin typeface="楷体_GB2312" pitchFamily="49" charset="-122"/>
                  <a:ea typeface="楷体_GB2312" pitchFamily="49" charset="-122"/>
                </a:rPr>
                <a:t>	</a:t>
              </a:r>
              <a:endParaRPr lang="zh-CN" altLang="en-US" sz="1400" dirty="0">
                <a:latin typeface="楷体_GB2312" pitchFamily="49" charset="-122"/>
                <a:ea typeface="楷体_GB2312" pitchFamily="49" charset="-122"/>
              </a:endParaRPr>
            </a:p>
            <a:p>
              <a:pPr marL="0" lvl="0" indent="0" eaLnBrk="1" hangingPunct="1">
                <a:spcBef>
                  <a:spcPct val="0"/>
                </a:spcBef>
                <a:buClrTx/>
                <a:buSzTx/>
                <a:buNone/>
              </a:pPr>
              <a:endParaRPr lang="en-US" altLang="zh-CN" sz="1200" dirty="0">
                <a:latin typeface="楷体_GB2312" pitchFamily="49" charset="-122"/>
                <a:ea typeface="楷体_GB2312" pitchFamily="49" charset="-122"/>
              </a:endParaRPr>
            </a:p>
          </p:txBody>
        </p:sp>
        <p:pic>
          <p:nvPicPr>
            <p:cNvPr id="100363" name="Picture 82" descr="图片3"/>
            <p:cNvPicPr>
              <a:picLocks noChangeAspect="1"/>
            </p:cNvPicPr>
            <p:nvPr/>
          </p:nvPicPr>
          <p:blipFill>
            <a:blip r:embed="rId1"/>
            <a:stretch>
              <a:fillRect/>
            </a:stretch>
          </p:blipFill>
          <p:spPr>
            <a:xfrm>
              <a:off x="91" y="0"/>
              <a:ext cx="1361" cy="1225"/>
            </a:xfrm>
            <a:prstGeom prst="rect">
              <a:avLst/>
            </a:prstGeom>
            <a:noFill/>
            <a:ln w="9525">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8617">
                                            <p:txEl>
                                              <p:charRg st="0" end="27"/>
                                            </p:txEl>
                                          </p:spTgt>
                                        </p:tgtEl>
                                        <p:attrNameLst>
                                          <p:attrName>style.visibility</p:attrName>
                                        </p:attrNameLst>
                                      </p:cBhvr>
                                      <p:to>
                                        <p:strVal val="visible"/>
                                      </p:to>
                                    </p:set>
                                    <p:animEffect transition="in" filter="blinds(horizontal)">
                                      <p:cBhvr>
                                        <p:cTn id="7" dur="500"/>
                                        <p:tgtEl>
                                          <p:spTgt spid="68617">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8617">
                                            <p:txEl>
                                              <p:charRg st="27" end="50"/>
                                            </p:txEl>
                                          </p:spTgt>
                                        </p:tgtEl>
                                        <p:attrNameLst>
                                          <p:attrName>style.visibility</p:attrName>
                                        </p:attrNameLst>
                                      </p:cBhvr>
                                      <p:to>
                                        <p:strVal val="visible"/>
                                      </p:to>
                                    </p:set>
                                    <p:animEffect transition="in" filter="blinds(horizontal)">
                                      <p:cBhvr>
                                        <p:cTn id="12" dur="500"/>
                                        <p:tgtEl>
                                          <p:spTgt spid="68617">
                                            <p:txEl>
                                              <p:charRg st="27" end="5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amond(in)">
                                      <p:cBhvr>
                                        <p:cTn id="1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4"/>
          <p:cNvSpPr>
            <a:spLocks noChangeArrowheads="1"/>
          </p:cNvSpPr>
          <p:nvPr/>
        </p:nvSpPr>
        <p:spPr bwMode="auto">
          <a:xfrm>
            <a:off x="2051050" y="711200"/>
            <a:ext cx="5048250" cy="70802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GreekS" pitchFamily="2" charset="0"/>
                <a:ea typeface="楷体_GB2312" pitchFamily="49" charset="-122"/>
                <a:cs typeface="+mn-cs"/>
              </a:rPr>
              <a:t>浇注位置的选择原则</a:t>
            </a:r>
            <a:r>
              <a:rPr kumimoji="0" lang="zh-CN" altLang="en-US" sz="3600" b="1" i="0" u="none" strike="noStrike" kern="1200" cap="none" spc="0" normalizeH="0" baseline="0" noProof="0" dirty="0">
                <a:ln>
                  <a:noFill/>
                </a:ln>
                <a:solidFill>
                  <a:srgbClr val="FF0066"/>
                </a:solidFill>
                <a:effectLst/>
                <a:uLnTx/>
                <a:uFillTx/>
                <a:latin typeface="宋体" panose="02010600030101010101" pitchFamily="2" charset="-122"/>
                <a:ea typeface="宋体" panose="02010600030101010101" pitchFamily="2" charset="-122"/>
                <a:cs typeface="+mn-cs"/>
              </a:rPr>
              <a:t> </a:t>
            </a:r>
            <a:endParaRPr kumimoji="0" lang="zh-CN" altLang="en-US" sz="3600" b="1" i="0" u="none" strike="noStrike" kern="1200" cap="none" spc="0" normalizeH="0" baseline="0" noProof="0" dirty="0">
              <a:ln>
                <a:noFill/>
              </a:ln>
              <a:solidFill>
                <a:srgbClr val="FF0066"/>
              </a:solidFill>
              <a:effectLst/>
              <a:uLnTx/>
              <a:uFillTx/>
              <a:latin typeface="宋体" panose="02010600030101010101" pitchFamily="2" charset="-122"/>
              <a:ea typeface="宋体" panose="02010600030101010101" pitchFamily="2" charset="-122"/>
              <a:cs typeface="+mn-cs"/>
            </a:endParaRPr>
          </a:p>
        </p:txBody>
      </p:sp>
      <p:sp>
        <p:nvSpPr>
          <p:cNvPr id="68611" name="Rectangle 5"/>
          <p:cNvSpPr/>
          <p:nvPr/>
        </p:nvSpPr>
        <p:spPr>
          <a:xfrm>
            <a:off x="250825" y="1533843"/>
            <a:ext cx="4968875" cy="501586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800" b="1" dirty="0">
                <a:solidFill>
                  <a:srgbClr val="CC0000"/>
                </a:solidFill>
                <a:latin typeface="楷体_GB2312" pitchFamily="49" charset="-122"/>
                <a:ea typeface="楷体_GB2312" pitchFamily="49" charset="-122"/>
              </a:rPr>
              <a:t>（</a:t>
            </a:r>
            <a:r>
              <a:rPr lang="en-US" altLang="zh-CN" sz="2800" b="1" dirty="0">
                <a:solidFill>
                  <a:srgbClr val="CC0000"/>
                </a:solidFill>
                <a:latin typeface="楷体_GB2312" pitchFamily="49" charset="-122"/>
                <a:ea typeface="楷体_GB2312" pitchFamily="49" charset="-122"/>
              </a:rPr>
              <a:t>1</a:t>
            </a:r>
            <a:r>
              <a:rPr lang="zh-CN" altLang="en-US" sz="2800" b="1" dirty="0">
                <a:solidFill>
                  <a:srgbClr val="CC0000"/>
                </a:solidFill>
                <a:latin typeface="楷体_GB2312" pitchFamily="49" charset="-122"/>
                <a:ea typeface="楷体_GB2312" pitchFamily="49" charset="-122"/>
              </a:rPr>
              <a:t>）铸件重要工作面或主要加工面应朝下或呈侧立状态</a:t>
            </a:r>
            <a:endParaRPr lang="zh-CN" altLang="en-US" sz="2800" b="1" dirty="0">
              <a:solidFill>
                <a:srgbClr val="CC0000"/>
              </a:solidFill>
              <a:latin typeface="楷体_GB2312" pitchFamily="49" charset="-122"/>
              <a:ea typeface="楷体_GB2312" pitchFamily="49" charset="-122"/>
            </a:endParaRPr>
          </a:p>
          <a:p>
            <a:pPr lvl="0" eaLnBrk="1" hangingPunct="1">
              <a:spcBef>
                <a:spcPct val="0"/>
              </a:spcBef>
              <a:buClrTx/>
              <a:buSzTx/>
            </a:pPr>
            <a:r>
              <a:rPr lang="zh-CN" altLang="en-US" sz="2400" b="1" dirty="0">
                <a:latin typeface="楷体_GB2312" pitchFamily="49" charset="-122"/>
                <a:ea typeface="楷体_GB2312" pitchFamily="49" charset="-122"/>
              </a:rPr>
              <a:t>金属液体的夹渣或铸型中残留的砂粒</a:t>
            </a:r>
            <a:r>
              <a:rPr lang="zh-CN" altLang="en-US" sz="2400" b="1" dirty="0">
                <a:solidFill>
                  <a:srgbClr val="0000FF"/>
                </a:solidFill>
                <a:latin typeface="楷体_GB2312" pitchFamily="49" charset="-122"/>
                <a:ea typeface="楷体_GB2312" pitchFamily="49" charset="-122"/>
              </a:rPr>
              <a:t>容易浮在金属液表面，</a:t>
            </a:r>
            <a:r>
              <a:rPr lang="zh-CN" altLang="en-US" sz="2400" b="1" dirty="0">
                <a:latin typeface="楷体_GB2312" pitchFamily="49" charset="-122"/>
                <a:ea typeface="楷体_GB2312" pitchFamily="49" charset="-122"/>
              </a:rPr>
              <a:t>使得铸件上表面容易产生夹渣、气孔等铸造缺陷。</a:t>
            </a:r>
            <a:endParaRPr lang="zh-CN" altLang="en-US" sz="2400" b="1" dirty="0">
              <a:latin typeface="楷体_GB2312" pitchFamily="49" charset="-122"/>
              <a:ea typeface="楷体_GB2312" pitchFamily="49" charset="-122"/>
            </a:endParaRPr>
          </a:p>
          <a:p>
            <a:pPr lvl="0" eaLnBrk="1" hangingPunct="1">
              <a:spcBef>
                <a:spcPct val="0"/>
              </a:spcBef>
              <a:buClrTx/>
              <a:buSzTx/>
            </a:pPr>
            <a:r>
              <a:rPr lang="zh-CN" altLang="en-US" sz="2400" b="1" dirty="0">
                <a:latin typeface="楷体_GB2312" pitchFamily="49" charset="-122"/>
                <a:ea typeface="楷体_GB2312" pitchFamily="49" charset="-122"/>
              </a:rPr>
              <a:t>在铸件</a:t>
            </a:r>
            <a:r>
              <a:rPr lang="zh-CN" altLang="en-US" sz="2400" b="1" dirty="0">
                <a:solidFill>
                  <a:srgbClr val="0000FF"/>
                </a:solidFill>
                <a:latin typeface="楷体_GB2312" pitchFamily="49" charset="-122"/>
                <a:ea typeface="楷体_GB2312" pitchFamily="49" charset="-122"/>
              </a:rPr>
              <a:t>下部因金属在其重力作用下结晶，同时受上部金属的补缩，故下部组织致密，机械性能也好。</a:t>
            </a:r>
            <a:r>
              <a:rPr lang="en-US" altLang="zh-CN" sz="2400" b="1" dirty="0">
                <a:solidFill>
                  <a:srgbClr val="0000FF"/>
                </a:solidFill>
                <a:latin typeface="楷体_GB2312" pitchFamily="49" charset="-122"/>
                <a:ea typeface="楷体_GB2312" pitchFamily="49" charset="-122"/>
              </a:rPr>
              <a:t> </a:t>
            </a:r>
            <a:endParaRPr lang="en-US" altLang="zh-CN" sz="2400" b="1" dirty="0">
              <a:solidFill>
                <a:srgbClr val="0000FF"/>
              </a:solidFill>
              <a:latin typeface="楷体_GB2312" pitchFamily="49" charset="-122"/>
              <a:ea typeface="楷体_GB2312" pitchFamily="49" charset="-122"/>
            </a:endParaRPr>
          </a:p>
          <a:p>
            <a:pPr lvl="0" eaLnBrk="1" hangingPunct="1">
              <a:spcBef>
                <a:spcPct val="0"/>
              </a:spcBef>
              <a:buClrTx/>
              <a:buSzTx/>
            </a:pPr>
            <a:r>
              <a:rPr lang="zh-CN" altLang="en-US" sz="2400" b="1" dirty="0">
                <a:latin typeface="楷体_GB2312" pitchFamily="49" charset="-122"/>
                <a:ea typeface="楷体_GB2312" pitchFamily="49" charset="-122"/>
              </a:rPr>
              <a:t>若某些零件的重要加工面难以朝下时则应侧立，侧面虽不如下部质量高，但比上部好。</a:t>
            </a:r>
            <a:endParaRPr lang="zh-CN" altLang="en-US" sz="2400" b="1" dirty="0">
              <a:latin typeface="楷体_GB2312" pitchFamily="49" charset="-122"/>
              <a:ea typeface="楷体_GB2312" pitchFamily="49" charset="-122"/>
            </a:endParaRPr>
          </a:p>
          <a:p>
            <a:pPr marL="0" lvl="0" indent="0" eaLnBrk="1" hangingPunct="1">
              <a:spcBef>
                <a:spcPct val="0"/>
              </a:spcBef>
              <a:buClrTx/>
              <a:buSzTx/>
              <a:buNone/>
            </a:pPr>
            <a:r>
              <a:rPr lang="zh-CN" altLang="en-US" sz="2400" dirty="0">
                <a:latin typeface="楷体_GB2312" pitchFamily="49" charset="-122"/>
                <a:ea typeface="楷体_GB2312" pitchFamily="49" charset="-122"/>
              </a:rPr>
              <a:t> </a:t>
            </a:r>
            <a:endParaRPr lang="zh-CN" altLang="en-US" sz="2400" dirty="0">
              <a:latin typeface="楷体_GB2312" pitchFamily="49" charset="-122"/>
              <a:ea typeface="楷体_GB2312" pitchFamily="49" charset="-122"/>
            </a:endParaRPr>
          </a:p>
        </p:txBody>
      </p:sp>
      <p:sp>
        <p:nvSpPr>
          <p:cNvPr id="101380" name="Rectangle 24"/>
          <p:cNvSpPr/>
          <p:nvPr/>
        </p:nvSpPr>
        <p:spPr>
          <a:xfrm>
            <a:off x="0" y="214471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1381" name="Rectangle 25"/>
          <p:cNvSpPr/>
          <p:nvPr/>
        </p:nvSpPr>
        <p:spPr>
          <a:xfrm>
            <a:off x="0" y="21447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1382" name="Rectangle 36"/>
          <p:cNvSpPr/>
          <p:nvPr/>
        </p:nvSpPr>
        <p:spPr>
          <a:xfrm>
            <a:off x="0" y="23733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1383" name="Rectangle 47"/>
          <p:cNvSpPr/>
          <p:nvPr/>
        </p:nvSpPr>
        <p:spPr>
          <a:xfrm>
            <a:off x="0" y="26019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1384" name="Rectangle 58"/>
          <p:cNvSpPr/>
          <p:nvPr/>
        </p:nvSpPr>
        <p:spPr>
          <a:xfrm>
            <a:off x="0" y="28305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pic>
        <p:nvPicPr>
          <p:cNvPr id="101385" name="Picture 82" descr="图片3"/>
          <p:cNvPicPr>
            <a:picLocks noChangeAspect="1"/>
          </p:cNvPicPr>
          <p:nvPr/>
        </p:nvPicPr>
        <p:blipFill>
          <a:blip r:embed="rId1"/>
          <a:stretch>
            <a:fillRect/>
          </a:stretch>
        </p:blipFill>
        <p:spPr>
          <a:xfrm>
            <a:off x="5181600" y="2144713"/>
            <a:ext cx="3729038" cy="32004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68611">
                                            <p:txEl>
                                              <p:charRg st="0" end="26"/>
                                            </p:txEl>
                                          </p:spTgt>
                                        </p:tgtEl>
                                        <p:attrNameLst>
                                          <p:attrName>style.visibility</p:attrName>
                                        </p:attrNameLst>
                                      </p:cBhvr>
                                      <p:to>
                                        <p:strVal val="visible"/>
                                      </p:to>
                                    </p:set>
                                    <p:animEffect transition="in" filter="blinds(horizontal)">
                                      <p:cBhvr>
                                        <p:cTn id="7" dur="500"/>
                                        <p:tgtEl>
                                          <p:spTgt spid="68611">
                                            <p:txEl>
                                              <p:charRg st="0" end="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8611">
                                            <p:txEl>
                                              <p:charRg st="26" end="163"/>
                                            </p:txEl>
                                          </p:spTgt>
                                        </p:tgtEl>
                                        <p:attrNameLst>
                                          <p:attrName>style.visibility</p:attrName>
                                        </p:attrNameLst>
                                      </p:cBhvr>
                                      <p:to>
                                        <p:strVal val="visible"/>
                                      </p:to>
                                    </p:set>
                                    <p:animEffect transition="in" filter="blinds(horizontal)">
                                      <p:cBhvr>
                                        <p:cTn id="12" dur="500"/>
                                        <p:tgtEl>
                                          <p:spTgt spid="68611">
                                            <p:txEl>
                                              <p:charRg st="26" end="16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8611">
                                            <p:txEl>
                                              <p:charRg st="2" end="2"/>
                                            </p:txEl>
                                          </p:spTgt>
                                        </p:tgtEl>
                                        <p:attrNameLst>
                                          <p:attrName>style.visibility</p:attrName>
                                        </p:attrNameLst>
                                      </p:cBhvr>
                                      <p:to>
                                        <p:strVal val="visible"/>
                                      </p:to>
                                    </p:set>
                                    <p:animEffect transition="in" filter="blinds(horizontal)">
                                      <p:cBhvr>
                                        <p:cTn id="17" dur="500"/>
                                        <p:tgtEl>
                                          <p:spTgt spid="68611">
                                            <p:txEl>
                                              <p:char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8611">
                                            <p:txEl>
                                              <p:charRg st="3" end="3"/>
                                            </p:txEl>
                                          </p:spTgt>
                                        </p:tgtEl>
                                        <p:attrNameLst>
                                          <p:attrName>style.visibility</p:attrName>
                                        </p:attrNameLst>
                                      </p:cBhvr>
                                      <p:to>
                                        <p:strVal val="visible"/>
                                      </p:to>
                                    </p:set>
                                    <p:animEffect transition="in" filter="blinds(horizontal)">
                                      <p:cBhvr>
                                        <p:cTn id="22" dur="500"/>
                                        <p:tgtEl>
                                          <p:spTgt spid="68611">
                                            <p:txEl>
                                              <p:char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68611">
                                            <p:txEl>
                                              <p:charRg st="163" end="165"/>
                                            </p:txEl>
                                          </p:spTgt>
                                        </p:tgtEl>
                                        <p:attrNameLst>
                                          <p:attrName>style.visibility</p:attrName>
                                        </p:attrNameLst>
                                      </p:cBhvr>
                                      <p:to>
                                        <p:strVal val="visible"/>
                                      </p:to>
                                    </p:set>
                                    <p:animEffect transition="in" filter="blinds(horizontal)">
                                      <p:cBhvr>
                                        <p:cTn id="25" dur="500"/>
                                        <p:tgtEl>
                                          <p:spTgt spid="68611">
                                            <p:txEl>
                                              <p:charRg st="163" end="16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ChangeArrowheads="1"/>
          </p:cNvSpPr>
          <p:nvPr/>
        </p:nvSpPr>
        <p:spPr bwMode="auto">
          <a:xfrm>
            <a:off x="2124075" y="711200"/>
            <a:ext cx="5073650" cy="70802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浇</a:t>
            </a:r>
            <a:r>
              <a:rPr kumimoji="0" lang="zh-CN" altLang="en-US" sz="40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注位置</a:t>
            </a: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的选择原则</a:t>
            </a:r>
            <a:r>
              <a:rPr kumimoji="0" lang="zh-CN" altLang="en-US" sz="4000" b="1" i="0" u="none" strike="noStrike" kern="1200" cap="none" spc="0" normalizeH="0" baseline="0" noProof="0" dirty="0">
                <a:ln>
                  <a:noFill/>
                </a:ln>
                <a:solidFill>
                  <a:srgbClr val="FF6600"/>
                </a:solidFill>
                <a:effectLst/>
                <a:uLnTx/>
                <a:uFillTx/>
                <a:latin typeface="楷体_GB2312" pitchFamily="49" charset="-122"/>
                <a:ea typeface="楷体_GB2312" pitchFamily="49" charset="-122"/>
                <a:cs typeface="+mn-cs"/>
              </a:rPr>
              <a:t> </a:t>
            </a:r>
            <a:endParaRPr kumimoji="0" lang="zh-CN" altLang="en-US" sz="4000" b="1" i="0" u="none" strike="noStrike" kern="1200" cap="none" spc="0" normalizeH="0" baseline="0" noProof="0" dirty="0">
              <a:ln>
                <a:noFill/>
              </a:ln>
              <a:solidFill>
                <a:srgbClr val="FF6600"/>
              </a:solidFill>
              <a:effectLst/>
              <a:uLnTx/>
              <a:uFillTx/>
              <a:latin typeface="楷体_GB2312" pitchFamily="49" charset="-122"/>
              <a:ea typeface="楷体_GB2312" pitchFamily="49" charset="-122"/>
              <a:cs typeface="+mn-cs"/>
            </a:endParaRPr>
          </a:p>
        </p:txBody>
      </p:sp>
      <p:sp>
        <p:nvSpPr>
          <p:cNvPr id="102403" name="Rectangle 3"/>
          <p:cNvSpPr/>
          <p:nvPr/>
        </p:nvSpPr>
        <p:spPr>
          <a:xfrm>
            <a:off x="0" y="214471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2404" name="Rectangle 4"/>
          <p:cNvSpPr/>
          <p:nvPr/>
        </p:nvSpPr>
        <p:spPr>
          <a:xfrm>
            <a:off x="0" y="21447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2405" name="Rectangle 5"/>
          <p:cNvSpPr/>
          <p:nvPr/>
        </p:nvSpPr>
        <p:spPr>
          <a:xfrm>
            <a:off x="0" y="23733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2406" name="Rectangle 6"/>
          <p:cNvSpPr/>
          <p:nvPr/>
        </p:nvSpPr>
        <p:spPr>
          <a:xfrm>
            <a:off x="0" y="26019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2407" name="Rectangle 7"/>
          <p:cNvSpPr/>
          <p:nvPr/>
        </p:nvSpPr>
        <p:spPr>
          <a:xfrm>
            <a:off x="0" y="28305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2408" name="Rectangle 8"/>
          <p:cNvSpPr/>
          <p:nvPr/>
        </p:nvSpPr>
        <p:spPr>
          <a:xfrm>
            <a:off x="1042988" y="1736090"/>
            <a:ext cx="7777162" cy="82994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400" b="1" dirty="0">
                <a:latin typeface="楷体_GB2312" pitchFamily="49" charset="-122"/>
                <a:ea typeface="楷体_GB2312" pitchFamily="49" charset="-122"/>
              </a:rPr>
              <a:t>伞齿轮的零件图、模样图和铸造工艺图</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重要加工面或工作面应朝下或侧立</a:t>
            </a:r>
            <a:r>
              <a:rPr lang="en-US" altLang="zh-CN" sz="2400" b="1" dirty="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p:txBody>
      </p:sp>
      <p:grpSp>
        <p:nvGrpSpPr>
          <p:cNvPr id="102409" name="Group 9"/>
          <p:cNvGrpSpPr/>
          <p:nvPr/>
        </p:nvGrpSpPr>
        <p:grpSpPr>
          <a:xfrm>
            <a:off x="179388" y="2846388"/>
            <a:ext cx="8839200" cy="4011612"/>
            <a:chOff x="0" y="0"/>
            <a:chExt cx="5568" cy="2256"/>
          </a:xfrm>
        </p:grpSpPr>
        <p:pic>
          <p:nvPicPr>
            <p:cNvPr id="102410" name="Picture 10" descr="05"/>
            <p:cNvPicPr>
              <a:picLocks noChangeAspect="1"/>
            </p:cNvPicPr>
            <p:nvPr/>
          </p:nvPicPr>
          <p:blipFill>
            <a:blip r:embed="rId1"/>
            <a:stretch>
              <a:fillRect/>
            </a:stretch>
          </p:blipFill>
          <p:spPr>
            <a:xfrm>
              <a:off x="0" y="0"/>
              <a:ext cx="5568" cy="2256"/>
            </a:xfrm>
            <a:prstGeom prst="rect">
              <a:avLst/>
            </a:prstGeom>
            <a:noFill/>
            <a:ln w="9525">
              <a:noFill/>
            </a:ln>
          </p:spPr>
        </p:pic>
        <p:sp>
          <p:nvSpPr>
            <p:cNvPr id="102411" name="Rectangle 11"/>
            <p:cNvSpPr/>
            <p:nvPr/>
          </p:nvSpPr>
          <p:spPr>
            <a:xfrm>
              <a:off x="1486" y="2029"/>
              <a:ext cx="454" cy="136"/>
            </a:xfrm>
            <a:prstGeom prst="rect">
              <a:avLst/>
            </a:prstGeom>
            <a:solidFill>
              <a:schemeClr val="bg1"/>
            </a:solidFill>
            <a:ln w="9525" cap="flat" cmpd="sng">
              <a:solidFill>
                <a:srgbClr val="FFFF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Group 2"/>
          <p:cNvGrpSpPr/>
          <p:nvPr/>
        </p:nvGrpSpPr>
        <p:grpSpPr>
          <a:xfrm>
            <a:off x="4391978" y="3068955"/>
            <a:ext cx="4392612" cy="3816350"/>
            <a:chOff x="0" y="0"/>
            <a:chExt cx="1633" cy="1905"/>
          </a:xfrm>
        </p:grpSpPr>
        <p:pic>
          <p:nvPicPr>
            <p:cNvPr id="103430" name="Picture 3" descr="大平面浇注-1"/>
            <p:cNvPicPr>
              <a:picLocks noChangeAspect="1"/>
            </p:cNvPicPr>
            <p:nvPr/>
          </p:nvPicPr>
          <p:blipFill>
            <a:blip r:embed="rId1">
              <a:lum bright="14001" contrast="10000"/>
            </a:blip>
            <a:srcRect l="44980" t="3957" r="11748" b="3957"/>
            <a:stretch>
              <a:fillRect/>
            </a:stretch>
          </p:blipFill>
          <p:spPr>
            <a:xfrm>
              <a:off x="40" y="0"/>
              <a:ext cx="1457" cy="1587"/>
            </a:xfrm>
            <a:prstGeom prst="rect">
              <a:avLst/>
            </a:prstGeom>
            <a:noFill/>
            <a:ln w="9525">
              <a:noFill/>
            </a:ln>
          </p:spPr>
        </p:pic>
        <p:sp>
          <p:nvSpPr>
            <p:cNvPr id="103431" name="Text Box 4"/>
            <p:cNvSpPr txBox="1"/>
            <p:nvPr/>
          </p:nvSpPr>
          <p:spPr>
            <a:xfrm>
              <a:off x="0" y="1678"/>
              <a:ext cx="1633" cy="227"/>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600" b="1" dirty="0">
                  <a:latin typeface="Times New Roman" panose="02020603050405020304" pitchFamily="18" charset="0"/>
                </a:rPr>
                <a:t>图  大平面铸件浇注位置</a:t>
              </a:r>
              <a:r>
                <a:rPr lang="zh-CN" altLang="en-US" sz="1800" b="1" dirty="0">
                  <a:latin typeface="Times New Roman" panose="02020603050405020304" pitchFamily="18" charset="0"/>
                </a:rPr>
                <a:t>	</a:t>
              </a:r>
              <a:endParaRPr lang="zh-CN" altLang="en-US" sz="1800" b="1" dirty="0">
                <a:latin typeface="Times New Roman" panose="02020603050405020304" pitchFamily="18" charset="0"/>
              </a:endParaRPr>
            </a:p>
            <a:p>
              <a:pPr marL="0" lvl="0" indent="0" eaLnBrk="1" hangingPunct="1">
                <a:spcBef>
                  <a:spcPct val="0"/>
                </a:spcBef>
                <a:buClrTx/>
                <a:buSzTx/>
                <a:buNone/>
              </a:pPr>
              <a:endParaRPr lang="en-US" altLang="zh-CN" sz="1800" b="1" dirty="0"/>
            </a:p>
          </p:txBody>
        </p:sp>
      </p:grpSp>
      <p:sp>
        <p:nvSpPr>
          <p:cNvPr id="70661" name="Rectangle 5"/>
          <p:cNvSpPr>
            <a:spLocks noChangeArrowheads="1"/>
          </p:cNvSpPr>
          <p:nvPr/>
        </p:nvSpPr>
        <p:spPr bwMode="auto">
          <a:xfrm>
            <a:off x="1835150" y="700088"/>
            <a:ext cx="6049963"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GreekS" pitchFamily="2" charset="0"/>
                <a:ea typeface="楷体_GB2312" pitchFamily="49" charset="-122"/>
                <a:cs typeface="+mn-cs"/>
              </a:rPr>
              <a:t>浇</a:t>
            </a:r>
            <a:r>
              <a:rPr kumimoji="0" lang="zh-CN" altLang="en-US" sz="4000" b="1" i="0" u="none" strike="noStrike" kern="1200" cap="none" spc="0" normalizeH="0" baseline="0" noProof="0" dirty="0">
                <a:ln>
                  <a:noFill/>
                </a:ln>
                <a:solidFill>
                  <a:schemeClr val="tx2"/>
                </a:solidFill>
                <a:effectLst/>
                <a:uLnTx/>
                <a:uFillTx/>
                <a:latin typeface="GreekS" pitchFamily="2" charset="0"/>
                <a:ea typeface="楷体_GB2312" pitchFamily="49" charset="-122"/>
                <a:cs typeface="+mn-cs"/>
              </a:rPr>
              <a:t>注</a:t>
            </a: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GreekS" pitchFamily="2" charset="0"/>
                <a:ea typeface="楷体_GB2312" pitchFamily="49" charset="-122"/>
                <a:cs typeface="+mn-cs"/>
              </a:rPr>
              <a:t>位置的选择原则</a:t>
            </a:r>
            <a:endPar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
        <p:nvSpPr>
          <p:cNvPr id="103428" name="Rectangle 6"/>
          <p:cNvSpPr/>
          <p:nvPr/>
        </p:nvSpPr>
        <p:spPr>
          <a:xfrm>
            <a:off x="919163" y="1571625"/>
            <a:ext cx="7900987" cy="119888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400" b="1" dirty="0">
                <a:solidFill>
                  <a:srgbClr val="CC0000"/>
                </a:solidFill>
                <a:latin typeface="楷体_GB2312" pitchFamily="49" charset="-122"/>
                <a:ea typeface="楷体_GB2312" pitchFamily="49" charset="-122"/>
              </a:rPr>
              <a:t>（</a:t>
            </a:r>
            <a:r>
              <a:rPr lang="en-US" altLang="zh-CN" sz="2400" b="1" dirty="0">
                <a:solidFill>
                  <a:srgbClr val="CC0000"/>
                </a:solidFill>
                <a:latin typeface="楷体_GB2312" pitchFamily="49" charset="-122"/>
                <a:ea typeface="楷体_GB2312" pitchFamily="49" charset="-122"/>
              </a:rPr>
              <a:t>2</a:t>
            </a:r>
            <a:r>
              <a:rPr lang="zh-CN" altLang="en-US" sz="2400" b="1" dirty="0">
                <a:solidFill>
                  <a:srgbClr val="CC0000"/>
                </a:solidFill>
                <a:latin typeface="楷体_GB2312" pitchFamily="49" charset="-122"/>
                <a:ea typeface="楷体_GB2312" pitchFamily="49" charset="-122"/>
              </a:rPr>
              <a:t>）铸件的大平面尽可能朝下或采用倾斜浇注</a:t>
            </a:r>
            <a:endParaRPr lang="zh-CN" altLang="en-US" sz="2400" b="1" dirty="0">
              <a:solidFill>
                <a:srgbClr val="CC0000"/>
              </a:solidFill>
              <a:latin typeface="楷体_GB2312" pitchFamily="49" charset="-122"/>
              <a:ea typeface="楷体_GB2312" pitchFamily="49" charset="-122"/>
            </a:endParaRPr>
          </a:p>
          <a:p>
            <a:pPr marL="0" lvl="0" indent="0" eaLnBrk="1" hangingPunct="1">
              <a:spcBef>
                <a:spcPct val="0"/>
              </a:spcBef>
              <a:buClrTx/>
              <a:buSzTx/>
              <a:buNone/>
            </a:pPr>
            <a:r>
              <a:rPr lang="zh-CN" altLang="en-US" sz="2400" b="1" dirty="0">
                <a:ea typeface="楷体_GB2312" pitchFamily="49" charset="-122"/>
              </a:rPr>
              <a:t>     铸型的上表面除了容易产生砂眼、气孔、夹渣外，大平面还常产生夹砂缺陷。</a:t>
            </a:r>
            <a:endParaRPr lang="zh-CN" altLang="en-US" sz="2400" b="1" dirty="0">
              <a:ea typeface="楷体_GB2312" pitchFamily="49" charset="-122"/>
            </a:endParaRPr>
          </a:p>
        </p:txBody>
      </p:sp>
      <p:pic>
        <p:nvPicPr>
          <p:cNvPr id="103429" name="图片 2"/>
          <p:cNvPicPr>
            <a:picLocks noChangeAspect="1"/>
          </p:cNvPicPr>
          <p:nvPr/>
        </p:nvPicPr>
        <p:blipFill>
          <a:blip r:embed="rId2"/>
          <a:stretch>
            <a:fillRect/>
          </a:stretch>
        </p:blipFill>
        <p:spPr>
          <a:xfrm>
            <a:off x="683260" y="3140710"/>
            <a:ext cx="3429000" cy="35623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5"/>
          <p:cNvSpPr>
            <a:spLocks noChangeArrowheads="1"/>
          </p:cNvSpPr>
          <p:nvPr/>
        </p:nvSpPr>
        <p:spPr bwMode="auto">
          <a:xfrm>
            <a:off x="1835150" y="700088"/>
            <a:ext cx="6049963"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GreekS" pitchFamily="2" charset="0"/>
                <a:ea typeface="楷体_GB2312" pitchFamily="49" charset="-122"/>
                <a:cs typeface="+mn-cs"/>
              </a:rPr>
              <a:t>浇</a:t>
            </a:r>
            <a:r>
              <a:rPr kumimoji="0" lang="zh-CN" altLang="en-US" sz="4000" b="1" i="0" u="none" strike="noStrike" kern="1200" cap="none" spc="0" normalizeH="0" baseline="0" noProof="0" dirty="0">
                <a:ln>
                  <a:noFill/>
                </a:ln>
                <a:solidFill>
                  <a:schemeClr val="tx2"/>
                </a:solidFill>
                <a:effectLst/>
                <a:uLnTx/>
                <a:uFillTx/>
                <a:latin typeface="GreekS" pitchFamily="2" charset="0"/>
                <a:ea typeface="楷体_GB2312" pitchFamily="49" charset="-122"/>
                <a:cs typeface="+mn-cs"/>
              </a:rPr>
              <a:t>注</a:t>
            </a: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GreekS" pitchFamily="2" charset="0"/>
                <a:ea typeface="楷体_GB2312" pitchFamily="49" charset="-122"/>
                <a:cs typeface="+mn-cs"/>
              </a:rPr>
              <a:t>位置的选择原则</a:t>
            </a:r>
            <a:endPar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
        <p:nvSpPr>
          <p:cNvPr id="104451" name="Rectangle 6"/>
          <p:cNvSpPr/>
          <p:nvPr/>
        </p:nvSpPr>
        <p:spPr>
          <a:xfrm>
            <a:off x="395288" y="1743075"/>
            <a:ext cx="8675687"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2400" b="1" dirty="0">
                <a:solidFill>
                  <a:srgbClr val="CC0000"/>
                </a:solidFill>
                <a:latin typeface="楷体_GB2312" pitchFamily="49" charset="-122"/>
                <a:ea typeface="楷体_GB2312" pitchFamily="49" charset="-122"/>
              </a:rPr>
              <a:t>(3)</a:t>
            </a:r>
            <a:r>
              <a:rPr lang="zh-CN" altLang="en-US" sz="2400" b="1" dirty="0">
                <a:solidFill>
                  <a:srgbClr val="CC0000"/>
                </a:solidFill>
                <a:latin typeface="楷体_GB2312" pitchFamily="49" charset="-122"/>
                <a:ea typeface="楷体_GB2312" pitchFamily="49" charset="-122"/>
              </a:rPr>
              <a:t>尽量将铸件大面积的薄壁部分放在铸型的下部或垂直、倾斜</a:t>
            </a:r>
            <a:endParaRPr lang="zh-CN" altLang="en-US" sz="2400" b="1" dirty="0">
              <a:solidFill>
                <a:srgbClr val="CC0000"/>
              </a:solidFill>
              <a:latin typeface="楷体_GB2312" pitchFamily="49" charset="-122"/>
              <a:ea typeface="楷体_GB2312" pitchFamily="49" charset="-122"/>
            </a:endParaRPr>
          </a:p>
          <a:p>
            <a:pPr marL="0" lvl="0" indent="0" eaLnBrk="1" hangingPunct="1">
              <a:spcBef>
                <a:spcPct val="0"/>
              </a:spcBef>
              <a:buClrTx/>
              <a:buSzTx/>
              <a:buNone/>
            </a:pPr>
            <a:r>
              <a:rPr lang="zh-CN" altLang="en-US" sz="2400" b="1" dirty="0">
                <a:ea typeface="楷体_GB2312" pitchFamily="49" charset="-122"/>
              </a:rPr>
              <a:t>增加薄壁处金属液的压强，提高金属液的流动性，防止薄壁部分产生浇不足或冷隔缺陷。</a:t>
            </a:r>
            <a:endParaRPr lang="zh-CN" altLang="en-US" sz="2400" b="1" dirty="0">
              <a:ea typeface="楷体_GB2312" pitchFamily="49" charset="-122"/>
            </a:endParaRPr>
          </a:p>
        </p:txBody>
      </p:sp>
      <p:pic>
        <p:nvPicPr>
          <p:cNvPr id="71685" name="Picture 24" descr="图片5"/>
          <p:cNvPicPr>
            <a:picLocks noChangeAspect="1"/>
          </p:cNvPicPr>
          <p:nvPr/>
        </p:nvPicPr>
        <p:blipFill>
          <a:blip r:embed="rId1"/>
          <a:stretch>
            <a:fillRect/>
          </a:stretch>
        </p:blipFill>
        <p:spPr>
          <a:xfrm>
            <a:off x="4427855" y="2564765"/>
            <a:ext cx="4787900" cy="2162175"/>
          </a:xfrm>
          <a:prstGeom prst="rect">
            <a:avLst/>
          </a:prstGeom>
          <a:noFill/>
          <a:ln w="9525">
            <a:noFill/>
          </a:ln>
        </p:spPr>
      </p:pic>
      <p:pic>
        <p:nvPicPr>
          <p:cNvPr id="104453" name="Picture 23" descr="图片4"/>
          <p:cNvPicPr>
            <a:picLocks noChangeAspect="1"/>
          </p:cNvPicPr>
          <p:nvPr/>
        </p:nvPicPr>
        <p:blipFill>
          <a:blip r:embed="rId2"/>
          <a:stretch>
            <a:fillRect/>
          </a:stretch>
        </p:blipFill>
        <p:spPr>
          <a:xfrm>
            <a:off x="0" y="4220845"/>
            <a:ext cx="5265738" cy="27003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71685"/>
                                        </p:tgtEl>
                                        <p:attrNameLst>
                                          <p:attrName>style.visibility</p:attrName>
                                        </p:attrNameLst>
                                      </p:cBhvr>
                                      <p:to>
                                        <p:strVal val="visible"/>
                                      </p:to>
                                    </p:set>
                                    <p:animEffect transition="in" filter="diamond(in)">
                                      <p:cBhvr>
                                        <p:cTn id="7" dur="2000"/>
                                        <p:tgtEl>
                                          <p:spTgt spid="716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p:nvPr/>
        </p:nvSpPr>
        <p:spPr>
          <a:xfrm>
            <a:off x="863600" y="2174875"/>
            <a:ext cx="7740650" cy="1539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lnSpc>
                <a:spcPct val="125000"/>
              </a:lnSpc>
              <a:spcBef>
                <a:spcPct val="0"/>
              </a:spcBef>
              <a:buClrTx/>
              <a:buSzTx/>
              <a:buNone/>
            </a:pPr>
            <a:r>
              <a:rPr lang="en-US" altLang="zh-CN" sz="2800" dirty="0">
                <a:solidFill>
                  <a:schemeClr val="bg1"/>
                </a:solidFill>
                <a:latin typeface="楷体_GB2312" pitchFamily="49" charset="-122"/>
                <a:ea typeface="楷体_GB2312" pitchFamily="49" charset="-122"/>
              </a:rPr>
              <a:t>    </a:t>
            </a:r>
            <a:r>
              <a:rPr lang="zh-CN" altLang="en-US" sz="2400" b="1" dirty="0">
                <a:latin typeface="楷体_GB2312" pitchFamily="49" charset="-122"/>
                <a:ea typeface="楷体_GB2312" pitchFamily="49" charset="-122"/>
              </a:rPr>
              <a:t>容易形成缩孔的铸件</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如铸钢、球墨铸铁、可锻铸铁、黄铜</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浇注时应把厚的部位放在分型面附近的上部或侧面，以便安放冒口，实现顺序凝固，进行补缩。</a:t>
            </a:r>
            <a:endParaRPr lang="zh-CN" altLang="en-US" sz="2400" b="1" dirty="0">
              <a:latin typeface="Times New Roman" panose="02020603050405020304" pitchFamily="18" charset="0"/>
            </a:endParaRPr>
          </a:p>
        </p:txBody>
      </p:sp>
      <p:sp>
        <p:nvSpPr>
          <p:cNvPr id="105475" name="Rectangle 3"/>
          <p:cNvSpPr>
            <a:spLocks noGrp="1"/>
          </p:cNvSpPr>
          <p:nvPr>
            <p:ph type="title"/>
          </p:nvPr>
        </p:nvSpPr>
        <p:spPr>
          <a:xfrm>
            <a:off x="619125" y="1541463"/>
            <a:ext cx="8229600" cy="576262"/>
          </a:xfrm>
        </p:spPr>
        <p:txBody>
          <a:bodyPr vert="horz" wrap="square" lIns="91440" tIns="45720" rIns="91440" bIns="45720" anchor="b" anchorCtr="0"/>
          <a:p>
            <a:pPr eaLnBrk="1" hangingPunct="1"/>
            <a:r>
              <a:rPr lang="en-US" altLang="zh-CN" sz="2800" b="1" dirty="0">
                <a:solidFill>
                  <a:srgbClr val="FF3300"/>
                </a:solidFill>
                <a:latin typeface="楷体_GB2312" pitchFamily="49" charset="-122"/>
                <a:ea typeface="楷体_GB2312" pitchFamily="49" charset="-122"/>
              </a:rPr>
              <a:t>(4) </a:t>
            </a:r>
            <a:r>
              <a:rPr lang="zh-CN" altLang="en-US" sz="2800" b="1" dirty="0">
                <a:solidFill>
                  <a:srgbClr val="FF3300"/>
                </a:solidFill>
                <a:latin typeface="楷体_GB2312" pitchFamily="49" charset="-122"/>
                <a:ea typeface="楷体_GB2312" pitchFamily="49" charset="-122"/>
              </a:rPr>
              <a:t>热节处应位于分型面附近的上部或侧面</a:t>
            </a:r>
            <a:endParaRPr lang="zh-CN" altLang="en-US" sz="2800" b="1" dirty="0">
              <a:solidFill>
                <a:srgbClr val="FF3300"/>
              </a:solidFill>
              <a:latin typeface="楷体_GB2312" pitchFamily="49" charset="-122"/>
              <a:ea typeface="楷体_GB2312" pitchFamily="49" charset="-122"/>
            </a:endParaRPr>
          </a:p>
        </p:txBody>
      </p:sp>
      <p:sp>
        <p:nvSpPr>
          <p:cNvPr id="105476" name="Text Box 5"/>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49</a:t>
            </a:r>
            <a:endParaRPr lang="en-US" altLang="zh-CN" sz="1400" b="1" dirty="0">
              <a:solidFill>
                <a:schemeClr val="bg1"/>
              </a:solidFill>
              <a:latin typeface="Arial" panose="020B0604020202020204" pitchFamily="34" charset="0"/>
            </a:endParaRPr>
          </a:p>
        </p:txBody>
      </p:sp>
      <p:sp>
        <p:nvSpPr>
          <p:cNvPr id="72709" name="Rectangle 6"/>
          <p:cNvSpPr>
            <a:spLocks noChangeArrowheads="1"/>
          </p:cNvSpPr>
          <p:nvPr/>
        </p:nvSpPr>
        <p:spPr bwMode="auto">
          <a:xfrm>
            <a:off x="1908175" y="722313"/>
            <a:ext cx="5394325" cy="769938"/>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浇</a:t>
            </a:r>
            <a:r>
              <a:rPr kumimoji="0" lang="zh-CN" altLang="en-US" sz="44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注</a:t>
            </a:r>
            <a:r>
              <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位置的选择原则</a:t>
            </a:r>
            <a:r>
              <a:rPr kumimoji="0" lang="zh-CN" altLang="en-US" sz="18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 </a:t>
            </a:r>
            <a:endParaRPr kumimoji="0" lang="zh-CN" altLang="en-US" sz="18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endParaRPr>
          </a:p>
        </p:txBody>
      </p:sp>
      <p:pic>
        <p:nvPicPr>
          <p:cNvPr id="105478" name="Picture 7" descr="图片6"/>
          <p:cNvPicPr>
            <a:picLocks noChangeAspect="1"/>
          </p:cNvPicPr>
          <p:nvPr/>
        </p:nvPicPr>
        <p:blipFill>
          <a:blip r:embed="rId1"/>
          <a:stretch>
            <a:fillRect/>
          </a:stretch>
        </p:blipFill>
        <p:spPr>
          <a:xfrm>
            <a:off x="2820988" y="3743325"/>
            <a:ext cx="3825875" cy="3022600"/>
          </a:xfrm>
          <a:prstGeom prst="rect">
            <a:avLst/>
          </a:prstGeom>
          <a:noFill/>
          <a:ln w="9525">
            <a:noFill/>
          </a:ln>
        </p:spPr>
      </p:pic>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ChangeArrowheads="1"/>
          </p:cNvSpPr>
          <p:nvPr/>
        </p:nvSpPr>
        <p:spPr bwMode="auto">
          <a:xfrm>
            <a:off x="1908175" y="722313"/>
            <a:ext cx="5394325" cy="769938"/>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浇</a:t>
            </a:r>
            <a:r>
              <a:rPr kumimoji="0" lang="zh-CN" altLang="en-US" sz="44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注</a:t>
            </a:r>
            <a:r>
              <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位置的选择原则</a:t>
            </a:r>
            <a:r>
              <a:rPr kumimoji="0" lang="zh-CN" altLang="en-US" sz="18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 </a:t>
            </a:r>
            <a:endParaRPr kumimoji="0" lang="zh-CN" altLang="en-US" sz="18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endParaRPr>
          </a:p>
        </p:txBody>
      </p:sp>
      <p:sp>
        <p:nvSpPr>
          <p:cNvPr id="106499" name="Rectangle 3"/>
          <p:cNvSpPr/>
          <p:nvPr/>
        </p:nvSpPr>
        <p:spPr>
          <a:xfrm>
            <a:off x="0" y="214471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6500" name="Rectangle 4"/>
          <p:cNvSpPr/>
          <p:nvPr/>
        </p:nvSpPr>
        <p:spPr>
          <a:xfrm>
            <a:off x="0" y="21447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6501" name="Rectangle 5"/>
          <p:cNvSpPr/>
          <p:nvPr/>
        </p:nvSpPr>
        <p:spPr>
          <a:xfrm>
            <a:off x="0" y="23733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6502" name="Rectangle 6"/>
          <p:cNvSpPr/>
          <p:nvPr/>
        </p:nvSpPr>
        <p:spPr>
          <a:xfrm>
            <a:off x="0" y="26019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6503" name="Rectangle 7"/>
          <p:cNvSpPr/>
          <p:nvPr/>
        </p:nvSpPr>
        <p:spPr>
          <a:xfrm>
            <a:off x="0" y="28305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6504" name="Rectangle 8"/>
          <p:cNvSpPr/>
          <p:nvPr/>
        </p:nvSpPr>
        <p:spPr>
          <a:xfrm>
            <a:off x="827088" y="2019300"/>
            <a:ext cx="3673475" cy="15684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400" b="1" dirty="0">
                <a:solidFill>
                  <a:srgbClr val="CC0000"/>
                </a:solidFill>
                <a:latin typeface="楷体_GB2312" pitchFamily="49" charset="-122"/>
                <a:ea typeface="楷体_GB2312" pitchFamily="49" charset="-122"/>
              </a:rPr>
              <a:t>（</a:t>
            </a:r>
            <a:r>
              <a:rPr lang="en-US" altLang="zh-CN" sz="2400" b="1" dirty="0">
                <a:solidFill>
                  <a:srgbClr val="CC0000"/>
                </a:solidFill>
                <a:latin typeface="楷体_GB2312" pitchFamily="49" charset="-122"/>
                <a:ea typeface="楷体_GB2312" pitchFamily="49" charset="-122"/>
              </a:rPr>
              <a:t>4</a:t>
            </a:r>
            <a:r>
              <a:rPr lang="zh-CN" altLang="en-US" sz="2400" b="1" dirty="0">
                <a:solidFill>
                  <a:srgbClr val="CC0000"/>
                </a:solidFill>
                <a:latin typeface="楷体_GB2312" pitchFamily="49" charset="-122"/>
                <a:ea typeface="楷体_GB2312" pitchFamily="49" charset="-122"/>
              </a:rPr>
              <a:t>）易产生缩孔的厚大部位置于铸型顶部或侧面</a:t>
            </a:r>
            <a:endParaRPr lang="zh-CN" altLang="en-US" sz="2400" b="1" dirty="0">
              <a:solidFill>
                <a:srgbClr val="CC0000"/>
              </a:solidFill>
              <a:latin typeface="楷体_GB2312" pitchFamily="49" charset="-122"/>
              <a:ea typeface="楷体_GB2312" pitchFamily="49" charset="-122"/>
            </a:endParaRPr>
          </a:p>
          <a:p>
            <a:pPr marL="0" lvl="0" indent="0" eaLnBrk="1" hangingPunct="1">
              <a:spcBef>
                <a:spcPct val="0"/>
              </a:spcBef>
              <a:buClrTx/>
              <a:buSzTx/>
              <a:buNone/>
            </a:pPr>
            <a:r>
              <a:rPr lang="zh-CN" altLang="en-US" sz="2400" b="1" dirty="0">
                <a:latin typeface="楷体_GB2312" pitchFamily="49" charset="-122"/>
                <a:ea typeface="楷体_GB2312" pitchFamily="49" charset="-122"/>
              </a:rPr>
              <a:t>如图中的卷扬筒，其厚大部位于顶端是合理的。</a:t>
            </a:r>
            <a:endParaRPr lang="zh-CN" altLang="en-US" sz="2400" b="1" dirty="0">
              <a:latin typeface="楷体_GB2312" pitchFamily="49" charset="-122"/>
              <a:ea typeface="楷体_GB2312" pitchFamily="49" charset="-122"/>
            </a:endParaRPr>
          </a:p>
        </p:txBody>
      </p:sp>
      <p:pic>
        <p:nvPicPr>
          <p:cNvPr id="106505" name="Picture 9" descr="图片412"/>
          <p:cNvPicPr>
            <a:picLocks noChangeAspect="1"/>
          </p:cNvPicPr>
          <p:nvPr/>
        </p:nvPicPr>
        <p:blipFill>
          <a:blip r:embed="rId1"/>
          <a:stretch>
            <a:fillRect/>
          </a:stretch>
        </p:blipFill>
        <p:spPr>
          <a:xfrm>
            <a:off x="5327650" y="1557338"/>
            <a:ext cx="3155950" cy="5537200"/>
          </a:xfrm>
          <a:prstGeom prst="rect">
            <a:avLst/>
          </a:prstGeom>
          <a:noFill/>
          <a:ln w="9525">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ChangeArrowheads="1"/>
          </p:cNvSpPr>
          <p:nvPr/>
        </p:nvSpPr>
        <p:spPr bwMode="auto">
          <a:xfrm>
            <a:off x="1908175" y="722313"/>
            <a:ext cx="5394325" cy="769938"/>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浇</a:t>
            </a:r>
            <a:r>
              <a:rPr kumimoji="0" lang="zh-CN" altLang="en-US" sz="44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注</a:t>
            </a:r>
            <a:r>
              <a:rPr kumimoji="0" lang="zh-CN" altLang="en-US" sz="44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楷体_GB2312" pitchFamily="49" charset="-122"/>
                <a:ea typeface="楷体_GB2312" pitchFamily="49" charset="-122"/>
                <a:cs typeface="+mn-cs"/>
              </a:rPr>
              <a:t>位置的选择原则</a:t>
            </a:r>
            <a:r>
              <a:rPr kumimoji="0" lang="zh-CN" altLang="en-US" sz="18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rPr>
              <a:t> </a:t>
            </a:r>
            <a:endParaRPr kumimoji="0" lang="zh-CN" altLang="en-US" sz="1800" b="1" i="0" u="none" strike="noStrike" kern="1200" cap="none" spc="0" normalizeH="0" baseline="0" noProof="0" dirty="0">
              <a:ln>
                <a:noFill/>
              </a:ln>
              <a:solidFill>
                <a:schemeClr val="tx2"/>
              </a:solidFill>
              <a:effectLst/>
              <a:uLnTx/>
              <a:uFillTx/>
              <a:latin typeface="楷体_GB2312" pitchFamily="49" charset="-122"/>
              <a:ea typeface="楷体_GB2312" pitchFamily="49" charset="-122"/>
              <a:cs typeface="+mn-cs"/>
            </a:endParaRPr>
          </a:p>
        </p:txBody>
      </p:sp>
      <p:sp>
        <p:nvSpPr>
          <p:cNvPr id="107523" name="Rectangle 3"/>
          <p:cNvSpPr/>
          <p:nvPr/>
        </p:nvSpPr>
        <p:spPr>
          <a:xfrm>
            <a:off x="0" y="214471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7524" name="Rectangle 4"/>
          <p:cNvSpPr/>
          <p:nvPr/>
        </p:nvSpPr>
        <p:spPr>
          <a:xfrm>
            <a:off x="0" y="21447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7525" name="Rectangle 5"/>
          <p:cNvSpPr/>
          <p:nvPr/>
        </p:nvSpPr>
        <p:spPr>
          <a:xfrm>
            <a:off x="0" y="23733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7526" name="Rectangle 6"/>
          <p:cNvSpPr/>
          <p:nvPr/>
        </p:nvSpPr>
        <p:spPr>
          <a:xfrm>
            <a:off x="0" y="26019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7527" name="Rectangle 7"/>
          <p:cNvSpPr/>
          <p:nvPr/>
        </p:nvSpPr>
        <p:spPr>
          <a:xfrm>
            <a:off x="0" y="283051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07528" name="Rectangle 8"/>
          <p:cNvSpPr/>
          <p:nvPr/>
        </p:nvSpPr>
        <p:spPr>
          <a:xfrm>
            <a:off x="973138" y="1589088"/>
            <a:ext cx="7918450" cy="4572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400" b="1" dirty="0">
                <a:solidFill>
                  <a:srgbClr val="CC0000"/>
                </a:solidFill>
                <a:latin typeface="楷体_GB2312" pitchFamily="49" charset="-122"/>
                <a:ea typeface="楷体_GB2312" pitchFamily="49" charset="-122"/>
              </a:rPr>
              <a:t>（</a:t>
            </a:r>
            <a:r>
              <a:rPr lang="en-US" altLang="zh-CN" sz="2400" b="1" dirty="0">
                <a:solidFill>
                  <a:srgbClr val="CC0000"/>
                </a:solidFill>
                <a:latin typeface="楷体_GB2312" pitchFamily="49" charset="-122"/>
                <a:ea typeface="楷体_GB2312" pitchFamily="49" charset="-122"/>
              </a:rPr>
              <a:t>5</a:t>
            </a:r>
            <a:r>
              <a:rPr lang="zh-CN" altLang="en-US" sz="2400" b="1" dirty="0">
                <a:solidFill>
                  <a:srgbClr val="CC0000"/>
                </a:solidFill>
                <a:latin typeface="楷体_GB2312" pitchFamily="49" charset="-122"/>
                <a:ea typeface="楷体_GB2312" pitchFamily="49" charset="-122"/>
              </a:rPr>
              <a:t>）便于型芯的固定和排气，能减少型芯的数量。</a:t>
            </a:r>
            <a:endParaRPr lang="zh-CN" altLang="en-US" sz="2400" b="1" dirty="0">
              <a:latin typeface="楷体_GB2312" pitchFamily="49" charset="-122"/>
              <a:ea typeface="楷体_GB2312" pitchFamily="49" charset="-122"/>
            </a:endParaRPr>
          </a:p>
        </p:txBody>
      </p:sp>
      <p:pic>
        <p:nvPicPr>
          <p:cNvPr id="107529" name="Picture 11" descr="图片2"/>
          <p:cNvPicPr>
            <a:picLocks noChangeAspect="1"/>
          </p:cNvPicPr>
          <p:nvPr/>
        </p:nvPicPr>
        <p:blipFill>
          <a:blip r:embed="rId1"/>
          <a:stretch>
            <a:fillRect/>
          </a:stretch>
        </p:blipFill>
        <p:spPr>
          <a:xfrm>
            <a:off x="106363" y="2349500"/>
            <a:ext cx="4826000" cy="3030538"/>
          </a:xfrm>
          <a:prstGeom prst="rect">
            <a:avLst/>
          </a:prstGeom>
          <a:noFill/>
          <a:ln w="9525">
            <a:noFill/>
          </a:ln>
        </p:spPr>
      </p:pic>
      <p:pic>
        <p:nvPicPr>
          <p:cNvPr id="74761" name="Picture 10" descr="图片1"/>
          <p:cNvPicPr>
            <a:picLocks noChangeAspect="1"/>
          </p:cNvPicPr>
          <p:nvPr/>
        </p:nvPicPr>
        <p:blipFill>
          <a:blip r:embed="rId2"/>
          <a:stretch>
            <a:fillRect/>
          </a:stretch>
        </p:blipFill>
        <p:spPr>
          <a:xfrm>
            <a:off x="4659313" y="4179888"/>
            <a:ext cx="4484687" cy="27368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74761"/>
                                        </p:tgtEl>
                                        <p:attrNameLst>
                                          <p:attrName>style.visibility</p:attrName>
                                        </p:attrNameLst>
                                      </p:cBhvr>
                                      <p:to>
                                        <p:strVal val="visible"/>
                                      </p:to>
                                    </p:set>
                                    <p:animEffect transition="in" filter="diamond(in)">
                                      <p:cBhvr>
                                        <p:cTn id="7" dur="2000"/>
                                        <p:tgtEl>
                                          <p:spTgt spid="74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p:nvPr/>
        </p:nvSpPr>
        <p:spPr>
          <a:xfrm>
            <a:off x="468313" y="1916113"/>
            <a:ext cx="8458200" cy="32400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lnSpc>
                <a:spcPct val="120000"/>
              </a:lnSpc>
              <a:spcBef>
                <a:spcPct val="0"/>
              </a:spcBef>
              <a:buClrTx/>
              <a:buSzTx/>
              <a:buNone/>
            </a:pPr>
            <a:r>
              <a:rPr lang="en-US" altLang="zh-CN" sz="3200" dirty="0">
                <a:latin typeface="宋体" panose="02010600030101010101" pitchFamily="2" charset="-122"/>
              </a:rPr>
              <a:t>    </a:t>
            </a:r>
            <a:r>
              <a:rPr lang="zh-CN" altLang="en-US" sz="2800" b="1" dirty="0">
                <a:latin typeface="楷体_GB2312" pitchFamily="49" charset="-122"/>
                <a:ea typeface="楷体_GB2312" pitchFamily="49" charset="-122"/>
              </a:rPr>
              <a:t>分型面是指两半铸型相互接触的表面。除了实型铸造法外，都要选择分型面。</a:t>
            </a:r>
            <a:endParaRPr lang="zh-CN" altLang="en-US" sz="2800" b="1" dirty="0">
              <a:latin typeface="楷体_GB2312" pitchFamily="49" charset="-122"/>
              <a:ea typeface="楷体_GB2312" pitchFamily="49" charset="-122"/>
            </a:endParaRPr>
          </a:p>
          <a:p>
            <a:pPr marL="0" lvl="0" indent="0" eaLnBrk="1" hangingPunct="1">
              <a:lnSpc>
                <a:spcPct val="120000"/>
              </a:lnSpc>
              <a:spcBef>
                <a:spcPct val="0"/>
              </a:spcBef>
              <a:buClrTx/>
              <a:buSzTx/>
              <a:buNone/>
            </a:pPr>
            <a:r>
              <a:rPr lang="zh-CN" altLang="en-US" sz="2800" b="1" dirty="0">
                <a:latin typeface="楷体_GB2312" pitchFamily="49" charset="-122"/>
                <a:ea typeface="楷体_GB2312" pitchFamily="49" charset="-122"/>
              </a:rPr>
              <a:t>    分型面的选择在很大程度上影响着铸件的质量</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主要是尺寸精度</a:t>
            </a:r>
            <a:r>
              <a:rPr lang="en-US" altLang="zh-CN" sz="2800" b="1" dirty="0">
                <a:latin typeface="楷体_GB2312" pitchFamily="49" charset="-122"/>
                <a:ea typeface="楷体_GB2312" pitchFamily="49" charset="-122"/>
              </a:rPr>
              <a:t>)</a:t>
            </a:r>
            <a:r>
              <a:rPr lang="zh-CN" altLang="en-US" sz="2800" b="1" dirty="0">
                <a:latin typeface="楷体_GB2312" pitchFamily="49" charset="-122"/>
                <a:ea typeface="楷体_GB2312" pitchFamily="49" charset="-122"/>
              </a:rPr>
              <a:t>、成本和生产率。因此，分型面的选择要在保证铸件质量的前提下，尽量简化工艺，节省人力物力。因此需考虑以下几个原则：</a:t>
            </a:r>
            <a:endParaRPr lang="zh-CN" altLang="en-US" sz="2800" b="1" dirty="0">
              <a:latin typeface="楷体_GB2312" pitchFamily="49" charset="-122"/>
              <a:ea typeface="楷体_GB2312" pitchFamily="49" charset="-122"/>
            </a:endParaRPr>
          </a:p>
        </p:txBody>
      </p:sp>
      <p:sp>
        <p:nvSpPr>
          <p:cNvPr id="108547" name="Text Box 4"/>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51</a:t>
            </a:r>
            <a:endParaRPr lang="en-US" altLang="zh-CN" sz="1400" b="1" dirty="0">
              <a:solidFill>
                <a:schemeClr val="bg1"/>
              </a:solidFill>
              <a:latin typeface="Arial" panose="020B0604020202020204" pitchFamily="34" charset="0"/>
            </a:endParaRPr>
          </a:p>
        </p:txBody>
      </p:sp>
      <p:sp>
        <p:nvSpPr>
          <p:cNvPr id="75781" name="Rectangle 5"/>
          <p:cNvSpPr>
            <a:spLocks noChangeArrowheads="1"/>
          </p:cNvSpPr>
          <p:nvPr/>
        </p:nvSpPr>
        <p:spPr bwMode="auto">
          <a:xfrm>
            <a:off x="1979613" y="692150"/>
            <a:ext cx="5832475"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砂型分型面的选择原则</a:t>
            </a:r>
            <a:endPar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0" name="Rectangle 2"/>
          <p:cNvSpPr>
            <a:spLocks noGrp="1"/>
          </p:cNvSpPr>
          <p:nvPr>
            <p:ph type="title"/>
          </p:nvPr>
        </p:nvSpPr>
        <p:spPr>
          <a:xfrm>
            <a:off x="1093788" y="1709738"/>
            <a:ext cx="7510462" cy="1143000"/>
          </a:xfrm>
        </p:spPr>
        <p:txBody>
          <a:bodyPr vert="horz" wrap="square" lIns="91440" tIns="45720" rIns="91440" bIns="45720" anchor="b" anchorCtr="0"/>
          <a:p>
            <a:pPr eaLnBrk="1" hangingPunct="1"/>
            <a:r>
              <a:rPr lang="en-US" altLang="zh-CN" sz="2400" b="1" dirty="0">
                <a:solidFill>
                  <a:srgbClr val="CC0000"/>
                </a:solidFill>
                <a:latin typeface="楷体_GB2312" pitchFamily="49" charset="-122"/>
                <a:ea typeface="楷体_GB2312" pitchFamily="49" charset="-122"/>
              </a:rPr>
              <a:t>(1) </a:t>
            </a:r>
            <a:r>
              <a:rPr lang="zh-CN" altLang="en-US" sz="2400" b="1" dirty="0">
                <a:solidFill>
                  <a:srgbClr val="CC0000"/>
                </a:solidFill>
                <a:latin typeface="楷体_GB2312" pitchFamily="49" charset="-122"/>
                <a:ea typeface="楷体_GB2312" pitchFamily="49" charset="-122"/>
              </a:rPr>
              <a:t>保证模样能从型腔中顺利取出</a:t>
            </a:r>
            <a:r>
              <a:rPr lang="en-US" altLang="zh-CN" sz="2400" b="1" dirty="0">
                <a:solidFill>
                  <a:srgbClr val="CC0000"/>
                </a:solidFill>
                <a:latin typeface="楷体_GB2312" pitchFamily="49" charset="-122"/>
                <a:ea typeface="楷体_GB2312" pitchFamily="49" charset="-122"/>
              </a:rPr>
              <a:t>(</a:t>
            </a:r>
            <a:r>
              <a:rPr lang="zh-CN" altLang="en-US" sz="2400" b="1" dirty="0">
                <a:solidFill>
                  <a:srgbClr val="CC0000"/>
                </a:solidFill>
                <a:latin typeface="楷体_GB2312" pitchFamily="49" charset="-122"/>
                <a:ea typeface="楷体_GB2312" pitchFamily="49" charset="-122"/>
              </a:rPr>
              <a:t>分型面设在铸件最大截面处</a:t>
            </a:r>
            <a:r>
              <a:rPr lang="en-US" altLang="zh-CN" sz="2400" b="1" dirty="0">
                <a:solidFill>
                  <a:srgbClr val="CC0000"/>
                </a:solidFill>
                <a:latin typeface="楷体_GB2312" pitchFamily="49" charset="-122"/>
                <a:ea typeface="楷体_GB2312" pitchFamily="49" charset="-122"/>
              </a:rPr>
              <a:t>)</a:t>
            </a:r>
            <a:r>
              <a:rPr lang="zh-CN" altLang="en-US" sz="2400" dirty="0">
                <a:solidFill>
                  <a:srgbClr val="CC0000"/>
                </a:solidFill>
                <a:latin typeface="楷体_GB2312" pitchFamily="49" charset="-122"/>
                <a:ea typeface="楷体_GB2312" pitchFamily="49" charset="-122"/>
              </a:rPr>
              <a:t>。</a:t>
            </a:r>
            <a:br>
              <a:rPr lang="zh-CN" altLang="en-US" sz="2400" dirty="0">
                <a:solidFill>
                  <a:srgbClr val="CC0000"/>
                </a:solidFill>
                <a:latin typeface="楷体_GB2312" pitchFamily="49" charset="-122"/>
                <a:ea typeface="楷体_GB2312" pitchFamily="49" charset="-122"/>
              </a:rPr>
            </a:br>
            <a:endParaRPr lang="zh-CN" altLang="en-US" sz="2400" dirty="0">
              <a:solidFill>
                <a:srgbClr val="CC0000"/>
              </a:solidFill>
              <a:latin typeface="楷体_GB2312" pitchFamily="49" charset="-122"/>
              <a:ea typeface="楷体_GB2312" pitchFamily="49" charset="-122"/>
            </a:endParaRPr>
          </a:p>
        </p:txBody>
      </p:sp>
      <p:sp>
        <p:nvSpPr>
          <p:cNvPr id="109571" name="Text Box 4"/>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52</a:t>
            </a:r>
            <a:endParaRPr lang="en-US" altLang="zh-CN" sz="1400" b="1" dirty="0">
              <a:solidFill>
                <a:schemeClr val="bg1"/>
              </a:solidFill>
              <a:latin typeface="Arial" panose="020B0604020202020204" pitchFamily="34" charset="0"/>
            </a:endParaRPr>
          </a:p>
        </p:txBody>
      </p:sp>
      <p:pic>
        <p:nvPicPr>
          <p:cNvPr id="109572" name="Picture 5" descr="图片2"/>
          <p:cNvPicPr>
            <a:picLocks noChangeAspect="1"/>
          </p:cNvPicPr>
          <p:nvPr/>
        </p:nvPicPr>
        <p:blipFill>
          <a:blip r:embed="rId1"/>
          <a:stretch>
            <a:fillRect/>
          </a:stretch>
        </p:blipFill>
        <p:spPr>
          <a:xfrm>
            <a:off x="250825" y="2852738"/>
            <a:ext cx="4727575" cy="3302000"/>
          </a:xfrm>
          <a:prstGeom prst="rect">
            <a:avLst/>
          </a:prstGeom>
          <a:noFill/>
          <a:ln w="9525">
            <a:noFill/>
          </a:ln>
        </p:spPr>
      </p:pic>
      <p:pic>
        <p:nvPicPr>
          <p:cNvPr id="76805" name="Picture 6" descr="图片4"/>
          <p:cNvPicPr>
            <a:picLocks noChangeAspect="1"/>
          </p:cNvPicPr>
          <p:nvPr/>
        </p:nvPicPr>
        <p:blipFill>
          <a:blip r:embed="rId2"/>
          <a:stretch>
            <a:fillRect/>
          </a:stretch>
        </p:blipFill>
        <p:spPr>
          <a:xfrm>
            <a:off x="5380038" y="3141663"/>
            <a:ext cx="3749675" cy="3268662"/>
          </a:xfrm>
          <a:prstGeom prst="rect">
            <a:avLst/>
          </a:prstGeom>
          <a:noFill/>
          <a:ln w="9525">
            <a:noFill/>
          </a:ln>
        </p:spPr>
      </p:pic>
      <p:sp>
        <p:nvSpPr>
          <p:cNvPr id="76806" name="Rectangle 7"/>
          <p:cNvSpPr>
            <a:spLocks noChangeArrowheads="1"/>
          </p:cNvSpPr>
          <p:nvPr/>
        </p:nvSpPr>
        <p:spPr bwMode="auto">
          <a:xfrm>
            <a:off x="1979613" y="692150"/>
            <a:ext cx="5832475"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砂型分型面的选择原则</a:t>
            </a:r>
            <a:endPar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76805"/>
                                        </p:tgtEl>
                                        <p:attrNameLst>
                                          <p:attrName>style.visibility</p:attrName>
                                        </p:attrNameLst>
                                      </p:cBhvr>
                                      <p:to>
                                        <p:strVal val="visible"/>
                                      </p:to>
                                    </p:set>
                                    <p:animEffect transition="in" filter="diamond(in)">
                                      <p:cBhvr>
                                        <p:cTn id="7" dur="2000"/>
                                        <p:tgtEl>
                                          <p:spTgt spid="76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5"/>
          <p:cNvSpPr>
            <a:spLocks noChangeArrowheads="1"/>
          </p:cNvSpPr>
          <p:nvPr/>
        </p:nvSpPr>
        <p:spPr bwMode="auto">
          <a:xfrm>
            <a:off x="1979613" y="557213"/>
            <a:ext cx="5832475"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a:t>
            </a:r>
            <a:r>
              <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rPr>
              <a:t>分型面的选择原则</a:t>
            </a:r>
            <a:endPar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endParaRPr>
          </a:p>
        </p:txBody>
      </p:sp>
      <p:sp>
        <p:nvSpPr>
          <p:cNvPr id="77827" name="Rectangle 6"/>
          <p:cNvSpPr/>
          <p:nvPr/>
        </p:nvSpPr>
        <p:spPr>
          <a:xfrm>
            <a:off x="684213" y="1700213"/>
            <a:ext cx="7920037" cy="1568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None/>
            </a:pPr>
            <a:r>
              <a:rPr lang="zh-CN" altLang="en-US" sz="2400" b="1" dirty="0">
                <a:solidFill>
                  <a:srgbClr val="A50021"/>
                </a:solidFill>
                <a:latin typeface="楷体_GB2312" pitchFamily="49" charset="-122"/>
                <a:ea typeface="楷体_GB2312" pitchFamily="49" charset="-122"/>
              </a:rPr>
              <a:t>（</a:t>
            </a:r>
            <a:r>
              <a:rPr lang="en-US" altLang="zh-CN" sz="2400" b="1" dirty="0">
                <a:solidFill>
                  <a:srgbClr val="A50021"/>
                </a:solidFill>
                <a:latin typeface="楷体_GB2312" pitchFamily="49" charset="-122"/>
                <a:ea typeface="楷体_GB2312" pitchFamily="49" charset="-122"/>
              </a:rPr>
              <a:t>2</a:t>
            </a:r>
            <a:r>
              <a:rPr lang="zh-CN" altLang="en-US" sz="2400" b="1" dirty="0">
                <a:solidFill>
                  <a:srgbClr val="A50021"/>
                </a:solidFill>
                <a:latin typeface="楷体_GB2312" pitchFamily="49" charset="-122"/>
                <a:ea typeface="楷体_GB2312" pitchFamily="49" charset="-122"/>
              </a:rPr>
              <a:t>）</a:t>
            </a:r>
            <a:r>
              <a:rPr lang="zh-CN" altLang="en-US" sz="2400" b="1" dirty="0">
                <a:solidFill>
                  <a:srgbClr val="A50021"/>
                </a:solidFill>
                <a:ea typeface="楷体_GB2312" pitchFamily="49" charset="-122"/>
              </a:rPr>
              <a:t>应尽量使用平直分型面，以简化模样制造及造型工艺，避免挖砂。</a:t>
            </a:r>
            <a:endParaRPr lang="zh-CN" altLang="en-US" sz="2400" b="1" dirty="0">
              <a:solidFill>
                <a:srgbClr val="A50021"/>
              </a:solidFill>
              <a:latin typeface="楷体_GB2312" pitchFamily="49" charset="-122"/>
              <a:ea typeface="楷体_GB2312" pitchFamily="49" charset="-122"/>
            </a:endParaRPr>
          </a:p>
          <a:p>
            <a:pPr marL="0" lvl="0" indent="0" eaLnBrk="1" hangingPunct="1">
              <a:spcBef>
                <a:spcPct val="0"/>
              </a:spcBef>
              <a:buClr>
                <a:srgbClr val="FF3300"/>
              </a:buClr>
              <a:buSzTx/>
              <a:buFont typeface="Wingdings" panose="05000000000000000000" pitchFamily="2" charset="2"/>
              <a:buChar char="u"/>
            </a:pPr>
            <a:r>
              <a:rPr lang="zh-CN" altLang="en-US" sz="2400" b="1" dirty="0">
                <a:latin typeface="楷体_GB2312" pitchFamily="49" charset="-122"/>
                <a:ea typeface="楷体_GB2312" pitchFamily="49" charset="-122"/>
              </a:rPr>
              <a:t>方案</a:t>
            </a:r>
            <a:r>
              <a:rPr lang="en-US" altLang="zh-CN" sz="2400" b="1" dirty="0">
                <a:latin typeface="楷体_GB2312" pitchFamily="49" charset="-122"/>
                <a:ea typeface="楷体_GB2312" pitchFamily="49" charset="-122"/>
              </a:rPr>
              <a:t>II</a:t>
            </a:r>
            <a:r>
              <a:rPr lang="zh-CN" altLang="en-US" sz="2400" b="1" dirty="0">
                <a:latin typeface="楷体_GB2312" pitchFamily="49" charset="-122"/>
                <a:ea typeface="楷体_GB2312" pitchFamily="49" charset="-122"/>
              </a:rPr>
              <a:t>的分型面是曲面，必须采用挖砂或假箱造型，操作不便，而方案</a:t>
            </a:r>
            <a:r>
              <a:rPr lang="en-US" altLang="zh-CN" sz="2400" b="1" dirty="0">
                <a:latin typeface="楷体_GB2312" pitchFamily="49" charset="-122"/>
                <a:ea typeface="楷体_GB2312" pitchFamily="49" charset="-122"/>
              </a:rPr>
              <a:t>I</a:t>
            </a:r>
            <a:r>
              <a:rPr lang="zh-CN" altLang="en-US" sz="2400" b="1" dirty="0">
                <a:latin typeface="楷体_GB2312" pitchFamily="49" charset="-122"/>
                <a:ea typeface="楷体_GB2312" pitchFamily="49" charset="-122"/>
              </a:rPr>
              <a:t>的分型面为平面，其合理性优于方案</a:t>
            </a:r>
            <a:r>
              <a:rPr lang="en-US" altLang="zh-CN" sz="2400" b="1" dirty="0">
                <a:latin typeface="楷体_GB2312" pitchFamily="49" charset="-122"/>
                <a:ea typeface="楷体_GB2312" pitchFamily="49" charset="-122"/>
              </a:rPr>
              <a:t>II </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p:txBody>
      </p:sp>
      <p:pic>
        <p:nvPicPr>
          <p:cNvPr id="77828" name="Picture 15" descr="图片7"/>
          <p:cNvPicPr>
            <a:picLocks noChangeAspect="1"/>
          </p:cNvPicPr>
          <p:nvPr/>
        </p:nvPicPr>
        <p:blipFill>
          <a:blip r:embed="rId1"/>
          <a:stretch>
            <a:fillRect/>
          </a:stretch>
        </p:blipFill>
        <p:spPr>
          <a:xfrm>
            <a:off x="4486275" y="3711575"/>
            <a:ext cx="4622800" cy="2936875"/>
          </a:xfrm>
          <a:prstGeom prst="rect">
            <a:avLst/>
          </a:prstGeom>
          <a:noFill/>
          <a:ln w="9525">
            <a:noFill/>
          </a:ln>
        </p:spPr>
      </p:pic>
      <p:pic>
        <p:nvPicPr>
          <p:cNvPr id="77829" name="Picture 16" descr="图片8"/>
          <p:cNvPicPr>
            <a:picLocks noChangeAspect="1"/>
          </p:cNvPicPr>
          <p:nvPr/>
        </p:nvPicPr>
        <p:blipFill>
          <a:blip r:embed="rId2"/>
          <a:stretch>
            <a:fillRect/>
          </a:stretch>
        </p:blipFill>
        <p:spPr>
          <a:xfrm>
            <a:off x="395288" y="3500438"/>
            <a:ext cx="3817937" cy="2951162"/>
          </a:xfrm>
          <a:prstGeom prst="rect">
            <a:avLst/>
          </a:prstGeom>
          <a:noFill/>
          <a:ln w="9525">
            <a:noFill/>
          </a:ln>
        </p:spPr>
      </p:pic>
      <p:sp>
        <p:nvSpPr>
          <p:cNvPr id="2" name="文本框 1"/>
          <p:cNvSpPr txBox="1"/>
          <p:nvPr/>
        </p:nvSpPr>
        <p:spPr>
          <a:xfrm>
            <a:off x="179070" y="4292600"/>
            <a:ext cx="411480" cy="368300"/>
          </a:xfrm>
          <a:prstGeom prst="rect">
            <a:avLst/>
          </a:prstGeom>
          <a:noFill/>
        </p:spPr>
        <p:txBody>
          <a:bodyPr wrap="none" rtlCol="0" anchor="t">
            <a:spAutoFit/>
          </a:bodyPr>
          <a:p>
            <a:r>
              <a:rPr lang="zh-CN" altLang="en-US">
                <a:latin typeface="微软雅黑" panose="020B0503020204020204" charset="-122"/>
                <a:ea typeface="微软雅黑" panose="020B0503020204020204" charset="-122"/>
              </a:rPr>
              <a:t>Ⅰ</a:t>
            </a:r>
            <a:endParaRPr lang="zh-CN" altLang="en-US">
              <a:latin typeface="微软雅黑" panose="020B0503020204020204" charset="-122"/>
              <a:ea typeface="微软雅黑" panose="020B0503020204020204" charset="-122"/>
            </a:endParaRPr>
          </a:p>
        </p:txBody>
      </p:sp>
      <p:sp>
        <p:nvSpPr>
          <p:cNvPr id="3" name="文本框 2"/>
          <p:cNvSpPr txBox="1"/>
          <p:nvPr/>
        </p:nvSpPr>
        <p:spPr>
          <a:xfrm>
            <a:off x="179070" y="5445125"/>
            <a:ext cx="411480" cy="368300"/>
          </a:xfrm>
          <a:prstGeom prst="rect">
            <a:avLst/>
          </a:prstGeom>
          <a:noFill/>
        </p:spPr>
        <p:txBody>
          <a:bodyPr wrap="none" rtlCol="0" anchor="t">
            <a:spAutoFit/>
          </a:bodyPr>
          <a:p>
            <a:r>
              <a:rPr lang="zh-CN" altLang="en-US">
                <a:latin typeface="微软雅黑" panose="020B0503020204020204" charset="-122"/>
                <a:ea typeface="微软雅黑" panose="020B0503020204020204" charset="-122"/>
              </a:rPr>
              <a:t>Ⅱ</a:t>
            </a:r>
            <a:endParaRPr lang="zh-CN" altLang="en-US">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7827">
                                            <p:txEl>
                                              <p:charRg st="33" end="87"/>
                                            </p:txEl>
                                          </p:spTgt>
                                        </p:tgtEl>
                                        <p:attrNameLst>
                                          <p:attrName>style.visibility</p:attrName>
                                        </p:attrNameLst>
                                      </p:cBhvr>
                                      <p:to>
                                        <p:strVal val="visible"/>
                                      </p:to>
                                    </p:set>
                                    <p:animEffect transition="in" filter="blinds(horizontal)">
                                      <p:cBhvr>
                                        <p:cTn id="7" dur="500"/>
                                        <p:tgtEl>
                                          <p:spTgt spid="77827">
                                            <p:txEl>
                                              <p:charRg st="33" end="87"/>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7829"/>
                                        </p:tgtEl>
                                        <p:attrNameLst>
                                          <p:attrName>style.visibility</p:attrName>
                                        </p:attrNameLst>
                                      </p:cBhvr>
                                      <p:to>
                                        <p:strVal val="visible"/>
                                      </p:to>
                                    </p:set>
                                    <p:animEffect transition="in" filter="diamond(in)">
                                      <p:cBhvr>
                                        <p:cTn id="12" dur="2000"/>
                                        <p:tgtEl>
                                          <p:spTgt spid="77829"/>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77828"/>
                                        </p:tgtEl>
                                        <p:attrNameLst>
                                          <p:attrName>style.visibility</p:attrName>
                                        </p:attrNameLst>
                                      </p:cBhvr>
                                      <p:to>
                                        <p:strVal val="visible"/>
                                      </p:to>
                                    </p:set>
                                    <p:animEffect transition="in" filter="diamond(in)">
                                      <p:cBhvr>
                                        <p:cTn id="17" dur="2000"/>
                                        <p:tgtEl>
                                          <p:spTgt spid="77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ChangeArrowheads="1"/>
          </p:cNvSpPr>
          <p:nvPr/>
        </p:nvSpPr>
        <p:spPr bwMode="auto">
          <a:xfrm>
            <a:off x="1979613" y="711200"/>
            <a:ext cx="5905500"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a:t>
            </a:r>
            <a:r>
              <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rPr>
              <a:t>分型面的选择原则</a:t>
            </a:r>
            <a:endPar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endParaRPr>
          </a:p>
        </p:txBody>
      </p:sp>
      <p:sp>
        <p:nvSpPr>
          <p:cNvPr id="111619" name="Rectangle 3"/>
          <p:cNvSpPr/>
          <p:nvPr/>
        </p:nvSpPr>
        <p:spPr>
          <a:xfrm>
            <a:off x="539750" y="1800225"/>
            <a:ext cx="8424863" cy="138366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800" b="1" dirty="0">
                <a:latin typeface="GreekS" pitchFamily="2" charset="0"/>
              </a:rPr>
              <a:t> </a:t>
            </a:r>
            <a:r>
              <a:rPr lang="en-US" altLang="zh-CN" sz="2400" b="1" dirty="0">
                <a:solidFill>
                  <a:srgbClr val="A50021"/>
                </a:solidFill>
                <a:latin typeface="楷体_GB2312" pitchFamily="49" charset="-122"/>
                <a:ea typeface="楷体_GB2312" pitchFamily="49" charset="-122"/>
              </a:rPr>
              <a:t>(3) </a:t>
            </a:r>
            <a:r>
              <a:rPr lang="zh-CN" altLang="en-US" sz="2400" b="1" dirty="0">
                <a:solidFill>
                  <a:srgbClr val="A50021"/>
                </a:solidFill>
                <a:latin typeface="楷体_GB2312" pitchFamily="49" charset="-122"/>
                <a:ea typeface="楷体_GB2312" pitchFamily="49" charset="-122"/>
              </a:rPr>
              <a:t>应使铸件有最少的分型面，并尽量做到只有一个分型面   </a:t>
            </a:r>
            <a:r>
              <a:rPr lang="zh-CN" altLang="en-US" sz="2000" b="1" dirty="0">
                <a:latin typeface="楷体_GB2312" pitchFamily="49" charset="-122"/>
                <a:ea typeface="楷体_GB2312" pitchFamily="49" charset="-122"/>
              </a:rPr>
              <a:t>方案</a:t>
            </a:r>
            <a:r>
              <a:rPr lang="en-US" altLang="zh-CN" sz="2000" b="1" dirty="0">
                <a:latin typeface="楷体_GB2312" pitchFamily="49" charset="-122"/>
                <a:ea typeface="楷体_GB2312" pitchFamily="49" charset="-122"/>
              </a:rPr>
              <a:t>II</a:t>
            </a:r>
            <a:r>
              <a:rPr lang="zh-CN" altLang="en-US" sz="2000" b="1" dirty="0">
                <a:latin typeface="楷体_GB2312" pitchFamily="49" charset="-122"/>
                <a:ea typeface="楷体_GB2312" pitchFamily="49" charset="-122"/>
              </a:rPr>
              <a:t>为垂直位置浇注，有两个分型面，需采用三箱造型．在大批量生产用机器造型时，还需要采用外型芯，造型过程复杂。</a:t>
            </a:r>
            <a:r>
              <a:rPr lang="zh-CN" altLang="en-US" sz="2000" b="1" dirty="0">
                <a:solidFill>
                  <a:srgbClr val="FF0066"/>
                </a:solidFill>
                <a:latin typeface="楷体_GB2312" pitchFamily="49" charset="-122"/>
                <a:ea typeface="楷体_GB2312" pitchFamily="49" charset="-122"/>
              </a:rPr>
              <a:t>而方案</a:t>
            </a:r>
            <a:r>
              <a:rPr lang="en-US" altLang="zh-CN" sz="2000" b="1" dirty="0">
                <a:solidFill>
                  <a:srgbClr val="FF0066"/>
                </a:solidFill>
                <a:latin typeface="楷体_GB2312" pitchFamily="49" charset="-122"/>
                <a:ea typeface="楷体_GB2312" pitchFamily="49" charset="-122"/>
              </a:rPr>
              <a:t>I</a:t>
            </a:r>
            <a:r>
              <a:rPr lang="zh-CN" altLang="en-US" sz="2000" b="1" dirty="0">
                <a:solidFill>
                  <a:srgbClr val="FF0066"/>
                </a:solidFill>
                <a:latin typeface="楷体_GB2312" pitchFamily="49" charset="-122"/>
                <a:ea typeface="楷体_GB2312" pitchFamily="49" charset="-122"/>
              </a:rPr>
              <a:t>是卧式浇注，采用分开模两箱造型，生产过程较简便，比方案</a:t>
            </a:r>
            <a:r>
              <a:rPr lang="en-US" altLang="zh-CN" sz="2000" b="1" dirty="0">
                <a:solidFill>
                  <a:srgbClr val="FF0066"/>
                </a:solidFill>
                <a:latin typeface="楷体_GB2312" pitchFamily="49" charset="-122"/>
                <a:ea typeface="楷体_GB2312" pitchFamily="49" charset="-122"/>
              </a:rPr>
              <a:t>II</a:t>
            </a:r>
            <a:r>
              <a:rPr lang="zh-CN" altLang="en-US" sz="2000" b="1" dirty="0">
                <a:solidFill>
                  <a:srgbClr val="FF0066"/>
                </a:solidFill>
                <a:latin typeface="楷体_GB2312" pitchFamily="49" charset="-122"/>
                <a:ea typeface="楷体_GB2312" pitchFamily="49" charset="-122"/>
              </a:rPr>
              <a:t>合理。</a:t>
            </a:r>
            <a:endParaRPr lang="zh-CN" altLang="en-US" sz="2000" b="1" dirty="0">
              <a:solidFill>
                <a:srgbClr val="FF0066"/>
              </a:solidFill>
              <a:latin typeface="楷体_GB2312" pitchFamily="49" charset="-122"/>
              <a:ea typeface="楷体_GB2312" pitchFamily="49" charset="-122"/>
            </a:endParaRPr>
          </a:p>
        </p:txBody>
      </p:sp>
      <p:grpSp>
        <p:nvGrpSpPr>
          <p:cNvPr id="111620" name="Group 12"/>
          <p:cNvGrpSpPr/>
          <p:nvPr/>
        </p:nvGrpSpPr>
        <p:grpSpPr>
          <a:xfrm>
            <a:off x="36513" y="3398838"/>
            <a:ext cx="5195887" cy="3384550"/>
            <a:chOff x="0" y="0"/>
            <a:chExt cx="3264" cy="1884"/>
          </a:xfrm>
        </p:grpSpPr>
        <p:pic>
          <p:nvPicPr>
            <p:cNvPr id="111622" name="Picture 10" descr="08"/>
            <p:cNvPicPr>
              <a:picLocks noChangeAspect="1"/>
            </p:cNvPicPr>
            <p:nvPr/>
          </p:nvPicPr>
          <p:blipFill>
            <a:blip r:embed="rId1"/>
            <a:stretch>
              <a:fillRect/>
            </a:stretch>
          </p:blipFill>
          <p:spPr>
            <a:xfrm>
              <a:off x="0" y="0"/>
              <a:ext cx="3264" cy="1884"/>
            </a:xfrm>
            <a:prstGeom prst="rect">
              <a:avLst/>
            </a:prstGeom>
            <a:noFill/>
            <a:ln w="9525">
              <a:noFill/>
            </a:ln>
          </p:spPr>
        </p:pic>
        <p:sp>
          <p:nvSpPr>
            <p:cNvPr id="111623" name="Rectangle 11"/>
            <p:cNvSpPr/>
            <p:nvPr/>
          </p:nvSpPr>
          <p:spPr>
            <a:xfrm>
              <a:off x="950" y="1702"/>
              <a:ext cx="363" cy="164"/>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pic>
        <p:nvPicPr>
          <p:cNvPr id="78855" name="Picture 13" descr="Image010"/>
          <p:cNvPicPr>
            <a:picLocks noChangeAspect="1"/>
          </p:cNvPicPr>
          <p:nvPr/>
        </p:nvPicPr>
        <p:blipFill>
          <a:blip r:embed="rId2"/>
          <a:stretch>
            <a:fillRect/>
          </a:stretch>
        </p:blipFill>
        <p:spPr>
          <a:xfrm>
            <a:off x="5507673" y="3096895"/>
            <a:ext cx="3457575" cy="37607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78855"/>
                                        </p:tgtEl>
                                        <p:attrNameLst>
                                          <p:attrName>style.visibility</p:attrName>
                                        </p:attrNameLst>
                                      </p:cBhvr>
                                      <p:to>
                                        <p:strVal val="visible"/>
                                      </p:to>
                                    </p:set>
                                    <p:animEffect transition="in" filter="diamond(in)">
                                      <p:cBhvr>
                                        <p:cTn id="7" dur="2000"/>
                                        <p:tgtEl>
                                          <p:spTgt spid="788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1026"/>
          <p:cNvSpPr>
            <a:spLocks noChangeArrowheads="1"/>
          </p:cNvSpPr>
          <p:nvPr/>
        </p:nvSpPr>
        <p:spPr bwMode="auto">
          <a:xfrm>
            <a:off x="900113" y="704850"/>
            <a:ext cx="5280025" cy="70167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a:t>
            </a:r>
            <a:r>
              <a:rPr kumimoji="0" lang="zh-CN" altLang="en-US" sz="4000" b="1" i="0" u="none" strike="noStrike" kern="1200" cap="none" spc="0" normalizeH="0" baseline="0" noProof="0" dirty="0">
                <a:ln>
                  <a:noFill/>
                </a:ln>
                <a:solidFill>
                  <a:schemeClr val="tx2"/>
                </a:solidFill>
                <a:effectLst/>
                <a:uLnTx/>
                <a:uFillTx/>
                <a:latin typeface="Verdana" panose="020B0604030504040204" pitchFamily="34" charset="0"/>
                <a:ea typeface="楷体_GB2312" pitchFamily="49" charset="-122"/>
                <a:cs typeface="+mn-cs"/>
              </a:rPr>
              <a:t>分型面的选择原则</a:t>
            </a:r>
            <a:endParaRPr kumimoji="0" lang="zh-CN" altLang="en-US" sz="4000" b="1" i="0" u="none" strike="noStrike" kern="1200" cap="none" spc="0" normalizeH="0" baseline="0" noProof="0" dirty="0">
              <a:ln>
                <a:noFill/>
              </a:ln>
              <a:solidFill>
                <a:schemeClr val="tx2"/>
              </a:solidFill>
              <a:effectLst/>
              <a:uLnTx/>
              <a:uFillTx/>
              <a:latin typeface="Verdana" panose="020B0604030504040204" pitchFamily="34" charset="0"/>
              <a:ea typeface="楷体_GB2312" pitchFamily="49" charset="-122"/>
              <a:cs typeface="+mn-cs"/>
            </a:endParaRPr>
          </a:p>
        </p:txBody>
      </p:sp>
      <p:sp>
        <p:nvSpPr>
          <p:cNvPr id="112643" name="Rectangle 1027"/>
          <p:cNvSpPr/>
          <p:nvPr/>
        </p:nvSpPr>
        <p:spPr>
          <a:xfrm>
            <a:off x="900113" y="1916113"/>
            <a:ext cx="3240087"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None/>
            </a:pPr>
            <a:r>
              <a:rPr lang="zh-CN" altLang="en-US" sz="2400" b="1" dirty="0">
                <a:solidFill>
                  <a:srgbClr val="FF3300"/>
                </a:solidFill>
                <a:latin typeface="楷体_GB2312" pitchFamily="49" charset="-122"/>
                <a:ea typeface="楷体_GB2312" pitchFamily="49" charset="-122"/>
              </a:rPr>
              <a:t>（</a:t>
            </a:r>
            <a:r>
              <a:rPr lang="en-US" altLang="zh-CN" sz="2400" b="1" dirty="0">
                <a:solidFill>
                  <a:srgbClr val="FF3300"/>
                </a:solidFill>
                <a:latin typeface="楷体_GB2312" pitchFamily="49" charset="-122"/>
                <a:ea typeface="楷体_GB2312" pitchFamily="49" charset="-122"/>
              </a:rPr>
              <a:t>3</a:t>
            </a:r>
            <a:r>
              <a:rPr lang="zh-CN" altLang="en-US" sz="2400" b="1" dirty="0">
                <a:solidFill>
                  <a:srgbClr val="FF3300"/>
                </a:solidFill>
                <a:latin typeface="楷体_GB2312" pitchFamily="49" charset="-122"/>
                <a:ea typeface="楷体_GB2312" pitchFamily="49" charset="-122"/>
              </a:rPr>
              <a:t>）分型面应避免曲折，数量应少，最好是一个且为平面</a:t>
            </a:r>
            <a:r>
              <a:rPr lang="en-US" altLang="zh-CN" sz="2400" b="1" dirty="0">
                <a:solidFill>
                  <a:srgbClr val="FF3300"/>
                </a:solidFill>
                <a:latin typeface="楷体_GB2312" pitchFamily="49" charset="-122"/>
                <a:ea typeface="楷体_GB2312" pitchFamily="49" charset="-122"/>
              </a:rPr>
              <a:t>.</a:t>
            </a:r>
            <a:endParaRPr lang="en-US" altLang="zh-CN" sz="2400" b="1" dirty="0">
              <a:solidFill>
                <a:srgbClr val="FF3300"/>
              </a:solidFill>
              <a:latin typeface="楷体_GB2312" pitchFamily="49" charset="-122"/>
              <a:ea typeface="楷体_GB2312" pitchFamily="49" charset="-122"/>
            </a:endParaRPr>
          </a:p>
        </p:txBody>
      </p:sp>
      <p:graphicFrame>
        <p:nvGraphicFramePr>
          <p:cNvPr id="112644" name="Object 1028"/>
          <p:cNvGraphicFramePr>
            <a:graphicFrameLocks noChangeAspect="1"/>
          </p:cNvGraphicFramePr>
          <p:nvPr/>
        </p:nvGraphicFramePr>
        <p:xfrm>
          <a:off x="4021138" y="1597025"/>
          <a:ext cx="5086350" cy="5213350"/>
        </p:xfrm>
        <a:graphic>
          <a:graphicData uri="http://schemas.openxmlformats.org/presentationml/2006/ole">
            <mc:AlternateContent xmlns:mc="http://schemas.openxmlformats.org/markup-compatibility/2006">
              <mc:Choice xmlns:v="urn:schemas-microsoft-com:vml" Requires="v">
                <p:oleObj spid="_x0000_s3077" name="" r:id="rId1" imgW="9620250" imgH="9858375" progId="MSPhotoEdScan.3">
                  <p:embed/>
                </p:oleObj>
              </mc:Choice>
              <mc:Fallback>
                <p:oleObj name="" r:id="rId1" imgW="9620250" imgH="9858375" progId="MSPhotoEdScan.3">
                  <p:embed/>
                  <p:pic>
                    <p:nvPicPr>
                      <p:cNvPr id="0" name="图片 3076"/>
                      <p:cNvPicPr/>
                      <p:nvPr/>
                    </p:nvPicPr>
                    <p:blipFill>
                      <a:blip r:embed="rId2"/>
                      <a:stretch>
                        <a:fillRect/>
                      </a:stretch>
                    </p:blipFill>
                    <p:spPr>
                      <a:xfrm>
                        <a:off x="4021138" y="1597025"/>
                        <a:ext cx="5086350" cy="5213350"/>
                      </a:xfrm>
                      <a:prstGeom prst="rect">
                        <a:avLst/>
                      </a:prstGeom>
                      <a:solidFill>
                        <a:srgbClr val="7F91C9"/>
                      </a:solidFill>
                      <a:ln w="38100">
                        <a:noFill/>
                        <a:miter/>
                      </a:ln>
                    </p:spPr>
                  </p:pic>
                </p:oleObj>
              </mc:Fallback>
            </mc:AlternateContent>
          </a:graphicData>
        </a:graphic>
      </p:graphicFrame>
      <p:sp>
        <p:nvSpPr>
          <p:cNvPr id="112645" name="圆角矩形标注 1"/>
          <p:cNvSpPr/>
          <p:nvPr/>
        </p:nvSpPr>
        <p:spPr>
          <a:xfrm>
            <a:off x="6565900" y="92075"/>
            <a:ext cx="1993900" cy="1223963"/>
          </a:xfrm>
          <a:prstGeom prst="wedgeRoundRectCallout">
            <a:avLst>
              <a:gd name="adj1" fmla="val -25625"/>
              <a:gd name="adj2" fmla="val 99292"/>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1800" b="1" dirty="0">
                <a:latin typeface="楷体_GB2312" pitchFamily="49" charset="-122"/>
                <a:ea typeface="楷体_GB2312" pitchFamily="49" charset="-122"/>
              </a:rPr>
              <a:t>铸型必须有三个分型面才能取出模样，即用四箱造型。</a:t>
            </a:r>
            <a:endParaRPr lang="zh-CN" altLang="en-US" sz="1800" dirty="0"/>
          </a:p>
        </p:txBody>
      </p:sp>
      <p:sp>
        <p:nvSpPr>
          <p:cNvPr id="112646" name="圆角矩形标注 2"/>
          <p:cNvSpPr/>
          <p:nvPr/>
        </p:nvSpPr>
        <p:spPr>
          <a:xfrm>
            <a:off x="1116013" y="3662363"/>
            <a:ext cx="2051050" cy="1301750"/>
          </a:xfrm>
          <a:prstGeom prst="wedgeRoundRectCallout">
            <a:avLst>
              <a:gd name="adj1" fmla="val 114866"/>
              <a:gd name="adj2" fmla="val 21435"/>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2000" b="1" dirty="0">
                <a:latin typeface="楷体_GB2312" pitchFamily="49" charset="-122"/>
                <a:ea typeface="楷体_GB2312" pitchFamily="49" charset="-122"/>
              </a:rPr>
              <a:t>铸型有两个分型面，必须采用三箱造型。</a:t>
            </a:r>
            <a:endParaRPr lang="zh-CN" altLang="en-US" sz="2000" dirty="0"/>
          </a:p>
        </p:txBody>
      </p:sp>
      <p:sp>
        <p:nvSpPr>
          <p:cNvPr id="112647" name="圆角矩形标注 3"/>
          <p:cNvSpPr/>
          <p:nvPr/>
        </p:nvSpPr>
        <p:spPr>
          <a:xfrm>
            <a:off x="1116013" y="5373688"/>
            <a:ext cx="2735262" cy="1008062"/>
          </a:xfrm>
          <a:prstGeom prst="wedgeRoundRectCallout">
            <a:avLst>
              <a:gd name="adj1" fmla="val 168699"/>
              <a:gd name="adj2" fmla="val 11056"/>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1800" b="1" dirty="0">
                <a:latin typeface="楷体_GB2312" pitchFamily="49" charset="-122"/>
                <a:ea typeface="楷体_GB2312" pitchFamily="49" charset="-122"/>
              </a:rPr>
              <a:t>因铸型只有一个分型面，采用两箱造型即可，此方案合理。</a:t>
            </a:r>
            <a:endParaRPr lang="zh-CN" altLang="en-US" sz="1800" b="1" dirty="0">
              <a:latin typeface="楷体_GB2312" pitchFamily="49" charset="-122"/>
              <a:ea typeface="楷体_GB2312" pitchFamily="49"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p:cNvSpPr>
          <p:nvPr>
            <p:ph type="title"/>
          </p:nvPr>
        </p:nvSpPr>
        <p:spPr>
          <a:xfrm>
            <a:off x="1071563" y="1319213"/>
            <a:ext cx="8229600" cy="1143000"/>
          </a:xfrm>
        </p:spPr>
        <p:txBody>
          <a:bodyPr vert="horz" wrap="square" lIns="91440" tIns="45720" rIns="91440" bIns="45720" anchor="b" anchorCtr="0"/>
          <a:p>
            <a:pPr eaLnBrk="1" hangingPunct="1"/>
            <a:r>
              <a:rPr lang="en-US" altLang="zh-CN" sz="2400" b="1" dirty="0">
                <a:solidFill>
                  <a:srgbClr val="A50021"/>
                </a:solidFill>
                <a:latin typeface="楷体_GB2312" pitchFamily="49" charset="-122"/>
                <a:ea typeface="楷体_GB2312" pitchFamily="49" charset="-122"/>
              </a:rPr>
              <a:t>(4) </a:t>
            </a:r>
            <a:r>
              <a:rPr lang="zh-CN" altLang="en-US" sz="2400" b="1" dirty="0">
                <a:solidFill>
                  <a:srgbClr val="A50021"/>
                </a:solidFill>
                <a:latin typeface="楷体_GB2312" pitchFamily="49" charset="-122"/>
                <a:ea typeface="楷体_GB2312" pitchFamily="49" charset="-122"/>
              </a:rPr>
              <a:t>应使铸件全部或大部放在同一砂箱。</a:t>
            </a:r>
            <a:endParaRPr lang="zh-CN" altLang="en-US" sz="2400" b="1" dirty="0">
              <a:solidFill>
                <a:srgbClr val="A50021"/>
              </a:solidFill>
              <a:latin typeface="楷体_GB2312" pitchFamily="49" charset="-122"/>
              <a:ea typeface="楷体_GB2312" pitchFamily="49" charset="-122"/>
            </a:endParaRPr>
          </a:p>
        </p:txBody>
      </p:sp>
      <p:sp>
        <p:nvSpPr>
          <p:cNvPr id="113667" name="Text Box 4"/>
          <p:cNvSpPr txBox="1"/>
          <p:nvPr/>
        </p:nvSpPr>
        <p:spPr>
          <a:xfrm>
            <a:off x="8151813" y="6451600"/>
            <a:ext cx="381000" cy="3048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400" b="1" dirty="0">
                <a:solidFill>
                  <a:schemeClr val="bg1"/>
                </a:solidFill>
                <a:latin typeface="Arial" panose="020B0604020202020204" pitchFamily="34" charset="0"/>
              </a:rPr>
              <a:t>55</a:t>
            </a:r>
            <a:endParaRPr lang="en-US" altLang="zh-CN" sz="1400" b="1" dirty="0">
              <a:solidFill>
                <a:schemeClr val="bg1"/>
              </a:solidFill>
              <a:latin typeface="Arial" panose="020B0604020202020204" pitchFamily="34" charset="0"/>
            </a:endParaRPr>
          </a:p>
        </p:txBody>
      </p:sp>
      <p:sp>
        <p:nvSpPr>
          <p:cNvPr id="80900" name="Rectangle 5"/>
          <p:cNvSpPr>
            <a:spLocks noChangeArrowheads="1"/>
          </p:cNvSpPr>
          <p:nvPr/>
        </p:nvSpPr>
        <p:spPr bwMode="auto">
          <a:xfrm>
            <a:off x="2195513" y="617538"/>
            <a:ext cx="5280025" cy="70167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a:t>
            </a:r>
            <a:r>
              <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rPr>
              <a:t>分型面的选择原则</a:t>
            </a:r>
            <a:endPar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endParaRPr>
          </a:p>
        </p:txBody>
      </p:sp>
      <p:grpSp>
        <p:nvGrpSpPr>
          <p:cNvPr id="113669" name="Group 8"/>
          <p:cNvGrpSpPr>
            <a:grpSpLocks noChangeAspect="1"/>
          </p:cNvGrpSpPr>
          <p:nvPr/>
        </p:nvGrpSpPr>
        <p:grpSpPr>
          <a:xfrm>
            <a:off x="1115695" y="2744470"/>
            <a:ext cx="7157720" cy="2843530"/>
            <a:chOff x="0" y="0"/>
            <a:chExt cx="3991" cy="1586"/>
          </a:xfrm>
        </p:grpSpPr>
        <p:pic>
          <p:nvPicPr>
            <p:cNvPr id="113670" name="Picture 6" descr="图片5"/>
            <p:cNvPicPr>
              <a:picLocks noChangeAspect="1"/>
            </p:cNvPicPr>
            <p:nvPr/>
          </p:nvPicPr>
          <p:blipFill>
            <a:blip r:embed="rId1"/>
            <a:stretch>
              <a:fillRect/>
            </a:stretch>
          </p:blipFill>
          <p:spPr>
            <a:xfrm>
              <a:off x="1612" y="0"/>
              <a:ext cx="2379" cy="1586"/>
            </a:xfrm>
            <a:prstGeom prst="rect">
              <a:avLst/>
            </a:prstGeom>
            <a:noFill/>
            <a:ln w="9525">
              <a:noFill/>
            </a:ln>
          </p:spPr>
        </p:pic>
        <p:pic>
          <p:nvPicPr>
            <p:cNvPr id="113671" name="Picture 7" descr="图片4"/>
            <p:cNvPicPr>
              <a:picLocks noChangeAspect="1"/>
            </p:cNvPicPr>
            <p:nvPr/>
          </p:nvPicPr>
          <p:blipFill>
            <a:blip r:embed="rId2"/>
            <a:stretch>
              <a:fillRect/>
            </a:stretch>
          </p:blipFill>
          <p:spPr>
            <a:xfrm>
              <a:off x="0" y="181"/>
              <a:ext cx="1587" cy="1303"/>
            </a:xfrm>
            <a:prstGeom prst="rect">
              <a:avLst/>
            </a:prstGeom>
            <a:noFill/>
            <a:ln w="9525">
              <a:noFill/>
            </a:ln>
          </p:spPr>
        </p:pic>
      </p:gr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ChangeArrowheads="1"/>
          </p:cNvSpPr>
          <p:nvPr/>
        </p:nvSpPr>
        <p:spPr bwMode="auto">
          <a:xfrm>
            <a:off x="1755775" y="639763"/>
            <a:ext cx="5280025" cy="70167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a:t>
            </a:r>
            <a:r>
              <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rPr>
              <a:t>分型面的选择原则</a:t>
            </a:r>
            <a:endPar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endParaRPr>
          </a:p>
        </p:txBody>
      </p:sp>
      <p:sp>
        <p:nvSpPr>
          <p:cNvPr id="114691" name="Rectangle 3"/>
          <p:cNvSpPr/>
          <p:nvPr/>
        </p:nvSpPr>
        <p:spPr>
          <a:xfrm>
            <a:off x="539750" y="1700530"/>
            <a:ext cx="6755130" cy="76835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None/>
            </a:pPr>
            <a:r>
              <a:rPr lang="en-US" altLang="zh-CN" sz="1800" dirty="0"/>
              <a:t> </a:t>
            </a:r>
            <a:r>
              <a:rPr lang="en-US" altLang="zh-CN" sz="2400" b="1" dirty="0">
                <a:solidFill>
                  <a:srgbClr val="A50021"/>
                </a:solidFill>
                <a:latin typeface="楷体_GB2312" pitchFamily="49" charset="-122"/>
                <a:ea typeface="楷体_GB2312" pitchFamily="49" charset="-122"/>
              </a:rPr>
              <a:t>(5) </a:t>
            </a:r>
            <a:r>
              <a:rPr lang="en-US" altLang="zh-CN" sz="2400" b="1" dirty="0">
                <a:solidFill>
                  <a:srgbClr val="A50021"/>
                </a:solidFill>
                <a:latin typeface="楷体_GB2312" pitchFamily="49" charset="-122"/>
                <a:ea typeface="楷体_GB2312" pitchFamily="49" charset="-122"/>
                <a:sym typeface="+mn-ea"/>
              </a:rPr>
              <a:t>(4) </a:t>
            </a:r>
            <a:r>
              <a:rPr lang="zh-CN" altLang="en-US" sz="2400" b="1" dirty="0">
                <a:solidFill>
                  <a:srgbClr val="A50021"/>
                </a:solidFill>
                <a:latin typeface="楷体_GB2312" pitchFamily="49" charset="-122"/>
                <a:ea typeface="楷体_GB2312" pitchFamily="49" charset="-122"/>
                <a:sym typeface="+mn-ea"/>
              </a:rPr>
              <a:t>应使铸件全部或大部放在同一砂箱。</a:t>
            </a:r>
            <a:endParaRPr lang="zh-CN" altLang="en-US" sz="2400" b="1" dirty="0">
              <a:solidFill>
                <a:srgbClr val="A50021"/>
              </a:solidFill>
              <a:latin typeface="楷体_GB2312" pitchFamily="49" charset="-122"/>
              <a:ea typeface="楷体_GB2312" pitchFamily="49" charset="-122"/>
            </a:endParaRPr>
          </a:p>
          <a:p>
            <a:pPr marL="0" lvl="0" indent="0">
              <a:spcBef>
                <a:spcPct val="0"/>
              </a:spcBef>
              <a:buClrTx/>
              <a:buSzTx/>
              <a:buNone/>
            </a:pPr>
            <a:r>
              <a:rPr lang="zh-CN" altLang="en-US" sz="2000" b="1" dirty="0">
                <a:latin typeface="楷体_GB2312" pitchFamily="49" charset="-122"/>
                <a:ea typeface="楷体_GB2312" pitchFamily="49" charset="-122"/>
              </a:rPr>
              <a:t>   </a:t>
            </a:r>
            <a:endParaRPr lang="zh-CN" altLang="en-US" sz="2400" b="1" dirty="0">
              <a:solidFill>
                <a:schemeClr val="bg2"/>
              </a:solidFill>
              <a:latin typeface="楷体_GB2312" pitchFamily="49" charset="-122"/>
              <a:ea typeface="楷体_GB2312" pitchFamily="49" charset="-122"/>
            </a:endParaRPr>
          </a:p>
        </p:txBody>
      </p:sp>
      <p:pic>
        <p:nvPicPr>
          <p:cNvPr id="114692" name="Picture 5" descr="图片5"/>
          <p:cNvPicPr>
            <a:picLocks noChangeAspect="1"/>
          </p:cNvPicPr>
          <p:nvPr/>
        </p:nvPicPr>
        <p:blipFill>
          <a:blip r:embed="rId1"/>
          <a:stretch>
            <a:fillRect/>
          </a:stretch>
        </p:blipFill>
        <p:spPr>
          <a:xfrm>
            <a:off x="35560" y="3949700"/>
            <a:ext cx="5632450" cy="2908300"/>
          </a:xfrm>
          <a:prstGeom prst="rect">
            <a:avLst/>
          </a:prstGeom>
          <a:noFill/>
          <a:ln w="9525">
            <a:noFill/>
          </a:ln>
        </p:spPr>
      </p:pic>
      <p:pic>
        <p:nvPicPr>
          <p:cNvPr id="81925" name="Picture 6" descr="图片6"/>
          <p:cNvPicPr>
            <a:picLocks noChangeAspect="1"/>
          </p:cNvPicPr>
          <p:nvPr/>
        </p:nvPicPr>
        <p:blipFill>
          <a:blip r:embed="rId2"/>
          <a:stretch>
            <a:fillRect/>
          </a:stretch>
        </p:blipFill>
        <p:spPr>
          <a:xfrm>
            <a:off x="5075238" y="2060575"/>
            <a:ext cx="4048125" cy="24288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81925"/>
                                        </p:tgtEl>
                                        <p:attrNameLst>
                                          <p:attrName>style.visibility</p:attrName>
                                        </p:attrNameLst>
                                      </p:cBhvr>
                                      <p:to>
                                        <p:strVal val="visible"/>
                                      </p:to>
                                    </p:set>
                                    <p:animEffect transition="in" filter="diamond(in)">
                                      <p:cBhvr>
                                        <p:cTn id="7" dur="2000"/>
                                        <p:tgtEl>
                                          <p:spTgt spid="819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ChangeArrowheads="1"/>
          </p:cNvSpPr>
          <p:nvPr/>
        </p:nvSpPr>
        <p:spPr bwMode="auto">
          <a:xfrm>
            <a:off x="1755775" y="639763"/>
            <a:ext cx="5280025" cy="70167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a:t>
            </a:r>
            <a:r>
              <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rPr>
              <a:t>分型面的选择原则</a:t>
            </a:r>
            <a:endPar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endParaRPr>
          </a:p>
        </p:txBody>
      </p:sp>
      <p:sp>
        <p:nvSpPr>
          <p:cNvPr id="115715" name="Rectangle 3"/>
          <p:cNvSpPr/>
          <p:nvPr/>
        </p:nvSpPr>
        <p:spPr>
          <a:xfrm>
            <a:off x="654050" y="1516063"/>
            <a:ext cx="7777163"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None/>
            </a:pPr>
            <a:r>
              <a:rPr lang="en-US" altLang="zh-CN" sz="1800" dirty="0"/>
              <a:t> </a:t>
            </a:r>
            <a:r>
              <a:rPr lang="en-US" altLang="zh-CN" sz="2400" b="1" dirty="0">
                <a:solidFill>
                  <a:srgbClr val="A50021"/>
                </a:solidFill>
                <a:latin typeface="楷体_GB2312" pitchFamily="49" charset="-122"/>
                <a:ea typeface="楷体_GB2312" pitchFamily="49" charset="-122"/>
              </a:rPr>
              <a:t>(5) </a:t>
            </a:r>
            <a:r>
              <a:rPr lang="zh-CN" altLang="en-US" sz="2400" b="1" dirty="0">
                <a:solidFill>
                  <a:srgbClr val="A50021"/>
                </a:solidFill>
                <a:latin typeface="楷体_GB2312" pitchFamily="49" charset="-122"/>
                <a:ea typeface="楷体_GB2312" pitchFamily="49" charset="-122"/>
              </a:rPr>
              <a:t>应使型芯和活块数量尽量减少</a:t>
            </a:r>
            <a:endParaRPr lang="zh-CN" altLang="en-US" sz="2400" b="1" dirty="0">
              <a:solidFill>
                <a:srgbClr val="A50021"/>
              </a:solidFill>
              <a:latin typeface="楷体_GB2312" pitchFamily="49" charset="-122"/>
              <a:ea typeface="楷体_GB2312" pitchFamily="49" charset="-122"/>
            </a:endParaRPr>
          </a:p>
          <a:p>
            <a:pPr marL="0" lvl="0" indent="0">
              <a:spcBef>
                <a:spcPct val="0"/>
              </a:spcBef>
              <a:buClrTx/>
              <a:buSzTx/>
              <a:buNone/>
            </a:pPr>
            <a:r>
              <a:rPr lang="zh-CN" altLang="en-US" sz="2000" b="1" dirty="0">
                <a:latin typeface="楷体_GB2312" pitchFamily="49" charset="-122"/>
                <a:ea typeface="楷体_GB2312" pitchFamily="49" charset="-122"/>
              </a:rPr>
              <a:t>   </a:t>
            </a:r>
            <a:endParaRPr lang="en-US" altLang="zh-CN" sz="2400" b="1" dirty="0">
              <a:solidFill>
                <a:schemeClr val="bg2"/>
              </a:solidFill>
              <a:latin typeface="楷体_GB2312" pitchFamily="49" charset="-122"/>
              <a:ea typeface="楷体_GB2312" pitchFamily="49" charset="-122"/>
            </a:endParaRPr>
          </a:p>
        </p:txBody>
      </p:sp>
      <p:pic>
        <p:nvPicPr>
          <p:cNvPr id="115716" name="Picture 4"/>
          <p:cNvPicPr>
            <a:picLocks noChangeAspect="1"/>
          </p:cNvPicPr>
          <p:nvPr/>
        </p:nvPicPr>
        <p:blipFill>
          <a:blip r:embed="rId1"/>
          <a:stretch>
            <a:fillRect/>
          </a:stretch>
        </p:blipFill>
        <p:spPr>
          <a:xfrm>
            <a:off x="898843" y="1866583"/>
            <a:ext cx="3281362" cy="4991100"/>
          </a:xfrm>
          <a:prstGeom prst="rect">
            <a:avLst/>
          </a:prstGeom>
          <a:noFill/>
          <a:ln w="9525">
            <a:noFill/>
          </a:ln>
        </p:spPr>
      </p:pic>
      <p:sp>
        <p:nvSpPr>
          <p:cNvPr id="115717" name="圆角矩形标注 1"/>
          <p:cNvSpPr/>
          <p:nvPr/>
        </p:nvSpPr>
        <p:spPr>
          <a:xfrm>
            <a:off x="5363528" y="2204403"/>
            <a:ext cx="2414587" cy="2087562"/>
          </a:xfrm>
          <a:prstGeom prst="wedgeRoundRectCallout">
            <a:avLst>
              <a:gd name="adj1" fmla="val -188974"/>
              <a:gd name="adj2" fmla="val 46836"/>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2000" b="1" dirty="0">
                <a:latin typeface="楷体_GB2312" pitchFamily="49" charset="-122"/>
                <a:ea typeface="楷体_GB2312" pitchFamily="49" charset="-122"/>
              </a:rPr>
              <a:t>凸台必须采用四个活块方可制出。而下部两个活块的部位甚深，取出困难。</a:t>
            </a:r>
            <a:endParaRPr lang="zh-CN" altLang="en-US" sz="2000" dirty="0"/>
          </a:p>
        </p:txBody>
      </p:sp>
      <p:sp>
        <p:nvSpPr>
          <p:cNvPr id="115718" name="圆角矩形标注 2"/>
          <p:cNvSpPr/>
          <p:nvPr/>
        </p:nvSpPr>
        <p:spPr>
          <a:xfrm>
            <a:off x="6515418" y="4868863"/>
            <a:ext cx="1441450" cy="1511300"/>
          </a:xfrm>
          <a:prstGeom prst="wedgeRoundRectCallout">
            <a:avLst>
              <a:gd name="adj1" fmla="val -372841"/>
              <a:gd name="adj2" fmla="val 39012"/>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2000" b="1" dirty="0">
                <a:latin typeface="楷体_GB2312" pitchFamily="49" charset="-122"/>
                <a:ea typeface="楷体_GB2312" pitchFamily="49" charset="-122"/>
              </a:rPr>
              <a:t>可省去活块</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仅在</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处稍加挖砂即可。</a:t>
            </a:r>
            <a:endParaRPr lang="zh-CN" altLang="en-US" sz="2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6738" name="Picture 5" descr="图片4"/>
          <p:cNvPicPr>
            <a:picLocks noChangeAspect="1"/>
          </p:cNvPicPr>
          <p:nvPr/>
        </p:nvPicPr>
        <p:blipFill>
          <a:blip r:embed="rId1"/>
          <a:stretch>
            <a:fillRect/>
          </a:stretch>
        </p:blipFill>
        <p:spPr>
          <a:xfrm>
            <a:off x="179388" y="2852738"/>
            <a:ext cx="4572000" cy="2600325"/>
          </a:xfrm>
          <a:prstGeom prst="rect">
            <a:avLst/>
          </a:prstGeom>
          <a:noFill/>
          <a:ln w="9525">
            <a:noFill/>
          </a:ln>
        </p:spPr>
      </p:pic>
      <p:sp>
        <p:nvSpPr>
          <p:cNvPr id="83970" name="Rectangle 2"/>
          <p:cNvSpPr>
            <a:spLocks noChangeArrowheads="1"/>
          </p:cNvSpPr>
          <p:nvPr/>
        </p:nvSpPr>
        <p:spPr bwMode="auto">
          <a:xfrm>
            <a:off x="1835150" y="765175"/>
            <a:ext cx="5338763"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a:t>
            </a:r>
            <a:r>
              <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rPr>
              <a:t>分型面的选择原则</a:t>
            </a:r>
            <a:endPar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endParaRPr>
          </a:p>
        </p:txBody>
      </p:sp>
      <p:sp>
        <p:nvSpPr>
          <p:cNvPr id="116740" name="Rectangle 3"/>
          <p:cNvSpPr/>
          <p:nvPr/>
        </p:nvSpPr>
        <p:spPr>
          <a:xfrm>
            <a:off x="900113" y="1628775"/>
            <a:ext cx="7272337" cy="1662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2400" b="1" dirty="0">
                <a:solidFill>
                  <a:srgbClr val="A50021"/>
                </a:solidFill>
                <a:latin typeface="楷体_GB2312" pitchFamily="49" charset="-122"/>
                <a:ea typeface="楷体_GB2312" pitchFamily="49" charset="-122"/>
              </a:rPr>
              <a:t>(6) </a:t>
            </a:r>
            <a:r>
              <a:rPr lang="zh-CN" altLang="en-US" sz="2400" b="1" dirty="0">
                <a:solidFill>
                  <a:srgbClr val="A50021"/>
                </a:solidFill>
                <a:latin typeface="楷体_GB2312" pitchFamily="49" charset="-122"/>
                <a:ea typeface="楷体_GB2312" pitchFamily="49" charset="-122"/>
              </a:rPr>
              <a:t>应尽量使型腔及主要型芯位于下箱，以便于造型、下芯、合箱及检验。</a:t>
            </a:r>
            <a:endParaRPr lang="zh-CN" altLang="en-US" sz="2400" b="1" dirty="0">
              <a:solidFill>
                <a:srgbClr val="A50021"/>
              </a:solidFill>
              <a:latin typeface="楷体_GB2312" pitchFamily="49" charset="-122"/>
              <a:ea typeface="楷体_GB2312" pitchFamily="49" charset="-122"/>
            </a:endParaRPr>
          </a:p>
          <a:p>
            <a:pPr marL="0" lvl="0" indent="0" eaLnBrk="1" hangingPunct="1">
              <a:lnSpc>
                <a:spcPct val="125000"/>
              </a:lnSpc>
              <a:spcBef>
                <a:spcPct val="0"/>
              </a:spcBef>
              <a:buClrTx/>
              <a:buSzTx/>
              <a:buNone/>
            </a:pPr>
            <a:r>
              <a:rPr lang="zh-CN" altLang="en-US" sz="2400" b="1" dirty="0">
                <a:latin typeface="楷体_GB2312" pitchFamily="49" charset="-122"/>
                <a:ea typeface="楷体_GB2312" pitchFamily="49" charset="-122"/>
              </a:rPr>
              <a:t>   下箱型腔也不宜过深</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否则不宜起模、安放型芯</a:t>
            </a: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marL="0" lvl="0" indent="0" eaLnBrk="1" hangingPunct="1">
              <a:spcBef>
                <a:spcPct val="0"/>
              </a:spcBef>
              <a:buClrTx/>
              <a:buSzTx/>
              <a:buNone/>
            </a:pPr>
            <a:endParaRPr lang="en-US" altLang="zh-CN" sz="2400" b="1" dirty="0">
              <a:solidFill>
                <a:srgbClr val="FF00FF"/>
              </a:solidFill>
              <a:latin typeface="楷体_GB2312" pitchFamily="49" charset="-122"/>
              <a:ea typeface="楷体_GB2312" pitchFamily="49" charset="-122"/>
            </a:endParaRPr>
          </a:p>
        </p:txBody>
      </p:sp>
      <p:pic>
        <p:nvPicPr>
          <p:cNvPr id="83972" name="Picture 4" descr="图片3"/>
          <p:cNvPicPr>
            <a:picLocks noChangeAspect="1"/>
          </p:cNvPicPr>
          <p:nvPr/>
        </p:nvPicPr>
        <p:blipFill>
          <a:blip r:embed="rId2"/>
          <a:stretch>
            <a:fillRect/>
          </a:stretch>
        </p:blipFill>
        <p:spPr>
          <a:xfrm>
            <a:off x="4067175" y="4878388"/>
            <a:ext cx="5310188" cy="19939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83972"/>
                                        </p:tgtEl>
                                        <p:attrNameLst>
                                          <p:attrName>style.visibility</p:attrName>
                                        </p:attrNameLst>
                                      </p:cBhvr>
                                      <p:to>
                                        <p:strVal val="visible"/>
                                      </p:to>
                                    </p:set>
                                    <p:animEffect transition="in" filter="diamond(in)">
                                      <p:cBhvr>
                                        <p:cTn id="7" dur="2000"/>
                                        <p:tgtEl>
                                          <p:spTgt spid="83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a:spLocks noChangeArrowheads="1"/>
          </p:cNvSpPr>
          <p:nvPr/>
        </p:nvSpPr>
        <p:spPr bwMode="auto">
          <a:xfrm>
            <a:off x="1971675" y="711200"/>
            <a:ext cx="5280025" cy="70167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a:t>
            </a:r>
            <a:r>
              <a:rPr kumimoji="0" lang="zh-CN" altLang="en-US" sz="4000" b="1" i="0" u="none" strike="noStrike" kern="1200" cap="none" spc="0" normalizeH="0" baseline="0" noProof="0" dirty="0">
                <a:ln>
                  <a:noFill/>
                </a:ln>
                <a:solidFill>
                  <a:schemeClr val="tx2"/>
                </a:solidFill>
                <a:effectLst/>
                <a:uLnTx/>
                <a:uFillTx/>
                <a:latin typeface="Verdana" panose="020B0604030504040204" pitchFamily="34" charset="0"/>
                <a:ea typeface="楷体_GB2312" pitchFamily="49" charset="-122"/>
                <a:cs typeface="+mn-cs"/>
              </a:rPr>
              <a:t>分型面的选择原则</a:t>
            </a:r>
            <a:endParaRPr kumimoji="0" lang="zh-CN" altLang="en-US" sz="4000" b="1" i="0" u="none" strike="noStrike" kern="1200" cap="none" spc="0" normalizeH="0" baseline="0" noProof="0" dirty="0">
              <a:ln>
                <a:noFill/>
              </a:ln>
              <a:solidFill>
                <a:schemeClr val="tx2"/>
              </a:solidFill>
              <a:effectLst/>
              <a:uLnTx/>
              <a:uFillTx/>
              <a:latin typeface="Verdana" panose="020B0604030504040204" pitchFamily="34" charset="0"/>
              <a:ea typeface="楷体_GB2312" pitchFamily="49" charset="-122"/>
              <a:cs typeface="+mn-cs"/>
            </a:endParaRPr>
          </a:p>
        </p:txBody>
      </p:sp>
      <p:sp>
        <p:nvSpPr>
          <p:cNvPr id="117763" name="Rectangle 8"/>
          <p:cNvSpPr/>
          <p:nvPr/>
        </p:nvSpPr>
        <p:spPr>
          <a:xfrm>
            <a:off x="731838" y="1719263"/>
            <a:ext cx="7800975" cy="1600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Wingdings" panose="05000000000000000000" pitchFamily="2" charset="2"/>
              <a:buChar char="Ø"/>
            </a:pPr>
            <a:r>
              <a:rPr lang="en-US" altLang="zh-CN" sz="1800" dirty="0"/>
              <a:t>   </a:t>
            </a:r>
            <a:r>
              <a:rPr lang="zh-CN" altLang="en-US" sz="2000" b="1" dirty="0">
                <a:latin typeface="楷体_GB2312" pitchFamily="49" charset="-122"/>
                <a:ea typeface="楷体_GB2312" pitchFamily="49" charset="-122"/>
              </a:rPr>
              <a:t>型芯通常用于形成铸件的内腔，有时还可用它来简化铸件的外形，以制出妨碍起模的凸台、凹槽等。但制造型芯需要专门的芯盒，芯骨，还需烘干及下芯等工序，增加了铸件成本。因此，选择分型面时应尽量避免不必要的型芯。</a:t>
            </a:r>
            <a:endParaRPr lang="zh-CN" altLang="en-US" sz="2000" b="1" dirty="0">
              <a:latin typeface="楷体_GB2312" pitchFamily="49" charset="-122"/>
              <a:ea typeface="楷体_GB2312" pitchFamily="49" charset="-122"/>
            </a:endParaRPr>
          </a:p>
          <a:p>
            <a:pPr marL="0" lvl="0" indent="0">
              <a:spcBef>
                <a:spcPct val="0"/>
              </a:spcBef>
              <a:buClrTx/>
              <a:buSzTx/>
              <a:buNone/>
            </a:pPr>
            <a:endParaRPr lang="zh-CN" altLang="en-US" sz="1800" b="1" dirty="0">
              <a:solidFill>
                <a:schemeClr val="bg2"/>
              </a:solidFill>
              <a:latin typeface="楷体_GB2312" pitchFamily="49" charset="-122"/>
              <a:ea typeface="楷体_GB2312" pitchFamily="49" charset="-122"/>
            </a:endParaRPr>
          </a:p>
        </p:txBody>
      </p:sp>
      <p:pic>
        <p:nvPicPr>
          <p:cNvPr id="117764" name="Picture 10"/>
          <p:cNvPicPr>
            <a:picLocks noChangeAspect="1"/>
          </p:cNvPicPr>
          <p:nvPr/>
        </p:nvPicPr>
        <p:blipFill>
          <a:blip r:embed="rId1"/>
          <a:stretch>
            <a:fillRect/>
          </a:stretch>
        </p:blipFill>
        <p:spPr>
          <a:xfrm>
            <a:off x="623888" y="3000375"/>
            <a:ext cx="7908925" cy="3863975"/>
          </a:xfrm>
          <a:prstGeom prst="rect">
            <a:avLst/>
          </a:prstGeom>
          <a:noFill/>
          <a:ln w="9525">
            <a:noFill/>
          </a:ln>
        </p:spPr>
      </p:pic>
      <p:sp>
        <p:nvSpPr>
          <p:cNvPr id="117765" name="圆角矩形标注 1"/>
          <p:cNvSpPr/>
          <p:nvPr/>
        </p:nvSpPr>
        <p:spPr>
          <a:xfrm>
            <a:off x="5349875" y="5961063"/>
            <a:ext cx="3168650" cy="792162"/>
          </a:xfrm>
          <a:prstGeom prst="wedgeRoundRectCallout">
            <a:avLst>
              <a:gd name="adj1" fmla="val 16718"/>
              <a:gd name="adj2" fmla="val -101292"/>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1800" b="1" dirty="0">
                <a:solidFill>
                  <a:srgbClr val="0000FF"/>
                </a:solidFill>
                <a:latin typeface="楷体_GB2312" pitchFamily="49" charset="-122"/>
                <a:ea typeface="楷体_GB2312" pitchFamily="49" charset="-122"/>
              </a:rPr>
              <a:t>上</a:t>
            </a:r>
            <a:r>
              <a:rPr lang="en-US" altLang="zh-CN" sz="1800" b="1" dirty="0">
                <a:solidFill>
                  <a:srgbClr val="0000FF"/>
                </a:solidFill>
                <a:latin typeface="楷体_GB2312" pitchFamily="49" charset="-122"/>
                <a:ea typeface="楷体_GB2312" pitchFamily="49" charset="-122"/>
              </a:rPr>
              <a:t>,</a:t>
            </a:r>
            <a:r>
              <a:rPr lang="zh-CN" altLang="en-US" sz="1800" b="1" dirty="0">
                <a:solidFill>
                  <a:srgbClr val="0000FF"/>
                </a:solidFill>
                <a:latin typeface="楷体_GB2312" pitchFamily="49" charset="-122"/>
                <a:ea typeface="楷体_GB2312" pitchFamily="49" charset="-122"/>
              </a:rPr>
              <a:t>下内腔均需采用型芯</a:t>
            </a:r>
            <a:endParaRPr lang="zh-CN" altLang="en-US" sz="1800" dirty="0"/>
          </a:p>
        </p:txBody>
      </p:sp>
      <p:sp>
        <p:nvSpPr>
          <p:cNvPr id="117766" name="圆角矩形标注 2"/>
          <p:cNvSpPr/>
          <p:nvPr/>
        </p:nvSpPr>
        <p:spPr>
          <a:xfrm>
            <a:off x="26988" y="5732463"/>
            <a:ext cx="4113212" cy="1020762"/>
          </a:xfrm>
          <a:prstGeom prst="wedgeRoundRectCallout">
            <a:avLst>
              <a:gd name="adj1" fmla="val 1403"/>
              <a:gd name="adj2" fmla="val -84704"/>
              <a:gd name="adj3" fmla="val 16667"/>
            </a:avLst>
          </a:prstGeom>
          <a:solidFill>
            <a:schemeClr val="accent1"/>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2000" b="1" dirty="0">
                <a:solidFill>
                  <a:srgbClr val="0000FF"/>
                </a:solidFill>
                <a:latin typeface="楷体_GB2312" pitchFamily="49" charset="-122"/>
                <a:ea typeface="楷体_GB2312" pitchFamily="49" charset="-122"/>
              </a:rPr>
              <a:t>采用整模造型，则上，下内腔均可由砂垛形成，省掉了型芯。</a:t>
            </a:r>
            <a:endParaRPr lang="zh-CN" altLang="en-US" sz="20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8786" name="图片 1"/>
          <p:cNvPicPr>
            <a:picLocks noChangeAspect="1"/>
          </p:cNvPicPr>
          <p:nvPr/>
        </p:nvPicPr>
        <p:blipFill>
          <a:blip r:embed="rId1"/>
          <a:stretch>
            <a:fillRect/>
          </a:stretch>
        </p:blipFill>
        <p:spPr>
          <a:xfrm>
            <a:off x="395288" y="2781300"/>
            <a:ext cx="8488362" cy="3816350"/>
          </a:xfrm>
          <a:prstGeom prst="rect">
            <a:avLst/>
          </a:prstGeom>
          <a:noFill/>
          <a:ln w="9525">
            <a:noFill/>
          </a:ln>
        </p:spPr>
      </p:pic>
      <p:sp>
        <p:nvSpPr>
          <p:cNvPr id="3" name="Rectangle 7"/>
          <p:cNvSpPr>
            <a:spLocks noChangeArrowheads="1"/>
          </p:cNvSpPr>
          <p:nvPr/>
        </p:nvSpPr>
        <p:spPr bwMode="auto">
          <a:xfrm>
            <a:off x="1971675" y="711200"/>
            <a:ext cx="5280025" cy="70167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dirty="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a:t>
            </a:r>
            <a:r>
              <a:rPr kumimoji="0" lang="zh-CN" altLang="en-US" sz="4000" b="1" i="0" u="none" strike="noStrike" kern="1200" cap="none" spc="0" normalizeH="0" baseline="0" noProof="0" dirty="0">
                <a:ln>
                  <a:noFill/>
                </a:ln>
                <a:solidFill>
                  <a:schemeClr val="tx2"/>
                </a:solidFill>
                <a:effectLst/>
                <a:uLnTx/>
                <a:uFillTx/>
                <a:latin typeface="Verdana" panose="020B0604030504040204" pitchFamily="34" charset="0"/>
                <a:ea typeface="楷体_GB2312" pitchFamily="49" charset="-122"/>
                <a:cs typeface="+mn-cs"/>
              </a:rPr>
              <a:t>分型面的选择原则</a:t>
            </a:r>
            <a:endParaRPr kumimoji="0" lang="zh-CN" altLang="en-US" sz="4000" b="1" i="0" u="none" strike="noStrike" kern="1200" cap="none" spc="0" normalizeH="0" baseline="0" noProof="0" dirty="0">
              <a:ln>
                <a:noFill/>
              </a:ln>
              <a:solidFill>
                <a:schemeClr val="tx2"/>
              </a:solidFill>
              <a:effectLst/>
              <a:uLnTx/>
              <a:uFillTx/>
              <a:latin typeface="Verdana" panose="020B0604030504040204" pitchFamily="34" charset="0"/>
              <a:ea typeface="楷体_GB2312" pitchFamily="49" charset="-122"/>
              <a:cs typeface="+mn-cs"/>
            </a:endParaRPr>
          </a:p>
        </p:txBody>
      </p:sp>
      <p:sp>
        <p:nvSpPr>
          <p:cNvPr id="118788" name="文本框 3"/>
          <p:cNvSpPr txBox="1"/>
          <p:nvPr/>
        </p:nvSpPr>
        <p:spPr>
          <a:xfrm>
            <a:off x="1116013" y="1773238"/>
            <a:ext cx="4032250" cy="5222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Tx/>
              <a:buNone/>
            </a:pPr>
            <a:r>
              <a:rPr lang="zh-CN" altLang="en-US" sz="2800" dirty="0"/>
              <a:t>便于型芯的安放</a:t>
            </a:r>
            <a:endParaRPr lang="zh-CN" altLang="en-US" sz="28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1026"/>
          <p:cNvSpPr>
            <a:spLocks noChangeArrowheads="1"/>
          </p:cNvSpPr>
          <p:nvPr/>
        </p:nvSpPr>
        <p:spPr bwMode="auto">
          <a:xfrm>
            <a:off x="2185988" y="782638"/>
            <a:ext cx="5338763"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砂型</a:t>
            </a:r>
            <a:r>
              <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rPr>
              <a:t>分型面的选择原则　　</a:t>
            </a:r>
            <a:endParaRPr kumimoji="0" lang="zh-CN" altLang="en-US" sz="4000" b="1" i="0" u="none" strike="noStrike" kern="1200" cap="none" spc="0" normalizeH="0" baseline="0" noProof="0">
              <a:ln>
                <a:noFill/>
              </a:ln>
              <a:solidFill>
                <a:schemeClr val="tx2"/>
              </a:solidFill>
              <a:effectLst/>
              <a:uLnTx/>
              <a:uFillTx/>
              <a:latin typeface="Verdana" panose="020B0604030504040204" pitchFamily="34" charset="0"/>
              <a:ea typeface="楷体_GB2312" pitchFamily="49" charset="-122"/>
              <a:cs typeface="+mn-cs"/>
            </a:endParaRPr>
          </a:p>
        </p:txBody>
      </p:sp>
      <p:sp>
        <p:nvSpPr>
          <p:cNvPr id="119811" name="Rectangle 1034"/>
          <p:cNvSpPr/>
          <p:nvPr/>
        </p:nvSpPr>
        <p:spPr>
          <a:xfrm>
            <a:off x="611188" y="1784350"/>
            <a:ext cx="8064500" cy="4400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2800" dirty="0">
                <a:latin typeface="GreekS" pitchFamily="2" charset="0"/>
              </a:rPr>
              <a:t>       </a:t>
            </a:r>
            <a:r>
              <a:rPr lang="zh-CN" altLang="en-US" sz="2800" b="1" dirty="0">
                <a:solidFill>
                  <a:srgbClr val="A50021"/>
                </a:solidFill>
                <a:latin typeface="GreekS" pitchFamily="2" charset="0"/>
                <a:ea typeface="楷体_GB2312" pitchFamily="49" charset="-122"/>
              </a:rPr>
              <a:t>上述各项原则，对于某一具体铸件来说难以全面满足，有时甚至相互矛盾。</a:t>
            </a:r>
            <a:r>
              <a:rPr lang="zh-CN" altLang="en-US" sz="2800" b="1" dirty="0">
                <a:latin typeface="GreekS" pitchFamily="2" charset="0"/>
                <a:ea typeface="楷体_GB2312" pitchFamily="49" charset="-122"/>
              </a:rPr>
              <a:t>因此，必须</a:t>
            </a:r>
            <a:r>
              <a:rPr lang="zh-CN" altLang="en-US" sz="2800" b="1" dirty="0">
                <a:solidFill>
                  <a:srgbClr val="FF3300"/>
                </a:solidFill>
                <a:latin typeface="GreekS" pitchFamily="2" charset="0"/>
                <a:ea typeface="楷体_GB2312" pitchFamily="49" charset="-122"/>
              </a:rPr>
              <a:t>抓住主要矛盾，</a:t>
            </a:r>
            <a:r>
              <a:rPr lang="zh-CN" altLang="en-US" sz="2800" b="1" dirty="0">
                <a:latin typeface="GreekS" pitchFamily="2" charset="0"/>
                <a:ea typeface="楷体_GB2312" pitchFamily="49" charset="-122"/>
              </a:rPr>
              <a:t>全面分析，至于次要矛盾，则应从工艺措施上设法解决。</a:t>
            </a:r>
            <a:endParaRPr lang="en-US" altLang="zh-CN" sz="2800" b="1" dirty="0">
              <a:latin typeface="GreekS" pitchFamily="2" charset="0"/>
              <a:ea typeface="楷体_GB2312" pitchFamily="49" charset="-122"/>
            </a:endParaRPr>
          </a:p>
          <a:p>
            <a:pPr marL="0" lvl="0" indent="0" eaLnBrk="1" hangingPunct="1">
              <a:spcBef>
                <a:spcPct val="0"/>
              </a:spcBef>
              <a:buClrTx/>
              <a:buSzTx/>
              <a:buNone/>
            </a:pPr>
            <a:r>
              <a:rPr lang="zh-CN" altLang="en-US" sz="2800" b="1" dirty="0">
                <a:latin typeface="GreekS" pitchFamily="2" charset="0"/>
                <a:ea typeface="楷体_GB2312" pitchFamily="49" charset="-122"/>
              </a:rPr>
              <a:t>       例如，质量要求较高的铸件，应在满足浇注位置要求的前提下再考虑造型工艺的简化。</a:t>
            </a:r>
            <a:r>
              <a:rPr lang="zh-CN" altLang="en-US" sz="2800" b="1" dirty="0">
                <a:solidFill>
                  <a:srgbClr val="0000FF"/>
                </a:solidFill>
                <a:latin typeface="GreekS" pitchFamily="2" charset="0"/>
                <a:ea typeface="楷体_GB2312" pitchFamily="49" charset="-122"/>
              </a:rPr>
              <a:t>对于没有待殊质量要求的一般铸件，则以简化铸造工艺、提高经济效益为主要依据，不必过多地考虑铸件的浇注位置，仅对朝上的加工表面采用稍大的加工余最即可。</a:t>
            </a:r>
            <a:endParaRPr lang="zh-CN" altLang="en-US" sz="2800" b="1" dirty="0">
              <a:solidFill>
                <a:srgbClr val="0000FF"/>
              </a:solidFill>
              <a:latin typeface="GreekS" pitchFamily="2" charset="0"/>
              <a:ea typeface="楷体_GB2312" pitchFamily="49"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2"/>
          <p:cNvSpPr>
            <a:spLocks noGrp="1"/>
          </p:cNvSpPr>
          <p:nvPr>
            <p:ph type="title"/>
          </p:nvPr>
        </p:nvSpPr>
        <p:spPr>
          <a:xfrm>
            <a:off x="457200" y="201613"/>
            <a:ext cx="8229600" cy="1139825"/>
          </a:xfrm>
        </p:spPr>
        <p:txBody>
          <a:bodyPr vert="horz" wrap="square" lIns="91440" tIns="45720" rIns="91440" bIns="45720" anchor="b" anchorCtr="0"/>
          <a:p>
            <a:pPr algn="ctr" eaLnBrk="1" hangingPunct="1"/>
            <a:r>
              <a:rPr lang="zh-CN" altLang="zh-CN" sz="4000" b="1" dirty="0">
                <a:ea typeface="楷体_GB2312" pitchFamily="49" charset="-122"/>
              </a:rPr>
              <a:t>工艺参数的选择</a:t>
            </a:r>
            <a:endParaRPr lang="zh-CN" altLang="zh-CN" sz="4000" b="1" dirty="0">
              <a:ea typeface="楷体_GB2312" pitchFamily="49" charset="-122"/>
            </a:endParaRPr>
          </a:p>
        </p:txBody>
      </p:sp>
      <p:sp>
        <p:nvSpPr>
          <p:cNvPr id="87043" name="Rectangle 3"/>
          <p:cNvSpPr>
            <a:spLocks noGrp="1"/>
          </p:cNvSpPr>
          <p:nvPr>
            <p:ph type="body"/>
          </p:nvPr>
        </p:nvSpPr>
        <p:spPr>
          <a:xfrm>
            <a:off x="755650" y="1990725"/>
            <a:ext cx="8280400" cy="4175125"/>
          </a:xfrm>
        </p:spPr>
        <p:txBody>
          <a:bodyPr vert="horz" wrap="square" lIns="91440" tIns="45720" rIns="91440" bIns="45720" anchor="t" anchorCtr="0"/>
          <a:p>
            <a:pPr eaLnBrk="1" hangingPunct="1"/>
            <a:r>
              <a:rPr lang="zh-CN" altLang="en-US" sz="2200" b="1" dirty="0">
                <a:solidFill>
                  <a:srgbClr val="FF6600"/>
                </a:solidFill>
                <a:latin typeface="楷体_GB2312" pitchFamily="49" charset="-122"/>
                <a:ea typeface="楷体_GB2312" pitchFamily="49" charset="-122"/>
              </a:rPr>
              <a:t>工艺参数的确定</a:t>
            </a:r>
            <a:r>
              <a:rPr lang="zh-CN" altLang="en-US" sz="2200" b="1" dirty="0">
                <a:solidFill>
                  <a:schemeClr val="hlink"/>
                </a:solidFill>
                <a:latin typeface="楷体_GB2312" pitchFamily="49" charset="-122"/>
                <a:ea typeface="楷体_GB2312" pitchFamily="49" charset="-122"/>
              </a:rPr>
              <a:t>  </a:t>
            </a:r>
            <a:r>
              <a:rPr lang="zh-CN" altLang="en-US" sz="2200" b="1" dirty="0">
                <a:latin typeface="楷体_GB2312" pitchFamily="49" charset="-122"/>
                <a:ea typeface="楷体_GB2312" pitchFamily="49" charset="-122"/>
              </a:rPr>
              <a:t>为了绘制铸造工艺图，铸造方案确定后，还必须选定铸件的机械加工余量、收缩率和拔模斜度等工艺参数。</a:t>
            </a:r>
            <a:endParaRPr lang="zh-CN" altLang="en-US" sz="2200" b="1" dirty="0">
              <a:latin typeface="楷体_GB2312" pitchFamily="49" charset="-122"/>
              <a:ea typeface="楷体_GB2312" pitchFamily="49" charset="-122"/>
            </a:endParaRPr>
          </a:p>
          <a:p>
            <a:pPr eaLnBrk="1" hangingPunct="1">
              <a:buClr>
                <a:srgbClr val="FF0066"/>
              </a:buClr>
              <a:buFont typeface="Wingdings" panose="05000000000000000000" pitchFamily="2" charset="2"/>
              <a:buChar char="Ø"/>
            </a:pPr>
            <a:r>
              <a:rPr lang="zh-CN" altLang="en-US" sz="2200" b="1" dirty="0">
                <a:solidFill>
                  <a:srgbClr val="00CC00"/>
                </a:solidFill>
                <a:latin typeface="楷体_GB2312" pitchFamily="49" charset="-122"/>
                <a:ea typeface="楷体_GB2312" pitchFamily="49" charset="-122"/>
              </a:rPr>
              <a:t>铸件上为切削加工而加大的尺寸称为机械加工余量。</a:t>
            </a:r>
            <a:endParaRPr lang="zh-CN" altLang="en-US" sz="2200" b="1" dirty="0">
              <a:solidFill>
                <a:srgbClr val="00CC00"/>
              </a:solidFill>
              <a:latin typeface="楷体_GB2312" pitchFamily="49" charset="-122"/>
              <a:ea typeface="楷体_GB2312" pitchFamily="49" charset="-122"/>
            </a:endParaRPr>
          </a:p>
          <a:p>
            <a:pPr eaLnBrk="1" hangingPunct="1">
              <a:buClr>
                <a:srgbClr val="FF0066"/>
              </a:buClr>
              <a:buNone/>
            </a:pPr>
            <a:r>
              <a:rPr lang="zh-CN" altLang="en-US" sz="2200" b="1" dirty="0">
                <a:latin typeface="楷体_GB2312" pitchFamily="49" charset="-122"/>
                <a:ea typeface="楷体_GB2312" pitchFamily="49" charset="-122"/>
              </a:rPr>
              <a:t>     </a:t>
            </a:r>
            <a:r>
              <a:rPr lang="zh-CN" altLang="en-US" sz="2200" b="1" dirty="0">
                <a:solidFill>
                  <a:srgbClr val="0000FF"/>
                </a:solidFill>
                <a:latin typeface="楷体_GB2312" pitchFamily="49" charset="-122"/>
                <a:ea typeface="楷体_GB2312" pitchFamily="49" charset="-122"/>
              </a:rPr>
              <a:t>机械加工余量的数值取决于铸件的生产批量、合金的种类、铸件的大小、加工面与基准面的距离及加工面在浇注时的位置等。</a:t>
            </a:r>
            <a:endParaRPr lang="zh-CN" altLang="en-US" sz="2200" b="1" dirty="0">
              <a:solidFill>
                <a:srgbClr val="0000FF"/>
              </a:solidFill>
              <a:latin typeface="楷体_GB2312" pitchFamily="49" charset="-122"/>
              <a:ea typeface="楷体_GB2312" pitchFamily="49" charset="-122"/>
            </a:endParaRPr>
          </a:p>
          <a:p>
            <a:pPr eaLnBrk="1" hangingPunct="1">
              <a:buClr>
                <a:srgbClr val="FF0066"/>
              </a:buClr>
              <a:buNone/>
            </a:pPr>
            <a:r>
              <a:rPr lang="zh-CN" altLang="en-US" sz="2200" b="1" dirty="0">
                <a:latin typeface="楷体_GB2312" pitchFamily="49" charset="-122"/>
                <a:ea typeface="楷体_GB2312" pitchFamily="49" charset="-122"/>
              </a:rPr>
              <a:t>     铸件的孔槽是否铸出，不仅取决于工艺上的可能性，还必须考虑其必要性。</a:t>
            </a:r>
            <a:endParaRPr lang="zh-CN" altLang="en-US" sz="2200" b="1" dirty="0">
              <a:latin typeface="楷体_GB2312" pitchFamily="49" charset="-122"/>
              <a:ea typeface="楷体_GB2312" pitchFamily="49" charset="-122"/>
            </a:endParaRPr>
          </a:p>
          <a:p>
            <a:pPr lvl="2" eaLnBrk="1" hangingPunct="1"/>
            <a:r>
              <a:rPr lang="zh-CN" altLang="en-US" b="1" dirty="0">
                <a:latin typeface="楷体_GB2312" pitchFamily="49" charset="-122"/>
                <a:ea typeface="楷体_GB2312" pitchFamily="49" charset="-122"/>
              </a:rPr>
              <a:t>较大的孔、槽铸出</a:t>
            </a:r>
            <a:endParaRPr lang="zh-CN" altLang="en-US" b="1" dirty="0">
              <a:latin typeface="楷体_GB2312" pitchFamily="49" charset="-122"/>
              <a:ea typeface="楷体_GB2312" pitchFamily="49" charset="-122"/>
            </a:endParaRPr>
          </a:p>
          <a:p>
            <a:pPr lvl="2" eaLnBrk="1" hangingPunct="1"/>
            <a:r>
              <a:rPr lang="zh-CN" altLang="en-US" b="1" dirty="0">
                <a:latin typeface="楷体_GB2312" pitchFamily="49" charset="-122"/>
                <a:ea typeface="楷体_GB2312" pitchFamily="49" charset="-122"/>
              </a:rPr>
              <a:t>不加工孔、槽铸出</a:t>
            </a:r>
            <a:endParaRPr lang="zh-CN" altLang="en-US" b="1" dirty="0">
              <a:latin typeface="楷体_GB2312" pitchFamily="49" charset="-122"/>
              <a:ea typeface="楷体_GB2312" pitchFamily="49" charset="-122"/>
            </a:endParaRPr>
          </a:p>
          <a:p>
            <a:pPr lvl="2" eaLnBrk="1" hangingPunct="1"/>
            <a:r>
              <a:rPr lang="zh-CN" altLang="en-US" b="1" dirty="0">
                <a:latin typeface="楷体_GB2312" pitchFamily="49" charset="-122"/>
                <a:ea typeface="楷体_GB2312" pitchFamily="49" charset="-122"/>
              </a:rPr>
              <a:t>最小铸孔：单件</a:t>
            </a:r>
            <a:r>
              <a:rPr lang="en-US" altLang="zh-CN" b="1" dirty="0">
                <a:latin typeface="楷体_GB2312" pitchFamily="49" charset="-122"/>
                <a:ea typeface="楷体_GB2312" pitchFamily="49" charset="-122"/>
              </a:rPr>
              <a:t>30</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50mm</a:t>
            </a:r>
            <a:r>
              <a:rPr lang="zh-CN" altLang="en-US" b="1" dirty="0">
                <a:latin typeface="楷体_GB2312" pitchFamily="49" charset="-122"/>
                <a:ea typeface="楷体_GB2312" pitchFamily="49" charset="-122"/>
              </a:rPr>
              <a:t>，成批</a:t>
            </a:r>
            <a:r>
              <a:rPr lang="en-US" altLang="zh-CN" b="1" dirty="0">
                <a:latin typeface="楷体_GB2312" pitchFamily="49" charset="-122"/>
                <a:ea typeface="楷体_GB2312" pitchFamily="49" charset="-122"/>
              </a:rPr>
              <a:t>15</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20mm</a:t>
            </a:r>
            <a:r>
              <a:rPr lang="zh-CN" altLang="en-US" b="1" dirty="0">
                <a:latin typeface="楷体_GB2312" pitchFamily="49" charset="-122"/>
                <a:ea typeface="楷体_GB2312" pitchFamily="49" charset="-122"/>
              </a:rPr>
              <a:t>，大量</a:t>
            </a:r>
            <a:r>
              <a:rPr lang="en-US" altLang="zh-CN" b="1" dirty="0">
                <a:latin typeface="楷体_GB2312" pitchFamily="49" charset="-122"/>
                <a:ea typeface="楷体_GB2312" pitchFamily="49" charset="-122"/>
              </a:rPr>
              <a:t>12</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15mm</a:t>
            </a:r>
            <a:endParaRPr lang="en-US" altLang="zh-CN" b="1" dirty="0">
              <a:latin typeface="楷体_GB2312" pitchFamily="49" charset="-122"/>
              <a:ea typeface="楷体_GB2312" pitchFamily="49" charset="-122"/>
            </a:endParaRPr>
          </a:p>
          <a:p>
            <a:pPr lvl="2" eaLnBrk="1" hangingPunct="1">
              <a:buNone/>
            </a:pPr>
            <a:endParaRPr lang="en-US" altLang="zh-CN" dirty="0">
              <a:latin typeface="楷体_GB2312" pitchFamily="49" charset="-122"/>
              <a:ea typeface="楷体_GB2312" pitchFamily="49" charset="-122"/>
            </a:endParaRPr>
          </a:p>
          <a:p>
            <a:pPr eaLnBrk="1" hangingPunct="1">
              <a:buNone/>
            </a:pPr>
            <a:endParaRPr lang="en-US" altLang="zh-CN"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7043">
                                            <p:txEl>
                                              <p:charRg st="0" end="5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043">
                                            <p:txEl>
                                              <p:charRg st="57" end="8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7043">
                                            <p:txEl>
                                              <p:charRg st="81" end="14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7043">
                                            <p:txEl>
                                              <p:charRg st="142" end="18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7043">
                                            <p:txEl>
                                              <p:charRg st="181" end="19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7043">
                                            <p:txEl>
                                              <p:charRg st="190" end="19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7043">
                                            <p:txEl>
                                              <p:charRg st="199" end="23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工艺参数的选择</a:t>
            </a:r>
            <a:endParaRPr lang="zh-CN" altLang="zh-CN" sz="4000" b="1" dirty="0">
              <a:ea typeface="楷体_GB2312" pitchFamily="49" charset="-122"/>
            </a:endParaRPr>
          </a:p>
        </p:txBody>
      </p:sp>
      <p:sp>
        <p:nvSpPr>
          <p:cNvPr id="88067" name="Rectangle 3"/>
          <p:cNvSpPr>
            <a:spLocks noGrp="1"/>
          </p:cNvSpPr>
          <p:nvPr>
            <p:ph type="body"/>
          </p:nvPr>
        </p:nvSpPr>
        <p:spPr>
          <a:xfrm>
            <a:off x="250825" y="1582738"/>
            <a:ext cx="4105275" cy="4151312"/>
          </a:xfrm>
        </p:spPr>
        <p:txBody>
          <a:bodyPr vert="horz" wrap="square" lIns="91440" tIns="45720" rIns="91440" bIns="45720" anchor="t" anchorCtr="0"/>
          <a:p>
            <a:pPr eaLnBrk="1" hangingPunct="1">
              <a:buClr>
                <a:srgbClr val="FF6600"/>
              </a:buClr>
            </a:pPr>
            <a:r>
              <a:rPr lang="zh-CN" altLang="en-US" sz="2400" b="1" dirty="0">
                <a:solidFill>
                  <a:srgbClr val="FF6600"/>
                </a:solidFill>
                <a:latin typeface="楷体_GB2312" pitchFamily="49" charset="-122"/>
                <a:ea typeface="楷体_GB2312" pitchFamily="49" charset="-122"/>
              </a:rPr>
              <a:t>起模斜度</a:t>
            </a:r>
            <a:endParaRPr lang="zh-CN" altLang="en-US" sz="2400" b="1" dirty="0">
              <a:solidFill>
                <a:srgbClr val="FF6600"/>
              </a:solidFill>
              <a:latin typeface="楷体_GB2312" pitchFamily="49" charset="-122"/>
              <a:ea typeface="楷体_GB2312" pitchFamily="49" charset="-122"/>
            </a:endParaRPr>
          </a:p>
          <a:p>
            <a:pPr lvl="1" eaLnBrk="1" hangingPunct="1"/>
            <a:r>
              <a:rPr lang="zh-CN" altLang="en-US" sz="2400" b="1" dirty="0">
                <a:latin typeface="楷体_GB2312" pitchFamily="49" charset="-122"/>
                <a:ea typeface="楷体_GB2312" pitchFamily="49" charset="-122"/>
              </a:rPr>
              <a:t>在造型过程中，为了使模型易于从铸型中取出，制造模样时，沿起模方向上需留有一定的斜度，此斜度称为起模斜度</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或拔模斜度</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lvl="1" eaLnBrk="1" hangingPunct="1"/>
            <a:r>
              <a:rPr lang="zh-CN" altLang="en-US" sz="2400" b="1" dirty="0">
                <a:solidFill>
                  <a:srgbClr val="FF0066"/>
                </a:solidFill>
                <a:latin typeface="楷体_GB2312" pitchFamily="49" charset="-122"/>
                <a:ea typeface="楷体_GB2312" pitchFamily="49" charset="-122"/>
              </a:rPr>
              <a:t>起模斜度大小</a:t>
            </a:r>
            <a:r>
              <a:rPr lang="zh-CN" altLang="en-US" sz="2400" b="1" dirty="0">
                <a:latin typeface="楷体_GB2312" pitchFamily="49" charset="-122"/>
                <a:ea typeface="楷体_GB2312" pitchFamily="49" charset="-122"/>
              </a:rPr>
              <a:t>取决于立壁的高度、造型方法、模样材料等因素，通常为</a:t>
            </a:r>
            <a:r>
              <a:rPr lang="en-US" altLang="zh-CN" sz="2400" b="1" dirty="0">
                <a:latin typeface="楷体_GB2312" pitchFamily="49" charset="-122"/>
                <a:ea typeface="楷体_GB2312" pitchFamily="49" charset="-122"/>
              </a:rPr>
              <a:t>15</a:t>
            </a:r>
            <a:r>
              <a:rPr lang="en-US" altLang="zh-CN" sz="2400" b="1" dirty="0">
                <a:latin typeface="宋体" panose="02010600030101010101" pitchFamily="2" charset="-122"/>
                <a:ea typeface="楷体_GB2312" pitchFamily="49" charset="-122"/>
              </a:rPr>
              <a:t>’</a:t>
            </a:r>
            <a:r>
              <a:rPr lang="zh-CN" altLang="en-US" sz="2400" b="1" dirty="0">
                <a:latin typeface="楷体_GB2312" pitchFamily="49" charset="-122"/>
                <a:ea typeface="楷体_GB2312" pitchFamily="49" charset="-122"/>
              </a:rPr>
              <a:t>～ </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。立壁愈高，斜度愈小。内壁比外壁大，通常为 </a:t>
            </a:r>
            <a:r>
              <a:rPr lang="en-US" altLang="zh-CN" sz="2400" b="1" dirty="0">
                <a:latin typeface="楷体_GB2312" pitchFamily="49" charset="-122"/>
                <a:ea typeface="楷体_GB2312" pitchFamily="49" charset="-122"/>
              </a:rPr>
              <a:t>3°</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10 ° </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p:txBody>
      </p:sp>
      <p:grpSp>
        <p:nvGrpSpPr>
          <p:cNvPr id="121860" name="Group 7"/>
          <p:cNvGrpSpPr/>
          <p:nvPr/>
        </p:nvGrpSpPr>
        <p:grpSpPr>
          <a:xfrm>
            <a:off x="4572000" y="2349500"/>
            <a:ext cx="4319588" cy="3959225"/>
            <a:chOff x="0" y="0"/>
            <a:chExt cx="1997" cy="1974"/>
          </a:xfrm>
        </p:grpSpPr>
        <p:pic>
          <p:nvPicPr>
            <p:cNvPr id="121861" name="Picture 4"/>
            <p:cNvPicPr>
              <a:picLocks noChangeAspect="1"/>
            </p:cNvPicPr>
            <p:nvPr/>
          </p:nvPicPr>
          <p:blipFill>
            <a:blip r:embed="rId1"/>
            <a:stretch>
              <a:fillRect/>
            </a:stretch>
          </p:blipFill>
          <p:spPr>
            <a:xfrm>
              <a:off x="0" y="0"/>
              <a:ext cx="1997" cy="1974"/>
            </a:xfrm>
            <a:prstGeom prst="rect">
              <a:avLst/>
            </a:prstGeom>
            <a:solidFill>
              <a:srgbClr val="9FFFEF"/>
            </a:solidFill>
            <a:ln w="9525">
              <a:noFill/>
            </a:ln>
          </p:spPr>
        </p:pic>
        <p:sp>
          <p:nvSpPr>
            <p:cNvPr id="121862" name="Text Box 6"/>
            <p:cNvSpPr txBox="1"/>
            <p:nvPr/>
          </p:nvSpPr>
          <p:spPr>
            <a:xfrm>
              <a:off x="237" y="1702"/>
              <a:ext cx="620" cy="231"/>
            </a:xfrm>
            <a:prstGeom prst="rect">
              <a:avLst/>
            </a:prstGeom>
            <a:solidFill>
              <a:srgbClr val="9FFFEF"/>
            </a:solid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800" b="1" dirty="0">
                  <a:solidFill>
                    <a:srgbClr val="000000"/>
                  </a:solidFill>
                  <a:latin typeface="宋体" panose="02010600030101010101" pitchFamily="2" charset="-122"/>
                </a:rPr>
                <a:t>图</a:t>
              </a:r>
              <a:r>
                <a:rPr lang="en-US" altLang="zh-CN" sz="1800" b="1" dirty="0">
                  <a:solidFill>
                    <a:srgbClr val="000000"/>
                  </a:solidFill>
                  <a:latin typeface="宋体" panose="02010600030101010101" pitchFamily="2" charset="-122"/>
                </a:rPr>
                <a:t>2-36 </a:t>
              </a:r>
              <a:endParaRPr lang="en-US" altLang="zh-CN" sz="1800" b="1" dirty="0">
                <a:solidFill>
                  <a:srgbClr val="000000"/>
                </a:solidFill>
                <a:latin typeface="宋体" panose="02010600030101010101" pitchFamily="2" charset="-122"/>
              </a:endParaRPr>
            </a:p>
          </p:txBody>
        </p:sp>
      </p:grpSp>
      <p:sp>
        <p:nvSpPr>
          <p:cNvPr id="2" name="圆角矩形标注 1"/>
          <p:cNvSpPr/>
          <p:nvPr/>
        </p:nvSpPr>
        <p:spPr>
          <a:xfrm>
            <a:off x="5292090" y="1700530"/>
            <a:ext cx="2374265" cy="666750"/>
          </a:xfrm>
          <a:prstGeom prst="wedgeRoundRectCallou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r>
              <a:rPr kumimoji="0" lang="zh-CN" altLang="zh-CN" sz="18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注意：内外壁角度大小与方向差异</a:t>
            </a:r>
            <a:endParaRPr kumimoji="0" lang="zh-CN" altLang="zh-CN" sz="18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7">
                                            <p:txEl>
                                              <p:charRg st="5" end="6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8067">
                                            <p:txEl>
                                              <p:charRg st="65" end="13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Rectangle 2"/>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工艺参数的选择</a:t>
            </a:r>
            <a:endParaRPr lang="zh-CN" altLang="zh-CN" sz="4000" b="1" dirty="0">
              <a:ea typeface="楷体_GB2312" pitchFamily="49" charset="-122"/>
            </a:endParaRPr>
          </a:p>
        </p:txBody>
      </p:sp>
      <p:sp>
        <p:nvSpPr>
          <p:cNvPr id="89091" name="Rectangle 3"/>
          <p:cNvSpPr>
            <a:spLocks noGrp="1"/>
          </p:cNvSpPr>
          <p:nvPr>
            <p:ph type="body"/>
          </p:nvPr>
        </p:nvSpPr>
        <p:spPr>
          <a:xfrm>
            <a:off x="900113" y="1827213"/>
            <a:ext cx="7777162" cy="4114800"/>
          </a:xfrm>
        </p:spPr>
        <p:txBody>
          <a:bodyPr vert="horz" wrap="square" lIns="91440" tIns="45720" rIns="91440" bIns="45720" anchor="t" anchorCtr="0"/>
          <a:p>
            <a:pPr eaLnBrk="1" hangingPunct="1"/>
            <a:r>
              <a:rPr lang="zh-CN" altLang="en-US" sz="2800" b="1" dirty="0">
                <a:solidFill>
                  <a:srgbClr val="FF6600"/>
                </a:solidFill>
                <a:latin typeface="楷体_GB2312" pitchFamily="49" charset="-122"/>
                <a:ea typeface="楷体_GB2312" pitchFamily="49" charset="-122"/>
              </a:rPr>
              <a:t>收缩率</a:t>
            </a:r>
            <a:endParaRPr lang="zh-CN" altLang="en-US" sz="2800" b="1" dirty="0">
              <a:solidFill>
                <a:srgbClr val="FF6600"/>
              </a:solidFill>
              <a:latin typeface="楷体_GB2312" pitchFamily="49" charset="-122"/>
              <a:ea typeface="楷体_GB2312" pitchFamily="49" charset="-122"/>
            </a:endParaRPr>
          </a:p>
          <a:p>
            <a:pPr lvl="1" eaLnBrk="1" hangingPunct="1"/>
            <a:r>
              <a:rPr lang="zh-CN" altLang="en-US" sz="2800" b="1" dirty="0">
                <a:latin typeface="楷体_GB2312" pitchFamily="49" charset="-122"/>
                <a:ea typeface="楷体_GB2312" pitchFamily="49" charset="-122"/>
              </a:rPr>
              <a:t>铸件凝固后，从高温冷却至室温其尺寸减少的现象称为线收缩。由于合金的线收缩，铸件冷却后的尺寸将比型腔的尺寸小，为了保证铸件的应有尺寸，</a:t>
            </a:r>
            <a:r>
              <a:rPr lang="zh-CN" altLang="en-US" sz="2800" b="1" dirty="0">
                <a:solidFill>
                  <a:srgbClr val="FF0066"/>
                </a:solidFill>
                <a:latin typeface="楷体_GB2312" pitchFamily="49" charset="-122"/>
                <a:ea typeface="楷体_GB2312" pitchFamily="49" charset="-122"/>
              </a:rPr>
              <a:t>模型的尺寸应比铸件放大一个收缩量。</a:t>
            </a:r>
            <a:endParaRPr lang="zh-CN" altLang="en-US" sz="2800" b="1" dirty="0">
              <a:solidFill>
                <a:srgbClr val="FF0066"/>
              </a:solidFill>
              <a:latin typeface="楷体_GB2312" pitchFamily="49" charset="-122"/>
              <a:ea typeface="楷体_GB2312" pitchFamily="49" charset="-122"/>
            </a:endParaRPr>
          </a:p>
          <a:p>
            <a:pPr lvl="1" eaLnBrk="1" hangingPunct="1"/>
            <a:r>
              <a:rPr lang="zh-CN" altLang="en-US" sz="2800" b="1" dirty="0">
                <a:solidFill>
                  <a:srgbClr val="FF6600"/>
                </a:solidFill>
                <a:latin typeface="楷体_GB2312" pitchFamily="49" charset="-122"/>
                <a:ea typeface="楷体_GB2312" pitchFamily="49" charset="-122"/>
              </a:rPr>
              <a:t>放大量因合金的种类而异。</a:t>
            </a:r>
            <a:r>
              <a:rPr lang="zh-CN" altLang="en-US" sz="2800" b="1" dirty="0">
                <a:latin typeface="楷体_GB2312" pitchFamily="49" charset="-122"/>
                <a:ea typeface="楷体_GB2312" pitchFamily="49" charset="-122"/>
              </a:rPr>
              <a:t>通常，灰铸铁为</a:t>
            </a:r>
            <a:r>
              <a:rPr lang="en-US" altLang="zh-CN" sz="2800" b="1" dirty="0">
                <a:latin typeface="楷体_GB2312" pitchFamily="49" charset="-122"/>
                <a:ea typeface="楷体_GB2312" pitchFamily="49" charset="-122"/>
              </a:rPr>
              <a:t>0.7</a:t>
            </a: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1.0</a:t>
            </a:r>
            <a:r>
              <a:rPr lang="zh-CN" altLang="en-US" sz="2800" b="1" dirty="0">
                <a:latin typeface="楷体_GB2312" pitchFamily="49" charset="-122"/>
                <a:ea typeface="楷体_GB2312" pitchFamily="49" charset="-122"/>
              </a:rPr>
              <a:t>％，铸造碳钢为</a:t>
            </a:r>
            <a:r>
              <a:rPr lang="en-US" altLang="zh-CN" sz="2800" b="1" dirty="0">
                <a:latin typeface="楷体_GB2312" pitchFamily="49" charset="-122"/>
                <a:ea typeface="楷体_GB2312" pitchFamily="49" charset="-122"/>
              </a:rPr>
              <a:t>1.3</a:t>
            </a: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2</a:t>
            </a:r>
            <a:r>
              <a:rPr lang="zh-CN" altLang="en-US" sz="2800" b="1" dirty="0">
                <a:latin typeface="楷体_GB2312" pitchFamily="49" charset="-122"/>
                <a:ea typeface="楷体_GB2312" pitchFamily="49" charset="-122"/>
              </a:rPr>
              <a:t>％，铝硅合金为</a:t>
            </a:r>
            <a:r>
              <a:rPr lang="en-US" altLang="zh-CN" sz="2800" b="1" dirty="0">
                <a:latin typeface="楷体_GB2312" pitchFamily="49" charset="-122"/>
                <a:ea typeface="楷体_GB2312" pitchFamily="49" charset="-122"/>
              </a:rPr>
              <a:t>0.8</a:t>
            </a: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1.2</a:t>
            </a:r>
            <a:r>
              <a:rPr lang="zh-CN" altLang="en-US" sz="2800" b="1" dirty="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a:p>
            <a:pPr eaLnBrk="1" hangingPunct="1"/>
            <a:endParaRPr lang="en-US" altLang="zh-CN" sz="2800" b="1" dirty="0">
              <a:solidFill>
                <a:schemeClr val="bg2"/>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9091">
                                            <p:txEl>
                                              <p:charRg st="4" end="88"/>
                                            </p:txEl>
                                          </p:spTgt>
                                        </p:tgtEl>
                                        <p:attrNameLst>
                                          <p:attrName>style.visibility</p:attrName>
                                        </p:attrNameLst>
                                      </p:cBhvr>
                                      <p:to>
                                        <p:strVal val="visible"/>
                                      </p:to>
                                    </p:set>
                                    <p:animEffect transition="in" filter="blinds(horizontal)">
                                      <p:cBhvr>
                                        <p:cTn id="7" dur="500"/>
                                        <p:tgtEl>
                                          <p:spTgt spid="89091">
                                            <p:txEl>
                                              <p:charRg st="4" end="8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9091">
                                            <p:txEl>
                                              <p:charRg st="88" end="146"/>
                                            </p:txEl>
                                          </p:spTgt>
                                        </p:tgtEl>
                                        <p:attrNameLst>
                                          <p:attrName>style.visibility</p:attrName>
                                        </p:attrNameLst>
                                      </p:cBhvr>
                                      <p:to>
                                        <p:strVal val="visible"/>
                                      </p:to>
                                    </p:set>
                                    <p:animEffect transition="in" filter="blinds(horizontal)">
                                      <p:cBhvr>
                                        <p:cTn id="12" dur="500"/>
                                        <p:tgtEl>
                                          <p:spTgt spid="89091">
                                            <p:txEl>
                                              <p:charRg st="88" end="1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1026"/>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工艺参数的选择</a:t>
            </a:r>
            <a:endParaRPr lang="zh-CN" altLang="zh-CN" sz="4000" b="1" dirty="0">
              <a:ea typeface="楷体_GB2312" pitchFamily="49" charset="-122"/>
            </a:endParaRPr>
          </a:p>
        </p:txBody>
      </p:sp>
      <p:sp>
        <p:nvSpPr>
          <p:cNvPr id="123907" name="Rectangle 1027"/>
          <p:cNvSpPr>
            <a:spLocks noGrp="1"/>
          </p:cNvSpPr>
          <p:nvPr>
            <p:ph type="body"/>
          </p:nvPr>
        </p:nvSpPr>
        <p:spPr>
          <a:xfrm>
            <a:off x="539750" y="1658938"/>
            <a:ext cx="3394075" cy="4578350"/>
          </a:xfrm>
        </p:spPr>
        <p:txBody>
          <a:bodyPr vert="horz" wrap="square" lIns="91440" tIns="45720" rIns="91440" bIns="45720" anchor="t" anchorCtr="0"/>
          <a:p>
            <a:pPr eaLnBrk="1" hangingPunct="1">
              <a:buClr>
                <a:srgbClr val="FF6600"/>
              </a:buClr>
            </a:pPr>
            <a:r>
              <a:rPr lang="zh-CN" altLang="en-US" sz="2800" b="1" dirty="0">
                <a:solidFill>
                  <a:srgbClr val="FF0066"/>
                </a:solidFill>
                <a:ea typeface="楷体_GB2312" pitchFamily="49" charset="-122"/>
              </a:rPr>
              <a:t>型芯头</a:t>
            </a:r>
            <a:endParaRPr lang="zh-CN" altLang="en-US" sz="2800" b="1" dirty="0">
              <a:solidFill>
                <a:srgbClr val="FF0066"/>
              </a:solidFill>
              <a:ea typeface="楷体_GB2312" pitchFamily="49" charset="-122"/>
            </a:endParaRPr>
          </a:p>
          <a:p>
            <a:pPr lvl="1" eaLnBrk="1" hangingPunct="1"/>
            <a:r>
              <a:rPr lang="zh-CN" altLang="en-US" sz="2400" b="1" dirty="0">
                <a:ea typeface="楷体_GB2312" pitchFamily="49" charset="-122"/>
              </a:rPr>
              <a:t>型芯由型芯本体和型芯头组成的。型芯本体铸成铸件的内腔，型芯头是用来支承和固定型芯的。</a:t>
            </a:r>
            <a:endParaRPr lang="zh-CN" altLang="en-US" sz="2400" b="1" dirty="0">
              <a:ea typeface="楷体_GB2312" pitchFamily="49" charset="-122"/>
            </a:endParaRPr>
          </a:p>
          <a:p>
            <a:pPr lvl="1" eaLnBrk="1" hangingPunct="1"/>
            <a:r>
              <a:rPr lang="zh-CN" altLang="en-US" sz="2400" b="1" dirty="0">
                <a:solidFill>
                  <a:srgbClr val="0000FF"/>
                </a:solidFill>
                <a:ea typeface="楷体_GB2312" pitchFamily="49" charset="-122"/>
              </a:rPr>
              <a:t>型芯头的尺寸取决于型芯的大小，要便于铸型的装配，同时，型芯头与型芯座之间要有一定的间隙。</a:t>
            </a:r>
            <a:endParaRPr lang="zh-CN" altLang="en-US" sz="2400" b="1" dirty="0">
              <a:solidFill>
                <a:srgbClr val="0000FF"/>
              </a:solidFill>
              <a:ea typeface="楷体_GB2312" pitchFamily="49" charset="-122"/>
            </a:endParaRPr>
          </a:p>
        </p:txBody>
      </p:sp>
      <p:grpSp>
        <p:nvGrpSpPr>
          <p:cNvPr id="123908" name="Group 1028"/>
          <p:cNvGrpSpPr/>
          <p:nvPr/>
        </p:nvGrpSpPr>
        <p:grpSpPr>
          <a:xfrm>
            <a:off x="3981450" y="2060575"/>
            <a:ext cx="5127625" cy="4464050"/>
            <a:chOff x="0" y="0"/>
            <a:chExt cx="2958" cy="2291"/>
          </a:xfrm>
        </p:grpSpPr>
        <p:pic>
          <p:nvPicPr>
            <p:cNvPr id="123909" name="Picture 1029"/>
            <p:cNvPicPr>
              <a:picLocks noChangeAspect="1"/>
            </p:cNvPicPr>
            <p:nvPr/>
          </p:nvPicPr>
          <p:blipFill>
            <a:blip r:embed="rId1"/>
            <a:stretch>
              <a:fillRect/>
            </a:stretch>
          </p:blipFill>
          <p:spPr>
            <a:xfrm>
              <a:off x="0" y="0"/>
              <a:ext cx="2958" cy="2291"/>
            </a:xfrm>
            <a:prstGeom prst="rect">
              <a:avLst/>
            </a:prstGeom>
            <a:solidFill>
              <a:srgbClr val="9FFFEF"/>
            </a:solidFill>
            <a:ln w="9525">
              <a:noFill/>
            </a:ln>
          </p:spPr>
        </p:pic>
        <p:sp>
          <p:nvSpPr>
            <p:cNvPr id="123910" name="Text Box 1030"/>
            <p:cNvSpPr txBox="1"/>
            <p:nvPr/>
          </p:nvSpPr>
          <p:spPr>
            <a:xfrm>
              <a:off x="790" y="1892"/>
              <a:ext cx="521" cy="214"/>
            </a:xfrm>
            <a:prstGeom prst="rect">
              <a:avLst/>
            </a:prstGeom>
            <a:solidFill>
              <a:srgbClr val="9FFFEF"/>
            </a:solid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600" b="1" dirty="0">
                  <a:solidFill>
                    <a:srgbClr val="000000"/>
                  </a:solidFill>
                  <a:latin typeface="宋体" panose="02010600030101010101" pitchFamily="2" charset="-122"/>
                </a:rPr>
                <a:t>图</a:t>
              </a:r>
              <a:r>
                <a:rPr lang="en-US" altLang="zh-CN" sz="1600" b="1" dirty="0">
                  <a:solidFill>
                    <a:srgbClr val="000000"/>
                  </a:solidFill>
                  <a:latin typeface="宋体" panose="02010600030101010101" pitchFamily="2" charset="-122"/>
                </a:rPr>
                <a:t>2-37</a:t>
              </a:r>
              <a:endParaRPr lang="en-US" altLang="zh-CN" sz="1600" b="1" dirty="0">
                <a:solidFill>
                  <a:srgbClr val="000000"/>
                </a:solidFill>
                <a:latin typeface="宋体" panose="02010600030101010101" pitchFamily="2" charset="-122"/>
              </a:endParaRPr>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2"/>
          <p:cNvSpPr>
            <a:spLocks noGrp="1"/>
          </p:cNvSpPr>
          <p:nvPr>
            <p:ph type="title"/>
          </p:nvPr>
        </p:nvSpPr>
        <p:spPr/>
        <p:txBody>
          <a:bodyPr vert="horz" wrap="square" lIns="91440" tIns="45720" rIns="91440" bIns="45720" anchor="b" anchorCtr="0"/>
          <a:p>
            <a:pPr algn="ctr" eaLnBrk="1" hangingPunct="1"/>
            <a:r>
              <a:rPr lang="zh-CN" altLang="zh-CN" sz="4000" b="1" dirty="0">
                <a:latin typeface="楷体_GB2312" pitchFamily="49" charset="-122"/>
                <a:ea typeface="楷体_GB2312" pitchFamily="49" charset="-122"/>
              </a:rPr>
              <a:t>第四节 综合分析举例</a:t>
            </a:r>
            <a:endParaRPr lang="zh-CN" altLang="zh-CN" sz="4000" b="1" dirty="0">
              <a:latin typeface="楷体_GB2312" pitchFamily="49" charset="-122"/>
              <a:ea typeface="楷体_GB2312" pitchFamily="49" charset="-122"/>
            </a:endParaRPr>
          </a:p>
        </p:txBody>
      </p:sp>
      <p:sp>
        <p:nvSpPr>
          <p:cNvPr id="91139" name="Rectangle 3"/>
          <p:cNvSpPr>
            <a:spLocks noGrp="1"/>
          </p:cNvSpPr>
          <p:nvPr>
            <p:ph type="body"/>
          </p:nvPr>
        </p:nvSpPr>
        <p:spPr>
          <a:xfrm>
            <a:off x="611188" y="1454150"/>
            <a:ext cx="3771900" cy="3733800"/>
          </a:xfrm>
        </p:spPr>
        <p:txBody>
          <a:bodyPr vert="horz" wrap="square" lIns="91440" tIns="45720" rIns="91440" bIns="45720" anchor="t" anchorCtr="0"/>
          <a:p>
            <a:pPr eaLnBrk="1" hangingPunct="1"/>
            <a:r>
              <a:rPr lang="zh-CN" altLang="en-US" sz="2800" b="1" dirty="0">
                <a:solidFill>
                  <a:srgbClr val="FF3300"/>
                </a:solidFill>
                <a:latin typeface="楷体_GB2312" pitchFamily="49" charset="-122"/>
                <a:ea typeface="楷体_GB2312" pitchFamily="49" charset="-122"/>
              </a:rPr>
              <a:t>轴架</a:t>
            </a:r>
            <a:endParaRPr lang="zh-CN" altLang="en-US" sz="2800" b="1" dirty="0">
              <a:solidFill>
                <a:srgbClr val="FF3300"/>
              </a:solidFill>
              <a:latin typeface="楷体_GB2312" pitchFamily="49" charset="-122"/>
              <a:ea typeface="楷体_GB2312" pitchFamily="49" charset="-122"/>
            </a:endParaRPr>
          </a:p>
          <a:p>
            <a:pPr lvl="1" eaLnBrk="1" hangingPunct="1"/>
            <a:r>
              <a:rPr lang="zh-CN" altLang="en-US" sz="2400" b="1" dirty="0">
                <a:latin typeface="楷体_GB2312" pitchFamily="49" charset="-122"/>
                <a:ea typeface="楷体_GB2312" pitchFamily="49" charset="-122"/>
              </a:rPr>
              <a:t>轴架零件其中两端面及</a:t>
            </a:r>
            <a:r>
              <a:rPr lang="en-US" altLang="zh-CN" sz="2400" b="1" dirty="0">
                <a:latin typeface="GreekC" pitchFamily="2" charset="0"/>
                <a:ea typeface="楷体_GB2312" pitchFamily="49" charset="-122"/>
              </a:rPr>
              <a:t>φ</a:t>
            </a:r>
            <a:r>
              <a:rPr lang="en-US" altLang="zh-CN" sz="2400" b="1" dirty="0">
                <a:latin typeface="楷体_GB2312" pitchFamily="49" charset="-122"/>
                <a:ea typeface="楷体_GB2312" pitchFamily="49" charset="-122"/>
              </a:rPr>
              <a:t>60</a:t>
            </a:r>
            <a:r>
              <a:rPr lang="zh-CN" altLang="en-US" sz="2400" b="1" dirty="0">
                <a:latin typeface="楷体_GB2312" pitchFamily="49" charset="-122"/>
                <a:ea typeface="楷体_GB2312" pitchFamily="49" charset="-122"/>
              </a:rPr>
              <a:t>、</a:t>
            </a:r>
            <a:r>
              <a:rPr lang="en-US" altLang="zh-CN" sz="2400" b="1" dirty="0">
                <a:latin typeface="GreekC" pitchFamily="2" charset="0"/>
                <a:ea typeface="楷体_GB2312" pitchFamily="49" charset="-122"/>
              </a:rPr>
              <a:t>φ</a:t>
            </a:r>
            <a:r>
              <a:rPr lang="en-US" altLang="zh-CN" sz="2400" b="1" dirty="0">
                <a:latin typeface="楷体_GB2312" pitchFamily="49" charset="-122"/>
                <a:ea typeface="楷体_GB2312" pitchFamily="49" charset="-122"/>
              </a:rPr>
              <a:t>70</a:t>
            </a:r>
            <a:r>
              <a:rPr lang="zh-CN" altLang="en-US" sz="2400" b="1" dirty="0">
                <a:latin typeface="楷体_GB2312" pitchFamily="49" charset="-122"/>
                <a:ea typeface="楷体_GB2312" pitchFamily="49" charset="-122"/>
              </a:rPr>
              <a:t>内孔需进行机械加工，而且</a:t>
            </a:r>
            <a:r>
              <a:rPr lang="en-US" altLang="zh-CN" sz="2400" b="1" dirty="0">
                <a:latin typeface="GreekC" pitchFamily="2" charset="0"/>
                <a:ea typeface="楷体_GB2312" pitchFamily="49" charset="-122"/>
              </a:rPr>
              <a:t>φ</a:t>
            </a:r>
            <a:r>
              <a:rPr lang="en-US" altLang="zh-CN" sz="2400" b="1" dirty="0">
                <a:latin typeface="楷体_GB2312" pitchFamily="49" charset="-122"/>
                <a:ea typeface="楷体_GB2312" pitchFamily="49" charset="-122"/>
              </a:rPr>
              <a:t>60</a:t>
            </a:r>
            <a:r>
              <a:rPr lang="zh-CN" altLang="en-US" sz="2400" b="1" dirty="0">
                <a:latin typeface="楷体_GB2312" pitchFamily="49" charset="-122"/>
                <a:ea typeface="楷体_GB2312" pitchFamily="49" charset="-122"/>
              </a:rPr>
              <a:t>孔表面加工要求较高。</a:t>
            </a:r>
            <a:r>
              <a:rPr lang="en-US" altLang="zh-CN" sz="2400" b="1" dirty="0">
                <a:latin typeface="GreekC" pitchFamily="2" charset="0"/>
                <a:ea typeface="楷体_GB2312" pitchFamily="49" charset="-122"/>
              </a:rPr>
              <a:t>φ</a:t>
            </a:r>
            <a:r>
              <a:rPr lang="en-US" altLang="zh-CN" sz="2400" b="1" dirty="0">
                <a:latin typeface="楷体_GB2312" pitchFamily="49" charset="-122"/>
                <a:ea typeface="楷体_GB2312" pitchFamily="49" charset="-122"/>
              </a:rPr>
              <a:t>80</a:t>
            </a:r>
            <a:r>
              <a:rPr lang="zh-CN" altLang="en-US" sz="2400" b="1" dirty="0">
                <a:latin typeface="楷体_GB2312" pitchFamily="49" charset="-122"/>
                <a:ea typeface="楷体_GB2312" pitchFamily="49" charset="-122"/>
              </a:rPr>
              <a:t>孔不需加工，必须用型芯铸出。</a:t>
            </a:r>
            <a:endParaRPr lang="zh-CN" altLang="en-US" sz="2400" b="1" dirty="0">
              <a:latin typeface="楷体_GB2312" pitchFamily="49" charset="-122"/>
              <a:ea typeface="楷体_GB2312" pitchFamily="49" charset="-122"/>
            </a:endParaRPr>
          </a:p>
          <a:p>
            <a:pPr lvl="1" eaLnBrk="1" hangingPunct="1"/>
            <a:r>
              <a:rPr lang="zh-CN" altLang="en-US" sz="2400" b="1" dirty="0">
                <a:solidFill>
                  <a:srgbClr val="0000FF"/>
                </a:solidFill>
                <a:latin typeface="楷体_GB2312" pitchFamily="49" charset="-122"/>
                <a:ea typeface="楷体_GB2312" pitchFamily="49" charset="-122"/>
              </a:rPr>
              <a:t>轴架材料为</a:t>
            </a:r>
            <a:r>
              <a:rPr lang="en-US" altLang="zh-CN" sz="2400" b="1" dirty="0">
                <a:solidFill>
                  <a:srgbClr val="0000FF"/>
                </a:solidFill>
                <a:latin typeface="楷体_GB2312" pitchFamily="49" charset="-122"/>
                <a:ea typeface="楷体_GB2312" pitchFamily="49" charset="-122"/>
              </a:rPr>
              <a:t>HT200</a:t>
            </a:r>
            <a:r>
              <a:rPr lang="zh-CN" altLang="en-US" sz="2400" b="1" dirty="0">
                <a:solidFill>
                  <a:srgbClr val="0000FF"/>
                </a:solidFill>
                <a:latin typeface="楷体_GB2312" pitchFamily="49" charset="-122"/>
                <a:ea typeface="楷体_GB2312" pitchFamily="49" charset="-122"/>
              </a:rPr>
              <a:t>小批量生产，承受轻载荷，可用湿砂型手工分模造型。此铸件可供选择的主要铸造工艺方案有两种。</a:t>
            </a:r>
            <a:endParaRPr lang="zh-CN" altLang="en-US" sz="2400" b="1" dirty="0">
              <a:solidFill>
                <a:srgbClr val="0000FF"/>
              </a:solidFill>
              <a:latin typeface="楷体_GB2312" pitchFamily="49" charset="-122"/>
              <a:ea typeface="楷体_GB2312" pitchFamily="49" charset="-122"/>
            </a:endParaRPr>
          </a:p>
        </p:txBody>
      </p:sp>
      <p:pic>
        <p:nvPicPr>
          <p:cNvPr id="124932" name="Picture 9"/>
          <p:cNvPicPr>
            <a:picLocks noChangeAspect="1"/>
          </p:cNvPicPr>
          <p:nvPr/>
        </p:nvPicPr>
        <p:blipFill>
          <a:blip r:embed="rId1"/>
          <a:stretch>
            <a:fillRect/>
          </a:stretch>
        </p:blipFill>
        <p:spPr>
          <a:xfrm>
            <a:off x="4479925" y="1609725"/>
            <a:ext cx="4689475" cy="52292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91139">
                                            <p:txEl>
                                              <p:charRg st="3" end="63"/>
                                            </p:txEl>
                                          </p:spTgt>
                                        </p:tgtEl>
                                        <p:attrNameLst>
                                          <p:attrName>style.visibility</p:attrName>
                                        </p:attrNameLst>
                                      </p:cBhvr>
                                      <p:to>
                                        <p:strVal val="visible"/>
                                      </p:to>
                                    </p:set>
                                    <p:animEffect transition="in" filter="wedge">
                                      <p:cBhvr>
                                        <p:cTn id="7" dur="2000"/>
                                        <p:tgtEl>
                                          <p:spTgt spid="91139">
                                            <p:txEl>
                                              <p:charRg st="3" end="6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91139">
                                            <p:txEl>
                                              <p:charRg st="63" end="118"/>
                                            </p:txEl>
                                          </p:spTgt>
                                        </p:tgtEl>
                                        <p:attrNameLst>
                                          <p:attrName>style.visibility</p:attrName>
                                        </p:attrNameLst>
                                      </p:cBhvr>
                                      <p:to>
                                        <p:strVal val="visible"/>
                                      </p:to>
                                    </p:set>
                                    <p:animEffect transition="in" filter="wedge">
                                      <p:cBhvr>
                                        <p:cTn id="12" dur="2000"/>
                                        <p:tgtEl>
                                          <p:spTgt spid="91139">
                                            <p:txEl>
                                              <p:charRg st="63"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5954" name="Picture 5"/>
          <p:cNvPicPr>
            <a:picLocks noChangeAspect="1"/>
          </p:cNvPicPr>
          <p:nvPr/>
        </p:nvPicPr>
        <p:blipFill>
          <a:blip r:embed="rId1"/>
          <a:stretch>
            <a:fillRect/>
          </a:stretch>
        </p:blipFill>
        <p:spPr>
          <a:xfrm>
            <a:off x="4932363" y="2060575"/>
            <a:ext cx="4356100" cy="4019550"/>
          </a:xfrm>
          <a:prstGeom prst="rect">
            <a:avLst/>
          </a:prstGeom>
          <a:noFill/>
          <a:ln w="9525">
            <a:noFill/>
          </a:ln>
        </p:spPr>
      </p:pic>
      <p:sp>
        <p:nvSpPr>
          <p:cNvPr id="125955" name="Rectangle 2"/>
          <p:cNvSpPr>
            <a:spLocks noGrp="1"/>
          </p:cNvSpPr>
          <p:nvPr>
            <p:ph type="title"/>
          </p:nvPr>
        </p:nvSpPr>
        <p:spPr/>
        <p:txBody>
          <a:bodyPr vert="horz" wrap="square" lIns="91440" tIns="45720" rIns="91440" bIns="45720" anchor="b" anchorCtr="0"/>
          <a:p>
            <a:pPr algn="ctr" eaLnBrk="1" hangingPunct="1"/>
            <a:r>
              <a:rPr lang="zh-CN" altLang="en-US" sz="4000" b="1" dirty="0">
                <a:solidFill>
                  <a:srgbClr val="FF3300"/>
                </a:solidFill>
                <a:latin typeface="楷体_GB2312" pitchFamily="49" charset="-122"/>
                <a:ea typeface="楷体_GB2312" pitchFamily="49" charset="-122"/>
              </a:rPr>
              <a:t>轴架</a:t>
            </a:r>
            <a:r>
              <a:rPr lang="zh-CN" altLang="zh-CN" sz="4000" b="1" dirty="0">
                <a:latin typeface="楷体_GB2312" pitchFamily="49" charset="-122"/>
                <a:ea typeface="楷体_GB2312" pitchFamily="49" charset="-122"/>
              </a:rPr>
              <a:t>综合分析举例</a:t>
            </a:r>
            <a:endParaRPr lang="zh-CN" altLang="zh-CN" sz="4000" b="1" dirty="0">
              <a:latin typeface="楷体_GB2312" pitchFamily="49" charset="-122"/>
              <a:ea typeface="楷体_GB2312" pitchFamily="49" charset="-122"/>
            </a:endParaRPr>
          </a:p>
        </p:txBody>
      </p:sp>
      <p:sp>
        <p:nvSpPr>
          <p:cNvPr id="92163" name="Rectangle 3"/>
          <p:cNvSpPr>
            <a:spLocks noGrp="1"/>
          </p:cNvSpPr>
          <p:nvPr>
            <p:ph type="body"/>
          </p:nvPr>
        </p:nvSpPr>
        <p:spPr>
          <a:xfrm>
            <a:off x="-396875" y="1665288"/>
            <a:ext cx="5761038" cy="5003800"/>
          </a:xfrm>
        </p:spPr>
        <p:txBody>
          <a:bodyPr vert="horz" wrap="square" lIns="91440" tIns="45720" rIns="91440" bIns="45720" anchor="t" anchorCtr="0"/>
          <a:p>
            <a:pPr lvl="1" eaLnBrk="1" hangingPunct="1"/>
            <a:r>
              <a:rPr lang="zh-CN" altLang="en-US" sz="2200" b="1" dirty="0">
                <a:latin typeface="楷体_GB2312" pitchFamily="49" charset="-122"/>
                <a:ea typeface="楷体_GB2312" pitchFamily="49" charset="-122"/>
              </a:rPr>
              <a:t>方案</a:t>
            </a:r>
            <a:r>
              <a:rPr lang="en-US" altLang="zh-CN" sz="2200" b="1" dirty="0">
                <a:latin typeface="楷体_GB2312" pitchFamily="49" charset="-122"/>
                <a:ea typeface="楷体_GB2312" pitchFamily="49" charset="-122"/>
              </a:rPr>
              <a:t>1 </a:t>
            </a:r>
            <a:r>
              <a:rPr lang="zh-CN" altLang="en-US" sz="2200" b="1" dirty="0">
                <a:latin typeface="楷体_GB2312" pitchFamily="49" charset="-122"/>
                <a:ea typeface="楷体_GB2312" pitchFamily="49" charset="-122"/>
              </a:rPr>
              <a:t>采用分模造型，水平浇注。铸件轴线为水平位置，过中心轴线的纵剖面为分型面，使分型面与分模面一致有利于下芯、起模，以及型芯的固定、排气和检验等。</a:t>
            </a:r>
            <a:r>
              <a:rPr lang="zh-CN" altLang="en-US" sz="2200" b="1" dirty="0">
                <a:solidFill>
                  <a:srgbClr val="00CC00"/>
                </a:solidFill>
                <a:latin typeface="楷体_GB2312" pitchFamily="49" charset="-122"/>
                <a:ea typeface="楷体_GB2312" pitchFamily="49" charset="-122"/>
              </a:rPr>
              <a:t>两端的加工面处于倒壁</a:t>
            </a:r>
            <a:r>
              <a:rPr lang="en-US" altLang="zh-CN" sz="2200" b="1" dirty="0">
                <a:solidFill>
                  <a:srgbClr val="00CC00"/>
                </a:solidFill>
                <a:latin typeface="楷体_GB2312" pitchFamily="49" charset="-122"/>
                <a:ea typeface="楷体_GB2312" pitchFamily="49" charset="-122"/>
              </a:rPr>
              <a:t>, </a:t>
            </a:r>
            <a:r>
              <a:rPr lang="zh-CN" altLang="en-US" sz="2200" b="1" dirty="0">
                <a:solidFill>
                  <a:srgbClr val="00CC00"/>
                </a:solidFill>
                <a:latin typeface="楷体_GB2312" pitchFamily="49" charset="-122"/>
                <a:ea typeface="楷体_GB2312" pitchFamily="49" charset="-122"/>
              </a:rPr>
              <a:t>加工余量均取</a:t>
            </a:r>
            <a:r>
              <a:rPr lang="en-US" altLang="zh-CN" sz="2200" b="1" dirty="0">
                <a:solidFill>
                  <a:srgbClr val="00CC00"/>
                </a:solidFill>
                <a:latin typeface="楷体_GB2312" pitchFamily="49" charset="-122"/>
                <a:ea typeface="楷体_GB2312" pitchFamily="49" charset="-122"/>
              </a:rPr>
              <a:t>4mm</a:t>
            </a:r>
            <a:r>
              <a:rPr lang="zh-CN" altLang="en-US" sz="2200" b="1" dirty="0">
                <a:solidFill>
                  <a:srgbClr val="00CC00"/>
                </a:solidFill>
                <a:latin typeface="楷体_GB2312" pitchFamily="49" charset="-122"/>
                <a:ea typeface="楷体_GB2312" pitchFamily="49" charset="-122"/>
              </a:rPr>
              <a:t>，起模斜度取 </a:t>
            </a:r>
            <a:r>
              <a:rPr lang="en-US" altLang="zh-CN" sz="2200" b="1" dirty="0">
                <a:solidFill>
                  <a:srgbClr val="00CC00"/>
                </a:solidFill>
                <a:latin typeface="楷体_GB2312" pitchFamily="49" charset="-122"/>
                <a:ea typeface="楷体_GB2312" pitchFamily="49" charset="-122"/>
              </a:rPr>
              <a:t>1°</a:t>
            </a:r>
            <a:r>
              <a:rPr lang="zh-CN" altLang="en-US" sz="2200" b="1" dirty="0">
                <a:solidFill>
                  <a:srgbClr val="00CC00"/>
                </a:solidFill>
                <a:latin typeface="楷体_GB2312" pitchFamily="49" charset="-122"/>
                <a:ea typeface="楷体_GB2312" pitchFamily="49" charset="-122"/>
              </a:rPr>
              <a:t>，铸造圆角 </a:t>
            </a:r>
            <a:r>
              <a:rPr lang="en-US" altLang="zh-CN" sz="2200" b="1" dirty="0">
                <a:solidFill>
                  <a:srgbClr val="00CC00"/>
                </a:solidFill>
                <a:latin typeface="楷体_GB2312" pitchFamily="49" charset="-122"/>
                <a:ea typeface="楷体_GB2312" pitchFamily="49" charset="-122"/>
              </a:rPr>
              <a:t>R3</a:t>
            </a:r>
            <a:r>
              <a:rPr lang="zh-CN" altLang="en-US" sz="2200" b="1" dirty="0">
                <a:solidFill>
                  <a:srgbClr val="00CC00"/>
                </a:solidFill>
                <a:latin typeface="楷体_GB2312" pitchFamily="49" charset="-122"/>
                <a:ea typeface="楷体_GB2312" pitchFamily="49" charset="-122"/>
              </a:rPr>
              <a:t>－</a:t>
            </a:r>
            <a:r>
              <a:rPr lang="en-US" altLang="zh-CN" sz="2200" b="1" dirty="0">
                <a:solidFill>
                  <a:srgbClr val="00CC00"/>
                </a:solidFill>
                <a:latin typeface="楷体_GB2312" pitchFamily="49" charset="-122"/>
                <a:ea typeface="楷体_GB2312" pitchFamily="49" charset="-122"/>
              </a:rPr>
              <a:t>5, </a:t>
            </a:r>
            <a:r>
              <a:rPr lang="zh-CN" altLang="en-US" sz="2200" b="1" dirty="0">
                <a:solidFill>
                  <a:srgbClr val="00CC00"/>
                </a:solidFill>
                <a:latin typeface="楷体_GB2312" pitchFamily="49" charset="-122"/>
                <a:ea typeface="楷体_GB2312" pitchFamily="49" charset="-122"/>
              </a:rPr>
              <a:t>内孔采用整体芯。</a:t>
            </a:r>
            <a:endParaRPr lang="zh-CN" altLang="en-US" sz="2200" b="1" dirty="0">
              <a:solidFill>
                <a:srgbClr val="00CC00"/>
              </a:solidFill>
              <a:latin typeface="楷体_GB2312" pitchFamily="49" charset="-122"/>
              <a:ea typeface="楷体_GB2312" pitchFamily="49" charset="-122"/>
            </a:endParaRPr>
          </a:p>
          <a:p>
            <a:pPr lvl="1" eaLnBrk="1" hangingPunct="1"/>
            <a:r>
              <a:rPr lang="zh-CN" altLang="en-US" sz="2200" b="1" dirty="0">
                <a:latin typeface="楷体_GB2312" pitchFamily="49" charset="-122"/>
                <a:ea typeface="楷体_GB2312" pitchFamily="49" charset="-122"/>
              </a:rPr>
              <a:t>该方案由于将两端加工面置于侧壁位置，质量较易得到保证。内孔表面虽说有一侧位于上面，但对铸造质量影响不大。</a:t>
            </a:r>
            <a:r>
              <a:rPr lang="zh-CN" altLang="en-US" sz="2200" b="1" dirty="0">
                <a:solidFill>
                  <a:srgbClr val="0000FF"/>
                </a:solidFill>
                <a:latin typeface="楷体_GB2312" pitchFamily="49" charset="-122"/>
                <a:ea typeface="楷体_GB2312" pitchFamily="49" charset="-122"/>
              </a:rPr>
              <a:t>此方案浇注时熔融金属充型平稳，但由于分模造型易产生错型缺陷 铸件外形精度较差。</a:t>
            </a:r>
            <a:endParaRPr lang="zh-CN" altLang="en-US" sz="2200" b="1" dirty="0">
              <a:solidFill>
                <a:srgbClr val="0000FF"/>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92163">
                                            <p:txEl>
                                              <p:charRg st="125" end="217"/>
                                            </p:txEl>
                                          </p:spTgt>
                                        </p:tgtEl>
                                        <p:attrNameLst>
                                          <p:attrName>style.visibility</p:attrName>
                                        </p:attrNameLst>
                                      </p:cBhvr>
                                      <p:to>
                                        <p:strVal val="visible"/>
                                      </p:to>
                                    </p:set>
                                    <p:animEffect transition="in" filter="diamond(in)">
                                      <p:cBhvr>
                                        <p:cTn id="7" dur="2000"/>
                                        <p:tgtEl>
                                          <p:spTgt spid="92163">
                                            <p:txEl>
                                              <p:charRg st="125" end="2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6978" name="图片 1"/>
          <p:cNvPicPr>
            <a:picLocks noChangeAspect="1"/>
          </p:cNvPicPr>
          <p:nvPr/>
        </p:nvPicPr>
        <p:blipFill>
          <a:blip r:embed="rId1"/>
          <a:stretch>
            <a:fillRect/>
          </a:stretch>
        </p:blipFill>
        <p:spPr>
          <a:xfrm>
            <a:off x="4602163" y="1989138"/>
            <a:ext cx="4521200" cy="4619625"/>
          </a:xfrm>
          <a:prstGeom prst="rect">
            <a:avLst/>
          </a:prstGeom>
          <a:noFill/>
          <a:ln w="9525">
            <a:noFill/>
          </a:ln>
        </p:spPr>
      </p:pic>
      <p:sp>
        <p:nvSpPr>
          <p:cNvPr id="126979" name="Rectangle 2"/>
          <p:cNvSpPr>
            <a:spLocks noGrp="1"/>
          </p:cNvSpPr>
          <p:nvPr>
            <p:ph type="title"/>
          </p:nvPr>
        </p:nvSpPr>
        <p:spPr/>
        <p:txBody>
          <a:bodyPr vert="horz" wrap="square" lIns="91440" tIns="45720" rIns="91440" bIns="45720" anchor="b" anchorCtr="0"/>
          <a:p>
            <a:pPr algn="ctr" eaLnBrk="1" hangingPunct="1"/>
            <a:r>
              <a:rPr lang="zh-CN" altLang="en-US" sz="4000" b="1" dirty="0">
                <a:solidFill>
                  <a:srgbClr val="FF3300"/>
                </a:solidFill>
                <a:latin typeface="楷体_GB2312" pitchFamily="49" charset="-122"/>
                <a:ea typeface="楷体_GB2312" pitchFamily="49" charset="-122"/>
              </a:rPr>
              <a:t>轴架</a:t>
            </a:r>
            <a:r>
              <a:rPr lang="zh-CN" altLang="zh-CN" sz="4000" b="1" dirty="0">
                <a:latin typeface="楷体_GB2312" pitchFamily="49" charset="-122"/>
                <a:ea typeface="楷体_GB2312" pitchFamily="49" charset="-122"/>
              </a:rPr>
              <a:t>综合分析举例</a:t>
            </a:r>
            <a:endParaRPr lang="zh-CN" altLang="zh-CN" sz="4000" b="1" dirty="0">
              <a:latin typeface="楷体_GB2312" pitchFamily="49" charset="-122"/>
              <a:ea typeface="楷体_GB2312" pitchFamily="49" charset="-122"/>
            </a:endParaRPr>
          </a:p>
        </p:txBody>
      </p:sp>
      <p:sp>
        <p:nvSpPr>
          <p:cNvPr id="93187" name="Rectangle 3"/>
          <p:cNvSpPr>
            <a:spLocks noGrp="1"/>
          </p:cNvSpPr>
          <p:nvPr>
            <p:ph type="body"/>
          </p:nvPr>
        </p:nvSpPr>
        <p:spPr>
          <a:xfrm>
            <a:off x="250825" y="1600200"/>
            <a:ext cx="4752975" cy="4852988"/>
          </a:xfrm>
        </p:spPr>
        <p:txBody>
          <a:bodyPr vert="horz" wrap="square" lIns="91440" tIns="45720" rIns="91440" bIns="45720" anchor="t" anchorCtr="0"/>
          <a:p>
            <a:pPr eaLnBrk="1" hangingPunct="1"/>
            <a:r>
              <a:rPr lang="zh-CN" altLang="en-US" sz="2400" b="1" dirty="0">
                <a:latin typeface="楷体_GB2312" pitchFamily="49" charset="-122"/>
                <a:ea typeface="楷体_GB2312" pitchFamily="49" charset="-122"/>
              </a:rPr>
              <a:t>方案</a:t>
            </a:r>
            <a:r>
              <a:rPr lang="en-US" altLang="zh-CN" sz="2400" b="1" dirty="0">
                <a:latin typeface="楷体_GB2312" pitchFamily="49" charset="-122"/>
                <a:ea typeface="楷体_GB2312" pitchFamily="49" charset="-122"/>
              </a:rPr>
              <a:t>II </a:t>
            </a:r>
            <a:r>
              <a:rPr lang="zh-CN" altLang="en-US" sz="2400" b="1" dirty="0">
                <a:latin typeface="楷体_GB2312" pitchFamily="49" charset="-122"/>
                <a:ea typeface="楷体_GB2312" pitchFamily="49" charset="-122"/>
              </a:rPr>
              <a:t>采用三箱造型，垂直浇注。铸件两端面均为分型面。上凸缘的水平面为分模面。上端面加工余量取</a:t>
            </a:r>
            <a:r>
              <a:rPr lang="en-US" altLang="zh-CN" sz="2400" b="1" dirty="0">
                <a:latin typeface="楷体_GB2312" pitchFamily="49" charset="-122"/>
                <a:ea typeface="楷体_GB2312" pitchFamily="49" charset="-122"/>
              </a:rPr>
              <a:t>5mm,</a:t>
            </a:r>
            <a:r>
              <a:rPr lang="zh-CN" altLang="en-US" sz="2400" b="1" dirty="0">
                <a:latin typeface="楷体_GB2312" pitchFamily="49" charset="-122"/>
                <a:ea typeface="楷体_GB2312" pitchFamily="49" charset="-122"/>
              </a:rPr>
              <a:t>下端面取</a:t>
            </a:r>
            <a:r>
              <a:rPr lang="en-US" altLang="zh-CN" sz="2400" b="1" dirty="0">
                <a:latin typeface="楷体_GB2312" pitchFamily="49" charset="-122"/>
                <a:ea typeface="楷体_GB2312" pitchFamily="49" charset="-122"/>
              </a:rPr>
              <a:t>4mm</a:t>
            </a:r>
            <a:r>
              <a:rPr lang="zh-CN" altLang="en-US" sz="2400" b="1" dirty="0">
                <a:latin typeface="楷体_GB2312" pitchFamily="49" charset="-122"/>
                <a:ea typeface="楷体_GB2312" pitchFamily="49" charset="-122"/>
              </a:rPr>
              <a:t>。采用垂直式整体芯。</a:t>
            </a:r>
            <a:endParaRPr lang="zh-CN" altLang="en-US" sz="2400" b="1" dirty="0">
              <a:latin typeface="楷体_GB2312" pitchFamily="49" charset="-122"/>
              <a:ea typeface="楷体_GB2312" pitchFamily="49" charset="-122"/>
            </a:endParaRPr>
          </a:p>
          <a:p>
            <a:pPr eaLnBrk="1" hangingPunct="1"/>
            <a:r>
              <a:rPr lang="zh-CN" altLang="en-US" sz="2400" b="1" dirty="0">
                <a:solidFill>
                  <a:srgbClr val="FF0066"/>
                </a:solidFill>
                <a:latin typeface="楷体_GB2312" pitchFamily="49" charset="-122"/>
                <a:ea typeface="楷体_GB2312" pitchFamily="49" charset="-122"/>
              </a:rPr>
              <a:t>优点</a:t>
            </a:r>
            <a:r>
              <a:rPr lang="zh-CN" altLang="en-US" sz="2400" b="1" dirty="0">
                <a:solidFill>
                  <a:srgbClr val="0000FF"/>
                </a:solidFill>
                <a:latin typeface="楷体_GB2312" pitchFamily="49" charset="-122"/>
                <a:ea typeface="楷体_GB2312" pitchFamily="49" charset="-122"/>
              </a:rPr>
              <a:t>是整个铸件位于中箱，外形精度较高。但是，上端面质量不易保证，由于采用三箱造型，多用一个砂箱，型砂耗用量和造型工时增加；上端面加工余量加大，金属耗费和切削工时增加，费用明显地高于方案</a:t>
            </a:r>
            <a:r>
              <a:rPr lang="en-US" altLang="zh-CN" sz="2400" b="1" dirty="0">
                <a:solidFill>
                  <a:srgbClr val="0000FF"/>
                </a:solidFill>
                <a:latin typeface="楷体_GB2312" pitchFamily="49" charset="-122"/>
                <a:ea typeface="楷体_GB2312" pitchFamily="49" charset="-122"/>
              </a:rPr>
              <a:t>I</a:t>
            </a:r>
            <a:r>
              <a:rPr lang="zh-CN" altLang="en-US" sz="2400" b="1" dirty="0">
                <a:solidFill>
                  <a:srgbClr val="0000FF"/>
                </a:solidFill>
                <a:latin typeface="楷体_GB2312" pitchFamily="49" charset="-122"/>
                <a:ea typeface="楷体_GB2312" pitchFamily="49" charset="-122"/>
              </a:rPr>
              <a:t>。相比之下，方案</a:t>
            </a:r>
            <a:r>
              <a:rPr lang="en-US" altLang="zh-CN" sz="2400" b="1" dirty="0">
                <a:solidFill>
                  <a:srgbClr val="0000FF"/>
                </a:solidFill>
                <a:latin typeface="楷体_GB2312" pitchFamily="49" charset="-122"/>
                <a:ea typeface="楷体_GB2312" pitchFamily="49" charset="-122"/>
              </a:rPr>
              <a:t>Ⅰ</a:t>
            </a:r>
            <a:r>
              <a:rPr lang="zh-CN" altLang="en-US" sz="2400" b="1" dirty="0">
                <a:solidFill>
                  <a:srgbClr val="0000FF"/>
                </a:solidFill>
                <a:latin typeface="楷体_GB2312" pitchFamily="49" charset="-122"/>
                <a:ea typeface="楷体_GB2312" pitchFamily="49" charset="-122"/>
              </a:rPr>
              <a:t>更为合理。</a:t>
            </a:r>
            <a:endParaRPr lang="zh-CN" altLang="en-US" sz="2400" b="1" dirty="0">
              <a:solidFill>
                <a:srgbClr val="0000FF"/>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93187">
                                            <p:txEl>
                                              <p:charRg st="70" end="178"/>
                                            </p:txEl>
                                          </p:spTgt>
                                        </p:tgtEl>
                                        <p:attrNameLst>
                                          <p:attrName>style.visibility</p:attrName>
                                        </p:attrNameLst>
                                      </p:cBhvr>
                                      <p:to>
                                        <p:strVal val="visible"/>
                                      </p:to>
                                    </p:set>
                                    <p:animEffect transition="in" filter="diamond(in)">
                                      <p:cBhvr>
                                        <p:cTn id="7" dur="2000"/>
                                        <p:tgtEl>
                                          <p:spTgt spid="93187">
                                            <p:txEl>
                                              <p:charRg st="70"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1026"/>
          <p:cNvSpPr>
            <a:spLocks noGrp="1"/>
          </p:cNvSpPr>
          <p:nvPr>
            <p:ph type="title"/>
          </p:nvPr>
        </p:nvSpPr>
        <p:spPr/>
        <p:txBody>
          <a:bodyPr vert="horz" wrap="square" lIns="91440" tIns="45720" rIns="91440" bIns="45720" anchor="b" anchorCtr="0"/>
          <a:p>
            <a:pPr algn="ctr" eaLnBrk="1" hangingPunct="1"/>
            <a:r>
              <a:rPr lang="zh-CN" altLang="en-US" sz="4000" b="1" dirty="0">
                <a:solidFill>
                  <a:srgbClr val="FF3300"/>
                </a:solidFill>
                <a:latin typeface="楷体_GB2312" pitchFamily="49" charset="-122"/>
                <a:ea typeface="楷体_GB2312" pitchFamily="49" charset="-122"/>
              </a:rPr>
              <a:t>支座的</a:t>
            </a:r>
            <a:r>
              <a:rPr lang="zh-CN" altLang="zh-CN" sz="4000" b="1" dirty="0">
                <a:latin typeface="楷体_GB2312" pitchFamily="49" charset="-122"/>
                <a:ea typeface="楷体_GB2312" pitchFamily="49" charset="-122"/>
              </a:rPr>
              <a:t>综合分析举例</a:t>
            </a:r>
            <a:endParaRPr lang="zh-CN" altLang="zh-CN" sz="4000" b="1" dirty="0">
              <a:latin typeface="楷体_GB2312" pitchFamily="49" charset="-122"/>
              <a:ea typeface="楷体_GB2312" pitchFamily="49" charset="-122"/>
            </a:endParaRPr>
          </a:p>
        </p:txBody>
      </p:sp>
      <p:sp>
        <p:nvSpPr>
          <p:cNvPr id="94211" name="Rectangle 1027"/>
          <p:cNvSpPr>
            <a:spLocks noGrp="1"/>
          </p:cNvSpPr>
          <p:nvPr>
            <p:ph type="body"/>
          </p:nvPr>
        </p:nvSpPr>
        <p:spPr>
          <a:xfrm>
            <a:off x="178753" y="1772920"/>
            <a:ext cx="3529012" cy="3829050"/>
          </a:xfrm>
        </p:spPr>
        <p:txBody>
          <a:bodyPr vert="horz" wrap="square" lIns="91440" tIns="45720" rIns="91440" bIns="45720" anchor="t" anchorCtr="0"/>
          <a:p>
            <a:pPr eaLnBrk="1" hangingPunct="1">
              <a:lnSpc>
                <a:spcPct val="90000"/>
              </a:lnSpc>
            </a:pPr>
            <a:r>
              <a:rPr lang="zh-CN" altLang="en-US" sz="2400" b="1" dirty="0">
                <a:latin typeface="楷体_GB2312" pitchFamily="49" charset="-122"/>
                <a:ea typeface="楷体_GB2312" pitchFamily="49" charset="-122"/>
              </a:rPr>
              <a:t>没有特殊质量要求的表面，在制订工艺方案时，不必考虑浇注位置要求，主要着眼于工艺上的简化。</a:t>
            </a:r>
            <a:endParaRPr lang="zh-CN" altLang="en-US" sz="2400" b="1" dirty="0">
              <a:latin typeface="楷体_GB2312" pitchFamily="49" charset="-122"/>
              <a:ea typeface="楷体_GB2312" pitchFamily="49" charset="-122"/>
            </a:endParaRPr>
          </a:p>
          <a:p>
            <a:pPr eaLnBrk="1" hangingPunct="1">
              <a:lnSpc>
                <a:spcPct val="90000"/>
              </a:lnSpc>
            </a:pPr>
            <a:r>
              <a:rPr lang="zh-CN" altLang="en-US" sz="2400" b="1" dirty="0">
                <a:latin typeface="楷体_GB2312" pitchFamily="49" charset="-122"/>
                <a:ea typeface="楷体_GB2312" pitchFamily="49" charset="-122"/>
              </a:rPr>
              <a:t>支座虽属简单件，但底板上四个</a:t>
            </a:r>
            <a:r>
              <a:rPr lang="en-US" altLang="zh-CN" sz="2400" b="1" dirty="0">
                <a:latin typeface="GreekC" pitchFamily="2" charset="0"/>
                <a:ea typeface="楷体_GB2312" pitchFamily="49" charset="-122"/>
              </a:rPr>
              <a:t>φ</a:t>
            </a:r>
            <a:r>
              <a:rPr lang="en-US" altLang="zh-CN" sz="2400" b="1" dirty="0">
                <a:latin typeface="楷体_GB2312" pitchFamily="49" charset="-122"/>
                <a:ea typeface="楷体_GB2312" pitchFamily="49" charset="-122"/>
              </a:rPr>
              <a:t>10mm</a:t>
            </a:r>
            <a:r>
              <a:rPr lang="zh-CN" altLang="en-US" sz="2400" b="1" dirty="0">
                <a:latin typeface="楷体_GB2312" pitchFamily="49" charset="-122"/>
                <a:ea typeface="楷体_GB2312" pitchFamily="49" charset="-122"/>
              </a:rPr>
              <a:t>孔的凸台及两个轴孔的内凸台可能妨碍起模。同时，轴孔如若铸出，还必须考虑下芯的可能性。</a:t>
            </a:r>
            <a:endParaRPr lang="zh-CN" altLang="en-US" sz="2400" b="1" dirty="0">
              <a:latin typeface="楷体_GB2312" pitchFamily="49" charset="-122"/>
              <a:ea typeface="楷体_GB2312" pitchFamily="49" charset="-122"/>
            </a:endParaRPr>
          </a:p>
          <a:p>
            <a:pPr eaLnBrk="1" hangingPunct="1">
              <a:lnSpc>
                <a:spcPct val="90000"/>
              </a:lnSpc>
            </a:pPr>
            <a:r>
              <a:rPr lang="zh-CN" altLang="en-US" sz="2400" b="1" dirty="0">
                <a:solidFill>
                  <a:srgbClr val="FF0066"/>
                </a:solidFill>
                <a:latin typeface="楷体_GB2312" pitchFamily="49" charset="-122"/>
                <a:ea typeface="楷体_GB2312" pitchFamily="49" charset="-122"/>
              </a:rPr>
              <a:t>该件可供选择的分型面主要是：</a:t>
            </a:r>
            <a:endParaRPr lang="zh-CN" altLang="en-US" sz="2400" b="1" dirty="0">
              <a:solidFill>
                <a:srgbClr val="FF0066"/>
              </a:solidFill>
              <a:latin typeface="楷体_GB2312" pitchFamily="49" charset="-122"/>
              <a:ea typeface="楷体_GB2312" pitchFamily="49" charset="-122"/>
            </a:endParaRPr>
          </a:p>
        </p:txBody>
      </p:sp>
      <p:pic>
        <p:nvPicPr>
          <p:cNvPr id="128004" name="Picture 1029" descr="2-50"/>
          <p:cNvPicPr>
            <a:picLocks noChangeAspect="1"/>
          </p:cNvPicPr>
          <p:nvPr/>
        </p:nvPicPr>
        <p:blipFill>
          <a:blip r:embed="rId1"/>
          <a:stretch>
            <a:fillRect/>
          </a:stretch>
        </p:blipFill>
        <p:spPr>
          <a:xfrm>
            <a:off x="3636010" y="2060258"/>
            <a:ext cx="5562600" cy="42687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211"/>
                                        </p:tgtEl>
                                        <p:attrNameLst>
                                          <p:attrName>style.visibility</p:attrName>
                                        </p:attrNameLst>
                                      </p:cBhvr>
                                      <p:to>
                                        <p:strVal val="visible"/>
                                      </p:to>
                                    </p:set>
                                    <p:animEffect transition="in" filter="blinds(horizontal)">
                                      <p:cBhvr>
                                        <p:cTn id="7" dur="500"/>
                                        <p:tgtEl>
                                          <p:spTgt spid="94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1026"/>
          <p:cNvSpPr>
            <a:spLocks noGrp="1"/>
          </p:cNvSpPr>
          <p:nvPr>
            <p:ph type="title"/>
          </p:nvPr>
        </p:nvSpPr>
        <p:spPr/>
        <p:txBody>
          <a:bodyPr vert="horz" wrap="square" lIns="91440" tIns="45720" rIns="91440" bIns="45720" anchor="b" anchorCtr="0"/>
          <a:p>
            <a:pPr algn="ctr" eaLnBrk="1" hangingPunct="1"/>
            <a:r>
              <a:rPr lang="zh-CN" altLang="en-US" b="1" dirty="0">
                <a:solidFill>
                  <a:srgbClr val="A50021"/>
                </a:solidFill>
                <a:latin typeface="楷体_GB2312" pitchFamily="49" charset="-122"/>
                <a:ea typeface="楷体_GB2312" pitchFamily="49" charset="-122"/>
              </a:rPr>
              <a:t>支座的</a:t>
            </a:r>
            <a:r>
              <a:rPr lang="zh-CN" altLang="en-US" sz="4000" b="1" dirty="0">
                <a:ea typeface="楷体_GB2312" pitchFamily="49" charset="-122"/>
              </a:rPr>
              <a:t>综合分析举例</a:t>
            </a:r>
            <a:endParaRPr lang="zh-CN" altLang="en-US" sz="4000" b="1" dirty="0">
              <a:ea typeface="楷体_GB2312" pitchFamily="49" charset="-122"/>
            </a:endParaRPr>
          </a:p>
        </p:txBody>
      </p:sp>
      <p:sp>
        <p:nvSpPr>
          <p:cNvPr id="95235" name="Rectangle 1027"/>
          <p:cNvSpPr>
            <a:spLocks noGrp="1"/>
          </p:cNvSpPr>
          <p:nvPr>
            <p:ph type="body"/>
          </p:nvPr>
        </p:nvSpPr>
        <p:spPr>
          <a:xfrm>
            <a:off x="346710" y="2060575"/>
            <a:ext cx="2712720" cy="5027295"/>
          </a:xfrm>
        </p:spPr>
        <p:txBody>
          <a:bodyPr vert="horz" wrap="square" lIns="91440" tIns="45720" rIns="91440" bIns="45720" anchor="t" anchorCtr="0"/>
          <a:p>
            <a:pPr eaLnBrk="1" hangingPunct="1">
              <a:lnSpc>
                <a:spcPct val="80000"/>
              </a:lnSpc>
            </a:pP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）方案</a:t>
            </a:r>
            <a:r>
              <a:rPr lang="en-US" altLang="zh-CN" sz="2400" b="1" dirty="0">
                <a:latin typeface="楷体_GB2312" pitchFamily="49" charset="-122"/>
                <a:ea typeface="楷体_GB2312" pitchFamily="49" charset="-122"/>
              </a:rPr>
              <a:t>Ⅰ</a:t>
            </a:r>
            <a:r>
              <a:rPr lang="zh-CN" altLang="en-US" sz="2400" b="1" dirty="0">
                <a:latin typeface="楷体_GB2312" pitchFamily="49" charset="-122"/>
                <a:ea typeface="楷体_GB2312" pitchFamily="49" charset="-122"/>
              </a:rPr>
              <a:t>沿底板中心线分型，即采用分开模造型。</a:t>
            </a:r>
            <a:endParaRPr lang="en-US" altLang="zh-CN" sz="2400" b="1" dirty="0">
              <a:latin typeface="楷体_GB2312" pitchFamily="49" charset="-122"/>
              <a:ea typeface="楷体_GB2312" pitchFamily="49" charset="-122"/>
            </a:endParaRPr>
          </a:p>
          <a:p>
            <a:pPr eaLnBrk="1" hangingPunct="1">
              <a:lnSpc>
                <a:spcPct val="80000"/>
              </a:lnSpc>
            </a:pPr>
            <a:r>
              <a:rPr lang="zh-CN" altLang="en-US" sz="2400" b="1" dirty="0">
                <a:latin typeface="楷体_GB2312" pitchFamily="49" charset="-122"/>
                <a:ea typeface="楷体_GB2312" pitchFamily="49" charset="-122"/>
              </a:rPr>
              <a:t>优点是底面上</a:t>
            </a:r>
            <a:r>
              <a:rPr lang="en-US" altLang="zh-CN" sz="2400" b="1" dirty="0">
                <a:latin typeface="楷体_GB2312" pitchFamily="49" charset="-122"/>
                <a:ea typeface="楷体_GB2312" pitchFamily="49" charset="-122"/>
              </a:rPr>
              <a:t>110mm</a:t>
            </a:r>
            <a:r>
              <a:rPr lang="zh-CN" altLang="en-US" sz="2400" b="1" dirty="0">
                <a:latin typeface="楷体_GB2312" pitchFamily="49" charset="-122"/>
                <a:ea typeface="楷体_GB2312" pitchFamily="49" charset="-122"/>
              </a:rPr>
              <a:t>凹槽容易铸出，轴孔下芯方便，轴孔内凸台不妨碍起模。</a:t>
            </a:r>
            <a:endParaRPr lang="zh-CN" altLang="en-US" sz="2400" b="1" dirty="0">
              <a:latin typeface="楷体_GB2312" pitchFamily="49" charset="-122"/>
              <a:ea typeface="楷体_GB2312" pitchFamily="49" charset="-122"/>
            </a:endParaRPr>
          </a:p>
          <a:p>
            <a:pPr eaLnBrk="1" hangingPunct="1">
              <a:lnSpc>
                <a:spcPct val="80000"/>
              </a:lnSpc>
            </a:pPr>
            <a:r>
              <a:rPr lang="zh-CN" altLang="en-US" sz="2400" b="1" dirty="0">
                <a:latin typeface="楷体_GB2312" pitchFamily="49" charset="-122"/>
                <a:ea typeface="楷体_GB2312" pitchFamily="49" charset="-122"/>
              </a:rPr>
              <a:t>缺点是底板上四个凸台必须采用活块，同时，铸件易产生铝型缺陷，飞翅清理的工作量大。</a:t>
            </a:r>
            <a:endParaRPr lang="zh-CN" altLang="en-US" sz="2400" b="1" dirty="0">
              <a:latin typeface="楷体_GB2312" pitchFamily="49" charset="-122"/>
              <a:ea typeface="楷体_GB2312" pitchFamily="49" charset="-122"/>
            </a:endParaRPr>
          </a:p>
          <a:p>
            <a:pPr eaLnBrk="1" hangingPunct="1">
              <a:lnSpc>
                <a:spcPct val="80000"/>
              </a:lnSpc>
              <a:buNone/>
            </a:pPr>
            <a:r>
              <a:rPr lang="zh-CN" altLang="en-US" sz="2400" b="1" dirty="0">
                <a:latin typeface="楷体_GB2312" pitchFamily="49" charset="-122"/>
                <a:ea typeface="楷体_GB2312" pitchFamily="49" charset="-122"/>
              </a:rPr>
              <a:t> </a:t>
            </a:r>
            <a:endParaRPr lang="zh-CN" altLang="en-US" sz="2400" b="1" dirty="0">
              <a:solidFill>
                <a:srgbClr val="0000FF"/>
              </a:solidFill>
              <a:latin typeface="楷体_GB2312" pitchFamily="49" charset="-122"/>
              <a:ea typeface="楷体_GB2312" pitchFamily="49" charset="-122"/>
            </a:endParaRPr>
          </a:p>
        </p:txBody>
      </p:sp>
      <p:grpSp>
        <p:nvGrpSpPr>
          <p:cNvPr id="129028" name="Group 1037"/>
          <p:cNvGrpSpPr/>
          <p:nvPr/>
        </p:nvGrpSpPr>
        <p:grpSpPr>
          <a:xfrm>
            <a:off x="3059113" y="1988503"/>
            <a:ext cx="6048375" cy="4105275"/>
            <a:chOff x="0" y="0"/>
            <a:chExt cx="2939" cy="2054"/>
          </a:xfrm>
        </p:grpSpPr>
        <p:pic>
          <p:nvPicPr>
            <p:cNvPr id="129029" name="Picture 1029" descr="2-50"/>
            <p:cNvPicPr>
              <a:picLocks noChangeAspect="1"/>
            </p:cNvPicPr>
            <p:nvPr/>
          </p:nvPicPr>
          <p:blipFill>
            <a:blip r:embed="rId1"/>
            <a:stretch>
              <a:fillRect/>
            </a:stretch>
          </p:blipFill>
          <p:spPr>
            <a:xfrm>
              <a:off x="0" y="0"/>
              <a:ext cx="2677" cy="2054"/>
            </a:xfrm>
            <a:prstGeom prst="rect">
              <a:avLst/>
            </a:prstGeom>
            <a:noFill/>
            <a:ln w="9525">
              <a:noFill/>
            </a:ln>
          </p:spPr>
        </p:pic>
        <p:sp>
          <p:nvSpPr>
            <p:cNvPr id="129030" name="Line 1030"/>
            <p:cNvSpPr/>
            <p:nvPr/>
          </p:nvSpPr>
          <p:spPr>
            <a:xfrm>
              <a:off x="2540" y="907"/>
              <a:ext cx="182" cy="0"/>
            </a:xfrm>
            <a:prstGeom prst="line">
              <a:avLst/>
            </a:prstGeom>
            <a:ln w="9525" cap="flat" cmpd="sng">
              <a:solidFill>
                <a:schemeClr val="tx1"/>
              </a:solidFill>
              <a:prstDash val="solid"/>
              <a:headEnd type="none" w="med" len="med"/>
              <a:tailEnd type="none" w="med" len="med"/>
            </a:ln>
          </p:spPr>
        </p:sp>
        <p:sp>
          <p:nvSpPr>
            <p:cNvPr id="129031" name="Text Box 1031"/>
            <p:cNvSpPr txBox="1"/>
            <p:nvPr/>
          </p:nvSpPr>
          <p:spPr>
            <a:xfrm>
              <a:off x="2662" y="662"/>
              <a:ext cx="196"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zh-CN" sz="1000" b="1" dirty="0"/>
                <a:t>上</a:t>
              </a:r>
              <a:endParaRPr lang="zh-CN" altLang="zh-CN" sz="1000" b="1" dirty="0"/>
            </a:p>
          </p:txBody>
        </p:sp>
        <p:sp>
          <p:nvSpPr>
            <p:cNvPr id="129032" name="Text Box 1032"/>
            <p:cNvSpPr txBox="1"/>
            <p:nvPr/>
          </p:nvSpPr>
          <p:spPr>
            <a:xfrm>
              <a:off x="2662" y="935"/>
              <a:ext cx="196"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zh-CN" sz="1000" b="1" dirty="0"/>
                <a:t>下</a:t>
              </a:r>
              <a:endParaRPr lang="zh-CN" altLang="zh-CN" sz="1000" b="1" dirty="0"/>
            </a:p>
          </p:txBody>
        </p:sp>
        <p:sp>
          <p:nvSpPr>
            <p:cNvPr id="129033" name="Line 1033"/>
            <p:cNvSpPr/>
            <p:nvPr/>
          </p:nvSpPr>
          <p:spPr>
            <a:xfrm>
              <a:off x="2676" y="726"/>
              <a:ext cx="0" cy="363"/>
            </a:xfrm>
            <a:prstGeom prst="line">
              <a:avLst/>
            </a:prstGeom>
            <a:ln w="9525" cap="flat" cmpd="sng">
              <a:solidFill>
                <a:schemeClr val="tx1"/>
              </a:solidFill>
              <a:prstDash val="solid"/>
              <a:headEnd type="triangle" w="med" len="med"/>
              <a:tailEnd type="triangle" w="med" len="med"/>
            </a:ln>
          </p:spPr>
        </p:sp>
        <p:sp>
          <p:nvSpPr>
            <p:cNvPr id="129034" name="Text Box 1036"/>
            <p:cNvSpPr txBox="1"/>
            <p:nvPr/>
          </p:nvSpPr>
          <p:spPr>
            <a:xfrm>
              <a:off x="2676" y="816"/>
              <a:ext cx="263" cy="15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000" b="1" dirty="0"/>
                <a:t>Ⅲ</a:t>
              </a:r>
              <a:endParaRPr lang="en-US" altLang="zh-CN" sz="10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5235">
                                            <p:txEl>
                                              <p:charRg st="0" end="25"/>
                                            </p:txEl>
                                          </p:spTgt>
                                        </p:tgtEl>
                                        <p:attrNameLst>
                                          <p:attrName>style.visibility</p:attrName>
                                        </p:attrNameLst>
                                      </p:cBhvr>
                                      <p:to>
                                        <p:strVal val="visible"/>
                                      </p:to>
                                    </p:set>
                                    <p:animEffect transition="in" filter="blinds(horizontal)">
                                      <p:cBhvr>
                                        <p:cTn id="7" dur="500"/>
                                        <p:tgtEl>
                                          <p:spTgt spid="95235">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5235">
                                            <p:txEl>
                                              <p:charRg st="25" end="103"/>
                                            </p:txEl>
                                          </p:spTgt>
                                        </p:tgtEl>
                                        <p:attrNameLst>
                                          <p:attrName>style.visibility</p:attrName>
                                        </p:attrNameLst>
                                      </p:cBhvr>
                                      <p:to>
                                        <p:strVal val="visible"/>
                                      </p:to>
                                    </p:set>
                                    <p:animEffect transition="in" filter="blinds(horizontal)">
                                      <p:cBhvr>
                                        <p:cTn id="12" dur="500"/>
                                        <p:tgtEl>
                                          <p:spTgt spid="95235">
                                            <p:txEl>
                                              <p:charRg st="25" end="10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5235">
                                            <p:txEl>
                                              <p:charRg st="2" end="2"/>
                                            </p:txEl>
                                          </p:spTgt>
                                        </p:tgtEl>
                                        <p:attrNameLst>
                                          <p:attrName>style.visibility</p:attrName>
                                        </p:attrNameLst>
                                      </p:cBhvr>
                                      <p:to>
                                        <p:strVal val="visible"/>
                                      </p:to>
                                    </p:set>
                                    <p:animEffect transition="in" filter="blinds(horizontal)">
                                      <p:cBhvr>
                                        <p:cTn id="17" dur="500"/>
                                        <p:tgtEl>
                                          <p:spTgt spid="95235">
                                            <p:txEl>
                                              <p:char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5235">
                                            <p:txEl>
                                              <p:charRg st="103" end="105"/>
                                            </p:txEl>
                                          </p:spTgt>
                                        </p:tgtEl>
                                        <p:attrNameLst>
                                          <p:attrName>style.visibility</p:attrName>
                                        </p:attrNameLst>
                                      </p:cBhvr>
                                      <p:to>
                                        <p:strVal val="visible"/>
                                      </p:to>
                                    </p:set>
                                    <p:animEffect transition="in" filter="blinds(horizontal)">
                                      <p:cBhvr>
                                        <p:cTn id="22" dur="500"/>
                                        <p:tgtEl>
                                          <p:spTgt spid="95235">
                                            <p:txEl>
                                              <p:charRg st="103" end="10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0050" name="Group 1037"/>
          <p:cNvGrpSpPr/>
          <p:nvPr/>
        </p:nvGrpSpPr>
        <p:grpSpPr>
          <a:xfrm>
            <a:off x="3203575" y="2276475"/>
            <a:ext cx="6121400" cy="3744913"/>
            <a:chOff x="0" y="0"/>
            <a:chExt cx="2939" cy="2054"/>
          </a:xfrm>
        </p:grpSpPr>
        <p:pic>
          <p:nvPicPr>
            <p:cNvPr id="130053" name="Picture 1029" descr="2-50"/>
            <p:cNvPicPr>
              <a:picLocks noChangeAspect="1"/>
            </p:cNvPicPr>
            <p:nvPr/>
          </p:nvPicPr>
          <p:blipFill>
            <a:blip r:embed="rId1"/>
            <a:stretch>
              <a:fillRect/>
            </a:stretch>
          </p:blipFill>
          <p:spPr>
            <a:xfrm>
              <a:off x="0" y="0"/>
              <a:ext cx="2677" cy="2054"/>
            </a:xfrm>
            <a:prstGeom prst="rect">
              <a:avLst/>
            </a:prstGeom>
            <a:noFill/>
            <a:ln w="9525">
              <a:noFill/>
            </a:ln>
          </p:spPr>
        </p:pic>
        <p:sp>
          <p:nvSpPr>
            <p:cNvPr id="130054" name="Line 1030"/>
            <p:cNvSpPr/>
            <p:nvPr/>
          </p:nvSpPr>
          <p:spPr>
            <a:xfrm>
              <a:off x="2540" y="907"/>
              <a:ext cx="182" cy="0"/>
            </a:xfrm>
            <a:prstGeom prst="line">
              <a:avLst/>
            </a:prstGeom>
            <a:ln w="9525" cap="flat" cmpd="sng">
              <a:solidFill>
                <a:schemeClr val="tx1"/>
              </a:solidFill>
              <a:prstDash val="solid"/>
              <a:headEnd type="none" w="med" len="med"/>
              <a:tailEnd type="none" w="med" len="med"/>
            </a:ln>
          </p:spPr>
        </p:sp>
        <p:sp>
          <p:nvSpPr>
            <p:cNvPr id="130055" name="Text Box 1031"/>
            <p:cNvSpPr txBox="1"/>
            <p:nvPr/>
          </p:nvSpPr>
          <p:spPr>
            <a:xfrm>
              <a:off x="2662" y="662"/>
              <a:ext cx="196"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zh-CN" sz="1000" b="1" dirty="0"/>
                <a:t>上</a:t>
              </a:r>
              <a:endParaRPr lang="zh-CN" altLang="zh-CN" sz="1000" b="1" dirty="0"/>
            </a:p>
          </p:txBody>
        </p:sp>
        <p:sp>
          <p:nvSpPr>
            <p:cNvPr id="130056" name="Text Box 1032"/>
            <p:cNvSpPr txBox="1"/>
            <p:nvPr/>
          </p:nvSpPr>
          <p:spPr>
            <a:xfrm>
              <a:off x="2662" y="935"/>
              <a:ext cx="196"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zh-CN" sz="1000" b="1" dirty="0"/>
                <a:t>下</a:t>
              </a:r>
              <a:endParaRPr lang="zh-CN" altLang="zh-CN" sz="1000" b="1" dirty="0"/>
            </a:p>
          </p:txBody>
        </p:sp>
        <p:sp>
          <p:nvSpPr>
            <p:cNvPr id="130057" name="Line 1033"/>
            <p:cNvSpPr/>
            <p:nvPr/>
          </p:nvSpPr>
          <p:spPr>
            <a:xfrm>
              <a:off x="2676" y="726"/>
              <a:ext cx="0" cy="363"/>
            </a:xfrm>
            <a:prstGeom prst="line">
              <a:avLst/>
            </a:prstGeom>
            <a:ln w="9525" cap="flat" cmpd="sng">
              <a:solidFill>
                <a:schemeClr val="tx1"/>
              </a:solidFill>
              <a:prstDash val="solid"/>
              <a:headEnd type="triangle" w="med" len="med"/>
              <a:tailEnd type="triangle" w="med" len="med"/>
            </a:ln>
          </p:spPr>
        </p:sp>
        <p:sp>
          <p:nvSpPr>
            <p:cNvPr id="130058" name="Text Box 1036"/>
            <p:cNvSpPr txBox="1"/>
            <p:nvPr/>
          </p:nvSpPr>
          <p:spPr>
            <a:xfrm>
              <a:off x="2676" y="816"/>
              <a:ext cx="263" cy="15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000" b="1" dirty="0"/>
                <a:t>Ⅲ</a:t>
              </a:r>
              <a:endParaRPr lang="en-US" altLang="zh-CN" sz="1000" b="1" dirty="0"/>
            </a:p>
          </p:txBody>
        </p:sp>
      </p:grpSp>
      <p:sp>
        <p:nvSpPr>
          <p:cNvPr id="130051" name="Rectangle 1026"/>
          <p:cNvSpPr>
            <a:spLocks noGrp="1"/>
          </p:cNvSpPr>
          <p:nvPr>
            <p:ph type="title"/>
          </p:nvPr>
        </p:nvSpPr>
        <p:spPr/>
        <p:txBody>
          <a:bodyPr vert="horz" wrap="square" lIns="91440" tIns="45720" rIns="91440" bIns="45720" anchor="b" anchorCtr="0"/>
          <a:p>
            <a:pPr algn="ctr" eaLnBrk="1" hangingPunct="1"/>
            <a:r>
              <a:rPr lang="zh-CN" altLang="en-US" b="1" dirty="0">
                <a:solidFill>
                  <a:srgbClr val="A50021"/>
                </a:solidFill>
                <a:latin typeface="楷体_GB2312" pitchFamily="49" charset="-122"/>
                <a:ea typeface="楷体_GB2312" pitchFamily="49" charset="-122"/>
              </a:rPr>
              <a:t>支座的</a:t>
            </a:r>
            <a:r>
              <a:rPr lang="zh-CN" altLang="en-US" sz="4000" b="1" dirty="0">
                <a:ea typeface="楷体_GB2312" pitchFamily="49" charset="-122"/>
              </a:rPr>
              <a:t>综合分析举例</a:t>
            </a:r>
            <a:endParaRPr lang="zh-CN" altLang="en-US" sz="4000" b="1" dirty="0">
              <a:ea typeface="楷体_GB2312" pitchFamily="49" charset="-122"/>
            </a:endParaRPr>
          </a:p>
        </p:txBody>
      </p:sp>
      <p:sp>
        <p:nvSpPr>
          <p:cNvPr id="95235" name="Rectangle 1027"/>
          <p:cNvSpPr>
            <a:spLocks noGrp="1"/>
          </p:cNvSpPr>
          <p:nvPr>
            <p:ph type="body"/>
          </p:nvPr>
        </p:nvSpPr>
        <p:spPr>
          <a:xfrm>
            <a:off x="250825" y="1814513"/>
            <a:ext cx="2952750" cy="5027612"/>
          </a:xfrm>
        </p:spPr>
        <p:txBody>
          <a:bodyPr vert="horz" wrap="square" lIns="91440" tIns="45720" rIns="91440" bIns="45720" anchor="t" anchorCtr="0"/>
          <a:p>
            <a:pPr eaLnBrk="1" hangingPunct="1">
              <a:lnSpc>
                <a:spcPct val="80000"/>
              </a:lnSpc>
            </a:pPr>
            <a:r>
              <a:rPr lang="zh-CN" altLang="en-US" sz="2400" b="1" dirty="0">
                <a:solidFill>
                  <a:schemeClr val="tx1"/>
                </a:solidFill>
                <a:latin typeface="楷体_GB2312" pitchFamily="49" charset="-122"/>
                <a:ea typeface="楷体_GB2312" pitchFamily="49" charset="-122"/>
              </a:rPr>
              <a:t>（</a:t>
            </a:r>
            <a:r>
              <a:rPr lang="en-US" altLang="zh-CN" sz="2400" b="1" dirty="0">
                <a:solidFill>
                  <a:schemeClr val="tx1"/>
                </a:solidFill>
                <a:latin typeface="楷体_GB2312" pitchFamily="49" charset="-122"/>
                <a:ea typeface="楷体_GB2312" pitchFamily="49" charset="-122"/>
              </a:rPr>
              <a:t>2</a:t>
            </a:r>
            <a:r>
              <a:rPr lang="zh-CN" altLang="en-US" sz="2400" b="1" dirty="0">
                <a:solidFill>
                  <a:schemeClr val="tx1"/>
                </a:solidFill>
                <a:latin typeface="楷体_GB2312" pitchFamily="49" charset="-122"/>
                <a:ea typeface="楷体_GB2312" pitchFamily="49" charset="-122"/>
              </a:rPr>
              <a:t>）方案</a:t>
            </a:r>
            <a:r>
              <a:rPr lang="en-US" altLang="zh-CN" sz="2400" b="1" dirty="0">
                <a:solidFill>
                  <a:schemeClr val="tx1"/>
                </a:solidFill>
                <a:latin typeface="楷体_GB2312" pitchFamily="49" charset="-122"/>
                <a:ea typeface="楷体_GB2312" pitchFamily="49" charset="-122"/>
              </a:rPr>
              <a:t>Ⅱ</a:t>
            </a:r>
            <a:r>
              <a:rPr lang="zh-CN" altLang="en-US" sz="2400" b="1" dirty="0">
                <a:solidFill>
                  <a:schemeClr val="tx1"/>
                </a:solidFill>
                <a:latin typeface="楷体_GB2312" pitchFamily="49" charset="-122"/>
                <a:ea typeface="楷体_GB2312" pitchFamily="49" charset="-122"/>
              </a:rPr>
              <a:t>沿底面分型，铸件全部位于下箱，为铸出 </a:t>
            </a:r>
            <a:r>
              <a:rPr lang="en-US" altLang="zh-CN" sz="2400" b="1" dirty="0">
                <a:solidFill>
                  <a:schemeClr val="tx1"/>
                </a:solidFill>
                <a:latin typeface="楷体_GB2312" pitchFamily="49" charset="-122"/>
                <a:ea typeface="楷体_GB2312" pitchFamily="49" charset="-122"/>
              </a:rPr>
              <a:t>110mm</a:t>
            </a:r>
            <a:r>
              <a:rPr lang="zh-CN" altLang="en-US" sz="2400" b="1" dirty="0">
                <a:solidFill>
                  <a:schemeClr val="tx1"/>
                </a:solidFill>
                <a:latin typeface="楷体_GB2312" pitchFamily="49" charset="-122"/>
                <a:ea typeface="楷体_GB2312" pitchFamily="49" charset="-122"/>
              </a:rPr>
              <a:t>凹槽必须采用挖砂造型。</a:t>
            </a:r>
            <a:endParaRPr lang="zh-CN" altLang="en-US" sz="2400" b="1" dirty="0">
              <a:solidFill>
                <a:schemeClr val="tx1"/>
              </a:solidFill>
              <a:latin typeface="楷体_GB2312" pitchFamily="49" charset="-122"/>
              <a:ea typeface="楷体_GB2312" pitchFamily="49" charset="-122"/>
            </a:endParaRPr>
          </a:p>
          <a:p>
            <a:pPr eaLnBrk="1" hangingPunct="1">
              <a:lnSpc>
                <a:spcPct val="80000"/>
              </a:lnSpc>
            </a:pPr>
            <a:r>
              <a:rPr lang="zh-CN" altLang="en-US" sz="2400" b="1" dirty="0">
                <a:solidFill>
                  <a:schemeClr val="tx1"/>
                </a:solidFill>
                <a:latin typeface="楷体_GB2312" pitchFamily="49" charset="-122"/>
                <a:ea typeface="楷体_GB2312" pitchFamily="49" charset="-122"/>
              </a:rPr>
              <a:t>方案</a:t>
            </a:r>
            <a:r>
              <a:rPr lang="en-US" altLang="zh-CN" sz="2400" b="1" dirty="0">
                <a:solidFill>
                  <a:schemeClr val="tx1"/>
                </a:solidFill>
                <a:latin typeface="楷体_GB2312" pitchFamily="49" charset="-122"/>
                <a:ea typeface="楷体_GB2312" pitchFamily="49" charset="-122"/>
              </a:rPr>
              <a:t>Ⅱ</a:t>
            </a:r>
            <a:r>
              <a:rPr lang="zh-CN" altLang="en-US" sz="2400" b="1" dirty="0">
                <a:solidFill>
                  <a:schemeClr val="tx1"/>
                </a:solidFill>
                <a:latin typeface="楷体_GB2312" pitchFamily="49" charset="-122"/>
                <a:ea typeface="楷体_GB2312" pitchFamily="49" charset="-122"/>
              </a:rPr>
              <a:t>克服了方案</a:t>
            </a:r>
            <a:r>
              <a:rPr lang="en-US" altLang="zh-CN" sz="2400" b="1" dirty="0">
                <a:solidFill>
                  <a:schemeClr val="tx1"/>
                </a:solidFill>
                <a:latin typeface="楷体_GB2312" pitchFamily="49" charset="-122"/>
                <a:ea typeface="楷体_GB2312" pitchFamily="49" charset="-122"/>
              </a:rPr>
              <a:t>Ⅰ</a:t>
            </a:r>
            <a:r>
              <a:rPr lang="zh-CN" altLang="en-US" sz="2400" b="1" dirty="0">
                <a:solidFill>
                  <a:schemeClr val="tx1"/>
                </a:solidFill>
                <a:latin typeface="楷体_GB2312" pitchFamily="49" charset="-122"/>
                <a:ea typeface="楷体_GB2312" pitchFamily="49" charset="-122"/>
              </a:rPr>
              <a:t>的缺点，但轴孔内凸台妨碍起模，必须采用两个活块或下型芯。当采用活块造型时，</a:t>
            </a:r>
            <a:r>
              <a:rPr lang="en-US" altLang="zh-CN" sz="2400" b="1" dirty="0">
                <a:solidFill>
                  <a:schemeClr val="tx1"/>
                </a:solidFill>
                <a:latin typeface="GreekC" pitchFamily="2" charset="0"/>
                <a:ea typeface="楷体_GB2312" pitchFamily="49" charset="-122"/>
              </a:rPr>
              <a:t>φ</a:t>
            </a:r>
            <a:r>
              <a:rPr lang="en-US" altLang="zh-CN" sz="2400" b="1" dirty="0">
                <a:solidFill>
                  <a:schemeClr val="tx1"/>
                </a:solidFill>
                <a:latin typeface="楷体_GB2312" pitchFamily="49" charset="-122"/>
                <a:ea typeface="楷体_GB2312" pitchFamily="49" charset="-122"/>
              </a:rPr>
              <a:t>30mm</a:t>
            </a:r>
            <a:r>
              <a:rPr lang="zh-CN" altLang="en-US" sz="2400" b="1" dirty="0">
                <a:solidFill>
                  <a:schemeClr val="tx1"/>
                </a:solidFill>
                <a:latin typeface="楷体_GB2312" pitchFamily="49" charset="-122"/>
                <a:ea typeface="楷体_GB2312" pitchFamily="49" charset="-122"/>
              </a:rPr>
              <a:t>轴孔难以下芯。</a:t>
            </a:r>
            <a:endParaRPr lang="zh-CN" altLang="en-US" sz="2400" b="1" dirty="0">
              <a:solidFill>
                <a:schemeClr val="tx1"/>
              </a:solidFill>
              <a:latin typeface="楷体_GB2312" pitchFamily="49" charset="-122"/>
              <a:ea typeface="楷体_GB2312" pitchFamily="49" charset="-122"/>
            </a:endParaRPr>
          </a:p>
          <a:p>
            <a:pPr eaLnBrk="1" hangingPunct="1">
              <a:lnSpc>
                <a:spcPct val="80000"/>
              </a:lnSpc>
              <a:buNone/>
            </a:pPr>
            <a:r>
              <a:rPr lang="zh-CN" altLang="en-US" sz="2400" b="1" dirty="0">
                <a:solidFill>
                  <a:schemeClr val="tx1"/>
                </a:solidFill>
                <a:latin typeface="楷体_GB2312" pitchFamily="49" charset="-122"/>
                <a:ea typeface="楷体_GB2312" pitchFamily="49" charset="-122"/>
              </a:rPr>
              <a:t> </a:t>
            </a:r>
            <a:endParaRPr lang="zh-CN" altLang="en-US" sz="2400" b="1" dirty="0">
              <a:solidFill>
                <a:schemeClr val="tx1"/>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5235">
                                            <p:txEl>
                                              <p:charRg st="0" end="100"/>
                                            </p:txEl>
                                          </p:spTgt>
                                        </p:tgtEl>
                                        <p:attrNameLst>
                                          <p:attrName>style.visibility</p:attrName>
                                        </p:attrNameLst>
                                      </p:cBhvr>
                                      <p:to>
                                        <p:strVal val="visible"/>
                                      </p:to>
                                    </p:set>
                                    <p:animEffect transition="in" filter="blinds(horizontal)">
                                      <p:cBhvr>
                                        <p:cTn id="7" dur="500"/>
                                        <p:tgtEl>
                                          <p:spTgt spid="95235">
                                            <p:txEl>
                                              <p:charRg st="0" end="10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5235">
                                            <p:txEl>
                                              <p:charRg st="1" end="1"/>
                                            </p:txEl>
                                          </p:spTgt>
                                        </p:tgtEl>
                                        <p:attrNameLst>
                                          <p:attrName>style.visibility</p:attrName>
                                        </p:attrNameLst>
                                      </p:cBhvr>
                                      <p:to>
                                        <p:strVal val="visible"/>
                                      </p:to>
                                    </p:set>
                                    <p:animEffect transition="in" filter="blinds(horizontal)">
                                      <p:cBhvr>
                                        <p:cTn id="12" dur="500"/>
                                        <p:tgtEl>
                                          <p:spTgt spid="95235">
                                            <p:txEl>
                                              <p:char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5235">
                                            <p:txEl>
                                              <p:charRg st="100" end="102"/>
                                            </p:txEl>
                                          </p:spTgt>
                                        </p:tgtEl>
                                        <p:attrNameLst>
                                          <p:attrName>style.visibility</p:attrName>
                                        </p:attrNameLst>
                                      </p:cBhvr>
                                      <p:to>
                                        <p:strVal val="visible"/>
                                      </p:to>
                                    </p:set>
                                    <p:animEffect transition="in" filter="blinds(horizontal)">
                                      <p:cBhvr>
                                        <p:cTn id="17" dur="500"/>
                                        <p:tgtEl>
                                          <p:spTgt spid="95235">
                                            <p:txEl>
                                              <p:charRg st="100" end="1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1026"/>
          <p:cNvSpPr>
            <a:spLocks noGrp="1"/>
          </p:cNvSpPr>
          <p:nvPr>
            <p:ph type="title"/>
          </p:nvPr>
        </p:nvSpPr>
        <p:spPr/>
        <p:txBody>
          <a:bodyPr vert="horz" wrap="square" lIns="91440" tIns="45720" rIns="91440" bIns="45720" anchor="b" anchorCtr="0"/>
          <a:p>
            <a:pPr algn="ctr" eaLnBrk="1" hangingPunct="1"/>
            <a:r>
              <a:rPr lang="zh-CN" altLang="en-US" b="1" dirty="0">
                <a:solidFill>
                  <a:srgbClr val="A50021"/>
                </a:solidFill>
                <a:latin typeface="楷体_GB2312" pitchFamily="49" charset="-122"/>
                <a:ea typeface="楷体_GB2312" pitchFamily="49" charset="-122"/>
              </a:rPr>
              <a:t>支座的</a:t>
            </a:r>
            <a:r>
              <a:rPr lang="zh-CN" altLang="en-US" sz="4000" b="1" dirty="0">
                <a:ea typeface="楷体_GB2312" pitchFamily="49" charset="-122"/>
              </a:rPr>
              <a:t>综合分析举例</a:t>
            </a:r>
            <a:endParaRPr lang="zh-CN" altLang="en-US" sz="4000" b="1" dirty="0">
              <a:ea typeface="楷体_GB2312" pitchFamily="49" charset="-122"/>
            </a:endParaRPr>
          </a:p>
        </p:txBody>
      </p:sp>
      <p:sp>
        <p:nvSpPr>
          <p:cNvPr id="95235" name="Rectangle 1027"/>
          <p:cNvSpPr>
            <a:spLocks noGrp="1"/>
          </p:cNvSpPr>
          <p:nvPr>
            <p:ph type="body"/>
          </p:nvPr>
        </p:nvSpPr>
        <p:spPr>
          <a:xfrm>
            <a:off x="84138" y="2262188"/>
            <a:ext cx="2720975" cy="5027612"/>
          </a:xfrm>
        </p:spPr>
        <p:txBody>
          <a:bodyPr vert="horz" wrap="square" lIns="91440" tIns="45720" rIns="91440" bIns="45720" anchor="t" anchorCtr="0"/>
          <a:p>
            <a:pPr eaLnBrk="1" hangingPunct="1">
              <a:lnSpc>
                <a:spcPct val="80000"/>
              </a:lnSpc>
            </a:pPr>
            <a:r>
              <a:rPr lang="zh-CN" altLang="en-US" sz="2400" b="1" dirty="0">
                <a:solidFill>
                  <a:schemeClr val="tx1"/>
                </a:solidFill>
                <a:latin typeface="楷体_GB2312" pitchFamily="49" charset="-122"/>
                <a:ea typeface="楷体_GB2312" pitchFamily="49" charset="-122"/>
              </a:rPr>
              <a:t>（</a:t>
            </a:r>
            <a:r>
              <a:rPr lang="en-US" altLang="zh-CN" sz="2400" b="1" dirty="0">
                <a:solidFill>
                  <a:schemeClr val="tx1"/>
                </a:solidFill>
                <a:latin typeface="楷体_GB2312" pitchFamily="49" charset="-122"/>
                <a:ea typeface="楷体_GB2312" pitchFamily="49" charset="-122"/>
              </a:rPr>
              <a:t>3</a:t>
            </a:r>
            <a:r>
              <a:rPr lang="zh-CN" altLang="en-US" sz="2400" b="1" dirty="0">
                <a:solidFill>
                  <a:schemeClr val="tx1"/>
                </a:solidFill>
                <a:latin typeface="楷体_GB2312" pitchFamily="49" charset="-122"/>
                <a:ea typeface="楷体_GB2312" pitchFamily="49" charset="-122"/>
              </a:rPr>
              <a:t>）方案</a:t>
            </a:r>
            <a:r>
              <a:rPr lang="en-US" altLang="zh-CN" sz="2400" b="1" dirty="0">
                <a:solidFill>
                  <a:schemeClr val="tx1"/>
                </a:solidFill>
                <a:latin typeface="楷体_GB2312" pitchFamily="49" charset="-122"/>
                <a:ea typeface="楷体_GB2312" pitchFamily="49" charset="-122"/>
              </a:rPr>
              <a:t>Ⅲ</a:t>
            </a:r>
            <a:r>
              <a:rPr lang="zh-CN" altLang="en-US" sz="2400" b="1" dirty="0">
                <a:solidFill>
                  <a:schemeClr val="tx1"/>
                </a:solidFill>
                <a:latin typeface="楷体_GB2312" pitchFamily="49" charset="-122"/>
                <a:ea typeface="楷体_GB2312" pitchFamily="49" charset="-122"/>
              </a:rPr>
              <a:t>沿</a:t>
            </a:r>
            <a:r>
              <a:rPr lang="en-US" altLang="zh-CN" sz="2400" b="1" dirty="0">
                <a:solidFill>
                  <a:schemeClr val="tx1"/>
                </a:solidFill>
                <a:latin typeface="楷体_GB2312" pitchFamily="49" charset="-122"/>
                <a:ea typeface="楷体_GB2312" pitchFamily="49" charset="-122"/>
              </a:rPr>
              <a:t>110mm</a:t>
            </a:r>
            <a:r>
              <a:rPr lang="zh-CN" altLang="en-US" sz="2400" b="1" dirty="0">
                <a:solidFill>
                  <a:schemeClr val="tx1"/>
                </a:solidFill>
                <a:latin typeface="楷体_GB2312" pitchFamily="49" charset="-122"/>
                <a:ea typeface="楷体_GB2312" pitchFamily="49" charset="-122"/>
              </a:rPr>
              <a:t>凹槽底面分型。</a:t>
            </a:r>
            <a:endParaRPr lang="zh-CN" altLang="en-US" sz="2400" b="1" dirty="0">
              <a:solidFill>
                <a:schemeClr val="tx1"/>
              </a:solidFill>
              <a:latin typeface="楷体_GB2312" pitchFamily="49" charset="-122"/>
              <a:ea typeface="楷体_GB2312" pitchFamily="49" charset="-122"/>
            </a:endParaRPr>
          </a:p>
          <a:p>
            <a:pPr eaLnBrk="1" hangingPunct="1">
              <a:lnSpc>
                <a:spcPct val="80000"/>
              </a:lnSpc>
            </a:pPr>
            <a:r>
              <a:rPr lang="zh-CN" altLang="en-US" sz="2400" b="1" dirty="0">
                <a:solidFill>
                  <a:schemeClr val="tx1"/>
                </a:solidFill>
                <a:latin typeface="楷体_GB2312" pitchFamily="49" charset="-122"/>
                <a:ea typeface="楷体_GB2312" pitchFamily="49" charset="-122"/>
              </a:rPr>
              <a:t>其优缺点与方案</a:t>
            </a:r>
            <a:r>
              <a:rPr lang="en-US" altLang="zh-CN" sz="2400" b="1" dirty="0">
                <a:solidFill>
                  <a:schemeClr val="tx1"/>
                </a:solidFill>
                <a:latin typeface="楷体_GB2312" pitchFamily="49" charset="-122"/>
                <a:ea typeface="楷体_GB2312" pitchFamily="49" charset="-122"/>
              </a:rPr>
              <a:t>Ⅱ</a:t>
            </a:r>
            <a:r>
              <a:rPr lang="zh-CN" altLang="en-US" sz="2400" b="1" dirty="0">
                <a:solidFill>
                  <a:schemeClr val="tx1"/>
                </a:solidFill>
                <a:latin typeface="楷体_GB2312" pitchFamily="49" charset="-122"/>
                <a:ea typeface="楷体_GB2312" pitchFamily="49" charset="-122"/>
              </a:rPr>
              <a:t>类同，仅是将挖砂造型改用分开模造型或假箱造型，以适应不同的生产条件。</a:t>
            </a:r>
            <a:endParaRPr lang="zh-CN" altLang="en-US" sz="2400" b="1" dirty="0">
              <a:solidFill>
                <a:schemeClr val="tx1"/>
              </a:solidFill>
              <a:latin typeface="楷体_GB2312" pitchFamily="49" charset="-122"/>
              <a:ea typeface="楷体_GB2312" pitchFamily="49" charset="-122"/>
            </a:endParaRPr>
          </a:p>
        </p:txBody>
      </p:sp>
      <p:grpSp>
        <p:nvGrpSpPr>
          <p:cNvPr id="131076" name="Group 1037"/>
          <p:cNvGrpSpPr/>
          <p:nvPr/>
        </p:nvGrpSpPr>
        <p:grpSpPr>
          <a:xfrm>
            <a:off x="2805113" y="2133600"/>
            <a:ext cx="6375400" cy="4032250"/>
            <a:chOff x="0" y="0"/>
            <a:chExt cx="2939" cy="2054"/>
          </a:xfrm>
        </p:grpSpPr>
        <p:pic>
          <p:nvPicPr>
            <p:cNvPr id="131077" name="Picture 1029" descr="2-50"/>
            <p:cNvPicPr>
              <a:picLocks noChangeAspect="1"/>
            </p:cNvPicPr>
            <p:nvPr/>
          </p:nvPicPr>
          <p:blipFill>
            <a:blip r:embed="rId1"/>
            <a:stretch>
              <a:fillRect/>
            </a:stretch>
          </p:blipFill>
          <p:spPr>
            <a:xfrm>
              <a:off x="0" y="0"/>
              <a:ext cx="2677" cy="2054"/>
            </a:xfrm>
            <a:prstGeom prst="rect">
              <a:avLst/>
            </a:prstGeom>
            <a:noFill/>
            <a:ln w="9525">
              <a:noFill/>
            </a:ln>
          </p:spPr>
        </p:pic>
        <p:sp>
          <p:nvSpPr>
            <p:cNvPr id="131078" name="Line 1030"/>
            <p:cNvSpPr/>
            <p:nvPr/>
          </p:nvSpPr>
          <p:spPr>
            <a:xfrm>
              <a:off x="2540" y="907"/>
              <a:ext cx="182" cy="0"/>
            </a:xfrm>
            <a:prstGeom prst="line">
              <a:avLst/>
            </a:prstGeom>
            <a:ln w="9525" cap="flat" cmpd="sng">
              <a:solidFill>
                <a:schemeClr val="tx1"/>
              </a:solidFill>
              <a:prstDash val="solid"/>
              <a:headEnd type="none" w="med" len="med"/>
              <a:tailEnd type="none" w="med" len="med"/>
            </a:ln>
          </p:spPr>
        </p:sp>
        <p:sp>
          <p:nvSpPr>
            <p:cNvPr id="131079" name="Text Box 1031"/>
            <p:cNvSpPr txBox="1"/>
            <p:nvPr/>
          </p:nvSpPr>
          <p:spPr>
            <a:xfrm>
              <a:off x="2662" y="662"/>
              <a:ext cx="196"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zh-CN" sz="1000" b="1" dirty="0"/>
                <a:t>上</a:t>
              </a:r>
              <a:endParaRPr lang="zh-CN" altLang="zh-CN" sz="1000" b="1" dirty="0"/>
            </a:p>
          </p:txBody>
        </p:sp>
        <p:sp>
          <p:nvSpPr>
            <p:cNvPr id="131080" name="Text Box 1032"/>
            <p:cNvSpPr txBox="1"/>
            <p:nvPr/>
          </p:nvSpPr>
          <p:spPr>
            <a:xfrm>
              <a:off x="2662" y="935"/>
              <a:ext cx="196" cy="15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zh-CN" sz="1000" b="1" dirty="0"/>
                <a:t>下</a:t>
              </a:r>
              <a:endParaRPr lang="zh-CN" altLang="zh-CN" sz="1000" b="1" dirty="0"/>
            </a:p>
          </p:txBody>
        </p:sp>
        <p:sp>
          <p:nvSpPr>
            <p:cNvPr id="131081" name="Line 1033"/>
            <p:cNvSpPr/>
            <p:nvPr/>
          </p:nvSpPr>
          <p:spPr>
            <a:xfrm>
              <a:off x="2676" y="726"/>
              <a:ext cx="0" cy="363"/>
            </a:xfrm>
            <a:prstGeom prst="line">
              <a:avLst/>
            </a:prstGeom>
            <a:ln w="9525" cap="flat" cmpd="sng">
              <a:solidFill>
                <a:schemeClr val="tx1"/>
              </a:solidFill>
              <a:prstDash val="solid"/>
              <a:headEnd type="triangle" w="med" len="med"/>
              <a:tailEnd type="triangle" w="med" len="med"/>
            </a:ln>
          </p:spPr>
        </p:sp>
        <p:sp>
          <p:nvSpPr>
            <p:cNvPr id="131082" name="Text Box 1036"/>
            <p:cNvSpPr txBox="1"/>
            <p:nvPr/>
          </p:nvSpPr>
          <p:spPr>
            <a:xfrm>
              <a:off x="2676" y="816"/>
              <a:ext cx="263" cy="15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000" b="1" dirty="0"/>
                <a:t>Ⅲ</a:t>
              </a:r>
              <a:endParaRPr lang="en-US" altLang="zh-CN" sz="10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5235">
                                            <p:txEl>
                                              <p:charRg st="0" end="62"/>
                                            </p:txEl>
                                          </p:spTgt>
                                        </p:tgtEl>
                                        <p:attrNameLst>
                                          <p:attrName>style.visibility</p:attrName>
                                        </p:attrNameLst>
                                      </p:cBhvr>
                                      <p:to>
                                        <p:strVal val="visible"/>
                                      </p:to>
                                    </p:set>
                                    <p:animEffect transition="in" filter="blinds(horizontal)">
                                      <p:cBhvr>
                                        <p:cTn id="7" dur="500"/>
                                        <p:tgtEl>
                                          <p:spTgt spid="95235">
                                            <p:txEl>
                                              <p:charRg st="0" end="6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5235">
                                            <p:txEl>
                                              <p:charRg st="1" end="1"/>
                                            </p:txEl>
                                          </p:spTgt>
                                        </p:tgtEl>
                                        <p:attrNameLst>
                                          <p:attrName>style.visibility</p:attrName>
                                        </p:attrNameLst>
                                      </p:cBhvr>
                                      <p:to>
                                        <p:strVal val="visible"/>
                                      </p:to>
                                    </p:set>
                                    <p:animEffect transition="in" filter="blinds(horizontal)">
                                      <p:cBhvr>
                                        <p:cTn id="12" dur="500"/>
                                        <p:tgtEl>
                                          <p:spTgt spid="95235">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a:spLocks noGrp="1"/>
          </p:cNvSpPr>
          <p:nvPr>
            <p:ph type="title"/>
          </p:nvPr>
        </p:nvSpPr>
        <p:spPr/>
        <p:txBody>
          <a:bodyPr vert="horz" wrap="square" lIns="91440" tIns="45720" rIns="91440" bIns="45720" anchor="b" anchorCtr="0"/>
          <a:p>
            <a:pPr algn="ctr" eaLnBrk="1" hangingPunct="1"/>
            <a:r>
              <a:rPr lang="zh-CN" altLang="en-US" b="1" dirty="0">
                <a:solidFill>
                  <a:srgbClr val="A50021"/>
                </a:solidFill>
                <a:latin typeface="楷体_GB2312" pitchFamily="49" charset="-122"/>
                <a:ea typeface="楷体_GB2312" pitchFamily="49" charset="-122"/>
              </a:rPr>
              <a:t>支座的</a:t>
            </a:r>
            <a:r>
              <a:rPr lang="zh-CN" altLang="en-US" sz="4000" b="1" dirty="0">
                <a:ea typeface="楷体_GB2312" pitchFamily="49" charset="-122"/>
              </a:rPr>
              <a:t>综合分析举例</a:t>
            </a:r>
            <a:endParaRPr lang="zh-CN" altLang="en-US" sz="4000" b="1" dirty="0">
              <a:ea typeface="楷体_GB2312" pitchFamily="49" charset="-122"/>
            </a:endParaRPr>
          </a:p>
        </p:txBody>
      </p:sp>
      <p:sp>
        <p:nvSpPr>
          <p:cNvPr id="132099" name="Rectangle 3"/>
          <p:cNvSpPr>
            <a:spLocks noGrp="1"/>
          </p:cNvSpPr>
          <p:nvPr>
            <p:ph type="body"/>
          </p:nvPr>
        </p:nvSpPr>
        <p:spPr>
          <a:xfrm>
            <a:off x="-177800" y="1554163"/>
            <a:ext cx="9213850" cy="2667000"/>
          </a:xfrm>
        </p:spPr>
        <p:txBody>
          <a:bodyPr vert="horz" wrap="square" lIns="91440" tIns="45720" rIns="91440" bIns="45720" anchor="t" anchorCtr="0"/>
          <a:p>
            <a:pPr eaLnBrk="1" hangingPunct="1">
              <a:buNone/>
            </a:pPr>
            <a:r>
              <a:rPr lang="zh-CN" altLang="en-US" sz="2000" b="1" dirty="0">
                <a:latin typeface="楷体_GB2312" pitchFamily="49" charset="-122"/>
                <a:ea typeface="楷体_GB2312" pitchFamily="49" charset="-122"/>
              </a:rPr>
              <a:t>        方案</a:t>
            </a:r>
            <a:r>
              <a:rPr lang="en-US" altLang="zh-CN" sz="2000" b="1" dirty="0">
                <a:latin typeface="楷体_GB2312" pitchFamily="49" charset="-122"/>
                <a:ea typeface="楷体_GB2312" pitchFamily="49" charset="-122"/>
              </a:rPr>
              <a:t>Ⅱ</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Ⅲ</a:t>
            </a:r>
            <a:r>
              <a:rPr lang="zh-CN" altLang="en-US" sz="2000" b="1" dirty="0">
                <a:latin typeface="楷体_GB2312" pitchFamily="49" charset="-122"/>
                <a:ea typeface="楷体_GB2312" pitchFamily="49" charset="-122"/>
              </a:rPr>
              <a:t>的优点多于方案</a:t>
            </a:r>
            <a:r>
              <a:rPr lang="en-US" altLang="zh-CN" sz="2000" b="1" dirty="0">
                <a:latin typeface="楷体_GB2312" pitchFamily="49" charset="-122"/>
                <a:ea typeface="楷体_GB2312" pitchFamily="49" charset="-122"/>
              </a:rPr>
              <a:t>Ⅰ</a:t>
            </a:r>
            <a:r>
              <a:rPr lang="zh-CN" altLang="en-US" sz="2000" b="1" dirty="0">
                <a:latin typeface="楷体_GB2312" pitchFamily="49" charset="-122"/>
                <a:ea typeface="楷体_GB2312" pitchFamily="49" charset="-122"/>
              </a:rPr>
              <a:t>。不同生产批量下，具体方案可选择如下；</a:t>
            </a:r>
            <a:endParaRPr lang="zh-CN" altLang="en-US" sz="2000" b="1" dirty="0">
              <a:latin typeface="楷体_GB2312" pitchFamily="49" charset="-122"/>
              <a:ea typeface="楷体_GB2312" pitchFamily="49" charset="-122"/>
            </a:endParaRPr>
          </a:p>
          <a:p>
            <a:pPr lvl="2" eaLnBrk="1" hangingPunct="1">
              <a:buNone/>
            </a:pPr>
            <a:r>
              <a:rPr lang="zh-CN" altLang="en-US" sz="2000" b="1" dirty="0">
                <a:solidFill>
                  <a:srgbClr val="FF0066"/>
                </a:solidFill>
                <a:latin typeface="楷体_GB2312" pitchFamily="49" charset="-122"/>
                <a:ea typeface="楷体_GB2312" pitchFamily="49" charset="-122"/>
              </a:rPr>
              <a:t>（</a:t>
            </a:r>
            <a:r>
              <a:rPr lang="en-US" altLang="zh-CN" sz="2000" b="1" dirty="0">
                <a:solidFill>
                  <a:srgbClr val="FF0066"/>
                </a:solidFill>
                <a:latin typeface="楷体_GB2312" pitchFamily="49" charset="-122"/>
                <a:ea typeface="楷体_GB2312" pitchFamily="49" charset="-122"/>
              </a:rPr>
              <a:t>1</a:t>
            </a:r>
            <a:r>
              <a:rPr lang="zh-CN" altLang="en-US" sz="2000" b="1" dirty="0">
                <a:solidFill>
                  <a:srgbClr val="FF0066"/>
                </a:solidFill>
                <a:latin typeface="楷体_GB2312" pitchFamily="49" charset="-122"/>
                <a:ea typeface="楷体_GB2312" pitchFamily="49" charset="-122"/>
              </a:rPr>
              <a:t>）单件、小批生产</a:t>
            </a:r>
            <a:r>
              <a:rPr lang="zh-CN" altLang="en-US" sz="2000" b="1" dirty="0">
                <a:latin typeface="楷体_GB2312" pitchFamily="49" charset="-122"/>
                <a:ea typeface="楷体_GB2312" pitchFamily="49" charset="-122"/>
              </a:rPr>
              <a:t> 由于轴孔直径较小、勿需铸出 </a:t>
            </a:r>
            <a:r>
              <a:rPr lang="zh-CN" altLang="en-US" sz="2000" b="1" dirty="0">
                <a:solidFill>
                  <a:srgbClr val="FF0000"/>
                </a:solidFill>
                <a:latin typeface="楷体_GB2312" pitchFamily="49" charset="-122"/>
                <a:ea typeface="楷体_GB2312" pitchFamily="49" charset="-122"/>
              </a:rPr>
              <a:t>而手工造型便于进行挖砂和活块造型，</a:t>
            </a:r>
            <a:r>
              <a:rPr lang="zh-CN" altLang="en-US" sz="2000" b="1" dirty="0">
                <a:latin typeface="楷体_GB2312" pitchFamily="49" charset="-122"/>
                <a:ea typeface="楷体_GB2312" pitchFamily="49" charset="-122"/>
              </a:rPr>
              <a:t>此时依靠方案</a:t>
            </a:r>
            <a:r>
              <a:rPr lang="en-US" altLang="zh-CN" sz="2000" b="1" dirty="0">
                <a:latin typeface="楷体_GB2312" pitchFamily="49" charset="-122"/>
                <a:ea typeface="楷体_GB2312" pitchFamily="49" charset="-122"/>
              </a:rPr>
              <a:t>Ⅱ</a:t>
            </a:r>
            <a:r>
              <a:rPr lang="zh-CN" altLang="en-US" sz="2000" b="1" dirty="0">
                <a:latin typeface="楷体_GB2312" pitchFamily="49" charset="-122"/>
                <a:ea typeface="楷体_GB2312" pitchFamily="49" charset="-122"/>
              </a:rPr>
              <a:t>分型较为经济合理。</a:t>
            </a:r>
            <a:endParaRPr lang="zh-CN" altLang="en-US" sz="2000" b="1" dirty="0">
              <a:latin typeface="楷体_GB2312" pitchFamily="49" charset="-122"/>
              <a:ea typeface="楷体_GB2312" pitchFamily="49" charset="-122"/>
            </a:endParaRPr>
          </a:p>
          <a:p>
            <a:pPr lvl="2" eaLnBrk="1" hangingPunct="1">
              <a:buNone/>
            </a:pPr>
            <a:r>
              <a:rPr lang="zh-CN" altLang="en-US" sz="2000" b="1" dirty="0">
                <a:solidFill>
                  <a:srgbClr val="FF0066"/>
                </a:solidFill>
                <a:latin typeface="楷体_GB2312" pitchFamily="49" charset="-122"/>
                <a:ea typeface="楷体_GB2312" pitchFamily="49" charset="-122"/>
              </a:rPr>
              <a:t>（</a:t>
            </a:r>
            <a:r>
              <a:rPr lang="en-US" altLang="zh-CN" sz="2000" b="1" dirty="0">
                <a:solidFill>
                  <a:srgbClr val="FF0066"/>
                </a:solidFill>
                <a:latin typeface="楷体_GB2312" pitchFamily="49" charset="-122"/>
                <a:ea typeface="楷体_GB2312" pitchFamily="49" charset="-122"/>
              </a:rPr>
              <a:t>2</a:t>
            </a:r>
            <a:r>
              <a:rPr lang="zh-CN" altLang="en-US" sz="2000" b="1" dirty="0">
                <a:solidFill>
                  <a:srgbClr val="FF0066"/>
                </a:solidFill>
                <a:latin typeface="楷体_GB2312" pitchFamily="49" charset="-122"/>
                <a:ea typeface="楷体_GB2312" pitchFamily="49" charset="-122"/>
              </a:rPr>
              <a:t>）大批量生产</a:t>
            </a:r>
            <a:r>
              <a:rPr lang="zh-CN" altLang="en-US" sz="2000" b="1" dirty="0">
                <a:latin typeface="楷体_GB2312" pitchFamily="49" charset="-122"/>
                <a:ea typeface="楷体_GB2312" pitchFamily="49" charset="-122"/>
              </a:rPr>
              <a:t> 由于机器造型难以使用活块，故应</a:t>
            </a:r>
            <a:r>
              <a:rPr lang="zh-CN" altLang="en-US" sz="2000" b="1" dirty="0">
                <a:solidFill>
                  <a:srgbClr val="FF0000"/>
                </a:solidFill>
                <a:latin typeface="楷体_GB2312" pitchFamily="49" charset="-122"/>
                <a:ea typeface="楷体_GB2312" pitchFamily="49" charset="-122"/>
              </a:rPr>
              <a:t>采用型芯制出轴孔内凸台。</a:t>
            </a:r>
            <a:r>
              <a:rPr lang="zh-CN" altLang="en-US" sz="2000" b="1" dirty="0">
                <a:latin typeface="楷体_GB2312" pitchFamily="49" charset="-122"/>
                <a:ea typeface="楷体_GB2312" pitchFamily="49" charset="-122"/>
              </a:rPr>
              <a:t>同时。应采用方案</a:t>
            </a:r>
            <a:r>
              <a:rPr lang="en-US" altLang="zh-CN" sz="2000" b="1" dirty="0">
                <a:latin typeface="楷体_GB2312" pitchFamily="49" charset="-122"/>
                <a:ea typeface="楷体_GB2312" pitchFamily="49" charset="-122"/>
              </a:rPr>
              <a:t>Ⅲ</a:t>
            </a:r>
            <a:r>
              <a:rPr lang="zh-CN" altLang="en-US" sz="2000" b="1" dirty="0">
                <a:latin typeface="楷体_GB2312" pitchFamily="49" charset="-122"/>
                <a:ea typeface="楷体_GB2312" pitchFamily="49" charset="-122"/>
              </a:rPr>
              <a:t>从</a:t>
            </a:r>
            <a:r>
              <a:rPr lang="en-US" altLang="zh-CN" sz="2000" b="1" dirty="0">
                <a:latin typeface="楷体_GB2312" pitchFamily="49" charset="-122"/>
                <a:ea typeface="楷体_GB2312" pitchFamily="49" charset="-122"/>
              </a:rPr>
              <a:t>110mm</a:t>
            </a:r>
            <a:r>
              <a:rPr lang="zh-CN" altLang="en-US" sz="2000" b="1" dirty="0">
                <a:latin typeface="楷体_GB2312" pitchFamily="49" charset="-122"/>
                <a:ea typeface="楷体_GB2312" pitchFamily="49" charset="-122"/>
              </a:rPr>
              <a:t>凹槽底面分型，以降低模板制造费用。如图</a:t>
            </a:r>
            <a:r>
              <a:rPr lang="zh-CN" altLang="en-US" sz="2000" b="1" dirty="0">
                <a:solidFill>
                  <a:srgbClr val="0000FF"/>
                </a:solidFill>
                <a:latin typeface="楷体_GB2312" pitchFamily="49" charset="-122"/>
                <a:ea typeface="楷体_GB2312" pitchFamily="49" charset="-122"/>
              </a:rPr>
              <a:t>方型芯的宽度大于底板，</a:t>
            </a:r>
            <a:r>
              <a:rPr lang="zh-CN" altLang="en-US" sz="2000" b="1" dirty="0">
                <a:latin typeface="楷体_GB2312" pitchFamily="49" charset="-122"/>
                <a:ea typeface="楷体_GB2312" pitchFamily="49" charset="-122"/>
              </a:rPr>
              <a:t>以便使上箱压住该型芯，防止浇注时上浮。</a:t>
            </a:r>
            <a:r>
              <a:rPr lang="zh-CN" altLang="en-US" sz="2000" b="1" dirty="0">
                <a:solidFill>
                  <a:srgbClr val="990033"/>
                </a:solidFill>
                <a:latin typeface="楷体_GB2312" pitchFamily="49" charset="-122"/>
                <a:ea typeface="楷体_GB2312" pitchFamily="49" charset="-122"/>
              </a:rPr>
              <a:t>若轴孔需要铸出，采用组合型芯即可实现。</a:t>
            </a:r>
            <a:r>
              <a:rPr lang="zh-CN" altLang="en-US" sz="2000" b="1" dirty="0">
                <a:latin typeface="宋体" panose="02010600030101010101" pitchFamily="2" charset="-122"/>
              </a:rPr>
              <a:t> </a:t>
            </a:r>
            <a:endParaRPr lang="zh-CN" altLang="en-US" sz="2000" b="1" dirty="0">
              <a:latin typeface="宋体" panose="02010600030101010101" pitchFamily="2" charset="-122"/>
            </a:endParaRPr>
          </a:p>
        </p:txBody>
      </p:sp>
      <p:pic>
        <p:nvPicPr>
          <p:cNvPr id="132100" name="Picture 5"/>
          <p:cNvPicPr>
            <a:picLocks noChangeAspect="1"/>
          </p:cNvPicPr>
          <p:nvPr/>
        </p:nvPicPr>
        <p:blipFill>
          <a:blip r:embed="rId1"/>
          <a:stretch>
            <a:fillRect/>
          </a:stretch>
        </p:blipFill>
        <p:spPr>
          <a:xfrm>
            <a:off x="1979613" y="3860800"/>
            <a:ext cx="5519737" cy="3249613"/>
          </a:xfrm>
          <a:prstGeom prst="rect">
            <a:avLst/>
          </a:prstGeom>
          <a:noFill/>
          <a:ln w="9525">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1028"/>
          <p:cNvSpPr>
            <a:spLocks noChangeArrowheads="1"/>
          </p:cNvSpPr>
          <p:nvPr/>
        </p:nvSpPr>
        <p:spPr bwMode="auto">
          <a:xfrm>
            <a:off x="3630613" y="765175"/>
            <a:ext cx="1733550" cy="762000"/>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作业</a:t>
            </a:r>
            <a:endParaRPr kumimoji="0" lang="zh-CN" altLang="en-US" sz="4400"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
        <p:nvSpPr>
          <p:cNvPr id="168963" name="Text Box 1029"/>
          <p:cNvSpPr txBox="1"/>
          <p:nvPr/>
        </p:nvSpPr>
        <p:spPr>
          <a:xfrm>
            <a:off x="2946718" y="2204403"/>
            <a:ext cx="3101340" cy="82994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2400" b="1" dirty="0">
                <a:latin typeface="楷体_GB2312" pitchFamily="49" charset="-122"/>
                <a:ea typeface="楷体_GB2312" pitchFamily="49" charset="-122"/>
              </a:rPr>
              <a:t>P81-83: (5</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(6) (7)</a:t>
            </a:r>
            <a:endParaRPr lang="en-US" altLang="zh-CN" sz="2400" b="1" dirty="0">
              <a:latin typeface="楷体_GB2312" pitchFamily="49" charset="-122"/>
              <a:ea typeface="楷体_GB2312" pitchFamily="49" charset="-122"/>
            </a:endParaRPr>
          </a:p>
          <a:p>
            <a:pPr marL="0" lvl="0" indent="0" eaLnBrk="1" hangingPunct="1">
              <a:spcBef>
                <a:spcPct val="0"/>
              </a:spcBef>
              <a:buClrTx/>
              <a:buSzTx/>
              <a:buNone/>
            </a:pPr>
            <a:endParaRPr lang="en-US" altLang="zh-CN" sz="2400" b="1" dirty="0">
              <a:latin typeface="楷体_GB2312" pitchFamily="49" charset="-122"/>
              <a:ea typeface="楷体_GB2312" pitchFamily="49"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5"/>
          <p:cNvSpPr>
            <a:spLocks noGrp="1"/>
          </p:cNvSpPr>
          <p:nvPr>
            <p:ph type="title"/>
          </p:nvPr>
        </p:nvSpPr>
        <p:spPr>
          <a:xfrm>
            <a:off x="533400" y="273050"/>
            <a:ext cx="8229600"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97283" name="Rectangle 26"/>
          <p:cNvSpPr/>
          <p:nvPr/>
        </p:nvSpPr>
        <p:spPr>
          <a:xfrm>
            <a:off x="533400" y="2300288"/>
            <a:ext cx="8023225" cy="43402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2400" b="1" dirty="0">
                <a:latin typeface="华文楷体" panose="02010600040101010101" pitchFamily="2" charset="-122"/>
                <a:ea typeface="华文楷体" panose="02010600040101010101" pitchFamily="2" charset="-122"/>
              </a:rPr>
              <a:t>    </a:t>
            </a:r>
            <a:r>
              <a:rPr lang="zh-CN" altLang="en-US" sz="2400" b="1" dirty="0">
                <a:latin typeface="华文楷体" panose="02010600040101010101" pitchFamily="2" charset="-122"/>
                <a:ea typeface="华文楷体" panose="02010600040101010101" pitchFamily="2" charset="-122"/>
              </a:rPr>
              <a:t>设计铸件时，不仅要保证使用性能的要求，</a:t>
            </a:r>
            <a:r>
              <a:rPr lang="zh-CN" altLang="en-US" sz="2400" b="1" dirty="0">
                <a:solidFill>
                  <a:srgbClr val="FF0000"/>
                </a:solidFill>
                <a:latin typeface="华文楷体" panose="02010600040101010101" pitchFamily="2" charset="-122"/>
                <a:ea typeface="华文楷体" panose="02010600040101010101" pitchFamily="2" charset="-122"/>
              </a:rPr>
              <a:t>还要满足铸件在制造过程中工艺性的要求。</a:t>
            </a:r>
            <a:r>
              <a:rPr lang="zh-CN" altLang="en-US" sz="2400" b="1" dirty="0">
                <a:latin typeface="华文楷体" panose="02010600040101010101" pitchFamily="2" charset="-122"/>
                <a:ea typeface="华文楷体" panose="02010600040101010101" pitchFamily="2" charset="-122"/>
              </a:rPr>
              <a:t>即考虑铸造生产工艺和合金铸造性能对铸件结构的要求。应尽量使生产工艺中的制模、造型、制芯、装配、合型和清理等各个环节简化，节约工时，防止废品产生，符合合金铸造性能的要求。</a:t>
            </a:r>
            <a:endParaRPr lang="zh-CN" altLang="en-US" sz="2400" b="1" dirty="0">
              <a:latin typeface="华文楷体" panose="02010600040101010101" pitchFamily="2" charset="-122"/>
              <a:ea typeface="华文楷体" panose="02010600040101010101" pitchFamily="2" charset="-122"/>
            </a:endParaRPr>
          </a:p>
          <a:p>
            <a:pPr marL="0" lvl="0" indent="0" eaLnBrk="1" hangingPunct="1">
              <a:spcBef>
                <a:spcPct val="0"/>
              </a:spcBef>
              <a:buClrTx/>
              <a:buSzTx/>
              <a:buNone/>
            </a:pPr>
            <a:r>
              <a:rPr lang="zh-CN" altLang="en-US" sz="2400" b="1" dirty="0">
                <a:latin typeface="华文楷体" panose="02010600040101010101" pitchFamily="2" charset="-122"/>
                <a:ea typeface="华文楷体" panose="02010600040101010101" pitchFamily="2" charset="-122"/>
              </a:rPr>
              <a:t>  </a:t>
            </a:r>
            <a:r>
              <a:rPr lang="en-US" altLang="zh-CN" sz="2400" b="1" dirty="0">
                <a:solidFill>
                  <a:srgbClr val="FF3300"/>
                </a:solidFill>
                <a:latin typeface="华文楷体" panose="02010600040101010101" pitchFamily="2" charset="-122"/>
                <a:ea typeface="华文楷体" panose="02010600040101010101" pitchFamily="2" charset="-122"/>
              </a:rPr>
              <a:t>1. </a:t>
            </a:r>
            <a:r>
              <a:rPr lang="zh-CN" altLang="en-US" sz="2400" b="1" dirty="0">
                <a:solidFill>
                  <a:srgbClr val="FF3300"/>
                </a:solidFill>
                <a:latin typeface="华文楷体" panose="02010600040101010101" pitchFamily="2" charset="-122"/>
                <a:ea typeface="华文楷体" panose="02010600040101010101" pitchFamily="2" charset="-122"/>
              </a:rPr>
              <a:t>铸造工艺对铸件结构的要求</a:t>
            </a:r>
            <a:endParaRPr lang="zh-CN" altLang="en-US" sz="2400" b="1" dirty="0">
              <a:solidFill>
                <a:srgbClr val="FF3300"/>
              </a:solidFill>
              <a:latin typeface="华文楷体" panose="02010600040101010101" pitchFamily="2" charset="-122"/>
              <a:ea typeface="华文楷体" panose="02010600040101010101" pitchFamily="2" charset="-122"/>
            </a:endParaRPr>
          </a:p>
          <a:p>
            <a:pPr marL="0" lvl="0" indent="0" eaLnBrk="1" hangingPunct="1">
              <a:spcBef>
                <a:spcPct val="0"/>
              </a:spcBef>
              <a:buClrTx/>
              <a:buSzTx/>
              <a:buNone/>
            </a:pPr>
            <a:r>
              <a:rPr lang="zh-CN" altLang="en-US" sz="2400" b="1" dirty="0">
                <a:latin typeface="华文楷体" panose="02010600040101010101" pitchFamily="2" charset="-122"/>
                <a:ea typeface="华文楷体" panose="02010600040101010101" pitchFamily="2" charset="-122"/>
              </a:rPr>
              <a:t>        在设计铸件外形时，应充分考虑其生产工艺特点，避免那些不必要的、使制模和造型过程复杂化的结构。如铸件外形上沿</a:t>
            </a:r>
            <a:r>
              <a:rPr lang="zh-CN" altLang="en-US" sz="2400" b="1" dirty="0">
                <a:solidFill>
                  <a:srgbClr val="FF0000"/>
                </a:solidFill>
                <a:latin typeface="华文楷体" panose="02010600040101010101" pitchFamily="2" charset="-122"/>
                <a:ea typeface="华文楷体" panose="02010600040101010101" pitchFamily="2" charset="-122"/>
              </a:rPr>
              <a:t>起模方向的外凸及内凹部分</a:t>
            </a:r>
            <a:r>
              <a:rPr lang="zh-CN" altLang="en-US" sz="2400" b="1" dirty="0">
                <a:latin typeface="华文楷体" panose="02010600040101010101" pitchFamily="2" charset="-122"/>
                <a:ea typeface="华文楷体" panose="02010600040101010101" pitchFamily="2" charset="-122"/>
              </a:rPr>
              <a:t>都将增加造型难度，应力求简化这种结构，方便造型。</a:t>
            </a:r>
            <a:endParaRPr lang="zh-CN" altLang="en-US" sz="2400" b="1" dirty="0">
              <a:latin typeface="华文楷体" panose="02010600040101010101" pitchFamily="2" charset="-122"/>
              <a:ea typeface="华文楷体" panose="02010600040101010101" pitchFamily="2" charset="-122"/>
            </a:endParaRPr>
          </a:p>
          <a:p>
            <a:pPr marL="0" lvl="0" indent="0" eaLnBrk="1" hangingPunct="1">
              <a:spcBef>
                <a:spcPct val="50000"/>
              </a:spcBef>
              <a:buClr>
                <a:schemeClr val="tx1"/>
              </a:buClr>
              <a:buSzTx/>
              <a:buNone/>
            </a:pPr>
            <a:endParaRPr lang="en-US" altLang="zh-CN" sz="2400" b="1" dirty="0">
              <a:latin typeface="华文楷体" panose="02010600040101010101" pitchFamily="2" charset="-122"/>
              <a:ea typeface="华文楷体" panose="02010600040101010101" pitchFamily="2" charset="-122"/>
            </a:endParaRPr>
          </a:p>
        </p:txBody>
      </p:sp>
      <p:sp>
        <p:nvSpPr>
          <p:cNvPr id="133124" name="Text Box 28"/>
          <p:cNvSpPr txBox="1"/>
          <p:nvPr/>
        </p:nvSpPr>
        <p:spPr>
          <a:xfrm>
            <a:off x="1203325" y="6550025"/>
            <a:ext cx="6413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endParaRPr lang="en-US" altLang="zh-CN" sz="2000" b="1" dirty="0">
              <a:latin typeface="GreekS" pitchFamily="2" charset="0"/>
            </a:endParaRPr>
          </a:p>
          <a:p>
            <a:pPr marL="0" lvl="0" indent="0" eaLnBrk="1" hangingPunct="1">
              <a:buClr>
                <a:schemeClr val="tx1"/>
              </a:buClr>
              <a:buSzTx/>
              <a:buNone/>
            </a:pPr>
            <a:endParaRPr lang="en-US" altLang="zh-CN" sz="2000" b="1" dirty="0">
              <a:latin typeface="GreekS"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7283">
                                            <p:txEl>
                                              <p:charRg st="0" end="127"/>
                                            </p:txEl>
                                          </p:spTgt>
                                        </p:tgtEl>
                                        <p:attrNameLst>
                                          <p:attrName>style.visibility</p:attrName>
                                        </p:attrNameLst>
                                      </p:cBhvr>
                                      <p:to>
                                        <p:strVal val="visible"/>
                                      </p:to>
                                    </p:set>
                                    <p:animEffect transition="in" filter="blinds(horizontal)">
                                      <p:cBhvr>
                                        <p:cTn id="7" dur="500"/>
                                        <p:tgtEl>
                                          <p:spTgt spid="97283">
                                            <p:txEl>
                                              <p:charRg st="0" end="1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7283">
                                            <p:txEl>
                                              <p:charRg st="127" end="145"/>
                                            </p:txEl>
                                          </p:spTgt>
                                        </p:tgtEl>
                                        <p:attrNameLst>
                                          <p:attrName>style.visibility</p:attrName>
                                        </p:attrNameLst>
                                      </p:cBhvr>
                                      <p:to>
                                        <p:strVal val="visible"/>
                                      </p:to>
                                    </p:set>
                                    <p:animEffect transition="in" filter="blinds(horizontal)">
                                      <p:cBhvr>
                                        <p:cTn id="12" dur="500"/>
                                        <p:tgtEl>
                                          <p:spTgt spid="97283">
                                            <p:txEl>
                                              <p:charRg st="127" end="14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7283">
                                            <p:txEl>
                                              <p:charRg st="145" end="243"/>
                                            </p:txEl>
                                          </p:spTgt>
                                        </p:tgtEl>
                                        <p:attrNameLst>
                                          <p:attrName>style.visibility</p:attrName>
                                        </p:attrNameLst>
                                      </p:cBhvr>
                                      <p:to>
                                        <p:strVal val="visible"/>
                                      </p:to>
                                    </p:set>
                                    <p:animEffect transition="in" filter="blinds(horizontal)">
                                      <p:cBhvr>
                                        <p:cTn id="17" dur="500"/>
                                        <p:tgtEl>
                                          <p:spTgt spid="97283">
                                            <p:txEl>
                                              <p:charRg st="145" end="2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Rectangle 2"/>
          <p:cNvSpPr>
            <a:spLocks noGrp="1"/>
          </p:cNvSpPr>
          <p:nvPr>
            <p:ph type="title"/>
          </p:nvPr>
        </p:nvSpPr>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34147" name="Text Box 3"/>
          <p:cNvSpPr txBox="1"/>
          <p:nvPr/>
        </p:nvSpPr>
        <p:spPr>
          <a:xfrm>
            <a:off x="1203325" y="6550025"/>
            <a:ext cx="6413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endParaRPr lang="en-US" altLang="zh-CN" sz="2000" b="1" dirty="0">
              <a:latin typeface="GreekS" pitchFamily="2" charset="0"/>
            </a:endParaRPr>
          </a:p>
          <a:p>
            <a:pPr marL="0" lvl="0" indent="0" eaLnBrk="1" hangingPunct="1">
              <a:buClr>
                <a:schemeClr val="tx1"/>
              </a:buClr>
              <a:buSzTx/>
              <a:buNone/>
            </a:pPr>
            <a:endParaRPr lang="en-US" altLang="zh-CN" sz="2000" b="1" dirty="0">
              <a:latin typeface="GreekS" pitchFamily="2" charset="0"/>
            </a:endParaRPr>
          </a:p>
        </p:txBody>
      </p:sp>
      <p:sp>
        <p:nvSpPr>
          <p:cNvPr id="134148" name="Rectangle 4"/>
          <p:cNvSpPr/>
          <p:nvPr/>
        </p:nvSpPr>
        <p:spPr>
          <a:xfrm>
            <a:off x="1185863" y="1797050"/>
            <a:ext cx="7273925" cy="17049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FF00"/>
              </a:buClr>
              <a:buSzTx/>
              <a:buFont typeface="Wingdings" panose="05000000000000000000" pitchFamily="2" charset="2"/>
              <a:buChar char="v"/>
            </a:pPr>
            <a:r>
              <a:rPr lang="zh-CN" altLang="zh-CN" sz="2800" b="1" dirty="0">
                <a:solidFill>
                  <a:srgbClr val="FF0000"/>
                </a:solidFill>
                <a:latin typeface="楷体_GB2312" pitchFamily="49" charset="-122"/>
                <a:ea typeface="楷体_GB2312" pitchFamily="49" charset="-122"/>
              </a:rPr>
              <a:t>避免不必要的型芯和尽量少用活块</a:t>
            </a:r>
            <a:endParaRPr lang="zh-CN" altLang="zh-CN" sz="2800" b="1" dirty="0">
              <a:solidFill>
                <a:srgbClr val="FF0000"/>
              </a:solidFill>
              <a:latin typeface="楷体_GB2312" pitchFamily="49" charset="-122"/>
              <a:ea typeface="楷体_GB2312" pitchFamily="49" charset="-122"/>
            </a:endParaRPr>
          </a:p>
          <a:p>
            <a:pPr marL="0" lvl="0" indent="0" eaLnBrk="1" hangingPunct="1">
              <a:buClr>
                <a:srgbClr val="FFFF00"/>
              </a:buClr>
              <a:buSzTx/>
              <a:buNone/>
            </a:pPr>
            <a:r>
              <a:rPr lang="zh-CN" altLang="zh-CN" sz="2000" b="1" dirty="0">
                <a:solidFill>
                  <a:srgbClr val="FF9966"/>
                </a:solidFill>
                <a:latin typeface="楷体_GB2312" pitchFamily="49" charset="-122"/>
                <a:ea typeface="楷体_GB2312" pitchFamily="49" charset="-122"/>
              </a:rPr>
              <a:t>    </a:t>
            </a:r>
            <a:r>
              <a:rPr lang="zh-CN" altLang="zh-CN" sz="2400" b="1" dirty="0">
                <a:latin typeface="楷体_GB2312" pitchFamily="49" charset="-122"/>
                <a:ea typeface="楷体_GB2312" pitchFamily="49" charset="-122"/>
              </a:rPr>
              <a:t>图所示的铸件带有凸台，造型时影响起模，只能采用活块造型，工艺较复杂。</a:t>
            </a:r>
            <a:r>
              <a:rPr lang="zh-CN" altLang="zh-CN" sz="2400" b="1" dirty="0">
                <a:solidFill>
                  <a:srgbClr val="0033CC"/>
                </a:solidFill>
                <a:latin typeface="楷体_GB2312" pitchFamily="49" charset="-122"/>
                <a:ea typeface="楷体_GB2312" pitchFamily="49" charset="-122"/>
              </a:rPr>
              <a:t>如果将凸台向上延伸到顶部，则起模不受阻碍，避免了采用活块。</a:t>
            </a:r>
            <a:endParaRPr lang="zh-CN" altLang="zh-CN" sz="2400" b="1" dirty="0">
              <a:solidFill>
                <a:srgbClr val="0033CC"/>
              </a:solidFill>
              <a:latin typeface="楷体_GB2312" pitchFamily="49" charset="-122"/>
              <a:ea typeface="楷体_GB2312" pitchFamily="49" charset="-122"/>
            </a:endParaRPr>
          </a:p>
        </p:txBody>
      </p:sp>
      <p:pic>
        <p:nvPicPr>
          <p:cNvPr id="98309" name="Picture 5" descr="图片9"/>
          <p:cNvPicPr>
            <a:picLocks noChangeAspect="1"/>
          </p:cNvPicPr>
          <p:nvPr/>
        </p:nvPicPr>
        <p:blipFill>
          <a:blip r:embed="rId1"/>
          <a:stretch>
            <a:fillRect/>
          </a:stretch>
        </p:blipFill>
        <p:spPr>
          <a:xfrm>
            <a:off x="2400300" y="4997450"/>
            <a:ext cx="3025775" cy="1778000"/>
          </a:xfrm>
          <a:prstGeom prst="rect">
            <a:avLst/>
          </a:prstGeom>
          <a:noFill/>
          <a:ln w="9525">
            <a:noFill/>
          </a:ln>
        </p:spPr>
      </p:pic>
      <p:pic>
        <p:nvPicPr>
          <p:cNvPr id="134150" name="Picture 6" descr="图片10"/>
          <p:cNvPicPr>
            <a:picLocks noChangeAspect="1"/>
          </p:cNvPicPr>
          <p:nvPr/>
        </p:nvPicPr>
        <p:blipFill>
          <a:blip r:embed="rId2"/>
          <a:stretch>
            <a:fillRect/>
          </a:stretch>
        </p:blipFill>
        <p:spPr>
          <a:xfrm>
            <a:off x="6350" y="3468688"/>
            <a:ext cx="3035300" cy="1385887"/>
          </a:xfrm>
          <a:prstGeom prst="rect">
            <a:avLst/>
          </a:prstGeom>
          <a:noFill/>
          <a:ln w="9525">
            <a:noFill/>
          </a:ln>
        </p:spPr>
      </p:pic>
      <p:pic>
        <p:nvPicPr>
          <p:cNvPr id="98311" name="Picture 7" descr="图片11"/>
          <p:cNvPicPr>
            <a:picLocks noChangeAspect="1"/>
          </p:cNvPicPr>
          <p:nvPr/>
        </p:nvPicPr>
        <p:blipFill>
          <a:blip r:embed="rId3"/>
          <a:stretch>
            <a:fillRect/>
          </a:stretch>
        </p:blipFill>
        <p:spPr>
          <a:xfrm>
            <a:off x="5421313" y="3987800"/>
            <a:ext cx="3240087" cy="18764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98309"/>
                                        </p:tgtEl>
                                        <p:attrNameLst>
                                          <p:attrName>style.visibility</p:attrName>
                                        </p:attrNameLst>
                                      </p:cBhvr>
                                      <p:to>
                                        <p:strVal val="visible"/>
                                      </p:to>
                                    </p:set>
                                    <p:animEffect transition="in" filter="diamond(in)">
                                      <p:cBhvr>
                                        <p:cTn id="7" dur="2000"/>
                                        <p:tgtEl>
                                          <p:spTgt spid="9830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98311"/>
                                        </p:tgtEl>
                                        <p:attrNameLst>
                                          <p:attrName>style.visibility</p:attrName>
                                        </p:attrNameLst>
                                      </p:cBhvr>
                                      <p:to>
                                        <p:strVal val="visible"/>
                                      </p:to>
                                    </p:set>
                                    <p:animEffect transition="in" filter="diamond(in)">
                                      <p:cBhvr>
                                        <p:cTn id="12" dur="2000"/>
                                        <p:tgtEl>
                                          <p:spTgt spid="98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a:xfrm>
            <a:off x="1907815" y="475933"/>
            <a:ext cx="6172200" cy="854869"/>
          </a:xfrm>
        </p:spPr>
        <p:txBody>
          <a:bodyPr/>
          <a:lstStyle/>
          <a:p>
            <a:pPr algn="ctr" eaLnBrk="1" hangingPunct="1"/>
            <a:r>
              <a:rPr lang="zh-CN" altLang="zh-CN" sz="3000" b="1" dirty="0">
                <a:latin typeface="Verdana" panose="020B0604030504040204" pitchFamily="34" charset="0"/>
                <a:ea typeface="楷体_GB2312" pitchFamily="49" charset="-122"/>
              </a:rPr>
              <a:t>铸件结构设计</a:t>
            </a:r>
            <a:endParaRPr lang="zh-CN" altLang="zh-CN" sz="3000" b="1" dirty="0">
              <a:latin typeface="Verdana" panose="020B0604030504040204" pitchFamily="34" charset="0"/>
              <a:ea typeface="楷体_GB2312" pitchFamily="49" charset="-122"/>
            </a:endParaRPr>
          </a:p>
        </p:txBody>
      </p:sp>
      <p:sp>
        <p:nvSpPr>
          <p:cNvPr id="135171" name="Text Box 4"/>
          <p:cNvSpPr txBox="1">
            <a:spLocks noChangeArrowheads="1"/>
          </p:cNvSpPr>
          <p:nvPr/>
        </p:nvSpPr>
        <p:spPr bwMode="auto">
          <a:xfrm>
            <a:off x="2045495" y="5769769"/>
            <a:ext cx="309880"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buClr>
                <a:schemeClr val="tx1"/>
              </a:buClr>
              <a:buSzTx/>
              <a:buFont typeface="Wingdings" panose="05000000000000000000" pitchFamily="2" charset="2"/>
              <a:buNone/>
            </a:pPr>
            <a:endParaRPr lang="en-US" altLang="zh-CN" sz="1500" b="1">
              <a:latin typeface="GreekS" pitchFamily="2" charset="0"/>
            </a:endParaRPr>
          </a:p>
          <a:p>
            <a:pPr eaLnBrk="1" hangingPunct="1">
              <a:buClr>
                <a:schemeClr val="tx1"/>
              </a:buClr>
              <a:buSzTx/>
              <a:buFont typeface="Wingdings" panose="05000000000000000000" pitchFamily="2" charset="2"/>
              <a:buNone/>
            </a:pPr>
            <a:endParaRPr lang="en-US" altLang="zh-CN" sz="1500" b="1">
              <a:latin typeface="GreekS" pitchFamily="2" charset="0"/>
            </a:endParaRPr>
          </a:p>
        </p:txBody>
      </p:sp>
      <p:sp>
        <p:nvSpPr>
          <p:cNvPr id="135173" name="Rectangle 7"/>
          <p:cNvSpPr>
            <a:spLocks noChangeArrowheads="1"/>
          </p:cNvSpPr>
          <p:nvPr/>
        </p:nvSpPr>
        <p:spPr bwMode="auto">
          <a:xfrm>
            <a:off x="5530454" y="4581525"/>
            <a:ext cx="47744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endParaRPr lang="zh-CN" altLang="zh-CN" sz="1350"/>
          </a:p>
        </p:txBody>
      </p:sp>
      <p:sp>
        <p:nvSpPr>
          <p:cNvPr id="135174" name="Rectangle 9"/>
          <p:cNvSpPr>
            <a:spLocks noChangeArrowheads="1"/>
          </p:cNvSpPr>
          <p:nvPr/>
        </p:nvSpPr>
        <p:spPr bwMode="auto">
          <a:xfrm>
            <a:off x="611505" y="1916430"/>
            <a:ext cx="2171065" cy="45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
                <a:srgbClr val="FF6600"/>
              </a:buClr>
              <a:buSzTx/>
              <a:buFont typeface="Wingdings" panose="05000000000000000000" pitchFamily="2" charset="2"/>
              <a:buChar char="u"/>
            </a:pPr>
            <a:r>
              <a:rPr lang="zh-CN" altLang="en-US" sz="1800" b="1" dirty="0">
                <a:solidFill>
                  <a:srgbClr val="FF3300"/>
                </a:solidFill>
                <a:latin typeface="楷体_GB2312" pitchFamily="49" charset="-122"/>
                <a:ea typeface="楷体_GB2312" pitchFamily="49" charset="-122"/>
              </a:rPr>
              <a:t>避免不必要的型芯和尽量少用活块</a:t>
            </a:r>
            <a:endParaRPr lang="zh-CN" altLang="en-US" sz="1800" b="1" dirty="0">
              <a:solidFill>
                <a:srgbClr val="FF3300"/>
              </a:solidFill>
              <a:latin typeface="楷体_GB2312" pitchFamily="49" charset="-122"/>
              <a:ea typeface="楷体_GB2312" pitchFamily="49" charset="-122"/>
            </a:endParaRPr>
          </a:p>
          <a:p>
            <a:pPr eaLnBrk="1" hangingPunct="1">
              <a:spcBef>
                <a:spcPct val="50000"/>
              </a:spcBef>
              <a:buClr>
                <a:srgbClr val="FF6600"/>
              </a:buClr>
              <a:buSzTx/>
              <a:buFont typeface="Wingdings" panose="05000000000000000000" pitchFamily="2" charset="2"/>
              <a:buNone/>
            </a:pPr>
            <a:r>
              <a:rPr lang="zh-CN" altLang="en-US" sz="1350" b="1" dirty="0">
                <a:solidFill>
                  <a:schemeClr val="bg2"/>
                </a:solidFill>
                <a:latin typeface="楷体_GB2312" pitchFamily="49" charset="-122"/>
                <a:ea typeface="楷体_GB2312" pitchFamily="49" charset="-122"/>
              </a:rPr>
              <a:t>    </a:t>
            </a:r>
            <a:r>
              <a:rPr lang="zh-CN" altLang="en-US" sz="1800" b="1" dirty="0">
                <a:latin typeface="楷体_GB2312" pitchFamily="49" charset="-122"/>
                <a:ea typeface="楷体_GB2312" pitchFamily="49" charset="-122"/>
              </a:rPr>
              <a:t>图所示的箱体铸件，原设计结构图</a:t>
            </a:r>
            <a:r>
              <a:rPr lang="en-US" altLang="zh-CN" sz="1800" b="1" dirty="0">
                <a:latin typeface="楷体_GB2312" pitchFamily="49" charset="-122"/>
                <a:ea typeface="楷体_GB2312" pitchFamily="49" charset="-122"/>
              </a:rPr>
              <a:t>(a)</a:t>
            </a:r>
            <a:r>
              <a:rPr lang="zh-CN" altLang="en-US" sz="1800" b="1" dirty="0">
                <a:latin typeface="楷体_GB2312" pitchFamily="49" charset="-122"/>
                <a:ea typeface="楷体_GB2312" pitchFamily="49" charset="-122"/>
              </a:rPr>
              <a:t>在箱体侧面有两个凹坑，造型时需增加两个较大的外型芯才能成形，工艺较复杂。</a:t>
            </a:r>
            <a:endParaRPr lang="en-US" altLang="zh-CN" sz="1800" b="1" dirty="0">
              <a:latin typeface="楷体_GB2312" pitchFamily="49" charset="-122"/>
              <a:ea typeface="楷体_GB2312" pitchFamily="49" charset="-122"/>
            </a:endParaRPr>
          </a:p>
          <a:p>
            <a:pPr eaLnBrk="1" hangingPunct="1">
              <a:spcBef>
                <a:spcPct val="50000"/>
              </a:spcBef>
              <a:buClr>
                <a:srgbClr val="FF6600"/>
              </a:buClr>
              <a:buSzTx/>
              <a:buFont typeface="Wingdings" panose="05000000000000000000" pitchFamily="2" charset="2"/>
              <a:buNone/>
            </a:pPr>
            <a:r>
              <a:rPr lang="zh-CN" altLang="en-US" sz="1800" b="1" dirty="0">
                <a:latin typeface="楷体_GB2312" pitchFamily="49" charset="-122"/>
                <a:ea typeface="楷体_GB2312" pitchFamily="49" charset="-122"/>
              </a:rPr>
              <a:t>   若改成图</a:t>
            </a:r>
            <a:r>
              <a:rPr lang="en-US" altLang="zh-CN" sz="1800" b="1" dirty="0">
                <a:latin typeface="楷体_GB2312" pitchFamily="49" charset="-122"/>
                <a:ea typeface="楷体_GB2312" pitchFamily="49" charset="-122"/>
              </a:rPr>
              <a:t>(b)</a:t>
            </a:r>
            <a:r>
              <a:rPr lang="zh-CN" altLang="en-US" sz="1800" b="1" dirty="0">
                <a:latin typeface="楷体_GB2312" pitchFamily="49" charset="-122"/>
                <a:ea typeface="楷体_GB2312" pitchFamily="49" charset="-122"/>
              </a:rPr>
              <a:t>结构，</a:t>
            </a:r>
            <a:r>
              <a:rPr lang="zh-CN" altLang="en-US" sz="1800" b="1" dirty="0">
                <a:solidFill>
                  <a:srgbClr val="0000FF"/>
                </a:solidFill>
                <a:latin typeface="楷体_GB2312" pitchFamily="49" charset="-122"/>
                <a:ea typeface="楷体_GB2312" pitchFamily="49" charset="-122"/>
              </a:rPr>
              <a:t>将侧面的凹坑改为通到底部的凹槽后，则省去了外型芯，造型时模样能顺利起出。</a:t>
            </a:r>
            <a:endParaRPr lang="zh-CN" altLang="en-US" sz="1800" b="1" dirty="0">
              <a:solidFill>
                <a:srgbClr val="0000FF"/>
              </a:solidFill>
              <a:latin typeface="楷体_GB2312" pitchFamily="49" charset="-122"/>
              <a:ea typeface="楷体_GB2312" pitchFamily="49" charset="-122"/>
            </a:endParaRPr>
          </a:p>
        </p:txBody>
      </p:sp>
      <p:pic>
        <p:nvPicPr>
          <p:cNvPr id="1037" name="Picture 13" descr="第五节_铸件结构工艺性"/>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0510" y="1708785"/>
            <a:ext cx="6333490" cy="47504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Rectangle 2"/>
          <p:cNvSpPr>
            <a:spLocks noGrp="1"/>
          </p:cNvSpPr>
          <p:nvPr>
            <p:ph type="title"/>
          </p:nvPr>
        </p:nvSpPr>
        <p:spPr>
          <a:xfrm>
            <a:off x="533400" y="273050"/>
            <a:ext cx="8229600"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36195" name="Text Box 3"/>
          <p:cNvSpPr txBox="1"/>
          <p:nvPr/>
        </p:nvSpPr>
        <p:spPr>
          <a:xfrm>
            <a:off x="1203325" y="6550025"/>
            <a:ext cx="6413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endParaRPr lang="en-US" altLang="zh-CN" sz="2000" b="1" dirty="0">
              <a:latin typeface="GreekS" pitchFamily="2" charset="0"/>
            </a:endParaRPr>
          </a:p>
          <a:p>
            <a:pPr marL="0" lvl="0" indent="0" eaLnBrk="1" hangingPunct="1">
              <a:buClr>
                <a:schemeClr val="tx1"/>
              </a:buClr>
              <a:buSzTx/>
              <a:buNone/>
            </a:pPr>
            <a:endParaRPr lang="en-US" altLang="zh-CN" sz="2000" b="1" dirty="0">
              <a:latin typeface="GreekS" pitchFamily="2" charset="0"/>
            </a:endParaRPr>
          </a:p>
        </p:txBody>
      </p:sp>
      <p:sp>
        <p:nvSpPr>
          <p:cNvPr id="136196" name="Rectangle 4"/>
          <p:cNvSpPr/>
          <p:nvPr/>
        </p:nvSpPr>
        <p:spPr>
          <a:xfrm>
            <a:off x="684213" y="1636713"/>
            <a:ext cx="8304212" cy="1108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FF00"/>
              </a:buClr>
              <a:buSzTx/>
              <a:buFont typeface="Wingdings" panose="05000000000000000000" pitchFamily="2" charset="2"/>
              <a:buChar char="v"/>
            </a:pPr>
            <a:r>
              <a:rPr lang="zh-CN" altLang="zh-CN" sz="2200" b="1" dirty="0">
                <a:solidFill>
                  <a:srgbClr val="FF3300"/>
                </a:solidFill>
                <a:latin typeface="楷体_GB2312" pitchFamily="49" charset="-122"/>
                <a:ea typeface="楷体_GB2312" pitchFamily="49" charset="-122"/>
              </a:rPr>
              <a:t>铸件上的凸台、筋条设计不应妨碍起模，避免不必要的型芯或活块</a:t>
            </a:r>
            <a:r>
              <a:rPr lang="zh-CN" altLang="zh-CN" sz="2200" b="1" dirty="0">
                <a:latin typeface="楷体_GB2312" pitchFamily="49" charset="-122"/>
                <a:ea typeface="楷体_GB2312" pitchFamily="49" charset="-122"/>
              </a:rPr>
              <a:t>    铸件上的筋条和凸台妨碍起模，造型时需采用外型芯或活块，较为费工且易出现废品。</a:t>
            </a:r>
            <a:endParaRPr lang="zh-CN" altLang="zh-CN" sz="2200" b="1" dirty="0">
              <a:latin typeface="楷体_GB2312" pitchFamily="49" charset="-122"/>
              <a:ea typeface="楷体_GB2312" pitchFamily="49" charset="-122"/>
            </a:endParaRPr>
          </a:p>
        </p:txBody>
      </p:sp>
      <p:grpSp>
        <p:nvGrpSpPr>
          <p:cNvPr id="136197" name="Group 5"/>
          <p:cNvGrpSpPr/>
          <p:nvPr/>
        </p:nvGrpSpPr>
        <p:grpSpPr>
          <a:xfrm>
            <a:off x="681038" y="2744788"/>
            <a:ext cx="7934325" cy="4214812"/>
            <a:chOff x="0" y="0"/>
            <a:chExt cx="3029" cy="1829"/>
          </a:xfrm>
        </p:grpSpPr>
        <p:pic>
          <p:nvPicPr>
            <p:cNvPr id="136198" name="Picture 6"/>
            <p:cNvPicPr>
              <a:picLocks noChangeAspect="1"/>
            </p:cNvPicPr>
            <p:nvPr/>
          </p:nvPicPr>
          <p:blipFill>
            <a:blip r:embed="rId1"/>
            <a:stretch>
              <a:fillRect/>
            </a:stretch>
          </p:blipFill>
          <p:spPr>
            <a:xfrm>
              <a:off x="0" y="0"/>
              <a:ext cx="3029" cy="1829"/>
            </a:xfrm>
            <a:prstGeom prst="rect">
              <a:avLst/>
            </a:prstGeom>
            <a:noFill/>
            <a:ln w="9525">
              <a:noFill/>
            </a:ln>
          </p:spPr>
        </p:pic>
        <p:sp>
          <p:nvSpPr>
            <p:cNvPr id="136199" name="Rectangle 7"/>
            <p:cNvSpPr/>
            <p:nvPr/>
          </p:nvSpPr>
          <p:spPr>
            <a:xfrm>
              <a:off x="1361" y="1602"/>
              <a:ext cx="182" cy="91"/>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idx="4294967295"/>
          </p:nvPr>
        </p:nvSpPr>
        <p:spPr>
          <a:xfrm>
            <a:off x="1498998" y="476090"/>
            <a:ext cx="6172200" cy="854869"/>
          </a:xfrm>
        </p:spPr>
        <p:txBody>
          <a:bodyPr/>
          <a:lstStyle/>
          <a:p>
            <a:pPr algn="ctr" eaLnBrk="1" hangingPunct="1"/>
            <a:r>
              <a:rPr lang="zh-CN" altLang="zh-CN" sz="3000" b="1" dirty="0">
                <a:latin typeface="Verdana" panose="020B0604030504040204" pitchFamily="34" charset="0"/>
                <a:ea typeface="楷体_GB2312" pitchFamily="49" charset="-122"/>
              </a:rPr>
              <a:t>铸件结构设计</a:t>
            </a:r>
            <a:endParaRPr lang="zh-CN" altLang="zh-CN" sz="3000" b="1" dirty="0">
              <a:latin typeface="Verdana" panose="020B0604030504040204" pitchFamily="34" charset="0"/>
              <a:ea typeface="楷体_GB2312" pitchFamily="49" charset="-122"/>
            </a:endParaRPr>
          </a:p>
        </p:txBody>
      </p:sp>
      <p:sp>
        <p:nvSpPr>
          <p:cNvPr id="137219" name="Text Box 3"/>
          <p:cNvSpPr txBox="1">
            <a:spLocks noChangeArrowheads="1"/>
          </p:cNvSpPr>
          <p:nvPr/>
        </p:nvSpPr>
        <p:spPr bwMode="auto">
          <a:xfrm>
            <a:off x="2045495" y="5769769"/>
            <a:ext cx="309880"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buClr>
                <a:schemeClr val="tx1"/>
              </a:buClr>
              <a:buSzTx/>
              <a:buFont typeface="Wingdings" panose="05000000000000000000" pitchFamily="2" charset="2"/>
              <a:buNone/>
            </a:pPr>
            <a:endParaRPr lang="en-US" altLang="zh-CN" sz="1500" b="1">
              <a:latin typeface="GreekS" pitchFamily="2" charset="0"/>
            </a:endParaRPr>
          </a:p>
          <a:p>
            <a:pPr eaLnBrk="1" hangingPunct="1">
              <a:buClr>
                <a:schemeClr val="tx1"/>
              </a:buClr>
              <a:buSzTx/>
              <a:buFont typeface="Wingdings" panose="05000000000000000000" pitchFamily="2" charset="2"/>
              <a:buNone/>
            </a:pPr>
            <a:endParaRPr lang="en-US" altLang="zh-CN" sz="1500" b="1">
              <a:latin typeface="GreekS" pitchFamily="2" charset="0"/>
            </a:endParaRPr>
          </a:p>
        </p:txBody>
      </p:sp>
      <p:sp>
        <p:nvSpPr>
          <p:cNvPr id="137220" name="Rectangle 4"/>
          <p:cNvSpPr>
            <a:spLocks noChangeArrowheads="1"/>
          </p:cNvSpPr>
          <p:nvPr/>
        </p:nvSpPr>
        <p:spPr bwMode="auto">
          <a:xfrm>
            <a:off x="899160" y="1628775"/>
            <a:ext cx="7892415" cy="206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buClr>
                <a:srgbClr val="FFFF00"/>
              </a:buClr>
              <a:buSzTx/>
              <a:buFont typeface="Wingdings" panose="05000000000000000000" pitchFamily="2" charset="2"/>
              <a:buChar char="v"/>
            </a:pPr>
            <a:r>
              <a:rPr lang="zh-CN" altLang="en-US" sz="2400" b="1" dirty="0">
                <a:solidFill>
                  <a:srgbClr val="FF0000"/>
                </a:solidFill>
                <a:ea typeface="楷体_GB2312" pitchFamily="49" charset="-122"/>
              </a:rPr>
              <a:t>使铸件分型面最少</a:t>
            </a:r>
            <a:endParaRPr lang="zh-CN" altLang="en-US" sz="2400" b="1" dirty="0">
              <a:solidFill>
                <a:srgbClr val="FF0000"/>
              </a:solidFill>
              <a:latin typeface="楷体_GB2312" pitchFamily="49" charset="-122"/>
              <a:ea typeface="楷体_GB2312" pitchFamily="49" charset="-122"/>
            </a:endParaRPr>
          </a:p>
          <a:p>
            <a:pPr eaLnBrk="1" hangingPunct="1">
              <a:buClr>
                <a:srgbClr val="FFFF00"/>
              </a:buClr>
              <a:buSzTx/>
              <a:buFont typeface="Wingdings" panose="05000000000000000000" pitchFamily="2" charset="2"/>
              <a:buNone/>
            </a:pP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所示的端盖铸件，上、下部位均有凸缘，造型时铸型</a:t>
            </a:r>
            <a:r>
              <a:rPr lang="zh-CN" altLang="en-US" sz="2000" b="1" dirty="0">
                <a:solidFill>
                  <a:srgbClr val="FF0066"/>
                </a:solidFill>
                <a:latin typeface="楷体_GB2312" pitchFamily="49" charset="-122"/>
                <a:ea typeface="楷体_GB2312" pitchFamily="49" charset="-122"/>
              </a:rPr>
              <a:t>要设两个分型面，</a:t>
            </a:r>
            <a:r>
              <a:rPr lang="zh-CN" altLang="en-US" sz="2000" b="1" dirty="0">
                <a:latin typeface="楷体_GB2312" pitchFamily="49" charset="-122"/>
                <a:ea typeface="楷体_GB2312" pitchFamily="49" charset="-122"/>
              </a:rPr>
              <a:t>需要采用三箱造型。由于机器造型不能采用三箱造型．所以大批、大量生产中，必须增设外型芯，才能采用两箱造型。无论三相造型或增设外型芯，工艺都很复杂。</a:t>
            </a:r>
            <a:r>
              <a:rPr lang="zh-CN" altLang="en-US" sz="2000" b="1" dirty="0">
                <a:solidFill>
                  <a:srgbClr val="FF0000"/>
                </a:solidFill>
                <a:latin typeface="楷体_GB2312" pitchFamily="49" charset="-122"/>
                <a:ea typeface="楷体_GB2312" pitchFamily="49" charset="-122"/>
              </a:rPr>
              <a:t>如改为图</a:t>
            </a:r>
            <a:r>
              <a:rPr lang="en-US" altLang="zh-CN" sz="2000" b="1" dirty="0">
                <a:solidFill>
                  <a:srgbClr val="FF0000"/>
                </a:solidFill>
                <a:latin typeface="楷体_GB2312" pitchFamily="49" charset="-122"/>
                <a:ea typeface="楷体_GB2312" pitchFamily="49" charset="-122"/>
              </a:rPr>
              <a:t>(b)</a:t>
            </a:r>
            <a:r>
              <a:rPr lang="zh-CN" altLang="en-US" sz="2000" b="1" dirty="0">
                <a:solidFill>
                  <a:srgbClr val="FF0000"/>
                </a:solidFill>
                <a:latin typeface="楷体_GB2312" pitchFamily="49" charset="-122"/>
                <a:ea typeface="楷体_GB2312" pitchFamily="49" charset="-122"/>
              </a:rPr>
              <a:t>设计．则仅有一个分型面．便可采用两箱造型。</a:t>
            </a:r>
            <a:endParaRPr lang="zh-CN" altLang="en-US" sz="2000" b="1" dirty="0">
              <a:solidFill>
                <a:srgbClr val="FF0000"/>
              </a:solidFill>
              <a:latin typeface="楷体_GB2312" pitchFamily="49" charset="-122"/>
              <a:ea typeface="楷体_GB2312" pitchFamily="49" charset="-122"/>
            </a:endParaRPr>
          </a:p>
        </p:txBody>
      </p:sp>
      <p:pic>
        <p:nvPicPr>
          <p:cNvPr id="137221" name="Picture 11" descr="图片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830" y="3789045"/>
            <a:ext cx="4709160" cy="2685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2"/>
          <a:stretch>
            <a:fillRect/>
          </a:stretch>
        </p:blipFill>
        <p:spPr>
          <a:xfrm>
            <a:off x="4572000" y="3550285"/>
            <a:ext cx="4662170" cy="271907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
          <p:cNvSpPr>
            <a:spLocks noGrp="1"/>
          </p:cNvSpPr>
          <p:nvPr>
            <p:ph type="title"/>
          </p:nvPr>
        </p:nvSpPr>
        <p:spPr>
          <a:xfrm>
            <a:off x="1376363" y="334963"/>
            <a:ext cx="6249987"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38243" name="Text Box 3"/>
          <p:cNvSpPr txBox="1"/>
          <p:nvPr/>
        </p:nvSpPr>
        <p:spPr>
          <a:xfrm>
            <a:off x="1203325" y="6550025"/>
            <a:ext cx="6413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endParaRPr lang="en-US" altLang="zh-CN" sz="2000" b="1" dirty="0">
              <a:latin typeface="GreekS" pitchFamily="2" charset="0"/>
            </a:endParaRPr>
          </a:p>
          <a:p>
            <a:pPr marL="0" lvl="0" indent="0" eaLnBrk="1" hangingPunct="1">
              <a:buClr>
                <a:schemeClr val="tx1"/>
              </a:buClr>
              <a:buSzTx/>
              <a:buNone/>
            </a:pPr>
            <a:endParaRPr lang="en-US" altLang="zh-CN" sz="2000" b="1" dirty="0">
              <a:latin typeface="GreekS" pitchFamily="2" charset="0"/>
            </a:endParaRPr>
          </a:p>
        </p:txBody>
      </p:sp>
      <p:sp>
        <p:nvSpPr>
          <p:cNvPr id="102404" name="Rectangle 4"/>
          <p:cNvSpPr/>
          <p:nvPr/>
        </p:nvSpPr>
        <p:spPr>
          <a:xfrm>
            <a:off x="900113" y="1557338"/>
            <a:ext cx="7200900" cy="20748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FF00"/>
              </a:buClr>
              <a:buSzTx/>
              <a:buFont typeface="Wingdings" panose="05000000000000000000" pitchFamily="2" charset="2"/>
              <a:buChar char="v"/>
            </a:pPr>
            <a:r>
              <a:rPr lang="zh-CN" altLang="zh-CN" sz="2800" b="1" dirty="0">
                <a:solidFill>
                  <a:srgbClr val="FF3300"/>
                </a:solidFill>
                <a:latin typeface="楷体_GB2312" pitchFamily="49" charset="-122"/>
                <a:ea typeface="楷体_GB2312" pitchFamily="49" charset="-122"/>
              </a:rPr>
              <a:t>垂直于分型面非加工表面应设置结构斜度</a:t>
            </a:r>
            <a:endParaRPr lang="zh-CN" altLang="zh-CN" sz="2800" b="1" dirty="0">
              <a:solidFill>
                <a:srgbClr val="FF3300"/>
              </a:solidFill>
              <a:latin typeface="楷体_GB2312" pitchFamily="49" charset="-122"/>
              <a:ea typeface="楷体_GB2312" pitchFamily="49" charset="-122"/>
            </a:endParaRPr>
          </a:p>
          <a:p>
            <a:pPr marL="0" lvl="0" indent="0" eaLnBrk="1" hangingPunct="1">
              <a:buClr>
                <a:srgbClr val="FFFF00"/>
              </a:buClr>
              <a:buSzTx/>
              <a:buNone/>
            </a:pPr>
            <a:r>
              <a:rPr lang="zh-CN" altLang="zh-CN" sz="2000" b="1" dirty="0">
                <a:solidFill>
                  <a:srgbClr val="FF9966"/>
                </a:solidFill>
                <a:latin typeface="楷体_GB2312" pitchFamily="49" charset="-122"/>
                <a:ea typeface="楷体_GB2312" pitchFamily="49" charset="-122"/>
              </a:rPr>
              <a:t>   </a:t>
            </a:r>
            <a:r>
              <a:rPr lang="zh-CN" altLang="zh-CN" sz="2400" b="1" dirty="0">
                <a:latin typeface="楷体_GB2312" pitchFamily="49" charset="-122"/>
                <a:ea typeface="楷体_GB2312" pitchFamily="49" charset="-122"/>
              </a:rPr>
              <a:t>在铸件分型面确定后，应使垂直于分型面的非加工表面留有一定斜度．</a:t>
            </a:r>
            <a:r>
              <a:rPr lang="zh-CN" altLang="zh-CN" sz="2400" b="1" dirty="0">
                <a:solidFill>
                  <a:srgbClr val="0000FF"/>
                </a:solidFill>
                <a:latin typeface="楷体_GB2312" pitchFamily="49" charset="-122"/>
                <a:ea typeface="楷体_GB2312" pitchFamily="49" charset="-122"/>
              </a:rPr>
              <a:t>铸件设有结构斜度，可使起模方便，起模时型腔表面不易损坏，模样松动量减少，从而提高了铸件的尺寸精度和模样寿命。</a:t>
            </a:r>
            <a:endParaRPr lang="zh-CN" altLang="zh-CN" sz="2400" b="1" dirty="0">
              <a:solidFill>
                <a:srgbClr val="0000FF"/>
              </a:solidFill>
              <a:latin typeface="楷体_GB2312" pitchFamily="49" charset="-122"/>
              <a:ea typeface="楷体_GB2312" pitchFamily="49" charset="-122"/>
            </a:endParaRPr>
          </a:p>
        </p:txBody>
      </p:sp>
      <p:pic>
        <p:nvPicPr>
          <p:cNvPr id="138245" name="Picture 5" descr="图片1"/>
          <p:cNvPicPr>
            <a:picLocks noChangeAspect="1"/>
          </p:cNvPicPr>
          <p:nvPr/>
        </p:nvPicPr>
        <p:blipFill>
          <a:blip r:embed="rId1"/>
          <a:stretch>
            <a:fillRect/>
          </a:stretch>
        </p:blipFill>
        <p:spPr>
          <a:xfrm>
            <a:off x="0" y="3714750"/>
            <a:ext cx="4352925" cy="2259013"/>
          </a:xfrm>
          <a:prstGeom prst="rect">
            <a:avLst/>
          </a:prstGeom>
          <a:noFill/>
          <a:ln w="9525">
            <a:noFill/>
          </a:ln>
        </p:spPr>
      </p:pic>
      <p:sp>
        <p:nvSpPr>
          <p:cNvPr id="138246" name="圆角矩形 1"/>
          <p:cNvSpPr/>
          <p:nvPr/>
        </p:nvSpPr>
        <p:spPr>
          <a:xfrm>
            <a:off x="6875463" y="5013325"/>
            <a:ext cx="1728787" cy="868363"/>
          </a:xfrm>
          <a:prstGeom prst="roundRect">
            <a:avLst>
              <a:gd name="adj" fmla="val 16667"/>
            </a:avLst>
          </a:prstGeom>
          <a:solidFill>
            <a:schemeClr val="bg1"/>
          </a:solidFill>
          <a:ln w="9525" cap="flat" cmpd="sng">
            <a:solidFill>
              <a:schemeClr val="bg1"/>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endParaRPr lang="zh-CN" altLang="en-US" sz="1800" dirty="0"/>
          </a:p>
        </p:txBody>
      </p:sp>
      <p:pic>
        <p:nvPicPr>
          <p:cNvPr id="102405" name="Picture 2" descr="图片12"/>
          <p:cNvPicPr>
            <a:picLocks noChangeAspect="1"/>
          </p:cNvPicPr>
          <p:nvPr/>
        </p:nvPicPr>
        <p:blipFill>
          <a:blip r:embed="rId2"/>
          <a:stretch>
            <a:fillRect/>
          </a:stretch>
        </p:blipFill>
        <p:spPr>
          <a:xfrm>
            <a:off x="4327525" y="4167188"/>
            <a:ext cx="4924425" cy="26463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02404">
                                            <p:txEl>
                                              <p:charRg st="19" end="108"/>
                                            </p:txEl>
                                          </p:spTgt>
                                        </p:tgtEl>
                                        <p:attrNameLst>
                                          <p:attrName>style.visibility</p:attrName>
                                        </p:attrNameLst>
                                      </p:cBhvr>
                                      <p:to>
                                        <p:strVal val="visible"/>
                                      </p:to>
                                    </p:set>
                                    <p:animEffect transition="in" filter="diamond(in)">
                                      <p:cBhvr>
                                        <p:cTn id="7" dur="2000"/>
                                        <p:tgtEl>
                                          <p:spTgt spid="102404">
                                            <p:txEl>
                                              <p:charRg st="19" end="108"/>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102405"/>
                                        </p:tgtEl>
                                        <p:attrNameLst>
                                          <p:attrName>style.visibility</p:attrName>
                                        </p:attrNameLst>
                                      </p:cBhvr>
                                      <p:to>
                                        <p:strVal val="visible"/>
                                      </p:to>
                                    </p:set>
                                    <p:animEffect transition="in" filter="diamond(in)">
                                      <p:cBhvr>
                                        <p:cTn id="12" dur="2000"/>
                                        <p:tgtEl>
                                          <p:spTgt spid="102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p:cNvSpPr>
          <p:nvPr>
            <p:ph type="title"/>
          </p:nvPr>
        </p:nvSpPr>
        <p:spPr>
          <a:xfrm>
            <a:off x="1563688" y="260350"/>
            <a:ext cx="6249987"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39267" name="Text Box 3"/>
          <p:cNvSpPr txBox="1"/>
          <p:nvPr/>
        </p:nvSpPr>
        <p:spPr>
          <a:xfrm>
            <a:off x="1203325" y="6550025"/>
            <a:ext cx="6413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endParaRPr lang="en-US" altLang="zh-CN" sz="2000" b="1" dirty="0">
              <a:latin typeface="GreekS" pitchFamily="2" charset="0"/>
            </a:endParaRPr>
          </a:p>
          <a:p>
            <a:pPr marL="0" lvl="0" indent="0" eaLnBrk="1" hangingPunct="1">
              <a:buClr>
                <a:schemeClr val="tx1"/>
              </a:buClr>
              <a:buSzTx/>
              <a:buNone/>
            </a:pPr>
            <a:endParaRPr lang="en-US" altLang="zh-CN" sz="2000" b="1" dirty="0">
              <a:latin typeface="GreekS" pitchFamily="2" charset="0"/>
            </a:endParaRPr>
          </a:p>
        </p:txBody>
      </p:sp>
      <p:sp>
        <p:nvSpPr>
          <p:cNvPr id="139268" name="Rectangle 4"/>
          <p:cNvSpPr/>
          <p:nvPr/>
        </p:nvSpPr>
        <p:spPr>
          <a:xfrm>
            <a:off x="1030288" y="1628775"/>
            <a:ext cx="375761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FF00"/>
              </a:buClr>
              <a:buSzTx/>
              <a:buFont typeface="Wingdings" panose="05000000000000000000" pitchFamily="2" charset="2"/>
              <a:buChar char="v"/>
            </a:pPr>
            <a:r>
              <a:rPr lang="zh-CN" altLang="zh-CN" sz="2400" b="1" dirty="0">
                <a:solidFill>
                  <a:srgbClr val="FF3300"/>
                </a:solidFill>
                <a:latin typeface="楷体_GB2312" pitchFamily="49" charset="-122"/>
                <a:ea typeface="楷体_GB2312" pitchFamily="49" charset="-122"/>
              </a:rPr>
              <a:t>合理的结构斜度</a:t>
            </a:r>
            <a:endParaRPr lang="zh-CN" altLang="zh-CN" sz="2400" b="1" dirty="0">
              <a:solidFill>
                <a:srgbClr val="0033CC"/>
              </a:solidFill>
              <a:latin typeface="楷体_GB2312" pitchFamily="49" charset="-122"/>
              <a:ea typeface="楷体_GB2312" pitchFamily="49" charset="-122"/>
            </a:endParaRPr>
          </a:p>
        </p:txBody>
      </p:sp>
      <p:pic>
        <p:nvPicPr>
          <p:cNvPr id="139269" name="图片 1"/>
          <p:cNvPicPr>
            <a:picLocks noChangeAspect="1"/>
          </p:cNvPicPr>
          <p:nvPr/>
        </p:nvPicPr>
        <p:blipFill>
          <a:blip r:embed="rId1"/>
          <a:stretch>
            <a:fillRect/>
          </a:stretch>
        </p:blipFill>
        <p:spPr>
          <a:xfrm>
            <a:off x="4802188" y="2449513"/>
            <a:ext cx="3956050" cy="4130675"/>
          </a:xfrm>
          <a:prstGeom prst="rect">
            <a:avLst/>
          </a:prstGeom>
          <a:noFill/>
          <a:ln w="9525">
            <a:noFill/>
          </a:ln>
        </p:spPr>
      </p:pic>
      <p:pic>
        <p:nvPicPr>
          <p:cNvPr id="139270" name="图片 2"/>
          <p:cNvPicPr>
            <a:picLocks noChangeAspect="1"/>
          </p:cNvPicPr>
          <p:nvPr/>
        </p:nvPicPr>
        <p:blipFill>
          <a:blip r:embed="rId2"/>
          <a:stretch>
            <a:fillRect/>
          </a:stretch>
        </p:blipFill>
        <p:spPr>
          <a:xfrm>
            <a:off x="654050" y="2171700"/>
            <a:ext cx="4033838" cy="4686300"/>
          </a:xfrm>
          <a:prstGeom prst="rect">
            <a:avLst/>
          </a:prstGeom>
          <a:noFill/>
          <a:ln w="9525">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2"/>
          <p:cNvSpPr>
            <a:spLocks noGrp="1"/>
          </p:cNvSpPr>
          <p:nvPr>
            <p:ph type="title"/>
          </p:nvPr>
        </p:nvSpPr>
        <p:spPr>
          <a:xfrm>
            <a:off x="1370013" y="357188"/>
            <a:ext cx="6251575"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40291" name="Text Box 3"/>
          <p:cNvSpPr txBox="1"/>
          <p:nvPr/>
        </p:nvSpPr>
        <p:spPr>
          <a:xfrm>
            <a:off x="1203325" y="6550025"/>
            <a:ext cx="6413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endParaRPr lang="en-US" altLang="zh-CN" sz="2000" b="1" dirty="0">
              <a:latin typeface="GreekS" pitchFamily="2" charset="0"/>
            </a:endParaRPr>
          </a:p>
          <a:p>
            <a:pPr marL="0" lvl="0" indent="0" eaLnBrk="1" hangingPunct="1">
              <a:buClr>
                <a:schemeClr val="tx1"/>
              </a:buClr>
              <a:buSzTx/>
              <a:buNone/>
            </a:pPr>
            <a:endParaRPr lang="en-US" altLang="zh-CN" sz="2000" b="1" dirty="0">
              <a:latin typeface="GreekS" pitchFamily="2" charset="0"/>
            </a:endParaRPr>
          </a:p>
        </p:txBody>
      </p:sp>
      <p:sp>
        <p:nvSpPr>
          <p:cNvPr id="140292" name="Rectangle 4"/>
          <p:cNvSpPr/>
          <p:nvPr/>
        </p:nvSpPr>
        <p:spPr>
          <a:xfrm>
            <a:off x="900113" y="1557338"/>
            <a:ext cx="72009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FF00"/>
              </a:buClr>
              <a:buSzTx/>
              <a:buFont typeface="Wingdings" panose="05000000000000000000" pitchFamily="2" charset="2"/>
              <a:buChar char="v"/>
            </a:pPr>
            <a:r>
              <a:rPr lang="zh-CN" altLang="zh-CN" sz="2400" b="1" dirty="0">
                <a:solidFill>
                  <a:srgbClr val="FF3300"/>
                </a:solidFill>
                <a:latin typeface="楷体_GB2312" pitchFamily="49" charset="-122"/>
                <a:ea typeface="楷体_GB2312" pitchFamily="49" charset="-122"/>
              </a:rPr>
              <a:t>尽量避免曲面分型，避免挖砂造型</a:t>
            </a:r>
            <a:endParaRPr lang="zh-CN" altLang="zh-CN" sz="2000" b="1" dirty="0">
              <a:solidFill>
                <a:srgbClr val="FF9966"/>
              </a:solidFill>
              <a:latin typeface="楷体_GB2312" pitchFamily="49" charset="-122"/>
              <a:ea typeface="楷体_GB2312" pitchFamily="49" charset="-122"/>
            </a:endParaRPr>
          </a:p>
        </p:txBody>
      </p:sp>
      <p:pic>
        <p:nvPicPr>
          <p:cNvPr id="104454" name="Picture 8" descr="图片3"/>
          <p:cNvPicPr>
            <a:picLocks noChangeAspect="1"/>
          </p:cNvPicPr>
          <p:nvPr/>
        </p:nvPicPr>
        <p:blipFill>
          <a:blip r:embed="rId1"/>
          <a:stretch>
            <a:fillRect/>
          </a:stretch>
        </p:blipFill>
        <p:spPr>
          <a:xfrm>
            <a:off x="4705350" y="4425950"/>
            <a:ext cx="4438650" cy="2428875"/>
          </a:xfrm>
          <a:prstGeom prst="rect">
            <a:avLst/>
          </a:prstGeom>
          <a:noFill/>
          <a:ln w="9525">
            <a:noFill/>
          </a:ln>
        </p:spPr>
      </p:pic>
      <p:pic>
        <p:nvPicPr>
          <p:cNvPr id="140294" name="Picture 7" descr="图片2"/>
          <p:cNvPicPr>
            <a:picLocks noChangeAspect="1"/>
          </p:cNvPicPr>
          <p:nvPr/>
        </p:nvPicPr>
        <p:blipFill>
          <a:blip r:embed="rId2"/>
          <a:stretch>
            <a:fillRect/>
          </a:stretch>
        </p:blipFill>
        <p:spPr>
          <a:xfrm>
            <a:off x="-28575" y="2068513"/>
            <a:ext cx="4968875" cy="28479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04454"/>
                                        </p:tgtEl>
                                        <p:attrNameLst>
                                          <p:attrName>style.visibility</p:attrName>
                                        </p:attrNameLst>
                                      </p:cBhvr>
                                      <p:to>
                                        <p:strVal val="visible"/>
                                      </p:to>
                                    </p:set>
                                    <p:animEffect transition="in" filter="diamond(in)">
                                      <p:cBhvr>
                                        <p:cTn id="7" dur="2000"/>
                                        <p:tgtEl>
                                          <p:spTgt spid="1044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2"/>
          <p:cNvSpPr>
            <a:spLocks noGrp="1"/>
          </p:cNvSpPr>
          <p:nvPr>
            <p:ph type="title"/>
          </p:nvPr>
        </p:nvSpPr>
        <p:spPr>
          <a:xfrm>
            <a:off x="1446213" y="284163"/>
            <a:ext cx="6249987"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41315" name="Text Box 3"/>
          <p:cNvSpPr txBox="1"/>
          <p:nvPr/>
        </p:nvSpPr>
        <p:spPr>
          <a:xfrm>
            <a:off x="1203325" y="6550025"/>
            <a:ext cx="6413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endParaRPr lang="en-US" altLang="zh-CN" sz="2000" b="1" dirty="0">
              <a:latin typeface="GreekS" pitchFamily="2" charset="0"/>
            </a:endParaRPr>
          </a:p>
          <a:p>
            <a:pPr marL="0" lvl="0" indent="0" eaLnBrk="1" hangingPunct="1">
              <a:buClr>
                <a:schemeClr val="tx1"/>
              </a:buClr>
              <a:buSzTx/>
              <a:buNone/>
            </a:pPr>
            <a:endParaRPr lang="en-US" altLang="zh-CN" sz="2000" b="1" dirty="0">
              <a:latin typeface="GreekS" pitchFamily="2" charset="0"/>
            </a:endParaRPr>
          </a:p>
        </p:txBody>
      </p:sp>
      <p:sp>
        <p:nvSpPr>
          <p:cNvPr id="141316" name="Rectangle 4"/>
          <p:cNvSpPr/>
          <p:nvPr/>
        </p:nvSpPr>
        <p:spPr>
          <a:xfrm>
            <a:off x="438150" y="1304925"/>
            <a:ext cx="3529013" cy="60198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en-US" altLang="zh-CN" sz="1800" b="1" dirty="0">
              <a:solidFill>
                <a:schemeClr val="bg1"/>
              </a:solidFill>
            </a:endParaRPr>
          </a:p>
          <a:p>
            <a:pPr marL="0" lvl="0" indent="0" eaLnBrk="1" hangingPunct="1">
              <a:buClr>
                <a:srgbClr val="FFFF00"/>
              </a:buClr>
              <a:buSzTx/>
              <a:buFont typeface="Wingdings" panose="05000000000000000000" pitchFamily="2" charset="2"/>
              <a:buChar char="v"/>
            </a:pPr>
            <a:r>
              <a:rPr lang="zh-CN" altLang="en-US" sz="2400" b="1" dirty="0">
                <a:solidFill>
                  <a:srgbClr val="FF3300"/>
                </a:solidFill>
                <a:latin typeface="楷体_GB2312" pitchFamily="49" charset="-122"/>
                <a:ea typeface="楷体_GB2312" pitchFamily="49" charset="-122"/>
              </a:rPr>
              <a:t>避免水平放置较大的平面</a:t>
            </a:r>
            <a:r>
              <a:rPr lang="zh-CN" altLang="en-US" sz="1800" b="1" dirty="0">
                <a:solidFill>
                  <a:schemeClr val="bg1"/>
                </a:solidFill>
              </a:rPr>
              <a:t> </a:t>
            </a:r>
            <a:endParaRPr lang="zh-CN" altLang="en-US" sz="1800" b="1" dirty="0">
              <a:solidFill>
                <a:schemeClr val="bg1"/>
              </a:solidFill>
            </a:endParaRPr>
          </a:p>
          <a:p>
            <a:pPr marL="0" lvl="0" indent="0" eaLnBrk="1" hangingPunct="1">
              <a:buClr>
                <a:srgbClr val="FF0066"/>
              </a:buClr>
              <a:buSzTx/>
              <a:buNone/>
            </a:pPr>
            <a:r>
              <a:rPr lang="zh-CN" altLang="en-US" sz="1800" b="1" dirty="0"/>
              <a:t>    </a:t>
            </a:r>
            <a:r>
              <a:rPr lang="zh-CN" altLang="en-US" sz="2200" b="1" dirty="0">
                <a:latin typeface="楷体_GB2312" pitchFamily="49" charset="-122"/>
                <a:ea typeface="楷体_GB2312" pitchFamily="49" charset="-122"/>
              </a:rPr>
              <a:t>铸件上过大的水平面不利于金属液的充型，不利于气体和夹杂物的排除，</a:t>
            </a:r>
            <a:r>
              <a:rPr lang="zh-CN" altLang="en-US" sz="2200" b="1" dirty="0">
                <a:solidFill>
                  <a:srgbClr val="A50021"/>
                </a:solidFill>
                <a:latin typeface="楷体_GB2312" pitchFamily="49" charset="-122"/>
                <a:ea typeface="楷体_GB2312" pitchFamily="49" charset="-122"/>
              </a:rPr>
              <a:t>容易使铸件产生冷隔、浇不足、气孔、夹渣等缺陷。</a:t>
            </a:r>
            <a:r>
              <a:rPr lang="zh-CN" altLang="en-US" sz="2200" b="1" dirty="0">
                <a:latin typeface="楷体_GB2312" pitchFamily="49" charset="-122"/>
                <a:ea typeface="楷体_GB2312" pitchFamily="49" charset="-122"/>
              </a:rPr>
              <a:t>同时水平壁型腔的上表面长时间受灼热的熔融金属烘烤，极易造成夹砂缺陷；而且大的水平壁也不利于气体、非金属杂物的排除 使铸件产生气孔、夹渣等。将水平壁改成倾斜壁，就可防止缺陷产生。</a:t>
            </a:r>
            <a:endParaRPr lang="zh-CN" altLang="en-US" sz="2200" b="1" dirty="0">
              <a:latin typeface="楷体_GB2312" pitchFamily="49" charset="-122"/>
              <a:ea typeface="楷体_GB2312" pitchFamily="49" charset="-122"/>
            </a:endParaRPr>
          </a:p>
          <a:p>
            <a:pPr marL="0" lvl="0" indent="0" eaLnBrk="1" hangingPunct="1">
              <a:buClr>
                <a:srgbClr val="FFFF00"/>
              </a:buClr>
              <a:buSzTx/>
              <a:buNone/>
            </a:pPr>
            <a:endParaRPr lang="en-US" altLang="zh-CN" sz="2000" b="1" dirty="0">
              <a:solidFill>
                <a:srgbClr val="FF3300"/>
              </a:solidFill>
              <a:latin typeface="楷体_GB2312" pitchFamily="49" charset="-122"/>
              <a:ea typeface="楷体_GB2312" pitchFamily="49" charset="-122"/>
            </a:endParaRPr>
          </a:p>
        </p:txBody>
      </p:sp>
      <p:pic>
        <p:nvPicPr>
          <p:cNvPr id="141317" name="Picture 7" descr="图片6"/>
          <p:cNvPicPr>
            <a:picLocks noChangeAspect="1"/>
          </p:cNvPicPr>
          <p:nvPr/>
        </p:nvPicPr>
        <p:blipFill>
          <a:blip r:embed="rId1"/>
          <a:stretch>
            <a:fillRect/>
          </a:stretch>
        </p:blipFill>
        <p:spPr>
          <a:xfrm>
            <a:off x="3741738" y="2133600"/>
            <a:ext cx="5400675" cy="3959225"/>
          </a:xfrm>
          <a:prstGeom prst="rect">
            <a:avLst/>
          </a:prstGeom>
          <a:noFill/>
          <a:ln w="9525">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2"/>
          <p:cNvSpPr>
            <a:spLocks noGrp="1"/>
          </p:cNvSpPr>
          <p:nvPr>
            <p:ph type="title"/>
          </p:nvPr>
        </p:nvSpPr>
        <p:spPr>
          <a:xfrm>
            <a:off x="1376363" y="333375"/>
            <a:ext cx="6249987"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42339" name="Text Box 3"/>
          <p:cNvSpPr txBox="1"/>
          <p:nvPr/>
        </p:nvSpPr>
        <p:spPr>
          <a:xfrm>
            <a:off x="1203325" y="6550025"/>
            <a:ext cx="6413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endParaRPr lang="en-US" altLang="zh-CN" sz="2000" b="1" dirty="0">
              <a:latin typeface="GreekS" pitchFamily="2" charset="0"/>
            </a:endParaRPr>
          </a:p>
          <a:p>
            <a:pPr marL="0" lvl="0" indent="0" eaLnBrk="1" hangingPunct="1">
              <a:buClr>
                <a:schemeClr val="tx1"/>
              </a:buClr>
              <a:buSzTx/>
              <a:buNone/>
            </a:pPr>
            <a:endParaRPr lang="en-US" altLang="zh-CN" sz="2000" b="1" dirty="0">
              <a:latin typeface="GreekS" pitchFamily="2" charset="0"/>
            </a:endParaRPr>
          </a:p>
        </p:txBody>
      </p:sp>
      <p:sp>
        <p:nvSpPr>
          <p:cNvPr id="142340" name="Rectangle 4"/>
          <p:cNvSpPr/>
          <p:nvPr/>
        </p:nvSpPr>
        <p:spPr>
          <a:xfrm>
            <a:off x="900113" y="1328738"/>
            <a:ext cx="7200900" cy="8048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en-US" altLang="zh-CN" sz="1800" b="1" dirty="0">
              <a:solidFill>
                <a:schemeClr val="bg1"/>
              </a:solidFill>
            </a:endParaRPr>
          </a:p>
          <a:p>
            <a:pPr marL="0" lvl="0" indent="0" eaLnBrk="1" hangingPunct="1">
              <a:buClr>
                <a:srgbClr val="FFFF00"/>
              </a:buClr>
              <a:buSzTx/>
              <a:buFont typeface="Wingdings" panose="05000000000000000000" pitchFamily="2" charset="2"/>
              <a:buChar char="v"/>
            </a:pPr>
            <a:r>
              <a:rPr lang="zh-CN" altLang="en-US" sz="2400" b="1" dirty="0">
                <a:solidFill>
                  <a:srgbClr val="FF3300"/>
                </a:solidFill>
                <a:latin typeface="楷体_GB2312" pitchFamily="49" charset="-122"/>
                <a:ea typeface="楷体_GB2312" pitchFamily="49" charset="-122"/>
              </a:rPr>
              <a:t>防止细长件或大薄平板件弯曲</a:t>
            </a:r>
            <a:r>
              <a:rPr lang="zh-CN" altLang="en-US" sz="1800" b="1" dirty="0">
                <a:solidFill>
                  <a:schemeClr val="bg1"/>
                </a:solidFill>
              </a:rPr>
              <a:t> </a:t>
            </a:r>
            <a:endParaRPr lang="zh-CN" altLang="en-US" sz="1800" b="1" dirty="0">
              <a:solidFill>
                <a:schemeClr val="bg1"/>
              </a:solidFill>
            </a:endParaRPr>
          </a:p>
        </p:txBody>
      </p:sp>
      <p:pic>
        <p:nvPicPr>
          <p:cNvPr id="142341" name="Picture 6" descr="图片7"/>
          <p:cNvPicPr>
            <a:picLocks noChangeAspect="1"/>
          </p:cNvPicPr>
          <p:nvPr/>
        </p:nvPicPr>
        <p:blipFill>
          <a:blip r:embed="rId1"/>
          <a:stretch>
            <a:fillRect/>
          </a:stretch>
        </p:blipFill>
        <p:spPr>
          <a:xfrm>
            <a:off x="900113" y="2468563"/>
            <a:ext cx="6816725" cy="3816350"/>
          </a:xfrm>
          <a:prstGeom prst="rect">
            <a:avLst/>
          </a:prstGeom>
          <a:noFill/>
          <a:ln w="9525">
            <a:no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1026"/>
          <p:cNvSpPr>
            <a:spLocks noGrp="1" noChangeArrowheads="1"/>
          </p:cNvSpPr>
          <p:nvPr>
            <p:ph type="title" idx="4294967295"/>
          </p:nvPr>
        </p:nvSpPr>
        <p:spPr>
          <a:xfrm>
            <a:off x="1763408" y="404774"/>
            <a:ext cx="6172200" cy="854869"/>
          </a:xfrm>
        </p:spPr>
        <p:txBody>
          <a:bodyPr/>
          <a:lstStyle/>
          <a:p>
            <a:pPr algn="ctr" eaLnBrk="1" hangingPunct="1"/>
            <a:r>
              <a:rPr lang="zh-CN" altLang="zh-CN" sz="3000" b="1" dirty="0">
                <a:latin typeface="Verdana" panose="020B0604030504040204" pitchFamily="34" charset="0"/>
                <a:ea typeface="楷体_GB2312" pitchFamily="49" charset="-122"/>
              </a:rPr>
              <a:t>铸件结构设计</a:t>
            </a:r>
            <a:endParaRPr lang="zh-CN" altLang="zh-CN" sz="3000" b="1" dirty="0">
              <a:latin typeface="Verdana" panose="020B0604030504040204" pitchFamily="34" charset="0"/>
              <a:ea typeface="楷体_GB2312" pitchFamily="49" charset="-122"/>
            </a:endParaRPr>
          </a:p>
        </p:txBody>
      </p:sp>
      <p:sp>
        <p:nvSpPr>
          <p:cNvPr id="143363" name="Text Box 1027"/>
          <p:cNvSpPr txBox="1">
            <a:spLocks noChangeArrowheads="1"/>
          </p:cNvSpPr>
          <p:nvPr/>
        </p:nvSpPr>
        <p:spPr bwMode="auto">
          <a:xfrm>
            <a:off x="2045495" y="5769769"/>
            <a:ext cx="309880" cy="598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buClr>
                <a:schemeClr val="tx1"/>
              </a:buClr>
              <a:buSzTx/>
              <a:buFont typeface="Wingdings" panose="05000000000000000000" pitchFamily="2" charset="2"/>
              <a:buNone/>
            </a:pPr>
            <a:endParaRPr lang="en-US" altLang="zh-CN" sz="1500" b="1">
              <a:latin typeface="GreekS" pitchFamily="2" charset="0"/>
            </a:endParaRPr>
          </a:p>
          <a:p>
            <a:pPr eaLnBrk="1" hangingPunct="1">
              <a:buClr>
                <a:schemeClr val="tx1"/>
              </a:buClr>
              <a:buSzTx/>
              <a:buFont typeface="Wingdings" panose="05000000000000000000" pitchFamily="2" charset="2"/>
              <a:buNone/>
            </a:pPr>
            <a:endParaRPr lang="en-US" altLang="zh-CN" sz="1500" b="1">
              <a:latin typeface="GreekS" pitchFamily="2" charset="0"/>
            </a:endParaRPr>
          </a:p>
        </p:txBody>
      </p:sp>
      <p:sp>
        <p:nvSpPr>
          <p:cNvPr id="143364" name="Rectangle 1028"/>
          <p:cNvSpPr>
            <a:spLocks noChangeArrowheads="1"/>
          </p:cNvSpPr>
          <p:nvPr/>
        </p:nvSpPr>
        <p:spPr bwMode="auto">
          <a:xfrm>
            <a:off x="322905" y="1556077"/>
            <a:ext cx="3810785" cy="315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lvl="1" eaLnBrk="1" hangingPunct="1">
              <a:buClr>
                <a:srgbClr val="FFFF00"/>
              </a:buClr>
              <a:buSzTx/>
              <a:buFont typeface="Wingdings" panose="05000000000000000000" pitchFamily="2" charset="2"/>
              <a:buChar char="v"/>
            </a:pPr>
            <a:r>
              <a:rPr lang="zh-CN" altLang="en-US" sz="2400" b="1" dirty="0">
                <a:solidFill>
                  <a:srgbClr val="FF0000"/>
                </a:solidFill>
                <a:latin typeface="楷体_GB2312" pitchFamily="49" charset="-122"/>
                <a:ea typeface="楷体_GB2312" pitchFamily="49" charset="-122"/>
              </a:rPr>
              <a:t>应尽量不用或少用型芯</a:t>
            </a:r>
            <a:endParaRPr lang="zh-CN" altLang="en-US" sz="2400" b="1" dirty="0">
              <a:solidFill>
                <a:srgbClr val="FF0000"/>
              </a:solidFill>
              <a:latin typeface="楷体_GB2312" pitchFamily="49" charset="-122"/>
              <a:ea typeface="楷体_GB2312" pitchFamily="49" charset="-122"/>
            </a:endParaRPr>
          </a:p>
          <a:p>
            <a:pPr eaLnBrk="1" hangingPunct="1">
              <a:buClr>
                <a:srgbClr val="FFFF00"/>
              </a:buClr>
              <a:buSzTx/>
              <a:buFont typeface="Wingdings" panose="05000000000000000000" pitchFamily="2" charset="2"/>
              <a:buNone/>
            </a:pPr>
            <a:r>
              <a:rPr lang="zh-CN" altLang="en-US" sz="1800" b="1" dirty="0">
                <a:latin typeface="楷体_GB2312" pitchFamily="49" charset="-122"/>
                <a:ea typeface="楷体_GB2312" pitchFamily="49" charset="-122"/>
              </a:rPr>
              <a:t>   图所示的轴承座结构，若按图</a:t>
            </a:r>
            <a:r>
              <a:rPr lang="en-US" altLang="zh-CN" sz="1800" b="1" dirty="0">
                <a:latin typeface="楷体_GB2312" pitchFamily="49" charset="-122"/>
                <a:ea typeface="楷体_GB2312" pitchFamily="49" charset="-122"/>
              </a:rPr>
              <a:t>(a)</a:t>
            </a:r>
            <a:r>
              <a:rPr lang="zh-CN" altLang="en-US" sz="1800" b="1" dirty="0">
                <a:latin typeface="楷体_GB2312" pitchFamily="49" charset="-122"/>
                <a:ea typeface="楷体_GB2312" pitchFamily="49" charset="-122"/>
              </a:rPr>
              <a:t>设计成闭式结构，需使用型芯。由于悬臂且型芯固定不稳，需用型芯撑支撑，且排气不畅，清理也不方便。</a:t>
            </a:r>
            <a:endParaRPr lang="en-US" altLang="zh-CN" sz="1800" b="1" dirty="0">
              <a:latin typeface="楷体_GB2312" pitchFamily="49" charset="-122"/>
              <a:ea typeface="楷体_GB2312" pitchFamily="49" charset="-122"/>
            </a:endParaRPr>
          </a:p>
          <a:p>
            <a:pPr eaLnBrk="1" hangingPunct="1">
              <a:buClr>
                <a:srgbClr val="FFFF00"/>
              </a:buClr>
              <a:buSzTx/>
              <a:buFont typeface="Wingdings" panose="05000000000000000000" pitchFamily="2" charset="2"/>
              <a:buNone/>
            </a:pPr>
            <a:r>
              <a:rPr lang="en-US" altLang="zh-CN" sz="1800" b="1" dirty="0">
                <a:latin typeface="楷体_GB2312" pitchFamily="49" charset="-122"/>
                <a:ea typeface="楷体_GB2312" pitchFamily="49" charset="-122"/>
              </a:rPr>
              <a:t>   </a:t>
            </a:r>
            <a:r>
              <a:rPr lang="zh-CN" altLang="en-US" sz="1800" b="1" dirty="0">
                <a:latin typeface="楷体_GB2312" pitchFamily="49" charset="-122"/>
                <a:ea typeface="楷体_GB2312" pitchFamily="49" charset="-122"/>
              </a:rPr>
              <a:t>如改用图</a:t>
            </a:r>
            <a:r>
              <a:rPr lang="en-US" altLang="zh-CN" sz="1800" b="1" dirty="0">
                <a:latin typeface="楷体_GB2312" pitchFamily="49" charset="-122"/>
                <a:ea typeface="楷体_GB2312" pitchFamily="49" charset="-122"/>
              </a:rPr>
              <a:t>(b)</a:t>
            </a:r>
            <a:r>
              <a:rPr lang="zh-CN" altLang="en-US" sz="1800" b="1" dirty="0">
                <a:latin typeface="楷体_GB2312" pitchFamily="49" charset="-122"/>
                <a:ea typeface="楷体_GB2312" pitchFamily="49" charset="-122"/>
              </a:rPr>
              <a:t>开式结构后，不仅省去型芯，造型方便，而且还可节省金属。</a:t>
            </a:r>
            <a:endParaRPr lang="zh-CN" altLang="en-US" sz="1800" b="1" dirty="0">
              <a:latin typeface="楷体_GB2312" pitchFamily="49" charset="-122"/>
              <a:ea typeface="楷体_GB2312" pitchFamily="49" charset="-122"/>
            </a:endParaRPr>
          </a:p>
        </p:txBody>
      </p:sp>
      <p:pic>
        <p:nvPicPr>
          <p:cNvPr id="143365" name="Picture 1037" descr="图片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27895" y="1844592"/>
            <a:ext cx="4681622" cy="4191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2"/>
          <a:stretch>
            <a:fillRect/>
          </a:stretch>
        </p:blipFill>
        <p:spPr>
          <a:xfrm>
            <a:off x="35560" y="4969510"/>
            <a:ext cx="4660900" cy="1561465"/>
          </a:xfrm>
          <a:prstGeom prst="rect">
            <a:avLst/>
          </a:prstGeom>
        </p:spPr>
      </p:pic>
      <p:sp>
        <p:nvSpPr>
          <p:cNvPr id="4" name="文本框 3"/>
          <p:cNvSpPr txBox="1"/>
          <p:nvPr/>
        </p:nvSpPr>
        <p:spPr>
          <a:xfrm>
            <a:off x="1729677" y="5631270"/>
            <a:ext cx="1548352" cy="106680"/>
          </a:xfrm>
          <a:prstGeom prst="rect">
            <a:avLst/>
          </a:prstGeom>
          <a:noFill/>
        </p:spPr>
        <p:txBody>
          <a:bodyPr wrap="square" rtlCol="0">
            <a:spAutoFit/>
          </a:bodyPr>
          <a:lstStyle/>
          <a:p>
            <a:r>
              <a:rPr lang="zh-CN" altLang="en-US" sz="100" dirty="0"/>
              <a:t>悬臂支架</a:t>
            </a:r>
            <a:endParaRPr lang="zh-CN" altLang="en-US" sz="1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ChangeArrowheads="1"/>
          </p:cNvSpPr>
          <p:nvPr/>
        </p:nvSpPr>
        <p:spPr bwMode="auto">
          <a:xfrm>
            <a:off x="1835150" y="549275"/>
            <a:ext cx="5338763" cy="701675"/>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4000" b="0"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宋体" panose="02010600030101010101" pitchFamily="2" charset="-122"/>
                <a:cs typeface="+mn-cs"/>
              </a:rPr>
              <a:t>      </a:t>
            </a: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铸件结构设计</a:t>
            </a:r>
            <a:endParaRPr kumimoji="0" lang="zh-CN" altLang="en-US" sz="4000" b="1" i="0" u="none" strike="noStrike" kern="1200" cap="none" spc="0" normalizeH="0" baseline="0" noProof="0">
              <a:ln>
                <a:noFill/>
              </a:ln>
              <a:solidFill>
                <a:schemeClr val="tx1"/>
              </a:solidFill>
              <a:effectLst/>
              <a:uLnTx/>
              <a:uFillTx/>
              <a:latin typeface="Verdana" panose="020B0604030504040204" pitchFamily="34" charset="0"/>
              <a:ea typeface="楷体_GB2312" pitchFamily="49" charset="-122"/>
              <a:cs typeface="+mn-cs"/>
            </a:endParaRPr>
          </a:p>
        </p:txBody>
      </p:sp>
      <p:sp>
        <p:nvSpPr>
          <p:cNvPr id="144387" name="Rectangle 3"/>
          <p:cNvSpPr/>
          <p:nvPr/>
        </p:nvSpPr>
        <p:spPr>
          <a:xfrm>
            <a:off x="755650" y="1647825"/>
            <a:ext cx="7897813" cy="11271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
                <a:srgbClr val="FF3300"/>
              </a:buClr>
              <a:buSzTx/>
              <a:buFont typeface="Wingdings" panose="05000000000000000000" pitchFamily="2" charset="2"/>
              <a:buChar char="Ø"/>
            </a:pPr>
            <a:r>
              <a:rPr lang="zh-CN" altLang="en-US" sz="2400" b="1" dirty="0">
                <a:solidFill>
                  <a:srgbClr val="FF3300"/>
                </a:solidFill>
                <a:latin typeface="楷体_GB2312" pitchFamily="49" charset="-122"/>
                <a:ea typeface="楷体_GB2312" pitchFamily="49" charset="-122"/>
              </a:rPr>
              <a:t>尽可能减少活块和型芯数，以简化制模和造型工艺。</a:t>
            </a:r>
            <a:endParaRPr lang="zh-CN" altLang="en-US" sz="2400" b="1" dirty="0">
              <a:solidFill>
                <a:srgbClr val="FF3300"/>
              </a:solidFill>
              <a:latin typeface="楷体_GB2312" pitchFamily="49" charset="-122"/>
              <a:ea typeface="楷体_GB2312" pitchFamily="49" charset="-122"/>
            </a:endParaRPr>
          </a:p>
          <a:p>
            <a:pPr marL="0" lvl="0" indent="0" eaLnBrk="1" hangingPunct="1">
              <a:spcBef>
                <a:spcPct val="0"/>
              </a:spcBef>
              <a:buClrTx/>
              <a:buSzTx/>
              <a:buNone/>
            </a:pPr>
            <a:r>
              <a:rPr lang="zh-CN" altLang="en-US" sz="24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因出口处尺寸小， 要用型芯形成内腔。图</a:t>
            </a:r>
            <a:r>
              <a:rPr lang="en-US" altLang="zh-CN" sz="2000" b="1" dirty="0">
                <a:latin typeface="楷体_GB2312" pitchFamily="49" charset="-122"/>
                <a:ea typeface="楷体_GB2312" pitchFamily="49" charset="-122"/>
              </a:rPr>
              <a:t>b</a:t>
            </a:r>
            <a:r>
              <a:rPr lang="zh-CN" altLang="en-US" sz="2000" b="1" dirty="0">
                <a:latin typeface="楷体_GB2312" pitchFamily="49" charset="-122"/>
                <a:ea typeface="楷体_GB2312" pitchFamily="49" charset="-122"/>
              </a:rPr>
              <a:t>扩大了出口，且</a:t>
            </a:r>
            <a:r>
              <a:rPr lang="en-US" altLang="zh-CN" sz="2000" b="1" dirty="0">
                <a:latin typeface="楷体_GB2312" pitchFamily="49" charset="-122"/>
                <a:ea typeface="楷体_GB2312" pitchFamily="49" charset="-122"/>
              </a:rPr>
              <a:t>D</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H </a:t>
            </a:r>
            <a:r>
              <a:rPr lang="zh-CN" altLang="en-US" sz="2000" b="1" dirty="0">
                <a:latin typeface="楷体_GB2312" pitchFamily="49" charset="-122"/>
                <a:ea typeface="楷体_GB2312" pitchFamily="49" charset="-122"/>
              </a:rPr>
              <a:t>，故可用砂垛（自带型芯）形成内腔．从而省掉型芯。</a:t>
            </a:r>
            <a:endParaRPr lang="zh-CN" altLang="en-US" sz="2000" b="1" dirty="0">
              <a:latin typeface="楷体_GB2312" pitchFamily="49" charset="-122"/>
              <a:ea typeface="楷体_GB2312" pitchFamily="49" charset="-122"/>
            </a:endParaRPr>
          </a:p>
        </p:txBody>
      </p:sp>
      <p:pic>
        <p:nvPicPr>
          <p:cNvPr id="144388" name="Picture 4"/>
          <p:cNvPicPr>
            <a:picLocks noChangeAspect="1"/>
          </p:cNvPicPr>
          <p:nvPr/>
        </p:nvPicPr>
        <p:blipFill>
          <a:blip r:embed="rId1"/>
          <a:stretch>
            <a:fillRect/>
          </a:stretch>
        </p:blipFill>
        <p:spPr>
          <a:xfrm>
            <a:off x="11113" y="3357563"/>
            <a:ext cx="9047162" cy="2303462"/>
          </a:xfrm>
          <a:prstGeom prst="rect">
            <a:avLst/>
          </a:prstGeom>
          <a:noFill/>
          <a:ln w="9525">
            <a:noFill/>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p:cNvSpPr>
          <p:nvPr>
            <p:ph type="title"/>
          </p:nvPr>
        </p:nvSpPr>
        <p:spPr>
          <a:xfrm>
            <a:off x="1343025" y="344488"/>
            <a:ext cx="6253163"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45411" name="Text Box 3"/>
          <p:cNvSpPr txBox="1"/>
          <p:nvPr/>
        </p:nvSpPr>
        <p:spPr>
          <a:xfrm>
            <a:off x="1203325" y="6550025"/>
            <a:ext cx="6413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endParaRPr lang="en-US" altLang="zh-CN" sz="2000" b="1" dirty="0">
              <a:latin typeface="GreekS" pitchFamily="2" charset="0"/>
            </a:endParaRPr>
          </a:p>
          <a:p>
            <a:pPr marL="0" lvl="0" indent="0" eaLnBrk="1" hangingPunct="1">
              <a:buClr>
                <a:schemeClr val="tx1"/>
              </a:buClr>
              <a:buSzTx/>
              <a:buNone/>
            </a:pPr>
            <a:endParaRPr lang="en-US" altLang="zh-CN" sz="2000" b="1" dirty="0">
              <a:latin typeface="GreekS" pitchFamily="2" charset="0"/>
            </a:endParaRPr>
          </a:p>
        </p:txBody>
      </p:sp>
      <p:pic>
        <p:nvPicPr>
          <p:cNvPr id="145412" name="Picture 5" descr="图片10"/>
          <p:cNvPicPr>
            <a:picLocks noChangeAspect="1"/>
          </p:cNvPicPr>
          <p:nvPr/>
        </p:nvPicPr>
        <p:blipFill>
          <a:blip r:embed="rId1"/>
          <a:stretch>
            <a:fillRect/>
          </a:stretch>
        </p:blipFill>
        <p:spPr>
          <a:xfrm>
            <a:off x="900113" y="4757738"/>
            <a:ext cx="3311525" cy="2011362"/>
          </a:xfrm>
          <a:prstGeom prst="rect">
            <a:avLst/>
          </a:prstGeom>
          <a:noFill/>
          <a:ln w="9525">
            <a:noFill/>
          </a:ln>
        </p:spPr>
      </p:pic>
      <p:pic>
        <p:nvPicPr>
          <p:cNvPr id="109573" name="Picture 6" descr="图片12"/>
          <p:cNvPicPr>
            <a:picLocks noChangeAspect="1"/>
          </p:cNvPicPr>
          <p:nvPr/>
        </p:nvPicPr>
        <p:blipFill>
          <a:blip r:embed="rId2"/>
          <a:stretch>
            <a:fillRect/>
          </a:stretch>
        </p:blipFill>
        <p:spPr>
          <a:xfrm>
            <a:off x="4859338" y="4784725"/>
            <a:ext cx="3313112" cy="1957388"/>
          </a:xfrm>
          <a:prstGeom prst="rect">
            <a:avLst/>
          </a:prstGeom>
          <a:noFill/>
          <a:ln w="9525">
            <a:noFill/>
          </a:ln>
        </p:spPr>
      </p:pic>
      <p:sp>
        <p:nvSpPr>
          <p:cNvPr id="145414" name="Rectangle 7"/>
          <p:cNvSpPr/>
          <p:nvPr/>
        </p:nvSpPr>
        <p:spPr>
          <a:xfrm>
            <a:off x="468313" y="1628775"/>
            <a:ext cx="7897812" cy="31702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
                <a:srgbClr val="FF3300"/>
              </a:buClr>
              <a:buSzTx/>
              <a:buFont typeface="Wingdings" panose="05000000000000000000" pitchFamily="2" charset="2"/>
              <a:buChar char="Ø"/>
            </a:pPr>
            <a:r>
              <a:rPr lang="zh-CN" altLang="en-US" sz="2400" b="1" dirty="0">
                <a:solidFill>
                  <a:srgbClr val="FF3300"/>
                </a:solidFill>
                <a:latin typeface="楷体_GB2312" pitchFamily="49" charset="-122"/>
                <a:ea typeface="楷体_GB2312" pitchFamily="49" charset="-122"/>
              </a:rPr>
              <a:t>型芯必须安装方便、稳固可靠，排气通畅</a:t>
            </a:r>
            <a:endParaRPr lang="zh-CN" altLang="en-US" sz="2400" b="1" dirty="0">
              <a:solidFill>
                <a:srgbClr val="FF3300"/>
              </a:solidFill>
              <a:latin typeface="楷体_GB2312" pitchFamily="49" charset="-122"/>
              <a:ea typeface="楷体_GB2312" pitchFamily="49" charset="-122"/>
            </a:endParaRPr>
          </a:p>
          <a:p>
            <a:pPr marL="0" lvl="0" indent="0" eaLnBrk="1" hangingPunct="1">
              <a:spcBef>
                <a:spcPct val="0"/>
              </a:spcBef>
              <a:buClr>
                <a:srgbClr val="FF3300"/>
              </a:buClr>
              <a:buSzTx/>
              <a:buNone/>
            </a:pPr>
            <a:r>
              <a:rPr lang="zh-CN" altLang="en-US" sz="1800" b="1" dirty="0">
                <a:latin typeface="楷体_GB2312" pitchFamily="49" charset="-122"/>
                <a:ea typeface="楷体_GB2312" pitchFamily="49" charset="-122"/>
              </a:rPr>
              <a:t>    </a:t>
            </a:r>
            <a:r>
              <a:rPr lang="zh-CN" altLang="en-US" sz="2200" b="1" dirty="0">
                <a:latin typeface="楷体_GB2312" pitchFamily="49" charset="-122"/>
                <a:ea typeface="楷体_GB2312" pitchFamily="49" charset="-122"/>
              </a:rPr>
              <a:t>型芯在铸型中应能可靠地固定和便于排气，以避免偏芯、气孔等缺陷。型芯通常靠芯头来固定，如果仅靠芯头支承不能稳固时，需要采用芯撑辅助支承。但芯撑常因表面氧化或铸件薄而不能与浇入金属很好地熔合，影响铸件的气密性和力学性能，应尽可能避免使用。</a:t>
            </a:r>
            <a:endParaRPr lang="zh-CN" altLang="en-US" sz="2200" b="1" dirty="0">
              <a:latin typeface="楷体_GB2312" pitchFamily="49" charset="-122"/>
              <a:ea typeface="楷体_GB2312" pitchFamily="49" charset="-122"/>
            </a:endParaRPr>
          </a:p>
          <a:p>
            <a:pPr marL="0" lvl="0" indent="0" eaLnBrk="1" hangingPunct="1">
              <a:spcBef>
                <a:spcPct val="0"/>
              </a:spcBef>
              <a:buClrTx/>
              <a:buSzTx/>
              <a:buNone/>
            </a:pPr>
            <a:r>
              <a:rPr lang="zh-CN" altLang="en-US" sz="2200" b="1" dirty="0">
                <a:latin typeface="楷体_GB2312" pitchFamily="49" charset="-122"/>
                <a:ea typeface="楷体_GB2312" pitchFamily="49" charset="-122"/>
              </a:rPr>
              <a:t>    </a:t>
            </a:r>
            <a:r>
              <a:rPr lang="zh-CN" altLang="en-US" sz="2200" b="1" dirty="0">
                <a:solidFill>
                  <a:srgbClr val="A50021"/>
                </a:solidFill>
                <a:latin typeface="楷体_GB2312" pitchFamily="49" charset="-122"/>
                <a:ea typeface="楷体_GB2312" pitchFamily="49" charset="-122"/>
              </a:rPr>
              <a:t>将轴承支架的原设计图</a:t>
            </a:r>
            <a:r>
              <a:rPr lang="en-US" altLang="zh-CN" sz="2200" b="1" dirty="0">
                <a:solidFill>
                  <a:srgbClr val="A50021"/>
                </a:solidFill>
                <a:latin typeface="楷体_GB2312" pitchFamily="49" charset="-122"/>
                <a:ea typeface="楷体_GB2312" pitchFamily="49" charset="-122"/>
              </a:rPr>
              <a:t>(a</a:t>
            </a:r>
            <a:r>
              <a:rPr lang="zh-CN" altLang="en-US" sz="2200" b="1" dirty="0">
                <a:solidFill>
                  <a:srgbClr val="A50021"/>
                </a:solidFill>
                <a:latin typeface="楷体_GB2312" pitchFamily="49" charset="-122"/>
                <a:ea typeface="楷体_GB2312" pitchFamily="49" charset="-122"/>
              </a:rPr>
              <a:t>）改为图</a:t>
            </a:r>
            <a:r>
              <a:rPr lang="en-US" altLang="zh-CN" sz="2200" b="1" dirty="0">
                <a:solidFill>
                  <a:srgbClr val="A50021"/>
                </a:solidFill>
                <a:latin typeface="楷体_GB2312" pitchFamily="49" charset="-122"/>
                <a:ea typeface="楷体_GB2312" pitchFamily="49" charset="-122"/>
              </a:rPr>
              <a:t>(b</a:t>
            </a:r>
            <a:r>
              <a:rPr lang="zh-CN" altLang="en-US" sz="2200" b="1" dirty="0">
                <a:solidFill>
                  <a:srgbClr val="A50021"/>
                </a:solidFill>
                <a:latin typeface="楷体_GB2312" pitchFamily="49" charset="-122"/>
                <a:ea typeface="楷体_GB2312" pitchFamily="49" charset="-122"/>
              </a:rPr>
              <a:t>）的结构，型芯为具有三个芯头的整体结构，避免了原设计中型芯难以固定、排气和清理的问题</a:t>
            </a:r>
            <a:r>
              <a:rPr lang="zh-CN" altLang="en-US" sz="2000" b="1" dirty="0">
                <a:solidFill>
                  <a:srgbClr val="A50021"/>
                </a:solidFill>
                <a:latin typeface="楷体_GB2312" pitchFamily="49" charset="-122"/>
                <a:ea typeface="楷体_GB2312" pitchFamily="49" charset="-122"/>
              </a:rPr>
              <a:t>。</a:t>
            </a:r>
            <a:endParaRPr lang="zh-CN" altLang="en-US" sz="2000" b="1" dirty="0">
              <a:solidFill>
                <a:srgbClr val="A50021"/>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09573"/>
                                        </p:tgtEl>
                                        <p:attrNameLst>
                                          <p:attrName>style.visibility</p:attrName>
                                        </p:attrNameLst>
                                      </p:cBhvr>
                                      <p:to>
                                        <p:strVal val="visible"/>
                                      </p:to>
                                    </p:set>
                                    <p:animEffect transition="in" filter="diamond(in)">
                                      <p:cBhvr>
                                        <p:cTn id="7" dur="2000"/>
                                        <p:tgtEl>
                                          <p:spTgt spid="109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2"/>
          <p:cNvSpPr>
            <a:spLocks noGrp="1"/>
          </p:cNvSpPr>
          <p:nvPr>
            <p:ph type="title"/>
          </p:nvPr>
        </p:nvSpPr>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铸件的结构设计</a:t>
            </a:r>
            <a:endParaRPr lang="zh-CN" altLang="zh-CN" sz="4000" b="1" dirty="0">
              <a:latin typeface="Verdana" panose="020B0604030504040204" pitchFamily="34" charset="0"/>
              <a:ea typeface="楷体_GB2312" pitchFamily="49" charset="-122"/>
            </a:endParaRPr>
          </a:p>
        </p:txBody>
      </p:sp>
      <p:grpSp>
        <p:nvGrpSpPr>
          <p:cNvPr id="146435" name="Group 3"/>
          <p:cNvGrpSpPr/>
          <p:nvPr/>
        </p:nvGrpSpPr>
        <p:grpSpPr>
          <a:xfrm>
            <a:off x="3932238" y="1557338"/>
            <a:ext cx="4751387" cy="3043237"/>
            <a:chOff x="0" y="0"/>
            <a:chExt cx="2438" cy="1314"/>
          </a:xfrm>
        </p:grpSpPr>
        <p:pic>
          <p:nvPicPr>
            <p:cNvPr id="146440" name="Picture 4"/>
            <p:cNvPicPr>
              <a:picLocks noChangeAspect="1"/>
            </p:cNvPicPr>
            <p:nvPr/>
          </p:nvPicPr>
          <p:blipFill>
            <a:blip r:embed="rId1"/>
            <a:stretch>
              <a:fillRect/>
            </a:stretch>
          </p:blipFill>
          <p:spPr>
            <a:xfrm>
              <a:off x="0" y="0"/>
              <a:ext cx="2438" cy="1087"/>
            </a:xfrm>
            <a:prstGeom prst="rect">
              <a:avLst/>
            </a:prstGeom>
            <a:noFill/>
            <a:ln w="9525">
              <a:noFill/>
            </a:ln>
          </p:spPr>
        </p:pic>
        <p:sp>
          <p:nvSpPr>
            <p:cNvPr id="146441" name="Text Box 5"/>
            <p:cNvSpPr txBox="1"/>
            <p:nvPr/>
          </p:nvSpPr>
          <p:spPr>
            <a:xfrm>
              <a:off x="833" y="1147"/>
              <a:ext cx="845" cy="167"/>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900" dirty="0">
                  <a:latin typeface="Times New Roman" panose="02020603050405020304" pitchFamily="18" charset="0"/>
                </a:rPr>
                <a:t>  </a:t>
              </a:r>
              <a:r>
                <a:rPr lang="zh-CN" altLang="en-US" sz="1200" dirty="0">
                  <a:latin typeface="Times New Roman" panose="02020603050405020304" pitchFamily="18" charset="0"/>
                </a:rPr>
                <a:t>图</a:t>
              </a:r>
              <a:r>
                <a:rPr lang="en-US" altLang="zh-CN" sz="1200" dirty="0">
                  <a:latin typeface="Times New Roman" panose="02020603050405020304" pitchFamily="18" charset="0"/>
                </a:rPr>
                <a:t>33</a:t>
              </a:r>
              <a:r>
                <a:rPr lang="zh-CN" altLang="en-US" sz="1200" dirty="0">
                  <a:latin typeface="Times New Roman" panose="02020603050405020304" pitchFamily="18" charset="0"/>
                </a:rPr>
                <a:t>活塞结构实例</a:t>
              </a:r>
              <a:r>
                <a:rPr lang="zh-CN" altLang="en-US" sz="900" dirty="0">
                  <a:latin typeface="Times New Roman" panose="02020603050405020304" pitchFamily="18" charset="0"/>
                </a:rPr>
                <a:t>	</a:t>
              </a:r>
              <a:endParaRPr lang="zh-CN" altLang="en-US" sz="1000" dirty="0">
                <a:latin typeface="Times New Roman" panose="02020603050405020304" pitchFamily="18" charset="0"/>
              </a:endParaRPr>
            </a:p>
            <a:p>
              <a:pPr marL="0" lvl="0" indent="0" eaLnBrk="1" hangingPunct="1">
                <a:spcBef>
                  <a:spcPct val="0"/>
                </a:spcBef>
                <a:buClrTx/>
                <a:buSzTx/>
                <a:buNone/>
              </a:pPr>
              <a:endParaRPr lang="en-US" altLang="zh-CN" sz="1800" dirty="0"/>
            </a:p>
          </p:txBody>
        </p:sp>
      </p:grpSp>
      <p:sp>
        <p:nvSpPr>
          <p:cNvPr id="146436" name="Rectangle 6"/>
          <p:cNvSpPr/>
          <p:nvPr/>
        </p:nvSpPr>
        <p:spPr>
          <a:xfrm>
            <a:off x="461963" y="1752600"/>
            <a:ext cx="3313112" cy="4832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Ø"/>
            </a:pPr>
            <a:r>
              <a:rPr lang="zh-CN" altLang="en-US" sz="2400" b="1" dirty="0">
                <a:solidFill>
                  <a:srgbClr val="FF0000"/>
                </a:solidFill>
                <a:ea typeface="楷体_GB2312" pitchFamily="49" charset="-122"/>
              </a:rPr>
              <a:t>铸件结构应有利于型芯的固定、排气和清理</a:t>
            </a:r>
            <a:r>
              <a:rPr lang="zh-CN" altLang="en-US" sz="1800" dirty="0"/>
              <a:t> </a:t>
            </a:r>
            <a:endParaRPr lang="zh-CN" altLang="en-US" sz="1800" dirty="0"/>
          </a:p>
          <a:p>
            <a:pPr marL="0" lvl="0" indent="0" eaLnBrk="1" hangingPunct="1">
              <a:spcBef>
                <a:spcPct val="0"/>
              </a:spcBef>
              <a:buClrTx/>
              <a:buSzTx/>
              <a:buNone/>
            </a:pPr>
            <a:r>
              <a:rPr lang="zh-CN" altLang="en-US" sz="2000" b="1" dirty="0">
                <a:solidFill>
                  <a:srgbClr val="000000"/>
                </a:solidFill>
                <a:latin typeface="楷体_GB2312" pitchFamily="49" charset="-122"/>
                <a:ea typeface="楷体_GB2312" pitchFamily="49" charset="-122"/>
              </a:rPr>
              <a:t>图（</a:t>
            </a:r>
            <a:r>
              <a:rPr lang="en-US" altLang="zh-CN" sz="2000" b="1" dirty="0">
                <a:solidFill>
                  <a:srgbClr val="000000"/>
                </a:solidFill>
                <a:latin typeface="楷体_GB2312" pitchFamily="49" charset="-122"/>
                <a:ea typeface="楷体_GB2312" pitchFamily="49" charset="-122"/>
              </a:rPr>
              <a:t>a</a:t>
            </a:r>
            <a:r>
              <a:rPr lang="zh-CN" altLang="en-US" sz="2000" b="1" dirty="0">
                <a:solidFill>
                  <a:srgbClr val="000000"/>
                </a:solidFill>
                <a:latin typeface="楷体_GB2312" pitchFamily="49" charset="-122"/>
                <a:ea typeface="楷体_GB2312" pitchFamily="49" charset="-122"/>
              </a:rPr>
              <a:t>）所示铸件在结构上不需要铸出孔，型芯只能用型芯撑支承，型芯的稳定性不够，排气性不好</a:t>
            </a:r>
            <a:r>
              <a:rPr lang="en-US" altLang="zh-CN" sz="2000" b="1" dirty="0">
                <a:solidFill>
                  <a:srgbClr val="000000"/>
                </a:solidFill>
                <a:latin typeface="楷体_GB2312" pitchFamily="49" charset="-122"/>
                <a:ea typeface="楷体_GB2312" pitchFamily="49" charset="-122"/>
              </a:rPr>
              <a:t>,</a:t>
            </a:r>
            <a:r>
              <a:rPr lang="zh-CN" altLang="en-US" sz="2000" b="1" dirty="0">
                <a:solidFill>
                  <a:srgbClr val="000000"/>
                </a:solidFill>
                <a:latin typeface="楷体_GB2312" pitchFamily="49" charset="-122"/>
                <a:ea typeface="楷体_GB2312" pitchFamily="49" charset="-122"/>
              </a:rPr>
              <a:t>且铸件清理困难。</a:t>
            </a:r>
            <a:endParaRPr lang="zh-CN" altLang="en-US" sz="2000" b="1" dirty="0">
              <a:solidFill>
                <a:srgbClr val="000000"/>
              </a:solidFill>
              <a:latin typeface="楷体_GB2312" pitchFamily="49" charset="-122"/>
              <a:ea typeface="楷体_GB2312" pitchFamily="49" charset="-122"/>
            </a:endParaRPr>
          </a:p>
          <a:p>
            <a:pPr marL="0" lvl="0" indent="0" eaLnBrk="1" hangingPunct="1">
              <a:spcBef>
                <a:spcPct val="0"/>
              </a:spcBef>
              <a:buClrTx/>
              <a:buSzTx/>
              <a:buNone/>
            </a:pPr>
            <a:r>
              <a:rPr lang="zh-CN" altLang="en-US" sz="2000" b="1" dirty="0">
                <a:solidFill>
                  <a:srgbClr val="000000"/>
                </a:solidFill>
                <a:latin typeface="楷体_GB2312" pitchFamily="49" charset="-122"/>
                <a:ea typeface="楷体_GB2312" pitchFamily="49" charset="-122"/>
              </a:rPr>
              <a:t>   </a:t>
            </a:r>
            <a:r>
              <a:rPr lang="zh-CN" altLang="en-US" sz="2000" b="1" dirty="0">
                <a:solidFill>
                  <a:srgbClr val="A50021"/>
                </a:solidFill>
                <a:latin typeface="楷体_GB2312" pitchFamily="49" charset="-122"/>
                <a:ea typeface="楷体_GB2312" pitchFamily="49" charset="-122"/>
              </a:rPr>
              <a:t>在不影响铸件使用性能的前提下，将其改为图（</a:t>
            </a:r>
            <a:r>
              <a:rPr lang="en-US" altLang="zh-CN" sz="2000" b="1" dirty="0">
                <a:solidFill>
                  <a:srgbClr val="A50021"/>
                </a:solidFill>
                <a:latin typeface="楷体_GB2312" pitchFamily="49" charset="-122"/>
                <a:ea typeface="楷体_GB2312" pitchFamily="49" charset="-122"/>
              </a:rPr>
              <a:t>b</a:t>
            </a:r>
            <a:r>
              <a:rPr lang="zh-CN" altLang="en-US" sz="2000" b="1" dirty="0">
                <a:solidFill>
                  <a:srgbClr val="A50021"/>
                </a:solidFill>
                <a:latin typeface="楷体_GB2312" pitchFamily="49" charset="-122"/>
                <a:ea typeface="楷体_GB2312" pitchFamily="49" charset="-122"/>
              </a:rPr>
              <a:t>）的结构，在铸件底部增设两个工艺孔，可简化铸造工艺、若零件不允许有此孔</a:t>
            </a:r>
            <a:r>
              <a:rPr lang="en-US" altLang="zh-CN" sz="2000" b="1" dirty="0">
                <a:solidFill>
                  <a:srgbClr val="A50021"/>
                </a:solidFill>
                <a:latin typeface="楷体_GB2312" pitchFamily="49" charset="-122"/>
                <a:ea typeface="楷体_GB2312" pitchFamily="49" charset="-122"/>
              </a:rPr>
              <a:t>,</a:t>
            </a:r>
            <a:r>
              <a:rPr lang="zh-CN" altLang="en-US" sz="2000" b="1" dirty="0">
                <a:solidFill>
                  <a:srgbClr val="A50021"/>
                </a:solidFill>
                <a:latin typeface="楷体_GB2312" pitchFamily="49" charset="-122"/>
                <a:ea typeface="楷体_GB2312" pitchFamily="49" charset="-122"/>
              </a:rPr>
              <a:t>可在机械加工时用螺钉或柱塞堵死</a:t>
            </a:r>
            <a:r>
              <a:rPr lang="en-US" altLang="zh-CN" sz="2000" b="1" dirty="0">
                <a:solidFill>
                  <a:srgbClr val="A50021"/>
                </a:solidFill>
                <a:latin typeface="楷体_GB2312" pitchFamily="49" charset="-122"/>
                <a:ea typeface="楷体_GB2312" pitchFamily="49" charset="-122"/>
              </a:rPr>
              <a:t>,</a:t>
            </a:r>
            <a:r>
              <a:rPr lang="zh-CN" altLang="en-US" sz="2000" b="1" dirty="0">
                <a:solidFill>
                  <a:srgbClr val="A50021"/>
                </a:solidFill>
                <a:latin typeface="楷体_GB2312" pitchFamily="49" charset="-122"/>
                <a:ea typeface="楷体_GB2312" pitchFamily="49" charset="-122"/>
              </a:rPr>
              <a:t>如为铸钢件可用钢板焊死。</a:t>
            </a:r>
            <a:endParaRPr lang="zh-CN" altLang="en-US" sz="2000" b="1" dirty="0">
              <a:solidFill>
                <a:srgbClr val="A50021"/>
              </a:solidFill>
              <a:latin typeface="楷体_GB2312" pitchFamily="49" charset="-122"/>
              <a:ea typeface="楷体_GB2312" pitchFamily="49" charset="-122"/>
            </a:endParaRPr>
          </a:p>
        </p:txBody>
      </p:sp>
      <p:grpSp>
        <p:nvGrpSpPr>
          <p:cNvPr id="146437" name="Group 7"/>
          <p:cNvGrpSpPr/>
          <p:nvPr/>
        </p:nvGrpSpPr>
        <p:grpSpPr>
          <a:xfrm>
            <a:off x="3949700" y="4075113"/>
            <a:ext cx="4897438" cy="2795587"/>
            <a:chOff x="0" y="0"/>
            <a:chExt cx="2541" cy="1210"/>
          </a:xfrm>
        </p:grpSpPr>
        <p:pic>
          <p:nvPicPr>
            <p:cNvPr id="146438" name="Picture 8"/>
            <p:cNvPicPr>
              <a:picLocks noChangeAspect="1"/>
            </p:cNvPicPr>
            <p:nvPr/>
          </p:nvPicPr>
          <p:blipFill>
            <a:blip r:embed="rId2"/>
            <a:stretch>
              <a:fillRect/>
            </a:stretch>
          </p:blipFill>
          <p:spPr>
            <a:xfrm>
              <a:off x="0" y="0"/>
              <a:ext cx="2541" cy="1210"/>
            </a:xfrm>
            <a:prstGeom prst="rect">
              <a:avLst/>
            </a:prstGeom>
            <a:noFill/>
            <a:ln w="9525">
              <a:noFill/>
            </a:ln>
          </p:spPr>
        </p:pic>
        <p:sp>
          <p:nvSpPr>
            <p:cNvPr id="146439" name="Rectangle 9"/>
            <p:cNvSpPr/>
            <p:nvPr/>
          </p:nvSpPr>
          <p:spPr>
            <a:xfrm>
              <a:off x="772" y="1043"/>
              <a:ext cx="226" cy="91"/>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p:cNvSpPr>
          <p:nvPr>
            <p:ph type="title"/>
          </p:nvPr>
        </p:nvSpPr>
        <p:spPr>
          <a:xfrm>
            <a:off x="1511300" y="441325"/>
            <a:ext cx="6249988"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47459" name="Text Box 3"/>
          <p:cNvSpPr txBox="1"/>
          <p:nvPr/>
        </p:nvSpPr>
        <p:spPr>
          <a:xfrm>
            <a:off x="1203325" y="6550025"/>
            <a:ext cx="641350" cy="762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chemeClr val="tx1"/>
              </a:buClr>
              <a:buSzTx/>
              <a:buNone/>
            </a:pPr>
            <a:endParaRPr lang="en-US" altLang="zh-CN" sz="2000" b="1" dirty="0">
              <a:latin typeface="GreekS" pitchFamily="2" charset="0"/>
            </a:endParaRPr>
          </a:p>
          <a:p>
            <a:pPr marL="0" lvl="0" indent="0" eaLnBrk="1" hangingPunct="1">
              <a:buClr>
                <a:schemeClr val="tx1"/>
              </a:buClr>
              <a:buSzTx/>
              <a:buNone/>
            </a:pPr>
            <a:endParaRPr lang="en-US" altLang="zh-CN" sz="2000" b="1" dirty="0">
              <a:latin typeface="GreekS" pitchFamily="2" charset="0"/>
            </a:endParaRPr>
          </a:p>
        </p:txBody>
      </p:sp>
      <p:sp>
        <p:nvSpPr>
          <p:cNvPr id="147460" name="Rectangle 4"/>
          <p:cNvSpPr/>
          <p:nvPr/>
        </p:nvSpPr>
        <p:spPr>
          <a:xfrm>
            <a:off x="1036638" y="1268413"/>
            <a:ext cx="7200900" cy="904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en-US" altLang="zh-CN" sz="2400" b="1" dirty="0">
              <a:solidFill>
                <a:schemeClr val="bg1"/>
              </a:solidFill>
            </a:endParaRPr>
          </a:p>
          <a:p>
            <a:pPr marL="0" lvl="0" indent="0" eaLnBrk="1" hangingPunct="1">
              <a:buClr>
                <a:srgbClr val="FFFF00"/>
              </a:buClr>
              <a:buSzTx/>
              <a:buFont typeface="Wingdings" panose="05000000000000000000" pitchFamily="2" charset="2"/>
              <a:buChar char="v"/>
            </a:pPr>
            <a:r>
              <a:rPr lang="zh-CN" altLang="en-US" sz="2400" b="1" dirty="0">
                <a:solidFill>
                  <a:srgbClr val="FF3300"/>
                </a:solidFill>
                <a:latin typeface="楷体_GB2312" pitchFamily="49" charset="-122"/>
                <a:ea typeface="楷体_GB2312" pitchFamily="49" charset="-122"/>
              </a:rPr>
              <a:t>必须考虑清砂便利</a:t>
            </a:r>
            <a:endParaRPr lang="zh-CN" altLang="en-US" sz="2400" b="1" dirty="0">
              <a:solidFill>
                <a:srgbClr val="FF3300"/>
              </a:solidFill>
              <a:latin typeface="楷体_GB2312" pitchFamily="49" charset="-122"/>
              <a:ea typeface="楷体_GB2312" pitchFamily="49" charset="-122"/>
            </a:endParaRPr>
          </a:p>
        </p:txBody>
      </p:sp>
      <p:pic>
        <p:nvPicPr>
          <p:cNvPr id="111621" name="Picture 7" descr="图片13"/>
          <p:cNvPicPr>
            <a:picLocks noChangeAspect="1"/>
          </p:cNvPicPr>
          <p:nvPr/>
        </p:nvPicPr>
        <p:blipFill>
          <a:blip r:embed="rId1"/>
          <a:stretch>
            <a:fillRect/>
          </a:stretch>
        </p:blipFill>
        <p:spPr>
          <a:xfrm>
            <a:off x="4427538" y="2649538"/>
            <a:ext cx="4445000" cy="3743325"/>
          </a:xfrm>
          <a:prstGeom prst="rect">
            <a:avLst/>
          </a:prstGeom>
          <a:noFill/>
          <a:ln w="9525">
            <a:noFill/>
          </a:ln>
        </p:spPr>
      </p:pic>
      <p:pic>
        <p:nvPicPr>
          <p:cNvPr id="147462" name="Picture 8" descr="图片14"/>
          <p:cNvPicPr>
            <a:picLocks noChangeAspect="1"/>
          </p:cNvPicPr>
          <p:nvPr/>
        </p:nvPicPr>
        <p:blipFill>
          <a:blip r:embed="rId2"/>
          <a:stretch>
            <a:fillRect/>
          </a:stretch>
        </p:blipFill>
        <p:spPr>
          <a:xfrm>
            <a:off x="250825" y="2649538"/>
            <a:ext cx="4386263" cy="33845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11621"/>
                                        </p:tgtEl>
                                        <p:attrNameLst>
                                          <p:attrName>style.visibility</p:attrName>
                                        </p:attrNameLst>
                                      </p:cBhvr>
                                      <p:to>
                                        <p:strVal val="visible"/>
                                      </p:to>
                                    </p:set>
                                    <p:animEffect transition="in" filter="diamond(in)">
                                      <p:cBhvr>
                                        <p:cTn id="7" dur="2000"/>
                                        <p:tgtEl>
                                          <p:spTgt spid="111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p:cNvSpPr>
          <p:nvPr>
            <p:ph type="title"/>
          </p:nvPr>
        </p:nvSpPr>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铸件的结构设计</a:t>
            </a:r>
            <a:endParaRPr lang="zh-CN" altLang="zh-CN" sz="4000" b="1" dirty="0">
              <a:latin typeface="Verdana" panose="020B0604030504040204" pitchFamily="34" charset="0"/>
              <a:ea typeface="楷体_GB2312" pitchFamily="49" charset="-122"/>
            </a:endParaRPr>
          </a:p>
        </p:txBody>
      </p:sp>
      <p:sp>
        <p:nvSpPr>
          <p:cNvPr id="112643" name="Rectangle 7"/>
          <p:cNvSpPr/>
          <p:nvPr/>
        </p:nvSpPr>
        <p:spPr>
          <a:xfrm>
            <a:off x="1042988" y="1700213"/>
            <a:ext cx="7489825" cy="19796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
                <a:srgbClr val="FF3300"/>
              </a:buClr>
              <a:buSzTx/>
              <a:buFont typeface="Wingdings" panose="05000000000000000000" pitchFamily="2" charset="2"/>
              <a:buChar char="Ø"/>
            </a:pPr>
            <a:r>
              <a:rPr lang="en-US" altLang="zh-CN" sz="1800" dirty="0"/>
              <a:t> </a:t>
            </a:r>
            <a:r>
              <a:rPr lang="zh-CN" altLang="en-US" sz="2800" b="1" dirty="0">
                <a:solidFill>
                  <a:srgbClr val="FF3300"/>
                </a:solidFill>
                <a:latin typeface="楷体_GB2312" pitchFamily="49" charset="-122"/>
                <a:ea typeface="楷体_GB2312" pitchFamily="49" charset="-122"/>
              </a:rPr>
              <a:t>大件和形状复杂件可采用组合结构</a:t>
            </a:r>
            <a:endParaRPr lang="zh-CN" altLang="en-US" sz="2800" b="1" dirty="0">
              <a:solidFill>
                <a:srgbClr val="FF3300"/>
              </a:solidFill>
              <a:latin typeface="楷体_GB2312" pitchFamily="49" charset="-122"/>
              <a:ea typeface="楷体_GB2312" pitchFamily="49" charset="-122"/>
            </a:endParaRPr>
          </a:p>
          <a:p>
            <a:pPr marL="0" lvl="0" indent="0" eaLnBrk="1" hangingPunct="1">
              <a:spcBef>
                <a:spcPct val="0"/>
              </a:spcBef>
              <a:buClrTx/>
              <a:buSzTx/>
              <a:buNone/>
            </a:pPr>
            <a:r>
              <a:rPr lang="zh-CN" altLang="en-US" sz="2400" b="1" dirty="0">
                <a:latin typeface="楷体_GB2312" pitchFamily="49" charset="-122"/>
                <a:ea typeface="楷体_GB2312" pitchFamily="49" charset="-122"/>
              </a:rPr>
              <a:t>    在不影响铸件精度、刚度和强度的前提下，大件和形状复杂件可采用组合结构，即将其分为若干件分别铸造，再通过焊接或机械连接等方法组合为一体 以简化结构设计和制造工艺。</a:t>
            </a:r>
            <a:endParaRPr lang="zh-CN" altLang="en-US" sz="24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12643">
                                            <p:txEl>
                                              <p:charRg st="0" end="17"/>
                                            </p:txEl>
                                          </p:spTgt>
                                        </p:tgtEl>
                                        <p:attrNameLst>
                                          <p:attrName>style.visibility</p:attrName>
                                        </p:attrNameLst>
                                      </p:cBhvr>
                                      <p:to>
                                        <p:strVal val="visible"/>
                                      </p:to>
                                    </p:set>
                                    <p:animEffect transition="in" filter="diamond(in)">
                                      <p:cBhvr>
                                        <p:cTn id="7" dur="2000"/>
                                        <p:tgtEl>
                                          <p:spTgt spid="112643">
                                            <p:txEl>
                                              <p:charRg st="0" end="17"/>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112643">
                                            <p:txEl>
                                              <p:charRg st="17" end="102"/>
                                            </p:txEl>
                                          </p:spTgt>
                                        </p:tgtEl>
                                        <p:attrNameLst>
                                          <p:attrName>style.visibility</p:attrName>
                                        </p:attrNameLst>
                                      </p:cBhvr>
                                      <p:to>
                                        <p:strVal val="visible"/>
                                      </p:to>
                                    </p:set>
                                    <p:animEffect transition="in" filter="diamond(in)">
                                      <p:cBhvr>
                                        <p:cTn id="10" dur="2000"/>
                                        <p:tgtEl>
                                          <p:spTgt spid="112643">
                                            <p:txEl>
                                              <p:charRg st="17" end="10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14"/>
          <p:cNvSpPr>
            <a:spLocks noGrp="1"/>
          </p:cNvSpPr>
          <p:nvPr>
            <p:ph type="title"/>
          </p:nvPr>
        </p:nvSpPr>
        <p:spPr>
          <a:xfrm>
            <a:off x="457200" y="344488"/>
            <a:ext cx="8229600"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49507" name="Rectangle 15"/>
          <p:cNvSpPr/>
          <p:nvPr/>
        </p:nvSpPr>
        <p:spPr>
          <a:xfrm>
            <a:off x="323850" y="1766888"/>
            <a:ext cx="8393113" cy="2073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
                <a:schemeClr val="tx1"/>
              </a:buClr>
              <a:buSzTx/>
              <a:buNone/>
            </a:pPr>
            <a:r>
              <a:rPr lang="en-US" altLang="zh-CN" sz="1800" b="1" dirty="0">
                <a:latin typeface="GreekS" pitchFamily="2" charset="0"/>
              </a:rPr>
              <a:t>       </a:t>
            </a:r>
            <a:r>
              <a:rPr lang="zh-CN" altLang="en-US" sz="2000" b="1" dirty="0">
                <a:latin typeface="楷体_GB2312" pitchFamily="49" charset="-122"/>
                <a:ea typeface="楷体_GB2312" pitchFamily="49" charset="-122"/>
              </a:rPr>
              <a:t>由于合金流动性的限制．</a:t>
            </a:r>
            <a:r>
              <a:rPr lang="zh-CN" altLang="en-US" sz="2000" b="1" dirty="0">
                <a:solidFill>
                  <a:srgbClr val="FF0066"/>
                </a:solidFill>
                <a:latin typeface="楷体_GB2312" pitchFamily="49" charset="-122"/>
                <a:ea typeface="楷体_GB2312" pitchFamily="49" charset="-122"/>
              </a:rPr>
              <a:t>铸件的壁不能太薄．</a:t>
            </a:r>
            <a:r>
              <a:rPr lang="zh-CN" altLang="en-US" sz="2000" b="1" dirty="0">
                <a:latin typeface="楷体_GB2312" pitchFamily="49" charset="-122"/>
                <a:ea typeface="楷体_GB2312" pitchFamily="49" charset="-122"/>
              </a:rPr>
              <a:t>否则会产生浇不足、冷隔等缺陷，铸件还可能产生白口。但</a:t>
            </a:r>
            <a:r>
              <a:rPr lang="zh-CN" altLang="en-US" sz="2000" b="1" dirty="0">
                <a:solidFill>
                  <a:srgbClr val="FF0066"/>
                </a:solidFill>
                <a:latin typeface="楷体_GB2312" pitchFamily="49" charset="-122"/>
                <a:ea typeface="楷体_GB2312" pitchFamily="49" charset="-122"/>
              </a:rPr>
              <a:t>铸件壁亦不能过厚，</a:t>
            </a:r>
            <a:r>
              <a:rPr lang="zh-CN" altLang="en-US" sz="2000" b="1" dirty="0">
                <a:latin typeface="楷体_GB2312" pitchFamily="49" charset="-122"/>
                <a:ea typeface="楷体_GB2312" pitchFamily="49" charset="-122"/>
              </a:rPr>
              <a:t>因厚壁中心部分冷却速度馒，晶粒粗大．易产生缩孔和缩松，机械性能降低。所以，在同样满足铸件承载能力的前提下，可选择合理的截面代替厚壁结构。</a:t>
            </a:r>
            <a:endParaRPr lang="zh-CN" altLang="en-US" sz="2000" b="1" dirty="0">
              <a:latin typeface="楷体_GB2312" pitchFamily="49" charset="-122"/>
              <a:ea typeface="楷体_GB2312" pitchFamily="49" charset="-122"/>
            </a:endParaRPr>
          </a:p>
          <a:p>
            <a:pPr marL="0" lvl="0" indent="0" eaLnBrk="1" hangingPunct="1">
              <a:spcBef>
                <a:spcPct val="50000"/>
              </a:spcBef>
              <a:buClr>
                <a:schemeClr val="tx1"/>
              </a:buClr>
              <a:buSzTx/>
              <a:buNone/>
            </a:pPr>
            <a:r>
              <a:rPr lang="zh-CN" altLang="en-US" sz="2000" b="1" dirty="0">
                <a:latin typeface="楷体_GB2312" pitchFamily="49" charset="-122"/>
                <a:ea typeface="楷体_GB2312" pitchFamily="49" charset="-122"/>
              </a:rPr>
              <a:t>    </a:t>
            </a:r>
            <a:r>
              <a:rPr lang="zh-CN" altLang="en-US" sz="2000" b="1" dirty="0">
                <a:solidFill>
                  <a:srgbClr val="0000FF"/>
                </a:solidFill>
                <a:latin typeface="楷体_GB2312" pitchFamily="49" charset="-122"/>
                <a:ea typeface="楷体_GB2312" pitchFamily="49" charset="-122"/>
              </a:rPr>
              <a:t>铸件的最小壁厚应根据合金的性质、铸件的大小和铸造方法而定。一般砂型铸造的最小壁厚如表所示。</a:t>
            </a:r>
            <a:endParaRPr lang="zh-CN" altLang="en-US" sz="2000" b="1" dirty="0">
              <a:solidFill>
                <a:srgbClr val="0000FF"/>
              </a:solidFill>
              <a:latin typeface="楷体_GB2312" pitchFamily="49" charset="-122"/>
              <a:ea typeface="楷体_GB2312" pitchFamily="49" charset="-122"/>
            </a:endParaRPr>
          </a:p>
        </p:txBody>
      </p:sp>
      <p:sp>
        <p:nvSpPr>
          <p:cNvPr id="149508" name="Rectangle 20"/>
          <p:cNvSpPr/>
          <p:nvPr/>
        </p:nvSpPr>
        <p:spPr>
          <a:xfrm>
            <a:off x="2339340" y="4149090"/>
            <a:ext cx="4494213" cy="3048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en-US" sz="1400" b="1" dirty="0">
                <a:latin typeface="Times New Roman" panose="02020603050405020304" pitchFamily="18" charset="0"/>
                <a:cs typeface="Times New Roman" panose="02020603050405020304" pitchFamily="18" charset="0"/>
              </a:rPr>
              <a:t>表</a:t>
            </a:r>
            <a:r>
              <a:rPr lang="en-US" altLang="zh-CN" sz="1400" b="1" dirty="0">
                <a:latin typeface="Times New Roman" panose="02020603050405020304" pitchFamily="18" charset="0"/>
                <a:cs typeface="Times New Roman" panose="02020603050405020304" pitchFamily="18" charset="0"/>
              </a:rPr>
              <a:t>2-13  </a:t>
            </a:r>
            <a:r>
              <a:rPr lang="zh-CN" altLang="en-US" sz="1400" b="1" dirty="0">
                <a:latin typeface="Times New Roman" panose="02020603050405020304" pitchFamily="18" charset="0"/>
                <a:cs typeface="Times New Roman" panose="02020603050405020304" pitchFamily="18" charset="0"/>
              </a:rPr>
              <a:t>砂型铸造条件下铸件的最小壁厚值                 </a:t>
            </a:r>
            <a:r>
              <a:rPr lang="en-US" altLang="zh-CN" sz="1400" b="1" dirty="0">
                <a:latin typeface="Times New Roman" panose="02020603050405020304" pitchFamily="18" charset="0"/>
                <a:cs typeface="Times New Roman" panose="02020603050405020304" pitchFamily="18" charset="0"/>
              </a:rPr>
              <a:t>mm</a:t>
            </a:r>
            <a:endParaRPr lang="en-US" altLang="zh-CN" sz="1400" dirty="0">
              <a:latin typeface="Arial" panose="020B0604020202020204" pitchFamily="34" charset="0"/>
            </a:endParaRPr>
          </a:p>
        </p:txBody>
      </p:sp>
      <p:graphicFrame>
        <p:nvGraphicFramePr>
          <p:cNvPr id="113669" name="Group 5"/>
          <p:cNvGraphicFramePr>
            <a:graphicFrameLocks noGrp="1"/>
          </p:cNvGraphicFramePr>
          <p:nvPr>
            <p:custDataLst>
              <p:tags r:id="rId1"/>
            </p:custDataLst>
          </p:nvPr>
        </p:nvGraphicFramePr>
        <p:xfrm>
          <a:off x="934403" y="4454525"/>
          <a:ext cx="7273925" cy="1945007"/>
        </p:xfrm>
        <a:graphic>
          <a:graphicData uri="http://schemas.openxmlformats.org/drawingml/2006/table">
            <a:tbl>
              <a:tblPr/>
              <a:tblGrid>
                <a:gridCol w="1722437"/>
                <a:gridCol w="833438"/>
                <a:gridCol w="833437"/>
                <a:gridCol w="971550"/>
                <a:gridCol w="1055688"/>
                <a:gridCol w="1035050"/>
                <a:gridCol w="822325"/>
              </a:tblGrid>
              <a:tr h="389255">
                <a:tc rowSpan="2">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endParaRPr kumimoji="0" lang="en-US" altLang="zh-CN"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铸件尺寸</a:t>
                      </a:r>
                      <a:r>
                        <a:rPr kumimoji="0" lang="en-US" altLang="zh-CN"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/mm</a:t>
                      </a:r>
                      <a:endParaRPr kumimoji="0" lang="en-US" altLang="zh-CN" sz="25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gridSpan="6">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合          金          种         类</a:t>
                      </a:r>
                      <a:endParaRPr kumimoji="0" lang="zh-CN"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c hMerge="1">
                  <a:tcPr/>
                </a:tc>
                <a:tc hMerge="1">
                  <a:tcPr/>
                </a:tc>
                <a:tc hMerge="1">
                  <a:tcPr/>
                </a:tc>
                <a:tc hMerge="1">
                  <a:tcPr/>
                </a:tc>
              </a:tr>
              <a:tr h="388938">
                <a:tc vMerge="1">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铸钢</a:t>
                      </a:r>
                      <a:endParaRPr kumimoji="0" lang="zh-CN"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灰铸铁</a:t>
                      </a:r>
                      <a:endParaRPr kumimoji="0" lang="zh-CN"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球墨铸铁</a:t>
                      </a:r>
                      <a:endParaRPr kumimoji="0" lang="zh-CN"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可锻铸铁</a:t>
                      </a:r>
                      <a:endParaRPr kumimoji="0" lang="zh-CN"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铝合金</a:t>
                      </a:r>
                      <a:endParaRPr kumimoji="0" lang="zh-CN"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铜合金</a:t>
                      </a:r>
                      <a:endParaRPr kumimoji="0" lang="zh-CN"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88938">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&lt;200×200</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5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3.5</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88938">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200×200</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500×500</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88938">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&gt;500×500</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0" lang="en-US" altLang="zh-CN" sz="25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a:t>
                      </a: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r>
                        <a:rPr kumimoji="0" lang="en-US" altLang="zh-CN"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12</a:t>
                      </a:r>
                      <a:endParaRPr kumimoji="0" lang="en-US" altLang="zh-CN" sz="25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p:cNvSpPr>
          <p:nvPr>
            <p:ph type="title"/>
          </p:nvPr>
        </p:nvSpPr>
        <p:spPr>
          <a:xfrm>
            <a:off x="457200" y="344488"/>
            <a:ext cx="8229600"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50531" name="Rectangle 3"/>
          <p:cNvSpPr/>
          <p:nvPr/>
        </p:nvSpPr>
        <p:spPr>
          <a:xfrm>
            <a:off x="500063" y="1628775"/>
            <a:ext cx="8393112" cy="1616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
                <a:schemeClr val="tx1"/>
              </a:buClr>
              <a:buSzTx/>
              <a:buNone/>
            </a:pP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在确定铸件的壁厚时，不仅</a:t>
            </a:r>
            <a:r>
              <a:rPr lang="zh-CN" altLang="en-US" sz="2000" b="1" dirty="0">
                <a:solidFill>
                  <a:srgbClr val="FF0000"/>
                </a:solidFill>
                <a:latin typeface="楷体_GB2312" pitchFamily="49" charset="-122"/>
                <a:ea typeface="楷体_GB2312" pitchFamily="49" charset="-122"/>
              </a:rPr>
              <a:t>保证</a:t>
            </a:r>
            <a:r>
              <a:rPr lang="zh-CN" altLang="en-US" sz="2000" b="1" dirty="0">
                <a:latin typeface="楷体_GB2312" pitchFamily="49" charset="-122"/>
                <a:ea typeface="楷体_GB2312" pitchFamily="49" charset="-122"/>
              </a:rPr>
              <a:t>铸件的强度和刚度等机械性能，而且应使铸件的壁厚大于所用合金的</a:t>
            </a:r>
            <a:r>
              <a:rPr lang="zh-CN" altLang="en-US" sz="2000" b="1" dirty="0">
                <a:solidFill>
                  <a:srgbClr val="FF0000"/>
                </a:solidFill>
                <a:latin typeface="GreekS" pitchFamily="2" charset="0"/>
                <a:ea typeface="楷体_GB2312" pitchFamily="49" charset="-122"/>
              </a:rPr>
              <a:t>“</a:t>
            </a:r>
            <a:r>
              <a:rPr lang="zh-CN" altLang="en-US" sz="2000" b="1" dirty="0">
                <a:solidFill>
                  <a:srgbClr val="FF0000"/>
                </a:solidFill>
                <a:latin typeface="楷体_GB2312" pitchFamily="49" charset="-122"/>
                <a:ea typeface="楷体_GB2312" pitchFamily="49" charset="-122"/>
              </a:rPr>
              <a:t>最小壁厚值</a:t>
            </a:r>
            <a:r>
              <a:rPr lang="zh-CN" altLang="en-US" sz="2000" b="1" dirty="0">
                <a:solidFill>
                  <a:srgbClr val="FF0000"/>
                </a:solidFill>
                <a:latin typeface="GreekS" pitchFamily="2" charset="0"/>
                <a:ea typeface="楷体_GB2312" pitchFamily="49" charset="-122"/>
              </a:rPr>
              <a:t>”</a:t>
            </a:r>
            <a:r>
              <a:rPr lang="zh-CN" altLang="en-US" sz="2000" b="1" dirty="0">
                <a:latin typeface="楷体_GB2312" pitchFamily="49" charset="-122"/>
                <a:ea typeface="楷体_GB2312" pitchFamily="49" charset="-122"/>
              </a:rPr>
              <a:t>，以免产生浇不足和冷隔缺陷。但</a:t>
            </a:r>
            <a:r>
              <a:rPr lang="zh-CN" altLang="en-US" sz="2000" b="1" dirty="0">
                <a:solidFill>
                  <a:srgbClr val="FF0000"/>
                </a:solidFill>
                <a:latin typeface="楷体_GB2312" pitchFamily="49" charset="-122"/>
                <a:ea typeface="楷体_GB2312" pitchFamily="49" charset="-122"/>
              </a:rPr>
              <a:t>铸件壁太厚，又易产生缩孔和缩松缺陷</a:t>
            </a:r>
            <a:r>
              <a:rPr lang="zh-CN" altLang="en-US" sz="2000" b="1" dirty="0">
                <a:latin typeface="楷体_GB2312" pitchFamily="49" charset="-122"/>
                <a:ea typeface="楷体_GB2312" pitchFamily="49" charset="-122"/>
              </a:rPr>
              <a:t>。因此，一般铸件的最大壁厚应不超过最小壁厚的三倍。尤其是铸铁件，其</a:t>
            </a:r>
            <a:r>
              <a:rPr lang="zh-CN" altLang="en-US" sz="2000" b="1" dirty="0">
                <a:solidFill>
                  <a:srgbClr val="FF0000"/>
                </a:solidFill>
                <a:latin typeface="楷体_GB2312" pitchFamily="49" charset="-122"/>
                <a:ea typeface="楷体_GB2312" pitchFamily="49" charset="-122"/>
              </a:rPr>
              <a:t>强度并非按壁厚的增大而成比例地增加</a:t>
            </a:r>
            <a:r>
              <a:rPr lang="zh-CN" altLang="en-US" sz="2000" b="1" dirty="0">
                <a:latin typeface="楷体_GB2312" pitchFamily="49" charset="-122"/>
                <a:ea typeface="楷体_GB2312" pitchFamily="49" charset="-122"/>
              </a:rPr>
              <a:t>，表</a:t>
            </a:r>
            <a:r>
              <a:rPr lang="en-US" altLang="zh-CN" sz="2000" b="1" dirty="0">
                <a:latin typeface="楷体_GB2312" pitchFamily="49" charset="-122"/>
                <a:ea typeface="楷体_GB2312" pitchFamily="49" charset="-122"/>
              </a:rPr>
              <a:t>2-14</a:t>
            </a:r>
            <a:r>
              <a:rPr lang="zh-CN" altLang="en-US" sz="2000" b="1" dirty="0">
                <a:latin typeface="楷体_GB2312" pitchFamily="49" charset="-122"/>
                <a:ea typeface="楷体_GB2312" pitchFamily="49" charset="-122"/>
              </a:rPr>
              <a:t>为灰铸铁件的壁厚参考值。      </a:t>
            </a:r>
            <a:endParaRPr lang="zh-CN" altLang="en-US" sz="2000" b="1" dirty="0">
              <a:latin typeface="楷体_GB2312" pitchFamily="49" charset="-122"/>
              <a:ea typeface="楷体_GB2312" pitchFamily="49" charset="-122"/>
            </a:endParaRPr>
          </a:p>
        </p:txBody>
      </p:sp>
      <p:sp>
        <p:nvSpPr>
          <p:cNvPr id="150532" name="Rectangle 50"/>
          <p:cNvSpPr/>
          <p:nvPr/>
        </p:nvSpPr>
        <p:spPr>
          <a:xfrm>
            <a:off x="3203575" y="3357563"/>
            <a:ext cx="2881313" cy="3048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400" b="1" dirty="0">
                <a:latin typeface="Times New Roman" panose="02020603050405020304" pitchFamily="18" charset="0"/>
                <a:cs typeface="Times New Roman" panose="02020603050405020304" pitchFamily="18" charset="0"/>
              </a:rPr>
              <a:t>表</a:t>
            </a:r>
            <a:r>
              <a:rPr lang="en-US" altLang="zh-CN" sz="1400" b="1" dirty="0">
                <a:latin typeface="Times New Roman" panose="02020603050405020304" pitchFamily="18" charset="0"/>
                <a:cs typeface="Times New Roman" panose="02020603050405020304" pitchFamily="18" charset="0"/>
              </a:rPr>
              <a:t>2-14  </a:t>
            </a:r>
            <a:r>
              <a:rPr lang="zh-CN" altLang="en-US" sz="1400" b="1" dirty="0">
                <a:latin typeface="Times New Roman" panose="02020603050405020304" pitchFamily="18" charset="0"/>
                <a:cs typeface="Times New Roman" panose="02020603050405020304" pitchFamily="18" charset="0"/>
              </a:rPr>
              <a:t>灰铸铁件壁厚的参考值 </a:t>
            </a:r>
            <a:endParaRPr lang="zh-CN" altLang="en-US" sz="1400" dirty="0">
              <a:latin typeface="Arial" panose="020B0604020202020204" pitchFamily="34" charset="0"/>
            </a:endParaRPr>
          </a:p>
        </p:txBody>
      </p:sp>
      <p:graphicFrame>
        <p:nvGraphicFramePr>
          <p:cNvPr id="114693" name="Group 5"/>
          <p:cNvGraphicFramePr>
            <a:graphicFrameLocks noGrp="1"/>
          </p:cNvGraphicFramePr>
          <p:nvPr/>
        </p:nvGraphicFramePr>
        <p:xfrm>
          <a:off x="900113" y="3716338"/>
          <a:ext cx="7632700" cy="3095625"/>
        </p:xfrm>
        <a:graphic>
          <a:graphicData uri="http://schemas.openxmlformats.org/drawingml/2006/table">
            <a:tbl>
              <a:tblPr/>
              <a:tblGrid>
                <a:gridCol w="1096962"/>
                <a:gridCol w="1100138"/>
                <a:gridCol w="1103312"/>
                <a:gridCol w="1100138"/>
                <a:gridCol w="1020762"/>
                <a:gridCol w="2211388"/>
              </a:tblGrid>
              <a:tr h="622300">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铸件质量</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最大尺寸</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外壁厚度</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内壁厚度</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筋的厚度</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tabLst>
                          <a:tab pos="457200" algn="l"/>
                          <a:tab pos="914400" algn="l"/>
                        </a:tabLst>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tabLst>
                          <a:tab pos="457200" algn="l"/>
                          <a:tab pos="914400" algn="l"/>
                        </a:tabLst>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tabLst>
                          <a:tab pos="457200" algn="l"/>
                          <a:tab pos="914400" algn="l"/>
                        </a:tabLst>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tabLst>
                          <a:tab pos="457200" algn="l"/>
                          <a:tab pos="914400" algn="l"/>
                        </a:tabLst>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tabLst>
                          <a:tab pos="457200" algn="l"/>
                          <a:tab pos="914400" algn="l"/>
                        </a:tabLst>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tabLst>
                          <a:tab pos="457200" algn="l"/>
                          <a:tab pos="914400" algn="l"/>
                        </a:tabLst>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tabLst>
                          <a:tab pos="457200" algn="l"/>
                          <a:tab pos="914400" algn="l"/>
                        </a:tabLst>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tabLst>
                          <a:tab pos="457200" algn="l"/>
                          <a:tab pos="914400" algn="l"/>
                        </a:tabLst>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tabLst>
                          <a:tab pos="457200" algn="l"/>
                          <a:tab pos="914400" algn="l"/>
                        </a:tabLst>
                        <a:defRPr sz="17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tabLst>
                          <a:tab pos="457200" algn="l"/>
                          <a:tab pos="914400" algn="l"/>
                        </a:tabLst>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零 件 举 例</a:t>
                      </a: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254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473325">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Batang" pitchFamily="18" charset="-127"/>
                          <a:ea typeface="Batang" pitchFamily="18" charset="-127"/>
                        </a:rPr>
                        <a:t>&lt;5</a:t>
                      </a:r>
                      <a:endParaRPr kumimoji="0" lang="en-US" altLang="zh-CN" sz="1200" b="0" i="0" u="none" strike="noStrike" cap="none" normalizeH="0" baseline="0">
                        <a:ln>
                          <a:noFill/>
                        </a:ln>
                        <a:solidFill>
                          <a:schemeClr val="tx1"/>
                        </a:solidFill>
                        <a:effectLst/>
                        <a:latin typeface="Times New Roman" panose="02020603050405020304" pitchFamily="18" charset="0"/>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Batang" pitchFamily="18" charset="-127"/>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Batang" pitchFamily="18" charset="-127"/>
                          <a:ea typeface="Batang" pitchFamily="18" charset="-127"/>
                        </a:rPr>
                        <a:t>6~10</a:t>
                      </a:r>
                      <a:endParaRPr kumimoji="0" lang="en-US" altLang="zh-CN" sz="1200" b="0" i="0" u="none" strike="noStrike" cap="none" normalizeH="0" baseline="0">
                        <a:ln>
                          <a:noFill/>
                        </a:ln>
                        <a:solidFill>
                          <a:schemeClr val="tx1"/>
                        </a:solidFill>
                        <a:effectLst/>
                        <a:latin typeface="Times New Roman" panose="02020603050405020304" pitchFamily="18" charset="0"/>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Batang" pitchFamily="18" charset="-127"/>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Batang" pitchFamily="18" charset="-127"/>
                          <a:ea typeface="Batang" pitchFamily="18" charset="-127"/>
                        </a:rPr>
                        <a:t>11~60</a:t>
                      </a:r>
                      <a:endParaRPr kumimoji="0" lang="en-US" altLang="zh-CN" sz="1200" b="0" i="0" u="none" strike="noStrike" cap="none" normalizeH="0" baseline="0">
                        <a:ln>
                          <a:noFill/>
                        </a:ln>
                        <a:solidFill>
                          <a:schemeClr val="tx1"/>
                        </a:solidFill>
                        <a:effectLst/>
                        <a:latin typeface="Times New Roman" panose="02020603050405020304" pitchFamily="18" charset="0"/>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Batang" pitchFamily="18" charset="-127"/>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Batang" pitchFamily="18" charset="-127"/>
                          <a:ea typeface="Batang" pitchFamily="18" charset="-127"/>
                        </a:rPr>
                        <a:t>61~100</a:t>
                      </a:r>
                      <a:endParaRPr kumimoji="0" lang="en-US" altLang="zh-CN" sz="1200" b="0" i="0" u="none" strike="noStrike" cap="none" normalizeH="0" baseline="0">
                        <a:ln>
                          <a:noFill/>
                        </a:ln>
                        <a:solidFill>
                          <a:schemeClr val="tx1"/>
                        </a:solidFill>
                        <a:effectLst/>
                        <a:latin typeface="Times New Roman" panose="02020603050405020304" pitchFamily="18" charset="0"/>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Batang" pitchFamily="18" charset="-127"/>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Batang" pitchFamily="18" charset="-127"/>
                          <a:ea typeface="Batang" pitchFamily="18" charset="-127"/>
                        </a:rPr>
                        <a:t>101~500</a:t>
                      </a:r>
                      <a:endParaRPr kumimoji="0" lang="en-US" altLang="zh-CN" sz="1200" b="0" i="0" u="none" strike="noStrike" cap="none" normalizeH="0" baseline="0">
                        <a:ln>
                          <a:noFill/>
                        </a:ln>
                        <a:solidFill>
                          <a:schemeClr val="tx1"/>
                        </a:solidFill>
                        <a:effectLst/>
                        <a:latin typeface="Times New Roman" panose="02020603050405020304" pitchFamily="18" charset="0"/>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Batang" pitchFamily="18" charset="-127"/>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Batang" pitchFamily="18" charset="-127"/>
                          <a:ea typeface="Batang" pitchFamily="18" charset="-127"/>
                        </a:rPr>
                        <a:t>501~800 </a:t>
                      </a:r>
                      <a:endParaRPr kumimoji="0" lang="en-US" altLang="zh-CN" sz="1200" b="0" i="0" u="none" strike="noStrike" cap="none" normalizeH="0" baseline="0">
                        <a:ln>
                          <a:noFill/>
                        </a:ln>
                        <a:solidFill>
                          <a:schemeClr val="tx1"/>
                        </a:solidFill>
                        <a:effectLst/>
                        <a:latin typeface="Batang" pitchFamily="18" charset="-127"/>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Batang" pitchFamily="18" charset="-127"/>
                        <a:ea typeface="Batang" pitchFamily="18" charset="-127"/>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Batang" pitchFamily="18" charset="-127"/>
                          <a:ea typeface="Batang" pitchFamily="18" charset="-127"/>
                        </a:rPr>
                        <a:t>801~1200</a:t>
                      </a:r>
                      <a:endParaRPr kumimoji="0" lang="en-US" altLang="zh-CN" sz="1200" b="0" i="0" u="none" strike="noStrike" cap="none" normalizeH="0" baseline="0">
                        <a:ln>
                          <a:noFill/>
                        </a:ln>
                        <a:solidFill>
                          <a:schemeClr val="tx1"/>
                        </a:solidFill>
                        <a:effectLst/>
                        <a:latin typeface="Arial" panose="020B0604020202020204" pitchFamily="34" charset="0"/>
                        <a:ea typeface="Batang" pitchFamily="18" charset="-127"/>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300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750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1250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1700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2500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3000</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盖、拨叉、轴套、端盖</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挡板、支架、箱体、闷盖</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箱体、电动机支架、溜板箱</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箱体、液压缸体、溜板箱</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油盘、带轮、镗模架</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箱体、床身、盖、滑座</a:t>
                      </a: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小立柱、床身、箱体、油盘</a:t>
                      </a:r>
                      <a:endParaRPr kumimoji="0" lang="zh-CN"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254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14"/>
          <p:cNvSpPr>
            <a:spLocks noGrp="1"/>
          </p:cNvSpPr>
          <p:nvPr>
            <p:ph type="title"/>
          </p:nvPr>
        </p:nvSpPr>
        <p:spPr>
          <a:xfrm>
            <a:off x="611188" y="620713"/>
            <a:ext cx="8229600" cy="779462"/>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51555" name="Rectangle 16"/>
          <p:cNvSpPr/>
          <p:nvPr/>
        </p:nvSpPr>
        <p:spPr>
          <a:xfrm>
            <a:off x="582613" y="1674813"/>
            <a:ext cx="3455987" cy="49863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
                <a:srgbClr val="FF0066"/>
              </a:buClr>
              <a:buSzTx/>
              <a:buFont typeface="Wingdings" panose="05000000000000000000" pitchFamily="2" charset="2"/>
              <a:buChar char="Ø"/>
            </a:pPr>
            <a:r>
              <a:rPr lang="en-US" altLang="zh-CN" sz="1800" b="1" dirty="0">
                <a:latin typeface="GreekS" pitchFamily="2" charset="0"/>
              </a:rPr>
              <a:t>  </a:t>
            </a:r>
            <a:r>
              <a:rPr lang="zh-CN" altLang="en-US" sz="2400" b="1" dirty="0">
                <a:solidFill>
                  <a:srgbClr val="FF3300"/>
                </a:solidFill>
                <a:latin typeface="楷体_GB2312" pitchFamily="49" charset="-122"/>
                <a:ea typeface="楷体_GB2312" pitchFamily="49" charset="-122"/>
              </a:rPr>
              <a:t>铸件壁厚应尽可能均匀</a:t>
            </a:r>
            <a:endParaRPr lang="zh-CN" altLang="en-US" sz="2400" b="1" dirty="0">
              <a:solidFill>
                <a:srgbClr val="FF3300"/>
              </a:solidFill>
              <a:latin typeface="楷体_GB2312" pitchFamily="49" charset="-122"/>
              <a:ea typeface="楷体_GB2312" pitchFamily="49" charset="-122"/>
            </a:endParaRPr>
          </a:p>
          <a:p>
            <a:pPr marL="0" lvl="0" indent="0" eaLnBrk="1" hangingPunct="1">
              <a:spcBef>
                <a:spcPct val="50000"/>
              </a:spcBef>
              <a:buClr>
                <a:schemeClr val="tx1"/>
              </a:buClr>
              <a:buSzTx/>
              <a:buNone/>
            </a:pPr>
            <a:r>
              <a:rPr lang="zh-CN" altLang="en-US" sz="18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铸件的壁厚不能相差过大，否则，铸造时金属液在肥厚处积集较多．容易形成缩孔、缩松等缺陷。同时还会因壁厚不均匀、冷却速度不一致而产生内应力，出现裂纹。因此，设计时．</a:t>
            </a:r>
            <a:r>
              <a:rPr lang="zh-CN" altLang="en-US" sz="2000" b="1" dirty="0">
                <a:solidFill>
                  <a:srgbClr val="FF0066"/>
                </a:solidFill>
                <a:latin typeface="楷体_GB2312" pitchFamily="49" charset="-122"/>
                <a:ea typeface="楷体_GB2312" pitchFamily="49" charset="-122"/>
              </a:rPr>
              <a:t>应尽可能使铸件壁厚均匀，避免金属的聚集。设计中采用加强筋是解决铸件壁厚不均的有效办法。</a:t>
            </a:r>
            <a:r>
              <a:rPr lang="zh-CN" altLang="en-US" sz="2000" b="1" dirty="0">
                <a:latin typeface="楷体_GB2312" pitchFamily="49" charset="-122"/>
                <a:ea typeface="楷体_GB2312" pitchFamily="49" charset="-122"/>
              </a:rPr>
              <a:t>为了提高铸件承载能力而不增加壁厚，铸件的结构设计应选用合理的截面形状</a:t>
            </a:r>
            <a:r>
              <a:rPr lang="en-US" altLang="zh-CN"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p:txBody>
      </p:sp>
      <p:grpSp>
        <p:nvGrpSpPr>
          <p:cNvPr id="2" name="Group 19"/>
          <p:cNvGrpSpPr/>
          <p:nvPr/>
        </p:nvGrpSpPr>
        <p:grpSpPr>
          <a:xfrm>
            <a:off x="4098925" y="2060575"/>
            <a:ext cx="4710113" cy="4465638"/>
            <a:chOff x="0" y="0"/>
            <a:chExt cx="2304" cy="2003"/>
          </a:xfrm>
        </p:grpSpPr>
        <p:pic>
          <p:nvPicPr>
            <p:cNvPr id="151557" name="Picture 17"/>
            <p:cNvPicPr>
              <a:picLocks noChangeAspect="1"/>
            </p:cNvPicPr>
            <p:nvPr/>
          </p:nvPicPr>
          <p:blipFill>
            <a:blip r:embed="rId1"/>
            <a:stretch>
              <a:fillRect/>
            </a:stretch>
          </p:blipFill>
          <p:spPr>
            <a:xfrm>
              <a:off x="0" y="0"/>
              <a:ext cx="2304" cy="2003"/>
            </a:xfrm>
            <a:prstGeom prst="rect">
              <a:avLst/>
            </a:prstGeom>
            <a:noFill/>
            <a:ln w="9525">
              <a:noFill/>
            </a:ln>
          </p:spPr>
        </p:pic>
        <p:sp>
          <p:nvSpPr>
            <p:cNvPr id="151558" name="Rectangle 18"/>
            <p:cNvSpPr/>
            <p:nvPr/>
          </p:nvSpPr>
          <p:spPr>
            <a:xfrm>
              <a:off x="336" y="1763"/>
              <a:ext cx="384" cy="14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13"/>
          <p:cNvSpPr>
            <a:spLocks noGrp="1"/>
          </p:cNvSpPr>
          <p:nvPr>
            <p:ph type="title"/>
          </p:nvPr>
        </p:nvSpPr>
        <p:spPr>
          <a:xfrm>
            <a:off x="609600" y="152400"/>
            <a:ext cx="8229600"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52579" name="Rectangle 14"/>
          <p:cNvSpPr/>
          <p:nvPr/>
        </p:nvSpPr>
        <p:spPr>
          <a:xfrm>
            <a:off x="733425" y="1579563"/>
            <a:ext cx="8159750" cy="16938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
                <a:srgbClr val="FF0066"/>
              </a:buClr>
              <a:buSzTx/>
              <a:buFont typeface="Wingdings" panose="05000000000000000000" pitchFamily="2" charset="2"/>
              <a:buChar char="Ø"/>
            </a:pPr>
            <a:r>
              <a:rPr lang="en-US" altLang="zh-CN" sz="1800" b="1" dirty="0">
                <a:latin typeface="GreekS" pitchFamily="2" charset="0"/>
              </a:rPr>
              <a:t>  </a:t>
            </a:r>
            <a:r>
              <a:rPr lang="zh-CN" altLang="en-US" sz="2400" b="1" dirty="0">
                <a:solidFill>
                  <a:srgbClr val="FF3300"/>
                </a:solidFill>
                <a:latin typeface="楷体_GB2312" pitchFamily="49" charset="-122"/>
                <a:ea typeface="楷体_GB2312" pitchFamily="49" charset="-122"/>
              </a:rPr>
              <a:t>铸件壁厚应尽可能均匀</a:t>
            </a:r>
            <a:endParaRPr lang="zh-CN" altLang="en-US" sz="2400" b="1" dirty="0">
              <a:solidFill>
                <a:srgbClr val="FF3300"/>
              </a:solidFill>
              <a:latin typeface="楷体_GB2312" pitchFamily="49" charset="-122"/>
              <a:ea typeface="楷体_GB2312" pitchFamily="49" charset="-122"/>
            </a:endParaRPr>
          </a:p>
          <a:p>
            <a:pPr marL="0" lvl="0" indent="0" eaLnBrk="1" hangingPunct="1">
              <a:spcBef>
                <a:spcPct val="50000"/>
              </a:spcBef>
              <a:buClr>
                <a:schemeClr val="tx1"/>
              </a:buClr>
              <a:buSzTx/>
              <a:buNone/>
            </a:pPr>
            <a:r>
              <a:rPr lang="zh-CN" altLang="en-US" sz="1800" b="1" dirty="0">
                <a:latin typeface="楷体_GB2312" pitchFamily="49" charset="-122"/>
                <a:ea typeface="楷体_GB2312" pitchFamily="49" charset="-122"/>
              </a:rPr>
              <a:t>   铸件各部分壁厚若相差过大，厚壁处会产生金属局部积聚形成热节，凝固收缩时在热节处易形成缩孔、缩松等缺陷，如图（</a:t>
            </a:r>
            <a:r>
              <a:rPr lang="en-US" altLang="zh-CN" sz="1800" b="1" dirty="0">
                <a:latin typeface="楷体_GB2312" pitchFamily="49" charset="-122"/>
                <a:ea typeface="楷体_GB2312" pitchFamily="49" charset="-122"/>
              </a:rPr>
              <a:t>a</a:t>
            </a:r>
            <a:r>
              <a:rPr lang="zh-CN" altLang="en-US" sz="1800" b="1" dirty="0">
                <a:latin typeface="楷体_GB2312" pitchFamily="49" charset="-122"/>
                <a:ea typeface="楷体_GB2312" pitchFamily="49" charset="-122"/>
              </a:rPr>
              <a:t>）所示。此外，各部分冷却速度不同，易形成热应力，致使铸件薄壁与厚壁连接处产生裂纹。因此，在设计铸件时，应尽可能使壁厚均匀以防止上述缺陷产生，如图（</a:t>
            </a:r>
            <a:r>
              <a:rPr lang="en-US" altLang="zh-CN" sz="1800" b="1" dirty="0">
                <a:latin typeface="楷体_GB2312" pitchFamily="49" charset="-122"/>
                <a:ea typeface="楷体_GB2312" pitchFamily="49" charset="-122"/>
              </a:rPr>
              <a:t>b</a:t>
            </a:r>
            <a:r>
              <a:rPr lang="zh-CN" altLang="en-US" sz="1800" b="1" dirty="0">
                <a:latin typeface="楷体_GB2312" pitchFamily="49" charset="-122"/>
                <a:ea typeface="楷体_GB2312" pitchFamily="49" charset="-122"/>
              </a:rPr>
              <a:t>）所示。</a:t>
            </a:r>
            <a:endParaRPr lang="zh-CN" altLang="en-US" sz="1800" b="1" dirty="0">
              <a:latin typeface="楷体_GB2312" pitchFamily="49" charset="-122"/>
              <a:ea typeface="楷体_GB2312" pitchFamily="49" charset="-122"/>
            </a:endParaRPr>
          </a:p>
        </p:txBody>
      </p:sp>
      <p:grpSp>
        <p:nvGrpSpPr>
          <p:cNvPr id="2" name="Group 16"/>
          <p:cNvGrpSpPr/>
          <p:nvPr/>
        </p:nvGrpSpPr>
        <p:grpSpPr>
          <a:xfrm>
            <a:off x="4886325" y="3273425"/>
            <a:ext cx="4257675" cy="3549650"/>
            <a:chOff x="0" y="0"/>
            <a:chExt cx="2586" cy="2070"/>
          </a:xfrm>
        </p:grpSpPr>
        <p:grpSp>
          <p:nvGrpSpPr>
            <p:cNvPr id="152584" name="Group 17"/>
            <p:cNvGrpSpPr>
              <a:grpSpLocks noChangeAspect="1"/>
            </p:cNvGrpSpPr>
            <p:nvPr/>
          </p:nvGrpSpPr>
          <p:grpSpPr>
            <a:xfrm>
              <a:off x="0" y="0"/>
              <a:ext cx="2586" cy="949"/>
              <a:chOff x="0" y="0"/>
              <a:chExt cx="2586" cy="949"/>
            </a:xfrm>
          </p:grpSpPr>
          <p:pic>
            <p:nvPicPr>
              <p:cNvPr id="152590" name="Picture 18" descr="铸件壁厚均匀-1"/>
              <p:cNvPicPr preferRelativeResize="0">
                <a:picLocks noChangeAspect="1"/>
              </p:cNvPicPr>
              <p:nvPr/>
            </p:nvPicPr>
            <p:blipFill>
              <a:blip r:embed="rId1">
                <a:lum bright="1999" contrast="36000"/>
              </a:blip>
              <a:srcRect r="51616" b="82108"/>
              <a:stretch>
                <a:fillRect/>
              </a:stretch>
            </p:blipFill>
            <p:spPr>
              <a:xfrm>
                <a:off x="1468" y="142"/>
                <a:ext cx="1118" cy="488"/>
              </a:xfrm>
              <a:prstGeom prst="rect">
                <a:avLst/>
              </a:prstGeom>
              <a:noFill/>
              <a:ln w="9525">
                <a:noFill/>
              </a:ln>
            </p:spPr>
          </p:pic>
          <p:pic>
            <p:nvPicPr>
              <p:cNvPr id="152591" name="Picture 19" descr="铸件壁厚均匀-1"/>
              <p:cNvPicPr>
                <a:picLocks noChangeAspect="1"/>
              </p:cNvPicPr>
              <p:nvPr/>
            </p:nvPicPr>
            <p:blipFill>
              <a:blip r:embed="rId1">
                <a:lum bright="-10001" contrast="66000"/>
              </a:blip>
              <a:srcRect l="8064" t="19875" r="58067" b="44366"/>
              <a:stretch>
                <a:fillRect/>
              </a:stretch>
            </p:blipFill>
            <p:spPr>
              <a:xfrm>
                <a:off x="678" y="0"/>
                <a:ext cx="762" cy="949"/>
              </a:xfrm>
              <a:prstGeom prst="rect">
                <a:avLst/>
              </a:prstGeom>
              <a:noFill/>
              <a:ln w="9525">
                <a:noFill/>
              </a:ln>
            </p:spPr>
          </p:pic>
          <p:pic>
            <p:nvPicPr>
              <p:cNvPr id="152592" name="Picture 20" descr="铸件壁厚均匀-1"/>
              <p:cNvPicPr>
                <a:picLocks noChangeAspect="1"/>
              </p:cNvPicPr>
              <p:nvPr/>
            </p:nvPicPr>
            <p:blipFill>
              <a:blip r:embed="rId1">
                <a:lum bright="1999" contrast="36000"/>
              </a:blip>
              <a:srcRect l="8064" t="59607" r="58067" b="2647"/>
              <a:stretch>
                <a:fillRect/>
              </a:stretch>
            </p:blipFill>
            <p:spPr>
              <a:xfrm>
                <a:off x="0" y="142"/>
                <a:ext cx="584" cy="769"/>
              </a:xfrm>
              <a:prstGeom prst="rect">
                <a:avLst/>
              </a:prstGeom>
              <a:noFill/>
              <a:ln w="9525">
                <a:noFill/>
              </a:ln>
            </p:spPr>
          </p:pic>
        </p:grpSp>
        <p:grpSp>
          <p:nvGrpSpPr>
            <p:cNvPr id="152585" name="Group 21"/>
            <p:cNvGrpSpPr/>
            <p:nvPr/>
          </p:nvGrpSpPr>
          <p:grpSpPr>
            <a:xfrm>
              <a:off x="0" y="996"/>
              <a:ext cx="2485" cy="1074"/>
              <a:chOff x="0" y="0"/>
              <a:chExt cx="2485" cy="1074"/>
            </a:xfrm>
          </p:grpSpPr>
          <p:pic>
            <p:nvPicPr>
              <p:cNvPr id="152586" name="Picture 22" descr="铸件壁厚均匀-1"/>
              <p:cNvPicPr preferRelativeResize="0">
                <a:picLocks noChangeAspect="1"/>
              </p:cNvPicPr>
              <p:nvPr/>
            </p:nvPicPr>
            <p:blipFill>
              <a:blip r:embed="rId1">
                <a:lum bright="1999" contrast="36000"/>
              </a:blip>
              <a:srcRect l="53203" b="82108"/>
              <a:stretch>
                <a:fillRect/>
              </a:stretch>
            </p:blipFill>
            <p:spPr>
              <a:xfrm>
                <a:off x="1468" y="285"/>
                <a:ext cx="1017" cy="458"/>
              </a:xfrm>
              <a:prstGeom prst="rect">
                <a:avLst/>
              </a:prstGeom>
              <a:noFill/>
              <a:ln w="9525">
                <a:noFill/>
              </a:ln>
            </p:spPr>
          </p:pic>
          <p:pic>
            <p:nvPicPr>
              <p:cNvPr id="152587" name="Picture 23" descr="铸件壁厚均匀-1"/>
              <p:cNvPicPr>
                <a:picLocks noChangeAspect="1"/>
              </p:cNvPicPr>
              <p:nvPr/>
            </p:nvPicPr>
            <p:blipFill>
              <a:blip r:embed="rId1">
                <a:lum bright="-4001" contrast="60000"/>
              </a:blip>
              <a:srcRect l="64520" t="19875" r="-1587" b="44366"/>
              <a:stretch>
                <a:fillRect/>
              </a:stretch>
            </p:blipFill>
            <p:spPr>
              <a:xfrm>
                <a:off x="678" y="0"/>
                <a:ext cx="838" cy="955"/>
              </a:xfrm>
              <a:prstGeom prst="rect">
                <a:avLst/>
              </a:prstGeom>
              <a:noFill/>
              <a:ln w="9525">
                <a:noFill/>
              </a:ln>
            </p:spPr>
          </p:pic>
          <p:pic>
            <p:nvPicPr>
              <p:cNvPr id="152588" name="Picture 24" descr="铸件壁厚均匀-1"/>
              <p:cNvPicPr>
                <a:picLocks noChangeAspect="1"/>
              </p:cNvPicPr>
              <p:nvPr/>
            </p:nvPicPr>
            <p:blipFill>
              <a:blip r:embed="rId1">
                <a:lum bright="1999" contrast="36000"/>
              </a:blip>
              <a:srcRect l="64520" t="61594" r="-1587" b="661"/>
              <a:stretch>
                <a:fillRect/>
              </a:stretch>
            </p:blipFill>
            <p:spPr>
              <a:xfrm>
                <a:off x="0" y="142"/>
                <a:ext cx="584" cy="702"/>
              </a:xfrm>
              <a:prstGeom prst="rect">
                <a:avLst/>
              </a:prstGeom>
              <a:noFill/>
              <a:ln w="9525">
                <a:noFill/>
              </a:ln>
            </p:spPr>
          </p:pic>
          <p:sp>
            <p:nvSpPr>
              <p:cNvPr id="152589" name="Text Box 25"/>
              <p:cNvSpPr txBox="1"/>
              <p:nvPr/>
            </p:nvSpPr>
            <p:spPr>
              <a:xfrm>
                <a:off x="903" y="930"/>
                <a:ext cx="1035" cy="144"/>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400" b="1" dirty="0">
                    <a:latin typeface="Times New Roman" panose="02020603050405020304" pitchFamily="18" charset="0"/>
                  </a:rPr>
                  <a:t>图 </a:t>
                </a:r>
                <a:r>
                  <a:rPr lang="en-US" altLang="zh-CN" sz="1400" b="1" dirty="0">
                    <a:latin typeface="Times New Roman" panose="02020603050405020304" pitchFamily="18" charset="0"/>
                  </a:rPr>
                  <a:t>25 </a:t>
                </a:r>
                <a:r>
                  <a:rPr lang="zh-CN" altLang="en-US" sz="1400" b="1" dirty="0">
                    <a:latin typeface="Times New Roman" panose="02020603050405020304" pitchFamily="18" charset="0"/>
                  </a:rPr>
                  <a:t>壁厚均匀实例</a:t>
                </a:r>
                <a:r>
                  <a:rPr lang="zh-CN" altLang="en-US" sz="900" dirty="0">
                    <a:latin typeface="Times New Roman" panose="02020603050405020304" pitchFamily="18" charset="0"/>
                  </a:rPr>
                  <a:t>	</a:t>
                </a:r>
                <a:endParaRPr lang="zh-CN" altLang="en-US" sz="1000" dirty="0">
                  <a:latin typeface="Times New Roman" panose="02020603050405020304" pitchFamily="18" charset="0"/>
                </a:endParaRPr>
              </a:p>
              <a:p>
                <a:pPr marL="0" lvl="0" indent="0" eaLnBrk="1" hangingPunct="1">
                  <a:spcBef>
                    <a:spcPct val="0"/>
                  </a:spcBef>
                  <a:buClrTx/>
                  <a:buSzTx/>
                  <a:buNone/>
                </a:pPr>
                <a:endParaRPr lang="en-US" altLang="zh-CN" sz="1800" dirty="0"/>
              </a:p>
            </p:txBody>
          </p:sp>
        </p:grpSp>
      </p:grpSp>
      <p:grpSp>
        <p:nvGrpSpPr>
          <p:cNvPr id="152581" name="Group 27"/>
          <p:cNvGrpSpPr/>
          <p:nvPr/>
        </p:nvGrpSpPr>
        <p:grpSpPr>
          <a:xfrm>
            <a:off x="342900" y="3489325"/>
            <a:ext cx="4159250" cy="3324225"/>
            <a:chOff x="0" y="0"/>
            <a:chExt cx="2238" cy="1818"/>
          </a:xfrm>
        </p:grpSpPr>
        <p:pic>
          <p:nvPicPr>
            <p:cNvPr id="152582" name="Picture 15"/>
            <p:cNvPicPr>
              <a:picLocks noChangeAspect="1"/>
            </p:cNvPicPr>
            <p:nvPr/>
          </p:nvPicPr>
          <p:blipFill>
            <a:blip r:embed="rId2"/>
            <a:stretch>
              <a:fillRect/>
            </a:stretch>
          </p:blipFill>
          <p:spPr>
            <a:xfrm>
              <a:off x="0" y="0"/>
              <a:ext cx="2238" cy="1818"/>
            </a:xfrm>
            <a:prstGeom prst="rect">
              <a:avLst/>
            </a:prstGeom>
            <a:noFill/>
            <a:ln w="9525">
              <a:noFill/>
            </a:ln>
          </p:spPr>
        </p:pic>
        <p:sp>
          <p:nvSpPr>
            <p:cNvPr id="152583" name="Rectangle 26"/>
            <p:cNvSpPr/>
            <p:nvPr/>
          </p:nvSpPr>
          <p:spPr>
            <a:xfrm>
              <a:off x="510" y="1626"/>
              <a:ext cx="384" cy="144"/>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Rectangle 2"/>
          <p:cNvSpPr>
            <a:spLocks noGrp="1"/>
          </p:cNvSpPr>
          <p:nvPr>
            <p:ph type="title"/>
          </p:nvPr>
        </p:nvSpPr>
        <p:spPr>
          <a:xfrm>
            <a:off x="609600" y="152400"/>
            <a:ext cx="8229600"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53603" name="Rectangle 3"/>
          <p:cNvSpPr/>
          <p:nvPr/>
        </p:nvSpPr>
        <p:spPr>
          <a:xfrm>
            <a:off x="733425" y="1651000"/>
            <a:ext cx="815975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
                <a:srgbClr val="FF0066"/>
              </a:buClr>
              <a:buSzTx/>
              <a:buFont typeface="Wingdings" panose="05000000000000000000" pitchFamily="2" charset="2"/>
              <a:buChar char="Ø"/>
            </a:pPr>
            <a:r>
              <a:rPr lang="en-US" altLang="zh-CN" sz="1800" b="1" dirty="0">
                <a:latin typeface="GreekS" pitchFamily="2" charset="0"/>
              </a:rPr>
              <a:t>  </a:t>
            </a:r>
            <a:r>
              <a:rPr lang="zh-CN" altLang="en-US" sz="2400" b="1" dirty="0">
                <a:solidFill>
                  <a:srgbClr val="FF3300"/>
                </a:solidFill>
                <a:latin typeface="楷体_GB2312" pitchFamily="49" charset="-122"/>
                <a:ea typeface="楷体_GB2312" pitchFamily="49" charset="-122"/>
              </a:rPr>
              <a:t>铸件壁厚应尽可能均匀</a:t>
            </a:r>
            <a:endParaRPr lang="zh-CN" altLang="en-US" sz="2400" b="1" dirty="0">
              <a:latin typeface="楷体_GB2312" pitchFamily="49" charset="-122"/>
              <a:ea typeface="楷体_GB2312" pitchFamily="49" charset="-122"/>
            </a:endParaRPr>
          </a:p>
        </p:txBody>
      </p:sp>
      <p:grpSp>
        <p:nvGrpSpPr>
          <p:cNvPr id="153604" name="Group 4"/>
          <p:cNvGrpSpPr/>
          <p:nvPr/>
        </p:nvGrpSpPr>
        <p:grpSpPr>
          <a:xfrm>
            <a:off x="250825" y="2852738"/>
            <a:ext cx="8424863" cy="3413125"/>
            <a:chOff x="0" y="0"/>
            <a:chExt cx="4717" cy="1606"/>
          </a:xfrm>
        </p:grpSpPr>
        <p:pic>
          <p:nvPicPr>
            <p:cNvPr id="153605" name="Picture 5"/>
            <p:cNvPicPr>
              <a:picLocks noChangeAspect="1"/>
            </p:cNvPicPr>
            <p:nvPr/>
          </p:nvPicPr>
          <p:blipFill>
            <a:blip r:embed="rId1"/>
            <a:stretch>
              <a:fillRect/>
            </a:stretch>
          </p:blipFill>
          <p:spPr>
            <a:xfrm>
              <a:off x="0" y="0"/>
              <a:ext cx="4717" cy="1606"/>
            </a:xfrm>
            <a:prstGeom prst="rect">
              <a:avLst/>
            </a:prstGeom>
            <a:noFill/>
            <a:ln w="9525">
              <a:noFill/>
            </a:ln>
          </p:spPr>
        </p:pic>
        <p:sp>
          <p:nvSpPr>
            <p:cNvPr id="153606" name="Rectangle 6"/>
            <p:cNvSpPr/>
            <p:nvPr/>
          </p:nvSpPr>
          <p:spPr>
            <a:xfrm>
              <a:off x="1814" y="1243"/>
              <a:ext cx="226" cy="136"/>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timgsa.baidu.com/timg?image&amp;quality=80&amp;size=b9999_10000&amp;sec=1603107103142&amp;di=bd99e2f218997a138cc6adbf8b611c3e&amp;imgtype=0&amp;src=http%3A%2F%2Fwww.iw168.cn%2Fupload123%2F201504%2F17%2FD584726614.gif"/>
          <p:cNvPicPr>
            <a:picLocks noChangeAspect="1" noChangeArrowheads="1" noCrop="1"/>
          </p:cNvPicPr>
          <p:nvPr/>
        </p:nvPicPr>
        <p:blipFill>
          <a:blip r:embed="rId1"/>
          <a:srcRect/>
          <a:stretch>
            <a:fillRect/>
          </a:stretch>
        </p:blipFill>
        <p:spPr bwMode="auto">
          <a:xfrm>
            <a:off x="370205" y="2853055"/>
            <a:ext cx="8403590" cy="317881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txBox="1">
            <a:spLocks noChangeArrowheads="1"/>
          </p:cNvSpPr>
          <p:nvPr/>
        </p:nvSpPr>
        <p:spPr>
          <a:xfrm>
            <a:off x="1692910" y="548948"/>
            <a:ext cx="6172200" cy="854869"/>
          </a:xfrm>
          <a:prstGeom prst="rect">
            <a:avLst/>
          </a:prstGeom>
        </p:spPr>
        <p:txBody>
          <a:bodyPr vert="horz" lIns="68580" tIns="34290" rIns="68580" bIns="3429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zh-CN" altLang="zh-CN" sz="3000" b="1" dirty="0">
                <a:latin typeface="Verdana" panose="020B0604030504040204" pitchFamily="34" charset="0"/>
                <a:ea typeface="楷体_GB2312" pitchFamily="49" charset="-122"/>
              </a:rPr>
              <a:t>铸件结构设计</a:t>
            </a:r>
            <a:endParaRPr lang="zh-CN" altLang="zh-CN" sz="3000" b="1" dirty="0">
              <a:latin typeface="Verdana" panose="020B0604030504040204" pitchFamily="34" charset="0"/>
              <a:ea typeface="楷体_GB2312" pitchFamily="49" charset="-122"/>
            </a:endParaRPr>
          </a:p>
        </p:txBody>
      </p:sp>
      <p:sp>
        <p:nvSpPr>
          <p:cNvPr id="4" name="Rectangle 3"/>
          <p:cNvSpPr>
            <a:spLocks noChangeArrowheads="1"/>
          </p:cNvSpPr>
          <p:nvPr/>
        </p:nvSpPr>
        <p:spPr bwMode="auto">
          <a:xfrm>
            <a:off x="1115854" y="1898015"/>
            <a:ext cx="61198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50000"/>
              </a:spcBef>
              <a:buClr>
                <a:srgbClr val="FF0066"/>
              </a:buClr>
              <a:buSzTx/>
              <a:buFont typeface="Wingdings" panose="05000000000000000000" pitchFamily="2" charset="2"/>
              <a:buChar char="Ø"/>
            </a:pPr>
            <a:r>
              <a:rPr lang="en-US" altLang="zh-CN" sz="1600" b="1" dirty="0">
                <a:latin typeface="GreekS" pitchFamily="2" charset="0"/>
              </a:rPr>
              <a:t>  </a:t>
            </a:r>
            <a:r>
              <a:rPr lang="zh-CN" altLang="en-US" sz="2400" b="1" dirty="0">
                <a:solidFill>
                  <a:srgbClr val="FF3300"/>
                </a:solidFill>
                <a:latin typeface="楷体_GB2312" pitchFamily="49" charset="-122"/>
                <a:ea typeface="楷体_GB2312" pitchFamily="49" charset="-122"/>
              </a:rPr>
              <a:t>铸件壁厚应尽可能均匀</a:t>
            </a:r>
            <a:endParaRPr lang="zh-CN" altLang="en-US" sz="2400" b="1" dirty="0">
              <a:solidFill>
                <a:srgbClr val="FF3300"/>
              </a:solidFill>
              <a:latin typeface="楷体_GB2312" pitchFamily="49" charset="-122"/>
              <a:ea typeface="楷体_GB2312" pitchFamily="49" charset="-122"/>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2"/>
          <p:cNvSpPr>
            <a:spLocks noGrp="1"/>
          </p:cNvSpPr>
          <p:nvPr>
            <p:ph type="title"/>
          </p:nvPr>
        </p:nvSpPr>
        <p:spPr>
          <a:xfrm>
            <a:off x="609600" y="152400"/>
            <a:ext cx="8229600"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54627" name="Rectangle 3"/>
          <p:cNvSpPr/>
          <p:nvPr/>
        </p:nvSpPr>
        <p:spPr>
          <a:xfrm>
            <a:off x="733425" y="1651000"/>
            <a:ext cx="8159750" cy="1219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
                <a:srgbClr val="FF0066"/>
              </a:buClr>
              <a:buSzTx/>
              <a:buFont typeface="Wingdings" panose="05000000000000000000" pitchFamily="2" charset="2"/>
              <a:buChar char="Ø"/>
            </a:pPr>
            <a:r>
              <a:rPr lang="en-US" altLang="zh-CN" sz="1800" b="1" dirty="0">
                <a:latin typeface="GreekS" pitchFamily="2" charset="0"/>
              </a:rPr>
              <a:t>  </a:t>
            </a:r>
            <a:r>
              <a:rPr lang="zh-CN" altLang="en-US" sz="2400" b="1" dirty="0">
                <a:solidFill>
                  <a:srgbClr val="FF3300"/>
                </a:solidFill>
                <a:latin typeface="楷体_GB2312" pitchFamily="49" charset="-122"/>
                <a:ea typeface="楷体_GB2312" pitchFamily="49" charset="-122"/>
              </a:rPr>
              <a:t>铸件壁厚应尽可能均匀</a:t>
            </a:r>
            <a:endParaRPr lang="zh-CN" altLang="en-US" sz="2400" b="1" dirty="0">
              <a:solidFill>
                <a:srgbClr val="FF3300"/>
              </a:solidFill>
              <a:latin typeface="楷体_GB2312" pitchFamily="49" charset="-122"/>
              <a:ea typeface="楷体_GB2312" pitchFamily="49" charset="-122"/>
            </a:endParaRPr>
          </a:p>
          <a:p>
            <a:pPr marL="0" lvl="0" indent="0" eaLnBrk="1" hangingPunct="1">
              <a:spcBef>
                <a:spcPct val="50000"/>
              </a:spcBef>
              <a:buClr>
                <a:srgbClr val="FF0066"/>
              </a:buClr>
              <a:buSzTx/>
              <a:buNone/>
            </a:pPr>
            <a:r>
              <a:rPr lang="zh-CN" altLang="en-US" sz="2000" b="1" dirty="0">
                <a:latin typeface="楷体_GB2312" pitchFamily="49" charset="-122"/>
                <a:ea typeface="楷体_GB2312" pitchFamily="49" charset="-122"/>
              </a:rPr>
              <a:t>   如图顶盖铸件的壁厚有两种设计方案。方案</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的厚壁处易产生缩孔，在连接处易产生裂纹。方案</a:t>
            </a:r>
            <a:r>
              <a:rPr lang="en-US" altLang="zh-CN" sz="2000" b="1" dirty="0">
                <a:latin typeface="楷体_GB2312" pitchFamily="49" charset="-122"/>
                <a:ea typeface="楷体_GB2312" pitchFamily="49" charset="-122"/>
              </a:rPr>
              <a:t>(b)</a:t>
            </a:r>
            <a:r>
              <a:rPr lang="zh-CN" altLang="en-US" sz="2000" b="1" dirty="0">
                <a:latin typeface="楷体_GB2312" pitchFamily="49" charset="-122"/>
                <a:ea typeface="楷体_GB2312" pitchFamily="49" charset="-122"/>
              </a:rPr>
              <a:t>则可以避免这些缺陷。</a:t>
            </a:r>
            <a:r>
              <a:rPr lang="zh-CN" altLang="en-US" sz="1800" dirty="0"/>
              <a:t> </a:t>
            </a:r>
            <a:endParaRPr lang="zh-CN" altLang="en-US" sz="1800" dirty="0"/>
          </a:p>
        </p:txBody>
      </p:sp>
      <p:pic>
        <p:nvPicPr>
          <p:cNvPr id="154628" name="Picture 7" descr="图片1"/>
          <p:cNvPicPr>
            <a:picLocks noChangeAspect="1"/>
          </p:cNvPicPr>
          <p:nvPr/>
        </p:nvPicPr>
        <p:blipFill>
          <a:blip r:embed="rId1"/>
          <a:stretch>
            <a:fillRect/>
          </a:stretch>
        </p:blipFill>
        <p:spPr>
          <a:xfrm>
            <a:off x="900113" y="3213100"/>
            <a:ext cx="7558087" cy="3644900"/>
          </a:xfrm>
          <a:prstGeom prst="rect">
            <a:avLst/>
          </a:prstGeom>
          <a:noFill/>
          <a:ln w="9525">
            <a:noFill/>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2"/>
          <p:cNvSpPr>
            <a:spLocks noGrp="1"/>
          </p:cNvSpPr>
          <p:nvPr>
            <p:ph type="title"/>
          </p:nvPr>
        </p:nvSpPr>
        <p:spPr>
          <a:xfrm>
            <a:off x="609600" y="152400"/>
            <a:ext cx="8229600"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55651" name="Rectangle 3"/>
          <p:cNvSpPr/>
          <p:nvPr/>
        </p:nvSpPr>
        <p:spPr>
          <a:xfrm>
            <a:off x="900113" y="1651000"/>
            <a:ext cx="7943850" cy="1371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
                <a:srgbClr val="FF0066"/>
              </a:buClr>
              <a:buSzTx/>
              <a:buFont typeface="Wingdings" panose="05000000000000000000" pitchFamily="2" charset="2"/>
              <a:buChar char="Ø"/>
            </a:pPr>
            <a:r>
              <a:rPr lang="en-US" altLang="zh-CN" sz="1800" b="1" dirty="0">
                <a:latin typeface="GreekS" pitchFamily="2" charset="0"/>
              </a:rPr>
              <a:t>  </a:t>
            </a:r>
            <a:r>
              <a:rPr lang="zh-CN" altLang="en-US" sz="2400" b="1" dirty="0">
                <a:solidFill>
                  <a:srgbClr val="FF3300"/>
                </a:solidFill>
                <a:latin typeface="楷体_GB2312" pitchFamily="49" charset="-122"/>
                <a:ea typeface="楷体_GB2312" pitchFamily="49" charset="-122"/>
              </a:rPr>
              <a:t>铸件壁厚应尽可能均匀</a:t>
            </a:r>
            <a:endParaRPr lang="zh-CN" altLang="en-US" sz="2400" b="1" dirty="0">
              <a:solidFill>
                <a:srgbClr val="FF3300"/>
              </a:solidFill>
              <a:latin typeface="楷体_GB2312" pitchFamily="49" charset="-122"/>
              <a:ea typeface="楷体_GB2312" pitchFamily="49" charset="-122"/>
            </a:endParaRPr>
          </a:p>
          <a:p>
            <a:pPr marL="0" lvl="0" indent="0" eaLnBrk="1" hangingPunct="1">
              <a:spcBef>
                <a:spcPct val="0"/>
              </a:spcBef>
              <a:buClrTx/>
              <a:buSzTx/>
              <a:buNone/>
            </a:pPr>
            <a:r>
              <a:rPr lang="zh-CN" altLang="en-US" sz="1800" b="1" dirty="0"/>
              <a:t>    </a:t>
            </a:r>
            <a:r>
              <a:rPr lang="zh-CN" altLang="en-US" sz="2000" b="1" dirty="0">
                <a:latin typeface="楷体_GB2312" pitchFamily="49" charset="-122"/>
                <a:ea typeface="楷体_GB2312" pitchFamily="49" charset="-122"/>
              </a:rPr>
              <a:t>当壁厚不相等时，应力求平缓过渡，避免突变，以减少应力集中，防止产生裂纹。如图所示、当</a:t>
            </a:r>
            <a:r>
              <a:rPr lang="en-US" altLang="zh-CN" sz="2000" b="1" dirty="0">
                <a:latin typeface="楷体_GB2312" pitchFamily="49" charset="-122"/>
                <a:ea typeface="楷体_GB2312" pitchFamily="49" charset="-122"/>
              </a:rPr>
              <a:t>H/h</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时，可用圆角过渡；</a:t>
            </a:r>
            <a:r>
              <a:rPr lang="en-US" altLang="zh-CN" sz="2000" b="1" dirty="0">
                <a:latin typeface="楷体_GB2312" pitchFamily="49" charset="-122"/>
                <a:ea typeface="楷体_GB2312" pitchFamily="49" charset="-122"/>
              </a:rPr>
              <a:t>H/h</a:t>
            </a:r>
            <a:r>
              <a:rPr lang="en-US" altLang="zh-CN" sz="2000"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时，可用楔形过渡。</a:t>
            </a:r>
            <a:endParaRPr lang="zh-CN" altLang="en-US" sz="2000" b="1" dirty="0">
              <a:latin typeface="楷体_GB2312" pitchFamily="49" charset="-122"/>
              <a:ea typeface="楷体_GB2312" pitchFamily="49" charset="-122"/>
            </a:endParaRPr>
          </a:p>
        </p:txBody>
      </p:sp>
      <p:grpSp>
        <p:nvGrpSpPr>
          <p:cNvPr id="155652" name="Group 4"/>
          <p:cNvGrpSpPr/>
          <p:nvPr/>
        </p:nvGrpSpPr>
        <p:grpSpPr>
          <a:xfrm>
            <a:off x="288925" y="3644900"/>
            <a:ext cx="8562975" cy="3024188"/>
            <a:chOff x="0" y="0"/>
            <a:chExt cx="4728" cy="1068"/>
          </a:xfrm>
        </p:grpSpPr>
        <p:pic>
          <p:nvPicPr>
            <p:cNvPr id="155653" name="Picture 5"/>
            <p:cNvPicPr>
              <a:picLocks noChangeAspect="1"/>
            </p:cNvPicPr>
            <p:nvPr/>
          </p:nvPicPr>
          <p:blipFill>
            <a:blip r:embed="rId1"/>
            <a:stretch>
              <a:fillRect/>
            </a:stretch>
          </p:blipFill>
          <p:spPr>
            <a:xfrm>
              <a:off x="0" y="0"/>
              <a:ext cx="4728" cy="1068"/>
            </a:xfrm>
            <a:prstGeom prst="rect">
              <a:avLst/>
            </a:prstGeom>
            <a:noFill/>
            <a:ln w="9525">
              <a:noFill/>
            </a:ln>
          </p:spPr>
        </p:pic>
        <p:sp>
          <p:nvSpPr>
            <p:cNvPr id="155654" name="Rectangle 6"/>
            <p:cNvSpPr/>
            <p:nvPr/>
          </p:nvSpPr>
          <p:spPr>
            <a:xfrm>
              <a:off x="1870" y="842"/>
              <a:ext cx="272" cy="136"/>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Rectangle 2"/>
          <p:cNvSpPr>
            <a:spLocks noGrp="1"/>
          </p:cNvSpPr>
          <p:nvPr>
            <p:ph type="title"/>
          </p:nvPr>
        </p:nvSpPr>
        <p:spPr>
          <a:xfrm>
            <a:off x="609600" y="152400"/>
            <a:ext cx="8229600" cy="1139825"/>
          </a:xfrm>
        </p:spPr>
        <p:txBody>
          <a:bodyPr vert="horz" wrap="square" lIns="91440" tIns="45720" rIns="91440" bIns="45720" anchor="b" anchorCtr="0"/>
          <a:p>
            <a:pPr algn="ctr" eaLnBrk="1" hangingPunct="1"/>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56675" name="Rectangle 3"/>
          <p:cNvSpPr/>
          <p:nvPr/>
        </p:nvSpPr>
        <p:spPr>
          <a:xfrm>
            <a:off x="971550" y="1776413"/>
            <a:ext cx="7654925" cy="1371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
                <a:srgbClr val="FF0066"/>
              </a:buClr>
              <a:buSzTx/>
              <a:buFont typeface="Wingdings" panose="05000000000000000000" pitchFamily="2" charset="2"/>
              <a:buChar char="Ø"/>
            </a:pPr>
            <a:r>
              <a:rPr lang="en-US" altLang="zh-CN" sz="1800" b="1" dirty="0">
                <a:latin typeface="GreekS" pitchFamily="2" charset="0"/>
              </a:rPr>
              <a:t>  </a:t>
            </a:r>
            <a:r>
              <a:rPr lang="zh-CN" altLang="en-US" sz="2400" b="1" dirty="0">
                <a:solidFill>
                  <a:srgbClr val="FF3300"/>
                </a:solidFill>
                <a:latin typeface="楷体_GB2312" pitchFamily="49" charset="-122"/>
                <a:ea typeface="楷体_GB2312" pitchFamily="49" charset="-122"/>
              </a:rPr>
              <a:t>铸件壁厚应尽可能均匀</a:t>
            </a:r>
            <a:endParaRPr lang="zh-CN" altLang="en-US" sz="2400" b="1" dirty="0">
              <a:solidFill>
                <a:srgbClr val="FF3300"/>
              </a:solidFill>
              <a:latin typeface="楷体_GB2312" pitchFamily="49" charset="-122"/>
              <a:ea typeface="楷体_GB2312" pitchFamily="49" charset="-122"/>
            </a:endParaRPr>
          </a:p>
          <a:p>
            <a:pPr marL="0" lvl="0" indent="0" eaLnBrk="1" hangingPunct="1">
              <a:spcBef>
                <a:spcPct val="0"/>
              </a:spcBef>
              <a:buClrTx/>
              <a:buSzTx/>
              <a:buNone/>
            </a:pPr>
            <a:r>
              <a:rPr lang="zh-CN" altLang="en-US" sz="1800" b="1" dirty="0">
                <a:latin typeface="楷体_GB2312" pitchFamily="49" charset="-122"/>
                <a:ea typeface="楷体_GB2312" pitchFamily="49" charset="-122"/>
              </a:rPr>
              <a:t>    </a:t>
            </a:r>
            <a:r>
              <a:rPr lang="zh-CN" altLang="en-US" sz="2000" b="1" dirty="0">
                <a:solidFill>
                  <a:srgbClr val="0000FF"/>
                </a:solidFill>
                <a:latin typeface="楷体_GB2312" pitchFamily="49" charset="-122"/>
                <a:ea typeface="楷体_GB2312" pitchFamily="49" charset="-122"/>
              </a:rPr>
              <a:t>内壁厚应小于外壁厚</a:t>
            </a:r>
            <a:r>
              <a:rPr lang="zh-CN" altLang="en-US" sz="2000" b="1" dirty="0">
                <a:latin typeface="楷体_GB2312" pitchFamily="49" charset="-122"/>
                <a:ea typeface="楷体_GB2312" pitchFamily="49" charset="-122"/>
              </a:rPr>
              <a:t> 铸件内部的筋、壁等，散热条件差，冷却速度较慢，故内壁应比外壁薄 以使整体均匀冷却，从而减少应力和防止裂纹产生。</a:t>
            </a:r>
            <a:endParaRPr lang="zh-CN" altLang="en-US" sz="2000" b="1" dirty="0">
              <a:latin typeface="楷体_GB2312" pitchFamily="49" charset="-122"/>
              <a:ea typeface="楷体_GB2312" pitchFamily="49" charset="-122"/>
            </a:endParaRPr>
          </a:p>
        </p:txBody>
      </p:sp>
      <p:grpSp>
        <p:nvGrpSpPr>
          <p:cNvPr id="156676" name="Group 4"/>
          <p:cNvGrpSpPr/>
          <p:nvPr/>
        </p:nvGrpSpPr>
        <p:grpSpPr>
          <a:xfrm>
            <a:off x="971550" y="3148013"/>
            <a:ext cx="7416800" cy="4119562"/>
            <a:chOff x="0" y="0"/>
            <a:chExt cx="4068" cy="2040"/>
          </a:xfrm>
        </p:grpSpPr>
        <p:pic>
          <p:nvPicPr>
            <p:cNvPr id="156677" name="Picture 5"/>
            <p:cNvPicPr>
              <a:picLocks noChangeAspect="1"/>
            </p:cNvPicPr>
            <p:nvPr/>
          </p:nvPicPr>
          <p:blipFill>
            <a:blip r:embed="rId1"/>
            <a:stretch>
              <a:fillRect/>
            </a:stretch>
          </p:blipFill>
          <p:spPr>
            <a:xfrm>
              <a:off x="0" y="0"/>
              <a:ext cx="4068" cy="2040"/>
            </a:xfrm>
            <a:prstGeom prst="rect">
              <a:avLst/>
            </a:prstGeom>
            <a:noFill/>
            <a:ln w="9525">
              <a:noFill/>
            </a:ln>
          </p:spPr>
        </p:pic>
        <p:sp>
          <p:nvSpPr>
            <p:cNvPr id="156678" name="Rectangle 6"/>
            <p:cNvSpPr/>
            <p:nvPr/>
          </p:nvSpPr>
          <p:spPr>
            <a:xfrm>
              <a:off x="1406" y="1860"/>
              <a:ext cx="227" cy="135"/>
            </a:xfrm>
            <a:prstGeom prst="rect">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Rectangle 5"/>
          <p:cNvSpPr>
            <a:spLocks noGrp="1"/>
          </p:cNvSpPr>
          <p:nvPr>
            <p:ph type="title"/>
          </p:nvPr>
        </p:nvSpPr>
        <p:spPr>
          <a:xfrm>
            <a:off x="1887538" y="835025"/>
            <a:ext cx="6213475" cy="577850"/>
          </a:xfrm>
        </p:spPr>
        <p:txBody>
          <a:bodyPr vert="horz" wrap="square" lIns="91440" tIns="45720" rIns="91440" bIns="45720" anchor="b" anchorCtr="0"/>
          <a:p>
            <a:pPr algn="ctr" eaLnBrk="1" hangingPunct="1">
              <a:buFont typeface="Wingdings" panose="05000000000000000000" pitchFamily="2" charset="2"/>
              <a:buNone/>
            </a:pPr>
            <a:r>
              <a:rPr lang="zh-CN" altLang="zh-CN" sz="4000" b="1" dirty="0">
                <a:latin typeface="Verdana" panose="020B0604030504040204" pitchFamily="34" charset="0"/>
                <a:ea typeface="楷体_GB2312" pitchFamily="49" charset="-122"/>
              </a:rPr>
              <a:t>铸件结构设计</a:t>
            </a:r>
            <a:endParaRPr lang="zh-CN" altLang="zh-CN" sz="4000" b="1" dirty="0">
              <a:solidFill>
                <a:schemeClr val="tx1"/>
              </a:solidFill>
              <a:latin typeface="GreekS" pitchFamily="2" charset="0"/>
              <a:ea typeface="楷体_GB2312" pitchFamily="49" charset="-122"/>
            </a:endParaRPr>
          </a:p>
        </p:txBody>
      </p:sp>
      <p:sp>
        <p:nvSpPr>
          <p:cNvPr id="157699" name="Rectangle 7"/>
          <p:cNvSpPr/>
          <p:nvPr/>
        </p:nvSpPr>
        <p:spPr>
          <a:xfrm>
            <a:off x="611188" y="4495800"/>
            <a:ext cx="2608262" cy="1323975"/>
          </a:xfrm>
          <a:prstGeom prst="rect">
            <a:avLst/>
          </a:prstGeom>
          <a:solidFill>
            <a:srgbClr val="CCFFCC"/>
          </a:solid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n"/>
            </a:pPr>
            <a:r>
              <a:rPr lang="zh-CN" altLang="zh-CN" sz="2000" b="1" dirty="0">
                <a:solidFill>
                  <a:srgbClr val="0033CC"/>
                </a:solidFill>
                <a:latin typeface="楷体_GB2312" pitchFamily="49" charset="-122"/>
                <a:ea typeface="楷体_GB2312" pitchFamily="49" charset="-122"/>
              </a:rPr>
              <a:t>铸件各壁之间应均匀过渡，两个非加工表面所形成内角应设计成结构圆角。</a:t>
            </a:r>
            <a:r>
              <a:rPr lang="zh-CN" altLang="zh-CN" sz="2000" dirty="0">
                <a:solidFill>
                  <a:srgbClr val="000000"/>
                </a:solidFill>
                <a:latin typeface="楷体_GB2312" pitchFamily="49" charset="-122"/>
                <a:ea typeface="楷体_GB2312" pitchFamily="49" charset="-122"/>
              </a:rPr>
              <a:t> </a:t>
            </a:r>
            <a:endParaRPr lang="zh-CN" altLang="zh-CN" sz="2000" dirty="0">
              <a:solidFill>
                <a:srgbClr val="000000"/>
              </a:solidFill>
              <a:latin typeface="楷体_GB2312" pitchFamily="49" charset="-122"/>
              <a:ea typeface="楷体_GB2312" pitchFamily="49" charset="-122"/>
            </a:endParaRPr>
          </a:p>
        </p:txBody>
      </p:sp>
      <p:sp>
        <p:nvSpPr>
          <p:cNvPr id="157700" name="Rectangle 16"/>
          <p:cNvSpPr/>
          <p:nvPr/>
        </p:nvSpPr>
        <p:spPr>
          <a:xfrm>
            <a:off x="611188" y="1617663"/>
            <a:ext cx="8032750" cy="24320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0066"/>
              </a:buClr>
              <a:buSzTx/>
              <a:buFont typeface="Wingdings" panose="05000000000000000000" pitchFamily="2" charset="2"/>
              <a:buChar char="v"/>
            </a:pPr>
            <a:r>
              <a:rPr lang="zh-CN" altLang="en-US" sz="2400" b="1" dirty="0">
                <a:solidFill>
                  <a:srgbClr val="FF6600"/>
                </a:solidFill>
                <a:latin typeface="楷体_GB2312" pitchFamily="49" charset="-122"/>
                <a:ea typeface="楷体_GB2312" pitchFamily="49" charset="-122"/>
              </a:rPr>
              <a:t>铸件壁的连接</a:t>
            </a:r>
            <a:endParaRPr lang="zh-CN" altLang="en-US" sz="2400" b="1" dirty="0">
              <a:solidFill>
                <a:srgbClr val="FF6600"/>
              </a:solidFill>
              <a:latin typeface="楷体_GB2312" pitchFamily="49" charset="-122"/>
              <a:ea typeface="楷体_GB2312" pitchFamily="49" charset="-122"/>
            </a:endParaRPr>
          </a:p>
          <a:p>
            <a:pPr marL="0" lvl="0" indent="0" eaLnBrk="1" hangingPunct="1">
              <a:buClr>
                <a:schemeClr val="tx1"/>
              </a:buClr>
              <a:buSzTx/>
              <a:buNone/>
            </a:pPr>
            <a:r>
              <a:rPr lang="zh-CN" altLang="en-US" sz="2000" b="1" dirty="0">
                <a:latin typeface="楷体_GB2312" pitchFamily="49" charset="-122"/>
                <a:ea typeface="楷体_GB2312" pitchFamily="49" charset="-122"/>
              </a:rPr>
              <a:t>   铸件壁与壁的连接是否合理．对铸件质量也有很大影响，通常应考虑下列问题</a:t>
            </a:r>
            <a:endParaRPr lang="zh-CN" altLang="en-US" sz="2000" b="1" dirty="0">
              <a:latin typeface="楷体_GB2312" pitchFamily="49" charset="-122"/>
              <a:ea typeface="楷体_GB2312" pitchFamily="49" charset="-122"/>
            </a:endParaRPr>
          </a:p>
          <a:p>
            <a:pPr marL="0" lvl="0" indent="0" eaLnBrk="1" hangingPunct="1">
              <a:buClr>
                <a:schemeClr val="tx1"/>
              </a:buClr>
              <a:buSzTx/>
              <a:buNone/>
            </a:pPr>
            <a:r>
              <a:rPr lang="zh-CN" altLang="en-US" sz="2000" b="1" dirty="0">
                <a:latin typeface="楷体_GB2312" pitchFamily="49" charset="-122"/>
                <a:ea typeface="楷体_GB2312" pitchFamily="49" charset="-122"/>
              </a:rPr>
              <a:t>   </a:t>
            </a:r>
            <a:r>
              <a:rPr lang="en-US" altLang="zh-CN" sz="2000" b="1" dirty="0">
                <a:solidFill>
                  <a:srgbClr val="00CC00"/>
                </a:solidFill>
                <a:latin typeface="楷体_GB2312" pitchFamily="49" charset="-122"/>
                <a:ea typeface="楷体_GB2312" pitchFamily="49" charset="-122"/>
              </a:rPr>
              <a:t>(1)</a:t>
            </a:r>
            <a:r>
              <a:rPr lang="zh-CN" altLang="en-US" sz="2000" b="1" dirty="0">
                <a:solidFill>
                  <a:srgbClr val="00CC00"/>
                </a:solidFill>
                <a:latin typeface="楷体_GB2312" pitchFamily="49" charset="-122"/>
                <a:ea typeface="楷体_GB2312" pitchFamily="49" charset="-122"/>
              </a:rPr>
              <a:t>结构圆角</a:t>
            </a:r>
            <a:r>
              <a:rPr lang="zh-CN" altLang="en-US" sz="2000" b="1" dirty="0">
                <a:solidFill>
                  <a:srgbClr val="FF0066"/>
                </a:solidFill>
                <a:latin typeface="楷体_GB2312" pitchFamily="49" charset="-122"/>
                <a:ea typeface="楷体_GB2312" pitchFamily="49" charset="-122"/>
              </a:rPr>
              <a:t> 铸件壁酌转角或两壁相交处，应考虑结构圆角。</a:t>
            </a:r>
            <a:r>
              <a:rPr lang="zh-CN" altLang="en-US" sz="2000" b="1" dirty="0">
                <a:latin typeface="楷体_GB2312" pitchFamily="49" charset="-122"/>
                <a:ea typeface="楷体_GB2312" pitchFamily="49" charset="-122"/>
              </a:rPr>
              <a:t>这样可使相交处散热条件好，冷却均匀，不会产生缩孔。另外，铸造圆角有利于造型和提高铸型强度</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应力集中</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，避免了铸型尖角处损坏而形成的缺陷。</a:t>
            </a:r>
            <a:endParaRPr lang="zh-CN" altLang="en-US" sz="2000" b="1" dirty="0">
              <a:latin typeface="楷体_GB2312" pitchFamily="49" charset="-122"/>
              <a:ea typeface="楷体_GB2312" pitchFamily="49" charset="-122"/>
            </a:endParaRPr>
          </a:p>
        </p:txBody>
      </p:sp>
      <p:pic>
        <p:nvPicPr>
          <p:cNvPr id="157701" name="Picture 17" descr="图片11"/>
          <p:cNvPicPr>
            <a:picLocks noChangeAspect="1"/>
          </p:cNvPicPr>
          <p:nvPr/>
        </p:nvPicPr>
        <p:blipFill>
          <a:blip r:embed="rId1"/>
          <a:stretch>
            <a:fillRect/>
          </a:stretch>
        </p:blipFill>
        <p:spPr>
          <a:xfrm>
            <a:off x="3851275" y="3716338"/>
            <a:ext cx="4398963" cy="3144837"/>
          </a:xfrm>
          <a:prstGeom prst="rect">
            <a:avLst/>
          </a:prstGeom>
          <a:noFill/>
          <a:ln w="9525">
            <a:noFill/>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8722" name="图片 1"/>
          <p:cNvPicPr>
            <a:picLocks noChangeAspect="1"/>
          </p:cNvPicPr>
          <p:nvPr/>
        </p:nvPicPr>
        <p:blipFill>
          <a:blip r:embed="rId1"/>
          <a:stretch>
            <a:fillRect/>
          </a:stretch>
        </p:blipFill>
        <p:spPr>
          <a:xfrm>
            <a:off x="900113" y="1844675"/>
            <a:ext cx="7519987" cy="4797425"/>
          </a:xfrm>
          <a:prstGeom prst="rect">
            <a:avLst/>
          </a:prstGeom>
          <a:noFill/>
          <a:ln w="9525">
            <a:noFill/>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Rectangle 1026"/>
          <p:cNvSpPr>
            <a:spLocks noGrp="1"/>
          </p:cNvSpPr>
          <p:nvPr>
            <p:ph type="title"/>
          </p:nvPr>
        </p:nvSpPr>
        <p:spPr>
          <a:xfrm>
            <a:off x="1908175" y="835025"/>
            <a:ext cx="6213475" cy="577850"/>
          </a:xfrm>
        </p:spPr>
        <p:txBody>
          <a:bodyPr vert="horz" wrap="square" lIns="91440" tIns="45720" rIns="91440" bIns="45720" anchor="b" anchorCtr="0"/>
          <a:p>
            <a:pPr algn="ctr" eaLnBrk="1" hangingPunct="1">
              <a:buFont typeface="Wingdings" panose="05000000000000000000" pitchFamily="2" charset="2"/>
              <a:buNone/>
            </a:pPr>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59747" name="Rectangle 1027"/>
          <p:cNvSpPr/>
          <p:nvPr/>
        </p:nvSpPr>
        <p:spPr>
          <a:xfrm>
            <a:off x="827088" y="1633538"/>
            <a:ext cx="8545512"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0066"/>
              </a:buClr>
              <a:buSzTx/>
              <a:buFont typeface="Wingdings" panose="05000000000000000000" pitchFamily="2" charset="2"/>
              <a:buChar char="v"/>
            </a:pPr>
            <a:r>
              <a:rPr lang="zh-CN" altLang="en-US" sz="2400" b="1" dirty="0">
                <a:solidFill>
                  <a:srgbClr val="FF0000"/>
                </a:solidFill>
                <a:latin typeface="楷体_GB2312" pitchFamily="49" charset="-122"/>
                <a:ea typeface="楷体_GB2312" pitchFamily="49" charset="-122"/>
              </a:rPr>
              <a:t>铸件壁的连接</a:t>
            </a:r>
            <a:endParaRPr lang="zh-CN" altLang="en-US" sz="2400" b="1" dirty="0">
              <a:solidFill>
                <a:srgbClr val="FF0000"/>
              </a:solidFill>
              <a:latin typeface="楷体_GB2312" pitchFamily="49" charset="-122"/>
              <a:ea typeface="楷体_GB2312" pitchFamily="49" charset="-122"/>
            </a:endParaRPr>
          </a:p>
          <a:p>
            <a:pPr marL="0" lvl="0" indent="0" eaLnBrk="1" hangingPunct="1">
              <a:buClr>
                <a:schemeClr val="tx1"/>
              </a:buClr>
              <a:buSzTx/>
              <a:buNone/>
            </a:pPr>
            <a:r>
              <a:rPr lang="zh-CN" altLang="en-US" sz="18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铸件的内圆角半径如表</a:t>
            </a:r>
            <a:r>
              <a:rPr lang="en-US" altLang="zh-CN" sz="2000" b="1" dirty="0">
                <a:latin typeface="楷体_GB2312" pitchFamily="49" charset="-122"/>
                <a:ea typeface="楷体_GB2312" pitchFamily="49" charset="-122"/>
              </a:rPr>
              <a:t>2-15</a:t>
            </a:r>
            <a:r>
              <a:rPr lang="zh-CN" altLang="en-US" sz="2000" b="1" dirty="0">
                <a:latin typeface="楷体_GB2312" pitchFamily="49" charset="-122"/>
                <a:ea typeface="楷体_GB2312" pitchFamily="49" charset="-122"/>
              </a:rPr>
              <a:t>所示</a:t>
            </a:r>
            <a:r>
              <a:rPr lang="zh-CN" altLang="en-US" sz="2000" b="1" dirty="0">
                <a:latin typeface="GreekS" pitchFamily="2" charset="0"/>
              </a:rPr>
              <a:t>。</a:t>
            </a:r>
            <a:endParaRPr lang="zh-CN" altLang="en-US" sz="2000" b="1" dirty="0">
              <a:latin typeface="GreekS" pitchFamily="2" charset="0"/>
            </a:endParaRPr>
          </a:p>
        </p:txBody>
      </p:sp>
      <p:sp>
        <p:nvSpPr>
          <p:cNvPr id="159750" name="Rectangle 1039"/>
          <p:cNvSpPr/>
          <p:nvPr/>
        </p:nvSpPr>
        <p:spPr>
          <a:xfrm>
            <a:off x="0" y="2447925"/>
            <a:ext cx="17145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59751" name="Rectangle 1041"/>
          <p:cNvSpPr/>
          <p:nvPr/>
        </p:nvSpPr>
        <p:spPr>
          <a:xfrm>
            <a:off x="0" y="2447925"/>
            <a:ext cx="652463"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59797" name="Rectangle 1226"/>
          <p:cNvSpPr/>
          <p:nvPr/>
        </p:nvSpPr>
        <p:spPr>
          <a:xfrm>
            <a:off x="0" y="323373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59798" name="Rectangle 1232"/>
          <p:cNvSpPr/>
          <p:nvPr/>
        </p:nvSpPr>
        <p:spPr>
          <a:xfrm>
            <a:off x="538163" y="5303838"/>
            <a:ext cx="8281987" cy="11874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defTabSz="914400" eaLnBrk="1" hangingPunct="1">
              <a:spcBef>
                <a:spcPct val="0"/>
              </a:spcBef>
              <a:buClrTx/>
              <a:buSzTx/>
              <a:buNone/>
              <a:tabLst>
                <a:tab pos="457200" algn="l"/>
                <a:tab pos="914400" algn="l"/>
              </a:tabLst>
            </a:pPr>
            <a:r>
              <a:rPr lang="en-US" altLang="zh-CN" sz="2400" b="1" dirty="0">
                <a:latin typeface="楷体_GB2312" pitchFamily="49" charset="-122"/>
                <a:ea typeface="楷体_GB2312" pitchFamily="49" charset="-122"/>
              </a:rPr>
              <a:t> </a:t>
            </a:r>
            <a:r>
              <a:rPr lang="zh-CN" altLang="en-US" sz="2400" b="1" dirty="0">
                <a:latin typeface="楷体_GB2312" pitchFamily="49" charset="-122"/>
                <a:ea typeface="楷体_GB2312" pitchFamily="49" charset="-122"/>
              </a:rPr>
              <a:t>铸造内圆角的大小与铸件壁厚相适应，通常应使转角处内接圆直径小于相邻壁厚的</a:t>
            </a:r>
            <a:r>
              <a:rPr lang="en-US" altLang="zh-CN" sz="2400" b="1" dirty="0">
                <a:latin typeface="楷体_GB2312" pitchFamily="49" charset="-122"/>
                <a:ea typeface="楷体_GB2312" pitchFamily="49" charset="-122"/>
              </a:rPr>
              <a:t>1.5</a:t>
            </a:r>
            <a:r>
              <a:rPr lang="zh-CN" altLang="en-US" sz="2400" b="1" dirty="0">
                <a:latin typeface="楷体_GB2312" pitchFamily="49" charset="-122"/>
                <a:ea typeface="楷体_GB2312" pitchFamily="49" charset="-122"/>
              </a:rPr>
              <a:t>倍，过大则增大了转角处缩孔的倾向。</a:t>
            </a:r>
            <a:endParaRPr lang="zh-CN" altLang="en-US" sz="2400" b="1" dirty="0">
              <a:latin typeface="楷体_GB2312" pitchFamily="49" charset="-122"/>
              <a:ea typeface="楷体_GB2312" pitchFamily="49" charset="-122"/>
            </a:endParaRPr>
          </a:p>
        </p:txBody>
      </p:sp>
      <p:pic>
        <p:nvPicPr>
          <p:cNvPr id="153604" name="Picture 1037" descr="http://210.29.96.235:7878/JwbWeb/TeachRes/kj/2/mat/cx/picture/1-2.ht78.jpg"/>
          <p:cNvPicPr>
            <a:picLocks noChangeAspect="1"/>
          </p:cNvPicPr>
          <p:nvPr/>
        </p:nvPicPr>
        <p:blipFill>
          <a:blip r:embed="rId1" r:link="rId2"/>
          <a:stretch>
            <a:fillRect/>
          </a:stretch>
        </p:blipFill>
        <p:spPr>
          <a:xfrm>
            <a:off x="768350" y="3500438"/>
            <a:ext cx="2003425" cy="1201737"/>
          </a:xfrm>
          <a:prstGeom prst="rect">
            <a:avLst/>
          </a:prstGeom>
          <a:noFill/>
          <a:ln w="9525">
            <a:noFill/>
          </a:ln>
        </p:spPr>
      </p:pic>
      <p:graphicFrame>
        <p:nvGraphicFramePr>
          <p:cNvPr id="153605" name="Object 5"/>
          <p:cNvGraphicFramePr>
            <a:graphicFrameLocks noChangeAspect="1"/>
          </p:cNvGraphicFramePr>
          <p:nvPr/>
        </p:nvGraphicFramePr>
        <p:xfrm>
          <a:off x="2790825" y="2662238"/>
          <a:ext cx="773113" cy="622300"/>
        </p:xfrm>
        <a:graphic>
          <a:graphicData uri="http://schemas.openxmlformats.org/presentationml/2006/ole">
            <mc:AlternateContent xmlns:mc="http://schemas.openxmlformats.org/markup-compatibility/2006">
              <mc:Choice xmlns:v="urn:schemas-microsoft-com:vml" Requires="v">
                <p:oleObj spid="_x0000_s3" name="" r:id="rId3" imgW="483235" imgH="394335" progId="Equation.3">
                  <p:embed/>
                </p:oleObj>
              </mc:Choice>
              <mc:Fallback>
                <p:oleObj name="" r:id="rId3" imgW="483235" imgH="394335" progId="Equation.3">
                  <p:embed/>
                  <p:pic>
                    <p:nvPicPr>
                      <p:cNvPr id="0" name="图片 3078"/>
                      <p:cNvPicPr/>
                      <p:nvPr/>
                    </p:nvPicPr>
                    <p:blipFill>
                      <a:blip r:embed="rId4"/>
                      <a:stretch>
                        <a:fillRect/>
                      </a:stretch>
                    </p:blipFill>
                    <p:spPr>
                      <a:xfrm>
                        <a:off x="2790825" y="2662238"/>
                        <a:ext cx="773113" cy="622300"/>
                      </a:xfrm>
                      <a:prstGeom prst="rect">
                        <a:avLst/>
                      </a:prstGeom>
                      <a:noFill/>
                      <a:ln w="38100">
                        <a:noFill/>
                        <a:miter/>
                      </a:ln>
                    </p:spPr>
                  </p:pic>
                </p:oleObj>
              </mc:Fallback>
            </mc:AlternateContent>
          </a:graphicData>
        </a:graphic>
      </p:graphicFrame>
      <p:sp>
        <p:nvSpPr>
          <p:cNvPr id="153606" name="Rectangle 1039"/>
          <p:cNvSpPr/>
          <p:nvPr/>
        </p:nvSpPr>
        <p:spPr>
          <a:xfrm>
            <a:off x="127000" y="2574925"/>
            <a:ext cx="17145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53607" name="Rectangle 1041"/>
          <p:cNvSpPr/>
          <p:nvPr/>
        </p:nvSpPr>
        <p:spPr>
          <a:xfrm>
            <a:off x="127000" y="2574925"/>
            <a:ext cx="652463"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graphicFrame>
        <p:nvGraphicFramePr>
          <p:cNvPr id="4" name="Group 8"/>
          <p:cNvGraphicFramePr>
            <a:graphicFrameLocks noGrp="1"/>
          </p:cNvGraphicFramePr>
          <p:nvPr>
            <p:custDataLst>
              <p:tags r:id="rId5"/>
            </p:custDataLst>
          </p:nvPr>
        </p:nvGraphicFramePr>
        <p:xfrm>
          <a:off x="611188" y="2519363"/>
          <a:ext cx="8280400" cy="2638425"/>
        </p:xfrm>
        <a:graphic>
          <a:graphicData uri="http://schemas.openxmlformats.org/drawingml/2006/table">
            <a:tbl>
              <a:tblPr/>
              <a:tblGrid>
                <a:gridCol w="2128837"/>
                <a:gridCol w="809625"/>
                <a:gridCol w="422275"/>
                <a:gridCol w="627063"/>
                <a:gridCol w="715962"/>
                <a:gridCol w="714375"/>
                <a:gridCol w="715963"/>
                <a:gridCol w="715962"/>
                <a:gridCol w="715963"/>
                <a:gridCol w="714375"/>
              </a:tblGrid>
              <a:tr h="936625">
                <a:tc rowSpan="3">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5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25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000" b="0" i="0" u="none" strike="noStrike" cap="none" normalizeH="0" baseline="0" smtClean="0">
                          <a:ln>
                            <a:noFill/>
                          </a:ln>
                          <a:solidFill>
                            <a:schemeClr val="tx1"/>
                          </a:solidFill>
                          <a:effectLst/>
                          <a:latin typeface="Batang" pitchFamily="18" charset="-127"/>
                          <a:ea typeface="Batang" pitchFamily="18" charset="-127"/>
                        </a:rPr>
                        <a:t>8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Batang" pitchFamily="18" charset="-127"/>
                          <a:ea typeface="Batang" pitchFamily="18" charset="-127"/>
                        </a:rPr>
                        <a:t>8~12 </a:t>
                      </a:r>
                      <a:endParaRPr kumimoji="0" lang="en-US" altLang="zh-CN" sz="2500" b="0" i="0" u="none" strike="noStrike" cap="none" normalizeH="0" baseline="0" smtClean="0">
                        <a:ln>
                          <a:noFill/>
                        </a:ln>
                        <a:solidFill>
                          <a:schemeClr val="tx1"/>
                        </a:solidFill>
                        <a:effectLst/>
                        <a:latin typeface="Arial" panose="020B0604020202020204" pitchFamily="34" charset="0"/>
                        <a:ea typeface="Batang" pitchFamily="18" charset="-127"/>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Batang" pitchFamily="18" charset="-127"/>
                          <a:ea typeface="Batang" pitchFamily="18" charset="-127"/>
                        </a:rPr>
                        <a:t>12~16 </a:t>
                      </a:r>
                      <a:endParaRPr kumimoji="0" lang="en-US" altLang="zh-CN" sz="2500" b="0" i="0" u="none" strike="noStrike" cap="none" normalizeH="0" baseline="0" smtClean="0">
                        <a:ln>
                          <a:noFill/>
                        </a:ln>
                        <a:solidFill>
                          <a:schemeClr val="tx1"/>
                        </a:solidFill>
                        <a:effectLst/>
                        <a:latin typeface="Arial" panose="020B0604020202020204" pitchFamily="34" charset="0"/>
                        <a:ea typeface="Batang" pitchFamily="18" charset="-127"/>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Batang" pitchFamily="18" charset="-127"/>
                          <a:ea typeface="Batang" pitchFamily="18" charset="-127"/>
                        </a:rPr>
                        <a:t>16~20 </a:t>
                      </a:r>
                      <a:endParaRPr kumimoji="0" lang="en-US" altLang="zh-CN" sz="2500" b="0" i="0" u="none" strike="noStrike" cap="none" normalizeH="0" baseline="0" smtClean="0">
                        <a:ln>
                          <a:noFill/>
                        </a:ln>
                        <a:solidFill>
                          <a:schemeClr val="tx1"/>
                        </a:solidFill>
                        <a:effectLst/>
                        <a:latin typeface="Arial" panose="020B0604020202020204" pitchFamily="34" charset="0"/>
                        <a:ea typeface="Batang" pitchFamily="18" charset="-127"/>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Batang" pitchFamily="18" charset="-127"/>
                          <a:ea typeface="Batang" pitchFamily="18" charset="-127"/>
                        </a:rPr>
                        <a:t>20~27 </a:t>
                      </a:r>
                      <a:endParaRPr kumimoji="0" lang="en-US" altLang="zh-CN" sz="2500" b="0" i="0" u="none" strike="noStrike" cap="none" normalizeH="0" baseline="0" smtClean="0">
                        <a:ln>
                          <a:noFill/>
                        </a:ln>
                        <a:solidFill>
                          <a:schemeClr val="tx1"/>
                        </a:solidFill>
                        <a:effectLst/>
                        <a:latin typeface="Arial" panose="020B0604020202020204" pitchFamily="34" charset="0"/>
                        <a:ea typeface="Batang" pitchFamily="18" charset="-127"/>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Batang" pitchFamily="18" charset="-127"/>
                          <a:ea typeface="Batang" pitchFamily="18" charset="-127"/>
                        </a:rPr>
                        <a:t>27~35 </a:t>
                      </a:r>
                      <a:endParaRPr kumimoji="0" lang="en-US" altLang="zh-CN" sz="2500" b="0" i="0" u="none" strike="noStrike" cap="none" normalizeH="0" baseline="0" smtClean="0">
                        <a:ln>
                          <a:noFill/>
                        </a:ln>
                        <a:solidFill>
                          <a:schemeClr val="tx1"/>
                        </a:solidFill>
                        <a:effectLst/>
                        <a:latin typeface="Arial" panose="020B0604020202020204" pitchFamily="34" charset="0"/>
                        <a:ea typeface="Batang" pitchFamily="18" charset="-127"/>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Batang" pitchFamily="18" charset="-127"/>
                          <a:ea typeface="Batang" pitchFamily="18" charset="-127"/>
                        </a:rPr>
                        <a:t>35~45 </a:t>
                      </a:r>
                      <a:endParaRPr kumimoji="0" lang="en-US" altLang="zh-CN" sz="2500" b="0" i="0" u="none" strike="noStrike" cap="none" normalizeH="0" baseline="0" smtClean="0">
                        <a:ln>
                          <a:noFill/>
                        </a:ln>
                        <a:solidFill>
                          <a:schemeClr val="tx1"/>
                        </a:solidFill>
                        <a:effectLst/>
                        <a:latin typeface="Arial" panose="020B0604020202020204" pitchFamily="34" charset="0"/>
                        <a:ea typeface="Batang" pitchFamily="18" charset="-127"/>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Batang" pitchFamily="18" charset="-127"/>
                          <a:ea typeface="Batang" pitchFamily="18" charset="-127"/>
                        </a:rPr>
                        <a:t>45~60 </a:t>
                      </a:r>
                      <a:endParaRPr kumimoji="0" lang="en-US" altLang="zh-CN" sz="2500" b="0" i="0" u="none" strike="noStrike" cap="none" normalizeH="0" baseline="0" smtClean="0">
                        <a:ln>
                          <a:noFill/>
                        </a:ln>
                        <a:solidFill>
                          <a:schemeClr val="tx1"/>
                        </a:solidFill>
                        <a:effectLst/>
                        <a:latin typeface="Arial" panose="020B0604020202020204" pitchFamily="34" charset="0"/>
                        <a:ea typeface="Batang" pitchFamily="18" charset="-127"/>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850900">
                <a:tc vMerge="1">
                  <a:tcPr/>
                </a:tc>
                <a:tc rowSpan="2">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zh-CN"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铸铁 </a:t>
                      </a:r>
                      <a:endParaRPr kumimoji="0" lang="zh-CN" altLang="zh-CN" sz="1400" b="1" i="0" u="none" strike="noStrike" cap="none" normalizeH="0" baseline="0" smtClean="0">
                        <a:ln>
                          <a:noFill/>
                        </a:ln>
                        <a:solidFill>
                          <a:schemeClr val="tx1"/>
                        </a:solidFill>
                        <a:effectLst/>
                        <a:latin typeface="Verdana" panose="020B060403050404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zh-CN"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zh-CN"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endParaRPr kumimoji="0" lang="zh-CN"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Pct val="100000"/>
                        <a:buFont typeface="Arial" panose="020B0604020202020204" pitchFamily="34" charset="0"/>
                        <a:buNone/>
                      </a:pPr>
                      <a:r>
                        <a:rPr kumimoji="0" lang="zh-CN" altLang="zh-CN" sz="1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铸钢</a:t>
                      </a:r>
                      <a:r>
                        <a:rPr kumimoji="0" lang="zh-CN" altLang="zh-CN" sz="1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tr>
              <a:tr h="850900">
                <a:tc vMerge="1">
                  <a:tcPr/>
                </a:tc>
                <a:tc vMerge="1">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2"/>
                        </a:buClr>
                        <a:buSzPct val="70000"/>
                        <a:buFont typeface="Wingdings" panose="05000000000000000000" pitchFamily="2" charset="2"/>
                        <a:defRPr sz="25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1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defRPr sz="20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defRPr sz="1700">
                          <a:solidFill>
                            <a:schemeClr val="tx1"/>
                          </a:solidFill>
                          <a:latin typeface="Verdan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Pct val="100000"/>
                        <a:buFont typeface="Arial" panose="020B0604020202020204" pitchFamily="34" charset="0"/>
                        <a:buNone/>
                      </a:pPr>
                      <a:r>
                        <a:rPr kumimoji="0" lang="en-US" altLang="zh-CN" sz="1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 </a:t>
                      </a:r>
                      <a:endParaRPr kumimoji="0" lang="en-US" altLang="zh-CN" sz="2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153653" name="Rectangle 1226"/>
          <p:cNvSpPr/>
          <p:nvPr/>
        </p:nvSpPr>
        <p:spPr>
          <a:xfrm>
            <a:off x="127000" y="3360738"/>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Rectangle 2"/>
          <p:cNvSpPr>
            <a:spLocks noGrp="1"/>
          </p:cNvSpPr>
          <p:nvPr>
            <p:ph type="title"/>
          </p:nvPr>
        </p:nvSpPr>
        <p:spPr>
          <a:xfrm>
            <a:off x="1835150" y="835025"/>
            <a:ext cx="6213475" cy="577850"/>
          </a:xfrm>
        </p:spPr>
        <p:txBody>
          <a:bodyPr vert="horz" wrap="square" lIns="91440" tIns="45720" rIns="91440" bIns="45720" anchor="b" anchorCtr="0"/>
          <a:p>
            <a:pPr algn="ctr" eaLnBrk="1" hangingPunct="1">
              <a:buFont typeface="Wingdings" panose="05000000000000000000" pitchFamily="2" charset="2"/>
              <a:buNone/>
            </a:pPr>
            <a:r>
              <a:rPr lang="zh-CN" altLang="zh-CN" sz="4000" b="1" dirty="0">
                <a:latin typeface="Verdana" panose="020B0604030504040204" pitchFamily="34" charset="0"/>
                <a:ea typeface="楷体_GB2312" pitchFamily="49" charset="-122"/>
              </a:rPr>
              <a:t>铸件结构设计</a:t>
            </a:r>
            <a:endParaRPr lang="zh-CN" altLang="zh-CN" sz="4000" b="1" dirty="0">
              <a:solidFill>
                <a:schemeClr val="tx1"/>
              </a:solidFill>
              <a:latin typeface="GreekS" pitchFamily="2" charset="0"/>
              <a:ea typeface="楷体_GB2312" pitchFamily="49" charset="-122"/>
            </a:endParaRPr>
          </a:p>
        </p:txBody>
      </p:sp>
      <p:sp>
        <p:nvSpPr>
          <p:cNvPr id="160771" name="Rectangle 3"/>
          <p:cNvSpPr/>
          <p:nvPr/>
        </p:nvSpPr>
        <p:spPr>
          <a:xfrm>
            <a:off x="684213" y="1619250"/>
            <a:ext cx="8426450" cy="20748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0066"/>
              </a:buClr>
              <a:buSzTx/>
              <a:buFont typeface="Wingdings" panose="05000000000000000000" pitchFamily="2" charset="2"/>
              <a:buChar char="v"/>
            </a:pPr>
            <a:r>
              <a:rPr lang="zh-CN" altLang="en-US" sz="2800" b="1" dirty="0">
                <a:solidFill>
                  <a:srgbClr val="FF3300"/>
                </a:solidFill>
                <a:latin typeface="楷体_GB2312" pitchFamily="49" charset="-122"/>
                <a:ea typeface="楷体_GB2312" pitchFamily="49" charset="-122"/>
              </a:rPr>
              <a:t>铸件壁的连接</a:t>
            </a:r>
            <a:endParaRPr lang="zh-CN" altLang="en-US" sz="2800" b="1" dirty="0">
              <a:solidFill>
                <a:srgbClr val="FF3300"/>
              </a:solidFill>
              <a:latin typeface="楷体_GB2312" pitchFamily="49" charset="-122"/>
              <a:ea typeface="楷体_GB2312" pitchFamily="49" charset="-122"/>
            </a:endParaRPr>
          </a:p>
          <a:p>
            <a:pPr marL="0" lvl="0" indent="0" eaLnBrk="1" hangingPunct="1">
              <a:buClr>
                <a:schemeClr val="tx1"/>
              </a:buClr>
              <a:buSzTx/>
              <a:buNone/>
            </a:pPr>
            <a:r>
              <a:rPr lang="zh-CN" altLang="en-US" sz="1800" b="1" dirty="0">
                <a:latin typeface="楷体_GB2312" pitchFamily="49" charset="-122"/>
                <a:ea typeface="楷体_GB2312" pitchFamily="49" charset="-122"/>
              </a:rPr>
              <a:t>   </a:t>
            </a:r>
            <a:r>
              <a:rPr lang="en-US" altLang="zh-CN" sz="2400" b="1" dirty="0">
                <a:solidFill>
                  <a:srgbClr val="A50021"/>
                </a:solidFill>
                <a:latin typeface="楷体_GB2312" pitchFamily="49" charset="-122"/>
                <a:ea typeface="楷体_GB2312" pitchFamily="49" charset="-122"/>
              </a:rPr>
              <a:t>(2)</a:t>
            </a:r>
            <a:r>
              <a:rPr lang="zh-CN" altLang="en-US" sz="2400" b="1" dirty="0">
                <a:solidFill>
                  <a:srgbClr val="A50021"/>
                </a:solidFill>
                <a:latin typeface="楷体_GB2312" pitchFamily="49" charset="-122"/>
                <a:ea typeface="楷体_GB2312" pitchFamily="49" charset="-122"/>
              </a:rPr>
              <a:t>避免十字交叉和锐角连接</a:t>
            </a:r>
            <a:r>
              <a:rPr lang="zh-CN" altLang="en-US" sz="2400" b="1" dirty="0">
                <a:latin typeface="楷体_GB2312" pitchFamily="49" charset="-122"/>
                <a:ea typeface="楷体_GB2312" pitchFamily="49" charset="-122"/>
              </a:rPr>
              <a:t> 为了减少热节和防止铸件产生缩孔与缩松，铸件壁应避免交叉连接和锐角连接。中、小铸件可采用交错接头，大铸件宜用环形接头。锐角连接宜采用图</a:t>
            </a:r>
            <a:r>
              <a:rPr lang="en-US" altLang="zh-CN" sz="2400" b="1" dirty="0">
                <a:latin typeface="楷体_GB2312" pitchFamily="49" charset="-122"/>
                <a:ea typeface="楷体_GB2312" pitchFamily="49" charset="-122"/>
              </a:rPr>
              <a:t>(c)</a:t>
            </a:r>
            <a:r>
              <a:rPr lang="zh-CN" altLang="en-US" sz="2400" b="1" dirty="0">
                <a:latin typeface="楷体_GB2312" pitchFamily="49" charset="-122"/>
                <a:ea typeface="楷体_GB2312" pitchFamily="49" charset="-122"/>
              </a:rPr>
              <a:t>中的过渡形式。</a:t>
            </a:r>
            <a:endParaRPr lang="zh-CN" altLang="en-US" sz="2400" b="1" dirty="0">
              <a:latin typeface="楷体_GB2312" pitchFamily="49" charset="-122"/>
              <a:ea typeface="楷体_GB2312" pitchFamily="49" charset="-122"/>
            </a:endParaRPr>
          </a:p>
        </p:txBody>
      </p:sp>
      <p:pic>
        <p:nvPicPr>
          <p:cNvPr id="160772" name="Picture 5" descr="图片3"/>
          <p:cNvPicPr>
            <a:picLocks noChangeAspect="1"/>
          </p:cNvPicPr>
          <p:nvPr/>
        </p:nvPicPr>
        <p:blipFill>
          <a:blip r:embed="rId1"/>
          <a:stretch>
            <a:fillRect/>
          </a:stretch>
        </p:blipFill>
        <p:spPr>
          <a:xfrm>
            <a:off x="107950" y="3694113"/>
            <a:ext cx="4246563" cy="3141662"/>
          </a:xfrm>
          <a:prstGeom prst="rect">
            <a:avLst/>
          </a:prstGeom>
          <a:noFill/>
          <a:ln w="9525">
            <a:noFill/>
          </a:ln>
        </p:spPr>
      </p:pic>
      <p:pic>
        <p:nvPicPr>
          <p:cNvPr id="160773" name="Picture 6" descr="图片2"/>
          <p:cNvPicPr>
            <a:picLocks noChangeAspect="1"/>
          </p:cNvPicPr>
          <p:nvPr/>
        </p:nvPicPr>
        <p:blipFill>
          <a:blip r:embed="rId2"/>
          <a:stretch>
            <a:fillRect/>
          </a:stretch>
        </p:blipFill>
        <p:spPr>
          <a:xfrm>
            <a:off x="4421188" y="3694113"/>
            <a:ext cx="4622800" cy="3022600"/>
          </a:xfrm>
          <a:prstGeom prst="rect">
            <a:avLst/>
          </a:prstGeom>
          <a:noFill/>
          <a:ln w="9525">
            <a:noFill/>
          </a:ln>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Rectangle 1029"/>
          <p:cNvSpPr>
            <a:spLocks noGrp="1"/>
          </p:cNvSpPr>
          <p:nvPr>
            <p:ph type="title" idx="4294967295"/>
          </p:nvPr>
        </p:nvSpPr>
        <p:spPr>
          <a:xfrm>
            <a:off x="1835150" y="835025"/>
            <a:ext cx="6213475" cy="577850"/>
          </a:xfrm>
        </p:spPr>
        <p:txBody>
          <a:bodyPr vert="horz" wrap="square" lIns="91440" tIns="45720" rIns="91440" bIns="45720" anchor="b" anchorCtr="0"/>
          <a:p>
            <a:pPr algn="ctr" eaLnBrk="1" hangingPunct="1">
              <a:buFont typeface="Wingdings" panose="05000000000000000000" pitchFamily="2" charset="2"/>
              <a:buNone/>
            </a:pPr>
            <a:r>
              <a:rPr lang="zh-CN" altLang="zh-CN" sz="4000" b="1" dirty="0">
                <a:latin typeface="Verdana" panose="020B0604030504040204" pitchFamily="34" charset="0"/>
                <a:ea typeface="楷体_GB2312" pitchFamily="49" charset="-122"/>
              </a:rPr>
              <a:t>铸件结构设计</a:t>
            </a:r>
            <a:endParaRPr lang="zh-CN" altLang="zh-CN" sz="4000" b="1" dirty="0">
              <a:solidFill>
                <a:schemeClr val="tx1"/>
              </a:solidFill>
              <a:latin typeface="GreekS" pitchFamily="2" charset="0"/>
              <a:ea typeface="楷体_GB2312" pitchFamily="49" charset="-122"/>
            </a:endParaRPr>
          </a:p>
        </p:txBody>
      </p:sp>
      <p:sp>
        <p:nvSpPr>
          <p:cNvPr id="155651" name="Rectangle 1035"/>
          <p:cNvSpPr/>
          <p:nvPr/>
        </p:nvSpPr>
        <p:spPr>
          <a:xfrm>
            <a:off x="684213" y="1619250"/>
            <a:ext cx="8426450" cy="1625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0066"/>
              </a:buClr>
              <a:buSzTx/>
              <a:buFont typeface="Wingdings" panose="05000000000000000000" pitchFamily="2" charset="2"/>
              <a:buChar char="v"/>
            </a:pPr>
            <a:r>
              <a:rPr lang="zh-CN" altLang="en-US" sz="2400" b="1" dirty="0">
                <a:solidFill>
                  <a:srgbClr val="FF3300"/>
                </a:solidFill>
                <a:latin typeface="楷体_GB2312" pitchFamily="49" charset="-122"/>
                <a:ea typeface="楷体_GB2312" pitchFamily="49" charset="-122"/>
              </a:rPr>
              <a:t>铸件壁的连接</a:t>
            </a:r>
            <a:endParaRPr lang="zh-CN" altLang="en-US" sz="2400" b="1" dirty="0">
              <a:solidFill>
                <a:srgbClr val="FF3300"/>
              </a:solidFill>
              <a:latin typeface="楷体_GB2312" pitchFamily="49" charset="-122"/>
              <a:ea typeface="楷体_GB2312" pitchFamily="49" charset="-122"/>
            </a:endParaRPr>
          </a:p>
          <a:p>
            <a:pPr marL="0" lvl="0" indent="0" eaLnBrk="1" hangingPunct="1">
              <a:buClr>
                <a:schemeClr val="tx1"/>
              </a:buClr>
              <a:buSzTx/>
              <a:buNone/>
            </a:pPr>
            <a:r>
              <a:rPr lang="zh-CN" altLang="en-US" sz="18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 </a:t>
            </a:r>
            <a:r>
              <a:rPr lang="en-US" altLang="zh-CN" sz="2400" b="1" dirty="0">
                <a:solidFill>
                  <a:srgbClr val="A50021"/>
                </a:solidFill>
                <a:latin typeface="楷体_GB2312" pitchFamily="49" charset="-122"/>
                <a:ea typeface="楷体_GB2312" pitchFamily="49" charset="-122"/>
              </a:rPr>
              <a:t>(3)</a:t>
            </a:r>
            <a:r>
              <a:rPr lang="zh-CN" altLang="en-US" sz="2400" b="1" dirty="0">
                <a:solidFill>
                  <a:srgbClr val="A50021"/>
                </a:solidFill>
                <a:latin typeface="楷体_GB2312" pitchFamily="49" charset="-122"/>
                <a:ea typeface="楷体_GB2312" pitchFamily="49" charset="-122"/>
              </a:rPr>
              <a:t>厚壁与薄壁间连接要逐步过渡</a:t>
            </a:r>
            <a:r>
              <a:rPr lang="zh-CN" altLang="en-US" sz="2400" b="1" dirty="0">
                <a:latin typeface="楷体_GB2312" pitchFamily="49" charset="-122"/>
                <a:ea typeface="楷体_GB2312" pitchFamily="49" charset="-122"/>
              </a:rPr>
              <a:t> 为了减少铸件中的应力集中现象，防止产生裂纹，铸件的厚壁和薄壁连接时，应采取逐步过渡的方法防止壁厚的突变。</a:t>
            </a:r>
            <a:endParaRPr lang="zh-CN" altLang="en-US" sz="2400" b="1" dirty="0">
              <a:latin typeface="楷体_GB2312" pitchFamily="49" charset="-122"/>
              <a:ea typeface="楷体_GB2312" pitchFamily="49" charset="-122"/>
            </a:endParaRPr>
          </a:p>
        </p:txBody>
      </p:sp>
      <p:pic>
        <p:nvPicPr>
          <p:cNvPr id="155652" name="Picture 1182" descr="http://210.29.96.235:7878/JwbWeb/TeachRes/kj/2/mat/cx/picture/1-2.ht79.jpg"/>
          <p:cNvPicPr>
            <a:picLocks noChangeAspect="1"/>
          </p:cNvPicPr>
          <p:nvPr/>
        </p:nvPicPr>
        <p:blipFill>
          <a:blip r:embed="rId1" r:link="rId2"/>
          <a:stretch>
            <a:fillRect/>
          </a:stretch>
        </p:blipFill>
        <p:spPr>
          <a:xfrm>
            <a:off x="642938" y="3373438"/>
            <a:ext cx="1657350" cy="1752600"/>
          </a:xfrm>
          <a:prstGeom prst="rect">
            <a:avLst/>
          </a:prstGeom>
          <a:noFill/>
          <a:ln w="9525">
            <a:noFill/>
          </a:ln>
        </p:spPr>
      </p:pic>
      <p:pic>
        <p:nvPicPr>
          <p:cNvPr id="155653" name="Picture 1181" descr="http://210.29.96.235:7878/JwbWeb/TeachRes/kj/2/mat/cx/picture/1-2.ht80.jpg"/>
          <p:cNvPicPr>
            <a:picLocks noChangeAspect="1"/>
          </p:cNvPicPr>
          <p:nvPr/>
        </p:nvPicPr>
        <p:blipFill>
          <a:blip r:embed="rId3" r:link="rId2"/>
          <a:stretch>
            <a:fillRect/>
          </a:stretch>
        </p:blipFill>
        <p:spPr>
          <a:xfrm>
            <a:off x="2627313" y="3500438"/>
            <a:ext cx="1728787" cy="1649412"/>
          </a:xfrm>
          <a:prstGeom prst="rect">
            <a:avLst/>
          </a:prstGeom>
          <a:noFill/>
          <a:ln w="9525">
            <a:noFill/>
          </a:ln>
        </p:spPr>
      </p:pic>
      <p:pic>
        <p:nvPicPr>
          <p:cNvPr id="155654" name="Picture 1180" descr="http://210.29.96.235:7878/JwbWeb/TeachRes/kj/2/mat/cx/picture/1-2.ht81.jpg"/>
          <p:cNvPicPr>
            <a:picLocks noChangeAspect="1"/>
          </p:cNvPicPr>
          <p:nvPr/>
        </p:nvPicPr>
        <p:blipFill>
          <a:blip r:embed="rId4" r:link="rId2"/>
          <a:stretch>
            <a:fillRect/>
          </a:stretch>
        </p:blipFill>
        <p:spPr>
          <a:xfrm>
            <a:off x="5940425" y="4610100"/>
            <a:ext cx="1963738" cy="1539875"/>
          </a:xfrm>
          <a:prstGeom prst="rect">
            <a:avLst/>
          </a:prstGeom>
          <a:noFill/>
          <a:ln w="9525">
            <a:noFill/>
          </a:ln>
        </p:spPr>
      </p:pic>
      <p:sp>
        <p:nvSpPr>
          <p:cNvPr id="155655" name="Rectangle 1323"/>
          <p:cNvSpPr/>
          <p:nvPr/>
        </p:nvSpPr>
        <p:spPr>
          <a:xfrm>
            <a:off x="746125" y="5402263"/>
            <a:ext cx="1576388" cy="366712"/>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800" dirty="0"/>
              <a:t>R≈(a+b)/</a:t>
            </a:r>
            <a:r>
              <a:rPr lang="zh-CN" altLang="en-US" sz="1800" b="1" dirty="0"/>
              <a:t>６</a:t>
            </a:r>
            <a:endParaRPr lang="zh-CN" altLang="en-US" sz="1800" b="1" dirty="0"/>
          </a:p>
        </p:txBody>
      </p:sp>
      <p:sp>
        <p:nvSpPr>
          <p:cNvPr id="155656" name="Rectangle 1324"/>
          <p:cNvSpPr/>
          <p:nvPr/>
        </p:nvSpPr>
        <p:spPr>
          <a:xfrm>
            <a:off x="2813050" y="5397500"/>
            <a:ext cx="1355725" cy="366713"/>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800" dirty="0"/>
              <a:t>L</a:t>
            </a:r>
            <a:r>
              <a:rPr lang="zh-CN" altLang="en-US" sz="1800" dirty="0"/>
              <a:t>＞</a:t>
            </a:r>
            <a:r>
              <a:rPr lang="en-US" altLang="zh-CN" sz="1800" dirty="0"/>
              <a:t>4(b-a) </a:t>
            </a:r>
            <a:endParaRPr lang="en-US" altLang="zh-CN" sz="1800" dirty="0"/>
          </a:p>
        </p:txBody>
      </p:sp>
      <p:sp>
        <p:nvSpPr>
          <p:cNvPr id="155657" name="Rectangle 1325"/>
          <p:cNvSpPr/>
          <p:nvPr/>
        </p:nvSpPr>
        <p:spPr>
          <a:xfrm>
            <a:off x="4021138" y="6216650"/>
            <a:ext cx="5059362" cy="6413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en-US" altLang="zh-CN" sz="1800" dirty="0"/>
              <a:t>R≥(1/6~1/3)(a+b)/2</a:t>
            </a:r>
            <a:r>
              <a:rPr lang="zh-CN" altLang="en-US" sz="1800" dirty="0"/>
              <a:t>；</a:t>
            </a:r>
            <a:r>
              <a:rPr lang="en-US" altLang="zh-CN" sz="1800" dirty="0"/>
              <a:t>R1≥R+(a+b)/2 </a:t>
            </a:r>
            <a:endParaRPr lang="en-US" altLang="zh-CN" sz="1800" dirty="0"/>
          </a:p>
          <a:p>
            <a:pPr marL="0" lvl="0" indent="0" algn="ctr" eaLnBrk="1" hangingPunct="1">
              <a:spcBef>
                <a:spcPct val="0"/>
              </a:spcBef>
              <a:buClrTx/>
              <a:buSzTx/>
              <a:buNone/>
            </a:pPr>
            <a:r>
              <a:rPr lang="en-US" altLang="zh-CN" sz="1800" dirty="0"/>
              <a:t>C≈3(b-a)1/2</a:t>
            </a:r>
            <a:r>
              <a:rPr lang="zh-CN" altLang="en-US" sz="1800" dirty="0"/>
              <a:t>，</a:t>
            </a:r>
            <a:r>
              <a:rPr lang="en-US" altLang="zh-CN" sz="1800" dirty="0"/>
              <a:t>h≥</a:t>
            </a:r>
            <a:r>
              <a:rPr lang="zh-CN" altLang="en-US" sz="1800" dirty="0"/>
              <a:t>（</a:t>
            </a:r>
            <a:r>
              <a:rPr lang="en-US" altLang="zh-CN" sz="1800" dirty="0"/>
              <a:t>4~5</a:t>
            </a:r>
            <a:r>
              <a:rPr lang="zh-CN" altLang="en-US" sz="1800" dirty="0"/>
              <a:t>）</a:t>
            </a:r>
            <a:r>
              <a:rPr lang="en-US" altLang="zh-CN" sz="1800" dirty="0"/>
              <a:t>C </a:t>
            </a:r>
            <a:endParaRPr lang="en-US" altLang="zh-CN" sz="18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2"/>
          <p:cNvSpPr>
            <a:spLocks noGrp="1"/>
          </p:cNvSpPr>
          <p:nvPr>
            <p:ph type="title"/>
          </p:nvPr>
        </p:nvSpPr>
        <p:spPr>
          <a:xfrm>
            <a:off x="1692275" y="835025"/>
            <a:ext cx="6213475" cy="577850"/>
          </a:xfrm>
        </p:spPr>
        <p:txBody>
          <a:bodyPr vert="horz" wrap="square" lIns="91440" tIns="45720" rIns="91440" bIns="45720" anchor="b" anchorCtr="0"/>
          <a:p>
            <a:pPr algn="ctr" eaLnBrk="1" hangingPunct="1">
              <a:buFont typeface="Wingdings" panose="05000000000000000000" pitchFamily="2" charset="2"/>
              <a:buNone/>
            </a:pPr>
            <a:r>
              <a:rPr lang="zh-CN" altLang="zh-CN" sz="4000" b="1" dirty="0">
                <a:latin typeface="Verdana" panose="020B0604030504040204" pitchFamily="34" charset="0"/>
                <a:ea typeface="楷体_GB2312" pitchFamily="49" charset="-122"/>
              </a:rPr>
              <a:t>铸件结构设计</a:t>
            </a:r>
            <a:endParaRPr lang="zh-CN" altLang="zh-CN" sz="4000" b="1" dirty="0">
              <a:solidFill>
                <a:schemeClr val="tx1"/>
              </a:solidFill>
              <a:latin typeface="GreekS" pitchFamily="2" charset="0"/>
              <a:ea typeface="楷体_GB2312" pitchFamily="49" charset="-122"/>
            </a:endParaRPr>
          </a:p>
        </p:txBody>
      </p:sp>
      <p:sp>
        <p:nvSpPr>
          <p:cNvPr id="162819" name="Rectangle 3"/>
          <p:cNvSpPr/>
          <p:nvPr/>
        </p:nvSpPr>
        <p:spPr>
          <a:xfrm>
            <a:off x="684213" y="1557338"/>
            <a:ext cx="8064500" cy="14462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0066"/>
              </a:buClr>
              <a:buSzTx/>
              <a:buFont typeface="Wingdings" panose="05000000000000000000" pitchFamily="2" charset="2"/>
              <a:buChar char="v"/>
            </a:pPr>
            <a:r>
              <a:rPr lang="zh-CN" altLang="en-US" sz="2400" b="1" dirty="0">
                <a:solidFill>
                  <a:srgbClr val="FF6600"/>
                </a:solidFill>
                <a:latin typeface="楷体_GB2312" pitchFamily="49" charset="-122"/>
                <a:ea typeface="楷体_GB2312" pitchFamily="49" charset="-122"/>
              </a:rPr>
              <a:t>铸件壁的连接</a:t>
            </a:r>
            <a:endParaRPr lang="zh-CN" altLang="en-US" sz="2400" b="1" dirty="0">
              <a:solidFill>
                <a:srgbClr val="FF6600"/>
              </a:solidFill>
              <a:latin typeface="楷体_GB2312" pitchFamily="49" charset="-122"/>
              <a:ea typeface="楷体_GB2312" pitchFamily="49" charset="-122"/>
            </a:endParaRPr>
          </a:p>
          <a:p>
            <a:pPr marL="0" lvl="0" indent="0" eaLnBrk="1" hangingPunct="1">
              <a:buClr>
                <a:schemeClr val="tx1"/>
              </a:buClr>
              <a:buSzTx/>
              <a:buNone/>
            </a:pPr>
            <a:r>
              <a:rPr lang="zh-CN" altLang="en-US" sz="1800" b="1" dirty="0">
                <a:latin typeface="楷体_GB2312" pitchFamily="49" charset="-122"/>
                <a:ea typeface="楷体_GB2312" pitchFamily="49" charset="-122"/>
              </a:rPr>
              <a:t>   </a:t>
            </a:r>
            <a:r>
              <a:rPr lang="en-US" altLang="zh-CN" sz="2000" b="1" dirty="0">
                <a:solidFill>
                  <a:srgbClr val="00CC00"/>
                </a:solidFill>
                <a:latin typeface="楷体_GB2312" pitchFamily="49" charset="-122"/>
                <a:ea typeface="楷体_GB2312" pitchFamily="49" charset="-122"/>
              </a:rPr>
              <a:t>(4)</a:t>
            </a:r>
            <a:r>
              <a:rPr lang="zh-CN" altLang="en-US" sz="2000" b="1" dirty="0">
                <a:solidFill>
                  <a:srgbClr val="00CC00"/>
                </a:solidFill>
                <a:latin typeface="楷体_GB2312" pitchFamily="49" charset="-122"/>
                <a:ea typeface="楷体_GB2312" pitchFamily="49" charset="-122"/>
              </a:rPr>
              <a:t>铸壁的类型</a:t>
            </a:r>
            <a:r>
              <a:rPr lang="zh-CN" altLang="en-US" sz="2000" b="1" dirty="0">
                <a:solidFill>
                  <a:srgbClr val="FFFF00"/>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铸壁有类型各异的接头。大致分为</a:t>
            </a:r>
            <a:r>
              <a:rPr lang="en-US" altLang="zh-CN" sz="2000" b="1" dirty="0">
                <a:latin typeface="楷体_GB2312" pitchFamily="49" charset="-122"/>
                <a:ea typeface="楷体_GB2312" pitchFamily="49" charset="-122"/>
              </a:rPr>
              <a:t>L</a:t>
            </a:r>
            <a:r>
              <a:rPr lang="zh-CN" altLang="en-US" sz="2000" b="1" dirty="0">
                <a:latin typeface="楷体_GB2312" pitchFamily="49" charset="-122"/>
                <a:ea typeface="楷体_GB2312" pitchFamily="49" charset="-122"/>
              </a:rPr>
              <a:t>型，</a:t>
            </a:r>
            <a:r>
              <a:rPr lang="en-US" altLang="zh-CN" sz="2000" b="1" dirty="0">
                <a:latin typeface="楷体_GB2312" pitchFamily="49" charset="-122"/>
                <a:ea typeface="楷体_GB2312" pitchFamily="49" charset="-122"/>
              </a:rPr>
              <a:t>T</a:t>
            </a:r>
            <a:r>
              <a:rPr lang="zh-CN" altLang="en-US" sz="2000" b="1" dirty="0">
                <a:latin typeface="楷体_GB2312" pitchFamily="49" charset="-122"/>
                <a:ea typeface="楷体_GB2312" pitchFamily="49" charset="-122"/>
              </a:rPr>
              <a:t>型</a:t>
            </a:r>
            <a:r>
              <a:rPr lang="en-US" altLang="zh-CN" sz="2000" b="1" dirty="0">
                <a:latin typeface="楷体_GB2312" pitchFamily="49" charset="-122"/>
                <a:ea typeface="楷体_GB2312" pitchFamily="49" charset="-122"/>
              </a:rPr>
              <a:t>, V</a:t>
            </a:r>
            <a:r>
              <a:rPr lang="zh-CN" altLang="en-US" sz="2000" b="1" dirty="0">
                <a:latin typeface="楷体_GB2312" pitchFamily="49" charset="-122"/>
                <a:ea typeface="楷体_GB2312" pitchFamily="49" charset="-122"/>
              </a:rPr>
              <a:t>型</a:t>
            </a:r>
            <a:r>
              <a:rPr lang="en-US" altLang="zh-CN" sz="2000" b="1" dirty="0">
                <a:latin typeface="楷体_GB2312" pitchFamily="49" charset="-122"/>
                <a:ea typeface="楷体_GB2312" pitchFamily="49" charset="-122"/>
              </a:rPr>
              <a:t>, Y</a:t>
            </a:r>
            <a:r>
              <a:rPr lang="zh-CN" altLang="en-US" sz="2000" b="1" dirty="0">
                <a:latin typeface="楷体_GB2312" pitchFamily="49" charset="-122"/>
                <a:ea typeface="楷体_GB2312" pitchFamily="49" charset="-122"/>
              </a:rPr>
              <a:t>型和十字型等五种。在接头处，因凝固速度慢</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容易产生应力集中、裂纹、变形、缩孔、缩松等缺陷。</a:t>
            </a:r>
            <a:endParaRPr lang="zh-CN" altLang="en-US" sz="2000" b="1" dirty="0">
              <a:latin typeface="楷体_GB2312" pitchFamily="49" charset="-122"/>
              <a:ea typeface="楷体_GB2312" pitchFamily="49" charset="-122"/>
            </a:endParaRPr>
          </a:p>
        </p:txBody>
      </p:sp>
      <p:pic>
        <p:nvPicPr>
          <p:cNvPr id="162820" name="Picture 5"/>
          <p:cNvPicPr>
            <a:picLocks noChangeAspect="1"/>
          </p:cNvPicPr>
          <p:nvPr/>
        </p:nvPicPr>
        <p:blipFill>
          <a:blip r:embed="rId1"/>
          <a:stretch>
            <a:fillRect/>
          </a:stretch>
        </p:blipFill>
        <p:spPr>
          <a:xfrm>
            <a:off x="571500" y="2924175"/>
            <a:ext cx="4360863" cy="2205038"/>
          </a:xfrm>
          <a:prstGeom prst="rect">
            <a:avLst/>
          </a:prstGeom>
          <a:noFill/>
          <a:ln w="9525">
            <a:noFill/>
          </a:ln>
        </p:spPr>
      </p:pic>
      <p:pic>
        <p:nvPicPr>
          <p:cNvPr id="162821" name="Picture 6"/>
          <p:cNvPicPr>
            <a:picLocks noChangeAspect="1"/>
          </p:cNvPicPr>
          <p:nvPr/>
        </p:nvPicPr>
        <p:blipFill>
          <a:blip r:embed="rId2"/>
          <a:stretch>
            <a:fillRect/>
          </a:stretch>
        </p:blipFill>
        <p:spPr>
          <a:xfrm>
            <a:off x="1692275" y="5013325"/>
            <a:ext cx="6267450" cy="1924050"/>
          </a:xfrm>
          <a:prstGeom prst="rect">
            <a:avLst/>
          </a:prstGeom>
          <a:noFill/>
          <a:ln w="9525">
            <a:noFill/>
          </a:ln>
        </p:spPr>
      </p:pic>
      <p:pic>
        <p:nvPicPr>
          <p:cNvPr id="162822" name="Picture 8"/>
          <p:cNvPicPr>
            <a:picLocks noChangeAspect="1"/>
          </p:cNvPicPr>
          <p:nvPr/>
        </p:nvPicPr>
        <p:blipFill>
          <a:blip r:embed="rId3"/>
          <a:stretch>
            <a:fillRect/>
          </a:stretch>
        </p:blipFill>
        <p:spPr>
          <a:xfrm>
            <a:off x="5059363" y="2708275"/>
            <a:ext cx="3689350" cy="2305050"/>
          </a:xfrm>
          <a:prstGeom prst="rect">
            <a:avLst/>
          </a:prstGeom>
          <a:noFill/>
          <a:ln w="9525">
            <a:noFill/>
          </a:ln>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Rectangle 2"/>
          <p:cNvSpPr>
            <a:spLocks noGrp="1"/>
          </p:cNvSpPr>
          <p:nvPr>
            <p:ph type="title"/>
          </p:nvPr>
        </p:nvSpPr>
        <p:spPr>
          <a:xfrm>
            <a:off x="1814513" y="835025"/>
            <a:ext cx="6213475" cy="577850"/>
          </a:xfrm>
        </p:spPr>
        <p:txBody>
          <a:bodyPr vert="horz" wrap="square" lIns="91440" tIns="45720" rIns="91440" bIns="45720" anchor="b" anchorCtr="0"/>
          <a:p>
            <a:pPr algn="ctr" eaLnBrk="1" hangingPunct="1">
              <a:buFont typeface="Wingdings" panose="05000000000000000000" pitchFamily="2" charset="2"/>
              <a:buNone/>
            </a:pPr>
            <a:r>
              <a:rPr lang="zh-CN" altLang="zh-CN" sz="4000" b="1" dirty="0">
                <a:latin typeface="Verdana" panose="020B0604030504040204" pitchFamily="34" charset="0"/>
                <a:ea typeface="楷体_GB2312" pitchFamily="49" charset="-122"/>
              </a:rPr>
              <a:t>铸件结构设计</a:t>
            </a:r>
            <a:endParaRPr lang="zh-CN" altLang="zh-CN" sz="4000" b="1" dirty="0">
              <a:solidFill>
                <a:schemeClr val="tx1"/>
              </a:solidFill>
              <a:latin typeface="GreekS" pitchFamily="2" charset="0"/>
              <a:ea typeface="楷体_GB2312" pitchFamily="49" charset="-122"/>
            </a:endParaRPr>
          </a:p>
        </p:txBody>
      </p:sp>
      <p:sp>
        <p:nvSpPr>
          <p:cNvPr id="163843" name="Rectangle 3"/>
          <p:cNvSpPr/>
          <p:nvPr/>
        </p:nvSpPr>
        <p:spPr>
          <a:xfrm>
            <a:off x="611188" y="1704975"/>
            <a:ext cx="8393112"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0066"/>
              </a:buClr>
              <a:buSzTx/>
              <a:buFont typeface="Wingdings" panose="05000000000000000000" pitchFamily="2" charset="2"/>
              <a:buChar char="v"/>
            </a:pPr>
            <a:r>
              <a:rPr lang="zh-CN" altLang="en-US" sz="2400" b="1" dirty="0">
                <a:solidFill>
                  <a:srgbClr val="FF0000"/>
                </a:solidFill>
                <a:latin typeface="楷体_GB2312" pitchFamily="49" charset="-122"/>
                <a:ea typeface="楷体_GB2312" pitchFamily="49" charset="-122"/>
              </a:rPr>
              <a:t>铸件壁的连接</a:t>
            </a:r>
            <a:endParaRPr lang="zh-CN" altLang="en-US" sz="2400" b="1" dirty="0">
              <a:solidFill>
                <a:srgbClr val="FF0000"/>
              </a:solidFill>
              <a:latin typeface="楷体_GB2312" pitchFamily="49" charset="-122"/>
              <a:ea typeface="楷体_GB2312" pitchFamily="49" charset="-122"/>
            </a:endParaRPr>
          </a:p>
          <a:p>
            <a:pPr marL="0" lvl="0" indent="0" eaLnBrk="1" hangingPunct="1">
              <a:buClr>
                <a:schemeClr val="tx1"/>
              </a:buClr>
              <a:buSzTx/>
              <a:buNone/>
            </a:pPr>
            <a:r>
              <a:rPr lang="zh-CN" altLang="en-US" sz="2000" b="1" dirty="0">
                <a:latin typeface="楷体_GB2312" pitchFamily="49" charset="-122"/>
                <a:ea typeface="楷体_GB2312" pitchFamily="49" charset="-122"/>
              </a:rPr>
              <a:t> </a:t>
            </a:r>
            <a:r>
              <a:rPr lang="en-US" altLang="zh-CN" sz="2000" b="1" dirty="0">
                <a:solidFill>
                  <a:srgbClr val="00CC00"/>
                </a:solidFill>
                <a:latin typeface="楷体_GB2312" pitchFamily="49" charset="-122"/>
                <a:ea typeface="楷体_GB2312" pitchFamily="49" charset="-122"/>
              </a:rPr>
              <a:t>(4)</a:t>
            </a:r>
            <a:r>
              <a:rPr lang="zh-CN" altLang="en-US" sz="2000" b="1" dirty="0">
                <a:solidFill>
                  <a:srgbClr val="00CC00"/>
                </a:solidFill>
                <a:latin typeface="楷体_GB2312" pitchFamily="49" charset="-122"/>
                <a:ea typeface="楷体_GB2312" pitchFamily="49" charset="-122"/>
              </a:rPr>
              <a:t>铸壁的类型</a:t>
            </a:r>
            <a:r>
              <a:rPr lang="zh-CN" altLang="en-US" sz="2000" b="1" dirty="0">
                <a:solidFill>
                  <a:srgbClr val="FFFF00"/>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在设计中应对各种接头连接形式进行合理的设计。</a:t>
            </a:r>
            <a:endParaRPr lang="zh-CN" altLang="en-US" sz="2000" b="1" dirty="0">
              <a:latin typeface="楷体_GB2312" pitchFamily="49" charset="-122"/>
              <a:ea typeface="楷体_GB2312" pitchFamily="49" charset="-122"/>
            </a:endParaRPr>
          </a:p>
        </p:txBody>
      </p:sp>
      <p:pic>
        <p:nvPicPr>
          <p:cNvPr id="163844" name="Picture 7"/>
          <p:cNvPicPr>
            <a:picLocks noChangeAspect="1"/>
          </p:cNvPicPr>
          <p:nvPr/>
        </p:nvPicPr>
        <p:blipFill>
          <a:blip r:embed="rId1"/>
          <a:stretch>
            <a:fillRect/>
          </a:stretch>
        </p:blipFill>
        <p:spPr>
          <a:xfrm>
            <a:off x="922338" y="2468563"/>
            <a:ext cx="3541712" cy="4337050"/>
          </a:xfrm>
          <a:prstGeom prst="rect">
            <a:avLst/>
          </a:prstGeom>
          <a:noFill/>
          <a:ln w="9525">
            <a:noFill/>
          </a:ln>
        </p:spPr>
      </p:pic>
      <p:pic>
        <p:nvPicPr>
          <p:cNvPr id="163845" name="Picture 8"/>
          <p:cNvPicPr>
            <a:picLocks noChangeAspect="1"/>
          </p:cNvPicPr>
          <p:nvPr/>
        </p:nvPicPr>
        <p:blipFill>
          <a:blip r:embed="rId2"/>
          <a:stretch>
            <a:fillRect/>
          </a:stretch>
        </p:blipFill>
        <p:spPr>
          <a:xfrm>
            <a:off x="4775200" y="2527300"/>
            <a:ext cx="4333875" cy="4262438"/>
          </a:xfrm>
          <a:prstGeom prst="rect">
            <a:avLst/>
          </a:prstGeom>
          <a:noFill/>
          <a:ln w="9525">
            <a:noFill/>
          </a:ln>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1029"/>
          <p:cNvSpPr>
            <a:spLocks noGrp="1"/>
          </p:cNvSpPr>
          <p:nvPr>
            <p:ph type="title"/>
          </p:nvPr>
        </p:nvSpPr>
        <p:spPr>
          <a:xfrm>
            <a:off x="1979613" y="835025"/>
            <a:ext cx="6213475" cy="577850"/>
          </a:xfrm>
        </p:spPr>
        <p:txBody>
          <a:bodyPr vert="horz" wrap="square" lIns="91440" tIns="45720" rIns="91440" bIns="45720" anchor="b" anchorCtr="0"/>
          <a:p>
            <a:pPr algn="ctr" eaLnBrk="1" hangingPunct="1">
              <a:buFont typeface="Wingdings" panose="05000000000000000000" pitchFamily="2" charset="2"/>
              <a:buNone/>
            </a:pPr>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64867" name="Rectangle 1035"/>
          <p:cNvSpPr/>
          <p:nvPr/>
        </p:nvSpPr>
        <p:spPr>
          <a:xfrm>
            <a:off x="304800" y="1593850"/>
            <a:ext cx="8610600" cy="24066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0066"/>
              </a:buClr>
              <a:buSzTx/>
              <a:buFont typeface="Wingdings" panose="05000000000000000000" pitchFamily="2" charset="2"/>
              <a:buChar char="v"/>
            </a:pPr>
            <a:r>
              <a:rPr lang="zh-CN" altLang="en-US" sz="2400" b="1" dirty="0">
                <a:solidFill>
                  <a:srgbClr val="FF0000"/>
                </a:solidFill>
                <a:latin typeface="楷体_GB2312" pitchFamily="49" charset="-122"/>
                <a:ea typeface="楷体_GB2312" pitchFamily="49" charset="-122"/>
              </a:rPr>
              <a:t>防裂筋的应用</a:t>
            </a:r>
            <a:endParaRPr lang="zh-CN" altLang="en-US" sz="2400" b="1" dirty="0">
              <a:solidFill>
                <a:srgbClr val="FF0000"/>
              </a:solidFill>
              <a:latin typeface="楷体_GB2312" pitchFamily="49" charset="-122"/>
              <a:ea typeface="楷体_GB2312" pitchFamily="49" charset="-122"/>
            </a:endParaRPr>
          </a:p>
          <a:p>
            <a:pPr marL="0" lvl="0" indent="0" eaLnBrk="1" hangingPunct="1">
              <a:buClr>
                <a:schemeClr val="tx1"/>
              </a:buClr>
              <a:buSzTx/>
              <a:buNone/>
            </a:pPr>
            <a:r>
              <a:rPr lang="zh-CN" altLang="en-US" sz="1800" b="1" dirty="0">
                <a:latin typeface="楷体_GB2312" pitchFamily="49" charset="-122"/>
                <a:ea typeface="楷体_GB2312" pitchFamily="49" charset="-122"/>
              </a:rPr>
              <a:t>   </a:t>
            </a:r>
            <a:r>
              <a:rPr lang="zh-CN" altLang="en-US" sz="2000" b="1" dirty="0">
                <a:solidFill>
                  <a:srgbClr val="00CC00"/>
                </a:solidFill>
                <a:latin typeface="楷体_GB2312" pitchFamily="49" charset="-122"/>
                <a:ea typeface="楷体_GB2312" pitchFamily="49" charset="-122"/>
              </a:rPr>
              <a:t>（</a:t>
            </a:r>
            <a:r>
              <a:rPr lang="en-US" altLang="zh-CN" sz="2000" b="1" dirty="0">
                <a:solidFill>
                  <a:srgbClr val="00CC00"/>
                </a:solidFill>
                <a:latin typeface="楷体_GB2312" pitchFamily="49" charset="-122"/>
                <a:ea typeface="楷体_GB2312" pitchFamily="49" charset="-122"/>
              </a:rPr>
              <a:t>1</a:t>
            </a:r>
            <a:r>
              <a:rPr lang="zh-CN" altLang="en-US" sz="2000" b="1" dirty="0">
                <a:solidFill>
                  <a:srgbClr val="00CC00"/>
                </a:solidFill>
                <a:latin typeface="楷体_GB2312" pitchFamily="49" charset="-122"/>
                <a:ea typeface="楷体_GB2312" pitchFamily="49" charset="-122"/>
              </a:rPr>
              <a:t>）筋的作用 </a:t>
            </a:r>
            <a:r>
              <a:rPr lang="en-US" altLang="zh-CN" sz="2000" b="1" dirty="0">
                <a:solidFill>
                  <a:srgbClr val="FF0066"/>
                </a:solidFill>
                <a:latin typeface="楷体_GB2312" pitchFamily="49" charset="-122"/>
                <a:ea typeface="楷体_GB2312" pitchFamily="49" charset="-122"/>
              </a:rPr>
              <a:t>1.</a:t>
            </a:r>
            <a:r>
              <a:rPr lang="zh-CN" altLang="en-US" sz="2000" b="1" dirty="0">
                <a:solidFill>
                  <a:srgbClr val="FF0066"/>
                </a:solidFill>
                <a:latin typeface="楷体_GB2312" pitchFamily="49" charset="-122"/>
                <a:ea typeface="楷体_GB2312" pitchFamily="49" charset="-122"/>
              </a:rPr>
              <a:t>增加铸件的刚度和强度防止铸件变形</a:t>
            </a:r>
            <a:r>
              <a:rPr lang="zh-CN" altLang="en-US" sz="2000" b="1" dirty="0">
                <a:latin typeface="楷体_GB2312" pitchFamily="49" charset="-122"/>
                <a:ea typeface="楷体_GB2312" pitchFamily="49" charset="-122"/>
              </a:rPr>
              <a:t> 图</a:t>
            </a:r>
            <a:r>
              <a:rPr lang="en-US" altLang="zh-CN" sz="2000" b="1" dirty="0">
                <a:latin typeface="楷体_GB2312" pitchFamily="49" charset="-122"/>
                <a:ea typeface="楷体_GB2312" pitchFamily="49" charset="-122"/>
              </a:rPr>
              <a:t>14</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）所示薄而大的平板收缩时易发生翘曲变形，加上几条筋之后便可避免翘曲变形，如图</a:t>
            </a:r>
            <a:r>
              <a:rPr lang="en-US" altLang="zh-CN" sz="2000" b="1" dirty="0">
                <a:latin typeface="楷体_GB2312" pitchFamily="49" charset="-122"/>
                <a:ea typeface="楷体_GB2312" pitchFamily="49" charset="-122"/>
              </a:rPr>
              <a:t>14</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b</a:t>
            </a:r>
            <a:r>
              <a:rPr lang="zh-CN" altLang="en-US" sz="2000" b="1" dirty="0">
                <a:latin typeface="楷体_GB2312" pitchFamily="49" charset="-122"/>
                <a:ea typeface="楷体_GB2312" pitchFamily="49" charset="-122"/>
              </a:rPr>
              <a:t>）所示。</a:t>
            </a:r>
            <a:endParaRPr lang="zh-CN" altLang="en-US" sz="2000" b="1" dirty="0">
              <a:latin typeface="楷体_GB2312" pitchFamily="49" charset="-122"/>
              <a:ea typeface="楷体_GB2312" pitchFamily="49" charset="-122"/>
            </a:endParaRPr>
          </a:p>
          <a:p>
            <a:pPr marL="0" lvl="0" indent="0" eaLnBrk="1" hangingPunct="1">
              <a:buClr>
                <a:schemeClr val="tx1"/>
              </a:buClr>
              <a:buSzTx/>
              <a:buNone/>
            </a:pPr>
            <a:r>
              <a:rPr lang="zh-CN" altLang="en-US" sz="2000" b="1" dirty="0">
                <a:latin typeface="楷体_GB2312" pitchFamily="49" charset="-122"/>
                <a:ea typeface="楷体_GB2312" pitchFamily="49" charset="-122"/>
              </a:rPr>
              <a:t>    </a:t>
            </a:r>
            <a:r>
              <a:rPr lang="en-US" altLang="zh-CN" sz="2000" b="1" dirty="0">
                <a:solidFill>
                  <a:srgbClr val="FF0066"/>
                </a:solidFill>
                <a:latin typeface="楷体_GB2312" pitchFamily="49" charset="-122"/>
                <a:ea typeface="楷体_GB2312" pitchFamily="49" charset="-122"/>
              </a:rPr>
              <a:t>2.</a:t>
            </a:r>
            <a:r>
              <a:rPr lang="zh-CN" altLang="en-US" sz="2000" b="1" dirty="0">
                <a:solidFill>
                  <a:srgbClr val="FF0066"/>
                </a:solidFill>
                <a:latin typeface="楷体_GB2312" pitchFamily="49" charset="-122"/>
                <a:ea typeface="楷体_GB2312" pitchFamily="49" charset="-122"/>
              </a:rPr>
              <a:t>消除铸件的大截面 防止铸件产生缩孔、裂纹</a:t>
            </a:r>
            <a:r>
              <a:rPr lang="zh-CN" altLang="en-US" sz="2000" b="1" dirty="0">
                <a:latin typeface="楷体_GB2312" pitchFamily="49" charset="-122"/>
                <a:ea typeface="楷体_GB2312" pitchFamily="49" charset="-122"/>
              </a:rPr>
              <a:t> 图</a:t>
            </a:r>
            <a:r>
              <a:rPr lang="en-US" altLang="zh-CN" sz="2000" b="1" dirty="0">
                <a:latin typeface="楷体_GB2312" pitchFamily="49" charset="-122"/>
                <a:ea typeface="楷体_GB2312" pitchFamily="49" charset="-122"/>
              </a:rPr>
              <a:t>15(a)</a:t>
            </a:r>
            <a:r>
              <a:rPr lang="zh-CN" altLang="en-US" sz="2000" b="1" dirty="0">
                <a:latin typeface="楷体_GB2312" pitchFamily="49" charset="-122"/>
                <a:ea typeface="楷体_GB2312" pitchFamily="49" charset="-122"/>
              </a:rPr>
              <a:t>所示铸件壁较厚</a:t>
            </a:r>
            <a:r>
              <a:rPr lang="en-US" altLang="zh-CN" sz="2000" b="1" dirty="0">
                <a:latin typeface="楷体_GB2312" pitchFamily="49" charset="-122"/>
                <a:ea typeface="楷体_GB2312" pitchFamily="49" charset="-122"/>
              </a:rPr>
              <a:t>,</a:t>
            </a:r>
            <a:r>
              <a:rPr lang="zh-CN" altLang="en-US" sz="2000" b="1" dirty="0">
                <a:latin typeface="楷体_GB2312" pitchFamily="49" charset="-122"/>
                <a:ea typeface="楷体_GB2312" pitchFamily="49" charset="-122"/>
              </a:rPr>
              <a:t>容易出现缩孔；铸件厚薄不均，易产生裂纹。采用加强筋后，可防止以上缺陷，如图</a:t>
            </a:r>
            <a:r>
              <a:rPr lang="en-US" altLang="zh-CN" sz="2000" b="1" dirty="0">
                <a:latin typeface="楷体_GB2312" pitchFamily="49" charset="-122"/>
                <a:ea typeface="楷体_GB2312" pitchFamily="49" charset="-122"/>
              </a:rPr>
              <a:t>15(b)</a:t>
            </a:r>
            <a:r>
              <a:rPr lang="zh-CN" altLang="en-US" sz="2000" b="1" dirty="0">
                <a:latin typeface="楷体_GB2312" pitchFamily="49" charset="-122"/>
                <a:ea typeface="楷体_GB2312" pitchFamily="49" charset="-122"/>
              </a:rPr>
              <a:t>所示。</a:t>
            </a:r>
            <a:endParaRPr lang="zh-CN" altLang="en-US" sz="2000" b="1" dirty="0">
              <a:latin typeface="楷体_GB2312" pitchFamily="49" charset="-122"/>
              <a:ea typeface="楷体_GB2312" pitchFamily="49" charset="-122"/>
            </a:endParaRPr>
          </a:p>
        </p:txBody>
      </p:sp>
      <p:pic>
        <p:nvPicPr>
          <p:cNvPr id="164868" name="Picture 1043"/>
          <p:cNvPicPr>
            <a:picLocks noChangeAspect="1"/>
          </p:cNvPicPr>
          <p:nvPr/>
        </p:nvPicPr>
        <p:blipFill>
          <a:blip r:embed="rId1"/>
          <a:stretch>
            <a:fillRect/>
          </a:stretch>
        </p:blipFill>
        <p:spPr>
          <a:xfrm>
            <a:off x="0" y="4168775"/>
            <a:ext cx="9010650" cy="2689225"/>
          </a:xfrm>
          <a:prstGeom prst="rect">
            <a:avLst/>
          </a:prstGeom>
          <a:noFill/>
          <a:ln w="9525">
            <a:noFill/>
          </a:ln>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2"/>
          <p:cNvSpPr>
            <a:spLocks noGrp="1"/>
          </p:cNvSpPr>
          <p:nvPr>
            <p:ph type="title"/>
          </p:nvPr>
        </p:nvSpPr>
        <p:spPr>
          <a:xfrm>
            <a:off x="1835150" y="835025"/>
            <a:ext cx="6213475" cy="577850"/>
          </a:xfrm>
        </p:spPr>
        <p:txBody>
          <a:bodyPr vert="horz" wrap="square" lIns="91440" tIns="45720" rIns="91440" bIns="45720" anchor="b" anchorCtr="0"/>
          <a:p>
            <a:pPr algn="ctr" eaLnBrk="1" hangingPunct="1">
              <a:buFont typeface="Wingdings" panose="05000000000000000000" pitchFamily="2" charset="2"/>
              <a:buNone/>
            </a:pPr>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65891" name="Rectangle 3"/>
          <p:cNvSpPr/>
          <p:nvPr/>
        </p:nvSpPr>
        <p:spPr>
          <a:xfrm>
            <a:off x="1257300" y="1628775"/>
            <a:ext cx="7418388" cy="2041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0066"/>
              </a:buClr>
              <a:buSzTx/>
              <a:buFont typeface="Wingdings" panose="05000000000000000000" pitchFamily="2" charset="2"/>
              <a:buChar char="v"/>
            </a:pPr>
            <a:r>
              <a:rPr lang="zh-CN" altLang="en-US" sz="2400" b="1" dirty="0">
                <a:solidFill>
                  <a:srgbClr val="FF0000"/>
                </a:solidFill>
                <a:latin typeface="楷体_GB2312" pitchFamily="49" charset="-122"/>
                <a:ea typeface="楷体_GB2312" pitchFamily="49" charset="-122"/>
              </a:rPr>
              <a:t>防裂筋的应用</a:t>
            </a:r>
            <a:endParaRPr lang="zh-CN" altLang="en-US" sz="2400" b="1" dirty="0">
              <a:solidFill>
                <a:srgbClr val="FF0000"/>
              </a:solidFill>
              <a:latin typeface="楷体_GB2312" pitchFamily="49" charset="-122"/>
              <a:ea typeface="楷体_GB2312" pitchFamily="49" charset="-122"/>
            </a:endParaRPr>
          </a:p>
          <a:p>
            <a:pPr marL="0" lvl="0" indent="0" eaLnBrk="1" hangingPunct="1">
              <a:buClr>
                <a:schemeClr val="tx1"/>
              </a:buClr>
              <a:buSzTx/>
              <a:buNone/>
            </a:pPr>
            <a:r>
              <a:rPr lang="zh-CN" altLang="en-US" sz="1800" b="1" dirty="0">
                <a:latin typeface="楷体_GB2312" pitchFamily="49" charset="-122"/>
                <a:ea typeface="楷体_GB2312" pitchFamily="49" charset="-122"/>
              </a:rPr>
              <a:t>   </a:t>
            </a:r>
            <a:r>
              <a:rPr lang="zh-CN" altLang="en-US" sz="2000" b="1" dirty="0">
                <a:solidFill>
                  <a:srgbClr val="00CC00"/>
                </a:solidFill>
                <a:latin typeface="楷体_GB2312" pitchFamily="49" charset="-122"/>
                <a:ea typeface="楷体_GB2312" pitchFamily="49" charset="-122"/>
              </a:rPr>
              <a:t>（</a:t>
            </a:r>
            <a:r>
              <a:rPr lang="en-US" altLang="zh-CN" sz="2000" b="1" dirty="0">
                <a:solidFill>
                  <a:srgbClr val="00CC00"/>
                </a:solidFill>
                <a:latin typeface="楷体_GB2312" pitchFamily="49" charset="-122"/>
                <a:ea typeface="楷体_GB2312" pitchFamily="49" charset="-122"/>
              </a:rPr>
              <a:t>1</a:t>
            </a:r>
            <a:r>
              <a:rPr lang="zh-CN" altLang="en-US" sz="2000" b="1" dirty="0">
                <a:solidFill>
                  <a:srgbClr val="00CC00"/>
                </a:solidFill>
                <a:latin typeface="楷体_GB2312" pitchFamily="49" charset="-122"/>
                <a:ea typeface="楷体_GB2312" pitchFamily="49" charset="-122"/>
              </a:rPr>
              <a:t>）筋的作用 </a:t>
            </a:r>
            <a:r>
              <a:rPr lang="zh-CN" altLang="en-US" sz="2000" b="1" dirty="0">
                <a:latin typeface="楷体_GB2312" pitchFamily="49" charset="-122"/>
                <a:ea typeface="楷体_GB2312" pitchFamily="49" charset="-122"/>
              </a:rPr>
              <a:t> 为了防止热裂，可在铸件易裂处设计防裂筋（图）。防裂筋的方向与收缩应力方向一致而且筋的厚度应为连接壁厚的</a:t>
            </a:r>
            <a:r>
              <a:rPr lang="en-US" altLang="zh-CN" sz="2000" b="1" dirty="0">
                <a:latin typeface="楷体_GB2312" pitchFamily="49" charset="-122"/>
                <a:ea typeface="楷体_GB2312" pitchFamily="49" charset="-122"/>
              </a:rPr>
              <a:t>1/4</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1/3</a:t>
            </a:r>
            <a:r>
              <a:rPr lang="zh-CN" altLang="en-US" sz="2000" b="1" dirty="0">
                <a:latin typeface="楷体_GB2312" pitchFamily="49" charset="-122"/>
                <a:ea typeface="楷体_GB2312" pitchFamily="49" charset="-122"/>
              </a:rPr>
              <a:t>。由于防裂筋很薄，在冷却过程中迅速凝固，冷却至弹性状态，具有防裂效果。防裂筋通常用于铸钢、铸铝等易发生热裂的合金。</a:t>
            </a:r>
            <a:endParaRPr lang="zh-CN" altLang="en-US" sz="2000" b="1" dirty="0">
              <a:latin typeface="楷体_GB2312" pitchFamily="49" charset="-122"/>
              <a:ea typeface="楷体_GB2312" pitchFamily="49" charset="-122"/>
            </a:endParaRPr>
          </a:p>
        </p:txBody>
      </p:sp>
      <p:pic>
        <p:nvPicPr>
          <p:cNvPr id="165892" name="Picture 5"/>
          <p:cNvPicPr>
            <a:picLocks noChangeAspect="1"/>
          </p:cNvPicPr>
          <p:nvPr/>
        </p:nvPicPr>
        <p:blipFill>
          <a:blip r:embed="rId1"/>
          <a:stretch>
            <a:fillRect/>
          </a:stretch>
        </p:blipFill>
        <p:spPr>
          <a:xfrm>
            <a:off x="3779838" y="3530600"/>
            <a:ext cx="4813300" cy="3327400"/>
          </a:xfrm>
          <a:prstGeom prst="rect">
            <a:avLst/>
          </a:prstGeom>
          <a:noFill/>
          <a:ln w="9525">
            <a:noFill/>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p:cNvSpPr>
          <p:nvPr>
            <p:ph type="title"/>
          </p:nvPr>
        </p:nvSpPr>
        <p:spPr>
          <a:xfrm>
            <a:off x="1763713" y="835025"/>
            <a:ext cx="6213475" cy="577850"/>
          </a:xfrm>
        </p:spPr>
        <p:txBody>
          <a:bodyPr vert="horz" wrap="square" lIns="91440" tIns="45720" rIns="91440" bIns="45720" anchor="b" anchorCtr="0"/>
          <a:p>
            <a:pPr algn="ctr" eaLnBrk="1" hangingPunct="1">
              <a:buFont typeface="Wingdings" panose="05000000000000000000" pitchFamily="2" charset="2"/>
              <a:buNone/>
            </a:pPr>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66915" name="Rectangle 3"/>
          <p:cNvSpPr/>
          <p:nvPr/>
        </p:nvSpPr>
        <p:spPr>
          <a:xfrm>
            <a:off x="684213" y="1557338"/>
            <a:ext cx="8015287" cy="2041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0066"/>
              </a:buClr>
              <a:buSzTx/>
              <a:buFont typeface="Wingdings" panose="05000000000000000000" pitchFamily="2" charset="2"/>
              <a:buChar char="v"/>
            </a:pPr>
            <a:r>
              <a:rPr lang="zh-CN" altLang="en-US" sz="2400" b="1" dirty="0">
                <a:solidFill>
                  <a:srgbClr val="FF3300"/>
                </a:solidFill>
                <a:latin typeface="楷体_GB2312" pitchFamily="49" charset="-122"/>
                <a:ea typeface="楷体_GB2312" pitchFamily="49" charset="-122"/>
              </a:rPr>
              <a:t>铸件结构应尽量减少铸件收缩受因防止变形和裂纹</a:t>
            </a:r>
            <a:endParaRPr lang="zh-CN" altLang="en-US" sz="2400" b="1" dirty="0">
              <a:solidFill>
                <a:srgbClr val="FF3300"/>
              </a:solidFill>
              <a:latin typeface="楷体_GB2312" pitchFamily="49" charset="-122"/>
              <a:ea typeface="楷体_GB2312" pitchFamily="49" charset="-122"/>
            </a:endParaRPr>
          </a:p>
          <a:p>
            <a:pPr marL="0" lvl="0" indent="0" eaLnBrk="1" hangingPunct="1">
              <a:buClr>
                <a:schemeClr val="tx1"/>
              </a:buClr>
              <a:buSzTx/>
              <a:buNone/>
            </a:pPr>
            <a:r>
              <a:rPr lang="zh-CN" altLang="en-US" sz="2000" b="1" dirty="0">
                <a:latin typeface="楷体_GB2312" pitchFamily="49" charset="-122"/>
                <a:ea typeface="楷体_GB2312" pitchFamily="49" charset="-122"/>
              </a:rPr>
              <a:t>   （</a:t>
            </a:r>
            <a:r>
              <a:rPr lang="en-US" altLang="zh-CN" sz="2000" b="1" dirty="0">
                <a:latin typeface="楷体_GB2312" pitchFamily="49" charset="-122"/>
                <a:ea typeface="楷体_GB2312" pitchFamily="49" charset="-122"/>
              </a:rPr>
              <a:t>l</a:t>
            </a:r>
            <a:r>
              <a:rPr lang="zh-CN" altLang="en-US" sz="2000" b="1" dirty="0">
                <a:latin typeface="楷体_GB2312" pitchFamily="49" charset="-122"/>
                <a:ea typeface="楷体_GB2312" pitchFamily="49" charset="-122"/>
              </a:rPr>
              <a:t>）尽量使铸件能自由收缩 铸件的结构应在凝固过程中尽量减少其铸造应力。图</a:t>
            </a:r>
            <a:r>
              <a:rPr lang="en-US" altLang="zh-CN" sz="2000" b="1" dirty="0">
                <a:latin typeface="楷体_GB2312" pitchFamily="49" charset="-122"/>
                <a:ea typeface="楷体_GB2312" pitchFamily="49" charset="-122"/>
              </a:rPr>
              <a:t>4-20</a:t>
            </a:r>
            <a:r>
              <a:rPr lang="zh-CN" altLang="en-US" sz="2000" b="1" dirty="0">
                <a:latin typeface="楷体_GB2312" pitchFamily="49" charset="-122"/>
                <a:ea typeface="楷体_GB2312" pitchFamily="49" charset="-122"/>
              </a:rPr>
              <a:t>为轮辐的设计。图</a:t>
            </a:r>
            <a:r>
              <a:rPr lang="en-US" altLang="zh-CN" sz="2000" b="1" dirty="0">
                <a:latin typeface="楷体_GB2312" pitchFamily="49" charset="-122"/>
                <a:ea typeface="楷体_GB2312" pitchFamily="49" charset="-122"/>
              </a:rPr>
              <a:t>4-20(a)</a:t>
            </a:r>
            <a:r>
              <a:rPr lang="zh-CN" altLang="en-US" sz="2000" b="1" dirty="0">
                <a:latin typeface="楷体_GB2312" pitchFamily="49" charset="-122"/>
                <a:ea typeface="楷体_GB2312" pitchFamily="49" charset="-122"/>
              </a:rPr>
              <a:t>为偶数轮辐，产生的内应力较大，有可能产生裂纹。</a:t>
            </a:r>
            <a:r>
              <a:rPr lang="zh-CN" altLang="en-US" sz="2000" b="1" dirty="0">
                <a:solidFill>
                  <a:srgbClr val="A50021"/>
                </a:solidFill>
                <a:latin typeface="楷体_GB2312" pitchFamily="49" charset="-122"/>
                <a:ea typeface="楷体_GB2312" pitchFamily="49" charset="-122"/>
              </a:rPr>
              <a:t>改成图</a:t>
            </a:r>
            <a:r>
              <a:rPr lang="en-US" altLang="zh-CN" sz="2000" b="1" dirty="0">
                <a:solidFill>
                  <a:srgbClr val="A50021"/>
                </a:solidFill>
                <a:latin typeface="楷体_GB2312" pitchFamily="49" charset="-122"/>
                <a:ea typeface="楷体_GB2312" pitchFamily="49" charset="-122"/>
              </a:rPr>
              <a:t>4-20(b)</a:t>
            </a:r>
            <a:r>
              <a:rPr lang="zh-CN" altLang="en-US" sz="2000" b="1" dirty="0">
                <a:solidFill>
                  <a:srgbClr val="A50021"/>
                </a:solidFill>
                <a:latin typeface="楷体_GB2312" pitchFamily="49" charset="-122"/>
                <a:ea typeface="楷体_GB2312" pitchFamily="49" charset="-122"/>
              </a:rPr>
              <a:t>所示的弯曲轮辐或图</a:t>
            </a:r>
            <a:r>
              <a:rPr lang="en-US" altLang="zh-CN" sz="2000" b="1" dirty="0">
                <a:solidFill>
                  <a:srgbClr val="A50021"/>
                </a:solidFill>
                <a:latin typeface="楷体_GB2312" pitchFamily="49" charset="-122"/>
                <a:ea typeface="楷体_GB2312" pitchFamily="49" charset="-122"/>
              </a:rPr>
              <a:t>4</a:t>
            </a:r>
            <a:r>
              <a:rPr lang="zh-CN" altLang="en-US" sz="2000" b="1" dirty="0">
                <a:solidFill>
                  <a:srgbClr val="A50021"/>
                </a:solidFill>
                <a:latin typeface="楷体_GB2312" pitchFamily="49" charset="-122"/>
                <a:ea typeface="楷体_GB2312" pitchFamily="49" charset="-122"/>
              </a:rPr>
              <a:t>．</a:t>
            </a:r>
            <a:r>
              <a:rPr lang="en-US" altLang="zh-CN" sz="2000" b="1" dirty="0">
                <a:solidFill>
                  <a:srgbClr val="A50021"/>
                </a:solidFill>
                <a:latin typeface="楷体_GB2312" pitchFamily="49" charset="-122"/>
                <a:ea typeface="楷体_GB2312" pitchFamily="49" charset="-122"/>
              </a:rPr>
              <a:t>20(c)</a:t>
            </a:r>
            <a:r>
              <a:rPr lang="zh-CN" altLang="en-US" sz="2000" b="1" dirty="0">
                <a:solidFill>
                  <a:srgbClr val="A50021"/>
                </a:solidFill>
                <a:latin typeface="楷体_GB2312" pitchFamily="49" charset="-122"/>
                <a:ea typeface="楷体_GB2312" pitchFamily="49" charset="-122"/>
              </a:rPr>
              <a:t>所示的奇数轮辐后，利用弯曲轮辐或轮缘的微量变形、可明显减小铸造应力，避免产生裂纹。</a:t>
            </a:r>
            <a:endParaRPr lang="zh-CN" altLang="en-US" sz="2000" b="1" dirty="0">
              <a:solidFill>
                <a:srgbClr val="A50021"/>
              </a:solidFill>
              <a:latin typeface="楷体_GB2312" pitchFamily="49" charset="-122"/>
              <a:ea typeface="楷体_GB2312" pitchFamily="49" charset="-122"/>
            </a:endParaRPr>
          </a:p>
        </p:txBody>
      </p:sp>
      <p:pic>
        <p:nvPicPr>
          <p:cNvPr id="166916" name="Picture 6" descr="图片8"/>
          <p:cNvPicPr>
            <a:picLocks noChangeAspect="1"/>
          </p:cNvPicPr>
          <p:nvPr/>
        </p:nvPicPr>
        <p:blipFill>
          <a:blip r:embed="rId1"/>
          <a:stretch>
            <a:fillRect/>
          </a:stretch>
        </p:blipFill>
        <p:spPr>
          <a:xfrm>
            <a:off x="1784350" y="3589338"/>
            <a:ext cx="5988050" cy="3268662"/>
          </a:xfrm>
          <a:prstGeom prst="rect">
            <a:avLst/>
          </a:prstGeom>
          <a:noFill/>
          <a:ln w="9525">
            <a:noFill/>
          </a:ln>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Rectangle 1026"/>
          <p:cNvSpPr>
            <a:spLocks noGrp="1"/>
          </p:cNvSpPr>
          <p:nvPr>
            <p:ph type="title"/>
          </p:nvPr>
        </p:nvSpPr>
        <p:spPr>
          <a:xfrm>
            <a:off x="1835150" y="836613"/>
            <a:ext cx="6213475" cy="577850"/>
          </a:xfrm>
        </p:spPr>
        <p:txBody>
          <a:bodyPr vert="horz" wrap="square" lIns="91440" tIns="45720" rIns="91440" bIns="45720" anchor="b" anchorCtr="0"/>
          <a:p>
            <a:pPr algn="ctr" eaLnBrk="1" hangingPunct="1">
              <a:buFont typeface="Wingdings" panose="05000000000000000000" pitchFamily="2" charset="2"/>
              <a:buNone/>
            </a:pPr>
            <a:r>
              <a:rPr lang="zh-CN" altLang="zh-CN" sz="4000" b="1" dirty="0">
                <a:latin typeface="Verdana" panose="020B0604030504040204" pitchFamily="34" charset="0"/>
                <a:ea typeface="楷体_GB2312" pitchFamily="49" charset="-122"/>
              </a:rPr>
              <a:t>铸件结构设计</a:t>
            </a:r>
            <a:endParaRPr lang="zh-CN" altLang="zh-CN" sz="4000" b="1" dirty="0">
              <a:latin typeface="Verdana" panose="020B0604030504040204" pitchFamily="34" charset="0"/>
              <a:ea typeface="楷体_GB2312" pitchFamily="49" charset="-122"/>
            </a:endParaRPr>
          </a:p>
        </p:txBody>
      </p:sp>
      <p:sp>
        <p:nvSpPr>
          <p:cNvPr id="167939" name="Rectangle 1027"/>
          <p:cNvSpPr/>
          <p:nvPr/>
        </p:nvSpPr>
        <p:spPr>
          <a:xfrm>
            <a:off x="611188" y="1636713"/>
            <a:ext cx="8323262" cy="14319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buClr>
                <a:srgbClr val="FF0066"/>
              </a:buClr>
              <a:buSzTx/>
              <a:buFont typeface="Wingdings" panose="05000000000000000000" pitchFamily="2" charset="2"/>
              <a:buChar char="v"/>
            </a:pPr>
            <a:r>
              <a:rPr lang="zh-CN" altLang="en-US" sz="2400" b="1" dirty="0">
                <a:solidFill>
                  <a:srgbClr val="FF6600"/>
                </a:solidFill>
                <a:latin typeface="楷体_GB2312" pitchFamily="49" charset="-122"/>
                <a:ea typeface="楷体_GB2312" pitchFamily="49" charset="-122"/>
              </a:rPr>
              <a:t>铸件结构应尽量减少铸件收缩受因防止变形和裂纹</a:t>
            </a:r>
            <a:endParaRPr lang="zh-CN" altLang="en-US" sz="2400" b="1" dirty="0">
              <a:solidFill>
                <a:srgbClr val="FF6600"/>
              </a:solidFill>
              <a:latin typeface="楷体_GB2312" pitchFamily="49" charset="-122"/>
              <a:ea typeface="楷体_GB2312" pitchFamily="49" charset="-122"/>
            </a:endParaRPr>
          </a:p>
          <a:p>
            <a:pPr marL="0" lvl="0" indent="0" eaLnBrk="1" hangingPunct="1">
              <a:buClr>
                <a:schemeClr val="tx1"/>
              </a:buClr>
              <a:buSzTx/>
              <a:buNone/>
            </a:pPr>
            <a:r>
              <a:rPr lang="zh-CN" altLang="en-US" sz="2000" b="1" dirty="0">
                <a:latin typeface="楷体_GB2312" pitchFamily="49" charset="-122"/>
                <a:ea typeface="楷体_GB2312" pitchFamily="49" charset="-122"/>
              </a:rPr>
              <a:t>   （</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）采用对称结构，防止铸件变形 如图</a:t>
            </a:r>
            <a:r>
              <a:rPr lang="en-US" altLang="zh-CN" sz="2000" b="1" dirty="0">
                <a:latin typeface="楷体_GB2312" pitchFamily="49" charset="-122"/>
                <a:ea typeface="楷体_GB2312" pitchFamily="49" charset="-122"/>
              </a:rPr>
              <a:t>4-21</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a</a:t>
            </a:r>
            <a:r>
              <a:rPr lang="zh-CN" altLang="en-US" sz="2000" b="1" dirty="0">
                <a:latin typeface="楷体_GB2312" pitchFamily="49" charset="-122"/>
                <a:ea typeface="楷体_GB2312" pitchFamily="49" charset="-122"/>
              </a:rPr>
              <a:t>｝所示的铸钢粱，由于受较大热应力，产生了变形，改成工字截面后虽然壁厚仍不均匀，但热应力相互抵消变形大大减小。</a:t>
            </a:r>
            <a:r>
              <a:rPr lang="zh-CN" altLang="en-US" sz="1800" b="1" dirty="0">
                <a:latin typeface="楷体_GB2312" pitchFamily="49" charset="-122"/>
                <a:ea typeface="楷体_GB2312" pitchFamily="49" charset="-122"/>
              </a:rPr>
              <a:t> </a:t>
            </a:r>
            <a:endParaRPr lang="zh-CN" altLang="en-US" sz="1800" b="1" dirty="0">
              <a:latin typeface="楷体_GB2312" pitchFamily="49" charset="-122"/>
              <a:ea typeface="楷体_GB2312" pitchFamily="49" charset="-122"/>
            </a:endParaRPr>
          </a:p>
        </p:txBody>
      </p:sp>
      <p:grpSp>
        <p:nvGrpSpPr>
          <p:cNvPr id="2" name="Group 1030"/>
          <p:cNvGrpSpPr/>
          <p:nvPr/>
        </p:nvGrpSpPr>
        <p:grpSpPr>
          <a:xfrm>
            <a:off x="1476375" y="3252788"/>
            <a:ext cx="6105525" cy="3605212"/>
            <a:chOff x="0" y="0"/>
            <a:chExt cx="2812" cy="1587"/>
          </a:xfrm>
        </p:grpSpPr>
        <p:grpSp>
          <p:nvGrpSpPr>
            <p:cNvPr id="167941" name="Group 1031"/>
            <p:cNvGrpSpPr>
              <a:grpSpLocks noChangeAspect="1"/>
            </p:cNvGrpSpPr>
            <p:nvPr/>
          </p:nvGrpSpPr>
          <p:grpSpPr>
            <a:xfrm>
              <a:off x="0" y="0"/>
              <a:ext cx="2812" cy="1383"/>
              <a:chOff x="0" y="0"/>
              <a:chExt cx="2812" cy="1383"/>
            </a:xfrm>
          </p:grpSpPr>
          <p:pic>
            <p:nvPicPr>
              <p:cNvPr id="167943" name="Picture 1032" descr="大平面-3"/>
              <p:cNvPicPr>
                <a:picLocks noChangeAspect="1"/>
              </p:cNvPicPr>
              <p:nvPr/>
            </p:nvPicPr>
            <p:blipFill>
              <a:blip r:embed="rId1">
                <a:lum bright="-10001" contrast="54000"/>
              </a:blip>
              <a:srcRect r="50000"/>
              <a:stretch>
                <a:fillRect/>
              </a:stretch>
            </p:blipFill>
            <p:spPr>
              <a:xfrm>
                <a:off x="0" y="0"/>
                <a:ext cx="1406" cy="1355"/>
              </a:xfrm>
              <a:prstGeom prst="rect">
                <a:avLst/>
              </a:prstGeom>
              <a:solidFill>
                <a:srgbClr val="800000"/>
              </a:solidFill>
              <a:ln w="9525">
                <a:noFill/>
              </a:ln>
            </p:spPr>
          </p:pic>
          <p:pic>
            <p:nvPicPr>
              <p:cNvPr id="167944" name="Picture 1033" descr="大平面-3"/>
              <p:cNvPicPr>
                <a:picLocks noChangeAspect="1"/>
              </p:cNvPicPr>
              <p:nvPr/>
            </p:nvPicPr>
            <p:blipFill>
              <a:blip r:embed="rId1">
                <a:lum bright="-10001" contrast="54000"/>
              </a:blip>
              <a:srcRect l="51219" r="1221"/>
              <a:stretch>
                <a:fillRect/>
              </a:stretch>
            </p:blipFill>
            <p:spPr>
              <a:xfrm>
                <a:off x="1490" y="45"/>
                <a:ext cx="1322" cy="1338"/>
              </a:xfrm>
              <a:prstGeom prst="rect">
                <a:avLst/>
              </a:prstGeom>
              <a:solidFill>
                <a:srgbClr val="800000"/>
              </a:solidFill>
              <a:ln w="9525">
                <a:noFill/>
              </a:ln>
            </p:spPr>
          </p:pic>
        </p:grpSp>
        <p:sp>
          <p:nvSpPr>
            <p:cNvPr id="167942" name="Text Box 1034"/>
            <p:cNvSpPr txBox="1"/>
            <p:nvPr/>
          </p:nvSpPr>
          <p:spPr>
            <a:xfrm>
              <a:off x="766" y="1446"/>
              <a:ext cx="1593" cy="141"/>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600" b="1" dirty="0">
                  <a:latin typeface="Times New Roman" panose="02020603050405020304" pitchFamily="18" charset="0"/>
                </a:rPr>
                <a:t>图</a:t>
              </a:r>
              <a:r>
                <a:rPr lang="en-US" altLang="zh-CN" sz="1600" b="1" dirty="0">
                  <a:latin typeface="Times New Roman" panose="02020603050405020304" pitchFamily="18" charset="0"/>
                </a:rPr>
                <a:t>28  </a:t>
              </a:r>
              <a:r>
                <a:rPr lang="zh-CN" altLang="en-US" sz="1600" b="1" dirty="0">
                  <a:latin typeface="Times New Roman" panose="02020603050405020304" pitchFamily="18" charset="0"/>
                </a:rPr>
                <a:t>防止变形的铸件结构</a:t>
              </a:r>
              <a:r>
                <a:rPr lang="zh-CN" altLang="en-US" sz="1600" dirty="0">
                  <a:latin typeface="Times New Roman" panose="02020603050405020304" pitchFamily="18" charset="0"/>
                </a:rPr>
                <a:t>	</a:t>
              </a:r>
              <a:endParaRPr lang="zh-CN" altLang="en-US" sz="1600" dirty="0">
                <a:latin typeface="Times New Roman" panose="02020603050405020304" pitchFamily="18" charset="0"/>
              </a:endParaRPr>
            </a:p>
            <a:p>
              <a:pPr marL="0" lvl="0" indent="0" eaLnBrk="1" hangingPunct="1">
                <a:spcBef>
                  <a:spcPct val="0"/>
                </a:spcBef>
                <a:buClrTx/>
                <a:buSzTx/>
                <a:buNone/>
              </a:pPr>
              <a:endParaRPr lang="en-US" altLang="zh-CN" sz="16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Rectangle 1028"/>
          <p:cNvSpPr>
            <a:spLocks noChangeArrowheads="1"/>
          </p:cNvSpPr>
          <p:nvPr/>
        </p:nvSpPr>
        <p:spPr bwMode="auto">
          <a:xfrm>
            <a:off x="3630613" y="765175"/>
            <a:ext cx="1733550" cy="762000"/>
          </a:xfrm>
          <a:prstGeom prst="rect">
            <a:avLst/>
          </a:prstGeom>
          <a:noFill/>
          <a:ln>
            <a:noFill/>
          </a:ln>
          <a:effectLst/>
        </p:spPr>
        <p:txBody>
          <a:bodyPr>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作业</a:t>
            </a:r>
            <a:endParaRPr kumimoji="0" lang="zh-CN" altLang="en-US" sz="4400" b="1" i="0" u="none" strike="noStrike" kern="1200" cap="none" spc="0" normalizeH="0" baseline="0" noProof="0">
              <a:ln>
                <a:noFill/>
              </a:ln>
              <a:solidFill>
                <a:srgbClr val="FF3300"/>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
        <p:nvSpPr>
          <p:cNvPr id="168963" name="Text Box 1029"/>
          <p:cNvSpPr txBox="1"/>
          <p:nvPr/>
        </p:nvSpPr>
        <p:spPr>
          <a:xfrm>
            <a:off x="1333183" y="2492693"/>
            <a:ext cx="6328410" cy="82994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2400" b="1" dirty="0">
                <a:latin typeface="楷体_GB2312" pitchFamily="49" charset="-122"/>
                <a:ea typeface="楷体_GB2312" pitchFamily="49" charset="-122"/>
              </a:rPr>
              <a:t>P89-(2), (3), (4), (6), (8), (9), (10)</a:t>
            </a:r>
            <a:r>
              <a:rPr lang="zh-CN" altLang="en-US" sz="2400" b="1" dirty="0">
                <a:latin typeface="楷体_GB2312" pitchFamily="49" charset="-122"/>
                <a:ea typeface="楷体_GB2312" pitchFamily="49" charset="-122"/>
              </a:rPr>
              <a:t>。</a:t>
            </a:r>
            <a:endParaRPr lang="zh-CN" altLang="en-US" sz="2400" b="1" dirty="0">
              <a:latin typeface="楷体_GB2312" pitchFamily="49" charset="-122"/>
              <a:ea typeface="楷体_GB2312" pitchFamily="49" charset="-122"/>
            </a:endParaRPr>
          </a:p>
          <a:p>
            <a:pPr marL="0" lvl="0" indent="0" eaLnBrk="1" hangingPunct="1">
              <a:spcBef>
                <a:spcPct val="0"/>
              </a:spcBef>
              <a:buClrTx/>
              <a:buSzTx/>
              <a:buNone/>
            </a:pPr>
            <a:endParaRPr lang="en-US" altLang="zh-CN" sz="2400" b="1" dirty="0">
              <a:latin typeface="楷体_GB2312" pitchFamily="49" charset="-122"/>
              <a:ea typeface="楷体_GB2312" pitchFamily="49" charset="-122"/>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Rectangle 2"/>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特种铸造</a:t>
            </a:r>
            <a:endParaRPr lang="zh-CN" altLang="zh-CN" sz="4000" b="1" dirty="0">
              <a:ea typeface="楷体_GB2312" pitchFamily="49" charset="-122"/>
            </a:endParaRPr>
          </a:p>
        </p:txBody>
      </p:sp>
      <p:sp>
        <p:nvSpPr>
          <p:cNvPr id="169987" name="Rectangle 3"/>
          <p:cNvSpPr>
            <a:spLocks noGrp="1"/>
          </p:cNvSpPr>
          <p:nvPr>
            <p:ph type="body"/>
          </p:nvPr>
        </p:nvSpPr>
        <p:spPr>
          <a:xfrm>
            <a:off x="971550" y="1771650"/>
            <a:ext cx="7632700" cy="2952750"/>
          </a:xfrm>
        </p:spPr>
        <p:txBody>
          <a:bodyPr vert="horz" wrap="square" lIns="91440" tIns="45720" rIns="91440" bIns="45720" anchor="t" anchorCtr="0"/>
          <a:p>
            <a:pPr eaLnBrk="1" hangingPunct="1">
              <a:lnSpc>
                <a:spcPct val="90000"/>
              </a:lnSpc>
            </a:pPr>
            <a:r>
              <a:rPr lang="zh-CN" altLang="zh-CN" sz="2800" b="1" dirty="0">
                <a:solidFill>
                  <a:srgbClr val="FF3300"/>
                </a:solidFill>
                <a:latin typeface="楷体_GB2312" pitchFamily="49" charset="-122"/>
                <a:ea typeface="楷体_GB2312" pitchFamily="49" charset="-122"/>
              </a:rPr>
              <a:t>特种铸造</a:t>
            </a:r>
            <a:r>
              <a:rPr lang="zh-CN" altLang="zh-CN" sz="2800" dirty="0">
                <a:latin typeface="楷体_GB2312" pitchFamily="49" charset="-122"/>
                <a:ea typeface="楷体_GB2312" pitchFamily="49" charset="-122"/>
              </a:rPr>
              <a:t>  </a:t>
            </a:r>
            <a:endParaRPr lang="zh-CN" altLang="zh-CN" sz="2800" dirty="0">
              <a:latin typeface="楷体_GB2312" pitchFamily="49" charset="-122"/>
              <a:ea typeface="楷体_GB2312" pitchFamily="49" charset="-122"/>
            </a:endParaRPr>
          </a:p>
          <a:p>
            <a:pPr eaLnBrk="1" hangingPunct="1">
              <a:lnSpc>
                <a:spcPct val="90000"/>
              </a:lnSpc>
              <a:buNone/>
            </a:pPr>
            <a:r>
              <a:rPr lang="zh-CN" altLang="zh-CN" b="1" dirty="0">
                <a:latin typeface="楷体_GB2312" pitchFamily="49" charset="-122"/>
                <a:ea typeface="楷体_GB2312" pitchFamily="49" charset="-122"/>
              </a:rPr>
              <a:t>    </a:t>
            </a:r>
            <a:r>
              <a:rPr lang="zh-CN" altLang="zh-CN" sz="2400" b="1" dirty="0">
                <a:latin typeface="楷体_GB2312" pitchFamily="49" charset="-122"/>
                <a:ea typeface="楷体_GB2312" pitchFamily="49" charset="-122"/>
              </a:rPr>
              <a:t>与普通砂型铸造有显著区别的一些铸造方法。</a:t>
            </a:r>
            <a:r>
              <a:rPr lang="zh-CN" altLang="zh-CN" sz="2400" b="1" dirty="0">
                <a:solidFill>
                  <a:srgbClr val="00CC00"/>
                </a:solidFill>
                <a:latin typeface="楷体_GB2312" pitchFamily="49" charset="-122"/>
                <a:ea typeface="楷体_GB2312" pitchFamily="49" charset="-122"/>
              </a:rPr>
              <a:t>常用的特种铸造方法有</a:t>
            </a:r>
            <a:r>
              <a:rPr lang="zh-CN" altLang="zh-CN" sz="2400" b="1" dirty="0">
                <a:solidFill>
                  <a:srgbClr val="FF0000"/>
                </a:solidFill>
                <a:latin typeface="楷体_GB2312" pitchFamily="49" charset="-122"/>
                <a:ea typeface="楷体_GB2312" pitchFamily="49" charset="-122"/>
              </a:rPr>
              <a:t>熔模铸造、金属型铸造、压力铸造、低压铸造和离心铸造</a:t>
            </a:r>
            <a:r>
              <a:rPr lang="zh-CN" altLang="zh-CN" sz="2400" b="1" dirty="0">
                <a:solidFill>
                  <a:srgbClr val="00CC00"/>
                </a:solidFill>
                <a:latin typeface="楷体_GB2312" pitchFamily="49" charset="-122"/>
                <a:ea typeface="楷体_GB2312" pitchFamily="49" charset="-122"/>
              </a:rPr>
              <a:t>等。</a:t>
            </a:r>
            <a:endParaRPr lang="zh-CN" altLang="zh-CN" sz="2400" b="1" dirty="0">
              <a:solidFill>
                <a:srgbClr val="00CC00"/>
              </a:solidFill>
              <a:latin typeface="楷体_GB2312" pitchFamily="49" charset="-122"/>
              <a:ea typeface="楷体_GB2312" pitchFamily="49" charset="-122"/>
            </a:endParaRPr>
          </a:p>
          <a:p>
            <a:pPr eaLnBrk="1" hangingPunct="1">
              <a:lnSpc>
                <a:spcPct val="90000"/>
              </a:lnSpc>
              <a:buNone/>
            </a:pPr>
            <a:r>
              <a:rPr lang="zh-CN" altLang="zh-CN" sz="2400" b="1" dirty="0">
                <a:solidFill>
                  <a:srgbClr val="00CC00"/>
                </a:solidFill>
                <a:latin typeface="楷体_GB2312" pitchFamily="49" charset="-122"/>
                <a:ea typeface="楷体_GB2312" pitchFamily="49" charset="-122"/>
              </a:rPr>
              <a:t>      </a:t>
            </a:r>
            <a:r>
              <a:rPr lang="zh-CN" altLang="zh-CN" sz="2400" b="1" dirty="0">
                <a:latin typeface="楷体_GB2312" pitchFamily="49" charset="-122"/>
                <a:ea typeface="楷体_GB2312" pitchFamily="49" charset="-122"/>
              </a:rPr>
              <a:t>这些铸造方法在特定的</a:t>
            </a:r>
            <a:endParaRPr lang="zh-CN" altLang="zh-CN" sz="2400" b="1" dirty="0">
              <a:latin typeface="楷体_GB2312" pitchFamily="49" charset="-122"/>
              <a:ea typeface="楷体_GB2312" pitchFamily="49" charset="-122"/>
            </a:endParaRPr>
          </a:p>
          <a:p>
            <a:pPr eaLnBrk="1" hangingPunct="1">
              <a:lnSpc>
                <a:spcPct val="90000"/>
              </a:lnSpc>
              <a:buNone/>
            </a:pPr>
            <a:r>
              <a:rPr lang="zh-CN" altLang="zh-CN" sz="2400" b="1" dirty="0">
                <a:latin typeface="楷体_GB2312" pitchFamily="49" charset="-122"/>
                <a:ea typeface="楷体_GB2312" pitchFamily="49" charset="-122"/>
              </a:rPr>
              <a:t>  条件下，能够克服砂型铸造</a:t>
            </a:r>
            <a:endParaRPr lang="zh-CN" altLang="zh-CN" sz="2400" b="1" dirty="0">
              <a:latin typeface="楷体_GB2312" pitchFamily="49" charset="-122"/>
              <a:ea typeface="楷体_GB2312" pitchFamily="49" charset="-122"/>
            </a:endParaRPr>
          </a:p>
          <a:p>
            <a:pPr eaLnBrk="1" hangingPunct="1">
              <a:lnSpc>
                <a:spcPct val="90000"/>
              </a:lnSpc>
              <a:buNone/>
            </a:pPr>
            <a:r>
              <a:rPr lang="zh-CN" altLang="zh-CN" sz="2400" b="1" dirty="0">
                <a:latin typeface="楷体_GB2312" pitchFamily="49" charset="-122"/>
                <a:ea typeface="楷体_GB2312" pitchFamily="49" charset="-122"/>
              </a:rPr>
              <a:t>  的缺点，提高铸件的表面质</a:t>
            </a:r>
            <a:endParaRPr lang="zh-CN" altLang="zh-CN" sz="2400" b="1" dirty="0">
              <a:latin typeface="楷体_GB2312" pitchFamily="49" charset="-122"/>
              <a:ea typeface="楷体_GB2312" pitchFamily="49" charset="-122"/>
            </a:endParaRPr>
          </a:p>
          <a:p>
            <a:pPr eaLnBrk="1" hangingPunct="1">
              <a:lnSpc>
                <a:spcPct val="90000"/>
              </a:lnSpc>
              <a:buNone/>
            </a:pPr>
            <a:r>
              <a:rPr lang="zh-CN" altLang="zh-CN" sz="2400" b="1" dirty="0">
                <a:latin typeface="楷体_GB2312" pitchFamily="49" charset="-122"/>
                <a:ea typeface="楷体_GB2312" pitchFamily="49" charset="-122"/>
              </a:rPr>
              <a:t>  量、提高劳动生产率、改善</a:t>
            </a:r>
            <a:endParaRPr lang="zh-CN" altLang="zh-CN" sz="2400" b="1" dirty="0">
              <a:latin typeface="楷体_GB2312" pitchFamily="49" charset="-122"/>
              <a:ea typeface="楷体_GB2312" pitchFamily="49" charset="-122"/>
            </a:endParaRPr>
          </a:p>
          <a:p>
            <a:pPr eaLnBrk="1" hangingPunct="1">
              <a:lnSpc>
                <a:spcPct val="90000"/>
              </a:lnSpc>
              <a:buNone/>
            </a:pPr>
            <a:r>
              <a:rPr lang="zh-CN" altLang="zh-CN" sz="2400" b="1" dirty="0">
                <a:latin typeface="楷体_GB2312" pitchFamily="49" charset="-122"/>
                <a:ea typeface="楷体_GB2312" pitchFamily="49" charset="-122"/>
              </a:rPr>
              <a:t>  劳动条件、降低铸造成本等，</a:t>
            </a:r>
            <a:endParaRPr lang="zh-CN" altLang="zh-CN" sz="2400" b="1" dirty="0">
              <a:latin typeface="楷体_GB2312" pitchFamily="49" charset="-122"/>
              <a:ea typeface="楷体_GB2312" pitchFamily="49" charset="-122"/>
            </a:endParaRPr>
          </a:p>
          <a:p>
            <a:pPr eaLnBrk="1" hangingPunct="1">
              <a:lnSpc>
                <a:spcPct val="90000"/>
              </a:lnSpc>
              <a:buNone/>
            </a:pPr>
            <a:r>
              <a:rPr lang="zh-CN" altLang="zh-CN" sz="2400" b="1" dirty="0">
                <a:latin typeface="楷体_GB2312" pitchFamily="49" charset="-122"/>
                <a:ea typeface="楷体_GB2312" pitchFamily="49" charset="-122"/>
              </a:rPr>
              <a:t>  在铸造生产中占有重要地位。</a:t>
            </a:r>
            <a:endParaRPr lang="zh-CN" altLang="zh-CN" sz="2400" b="1" dirty="0">
              <a:latin typeface="楷体_GB2312" pitchFamily="49" charset="-122"/>
              <a:ea typeface="楷体_GB2312" pitchFamily="49" charset="-122"/>
            </a:endParaRPr>
          </a:p>
        </p:txBody>
      </p:sp>
      <p:pic>
        <p:nvPicPr>
          <p:cNvPr id="169988" name="Picture 2060"/>
          <p:cNvPicPr>
            <a:picLocks noChangeAspect="1"/>
          </p:cNvPicPr>
          <p:nvPr/>
        </p:nvPicPr>
        <p:blipFill>
          <a:blip r:embed="rId1"/>
          <a:srcRect r="996"/>
          <a:stretch>
            <a:fillRect/>
          </a:stretch>
        </p:blipFill>
        <p:spPr>
          <a:xfrm>
            <a:off x="5292725" y="3429000"/>
            <a:ext cx="3598863" cy="2597150"/>
          </a:xfrm>
          <a:prstGeom prst="rect">
            <a:avLst/>
          </a:prstGeom>
          <a:noFill/>
          <a:ln w="9525">
            <a:noFill/>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Rectangle 2"/>
          <p:cNvSpPr>
            <a:spLocks noGrp="1"/>
          </p:cNvSpPr>
          <p:nvPr>
            <p:ph type="title"/>
          </p:nvPr>
        </p:nvSpPr>
        <p:spPr>
          <a:xfrm>
            <a:off x="1370013" y="301625"/>
            <a:ext cx="5000625" cy="1143000"/>
          </a:xfrm>
        </p:spPr>
        <p:txBody>
          <a:bodyPr vert="horz" wrap="square" lIns="91440" tIns="45720" rIns="91440" bIns="45720" anchor="b" anchorCtr="0"/>
          <a:p>
            <a:pPr algn="ctr" eaLnBrk="1" hangingPunct="1"/>
            <a:r>
              <a:rPr lang="zh-CN" altLang="zh-CN" sz="4000" b="1" dirty="0">
                <a:ea typeface="楷体_GB2312" pitchFamily="49" charset="-122"/>
              </a:rPr>
              <a:t>熔模铸造</a:t>
            </a:r>
            <a:endParaRPr lang="zh-CN" altLang="zh-CN" sz="4000" b="1" dirty="0">
              <a:ea typeface="楷体_GB2312" pitchFamily="49" charset="-122"/>
            </a:endParaRPr>
          </a:p>
        </p:txBody>
      </p:sp>
      <p:sp>
        <p:nvSpPr>
          <p:cNvPr id="143363" name="Rectangle 3"/>
          <p:cNvSpPr>
            <a:spLocks noGrp="1"/>
          </p:cNvSpPr>
          <p:nvPr>
            <p:ph type="body" sz="half"/>
          </p:nvPr>
        </p:nvSpPr>
        <p:spPr>
          <a:xfrm>
            <a:off x="395288" y="1630363"/>
            <a:ext cx="4176712" cy="4967287"/>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lnSpc>
                <a:spcPct val="80000"/>
              </a:lnSpc>
            </a:pPr>
            <a:r>
              <a:rPr lang="zh-CN" altLang="en-US" sz="2800" b="1" dirty="0">
                <a:solidFill>
                  <a:srgbClr val="FF0066"/>
                </a:solidFill>
                <a:latin typeface="楷体_GB2312" pitchFamily="49" charset="-122"/>
                <a:ea typeface="楷体_GB2312" pitchFamily="49" charset="-122"/>
              </a:rPr>
              <a:t>熔模铸造的工艺过程</a:t>
            </a:r>
            <a:r>
              <a:rPr lang="zh-CN" altLang="en-US" sz="1700" b="1" dirty="0">
                <a:latin typeface="楷体_GB2312" pitchFamily="49" charset="-122"/>
                <a:ea typeface="楷体_GB2312" pitchFamily="49" charset="-122"/>
              </a:rPr>
              <a:t>     </a:t>
            </a:r>
            <a:endParaRPr lang="zh-CN" altLang="en-US" sz="1700" b="1" dirty="0">
              <a:latin typeface="楷体_GB2312" pitchFamily="49" charset="-122"/>
              <a:ea typeface="楷体_GB2312" pitchFamily="49" charset="-122"/>
            </a:endParaRPr>
          </a:p>
          <a:p>
            <a:pPr lvl="1" eaLnBrk="1" hangingPunct="1">
              <a:lnSpc>
                <a:spcPct val="80000"/>
              </a:lnSpc>
            </a:pPr>
            <a:r>
              <a:rPr lang="zh-CN" altLang="en-US" sz="2400" b="1" dirty="0">
                <a:solidFill>
                  <a:srgbClr val="0000FF"/>
                </a:solidFill>
                <a:latin typeface="楷体_GB2312" pitchFamily="49" charset="-122"/>
                <a:ea typeface="楷体_GB2312" pitchFamily="49" charset="-122"/>
              </a:rPr>
              <a:t>用易熔材料</a:t>
            </a:r>
            <a:r>
              <a:rPr lang="en-US" altLang="zh-CN" sz="2400" b="1" dirty="0">
                <a:solidFill>
                  <a:srgbClr val="0000FF"/>
                </a:solidFill>
                <a:latin typeface="楷体_GB2312" pitchFamily="49" charset="-122"/>
                <a:ea typeface="楷体_GB2312" pitchFamily="49" charset="-122"/>
              </a:rPr>
              <a:t>(</a:t>
            </a:r>
            <a:r>
              <a:rPr lang="zh-CN" altLang="en-US" sz="2400" b="1" dirty="0">
                <a:solidFill>
                  <a:srgbClr val="0000FF"/>
                </a:solidFill>
                <a:latin typeface="楷体_GB2312" pitchFamily="49" charset="-122"/>
                <a:ea typeface="楷体_GB2312" pitchFamily="49" charset="-122"/>
              </a:rPr>
              <a:t>如蜡料</a:t>
            </a:r>
            <a:r>
              <a:rPr lang="en-US" altLang="zh-CN" sz="2400" b="1" dirty="0">
                <a:solidFill>
                  <a:srgbClr val="0000FF"/>
                </a:solidFill>
                <a:latin typeface="楷体_GB2312" pitchFamily="49" charset="-122"/>
                <a:ea typeface="楷体_GB2312" pitchFamily="49" charset="-122"/>
              </a:rPr>
              <a:t>)</a:t>
            </a:r>
            <a:r>
              <a:rPr lang="zh-CN" altLang="en-US" sz="2400" b="1" dirty="0">
                <a:solidFill>
                  <a:srgbClr val="0000FF"/>
                </a:solidFill>
                <a:latin typeface="楷体_GB2312" pitchFamily="49" charset="-122"/>
                <a:ea typeface="楷体_GB2312" pitchFamily="49" charset="-122"/>
              </a:rPr>
              <a:t>制成模样，然后在表面涂覆多层耐火材料，待硬化干燥后，将蜡模熔去，而获得具有与蜡模形状相应空腔的型壳。</a:t>
            </a:r>
            <a:endParaRPr lang="zh-CN" altLang="en-US" sz="2400" b="1" dirty="0">
              <a:solidFill>
                <a:srgbClr val="0000FF"/>
              </a:solidFill>
              <a:latin typeface="楷体_GB2312" pitchFamily="49" charset="-122"/>
              <a:ea typeface="楷体_GB2312" pitchFamily="49" charset="-122"/>
            </a:endParaRPr>
          </a:p>
          <a:p>
            <a:pPr lvl="1" eaLnBrk="1" hangingPunct="1">
              <a:lnSpc>
                <a:spcPct val="80000"/>
              </a:lnSpc>
              <a:buNone/>
            </a:pPr>
            <a:endParaRPr lang="zh-CN" altLang="en-US" sz="2400" b="1" dirty="0">
              <a:solidFill>
                <a:srgbClr val="0000FF"/>
              </a:solidFill>
              <a:latin typeface="楷体_GB2312" pitchFamily="49" charset="-122"/>
              <a:ea typeface="楷体_GB2312" pitchFamily="49" charset="-122"/>
            </a:endParaRPr>
          </a:p>
          <a:p>
            <a:pPr lvl="1" eaLnBrk="1" hangingPunct="1">
              <a:lnSpc>
                <a:spcPct val="80000"/>
              </a:lnSpc>
            </a:pPr>
            <a:r>
              <a:rPr lang="zh-CN" altLang="en-US" sz="2400" b="1" dirty="0">
                <a:latin typeface="楷体_GB2312" pitchFamily="49" charset="-122"/>
                <a:ea typeface="楷体_GB2312" pitchFamily="49" charset="-122"/>
              </a:rPr>
              <a:t>经过焙烧了的型壳便可浇注金属液体。为使型壳在浇注过程中不致因金属液体的压力作用而变形和破裂，浇注前应将型壳排放在砂箱中，周围用于砂填紧。</a:t>
            </a:r>
            <a:endParaRPr lang="zh-CN" altLang="en-US" sz="2400" b="1" dirty="0">
              <a:latin typeface="楷体_GB2312" pitchFamily="49" charset="-122"/>
              <a:ea typeface="楷体_GB2312" pitchFamily="49" charset="-122"/>
            </a:endParaRPr>
          </a:p>
        </p:txBody>
      </p:sp>
      <p:grpSp>
        <p:nvGrpSpPr>
          <p:cNvPr id="171012" name="Group 30"/>
          <p:cNvGrpSpPr/>
          <p:nvPr/>
        </p:nvGrpSpPr>
        <p:grpSpPr>
          <a:xfrm>
            <a:off x="4781550" y="2636838"/>
            <a:ext cx="4038600" cy="4090987"/>
            <a:chOff x="0" y="0"/>
            <a:chExt cx="2544" cy="2577"/>
          </a:xfrm>
        </p:grpSpPr>
        <p:pic>
          <p:nvPicPr>
            <p:cNvPr id="171014" name="Picture 20" descr="1306"/>
            <p:cNvPicPr>
              <a:picLocks noChangeAspect="1"/>
            </p:cNvPicPr>
            <p:nvPr/>
          </p:nvPicPr>
          <p:blipFill>
            <a:blip r:embed="rId1"/>
            <a:stretch>
              <a:fillRect/>
            </a:stretch>
          </p:blipFill>
          <p:spPr>
            <a:xfrm>
              <a:off x="0" y="0"/>
              <a:ext cx="2544" cy="2564"/>
            </a:xfrm>
            <a:prstGeom prst="rect">
              <a:avLst/>
            </a:prstGeom>
            <a:noFill/>
            <a:ln w="9525">
              <a:noFill/>
            </a:ln>
          </p:spPr>
        </p:pic>
        <p:sp>
          <p:nvSpPr>
            <p:cNvPr id="171015" name="Rectangle 18"/>
            <p:cNvSpPr/>
            <p:nvPr/>
          </p:nvSpPr>
          <p:spPr>
            <a:xfrm>
              <a:off x="639" y="2404"/>
              <a:ext cx="404" cy="173"/>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200" b="1" dirty="0">
                  <a:solidFill>
                    <a:srgbClr val="000000"/>
                  </a:solidFill>
                </a:rPr>
                <a:t>图</a:t>
              </a:r>
              <a:r>
                <a:rPr lang="en-US" altLang="zh-CN" sz="1200" b="1" dirty="0">
                  <a:solidFill>
                    <a:srgbClr val="000000"/>
                  </a:solidFill>
                  <a:latin typeface="宋体" panose="02010600030101010101" pitchFamily="2" charset="-122"/>
                </a:rPr>
                <a:t>2-43</a:t>
              </a:r>
              <a:endParaRPr lang="en-US" altLang="zh-CN" sz="1200" b="1" dirty="0">
                <a:solidFill>
                  <a:srgbClr val="000000"/>
                </a:solidFill>
              </a:endParaRPr>
            </a:p>
          </p:txBody>
        </p:sp>
      </p:grpSp>
      <p:pic>
        <p:nvPicPr>
          <p:cNvPr id="171013" name="Picture 25" descr="未命名5"/>
          <p:cNvPicPr>
            <a:picLocks noChangeAspect="1"/>
          </p:cNvPicPr>
          <p:nvPr/>
        </p:nvPicPr>
        <p:blipFill>
          <a:blip r:embed="rId2"/>
          <a:srcRect l="3101" r="23404" b="25693"/>
          <a:stretch>
            <a:fillRect/>
          </a:stretch>
        </p:blipFill>
        <p:spPr>
          <a:xfrm>
            <a:off x="5722938" y="449263"/>
            <a:ext cx="2952750" cy="23320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63">
                                            <p:txEl>
                                              <p:charRg st="0" end="15"/>
                                            </p:txEl>
                                          </p:spTgt>
                                        </p:tgtEl>
                                        <p:attrNameLst>
                                          <p:attrName>style.visibility</p:attrName>
                                        </p:attrNameLst>
                                      </p:cBhvr>
                                      <p:to>
                                        <p:strVal val="visible"/>
                                      </p:to>
                                    </p:set>
                                    <p:animEffect transition="in" filter="blinds(horizontal)">
                                      <p:cBhvr>
                                        <p:cTn id="7" dur="500"/>
                                        <p:tgtEl>
                                          <p:spTgt spid="143363">
                                            <p:txEl>
                                              <p:charRg st="0" end="1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3363">
                                            <p:txEl>
                                              <p:charRg st="15" end="76"/>
                                            </p:txEl>
                                          </p:spTgt>
                                        </p:tgtEl>
                                        <p:attrNameLst>
                                          <p:attrName>style.visibility</p:attrName>
                                        </p:attrNameLst>
                                      </p:cBhvr>
                                      <p:to>
                                        <p:strVal val="visible"/>
                                      </p:to>
                                    </p:set>
                                    <p:animEffect transition="in" filter="blinds(horizontal)">
                                      <p:cBhvr>
                                        <p:cTn id="12" dur="500"/>
                                        <p:tgtEl>
                                          <p:spTgt spid="143363">
                                            <p:txEl>
                                              <p:charRg st="15" end="7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3363">
                                            <p:txEl>
                                              <p:charRg st="77" end="146"/>
                                            </p:txEl>
                                          </p:spTgt>
                                        </p:tgtEl>
                                        <p:attrNameLst>
                                          <p:attrName>style.visibility</p:attrName>
                                        </p:attrNameLst>
                                      </p:cBhvr>
                                      <p:to>
                                        <p:strVal val="visible"/>
                                      </p:to>
                                    </p:set>
                                    <p:animEffect transition="in" filter="blinds(horizontal)">
                                      <p:cBhvr>
                                        <p:cTn id="17" dur="500"/>
                                        <p:tgtEl>
                                          <p:spTgt spid="143363">
                                            <p:txEl>
                                              <p:charRg st="77" end="1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Rectangle 2"/>
          <p:cNvSpPr>
            <a:spLocks noGrp="1"/>
          </p:cNvSpPr>
          <p:nvPr>
            <p:ph type="title"/>
          </p:nvPr>
        </p:nvSpPr>
        <p:spPr>
          <a:xfrm>
            <a:off x="1370013" y="301625"/>
            <a:ext cx="5000625" cy="1143000"/>
          </a:xfrm>
        </p:spPr>
        <p:txBody>
          <a:bodyPr vert="horz" wrap="square" lIns="91440" tIns="45720" rIns="91440" bIns="45720" anchor="b" anchorCtr="0"/>
          <a:p>
            <a:pPr algn="ctr" eaLnBrk="1" hangingPunct="1"/>
            <a:r>
              <a:rPr lang="en-US" altLang="zh-CN" sz="4000" b="1" dirty="0">
                <a:ea typeface="楷体_GB2312" pitchFamily="49" charset="-122"/>
              </a:rPr>
              <a:t>             </a:t>
            </a:r>
            <a:r>
              <a:rPr lang="zh-CN" altLang="en-US" sz="4000" b="1" dirty="0">
                <a:ea typeface="楷体_GB2312" pitchFamily="49" charset="-122"/>
              </a:rPr>
              <a:t>熔模铸造</a:t>
            </a:r>
            <a:endParaRPr lang="zh-CN" altLang="en-US" sz="4000" b="1" dirty="0">
              <a:ea typeface="楷体_GB2312" pitchFamily="49" charset="-122"/>
            </a:endParaRPr>
          </a:p>
        </p:txBody>
      </p:sp>
      <p:sp>
        <p:nvSpPr>
          <p:cNvPr id="144387" name="Rectangle 3"/>
          <p:cNvSpPr>
            <a:spLocks noGrp="1"/>
          </p:cNvSpPr>
          <p:nvPr>
            <p:ph type="body" sz="half"/>
          </p:nvPr>
        </p:nvSpPr>
        <p:spPr>
          <a:xfrm>
            <a:off x="395288" y="1557338"/>
            <a:ext cx="4321175" cy="4824412"/>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marL="476250" lvl="0" indent="-476250" eaLnBrk="1" hangingPunct="1"/>
            <a:r>
              <a:rPr lang="zh-CN" altLang="en-US" sz="2400" b="1" dirty="0">
                <a:solidFill>
                  <a:srgbClr val="FF0066"/>
                </a:solidFill>
                <a:latin typeface="楷体_GB2312" pitchFamily="49" charset="-122"/>
                <a:ea typeface="楷体_GB2312" pitchFamily="49" charset="-122"/>
              </a:rPr>
              <a:t>熔模铸造的工艺过程</a:t>
            </a:r>
            <a:r>
              <a:rPr lang="zh-CN" altLang="en-US" sz="2900" b="1" dirty="0">
                <a:latin typeface="楷体_GB2312" pitchFamily="49" charset="-122"/>
                <a:ea typeface="楷体_GB2312" pitchFamily="49" charset="-122"/>
              </a:rPr>
              <a:t>     </a:t>
            </a:r>
            <a:endParaRPr lang="zh-CN" altLang="en-US" sz="2900" b="1" dirty="0">
              <a:latin typeface="楷体_GB2312" pitchFamily="49" charset="-122"/>
              <a:ea typeface="楷体_GB2312" pitchFamily="49" charset="-122"/>
            </a:endParaRPr>
          </a:p>
          <a:p>
            <a:pPr marL="857250" lvl="1" indent="-400050" eaLnBrk="1" hangingPunct="1"/>
            <a:r>
              <a:rPr lang="en-US" altLang="zh-CN" sz="2000" b="1" dirty="0">
                <a:latin typeface="楷体_GB2312" pitchFamily="49" charset="-122"/>
                <a:ea typeface="楷体_GB2312" pitchFamily="49" charset="-122"/>
              </a:rPr>
              <a:t>1 </a:t>
            </a:r>
            <a:r>
              <a:rPr lang="zh-CN" altLang="en-US" sz="2000" b="1" dirty="0">
                <a:latin typeface="楷体_GB2312" pitchFamily="49" charset="-122"/>
                <a:ea typeface="楷体_GB2312" pitchFamily="49" charset="-122"/>
              </a:rPr>
              <a:t>蜡模制造</a:t>
            </a:r>
            <a:endParaRPr lang="zh-CN" altLang="en-US" sz="2000" b="1" dirty="0">
              <a:latin typeface="楷体_GB2312" pitchFamily="49" charset="-122"/>
              <a:ea typeface="楷体_GB2312" pitchFamily="49" charset="-122"/>
            </a:endParaRPr>
          </a:p>
          <a:p>
            <a:pPr marL="857250" lvl="1" indent="-400050" eaLnBrk="1" hangingPunct="1">
              <a:buNone/>
            </a:pPr>
            <a:r>
              <a:rPr lang="zh-CN" altLang="en-US" sz="2000" b="1" dirty="0">
                <a:latin typeface="楷体_GB2312" pitchFamily="49" charset="-122"/>
                <a:ea typeface="楷体_GB2312" pitchFamily="49" charset="-122"/>
              </a:rPr>
              <a:t>      蜡模制造是熔模铸造的重要过程，它不仅直接影响铸件的精度，且因每生产一个铸件就要消耗一个蜡模，所以对铸件成本也有相当的影响、蜡模制造步骤如下。</a:t>
            </a:r>
            <a:endParaRPr lang="zh-CN" altLang="en-US" sz="2000" b="1" dirty="0">
              <a:latin typeface="楷体_GB2312" pitchFamily="49" charset="-122"/>
              <a:ea typeface="楷体_GB2312" pitchFamily="49" charset="-122"/>
            </a:endParaRPr>
          </a:p>
          <a:p>
            <a:pPr marL="857250" lvl="1" indent="-400050" eaLnBrk="1" hangingPunct="1">
              <a:buClr>
                <a:srgbClr val="FF3300"/>
              </a:buClr>
              <a:buFont typeface="Wingdings" panose="05000000000000000000" pitchFamily="2" charset="2"/>
              <a:buAutoNum type="arabicPeriod"/>
            </a:pPr>
            <a:r>
              <a:rPr lang="zh-CN" altLang="en-US" sz="2000" b="1" dirty="0">
                <a:latin typeface="楷体_GB2312" pitchFamily="49" charset="-122"/>
                <a:ea typeface="楷体_GB2312" pitchFamily="49" charset="-122"/>
              </a:rPr>
              <a:t>蜡模制造（</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）制造压型（</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）压制蜡模（</a:t>
            </a: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）配蜡模组</a:t>
            </a:r>
            <a:endParaRPr lang="zh-CN" altLang="en-US" sz="2000" b="1" dirty="0">
              <a:latin typeface="楷体_GB2312" pitchFamily="49" charset="-122"/>
              <a:ea typeface="楷体_GB2312" pitchFamily="49" charset="-122"/>
            </a:endParaRPr>
          </a:p>
          <a:p>
            <a:pPr marL="857250" lvl="1" indent="-400050" eaLnBrk="1" hangingPunct="1">
              <a:buClr>
                <a:srgbClr val="FF3300"/>
              </a:buClr>
              <a:buFont typeface="Wingdings" panose="05000000000000000000" pitchFamily="2" charset="2"/>
              <a:buAutoNum type="arabicPeriod"/>
            </a:pPr>
            <a:r>
              <a:rPr lang="zh-CN" altLang="en-US" sz="2000" b="1" dirty="0">
                <a:latin typeface="楷体_GB2312" pitchFamily="49" charset="-122"/>
                <a:ea typeface="楷体_GB2312" pitchFamily="49" charset="-122"/>
              </a:rPr>
              <a:t>结壳</a:t>
            </a:r>
            <a:endParaRPr lang="zh-CN" altLang="en-US" sz="2000" b="1" dirty="0">
              <a:latin typeface="楷体_GB2312" pitchFamily="49" charset="-122"/>
              <a:ea typeface="楷体_GB2312" pitchFamily="49" charset="-122"/>
            </a:endParaRPr>
          </a:p>
          <a:p>
            <a:pPr marL="857250" lvl="1" indent="-400050" eaLnBrk="1" hangingPunct="1">
              <a:buClr>
                <a:srgbClr val="FF3300"/>
              </a:buClr>
              <a:buFont typeface="Wingdings" panose="05000000000000000000" pitchFamily="2" charset="2"/>
              <a:buAutoNum type="arabicPeriod"/>
            </a:pPr>
            <a:r>
              <a:rPr lang="zh-CN" altLang="en-US" sz="2000" b="1" dirty="0">
                <a:latin typeface="楷体_GB2312" pitchFamily="49" charset="-122"/>
                <a:ea typeface="楷体_GB2312" pitchFamily="49" charset="-122"/>
              </a:rPr>
              <a:t>脱蜡</a:t>
            </a:r>
            <a:endParaRPr lang="zh-CN" altLang="en-US" sz="2000" b="1" dirty="0">
              <a:latin typeface="楷体_GB2312" pitchFamily="49" charset="-122"/>
              <a:ea typeface="楷体_GB2312" pitchFamily="49" charset="-122"/>
            </a:endParaRPr>
          </a:p>
          <a:p>
            <a:pPr marL="857250" lvl="1" indent="-400050" eaLnBrk="1" hangingPunct="1">
              <a:buClr>
                <a:srgbClr val="FF3300"/>
              </a:buClr>
              <a:buFont typeface="Wingdings" panose="05000000000000000000" pitchFamily="2" charset="2"/>
              <a:buAutoNum type="arabicPeriod"/>
            </a:pPr>
            <a:r>
              <a:rPr lang="zh-CN" altLang="en-US" sz="2000" b="1" dirty="0">
                <a:latin typeface="楷体_GB2312" pitchFamily="49" charset="-122"/>
                <a:ea typeface="楷体_GB2312" pitchFamily="49" charset="-122"/>
              </a:rPr>
              <a:t>熔化和浇注</a:t>
            </a:r>
            <a:endParaRPr lang="zh-CN" altLang="en-US" sz="2000" b="1" dirty="0">
              <a:latin typeface="楷体_GB2312" pitchFamily="49" charset="-122"/>
              <a:ea typeface="楷体_GB2312" pitchFamily="49" charset="-122"/>
            </a:endParaRPr>
          </a:p>
        </p:txBody>
      </p:sp>
      <p:pic>
        <p:nvPicPr>
          <p:cNvPr id="172036" name="Picture 5" descr="图片1"/>
          <p:cNvPicPr>
            <a:picLocks noChangeAspect="1"/>
          </p:cNvPicPr>
          <p:nvPr/>
        </p:nvPicPr>
        <p:blipFill>
          <a:blip r:embed="rId1"/>
          <a:stretch>
            <a:fillRect/>
          </a:stretch>
        </p:blipFill>
        <p:spPr>
          <a:xfrm>
            <a:off x="4645025" y="2133600"/>
            <a:ext cx="4319588" cy="35893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4387">
                                            <p:txEl>
                                              <p:charRg st="0" end="15"/>
                                            </p:txEl>
                                          </p:spTgt>
                                        </p:tgtEl>
                                        <p:attrNameLst>
                                          <p:attrName>style.visibility</p:attrName>
                                        </p:attrNameLst>
                                      </p:cBhvr>
                                      <p:to>
                                        <p:strVal val="visible"/>
                                      </p:to>
                                    </p:set>
                                    <p:animEffect transition="in" filter="blinds(horizontal)">
                                      <p:cBhvr>
                                        <p:cTn id="7" dur="500"/>
                                        <p:tgtEl>
                                          <p:spTgt spid="144387">
                                            <p:txEl>
                                              <p:charRg st="0"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11"/>
          <p:cNvSpPr>
            <a:spLocks noChangeArrowheads="1"/>
          </p:cNvSpPr>
          <p:nvPr/>
        </p:nvSpPr>
        <p:spPr bwMode="auto">
          <a:xfrm>
            <a:off x="3419475" y="639763"/>
            <a:ext cx="2222500" cy="70167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特种铸造</a:t>
            </a:r>
            <a:endPar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
        <p:nvSpPr>
          <p:cNvPr id="173059" name="Rectangle 13"/>
          <p:cNvSpPr/>
          <p:nvPr/>
        </p:nvSpPr>
        <p:spPr>
          <a:xfrm>
            <a:off x="468313" y="1728788"/>
            <a:ext cx="8388350" cy="4724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2400" b="1" dirty="0">
                <a:solidFill>
                  <a:srgbClr val="FF0000"/>
                </a:solidFill>
                <a:latin typeface="楷体_GB2312" pitchFamily="49" charset="-122"/>
                <a:ea typeface="楷体_GB2312" pitchFamily="49" charset="-122"/>
              </a:rPr>
              <a:t>熔模铸造具有以下特点：</a:t>
            </a:r>
            <a:endParaRPr lang="zh-CN" altLang="en-US" sz="2400" b="1" dirty="0">
              <a:solidFill>
                <a:srgbClr val="FF0000"/>
              </a:solidFill>
              <a:latin typeface="楷体_GB2312" pitchFamily="49" charset="-122"/>
              <a:ea typeface="楷体_GB2312" pitchFamily="49" charset="-122"/>
            </a:endParaRPr>
          </a:p>
          <a:p>
            <a:pPr marL="0" lvl="0" indent="0" eaLnBrk="1" hangingPunct="1">
              <a:spcBef>
                <a:spcPct val="0"/>
              </a:spcBef>
              <a:buClrTx/>
              <a:buSzTx/>
              <a:buNone/>
            </a:pPr>
            <a:r>
              <a:rPr lang="zh-CN" altLang="en-US" sz="2000" b="1" dirty="0">
                <a:latin typeface="楷体_GB2312" pitchFamily="49" charset="-122"/>
                <a:ea typeface="楷体_GB2312" pitchFamily="49" charset="-122"/>
              </a:rPr>
              <a:t>    </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铸型无分型面，不需拔模斜度，也不必另装型芯，型腔光滑，所以铸件精度高，表面粗糙度低，是重要的少无切削加工的方法。</a:t>
            </a: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r>
              <a:rPr lang="zh-CN" altLang="en-US" sz="2000" b="1" dirty="0">
                <a:latin typeface="楷体_GB2312" pitchFamily="49" charset="-122"/>
                <a:ea typeface="楷体_GB2312" pitchFamily="49" charset="-122"/>
              </a:rPr>
              <a:t>    </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由于液体金属是铸型处于高温下浇注，提高了液体金属的流动性，可铸出轮廓清晰的铸件。</a:t>
            </a: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r>
              <a:rPr lang="zh-CN" altLang="en-US" sz="2000" b="1" dirty="0">
                <a:latin typeface="楷体_GB2312" pitchFamily="49" charset="-122"/>
                <a:ea typeface="楷体_GB2312" pitchFamily="49" charset="-122"/>
              </a:rPr>
              <a:t>    </a:t>
            </a: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型壳经过硬化、焙烧后发气性小，透气性、退让性和出砂性较好，铸件废品率低。</a:t>
            </a: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r>
              <a:rPr lang="zh-CN" altLang="en-US" sz="2000" b="1" dirty="0">
                <a:latin typeface="楷体_GB2312" pitchFamily="49" charset="-122"/>
                <a:ea typeface="楷体_GB2312" pitchFamily="49" charset="-122"/>
              </a:rPr>
              <a:t>    </a:t>
            </a: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可铸造各种合金铸件，包括铝铜等有色金属、各种合金钢及熔点高难加工的特种合金等，对于耐热合金的复杂铸件几乎是唯一的生产方法。</a:t>
            </a: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r>
              <a:rPr lang="zh-CN" altLang="en-US" sz="2000" b="1" dirty="0">
                <a:solidFill>
                  <a:srgbClr val="FF0066"/>
                </a:solidFill>
                <a:latin typeface="楷体_GB2312" pitchFamily="49" charset="-122"/>
                <a:ea typeface="楷体_GB2312" pitchFamily="49" charset="-122"/>
              </a:rPr>
              <a:t>    缺点</a:t>
            </a:r>
            <a:r>
              <a:rPr lang="en-US" altLang="zh-CN" sz="2000" b="1" dirty="0">
                <a:solidFill>
                  <a:srgbClr val="FF0066"/>
                </a:solidFill>
                <a:latin typeface="楷体_GB2312" pitchFamily="49" charset="-122"/>
                <a:ea typeface="楷体_GB2312" pitchFamily="49" charset="-122"/>
              </a:rPr>
              <a:t>:</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熔模铸造工艺复杂，生产周期长，工艺控制要求严格，所用材料价格昂贵，设备造价高，且铸件不宜过大等。</a:t>
            </a:r>
            <a:endParaRPr lang="zh-CN" altLang="en-US" sz="2000" b="1" dirty="0">
              <a:latin typeface="楷体_GB2312" pitchFamily="49" charset="-122"/>
              <a:ea typeface="楷体_GB2312" pitchFamily="49" charset="-122"/>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Rectangle 2"/>
          <p:cNvSpPr>
            <a:spLocks noGrp="1"/>
          </p:cNvSpPr>
          <p:nvPr>
            <p:ph type="title"/>
          </p:nvPr>
        </p:nvSpPr>
        <p:spPr>
          <a:xfrm>
            <a:off x="1370013" y="620713"/>
            <a:ext cx="7313612" cy="823912"/>
          </a:xfrm>
        </p:spPr>
        <p:txBody>
          <a:bodyPr vert="horz" wrap="square" lIns="91440" tIns="45720" rIns="91440" bIns="45720" anchor="b" anchorCtr="0"/>
          <a:p>
            <a:pPr algn="ctr" eaLnBrk="1" hangingPunct="1"/>
            <a:r>
              <a:rPr lang="zh-CN" altLang="zh-CN" sz="4000" b="1" dirty="0">
                <a:ea typeface="楷体_GB2312" pitchFamily="49" charset="-122"/>
              </a:rPr>
              <a:t>金属型铸造</a:t>
            </a:r>
            <a:endParaRPr lang="zh-CN" altLang="zh-CN" sz="4000" b="1" dirty="0">
              <a:ea typeface="楷体_GB2312" pitchFamily="49" charset="-122"/>
            </a:endParaRPr>
          </a:p>
        </p:txBody>
      </p:sp>
      <p:sp>
        <p:nvSpPr>
          <p:cNvPr id="146435" name="Rectangle 3"/>
          <p:cNvSpPr>
            <a:spLocks noGrp="1"/>
          </p:cNvSpPr>
          <p:nvPr>
            <p:ph type="body" sz="half"/>
          </p:nvPr>
        </p:nvSpPr>
        <p:spPr>
          <a:xfrm>
            <a:off x="673100" y="1671638"/>
            <a:ext cx="4043363" cy="3702050"/>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buFont typeface="Wingdings" panose="05000000000000000000" pitchFamily="2" charset="2"/>
              <a:buChar char="Ø"/>
            </a:pPr>
            <a:r>
              <a:rPr lang="zh-CN" altLang="en-US" sz="2000" b="1" dirty="0">
                <a:solidFill>
                  <a:srgbClr val="FF0000"/>
                </a:solidFill>
                <a:latin typeface="楷体_GB2312" pitchFamily="49" charset="-122"/>
                <a:ea typeface="楷体_GB2312" pitchFamily="49" charset="-122"/>
              </a:rPr>
              <a:t>金属型铸造</a:t>
            </a:r>
            <a:r>
              <a:rPr lang="zh-CN" altLang="en-US" sz="2000" b="1" dirty="0">
                <a:latin typeface="楷体_GB2312" pitchFamily="49" charset="-122"/>
                <a:ea typeface="楷体_GB2312" pitchFamily="49" charset="-122"/>
              </a:rPr>
              <a:t>  将液体金属烧入到用金属材料制成的铸型中，以获得铸件的方法，称为金属型铸造。</a:t>
            </a:r>
            <a:endParaRPr lang="zh-CN" altLang="en-US" sz="2000" b="1" dirty="0">
              <a:latin typeface="楷体_GB2312" pitchFamily="49" charset="-122"/>
              <a:ea typeface="楷体_GB2312" pitchFamily="49" charset="-122"/>
            </a:endParaRPr>
          </a:p>
          <a:p>
            <a:pPr lvl="0" eaLnBrk="1" hangingPunct="1">
              <a:spcBef>
                <a:spcPct val="0"/>
              </a:spcBef>
              <a:buClrTx/>
              <a:buSzTx/>
              <a:buFont typeface="Wingdings" panose="05000000000000000000" pitchFamily="2" charset="2"/>
              <a:buChar char="Ø"/>
            </a:pPr>
            <a:r>
              <a:rPr lang="zh-CN" altLang="en-US" sz="2000" b="1" dirty="0">
                <a:solidFill>
                  <a:srgbClr val="FF0000"/>
                </a:solidFill>
                <a:latin typeface="楷体_GB2312" pitchFamily="49" charset="-122"/>
                <a:ea typeface="楷体_GB2312" pitchFamily="49" charset="-122"/>
              </a:rPr>
              <a:t>金属材料导热速度快、</a:t>
            </a:r>
            <a:r>
              <a:rPr lang="zh-CN" altLang="en-US" sz="2000" b="1" dirty="0">
                <a:latin typeface="楷体_GB2312" pitchFamily="49" charset="-122"/>
                <a:ea typeface="楷体_GB2312" pitchFamily="49" charset="-122"/>
              </a:rPr>
              <a:t>无退让性，无透气性，耐火性比型砂差等，易产生浇不足、冷隔、裂纹及白口等缺陷。由于金属型反复受灼热金属液的冲刷，寿命会降低，应采用相应的工艺措施。</a:t>
            </a:r>
            <a:endParaRPr lang="zh-CN" altLang="en-US" sz="2000" b="1" dirty="0">
              <a:latin typeface="楷体_GB2312" pitchFamily="49" charset="-122"/>
              <a:ea typeface="楷体_GB2312" pitchFamily="49" charset="-122"/>
            </a:endParaRPr>
          </a:p>
          <a:p>
            <a:pPr lvl="0" eaLnBrk="1" hangingPunct="1">
              <a:buFont typeface="Wingdings" panose="05000000000000000000" pitchFamily="2" charset="2"/>
              <a:buChar char="¡"/>
            </a:pPr>
            <a:endParaRPr lang="en-US" altLang="zh-CN" sz="2000" b="1" dirty="0">
              <a:latin typeface="楷体_GB2312" pitchFamily="49" charset="-122"/>
              <a:ea typeface="楷体_GB2312" pitchFamily="49" charset="-122"/>
            </a:endParaRPr>
          </a:p>
        </p:txBody>
      </p:sp>
      <p:grpSp>
        <p:nvGrpSpPr>
          <p:cNvPr id="174084" name="Group 19"/>
          <p:cNvGrpSpPr/>
          <p:nvPr/>
        </p:nvGrpSpPr>
        <p:grpSpPr>
          <a:xfrm>
            <a:off x="4800600" y="1693863"/>
            <a:ext cx="3640138" cy="4173537"/>
            <a:chOff x="0" y="0"/>
            <a:chExt cx="2293" cy="2629"/>
          </a:xfrm>
        </p:grpSpPr>
        <p:pic>
          <p:nvPicPr>
            <p:cNvPr id="174086" name="Picture 14" descr="金属型铸造">
              <a:hlinkClick r:id="rId1" action="ppaction://hlinkfile"/>
            </p:cNvPr>
            <p:cNvPicPr>
              <a:picLocks noChangeAspect="1"/>
            </p:cNvPicPr>
            <p:nvPr/>
          </p:nvPicPr>
          <p:blipFill>
            <a:blip r:embed="rId2">
              <a:lum bright="-6000" contrast="18000"/>
            </a:blip>
            <a:srcRect l="6451" t="11325" r="18288" b="10655"/>
            <a:stretch>
              <a:fillRect/>
            </a:stretch>
          </p:blipFill>
          <p:spPr>
            <a:xfrm>
              <a:off x="0" y="0"/>
              <a:ext cx="2293" cy="2376"/>
            </a:xfrm>
            <a:prstGeom prst="rect">
              <a:avLst/>
            </a:prstGeom>
            <a:noFill/>
            <a:ln w="9525">
              <a:noFill/>
            </a:ln>
          </p:spPr>
        </p:pic>
        <p:sp>
          <p:nvSpPr>
            <p:cNvPr id="174087" name="Text Box 15"/>
            <p:cNvSpPr txBox="1"/>
            <p:nvPr/>
          </p:nvSpPr>
          <p:spPr>
            <a:xfrm>
              <a:off x="624" y="2448"/>
              <a:ext cx="1296" cy="181"/>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400" b="1" dirty="0">
                  <a:latin typeface="Times New Roman" panose="02020603050405020304" pitchFamily="18" charset="0"/>
                </a:rPr>
                <a:t>图</a:t>
              </a:r>
              <a:r>
                <a:rPr lang="en-US" altLang="zh-CN" sz="1400" b="1" dirty="0">
                  <a:latin typeface="Times New Roman" panose="02020603050405020304" pitchFamily="18" charset="0"/>
                </a:rPr>
                <a:t>2-44 </a:t>
              </a:r>
              <a:r>
                <a:rPr lang="zh-CN" altLang="en-US" sz="1400" b="1" dirty="0">
                  <a:latin typeface="Times New Roman" panose="02020603050405020304" pitchFamily="18" charset="0"/>
                </a:rPr>
                <a:t>铸造铝活塞简图</a:t>
              </a:r>
              <a:r>
                <a:rPr lang="zh-CN" altLang="en-US" sz="900" b="1" dirty="0">
                  <a:latin typeface="Times New Roman" panose="02020603050405020304" pitchFamily="18" charset="0"/>
                </a:rPr>
                <a:t>	</a:t>
              </a:r>
              <a:endParaRPr lang="zh-CN" altLang="en-US" sz="1000" b="1" dirty="0">
                <a:latin typeface="Times New Roman" panose="02020603050405020304" pitchFamily="18" charset="0"/>
              </a:endParaRPr>
            </a:p>
            <a:p>
              <a:pPr marL="0" lvl="0" indent="0" eaLnBrk="1" hangingPunct="1">
                <a:spcBef>
                  <a:spcPct val="0"/>
                </a:spcBef>
                <a:buClrTx/>
                <a:buSzTx/>
                <a:buNone/>
              </a:pPr>
              <a:endParaRPr lang="en-US" altLang="zh-CN" sz="1800" b="1" dirty="0"/>
            </a:p>
          </p:txBody>
        </p:sp>
      </p:grpSp>
      <p:sp>
        <p:nvSpPr>
          <p:cNvPr id="146439" name="Rectangle 16"/>
          <p:cNvSpPr/>
          <p:nvPr/>
        </p:nvSpPr>
        <p:spPr>
          <a:xfrm>
            <a:off x="755650" y="5475288"/>
            <a:ext cx="4387850" cy="396875"/>
          </a:xfrm>
          <a:prstGeom prst="rect">
            <a:avLst/>
          </a:prstGeom>
          <a:solidFill>
            <a:srgbClr val="FFCCFF"/>
          </a:solidFill>
          <a:ln w="9525">
            <a:noFill/>
          </a:ln>
        </p:spPr>
        <p:txBody>
          <a:bodyPr wrap="none"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zh-CN" sz="2000" b="1" dirty="0">
                <a:latin typeface="楷体_GB2312" pitchFamily="49" charset="-122"/>
                <a:ea typeface="楷体_GB2312" pitchFamily="49" charset="-122"/>
              </a:rPr>
              <a:t>喷刷涂料：导热能力较强的耐火材料</a:t>
            </a:r>
            <a:r>
              <a:rPr lang="zh-CN" altLang="zh-CN" sz="1800" dirty="0">
                <a:latin typeface="楷体_GB2312" pitchFamily="49" charset="-122"/>
                <a:ea typeface="楷体_GB2312" pitchFamily="49" charset="-122"/>
              </a:rPr>
              <a:t> </a:t>
            </a:r>
            <a:endParaRPr lang="zh-CN" altLang="zh-CN" sz="1800"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6435"/>
                                        </p:tgtEl>
                                        <p:attrNameLst>
                                          <p:attrName>style.visibility</p:attrName>
                                        </p:attrNameLst>
                                      </p:cBhvr>
                                      <p:to>
                                        <p:strVal val="visible"/>
                                      </p:to>
                                    </p:set>
                                    <p:animEffect transition="in" filter="blinds(horizontal)">
                                      <p:cBhvr>
                                        <p:cTn id="7" dur="500"/>
                                        <p:tgtEl>
                                          <p:spTgt spid="1464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6439"/>
                                        </p:tgtEl>
                                        <p:attrNameLst>
                                          <p:attrName>style.visibility</p:attrName>
                                        </p:attrNameLst>
                                      </p:cBhvr>
                                      <p:to>
                                        <p:strVal val="visible"/>
                                      </p:to>
                                    </p:set>
                                    <p:animEffect transition="in" filter="blinds(horizontal)">
                                      <p:cBhvr>
                                        <p:cTn id="12" dur="500"/>
                                        <p:tgtEl>
                                          <p:spTgt spid="146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p:bldP spid="146439" grpId="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Text Box 2"/>
          <p:cNvSpPr txBox="1"/>
          <p:nvPr/>
        </p:nvSpPr>
        <p:spPr>
          <a:xfrm>
            <a:off x="2362200" y="5867400"/>
            <a:ext cx="47244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50000"/>
              </a:spcBef>
              <a:buClrTx/>
              <a:buSzTx/>
              <a:buNone/>
            </a:pPr>
            <a:endParaRPr lang="zh-CN" altLang="zh-CN" sz="2000" dirty="0">
              <a:latin typeface="Times New Roman" panose="02020603050405020304" pitchFamily="18" charset="0"/>
            </a:endParaRPr>
          </a:p>
        </p:txBody>
      </p:sp>
      <p:sp>
        <p:nvSpPr>
          <p:cNvPr id="175107" name="Rectangle 3"/>
          <p:cNvSpPr>
            <a:spLocks noGrp="1"/>
          </p:cNvSpPr>
          <p:nvPr>
            <p:ph type="title"/>
          </p:nvPr>
        </p:nvSpPr>
        <p:spPr>
          <a:xfrm>
            <a:off x="1066800" y="825500"/>
            <a:ext cx="6781800" cy="587375"/>
          </a:xfrm>
        </p:spPr>
        <p:txBody>
          <a:bodyPr vert="horz" wrap="square" lIns="91440" tIns="45720" rIns="91440" bIns="45720" anchor="b" anchorCtr="0"/>
          <a:p>
            <a:pPr algn="ctr" eaLnBrk="1" hangingPunct="1"/>
            <a:r>
              <a:rPr lang="zh-CN" altLang="zh-CN" sz="4000" b="1" dirty="0">
                <a:ea typeface="楷体_GB2312" pitchFamily="49" charset="-122"/>
              </a:rPr>
              <a:t>金属型铸造</a:t>
            </a:r>
            <a:endParaRPr lang="zh-CN" altLang="zh-CN" sz="4000" b="1" dirty="0">
              <a:ea typeface="楷体_GB2312" pitchFamily="49" charset="-122"/>
            </a:endParaRPr>
          </a:p>
        </p:txBody>
      </p:sp>
      <p:pic>
        <p:nvPicPr>
          <p:cNvPr id="175108" name="Picture 4"/>
          <p:cNvPicPr>
            <a:picLocks noChangeAspect="1"/>
          </p:cNvPicPr>
          <p:nvPr/>
        </p:nvPicPr>
        <p:blipFill>
          <a:blip r:embed="rId1"/>
          <a:stretch>
            <a:fillRect/>
          </a:stretch>
        </p:blipFill>
        <p:spPr>
          <a:xfrm>
            <a:off x="5148263" y="2997200"/>
            <a:ext cx="3221037" cy="3644900"/>
          </a:xfrm>
          <a:prstGeom prst="rect">
            <a:avLst/>
          </a:prstGeom>
          <a:noFill/>
          <a:ln w="9525">
            <a:noFill/>
          </a:ln>
        </p:spPr>
      </p:pic>
      <p:pic>
        <p:nvPicPr>
          <p:cNvPr id="175109" name="Picture 5"/>
          <p:cNvPicPr>
            <a:picLocks noChangeAspect="1"/>
          </p:cNvPicPr>
          <p:nvPr/>
        </p:nvPicPr>
        <p:blipFill>
          <a:blip r:embed="rId2"/>
          <a:srcRect r="996"/>
          <a:stretch>
            <a:fillRect/>
          </a:stretch>
        </p:blipFill>
        <p:spPr>
          <a:xfrm>
            <a:off x="828675" y="2628900"/>
            <a:ext cx="4103688" cy="2960688"/>
          </a:xfrm>
          <a:prstGeom prst="rect">
            <a:avLst/>
          </a:prstGeom>
          <a:noFill/>
          <a:ln w="9525">
            <a:noFill/>
          </a:ln>
        </p:spPr>
      </p:pic>
      <p:sp>
        <p:nvSpPr>
          <p:cNvPr id="175110" name="Rectangle 6"/>
          <p:cNvSpPr/>
          <p:nvPr/>
        </p:nvSpPr>
        <p:spPr>
          <a:xfrm>
            <a:off x="1187450" y="1700213"/>
            <a:ext cx="69850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2000" b="1" dirty="0">
                <a:ea typeface="楷体_GB2312" pitchFamily="49" charset="-122"/>
              </a:rPr>
              <a:t>     </a:t>
            </a:r>
            <a:r>
              <a:rPr lang="zh-CN" altLang="en-US" sz="2000" b="1" dirty="0">
                <a:ea typeface="楷体_GB2312" pitchFamily="49" charset="-122"/>
              </a:rPr>
              <a:t>金属型铸造主要用于</a:t>
            </a:r>
            <a:r>
              <a:rPr lang="zh-CN" altLang="en-US" sz="2000" b="1" dirty="0">
                <a:solidFill>
                  <a:srgbClr val="A50021"/>
                </a:solidFill>
                <a:ea typeface="楷体_GB2312" pitchFamily="49" charset="-122"/>
              </a:rPr>
              <a:t>铜、铝、镁等有色金属</a:t>
            </a:r>
            <a:r>
              <a:rPr lang="zh-CN" altLang="en-US" sz="2000" b="1" dirty="0">
                <a:ea typeface="楷体_GB2312" pitchFamily="49" charset="-122"/>
              </a:rPr>
              <a:t>铸件的大批量生产。如内燃机活塞、汽缸盖、油泵壳体、轴瓦、轴套等。</a:t>
            </a:r>
            <a:endParaRPr lang="zh-CN" altLang="en-US" sz="2000" b="1" dirty="0">
              <a:ea typeface="楷体_GB2312" pitchFamily="49" charset="-122"/>
            </a:endParaRPr>
          </a:p>
        </p:txBody>
      </p:sp>
      <p:sp>
        <p:nvSpPr>
          <p:cNvPr id="175111" name="Rectangle 7"/>
          <p:cNvSpPr/>
          <p:nvPr/>
        </p:nvSpPr>
        <p:spPr>
          <a:xfrm>
            <a:off x="107950" y="5826125"/>
            <a:ext cx="4968875" cy="9159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800" b="1" i="1" dirty="0">
                <a:solidFill>
                  <a:srgbClr val="FF3300"/>
                </a:solidFill>
                <a:latin typeface="楷体_GB2312" pitchFamily="49" charset="-122"/>
                <a:ea typeface="楷体_GB2312" pitchFamily="49" charset="-122"/>
              </a:rPr>
              <a:t>优点</a:t>
            </a:r>
            <a:r>
              <a:rPr lang="zh-CN" altLang="en-US" sz="1800" b="1" dirty="0">
                <a:solidFill>
                  <a:srgbClr val="FF3300"/>
                </a:solidFill>
                <a:latin typeface="楷体_GB2312" pitchFamily="49" charset="-122"/>
                <a:ea typeface="楷体_GB2312" pitchFamily="49" charset="-122"/>
              </a:rPr>
              <a:t>：</a:t>
            </a:r>
            <a:r>
              <a:rPr lang="zh-CN" altLang="en-US" sz="1800" b="1" dirty="0">
                <a:latin typeface="楷体_GB2312" pitchFamily="49" charset="-122"/>
                <a:ea typeface="楷体_GB2312" pitchFamily="49" charset="-122"/>
              </a:rPr>
              <a:t>①一型多铸，生产效率高</a:t>
            </a:r>
            <a:endParaRPr lang="zh-CN" altLang="en-US" sz="1800" b="1" dirty="0">
              <a:latin typeface="楷体_GB2312" pitchFamily="49" charset="-122"/>
              <a:ea typeface="楷体_GB2312" pitchFamily="49" charset="-122"/>
            </a:endParaRPr>
          </a:p>
          <a:p>
            <a:pPr marL="457200" lvl="1" indent="0" eaLnBrk="1" hangingPunct="1">
              <a:spcBef>
                <a:spcPct val="0"/>
              </a:spcBef>
              <a:buClrTx/>
              <a:buSzTx/>
              <a:buNone/>
            </a:pPr>
            <a:r>
              <a:rPr lang="zh-CN" altLang="en-US" sz="1800" b="1" dirty="0">
                <a:latin typeface="楷体_GB2312" pitchFamily="49" charset="-122"/>
                <a:ea typeface="楷体_GB2312" pitchFamily="49" charset="-122"/>
              </a:rPr>
              <a:t>  ②铸件尺寸精度高，表面质量好 </a:t>
            </a:r>
            <a:endParaRPr lang="zh-CN" altLang="en-US" sz="1800" b="1" dirty="0">
              <a:latin typeface="楷体_GB2312" pitchFamily="49" charset="-122"/>
              <a:ea typeface="楷体_GB2312" pitchFamily="49" charset="-122"/>
            </a:endParaRPr>
          </a:p>
          <a:p>
            <a:pPr marL="457200" lvl="1" indent="0" eaLnBrk="1" hangingPunct="1">
              <a:spcBef>
                <a:spcPct val="0"/>
              </a:spcBef>
              <a:buClrTx/>
              <a:buSzTx/>
              <a:buNone/>
            </a:pPr>
            <a:r>
              <a:rPr lang="zh-CN" altLang="en-US" sz="1800" b="1" dirty="0">
                <a:latin typeface="楷体_GB2312" pitchFamily="49" charset="-122"/>
                <a:ea typeface="楷体_GB2312" pitchFamily="49" charset="-122"/>
              </a:rPr>
              <a:t>  ③铸件冷却快，组织致密，机械性能好</a:t>
            </a:r>
            <a:endParaRPr lang="zh-CN" altLang="en-US" sz="1800" b="1" dirty="0">
              <a:latin typeface="楷体_GB2312" pitchFamily="49" charset="-122"/>
              <a:ea typeface="楷体_GB2312" pitchFamily="49" charset="-122"/>
            </a:endParaRP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ontrols>
      <mc:AlternateContent xmlns:mc="http://schemas.openxmlformats.org/markup-compatibility/2006">
        <mc:Choice xmlns:v="urn:schemas-microsoft-com:vml" Requires="v">
          <p:control spid="176130" name="" r:id="rId1" imgW="4032250" imgH="3960812"/>
        </mc:Choice>
        <mc:Fallback>
          <p:control name="" r:id="rId1" imgW="4032250" imgH="3960812">
            <p:pic>
              <p:nvPicPr>
                <p:cNvPr id="0" name="Host Control  176129"/>
                <p:cNvPicPr/>
                <p:nvPr/>
              </p:nvPicPr>
              <p:blipFill>
                <a:blip r:embed="rId2"/>
                <a:stretch>
                  <a:fillRect/>
                </a:stretch>
              </p:blipFill>
              <p:spPr>
                <a:xfrm>
                  <a:off x="2555875" y="1989138"/>
                  <a:ext cx="4032250" cy="3960812"/>
                </a:xfrm>
                <a:prstGeom prst="rect">
                  <a:avLst/>
                </a:prstGeom>
              </p:spPr>
            </p:pic>
          </p:control>
        </mc:Fallback>
      </mc:AlternateContent>
    </p:controls>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Rectangle 4"/>
          <p:cNvSpPr/>
          <p:nvPr/>
        </p:nvSpPr>
        <p:spPr>
          <a:xfrm>
            <a:off x="2284413" y="968375"/>
            <a:ext cx="265112"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en-US" altLang="zh-CN" sz="1800" dirty="0"/>
              <a:t> </a:t>
            </a:r>
            <a:endParaRPr lang="en-US" altLang="zh-CN" sz="1800" dirty="0"/>
          </a:p>
        </p:txBody>
      </p:sp>
      <p:sp>
        <p:nvSpPr>
          <p:cNvPr id="148483" name="Rectangle 8"/>
          <p:cNvSpPr>
            <a:spLocks noChangeArrowheads="1"/>
          </p:cNvSpPr>
          <p:nvPr/>
        </p:nvSpPr>
        <p:spPr bwMode="auto">
          <a:xfrm>
            <a:off x="3203575" y="711200"/>
            <a:ext cx="2222500" cy="70167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压力铸造</a:t>
            </a:r>
            <a:endPar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grpSp>
        <p:nvGrpSpPr>
          <p:cNvPr id="177156" name="Group 9"/>
          <p:cNvGrpSpPr/>
          <p:nvPr/>
        </p:nvGrpSpPr>
        <p:grpSpPr>
          <a:xfrm>
            <a:off x="5580063" y="2276475"/>
            <a:ext cx="3744912" cy="4221163"/>
            <a:chOff x="0" y="0"/>
            <a:chExt cx="3060" cy="2805"/>
          </a:xfrm>
        </p:grpSpPr>
        <p:pic>
          <p:nvPicPr>
            <p:cNvPr id="177159" name="Picture 10" descr="1"/>
            <p:cNvPicPr>
              <a:picLocks noChangeAspect="1"/>
            </p:cNvPicPr>
            <p:nvPr/>
          </p:nvPicPr>
          <p:blipFill>
            <a:blip r:embed="rId1"/>
            <a:srcRect l="15173" t="12311" r="12643" b="10609"/>
            <a:stretch>
              <a:fillRect/>
            </a:stretch>
          </p:blipFill>
          <p:spPr>
            <a:xfrm>
              <a:off x="0" y="0"/>
              <a:ext cx="2520" cy="1955"/>
            </a:xfrm>
            <a:prstGeom prst="rect">
              <a:avLst/>
            </a:prstGeom>
            <a:noFill/>
            <a:ln w="9525">
              <a:noFill/>
            </a:ln>
          </p:spPr>
        </p:pic>
        <p:sp>
          <p:nvSpPr>
            <p:cNvPr id="177160" name="Text Box 11"/>
            <p:cNvSpPr txBox="1"/>
            <p:nvPr/>
          </p:nvSpPr>
          <p:spPr>
            <a:xfrm>
              <a:off x="360" y="2184"/>
              <a:ext cx="2700" cy="621"/>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600" b="1" dirty="0">
                  <a:latin typeface="Times New Roman" panose="02020603050405020304" pitchFamily="18" charset="0"/>
                </a:rPr>
                <a:t>图 </a:t>
              </a:r>
              <a:r>
                <a:rPr lang="en-US" altLang="zh-CN" sz="1600" b="1" dirty="0">
                  <a:latin typeface="Times New Roman" panose="02020603050405020304" pitchFamily="18" charset="0"/>
                </a:rPr>
                <a:t>2-45 </a:t>
              </a:r>
              <a:r>
                <a:rPr lang="zh-CN" altLang="en-US" sz="1600" b="1" dirty="0">
                  <a:latin typeface="Times New Roman" panose="02020603050405020304" pitchFamily="18" charset="0"/>
                </a:rPr>
                <a:t>冷室式压铸机</a:t>
              </a:r>
              <a:r>
                <a:rPr lang="zh-CN" altLang="en-US" sz="900" dirty="0">
                  <a:latin typeface="Times New Roman" panose="02020603050405020304" pitchFamily="18" charset="0"/>
                </a:rPr>
                <a:t>	</a:t>
              </a:r>
              <a:endParaRPr lang="zh-CN" altLang="en-US" sz="1000" dirty="0">
                <a:latin typeface="Times New Roman" panose="02020603050405020304" pitchFamily="18" charset="0"/>
              </a:endParaRPr>
            </a:p>
            <a:p>
              <a:pPr marL="0" lvl="0" indent="0" eaLnBrk="1" hangingPunct="1">
                <a:spcBef>
                  <a:spcPct val="0"/>
                </a:spcBef>
                <a:buClrTx/>
                <a:buSzTx/>
                <a:buNone/>
              </a:pPr>
              <a:endParaRPr lang="en-US" altLang="zh-CN" sz="1800" dirty="0"/>
            </a:p>
          </p:txBody>
        </p:sp>
      </p:grpSp>
      <p:sp>
        <p:nvSpPr>
          <p:cNvPr id="148487" name="Rectangle 12"/>
          <p:cNvSpPr/>
          <p:nvPr/>
        </p:nvSpPr>
        <p:spPr>
          <a:xfrm>
            <a:off x="611188" y="3357563"/>
            <a:ext cx="4608512" cy="28956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gn="ctr" eaLnBrk="1" hangingPunct="1">
              <a:spcBef>
                <a:spcPct val="0"/>
              </a:spcBef>
              <a:buClrTx/>
              <a:buSzTx/>
              <a:buNone/>
            </a:pPr>
            <a:r>
              <a:rPr lang="zh-CN" altLang="en-US" sz="2400" b="1" dirty="0">
                <a:solidFill>
                  <a:srgbClr val="FF3300"/>
                </a:solidFill>
                <a:latin typeface="楷体_GB2312" pitchFamily="49" charset="-122"/>
                <a:ea typeface="楷体_GB2312" pitchFamily="49" charset="-122"/>
              </a:rPr>
              <a:t>压铸的特点和适用范围</a:t>
            </a:r>
            <a:endParaRPr lang="zh-CN" altLang="en-US" sz="2400" b="1" dirty="0">
              <a:solidFill>
                <a:srgbClr val="FF3300"/>
              </a:solidFill>
              <a:latin typeface="楷体_GB2312" pitchFamily="49" charset="-122"/>
              <a:ea typeface="楷体_GB2312" pitchFamily="49" charset="-122"/>
            </a:endParaRPr>
          </a:p>
          <a:p>
            <a:pPr marL="0" lvl="0" indent="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）精度和表面质量高于其他铸造方法，少、无切削加工。</a:t>
            </a: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）压铸件强度、硬度较高，力学性能好</a:t>
            </a: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）可压铸出形状复杂的薄壁件，镶嵌件，最小壁厚</a:t>
            </a:r>
            <a:r>
              <a:rPr lang="en-US" altLang="zh-CN" sz="2000" b="1" dirty="0">
                <a:latin typeface="楷体_GB2312" pitchFamily="49" charset="-122"/>
                <a:ea typeface="楷体_GB2312" pitchFamily="49" charset="-122"/>
              </a:rPr>
              <a:t>0.4mm</a:t>
            </a:r>
            <a:endParaRPr lang="en-US" altLang="zh-CN" sz="2000" b="1" dirty="0">
              <a:latin typeface="楷体_GB2312" pitchFamily="49" charset="-122"/>
              <a:ea typeface="楷体_GB2312" pitchFamily="49" charset="-122"/>
            </a:endParaRPr>
          </a:p>
          <a:p>
            <a:pPr marL="0" lvl="0" indent="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）生产率很高</a:t>
            </a:r>
            <a:endParaRPr lang="zh-CN" altLang="en-US" sz="2000" b="1" dirty="0">
              <a:latin typeface="楷体_GB2312" pitchFamily="49" charset="-122"/>
              <a:ea typeface="楷体_GB2312" pitchFamily="49" charset="-122"/>
            </a:endParaRPr>
          </a:p>
          <a:p>
            <a:pPr marL="0" lvl="0" indent="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5</a:t>
            </a:r>
            <a:r>
              <a:rPr lang="zh-CN" altLang="en-US" sz="2000" b="1" dirty="0">
                <a:latin typeface="楷体_GB2312" pitchFamily="49" charset="-122"/>
                <a:ea typeface="楷体_GB2312" pitchFamily="49" charset="-122"/>
              </a:rPr>
              <a:t>）设备投资高，铸型制造周期长</a:t>
            </a:r>
            <a:endParaRPr lang="zh-CN" altLang="en-US" sz="2000" b="1" dirty="0">
              <a:latin typeface="楷体_GB2312" pitchFamily="49" charset="-122"/>
              <a:ea typeface="楷体_GB2312" pitchFamily="49" charset="-122"/>
            </a:endParaRPr>
          </a:p>
        </p:txBody>
      </p:sp>
      <p:sp>
        <p:nvSpPr>
          <p:cNvPr id="177158" name="Rectangle 13"/>
          <p:cNvSpPr/>
          <p:nvPr/>
        </p:nvSpPr>
        <p:spPr>
          <a:xfrm>
            <a:off x="684213" y="1681163"/>
            <a:ext cx="4824412" cy="1676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Ø"/>
            </a:pPr>
            <a:r>
              <a:rPr lang="zh-CN" altLang="zh-CN" sz="2000" b="1" dirty="0">
                <a:solidFill>
                  <a:srgbClr val="FF0066"/>
                </a:solidFill>
                <a:latin typeface="楷体_GB2312" pitchFamily="49" charset="-122"/>
                <a:ea typeface="楷体_GB2312" pitchFamily="49" charset="-122"/>
              </a:rPr>
              <a:t>压力铸造</a:t>
            </a:r>
            <a:r>
              <a:rPr lang="zh-CN" altLang="zh-CN" sz="2000" b="1" dirty="0">
                <a:solidFill>
                  <a:schemeClr val="bg2"/>
                </a:solidFill>
                <a:latin typeface="楷体_GB2312" pitchFamily="49" charset="-122"/>
                <a:ea typeface="楷体_GB2312" pitchFamily="49" charset="-122"/>
              </a:rPr>
              <a:t>  </a:t>
            </a:r>
            <a:r>
              <a:rPr lang="zh-CN" altLang="zh-CN" sz="2000" b="1" dirty="0">
                <a:latin typeface="楷体_GB2312" pitchFamily="49" charset="-122"/>
                <a:ea typeface="楷体_GB2312" pitchFamily="49" charset="-122"/>
              </a:rPr>
              <a:t>使液体或半液体金属在高压的作用下，以极高的速度充填压型，并在压力作用下凝固而获得铸件的一种方法。</a:t>
            </a:r>
            <a:endParaRPr lang="zh-CN" altLang="zh-CN" sz="2000" b="1" dirty="0">
              <a:latin typeface="楷体_GB2312" pitchFamily="49" charset="-122"/>
              <a:ea typeface="楷体_GB2312" pitchFamily="49" charset="-122"/>
            </a:endParaRPr>
          </a:p>
          <a:p>
            <a:pPr marL="0" lvl="0" indent="0" eaLnBrk="1" hangingPunct="1">
              <a:spcBef>
                <a:spcPct val="0"/>
              </a:spcBef>
              <a:buClrTx/>
              <a:buSzTx/>
              <a:buFont typeface="Wingdings" panose="05000000000000000000" pitchFamily="2" charset="2"/>
              <a:buChar char="Ø"/>
            </a:pPr>
            <a:r>
              <a:rPr lang="zh-CN" altLang="zh-CN" sz="2000" b="1" dirty="0">
                <a:solidFill>
                  <a:srgbClr val="FF0066"/>
                </a:solidFill>
                <a:latin typeface="楷体_GB2312" pitchFamily="49" charset="-122"/>
                <a:ea typeface="楷体_GB2312" pitchFamily="49" charset="-122"/>
              </a:rPr>
              <a:t>冷室式卧式压铸工艺过程</a:t>
            </a:r>
            <a:r>
              <a:rPr lang="zh-CN" altLang="zh-CN" sz="2000" b="1" dirty="0">
                <a:solidFill>
                  <a:schemeClr val="bg2"/>
                </a:solidFill>
                <a:latin typeface="楷体_GB2312" pitchFamily="49" charset="-122"/>
                <a:ea typeface="楷体_GB2312" pitchFamily="49" charset="-122"/>
              </a:rPr>
              <a:t>   </a:t>
            </a:r>
            <a:r>
              <a:rPr lang="zh-CN" altLang="zh-CN" sz="2000" b="1" dirty="0">
                <a:latin typeface="楷体_GB2312" pitchFamily="49" charset="-122"/>
                <a:ea typeface="楷体_GB2312" pitchFamily="49" charset="-122"/>
              </a:rPr>
              <a:t>注入金属，压铸，取出铸件</a:t>
            </a:r>
            <a:r>
              <a:rPr lang="zh-CN" altLang="zh-CN" sz="2400" b="1" dirty="0">
                <a:latin typeface="楷体_GB2312" pitchFamily="49" charset="-122"/>
                <a:ea typeface="楷体_GB2312" pitchFamily="49" charset="-122"/>
              </a:rPr>
              <a:t> </a:t>
            </a:r>
            <a:endParaRPr lang="zh-CN" altLang="zh-CN" sz="24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8487">
                                            <p:txEl>
                                              <p:charRg st="0" end="11"/>
                                            </p:txEl>
                                          </p:spTgt>
                                        </p:tgtEl>
                                        <p:attrNameLst>
                                          <p:attrName>style.visibility</p:attrName>
                                        </p:attrNameLst>
                                      </p:cBhvr>
                                      <p:to>
                                        <p:strVal val="visible"/>
                                      </p:to>
                                    </p:set>
                                    <p:animEffect transition="in" filter="blinds(horizontal)">
                                      <p:cBhvr>
                                        <p:cTn id="7" dur="500"/>
                                        <p:tgtEl>
                                          <p:spTgt spid="148487">
                                            <p:txEl>
                                              <p:charRg st="0" end="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8487">
                                            <p:txEl>
                                              <p:charRg st="11" end="39"/>
                                            </p:txEl>
                                          </p:spTgt>
                                        </p:tgtEl>
                                        <p:attrNameLst>
                                          <p:attrName>style.visibility</p:attrName>
                                        </p:attrNameLst>
                                      </p:cBhvr>
                                      <p:to>
                                        <p:strVal val="visible"/>
                                      </p:to>
                                    </p:set>
                                    <p:animEffect transition="in" filter="blinds(horizontal)">
                                      <p:cBhvr>
                                        <p:cTn id="12" dur="500"/>
                                        <p:tgtEl>
                                          <p:spTgt spid="148487">
                                            <p:txEl>
                                              <p:charRg st="11" end="3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8487">
                                            <p:txEl>
                                              <p:charRg st="39" end="59"/>
                                            </p:txEl>
                                          </p:spTgt>
                                        </p:tgtEl>
                                        <p:attrNameLst>
                                          <p:attrName>style.visibility</p:attrName>
                                        </p:attrNameLst>
                                      </p:cBhvr>
                                      <p:to>
                                        <p:strVal val="visible"/>
                                      </p:to>
                                    </p:set>
                                    <p:animEffect transition="in" filter="blinds(horizontal)">
                                      <p:cBhvr>
                                        <p:cTn id="17" dur="500"/>
                                        <p:tgtEl>
                                          <p:spTgt spid="148487">
                                            <p:txEl>
                                              <p:charRg st="39" end="5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48487">
                                            <p:txEl>
                                              <p:charRg st="59" end="89"/>
                                            </p:txEl>
                                          </p:spTgt>
                                        </p:tgtEl>
                                        <p:attrNameLst>
                                          <p:attrName>style.visibility</p:attrName>
                                        </p:attrNameLst>
                                      </p:cBhvr>
                                      <p:to>
                                        <p:strVal val="visible"/>
                                      </p:to>
                                    </p:set>
                                    <p:animEffect transition="in" filter="blinds(horizontal)">
                                      <p:cBhvr>
                                        <p:cTn id="22" dur="500"/>
                                        <p:tgtEl>
                                          <p:spTgt spid="148487">
                                            <p:txEl>
                                              <p:charRg st="59" end="8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48487">
                                            <p:txEl>
                                              <p:charRg st="89" end="98"/>
                                            </p:txEl>
                                          </p:spTgt>
                                        </p:tgtEl>
                                        <p:attrNameLst>
                                          <p:attrName>style.visibility</p:attrName>
                                        </p:attrNameLst>
                                      </p:cBhvr>
                                      <p:to>
                                        <p:strVal val="visible"/>
                                      </p:to>
                                    </p:set>
                                    <p:animEffect transition="in" filter="blinds(horizontal)">
                                      <p:cBhvr>
                                        <p:cTn id="27" dur="500"/>
                                        <p:tgtEl>
                                          <p:spTgt spid="148487">
                                            <p:txEl>
                                              <p:charRg st="89" end="9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8487">
                                            <p:txEl>
                                              <p:charRg st="98" end="115"/>
                                            </p:txEl>
                                          </p:spTgt>
                                        </p:tgtEl>
                                        <p:attrNameLst>
                                          <p:attrName>style.visibility</p:attrName>
                                        </p:attrNameLst>
                                      </p:cBhvr>
                                      <p:to>
                                        <p:strVal val="visible"/>
                                      </p:to>
                                    </p:set>
                                    <p:animEffect transition="in" filter="blinds(horizontal)">
                                      <p:cBhvr>
                                        <p:cTn id="32" dur="500"/>
                                        <p:tgtEl>
                                          <p:spTgt spid="148487">
                                            <p:txEl>
                                              <p:charRg st="98" end="1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8178" name="Picture 2" descr="压铸件(灰度)"/>
          <p:cNvPicPr>
            <a:picLocks noChangeAspect="1"/>
          </p:cNvPicPr>
          <p:nvPr/>
        </p:nvPicPr>
        <p:blipFill>
          <a:blip r:embed="rId1">
            <a:lum bright="-6000" contrast="24000"/>
          </a:blip>
          <a:stretch>
            <a:fillRect/>
          </a:stretch>
        </p:blipFill>
        <p:spPr>
          <a:xfrm>
            <a:off x="1619250" y="1682750"/>
            <a:ext cx="6161088" cy="4621213"/>
          </a:xfrm>
          <a:prstGeom prst="rect">
            <a:avLst/>
          </a:prstGeom>
          <a:noFill/>
          <a:ln w="9525">
            <a:noFill/>
          </a:ln>
        </p:spPr>
      </p:pic>
      <p:sp>
        <p:nvSpPr>
          <p:cNvPr id="178179" name="Rectangle 3"/>
          <p:cNvSpPr>
            <a:spLocks noGrp="1"/>
          </p:cNvSpPr>
          <p:nvPr>
            <p:ph type="body"/>
          </p:nvPr>
        </p:nvSpPr>
        <p:spPr>
          <a:xfrm>
            <a:off x="1673225" y="765175"/>
            <a:ext cx="5562600" cy="685800"/>
          </a:xfrm>
        </p:spPr>
        <p:txBody>
          <a:bodyPr vert="horz" wrap="square" lIns="91440" tIns="45720" rIns="91440" bIns="45720" anchor="t" anchorCtr="0"/>
          <a:p>
            <a:pPr algn="ctr" eaLnBrk="1" hangingPunct="1">
              <a:buNone/>
            </a:pPr>
            <a:r>
              <a:rPr lang="zh-CN" altLang="zh-CN" sz="4000" b="1" dirty="0">
                <a:solidFill>
                  <a:schemeClr val="tx2"/>
                </a:solidFill>
                <a:ea typeface="楷体_GB2312" pitchFamily="49" charset="-122"/>
              </a:rPr>
              <a:t>常见的压力铸件</a:t>
            </a:r>
            <a:endParaRPr lang="zh-CN" altLang="zh-CN" sz="4000" b="1" dirty="0">
              <a:solidFill>
                <a:schemeClr val="tx2"/>
              </a:solidFill>
              <a:ea typeface="楷体_GB2312" pitchFamily="49" charset="-122"/>
            </a:endParaRPr>
          </a:p>
        </p:txBody>
      </p:sp>
    </p:spTree>
  </p:cSld>
  <p:clrMapOvr>
    <a:masterClrMapping/>
  </p:clrMapOvr>
  <p:transition>
    <p:cover dir="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p:cNvSpPr>
          <p:nvPr>
            <p:ph type="title"/>
          </p:nvPr>
        </p:nvSpPr>
        <p:spPr/>
        <p:txBody>
          <a:bodyPr vert="horz" wrap="square" lIns="91440" tIns="45720" rIns="91440" bIns="45720" anchor="b" anchorCtr="0"/>
          <a:p>
            <a:pPr algn="ctr" eaLnBrk="1" hangingPunct="1"/>
            <a:r>
              <a:rPr lang="zh-CN" altLang="zh-CN" sz="4000" b="1" dirty="0">
                <a:ea typeface="楷体_GB2312" pitchFamily="49" charset="-122"/>
              </a:rPr>
              <a:t>低压铸造</a:t>
            </a:r>
            <a:endParaRPr lang="zh-CN" altLang="zh-CN" sz="4000" b="1" dirty="0">
              <a:ea typeface="楷体_GB2312" pitchFamily="49" charset="-122"/>
            </a:endParaRPr>
          </a:p>
        </p:txBody>
      </p:sp>
      <p:sp>
        <p:nvSpPr>
          <p:cNvPr id="179203" name="Rectangle 3"/>
          <p:cNvSpPr>
            <a:spLocks noGrp="1"/>
          </p:cNvSpPr>
          <p:nvPr>
            <p:ph type="body" sz="half"/>
          </p:nvPr>
        </p:nvSpPr>
        <p:spPr>
          <a:xfrm>
            <a:off x="609600" y="1628775"/>
            <a:ext cx="7923213" cy="1439863"/>
          </a:xfrm>
        </p:spPr>
        <p:txBody>
          <a:bodyPr vert="horz" wrap="square" lIns="91440" tIns="45720" rIns="91440" bIns="45720" anchor="t" anchorCtr="0"/>
          <a:lstStyle>
            <a:lvl1pPr lvl="0">
              <a:buClr>
                <a:schemeClr val="tx2"/>
              </a:buClr>
              <a:buSzPct val="70000"/>
              <a:buFont typeface="Wingdings" panose="05000000000000000000" pitchFamily="2" charset="2"/>
              <a:defRPr sz="2500"/>
            </a:lvl1pPr>
            <a:lvl2pPr lvl="1">
              <a:buClr>
                <a:schemeClr val="accent2"/>
              </a:buClr>
              <a:buSzPct val="70000"/>
              <a:buFont typeface="Wingdings" panose="05000000000000000000" pitchFamily="2" charset="2"/>
              <a:defRPr sz="2100"/>
            </a:lvl2pPr>
            <a:lvl3pPr lvl="2">
              <a:buClr>
                <a:schemeClr val="tx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700"/>
            </a:lvl4pPr>
            <a:lvl5pPr lvl="4">
              <a:buClr>
                <a:schemeClr val="tx2"/>
              </a:buClr>
              <a:buSzPct val="60000"/>
              <a:buFont typeface="Wingdings" panose="05000000000000000000" pitchFamily="2" charset="2"/>
              <a:defRPr sz="1700"/>
            </a:lvl5pPr>
          </a:lstStyle>
          <a:p>
            <a:pPr lvl="0" eaLnBrk="1" hangingPunct="1"/>
            <a:r>
              <a:rPr lang="zh-CN" altLang="en-US" sz="2000" b="1" dirty="0">
                <a:solidFill>
                  <a:srgbClr val="FF6600"/>
                </a:solidFill>
                <a:latin typeface="楷体_GB2312" pitchFamily="49" charset="-122"/>
                <a:ea typeface="楷体_GB2312" pitchFamily="49" charset="-122"/>
              </a:rPr>
              <a:t>低压铸造</a:t>
            </a:r>
            <a:r>
              <a:rPr lang="zh-CN" altLang="en-US" sz="2000" b="1" dirty="0">
                <a:latin typeface="楷体_GB2312" pitchFamily="49" charset="-122"/>
                <a:ea typeface="楷体_GB2312" pitchFamily="49" charset="-122"/>
              </a:rPr>
              <a:t> 液体金属在压力的作用下，完成充型及凝固过程而获得铸件的一种铸造方法。所用压力较低，压力一般为</a:t>
            </a:r>
            <a:r>
              <a:rPr lang="en-US" altLang="zh-CN" sz="2000" b="1" dirty="0">
                <a:latin typeface="楷体_GB2312" pitchFamily="49" charset="-122"/>
                <a:ea typeface="楷体_GB2312" pitchFamily="49" charset="-122"/>
              </a:rPr>
              <a:t>20</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70KPa</a:t>
            </a:r>
            <a:r>
              <a:rPr lang="zh-CN" altLang="en-US" sz="2000" b="1" dirty="0">
                <a:latin typeface="楷体_GB2312" pitchFamily="49" charset="-122"/>
                <a:ea typeface="楷体_GB2312" pitchFamily="49" charset="-122"/>
              </a:rPr>
              <a:t>。</a:t>
            </a:r>
            <a:endParaRPr lang="zh-CN" altLang="en-US" sz="2000" b="1" dirty="0">
              <a:latin typeface="楷体_GB2312" pitchFamily="49" charset="-122"/>
              <a:ea typeface="楷体_GB2312" pitchFamily="49" charset="-122"/>
            </a:endParaRPr>
          </a:p>
          <a:p>
            <a:pPr lvl="0" eaLnBrk="1" hangingPunct="1"/>
            <a:endParaRPr lang="zh-CN" altLang="en-US" sz="2000" b="1" dirty="0">
              <a:latin typeface="楷体_GB2312" pitchFamily="49" charset="-122"/>
              <a:ea typeface="楷体_GB2312" pitchFamily="49" charset="-122"/>
            </a:endParaRPr>
          </a:p>
          <a:p>
            <a:pPr lvl="0" eaLnBrk="1" hangingPunct="1"/>
            <a:endParaRPr lang="en-US" altLang="zh-CN" sz="2000" dirty="0">
              <a:latin typeface="楷体_GB2312" pitchFamily="49" charset="-122"/>
              <a:ea typeface="楷体_GB2312" pitchFamily="49" charset="-122"/>
            </a:endParaRPr>
          </a:p>
        </p:txBody>
      </p:sp>
      <p:sp>
        <p:nvSpPr>
          <p:cNvPr id="179204" name="Rectangle 23"/>
          <p:cNvSpPr/>
          <p:nvPr/>
        </p:nvSpPr>
        <p:spPr>
          <a:xfrm>
            <a:off x="0" y="2519363"/>
            <a:ext cx="0" cy="0"/>
          </a:xfrm>
          <a:prstGeom prst="rect">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endParaRPr lang="zh-CN" altLang="zh-CN" sz="1800" dirty="0"/>
          </a:p>
        </p:txBody>
      </p:sp>
      <p:sp>
        <p:nvSpPr>
          <p:cNvPr id="179205" name="文本框 9"/>
          <p:cNvSpPr txBox="1"/>
          <p:nvPr/>
        </p:nvSpPr>
        <p:spPr>
          <a:xfrm>
            <a:off x="869950" y="3157538"/>
            <a:ext cx="2397125" cy="27225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lnSpc>
                <a:spcPct val="120000"/>
              </a:lnSpc>
              <a:spcBef>
                <a:spcPct val="0"/>
              </a:spcBef>
              <a:buClrTx/>
              <a:buSzTx/>
              <a:buFontTx/>
              <a:buNone/>
            </a:pPr>
            <a:r>
              <a:rPr lang="zh-CN" altLang="en-US" sz="1800" dirty="0">
                <a:latin typeface="Times New Roman" panose="02020603050405020304" pitchFamily="18" charset="0"/>
                <a:ea typeface="楷体_GB2312" pitchFamily="49" charset="-122"/>
              </a:rPr>
              <a:t>其工作原理是：浇注前密封室内有一定的压力（或真空度），然后借往密封室</a:t>
            </a:r>
            <a:r>
              <a:rPr lang="en-US" altLang="zh-CN" sz="1800" dirty="0">
                <a:latin typeface="Times New Roman" panose="02020603050405020304" pitchFamily="18" charset="0"/>
                <a:ea typeface="楷体_GB2312" pitchFamily="49" charset="-122"/>
              </a:rPr>
              <a:t>A</a:t>
            </a:r>
            <a:r>
              <a:rPr lang="zh-CN" altLang="en-US" sz="1800" dirty="0">
                <a:latin typeface="Times New Roman" panose="02020603050405020304" pitchFamily="18" charset="0"/>
                <a:ea typeface="楷体_GB2312" pitchFamily="49" charset="-122"/>
              </a:rPr>
              <a:t>中加压或由密封室</a:t>
            </a:r>
            <a:r>
              <a:rPr lang="en-US" altLang="zh-CN" sz="1800" dirty="0">
                <a:latin typeface="Times New Roman" panose="02020603050405020304" pitchFamily="18" charset="0"/>
                <a:ea typeface="楷体_GB2312" pitchFamily="49" charset="-122"/>
              </a:rPr>
              <a:t>B</a:t>
            </a:r>
            <a:r>
              <a:rPr lang="zh-CN" altLang="en-US" sz="1800" dirty="0">
                <a:latin typeface="Times New Roman" panose="02020603050405020304" pitchFamily="18" charset="0"/>
                <a:ea typeface="楷体_GB2312" pitchFamily="49" charset="-122"/>
              </a:rPr>
              <a:t>减压，使</a:t>
            </a:r>
            <a:r>
              <a:rPr lang="en-US" altLang="zh-CN" sz="1800" dirty="0">
                <a:latin typeface="Times New Roman" panose="02020603050405020304" pitchFamily="18" charset="0"/>
                <a:ea typeface="楷体_GB2312" pitchFamily="49" charset="-122"/>
              </a:rPr>
              <a:t>A</a:t>
            </a:r>
            <a:r>
              <a:rPr lang="zh-CN" altLang="en-US" sz="1800" dirty="0">
                <a:latin typeface="Times New Roman" panose="02020603050405020304" pitchFamily="18" charset="0"/>
                <a:ea typeface="楷体_GB2312" pitchFamily="49" charset="-122"/>
              </a:rPr>
              <a:t>、</a:t>
            </a:r>
            <a:r>
              <a:rPr lang="en-US" altLang="zh-CN" sz="1800" dirty="0">
                <a:latin typeface="Times New Roman" panose="02020603050405020304" pitchFamily="18" charset="0"/>
                <a:ea typeface="楷体_GB2312" pitchFamily="49" charset="-122"/>
              </a:rPr>
              <a:t>B</a:t>
            </a:r>
            <a:r>
              <a:rPr lang="zh-CN" altLang="en-US" sz="1800" dirty="0">
                <a:latin typeface="Times New Roman" panose="02020603050405020304" pitchFamily="18" charset="0"/>
                <a:ea typeface="楷体_GB2312" pitchFamily="49" charset="-122"/>
              </a:rPr>
              <a:t>室之间形成压力差，进进行升液、充型和结晶。</a:t>
            </a:r>
            <a:endParaRPr lang="zh-CN" altLang="en-US" sz="1800" dirty="0">
              <a:latin typeface="Times New Roman" panose="02020603050405020304" pitchFamily="18" charset="0"/>
              <a:ea typeface="楷体_GB2312" pitchFamily="49" charset="-122"/>
            </a:endParaRPr>
          </a:p>
        </p:txBody>
      </p:sp>
    </p:spTree>
    <p:controls>
      <mc:AlternateContent xmlns:mc="http://schemas.openxmlformats.org/markup-compatibility/2006">
        <mc:Choice xmlns:v="urn:schemas-microsoft-com:vml" Requires="v">
          <p:control spid="179206" name="" r:id="rId1" imgW="5616575" imgH="4321175"/>
        </mc:Choice>
        <mc:Fallback>
          <p:control name="" r:id="rId1" imgW="5616575" imgH="4321175">
            <p:pic>
              <p:nvPicPr>
                <p:cNvPr id="0" name="Host Control  179205"/>
                <p:cNvPicPr/>
                <p:nvPr/>
              </p:nvPicPr>
              <p:blipFill>
                <a:blip r:embed="rId2"/>
                <a:stretch>
                  <a:fillRect/>
                </a:stretch>
              </p:blipFill>
              <p:spPr>
                <a:xfrm>
                  <a:off x="3527425" y="2357438"/>
                  <a:ext cx="5616575" cy="4321175"/>
                </a:xfrm>
                <a:prstGeom prst="rect">
                  <a:avLst/>
                </a:prstGeom>
              </p:spPr>
            </p:pic>
          </p:control>
        </mc:Fallback>
      </mc:AlternateContent>
    </p:controls>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2"/>
          <p:cNvSpPr>
            <a:spLocks noGrp="1"/>
          </p:cNvSpPr>
          <p:nvPr>
            <p:ph type="title"/>
          </p:nvPr>
        </p:nvSpPr>
        <p:spPr/>
        <p:txBody>
          <a:bodyPr vert="horz" wrap="square" lIns="91440" tIns="45720" rIns="91440" bIns="45720" anchor="b" anchorCtr="0"/>
          <a:p>
            <a:r>
              <a:rPr lang="zh-CN" altLang="en-US" dirty="0"/>
              <a:t>低压铸造的特点及应用</a:t>
            </a:r>
            <a:endParaRPr lang="zh-CN" altLang="en-US" dirty="0"/>
          </a:p>
        </p:txBody>
      </p:sp>
      <p:sp>
        <p:nvSpPr>
          <p:cNvPr id="180227" name="Rectangle 3"/>
          <p:cNvSpPr>
            <a:spLocks noGrp="1"/>
          </p:cNvSpPr>
          <p:nvPr>
            <p:ph idx="1"/>
          </p:nvPr>
        </p:nvSpPr>
        <p:spPr>
          <a:xfrm>
            <a:off x="827088" y="1514475"/>
            <a:ext cx="8064500" cy="5349875"/>
          </a:xfrm>
        </p:spPr>
        <p:txBody>
          <a:bodyPr vert="horz" wrap="square" lIns="91440" tIns="45720" rIns="91440" bIns="45720" anchor="t" anchorCtr="0">
            <a:spAutoFit/>
          </a:bodyPr>
          <a:p>
            <a:pPr>
              <a:lnSpc>
                <a:spcPct val="90000"/>
              </a:lnSpc>
              <a:buFontTx/>
              <a:buNone/>
            </a:pPr>
            <a:r>
              <a:rPr lang="zh-CN" altLang="en-US" sz="2400" dirty="0"/>
              <a:t>特点：</a:t>
            </a:r>
            <a:endParaRPr lang="zh-CN" altLang="en-US" sz="2400" dirty="0"/>
          </a:p>
          <a:p>
            <a:pPr>
              <a:lnSpc>
                <a:spcPct val="90000"/>
              </a:lnSpc>
              <a:buFontTx/>
              <a:buNone/>
            </a:pPr>
            <a:r>
              <a:rPr lang="en-US" altLang="zh-CN" sz="2400" dirty="0"/>
              <a:t>(1) </a:t>
            </a:r>
            <a:r>
              <a:rPr lang="zh-CN" altLang="en-US" sz="2400" dirty="0"/>
              <a:t>浇注时金属液的上升速度和结晶压力可以调节，故可适用于各种不同铸型</a:t>
            </a:r>
            <a:r>
              <a:rPr lang="en-US" altLang="zh-CN" sz="2400" dirty="0"/>
              <a:t>(</a:t>
            </a:r>
            <a:r>
              <a:rPr lang="zh-CN" altLang="en-US" sz="2400" dirty="0"/>
              <a:t>如金属型、砂型等</a:t>
            </a:r>
            <a:r>
              <a:rPr lang="en-US" altLang="zh-CN" sz="2400" dirty="0"/>
              <a:t>)</a:t>
            </a:r>
            <a:r>
              <a:rPr lang="zh-CN" altLang="en-US" sz="2400" dirty="0"/>
              <a:t>，铸造各种合金及各种大小的铸件。</a:t>
            </a:r>
            <a:endParaRPr lang="zh-CN" altLang="en-US" sz="2400" dirty="0"/>
          </a:p>
          <a:p>
            <a:pPr>
              <a:lnSpc>
                <a:spcPct val="90000"/>
              </a:lnSpc>
              <a:buFontTx/>
              <a:buNone/>
            </a:pPr>
            <a:r>
              <a:rPr lang="en-US" altLang="zh-CN" sz="2400" dirty="0"/>
              <a:t>(2) </a:t>
            </a:r>
            <a:r>
              <a:rPr lang="zh-CN" altLang="en-US" sz="2400" dirty="0"/>
              <a:t>采用底注式充型，金属液充型平稳，无飞溅现象，可避免卷入气体及对型壁和型芯的冲刷，铸件的气孔、夹渣等缺陷少，提高了铸件的合格率。</a:t>
            </a:r>
            <a:endParaRPr lang="zh-CN" altLang="en-US" sz="2400" dirty="0"/>
          </a:p>
          <a:p>
            <a:pPr>
              <a:lnSpc>
                <a:spcPct val="90000"/>
              </a:lnSpc>
              <a:buFontTx/>
              <a:buNone/>
            </a:pPr>
            <a:r>
              <a:rPr lang="en-US" altLang="zh-CN" sz="2400" dirty="0"/>
              <a:t>(3) </a:t>
            </a:r>
            <a:r>
              <a:rPr lang="zh-CN" altLang="en-US" sz="2400" dirty="0"/>
              <a:t>铸件在压力下结晶，铸件组织致密、轮廓清晰、表面光洁，力学性能较高，对于大薄壁件的铸造尤为有利。</a:t>
            </a:r>
            <a:endParaRPr lang="zh-CN" altLang="en-US" sz="2400" dirty="0"/>
          </a:p>
          <a:p>
            <a:pPr>
              <a:lnSpc>
                <a:spcPct val="90000"/>
              </a:lnSpc>
              <a:buFontTx/>
              <a:buNone/>
            </a:pPr>
            <a:r>
              <a:rPr lang="en-US" altLang="zh-CN" sz="2400" dirty="0"/>
              <a:t>(4) </a:t>
            </a:r>
            <a:r>
              <a:rPr lang="zh-CN" altLang="en-US" sz="2400" dirty="0"/>
              <a:t>省去补缩冒口，金属利用率提高到</a:t>
            </a:r>
            <a:r>
              <a:rPr lang="en-US" altLang="zh-CN" sz="2400" dirty="0"/>
              <a:t>90%</a:t>
            </a:r>
            <a:r>
              <a:rPr lang="zh-CN" altLang="en-US" sz="2400" dirty="0"/>
              <a:t>～</a:t>
            </a:r>
            <a:r>
              <a:rPr lang="en-US" altLang="zh-CN" sz="2400" dirty="0"/>
              <a:t>98%</a:t>
            </a:r>
            <a:r>
              <a:rPr lang="zh-CN" altLang="en-US" sz="2400" dirty="0"/>
              <a:t>。</a:t>
            </a:r>
            <a:endParaRPr lang="zh-CN" altLang="en-US" sz="2400" dirty="0"/>
          </a:p>
          <a:p>
            <a:pPr>
              <a:lnSpc>
                <a:spcPct val="90000"/>
              </a:lnSpc>
              <a:buFontTx/>
              <a:buNone/>
            </a:pPr>
            <a:r>
              <a:rPr lang="en-US" altLang="zh-CN" sz="2400" dirty="0"/>
              <a:t>(5) </a:t>
            </a:r>
            <a:r>
              <a:rPr lang="zh-CN" altLang="en-US" sz="2400" dirty="0"/>
              <a:t>劳动强度低，劳动条件好，设备简易，易实现机械化和自动化。</a:t>
            </a:r>
            <a:endParaRPr lang="zh-CN" altLang="en-US" sz="2400" dirty="0"/>
          </a:p>
          <a:p>
            <a:pPr>
              <a:lnSpc>
                <a:spcPct val="90000"/>
              </a:lnSpc>
              <a:buFontTx/>
              <a:buNone/>
            </a:pPr>
            <a:r>
              <a:rPr lang="zh-CN" altLang="en-US" sz="2400" dirty="0"/>
              <a:t>应用：主要用来生产质量要求高的铝、镁合金铸件，汽车发动机缸体、缸盖、活塞、叶轮等。</a:t>
            </a:r>
            <a:endParaRPr lang="zh-CN" altLang="en-US" sz="24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p:cNvSpPr>
          <p:nvPr>
            <p:ph type="title"/>
          </p:nvPr>
        </p:nvSpPr>
        <p:spPr>
          <a:xfrm>
            <a:off x="2795588" y="765175"/>
            <a:ext cx="3505200" cy="685800"/>
          </a:xfrm>
        </p:spPr>
        <p:txBody>
          <a:bodyPr vert="horz" wrap="square" lIns="91440" tIns="45720" rIns="91440" bIns="45720" anchor="b" anchorCtr="0"/>
          <a:p>
            <a:pPr algn="ctr" eaLnBrk="1" hangingPunct="1"/>
            <a:r>
              <a:rPr lang="zh-CN" altLang="zh-CN" sz="4000" b="1" dirty="0">
                <a:ea typeface="楷体_GB2312" pitchFamily="49" charset="-122"/>
              </a:rPr>
              <a:t>低压铸造</a:t>
            </a:r>
            <a:endParaRPr lang="zh-CN" altLang="zh-CN" sz="4000" b="1" dirty="0">
              <a:ea typeface="楷体_GB2312" pitchFamily="49" charset="-122"/>
            </a:endParaRPr>
          </a:p>
        </p:txBody>
      </p:sp>
      <p:pic>
        <p:nvPicPr>
          <p:cNvPr id="181251" name="Picture 3"/>
          <p:cNvPicPr>
            <a:picLocks noChangeAspect="1"/>
          </p:cNvPicPr>
          <p:nvPr/>
        </p:nvPicPr>
        <p:blipFill>
          <a:blip r:embed="rId1"/>
          <a:stretch>
            <a:fillRect/>
          </a:stretch>
        </p:blipFill>
        <p:spPr>
          <a:xfrm>
            <a:off x="4284663" y="2133600"/>
            <a:ext cx="4508500" cy="4335463"/>
          </a:xfrm>
          <a:prstGeom prst="rect">
            <a:avLst/>
          </a:prstGeom>
          <a:noFill/>
          <a:ln w="9525">
            <a:noFill/>
          </a:ln>
        </p:spPr>
      </p:pic>
      <p:pic>
        <p:nvPicPr>
          <p:cNvPr id="181252" name="Picture 4"/>
          <p:cNvPicPr>
            <a:picLocks noChangeAspect="1"/>
          </p:cNvPicPr>
          <p:nvPr/>
        </p:nvPicPr>
        <p:blipFill>
          <a:blip r:embed="rId2"/>
          <a:stretch>
            <a:fillRect/>
          </a:stretch>
        </p:blipFill>
        <p:spPr>
          <a:xfrm>
            <a:off x="333375" y="2514600"/>
            <a:ext cx="3733800" cy="2765425"/>
          </a:xfrm>
          <a:prstGeom prst="rect">
            <a:avLst/>
          </a:prstGeom>
          <a:noFill/>
          <a:ln w="9525">
            <a:noFill/>
          </a:ln>
        </p:spPr>
      </p:pic>
    </p:spTree>
  </p:cSld>
  <p:clrMapOvr>
    <a:masterClrMapping/>
  </p:clrMapOvr>
  <p:transition>
    <p:cover dir="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4"/>
          <p:cNvSpPr/>
          <p:nvPr/>
        </p:nvSpPr>
        <p:spPr>
          <a:xfrm>
            <a:off x="395288" y="1792288"/>
            <a:ext cx="5329237" cy="1006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n"/>
            </a:pPr>
            <a:r>
              <a:rPr lang="zh-CN" altLang="zh-CN" sz="2000" b="1" dirty="0">
                <a:solidFill>
                  <a:srgbClr val="FF3300"/>
                </a:solidFill>
                <a:latin typeface="楷体_GB2312" pitchFamily="49" charset="-122"/>
                <a:ea typeface="楷体_GB2312" pitchFamily="49" charset="-122"/>
              </a:rPr>
              <a:t>离心铸造</a:t>
            </a:r>
            <a:r>
              <a:rPr lang="zh-CN" altLang="zh-CN" sz="2000" b="1" dirty="0">
                <a:latin typeface="楷体_GB2312" pitchFamily="49" charset="-122"/>
                <a:ea typeface="楷体_GB2312" pitchFamily="49" charset="-122"/>
              </a:rPr>
              <a:t>  将液体金属浇</a:t>
            </a:r>
            <a:r>
              <a:rPr lang="zh-CN" altLang="en-US" sz="2000" b="1" dirty="0">
                <a:latin typeface="楷体_GB2312" pitchFamily="49" charset="-122"/>
                <a:ea typeface="楷体_GB2312" pitchFamily="49" charset="-122"/>
              </a:rPr>
              <a:t>入</a:t>
            </a:r>
            <a:r>
              <a:rPr lang="zh-CN" altLang="zh-CN" sz="2000" b="1" dirty="0">
                <a:latin typeface="楷体_GB2312" pitchFamily="49" charset="-122"/>
                <a:ea typeface="楷体_GB2312" pitchFamily="49" charset="-122"/>
              </a:rPr>
              <a:t>旋转的铸</a:t>
            </a:r>
            <a:r>
              <a:rPr lang="zh-CN" altLang="en-US" sz="2000" b="1" dirty="0">
                <a:latin typeface="楷体_GB2312" pitchFamily="49" charset="-122"/>
                <a:ea typeface="楷体_GB2312" pitchFamily="49" charset="-122"/>
              </a:rPr>
              <a:t>型</a:t>
            </a:r>
            <a:r>
              <a:rPr lang="zh-CN" altLang="zh-CN" sz="2000" b="1" dirty="0">
                <a:latin typeface="楷体_GB2312" pitchFamily="49" charset="-122"/>
                <a:ea typeface="楷体_GB2312" pitchFamily="49" charset="-122"/>
              </a:rPr>
              <a:t>中，使之在离心力的作用下，完成充填铸型和凝固成型的一种铸造方法。</a:t>
            </a:r>
            <a:endParaRPr lang="zh-CN" altLang="zh-CN" sz="2000" b="1" dirty="0">
              <a:latin typeface="楷体_GB2312" pitchFamily="49" charset="-122"/>
              <a:ea typeface="楷体_GB2312" pitchFamily="49" charset="-122"/>
            </a:endParaRPr>
          </a:p>
        </p:txBody>
      </p:sp>
      <p:grpSp>
        <p:nvGrpSpPr>
          <p:cNvPr id="182275" name="Group 5"/>
          <p:cNvGrpSpPr/>
          <p:nvPr/>
        </p:nvGrpSpPr>
        <p:grpSpPr>
          <a:xfrm>
            <a:off x="5867400" y="2060575"/>
            <a:ext cx="3025775" cy="4465638"/>
            <a:chOff x="0" y="0"/>
            <a:chExt cx="3420" cy="4365"/>
          </a:xfrm>
        </p:grpSpPr>
        <p:grpSp>
          <p:nvGrpSpPr>
            <p:cNvPr id="182278" name="Group 6"/>
            <p:cNvGrpSpPr>
              <a:grpSpLocks noChangeAspect="1"/>
            </p:cNvGrpSpPr>
            <p:nvPr/>
          </p:nvGrpSpPr>
          <p:grpSpPr>
            <a:xfrm>
              <a:off x="0" y="0"/>
              <a:ext cx="3420" cy="3588"/>
              <a:chOff x="0" y="0"/>
              <a:chExt cx="3420" cy="3588"/>
            </a:xfrm>
          </p:grpSpPr>
          <p:pic>
            <p:nvPicPr>
              <p:cNvPr id="182280" name="Picture 7" descr="1"/>
              <p:cNvPicPr>
                <a:picLocks noChangeAspect="1"/>
              </p:cNvPicPr>
              <p:nvPr/>
            </p:nvPicPr>
            <p:blipFill>
              <a:blip r:embed="rId1"/>
              <a:srcRect l="19371" t="34319" r="41882" b="33434"/>
              <a:stretch>
                <a:fillRect/>
              </a:stretch>
            </p:blipFill>
            <p:spPr>
              <a:xfrm>
                <a:off x="720" y="0"/>
                <a:ext cx="1690" cy="1872"/>
              </a:xfrm>
              <a:prstGeom prst="rect">
                <a:avLst/>
              </a:prstGeom>
              <a:noFill/>
              <a:ln w="9525">
                <a:noFill/>
              </a:ln>
            </p:spPr>
          </p:pic>
          <p:pic>
            <p:nvPicPr>
              <p:cNvPr id="182281" name="Picture 8" descr="2"/>
              <p:cNvPicPr>
                <a:picLocks noChangeAspect="1"/>
              </p:cNvPicPr>
              <p:nvPr/>
            </p:nvPicPr>
            <p:blipFill>
              <a:blip r:embed="rId2"/>
              <a:srcRect l="4169" t="31221" r="25256" b="39662"/>
              <a:stretch>
                <a:fillRect/>
              </a:stretch>
            </p:blipFill>
            <p:spPr>
              <a:xfrm>
                <a:off x="0" y="1710"/>
                <a:ext cx="3420" cy="1878"/>
              </a:xfrm>
              <a:prstGeom prst="rect">
                <a:avLst/>
              </a:prstGeom>
              <a:noFill/>
              <a:ln w="9525">
                <a:noFill/>
              </a:ln>
            </p:spPr>
          </p:pic>
        </p:grpSp>
        <p:sp>
          <p:nvSpPr>
            <p:cNvPr id="182279" name="Text Box 9"/>
            <p:cNvSpPr txBox="1"/>
            <p:nvPr/>
          </p:nvSpPr>
          <p:spPr>
            <a:xfrm>
              <a:off x="360" y="4056"/>
              <a:ext cx="2340" cy="309"/>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eaLnBrk="1" hangingPunct="1">
                <a:spcBef>
                  <a:spcPct val="0"/>
                </a:spcBef>
                <a:buClrTx/>
                <a:buSzTx/>
                <a:buNone/>
              </a:pPr>
              <a:r>
                <a:rPr lang="zh-CN" altLang="en-US" sz="1400" b="1" dirty="0">
                  <a:latin typeface="Times New Roman" panose="02020603050405020304" pitchFamily="18" charset="0"/>
                </a:rPr>
                <a:t>图</a:t>
              </a:r>
              <a:r>
                <a:rPr lang="en-US" altLang="zh-CN" sz="1400" b="1" dirty="0">
                  <a:latin typeface="Times New Roman" panose="02020603050405020304" pitchFamily="18" charset="0"/>
                </a:rPr>
                <a:t>2-48 </a:t>
              </a:r>
              <a:r>
                <a:rPr lang="zh-CN" altLang="en-US" sz="1400" b="1" dirty="0">
                  <a:latin typeface="Times New Roman" panose="02020603050405020304" pitchFamily="18" charset="0"/>
                </a:rPr>
                <a:t>圆筒件的离心铸造</a:t>
              </a:r>
              <a:r>
                <a:rPr lang="zh-CN" altLang="en-US" sz="1600" dirty="0">
                  <a:latin typeface="Times New Roman" panose="02020603050405020304" pitchFamily="18" charset="0"/>
                </a:rPr>
                <a:t>	</a:t>
              </a:r>
              <a:endParaRPr lang="zh-CN" altLang="en-US" sz="1600" dirty="0">
                <a:latin typeface="Times New Roman" panose="02020603050405020304" pitchFamily="18" charset="0"/>
              </a:endParaRPr>
            </a:p>
            <a:p>
              <a:pPr marL="0" lvl="0" indent="0" eaLnBrk="1" hangingPunct="1">
                <a:spcBef>
                  <a:spcPct val="0"/>
                </a:spcBef>
                <a:buClrTx/>
                <a:buSzTx/>
                <a:buNone/>
              </a:pPr>
              <a:endParaRPr lang="en-US" altLang="zh-CN" sz="1600" dirty="0"/>
            </a:p>
          </p:txBody>
        </p:sp>
      </p:grpSp>
      <p:sp>
        <p:nvSpPr>
          <p:cNvPr id="152584" name="Rectangle 10"/>
          <p:cNvSpPr>
            <a:spLocks noChangeArrowheads="1"/>
          </p:cNvSpPr>
          <p:nvPr/>
        </p:nvSpPr>
        <p:spPr bwMode="auto">
          <a:xfrm>
            <a:off x="3276600" y="579438"/>
            <a:ext cx="2419350" cy="762000"/>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4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离心铸造</a:t>
            </a:r>
            <a:endParaRPr kumimoji="0" lang="zh-CN" altLang="en-US" sz="44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
        <p:nvSpPr>
          <p:cNvPr id="152585" name="Rectangle 11"/>
          <p:cNvSpPr/>
          <p:nvPr/>
        </p:nvSpPr>
        <p:spPr>
          <a:xfrm>
            <a:off x="468313" y="2889250"/>
            <a:ext cx="5183187" cy="381000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304800" algn="ctr" eaLnBrk="1" hangingPunct="1">
              <a:spcBef>
                <a:spcPct val="0"/>
              </a:spcBef>
              <a:buClrTx/>
              <a:buSzTx/>
              <a:buNone/>
            </a:pPr>
            <a:r>
              <a:rPr lang="zh-CN" altLang="en-US" sz="2400" b="1" dirty="0">
                <a:solidFill>
                  <a:srgbClr val="FF3300"/>
                </a:solidFill>
                <a:latin typeface="楷体_GB2312" pitchFamily="49" charset="-122"/>
                <a:ea typeface="楷体_GB2312" pitchFamily="49" charset="-122"/>
              </a:rPr>
              <a:t>离心铸造的特点和适用范围</a:t>
            </a:r>
            <a:endParaRPr lang="zh-CN" altLang="en-US" sz="2400" b="1" dirty="0">
              <a:solidFill>
                <a:srgbClr val="FF3300"/>
              </a:solidFill>
              <a:latin typeface="楷体_GB2312" pitchFamily="49" charset="-122"/>
              <a:ea typeface="楷体_GB2312" pitchFamily="49" charset="-122"/>
            </a:endParaRPr>
          </a:p>
          <a:p>
            <a:pPr marL="0" lvl="0" indent="30480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）铸造圆筒形铸件时，可节省型芯和浇注系统，省工省料，降低成本；</a:t>
            </a:r>
            <a:endParaRPr lang="zh-CN" altLang="en-US" sz="2000" b="1" dirty="0">
              <a:latin typeface="楷体_GB2312" pitchFamily="49" charset="-122"/>
              <a:ea typeface="楷体_GB2312" pitchFamily="49" charset="-122"/>
            </a:endParaRPr>
          </a:p>
          <a:p>
            <a:pPr marL="0" lvl="0" indent="30480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）铸件组织致密，极少有缩孔、缩松、气孔、夹渣等缺陷；</a:t>
            </a:r>
            <a:endParaRPr lang="zh-CN" altLang="en-US" sz="2000" b="1" dirty="0">
              <a:latin typeface="楷体_GB2312" pitchFamily="49" charset="-122"/>
              <a:ea typeface="楷体_GB2312" pitchFamily="49" charset="-122"/>
            </a:endParaRPr>
          </a:p>
          <a:p>
            <a:pPr marL="0" lvl="0" indent="30480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）合金充型能力得到了提高，可以浇注流动性较差的合金铸件和薄壁铸件，如涡轮、叶轮等；</a:t>
            </a:r>
            <a:endParaRPr lang="zh-CN" altLang="en-US" sz="2000" b="1" dirty="0">
              <a:latin typeface="楷体_GB2312" pitchFamily="49" charset="-122"/>
              <a:ea typeface="楷体_GB2312" pitchFamily="49" charset="-122"/>
            </a:endParaRPr>
          </a:p>
          <a:p>
            <a:pPr marL="0" lvl="0" indent="30480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）便于制造双金属件，如轧辊、钢套、镶铜衬、滑动轴承等。</a:t>
            </a:r>
            <a:endParaRPr lang="zh-CN" altLang="en-US" sz="2000" b="1" dirty="0">
              <a:latin typeface="楷体_GB2312" pitchFamily="49" charset="-122"/>
              <a:ea typeface="楷体_GB2312" pitchFamily="49" charset="-122"/>
            </a:endParaRPr>
          </a:p>
          <a:p>
            <a:pPr marL="0" lvl="0" indent="304800" eaLnBrk="1" hangingPunct="1">
              <a:spcBef>
                <a:spcPct val="0"/>
              </a:spcBef>
              <a:buClrTx/>
              <a:buSzTx/>
              <a:buNone/>
            </a:pPr>
            <a:r>
              <a:rPr lang="zh-CN" altLang="en-US" sz="2000" b="1" dirty="0">
                <a:solidFill>
                  <a:srgbClr val="00CC00"/>
                </a:solidFill>
                <a:latin typeface="楷体_GB2312" pitchFamily="49" charset="-122"/>
                <a:ea typeface="楷体_GB2312" pitchFamily="49" charset="-122"/>
              </a:rPr>
              <a:t>适用范围：</a:t>
            </a:r>
            <a:r>
              <a:rPr lang="zh-CN" altLang="en-US" sz="2000" b="1" dirty="0">
                <a:latin typeface="楷体_GB2312" pitchFamily="49" charset="-122"/>
                <a:ea typeface="楷体_GB2312" pitchFamily="49" charset="-122"/>
              </a:rPr>
              <a:t>铸铁管、气缸套、双金属轴承、特殊钢的无缝管坯。</a:t>
            </a:r>
            <a:endParaRPr lang="zh-CN" altLang="en-US" sz="2000" b="1"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2585">
                                            <p:txEl>
                                              <p:charRg st="0" end="13"/>
                                            </p:txEl>
                                          </p:spTgt>
                                        </p:tgtEl>
                                        <p:attrNameLst>
                                          <p:attrName>style.visibility</p:attrName>
                                        </p:attrNameLst>
                                      </p:cBhvr>
                                      <p:to>
                                        <p:strVal val="visible"/>
                                      </p:to>
                                    </p:set>
                                    <p:animEffect transition="in" filter="blinds(horizontal)">
                                      <p:cBhvr>
                                        <p:cTn id="7" dur="500"/>
                                        <p:tgtEl>
                                          <p:spTgt spid="152585">
                                            <p:txEl>
                                              <p:charRg st="0" end="1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2585">
                                            <p:txEl>
                                              <p:charRg st="13" end="47"/>
                                            </p:txEl>
                                          </p:spTgt>
                                        </p:tgtEl>
                                        <p:attrNameLst>
                                          <p:attrName>style.visibility</p:attrName>
                                        </p:attrNameLst>
                                      </p:cBhvr>
                                      <p:to>
                                        <p:strVal val="visible"/>
                                      </p:to>
                                    </p:set>
                                    <p:animEffect transition="in" filter="blinds(horizontal)">
                                      <p:cBhvr>
                                        <p:cTn id="10" dur="500"/>
                                        <p:tgtEl>
                                          <p:spTgt spid="152585">
                                            <p:txEl>
                                              <p:charRg st="13" end="4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2585">
                                            <p:txEl>
                                              <p:charRg st="47" end="76"/>
                                            </p:txEl>
                                          </p:spTgt>
                                        </p:tgtEl>
                                        <p:attrNameLst>
                                          <p:attrName>style.visibility</p:attrName>
                                        </p:attrNameLst>
                                      </p:cBhvr>
                                      <p:to>
                                        <p:strVal val="visible"/>
                                      </p:to>
                                    </p:set>
                                    <p:animEffect transition="in" filter="blinds(horizontal)">
                                      <p:cBhvr>
                                        <p:cTn id="15" dur="500"/>
                                        <p:tgtEl>
                                          <p:spTgt spid="152585">
                                            <p:txEl>
                                              <p:charRg st="47" end="7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52585">
                                            <p:txEl>
                                              <p:charRg st="76" end="120"/>
                                            </p:txEl>
                                          </p:spTgt>
                                        </p:tgtEl>
                                        <p:attrNameLst>
                                          <p:attrName>style.visibility</p:attrName>
                                        </p:attrNameLst>
                                      </p:cBhvr>
                                      <p:to>
                                        <p:strVal val="visible"/>
                                      </p:to>
                                    </p:set>
                                    <p:animEffect transition="in" filter="blinds(horizontal)">
                                      <p:cBhvr>
                                        <p:cTn id="20" dur="500"/>
                                        <p:tgtEl>
                                          <p:spTgt spid="152585">
                                            <p:txEl>
                                              <p:charRg st="76" end="12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52585">
                                            <p:txEl>
                                              <p:charRg st="120" end="150"/>
                                            </p:txEl>
                                          </p:spTgt>
                                        </p:tgtEl>
                                        <p:attrNameLst>
                                          <p:attrName>style.visibility</p:attrName>
                                        </p:attrNameLst>
                                      </p:cBhvr>
                                      <p:to>
                                        <p:strVal val="visible"/>
                                      </p:to>
                                    </p:set>
                                    <p:animEffect transition="in" filter="blinds(horizontal)">
                                      <p:cBhvr>
                                        <p:cTn id="25" dur="500"/>
                                        <p:tgtEl>
                                          <p:spTgt spid="152585">
                                            <p:txEl>
                                              <p:charRg st="120" end="15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52585">
                                            <p:txEl>
                                              <p:charRg st="150" end="179"/>
                                            </p:txEl>
                                          </p:spTgt>
                                        </p:tgtEl>
                                        <p:attrNameLst>
                                          <p:attrName>style.visibility</p:attrName>
                                        </p:attrNameLst>
                                      </p:cBhvr>
                                      <p:to>
                                        <p:strVal val="visible"/>
                                      </p:to>
                                    </p:set>
                                    <p:animEffect transition="in" filter="blinds(horizontal)">
                                      <p:cBhvr>
                                        <p:cTn id="30" dur="500"/>
                                        <p:tgtEl>
                                          <p:spTgt spid="152585">
                                            <p:txEl>
                                              <p:charRg st="150" end="17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Rectangle 2"/>
          <p:cNvSpPr>
            <a:spLocks noGrp="1"/>
          </p:cNvSpPr>
          <p:nvPr>
            <p:ph type="title"/>
          </p:nvPr>
        </p:nvSpPr>
        <p:spPr>
          <a:xfrm>
            <a:off x="1143000" y="260350"/>
            <a:ext cx="6858000" cy="1143000"/>
          </a:xfrm>
        </p:spPr>
        <p:txBody>
          <a:bodyPr vert="horz" wrap="square" lIns="91440" tIns="45720" rIns="91440" bIns="45720" anchor="b" anchorCtr="0"/>
          <a:p>
            <a:pPr algn="ctr" eaLnBrk="1" hangingPunct="1"/>
            <a:r>
              <a:rPr lang="zh-CN" altLang="zh-CN" sz="4000" b="1" dirty="0">
                <a:ea typeface="楷体_GB2312" pitchFamily="49" charset="-122"/>
              </a:rPr>
              <a:t>离心铸造</a:t>
            </a:r>
            <a:endParaRPr lang="zh-CN" altLang="zh-CN" sz="4000" b="1" dirty="0">
              <a:ea typeface="楷体_GB2312" pitchFamily="49" charset="-122"/>
            </a:endParaRPr>
          </a:p>
        </p:txBody>
      </p:sp>
      <p:pic>
        <p:nvPicPr>
          <p:cNvPr id="183299" name="Picture 3"/>
          <p:cNvPicPr>
            <a:picLocks noChangeAspect="1"/>
          </p:cNvPicPr>
          <p:nvPr/>
        </p:nvPicPr>
        <p:blipFill>
          <a:blip r:embed="rId1"/>
          <a:stretch>
            <a:fillRect/>
          </a:stretch>
        </p:blipFill>
        <p:spPr>
          <a:xfrm>
            <a:off x="741363" y="1981200"/>
            <a:ext cx="3254375" cy="2943225"/>
          </a:xfrm>
          <a:prstGeom prst="rect">
            <a:avLst/>
          </a:prstGeom>
          <a:noFill/>
          <a:ln w="9525">
            <a:noFill/>
          </a:ln>
        </p:spPr>
      </p:pic>
      <p:pic>
        <p:nvPicPr>
          <p:cNvPr id="183300" name="Picture 4"/>
          <p:cNvPicPr>
            <a:picLocks noChangeAspect="1"/>
          </p:cNvPicPr>
          <p:nvPr/>
        </p:nvPicPr>
        <p:blipFill>
          <a:blip r:embed="rId2"/>
          <a:stretch>
            <a:fillRect/>
          </a:stretch>
        </p:blipFill>
        <p:spPr>
          <a:xfrm>
            <a:off x="4210050" y="4410075"/>
            <a:ext cx="3314700" cy="2447925"/>
          </a:xfrm>
          <a:prstGeom prst="rect">
            <a:avLst/>
          </a:prstGeom>
          <a:noFill/>
          <a:ln w="9525">
            <a:noFill/>
          </a:ln>
        </p:spPr>
      </p:pic>
      <p:pic>
        <p:nvPicPr>
          <p:cNvPr id="183301" name="Picture 5"/>
          <p:cNvPicPr>
            <a:picLocks noChangeAspect="1"/>
          </p:cNvPicPr>
          <p:nvPr/>
        </p:nvPicPr>
        <p:blipFill>
          <a:blip r:embed="rId3"/>
          <a:stretch>
            <a:fillRect/>
          </a:stretch>
        </p:blipFill>
        <p:spPr>
          <a:xfrm>
            <a:off x="4930775" y="1628775"/>
            <a:ext cx="3529013" cy="2484438"/>
          </a:xfrm>
          <a:prstGeom prst="rect">
            <a:avLst/>
          </a:prstGeom>
          <a:noFill/>
          <a:ln w="9525">
            <a:noFill/>
          </a:ln>
        </p:spPr>
      </p:pic>
    </p:spTree>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7"/>
          <p:cNvSpPr>
            <a:spLocks noChangeArrowheads="1"/>
          </p:cNvSpPr>
          <p:nvPr/>
        </p:nvSpPr>
        <p:spPr bwMode="auto">
          <a:xfrm>
            <a:off x="3376613" y="711200"/>
            <a:ext cx="2724150" cy="701675"/>
          </a:xfrm>
          <a:prstGeom prst="rect">
            <a:avLst/>
          </a:prstGeom>
          <a:noFill/>
          <a:ln>
            <a:noFill/>
          </a:ln>
          <a:effectLst/>
        </p:spPr>
        <p:txBody>
          <a:bodyPr wrap="none">
            <a:spAutoFit/>
          </a:bodyPr>
          <a:lstStyle>
            <a:lvl1pPr>
              <a:defRPr>
                <a:solidFill>
                  <a:schemeClr val="tx1"/>
                </a:solidFill>
                <a:latin typeface="Verdana" panose="020B0604030504040204" pitchFamily="34" charset="0"/>
                <a:ea typeface="宋体" panose="02010600030101010101" pitchFamily="2" charset="-122"/>
              </a:defRPr>
            </a:lvl1pPr>
            <a:lvl2pPr marL="742950" indent="-285750">
              <a:defRPr>
                <a:solidFill>
                  <a:schemeClr val="tx1"/>
                </a:solidFill>
                <a:latin typeface="Verdana" panose="020B0604030504040204" pitchFamily="34" charset="0"/>
                <a:ea typeface="宋体" panose="02010600030101010101" pitchFamily="2" charset="-122"/>
              </a:defRPr>
            </a:lvl2pPr>
            <a:lvl3pPr marL="1143000" indent="-228600">
              <a:defRPr>
                <a:solidFill>
                  <a:schemeClr val="tx1"/>
                </a:solidFill>
                <a:latin typeface="Verdana" panose="020B0604030504040204" pitchFamily="34" charset="0"/>
                <a:ea typeface="宋体" panose="02010600030101010101" pitchFamily="2" charset="-122"/>
              </a:defRPr>
            </a:lvl3pPr>
            <a:lvl4pPr marL="1600200" indent="-228600">
              <a:defRPr>
                <a:solidFill>
                  <a:schemeClr val="tx1"/>
                </a:solidFill>
                <a:latin typeface="Verdana" panose="020B0604030504040204" pitchFamily="34" charset="0"/>
                <a:ea typeface="宋体" panose="02010600030101010101" pitchFamily="2" charset="-122"/>
              </a:defRPr>
            </a:lvl4pPr>
            <a:lvl5pPr marL="2057400" indent="-22860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rPr>
              <a:t>陶瓷型铸造</a:t>
            </a:r>
            <a:endParaRPr kumimoji="0" lang="zh-CN" altLang="en-US" sz="4000" b="1" i="0" u="none" strike="noStrike" kern="1200" cap="none" spc="0" normalizeH="0" baseline="0" noProof="0">
              <a:ln>
                <a:noFill/>
              </a:ln>
              <a:solidFill>
                <a:schemeClr val="tx2"/>
              </a:solidFill>
              <a:effectLst>
                <a:outerShdw blurRad="38100" dist="38100" dir="2700000" algn="tl">
                  <a:srgbClr val="C0C0C0"/>
                </a:outerShdw>
              </a:effectLst>
              <a:uLnTx/>
              <a:uFillTx/>
              <a:latin typeface="Verdana" panose="020B0604030504040204" pitchFamily="34" charset="0"/>
              <a:ea typeface="楷体_GB2312" pitchFamily="49" charset="-122"/>
              <a:cs typeface="+mn-cs"/>
            </a:endParaRPr>
          </a:p>
        </p:txBody>
      </p:sp>
      <p:sp>
        <p:nvSpPr>
          <p:cNvPr id="184323" name="Rectangle 8"/>
          <p:cNvSpPr/>
          <p:nvPr/>
        </p:nvSpPr>
        <p:spPr>
          <a:xfrm>
            <a:off x="133350" y="1668463"/>
            <a:ext cx="4222750" cy="2711450"/>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342900" lvl="0" indent="-342900" eaLnBrk="1" hangingPunct="1">
              <a:buClr>
                <a:schemeClr val="tx1"/>
              </a:buClr>
              <a:buSzTx/>
              <a:buFont typeface="Arial" panose="020B0604020202020204" pitchFamily="34" charset="0"/>
              <a:buChar char="•"/>
            </a:pPr>
            <a:r>
              <a:rPr lang="zh-CN" altLang="en-US" sz="2000" b="1" dirty="0">
                <a:solidFill>
                  <a:srgbClr val="FF3300"/>
                </a:solidFill>
                <a:latin typeface="楷体_GB2312" pitchFamily="49" charset="-122"/>
                <a:ea typeface="楷体_GB2312" pitchFamily="49" charset="-122"/>
              </a:rPr>
              <a:t>陶瓷型铸造  </a:t>
            </a:r>
            <a:r>
              <a:rPr lang="zh-CN" altLang="en-US" sz="2000" b="1" dirty="0">
                <a:solidFill>
                  <a:srgbClr val="0033CC"/>
                </a:solidFill>
                <a:latin typeface="楷体_GB2312" pitchFamily="49" charset="-122"/>
                <a:ea typeface="楷体_GB2312" pitchFamily="49" charset="-122"/>
              </a:rPr>
              <a:t>陶瓷型铸造是在砂型铸造和熔模铸造基础上发展起来的一种精密铸造方法。陶瓷型铸造有不同的工艺方法，较为普通的如图所示。</a:t>
            </a:r>
            <a:endParaRPr lang="zh-CN" altLang="en-US" sz="2000" b="1" dirty="0">
              <a:solidFill>
                <a:schemeClr val="bg2"/>
              </a:solidFill>
              <a:latin typeface="楷体_GB2312" pitchFamily="49" charset="-122"/>
              <a:ea typeface="楷体_GB2312" pitchFamily="49" charset="-122"/>
            </a:endParaRPr>
          </a:p>
          <a:p>
            <a:pPr marL="342900" lvl="0" indent="-342900" eaLnBrk="1" hangingPunct="1">
              <a:buClr>
                <a:schemeClr val="tx1"/>
              </a:buClr>
              <a:buSzTx/>
              <a:buFont typeface="Arial" panose="020B0604020202020204" pitchFamily="34" charset="0"/>
              <a:buAutoNum type="arabicParenBoth"/>
            </a:pPr>
            <a:r>
              <a:rPr lang="zh-CN" altLang="en-US" sz="2000" b="1" dirty="0">
                <a:latin typeface="楷体_GB2312" pitchFamily="49" charset="-122"/>
                <a:ea typeface="楷体_GB2312" pitchFamily="49" charset="-122"/>
              </a:rPr>
              <a:t>砂套造型      </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灌浆与胶结</a:t>
            </a:r>
            <a:endParaRPr lang="zh-CN" altLang="en-US" sz="2000" b="1" dirty="0">
              <a:latin typeface="楷体_GB2312" pitchFamily="49" charset="-122"/>
              <a:ea typeface="楷体_GB2312" pitchFamily="49" charset="-122"/>
            </a:endParaRPr>
          </a:p>
          <a:p>
            <a:pPr marL="342900" lvl="0" indent="-342900" eaLnBrk="1" hangingPunct="1">
              <a:buClr>
                <a:schemeClr val="tx1"/>
              </a:buClr>
              <a:buSzTx/>
              <a:buFont typeface="Arial" panose="020B0604020202020204" pitchFamily="34" charset="0"/>
              <a:buNone/>
            </a:pP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起模与喷烧    </a:t>
            </a: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焙烧与合箱</a:t>
            </a:r>
            <a:endParaRPr lang="zh-CN" altLang="en-US" sz="2000" b="1" dirty="0">
              <a:latin typeface="楷体_GB2312" pitchFamily="49" charset="-122"/>
              <a:ea typeface="楷体_GB2312" pitchFamily="49" charset="-122"/>
            </a:endParaRPr>
          </a:p>
          <a:p>
            <a:pPr marL="342900" lvl="0" indent="-342900" eaLnBrk="1" hangingPunct="1">
              <a:buClr>
                <a:schemeClr val="tx1"/>
              </a:buClr>
              <a:buSzTx/>
              <a:buFont typeface="Arial" panose="020B0604020202020204" pitchFamily="34" charset="0"/>
              <a:buNone/>
            </a:pPr>
            <a:r>
              <a:rPr lang="en-US" altLang="zh-CN" sz="2000" b="1" dirty="0">
                <a:latin typeface="楷体_GB2312" pitchFamily="49" charset="-122"/>
                <a:ea typeface="楷体_GB2312" pitchFamily="49" charset="-122"/>
              </a:rPr>
              <a:t>(5)</a:t>
            </a:r>
            <a:r>
              <a:rPr lang="zh-CN" altLang="en-US" sz="2000" b="1" dirty="0">
                <a:latin typeface="楷体_GB2312" pitchFamily="49" charset="-122"/>
                <a:ea typeface="楷体_GB2312" pitchFamily="49" charset="-122"/>
              </a:rPr>
              <a:t>浇注</a:t>
            </a:r>
            <a:endParaRPr lang="zh-CN" altLang="en-US" sz="2000" b="1" dirty="0">
              <a:latin typeface="楷体_GB2312" pitchFamily="49" charset="-122"/>
              <a:ea typeface="楷体_GB2312" pitchFamily="49" charset="-122"/>
            </a:endParaRPr>
          </a:p>
        </p:txBody>
      </p:sp>
      <p:sp>
        <p:nvSpPr>
          <p:cNvPr id="154628" name="Rectangle 9"/>
          <p:cNvSpPr/>
          <p:nvPr/>
        </p:nvSpPr>
        <p:spPr>
          <a:xfrm>
            <a:off x="34925" y="4532313"/>
            <a:ext cx="5761038" cy="19208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228600" eaLnBrk="1" hangingPunct="1">
              <a:spcBef>
                <a:spcPct val="0"/>
              </a:spcBef>
              <a:buClrTx/>
              <a:buSzTx/>
              <a:buNone/>
            </a:pPr>
            <a:r>
              <a:rPr lang="zh-CN" altLang="en-US" sz="2000" b="1" dirty="0">
                <a:solidFill>
                  <a:srgbClr val="FF3300"/>
                </a:solidFill>
                <a:latin typeface="楷体_GB2312" pitchFamily="49" charset="-122"/>
                <a:ea typeface="楷体_GB2312" pitchFamily="49" charset="-122"/>
              </a:rPr>
              <a:t>陶瓷型铸造的特点和适用范围</a:t>
            </a:r>
            <a:endParaRPr lang="zh-CN" altLang="en-US" sz="2000" b="1" dirty="0">
              <a:solidFill>
                <a:srgbClr val="FF3300"/>
              </a:solidFill>
              <a:latin typeface="楷体_GB2312" pitchFamily="49" charset="-122"/>
              <a:ea typeface="楷体_GB2312" pitchFamily="49" charset="-122"/>
            </a:endParaRPr>
          </a:p>
          <a:p>
            <a:pPr marL="0" lvl="0" indent="22860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1</a:t>
            </a:r>
            <a:r>
              <a:rPr lang="zh-CN" altLang="en-US" sz="2000" b="1" dirty="0">
                <a:latin typeface="楷体_GB2312" pitchFamily="49" charset="-122"/>
                <a:ea typeface="楷体_GB2312" pitchFamily="49" charset="-122"/>
              </a:rPr>
              <a:t>）陶瓷材料耐高温，故可浇注高熔点合金；</a:t>
            </a:r>
            <a:endParaRPr lang="zh-CN" altLang="en-US" sz="2000" b="1" dirty="0">
              <a:latin typeface="楷体_GB2312" pitchFamily="49" charset="-122"/>
              <a:ea typeface="楷体_GB2312" pitchFamily="49" charset="-122"/>
            </a:endParaRPr>
          </a:p>
          <a:p>
            <a:pPr marL="0" lvl="0" indent="22860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2</a:t>
            </a:r>
            <a:r>
              <a:rPr lang="zh-CN" altLang="en-US" sz="2000" b="1" dirty="0">
                <a:latin typeface="楷体_GB2312" pitchFamily="49" charset="-122"/>
                <a:ea typeface="楷体_GB2312" pitchFamily="49" charset="-122"/>
              </a:rPr>
              <a:t>）铸件大小不受限制，几千克～数吨；</a:t>
            </a:r>
            <a:endParaRPr lang="zh-CN" altLang="en-US" sz="2000" b="1" dirty="0">
              <a:latin typeface="楷体_GB2312" pitchFamily="49" charset="-122"/>
              <a:ea typeface="楷体_GB2312" pitchFamily="49" charset="-122"/>
            </a:endParaRPr>
          </a:p>
          <a:p>
            <a:pPr marL="0" lvl="0" indent="228600" eaLnBrk="1" hangingPunct="1">
              <a:spcBef>
                <a:spcPct val="0"/>
              </a:spcBef>
              <a:buClrTx/>
              <a:buSzTx/>
              <a:buNone/>
            </a:pP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3</a:t>
            </a:r>
            <a:r>
              <a:rPr lang="zh-CN" altLang="en-US" sz="2000" b="1" dirty="0">
                <a:latin typeface="楷体_GB2312" pitchFamily="49" charset="-122"/>
                <a:ea typeface="楷体_GB2312" pitchFamily="49" charset="-122"/>
              </a:rPr>
              <a:t>）投资少，生产周期短</a:t>
            </a:r>
            <a:endParaRPr lang="zh-CN" altLang="en-US" sz="2000" b="1" dirty="0">
              <a:latin typeface="楷体_GB2312" pitchFamily="49" charset="-122"/>
              <a:ea typeface="楷体_GB2312" pitchFamily="49" charset="-122"/>
            </a:endParaRPr>
          </a:p>
          <a:p>
            <a:pPr marL="0" lvl="0" indent="228600" eaLnBrk="1" hangingPunct="1">
              <a:spcBef>
                <a:spcPct val="0"/>
              </a:spcBef>
              <a:buClrTx/>
              <a:buSzTx/>
              <a:buNone/>
            </a:pPr>
            <a:r>
              <a:rPr lang="zh-CN" altLang="en-US" sz="2000" b="1" dirty="0">
                <a:solidFill>
                  <a:srgbClr val="FF3300"/>
                </a:solidFill>
                <a:latin typeface="楷体_GB2312" pitchFamily="49" charset="-122"/>
                <a:ea typeface="楷体_GB2312" pitchFamily="49" charset="-122"/>
              </a:rPr>
              <a:t>适用范围：</a:t>
            </a:r>
            <a:r>
              <a:rPr lang="zh-CN" altLang="en-US" sz="2000" b="1" dirty="0">
                <a:latin typeface="楷体_GB2312" pitchFamily="49" charset="-122"/>
                <a:ea typeface="楷体_GB2312" pitchFamily="49" charset="-122"/>
              </a:rPr>
              <a:t>主要用于厚大精密铸件，广泛用于  铸造冲模、锻模、玻璃器皿模、压铸模等。</a:t>
            </a:r>
            <a:endParaRPr lang="zh-CN" altLang="en-US" sz="2000" b="1" dirty="0">
              <a:latin typeface="楷体_GB2312" pitchFamily="49" charset="-122"/>
              <a:ea typeface="楷体_GB2312" pitchFamily="49" charset="-122"/>
            </a:endParaRPr>
          </a:p>
        </p:txBody>
      </p:sp>
      <p:grpSp>
        <p:nvGrpSpPr>
          <p:cNvPr id="184325" name="Group 14"/>
          <p:cNvGrpSpPr/>
          <p:nvPr/>
        </p:nvGrpSpPr>
        <p:grpSpPr>
          <a:xfrm>
            <a:off x="4211638" y="1628775"/>
            <a:ext cx="4968875" cy="3313113"/>
            <a:chOff x="0" y="0"/>
            <a:chExt cx="3130" cy="2087"/>
          </a:xfrm>
        </p:grpSpPr>
        <p:pic>
          <p:nvPicPr>
            <p:cNvPr id="184326" name="Picture 12" descr="1309"/>
            <p:cNvPicPr>
              <a:picLocks noChangeAspect="1"/>
            </p:cNvPicPr>
            <p:nvPr/>
          </p:nvPicPr>
          <p:blipFill>
            <a:blip r:embed="rId1"/>
            <a:stretch>
              <a:fillRect/>
            </a:stretch>
          </p:blipFill>
          <p:spPr>
            <a:xfrm>
              <a:off x="0" y="0"/>
              <a:ext cx="3130" cy="2087"/>
            </a:xfrm>
            <a:prstGeom prst="rect">
              <a:avLst/>
            </a:prstGeom>
            <a:noFill/>
            <a:ln w="9525">
              <a:noFill/>
            </a:ln>
          </p:spPr>
        </p:pic>
        <p:sp>
          <p:nvSpPr>
            <p:cNvPr id="184327" name="Text Box 13"/>
            <p:cNvSpPr txBox="1"/>
            <p:nvPr/>
          </p:nvSpPr>
          <p:spPr>
            <a:xfrm>
              <a:off x="623" y="1777"/>
              <a:ext cx="692" cy="173"/>
            </a:xfrm>
            <a:prstGeom prst="rect">
              <a:avLst/>
            </a:prstGeom>
            <a:solidFill>
              <a:schemeClr val="bg1"/>
            </a:solidFill>
            <a:ln w="9525">
              <a:noFill/>
            </a:ln>
          </p:spPr>
          <p:txBody>
            <a:bodyPr wrap="none">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742950" lvl="0" indent="-285750" eaLnBrk="1" hangingPunct="1">
                <a:buClr>
                  <a:schemeClr val="tx1"/>
                </a:buClr>
                <a:buSzTx/>
                <a:buNone/>
              </a:pPr>
              <a:r>
                <a:rPr lang="zh-CN" altLang="en-US" sz="1200" b="1" dirty="0">
                  <a:solidFill>
                    <a:srgbClr val="000000"/>
                  </a:solidFill>
                  <a:latin typeface="楷体_GB2312" pitchFamily="49" charset="-122"/>
                  <a:ea typeface="楷体_GB2312" pitchFamily="49" charset="-122"/>
                </a:rPr>
                <a:t>图</a:t>
              </a:r>
              <a:r>
                <a:rPr lang="en-US" altLang="zh-CN" sz="1200" b="1" dirty="0">
                  <a:solidFill>
                    <a:srgbClr val="000000"/>
                  </a:solidFill>
                  <a:latin typeface="楷体_GB2312" pitchFamily="49" charset="-122"/>
                  <a:ea typeface="楷体_GB2312" pitchFamily="49" charset="-122"/>
                </a:rPr>
                <a:t>2-49</a:t>
              </a:r>
              <a:endParaRPr lang="en-US" altLang="zh-CN" sz="1200" b="1" dirty="0">
                <a:solidFill>
                  <a:srgbClr val="000000"/>
                </a:solidFill>
                <a:latin typeface="楷体_GB2312" pitchFamily="49" charset="-122"/>
                <a:ea typeface="楷体_GB2312"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4628"/>
                                        </p:tgtEl>
                                        <p:attrNameLst>
                                          <p:attrName>style.visibility</p:attrName>
                                        </p:attrNameLst>
                                      </p:cBhvr>
                                      <p:to>
                                        <p:strVal val="visible"/>
                                      </p:to>
                                    </p:set>
                                    <p:animEffect transition="in" filter="blinds(horizontal)">
                                      <p:cBhvr>
                                        <p:cTn id="7" dur="500"/>
                                        <p:tgtEl>
                                          <p:spTgt spid="154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r>
              <a:rPr lang="zh-CN" altLang="zh-CN" dirty="0"/>
              <a:t> </a:t>
            </a:r>
            <a:endParaRPr lang="zh-CN" altLang="zh-CN" dirty="0"/>
          </a:p>
        </p:txBody>
      </p:sp>
      <p:sp>
        <p:nvSpPr>
          <p:cNvPr id="185347" name="Rectangle 3"/>
          <p:cNvSpPr>
            <a:spLocks noGrp="1"/>
          </p:cNvSpPr>
          <p:nvPr>
            <p:ph idx="1"/>
          </p:nvPr>
        </p:nvSpPr>
        <p:spPr>
          <a:xfrm>
            <a:off x="1943100" y="1736725"/>
            <a:ext cx="6985000" cy="4716463"/>
          </a:xfrm>
        </p:spPr>
        <p:txBody>
          <a:bodyPr vert="horz" wrap="square" lIns="91440" tIns="45720" rIns="91440" bIns="45720" anchor="t" anchorCtr="0"/>
          <a:p>
            <a:pPr algn="just"/>
            <a:r>
              <a:rPr lang="zh-CN" altLang="zh-CN" dirty="0">
                <a:solidFill>
                  <a:srgbClr val="0000FF"/>
                </a:solidFill>
              </a:rPr>
              <a:t>消失模铸造（Expendable Pattern Casting, EPC），又称实型铸造（Full Mold Casting, FMC）</a:t>
            </a:r>
            <a:endParaRPr lang="zh-CN" altLang="zh-CN" dirty="0">
              <a:solidFill>
                <a:srgbClr val="0000FF"/>
              </a:solidFill>
            </a:endParaRPr>
          </a:p>
          <a:p>
            <a:pPr algn="just">
              <a:buNone/>
            </a:pPr>
            <a:r>
              <a:rPr lang="zh-CN" altLang="zh-CN" dirty="0">
                <a:solidFill>
                  <a:srgbClr val="0000FF"/>
                </a:solidFill>
              </a:rPr>
              <a:t>	采用泡沫塑料模样代替金属和木模，造型后模样不取出，呈实体型腔，直接浇入金属液后，在高温金属液的作用下，泡沫塑料模样受热汽化、燃烧而消失，产生金属-模样的置换过程，金属液取代原来泡沫塑料模样占据的空间位置，冷却凝固后即获得所需的铸件。</a:t>
            </a:r>
            <a:endParaRPr lang="zh-CN" altLang="zh-CN" dirty="0">
              <a:solidFill>
                <a:srgbClr val="0000FF"/>
              </a:solidFill>
            </a:endParaRPr>
          </a:p>
          <a:p>
            <a:pPr>
              <a:buNone/>
            </a:pPr>
            <a:endParaRPr lang="zh-CN" altLang="zh-CN" dirty="0">
              <a:solidFill>
                <a:srgbClr val="0000FF"/>
              </a:solidFill>
            </a:endParaRPr>
          </a:p>
          <a:p>
            <a:endParaRPr lang="zh-CN" altLang="zh-CN" dirty="0"/>
          </a:p>
        </p:txBody>
      </p:sp>
      <p:pic>
        <p:nvPicPr>
          <p:cNvPr id="185348"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85349"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85350"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85351"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spTree>
  </p:cSld>
  <p:clrMapOvr>
    <a:masterClrMapping/>
  </p:clrMapOvr>
  <p:transition spd="med">
    <p:random/>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86371" name="Rectangle 3"/>
          <p:cNvSpPr>
            <a:spLocks noGrp="1"/>
          </p:cNvSpPr>
          <p:nvPr>
            <p:ph idx="1"/>
          </p:nvPr>
        </p:nvSpPr>
        <p:spPr>
          <a:xfrm>
            <a:off x="2159000" y="1881188"/>
            <a:ext cx="6589713" cy="4248150"/>
          </a:xfrm>
        </p:spPr>
        <p:txBody>
          <a:bodyPr vert="horz" wrap="square" lIns="91440" tIns="45720" rIns="91440" bIns="45720" anchor="t" anchorCtr="0"/>
          <a:p>
            <a:r>
              <a:rPr lang="zh-CN" altLang="zh-CN" sz="3600" dirty="0">
                <a:solidFill>
                  <a:srgbClr val="0000FF"/>
                </a:solidFill>
              </a:rPr>
              <a:t>主要特点</a:t>
            </a:r>
            <a:endParaRPr lang="zh-CN" altLang="zh-CN" sz="3600" dirty="0">
              <a:solidFill>
                <a:srgbClr val="0000FF"/>
              </a:solidFill>
            </a:endParaRPr>
          </a:p>
          <a:p>
            <a:r>
              <a:rPr lang="zh-CN" altLang="zh-CN" dirty="0">
                <a:solidFill>
                  <a:srgbClr val="0000FF"/>
                </a:solidFill>
              </a:rPr>
              <a:t>铸件的尺寸精度高、表面粗糙度低。 </a:t>
            </a:r>
            <a:endParaRPr lang="zh-CN" altLang="zh-CN" dirty="0">
              <a:solidFill>
                <a:srgbClr val="0000FF"/>
              </a:solidFill>
            </a:endParaRPr>
          </a:p>
          <a:p>
            <a:r>
              <a:rPr lang="zh-CN" altLang="zh-CN" dirty="0">
                <a:solidFill>
                  <a:srgbClr val="0000FF"/>
                </a:solidFill>
              </a:rPr>
              <a:t>增大了铸件结构设计的自由度。 </a:t>
            </a:r>
            <a:endParaRPr lang="zh-CN" altLang="zh-CN" dirty="0">
              <a:solidFill>
                <a:srgbClr val="0000FF"/>
              </a:solidFill>
            </a:endParaRPr>
          </a:p>
          <a:p>
            <a:r>
              <a:rPr lang="zh-CN" altLang="zh-CN" dirty="0">
                <a:solidFill>
                  <a:srgbClr val="0000FF"/>
                </a:solidFill>
              </a:rPr>
              <a:t>简化了铸件生产工序，提高了劳动生产率，容易实现清洁生产。 </a:t>
            </a:r>
            <a:endParaRPr lang="zh-CN" altLang="zh-CN" dirty="0">
              <a:solidFill>
                <a:srgbClr val="0000FF"/>
              </a:solidFill>
            </a:endParaRPr>
          </a:p>
          <a:p>
            <a:r>
              <a:rPr lang="zh-CN" altLang="zh-CN" dirty="0">
                <a:solidFill>
                  <a:srgbClr val="0000FF"/>
                </a:solidFill>
              </a:rPr>
              <a:t>减少了材料消耗，降低了铸件成本。</a:t>
            </a:r>
            <a:r>
              <a:rPr lang="zh-CN" altLang="zh-CN" dirty="0"/>
              <a:t> </a:t>
            </a:r>
            <a:endParaRPr lang="zh-CN" altLang="zh-CN" dirty="0">
              <a:solidFill>
                <a:srgbClr val="0000FF"/>
              </a:solidFill>
            </a:endParaRPr>
          </a:p>
          <a:p>
            <a:pPr>
              <a:buNone/>
            </a:pPr>
            <a:endParaRPr lang="zh-CN" altLang="zh-CN" dirty="0"/>
          </a:p>
        </p:txBody>
      </p:sp>
      <p:pic>
        <p:nvPicPr>
          <p:cNvPr id="186372"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86373"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86374"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86375"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spTree>
  </p:cSld>
  <p:clrMapOvr>
    <a:masterClrMapping/>
  </p:clrMapOvr>
  <p:transition spd="med">
    <p:random/>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87395" name="Rectangle 3"/>
          <p:cNvSpPr>
            <a:spLocks noGrp="1"/>
          </p:cNvSpPr>
          <p:nvPr>
            <p:ph idx="1"/>
          </p:nvPr>
        </p:nvSpPr>
        <p:spPr>
          <a:xfrm>
            <a:off x="1835150" y="1916113"/>
            <a:ext cx="7021513" cy="4392612"/>
          </a:xfrm>
        </p:spPr>
        <p:txBody>
          <a:bodyPr vert="horz" wrap="square" lIns="91440" tIns="45720" rIns="91440" bIns="45720" anchor="t" anchorCtr="0"/>
          <a:p>
            <a:r>
              <a:rPr lang="zh-CN" altLang="zh-CN" dirty="0">
                <a:solidFill>
                  <a:srgbClr val="0000FF"/>
                </a:solidFill>
              </a:rPr>
              <a:t>消失模铸造浇注工艺过程</a:t>
            </a:r>
            <a:endParaRPr lang="zh-CN" altLang="zh-CN" dirty="0">
              <a:solidFill>
                <a:srgbClr val="0000FF"/>
              </a:solidFill>
            </a:endParaRPr>
          </a:p>
          <a:p>
            <a:pPr>
              <a:buNone/>
            </a:pPr>
            <a:r>
              <a:rPr lang="zh-CN" altLang="zh-CN" sz="2400" dirty="0">
                <a:solidFill>
                  <a:srgbClr val="0000FF"/>
                </a:solidFill>
              </a:rPr>
              <a:t>	</a:t>
            </a:r>
            <a:r>
              <a:rPr lang="zh-CN" altLang="zh-CN" dirty="0">
                <a:solidFill>
                  <a:srgbClr val="0000FF"/>
                </a:solidFill>
              </a:rPr>
              <a:t>制造模样、模样组合（模片之间及其与浇注系统等的组合）、涂料及其干燥、填砂及紧实、浇注、取出铸件等工序。</a:t>
            </a:r>
            <a:r>
              <a:rPr lang="zh-CN" altLang="zh-CN" dirty="0"/>
              <a:t> </a:t>
            </a:r>
            <a:endParaRPr lang="zh-CN" altLang="zh-CN" dirty="0"/>
          </a:p>
        </p:txBody>
      </p:sp>
      <p:pic>
        <p:nvPicPr>
          <p:cNvPr id="187396"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87397"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87398"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87399"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87400" name="Picture 8" descr="消失模工艺过程"/>
          <p:cNvPicPr>
            <a:picLocks noChangeAspect="1"/>
          </p:cNvPicPr>
          <p:nvPr/>
        </p:nvPicPr>
        <p:blipFill>
          <a:blip r:embed="rId5">
            <a:clrChange>
              <a:clrFrom>
                <a:srgbClr val="9C9AA4"/>
              </a:clrFrom>
              <a:clrTo>
                <a:srgbClr val="9C9AA4">
                  <a:alpha val="0"/>
                </a:srgbClr>
              </a:clrTo>
            </a:clrChange>
          </a:blip>
          <a:stretch>
            <a:fillRect/>
          </a:stretch>
        </p:blipFill>
        <p:spPr>
          <a:xfrm>
            <a:off x="1763713" y="4184650"/>
            <a:ext cx="7380287" cy="2138363"/>
          </a:xfrm>
          <a:prstGeom prst="rect">
            <a:avLst/>
          </a:prstGeom>
          <a:noFill/>
          <a:ln w="9525">
            <a:noFill/>
          </a:ln>
        </p:spPr>
      </p:pic>
    </p:spTree>
  </p:cSld>
  <p:clrMapOvr>
    <a:masterClrMapping/>
  </p:clrMapOvr>
  <p:transition spd="med">
    <p:random/>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88419" name="Rectangle 3"/>
          <p:cNvSpPr>
            <a:spLocks noGrp="1"/>
          </p:cNvSpPr>
          <p:nvPr>
            <p:ph idx="1"/>
          </p:nvPr>
        </p:nvSpPr>
        <p:spPr>
          <a:xfrm>
            <a:off x="2016125" y="5589588"/>
            <a:ext cx="6840538" cy="1268412"/>
          </a:xfrm>
        </p:spPr>
        <p:txBody>
          <a:bodyPr vert="horz" wrap="square" lIns="91440" tIns="45720" rIns="91440" bIns="45720" anchor="t" anchorCtr="0"/>
          <a:p>
            <a:pPr marL="0" indent="0">
              <a:buNone/>
            </a:pPr>
            <a:r>
              <a:rPr lang="zh-CN" altLang="zh-CN" sz="2400" dirty="0">
                <a:solidFill>
                  <a:srgbClr val="0000FF"/>
                </a:solidFill>
              </a:rPr>
              <a:t>德国消失模铸造骏马的照片纪录了由泡沫原型、浇冒口系统、上涂料、浇注铝合金以及抛光上色等工艺过程</a:t>
            </a:r>
            <a:endParaRPr lang="zh-CN" altLang="zh-CN" sz="2400" dirty="0">
              <a:solidFill>
                <a:srgbClr val="0000FF"/>
              </a:solidFill>
            </a:endParaRPr>
          </a:p>
        </p:txBody>
      </p:sp>
      <p:pic>
        <p:nvPicPr>
          <p:cNvPr id="188420"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88421"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88422"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88423"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88424" name="Picture 8" descr="2"/>
          <p:cNvPicPr>
            <a:picLocks noChangeAspect="1"/>
          </p:cNvPicPr>
          <p:nvPr/>
        </p:nvPicPr>
        <p:blipFill>
          <a:blip r:embed="rId5"/>
          <a:srcRect l="1962" t="10457" r="1962" b="4471"/>
          <a:stretch>
            <a:fillRect/>
          </a:stretch>
        </p:blipFill>
        <p:spPr>
          <a:xfrm>
            <a:off x="2016125" y="1484313"/>
            <a:ext cx="6948488" cy="4157662"/>
          </a:xfrm>
          <a:prstGeom prst="rect">
            <a:avLst/>
          </a:prstGeom>
          <a:noFill/>
          <a:ln w="9525">
            <a:noFill/>
          </a:ln>
        </p:spPr>
      </p:pic>
    </p:spTree>
  </p:cSld>
  <p:clrMapOvr>
    <a:masterClrMapping/>
  </p:clrMapOvr>
  <p:transition spd="med">
    <p:random/>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pic>
        <p:nvPicPr>
          <p:cNvPr id="189443" name="Picture 3"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89444" name="Picture 4"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89445" name="Picture 5"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89446" name="Picture 6"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89447" name="Picture 7"/>
          <p:cNvPicPr>
            <a:picLocks noChangeAspect="1"/>
          </p:cNvPicPr>
          <p:nvPr>
            <p:ph idx="1"/>
          </p:nvPr>
        </p:nvPicPr>
        <p:blipFill>
          <a:blip r:embed="rId5"/>
          <a:srcRect r="1044"/>
          <a:stretch>
            <a:fillRect/>
          </a:stretch>
        </p:blipFill>
        <p:spPr>
          <a:xfrm>
            <a:off x="0" y="1247775"/>
            <a:ext cx="9144000" cy="5457825"/>
          </a:xfrm>
        </p:spPr>
      </p:pic>
    </p:spTree>
  </p:cSld>
  <p:clrMapOvr>
    <a:masterClrMapping/>
  </p:clrMapOvr>
  <p:transition spd="med">
    <p:random/>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90467" name="Rectangle 3"/>
          <p:cNvSpPr>
            <a:spLocks noGrp="1"/>
          </p:cNvSpPr>
          <p:nvPr>
            <p:ph idx="1"/>
          </p:nvPr>
        </p:nvSpPr>
        <p:spPr>
          <a:xfrm>
            <a:off x="1835150" y="1665288"/>
            <a:ext cx="7021513" cy="4643437"/>
          </a:xfrm>
        </p:spPr>
        <p:txBody>
          <a:bodyPr vert="horz" wrap="square" lIns="91440" tIns="45720" rIns="91440" bIns="45720" anchor="t" anchorCtr="0"/>
          <a:p>
            <a:r>
              <a:rPr lang="zh-CN" altLang="zh-CN" dirty="0">
                <a:solidFill>
                  <a:srgbClr val="0000FF"/>
                </a:solidFill>
              </a:rPr>
              <a:t>模样成形</a:t>
            </a:r>
            <a:endParaRPr lang="zh-CN" altLang="zh-CN" dirty="0">
              <a:solidFill>
                <a:srgbClr val="0000FF"/>
              </a:solidFill>
            </a:endParaRPr>
          </a:p>
          <a:p>
            <a:r>
              <a:rPr lang="zh-CN" altLang="zh-CN" sz="2400" dirty="0">
                <a:solidFill>
                  <a:srgbClr val="0000FF"/>
                </a:solidFill>
              </a:rPr>
              <a:t>切削加工、粘接成形</a:t>
            </a:r>
            <a:endParaRPr lang="zh-CN" altLang="zh-CN" sz="2400" dirty="0">
              <a:solidFill>
                <a:srgbClr val="0000FF"/>
              </a:solidFill>
            </a:endParaRPr>
          </a:p>
          <a:p>
            <a:r>
              <a:rPr lang="zh-CN" altLang="zh-CN" sz="2400" dirty="0">
                <a:solidFill>
                  <a:srgbClr val="0000FF"/>
                </a:solidFill>
              </a:rPr>
              <a:t>发泡成形</a:t>
            </a:r>
            <a:endParaRPr lang="zh-CN" altLang="zh-CN" sz="2400" dirty="0">
              <a:solidFill>
                <a:srgbClr val="0000FF"/>
              </a:solidFill>
            </a:endParaRPr>
          </a:p>
        </p:txBody>
      </p:sp>
      <p:pic>
        <p:nvPicPr>
          <p:cNvPr id="190468"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90469"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90470"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90471"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90472" name="Picture 8"/>
          <p:cNvPicPr>
            <a:picLocks noChangeAspect="1"/>
          </p:cNvPicPr>
          <p:nvPr/>
        </p:nvPicPr>
        <p:blipFill>
          <a:blip r:embed="rId5"/>
          <a:stretch>
            <a:fillRect/>
          </a:stretch>
        </p:blipFill>
        <p:spPr>
          <a:xfrm>
            <a:off x="5976938" y="1592263"/>
            <a:ext cx="3167062" cy="2844800"/>
          </a:xfrm>
          <a:prstGeom prst="rect">
            <a:avLst/>
          </a:prstGeom>
          <a:noFill/>
          <a:ln w="9525">
            <a:noFill/>
          </a:ln>
        </p:spPr>
      </p:pic>
      <p:pic>
        <p:nvPicPr>
          <p:cNvPr id="190473" name="Picture 9"/>
          <p:cNvPicPr>
            <a:picLocks noChangeAspect="1"/>
          </p:cNvPicPr>
          <p:nvPr/>
        </p:nvPicPr>
        <p:blipFill>
          <a:blip r:embed="rId6"/>
          <a:stretch>
            <a:fillRect/>
          </a:stretch>
        </p:blipFill>
        <p:spPr>
          <a:xfrm>
            <a:off x="1763713" y="3351213"/>
            <a:ext cx="4248150" cy="3452812"/>
          </a:xfrm>
          <a:prstGeom prst="rect">
            <a:avLst/>
          </a:prstGeom>
          <a:noFill/>
          <a:ln w="9525">
            <a:noFill/>
          </a:ln>
        </p:spPr>
      </p:pic>
    </p:spTree>
  </p:cSld>
  <p:clrMapOvr>
    <a:masterClrMapping/>
  </p:clrMapOvr>
  <p:transition spd="med">
    <p:random/>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91491" name="Rectangle 3"/>
          <p:cNvSpPr>
            <a:spLocks noGrp="1"/>
          </p:cNvSpPr>
          <p:nvPr>
            <p:ph idx="1"/>
          </p:nvPr>
        </p:nvSpPr>
        <p:spPr>
          <a:xfrm>
            <a:off x="6335713" y="5913438"/>
            <a:ext cx="2520950" cy="395287"/>
          </a:xfrm>
        </p:spPr>
        <p:txBody>
          <a:bodyPr vert="horz" wrap="square" lIns="91440" tIns="45720" rIns="91440" bIns="45720" anchor="t" anchorCtr="0"/>
          <a:p>
            <a:pPr>
              <a:lnSpc>
                <a:spcPct val="80000"/>
              </a:lnSpc>
            </a:pPr>
            <a:r>
              <a:rPr lang="zh-CN" altLang="zh-CN" sz="2400" dirty="0">
                <a:solidFill>
                  <a:srgbClr val="0000FF"/>
                </a:solidFill>
              </a:rPr>
              <a:t>发泡成形</a:t>
            </a:r>
            <a:endParaRPr lang="zh-CN" altLang="zh-CN" sz="2400" dirty="0">
              <a:solidFill>
                <a:srgbClr val="0000FF"/>
              </a:solidFill>
            </a:endParaRPr>
          </a:p>
          <a:p>
            <a:pPr>
              <a:lnSpc>
                <a:spcPct val="80000"/>
              </a:lnSpc>
            </a:pPr>
            <a:endParaRPr lang="zh-CN" altLang="zh-CN" sz="2400" dirty="0">
              <a:solidFill>
                <a:srgbClr val="0000FF"/>
              </a:solidFill>
            </a:endParaRPr>
          </a:p>
        </p:txBody>
      </p:sp>
      <p:pic>
        <p:nvPicPr>
          <p:cNvPr id="191492"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91493"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91494"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91495"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91496" name="Picture 8"/>
          <p:cNvPicPr>
            <a:picLocks noChangeAspect="1"/>
          </p:cNvPicPr>
          <p:nvPr/>
        </p:nvPicPr>
        <p:blipFill>
          <a:blip r:embed="rId5"/>
          <a:stretch>
            <a:fillRect/>
          </a:stretch>
        </p:blipFill>
        <p:spPr>
          <a:xfrm>
            <a:off x="1763713" y="1808163"/>
            <a:ext cx="3887787" cy="2949575"/>
          </a:xfrm>
          <a:prstGeom prst="rect">
            <a:avLst/>
          </a:prstGeom>
          <a:noFill/>
          <a:ln w="9525">
            <a:noFill/>
          </a:ln>
        </p:spPr>
      </p:pic>
      <p:pic>
        <p:nvPicPr>
          <p:cNvPr id="191497" name="Picture 9"/>
          <p:cNvPicPr>
            <a:picLocks noChangeAspect="1"/>
          </p:cNvPicPr>
          <p:nvPr/>
        </p:nvPicPr>
        <p:blipFill>
          <a:blip r:embed="rId6"/>
          <a:stretch>
            <a:fillRect/>
          </a:stretch>
        </p:blipFill>
        <p:spPr>
          <a:xfrm>
            <a:off x="5688013" y="3176588"/>
            <a:ext cx="3455987" cy="2667000"/>
          </a:xfrm>
          <a:prstGeom prst="rect">
            <a:avLst/>
          </a:prstGeom>
          <a:noFill/>
          <a:ln w="9525">
            <a:noFill/>
          </a:ln>
        </p:spPr>
      </p:pic>
      <p:sp>
        <p:nvSpPr>
          <p:cNvPr id="191498" name="Rectangle 10"/>
          <p:cNvSpPr/>
          <p:nvPr/>
        </p:nvSpPr>
        <p:spPr>
          <a:xfrm>
            <a:off x="2232025" y="5084763"/>
            <a:ext cx="2520950" cy="395287"/>
          </a:xfrm>
          <a:prstGeom prst="rect">
            <a:avLst/>
          </a:prstGeom>
          <a:noFill/>
          <a:ln w="9525">
            <a:noFill/>
          </a:ln>
        </p:spPr>
        <p:txBody>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342900" lvl="0" indent="-342900">
              <a:lnSpc>
                <a:spcPct val="80000"/>
              </a:lnSpc>
            </a:pPr>
            <a:r>
              <a:rPr lang="zh-CN" altLang="zh-CN" sz="2400" dirty="0">
                <a:solidFill>
                  <a:srgbClr val="0000FF"/>
                </a:solidFill>
              </a:rPr>
              <a:t>粘接成形</a:t>
            </a:r>
            <a:endParaRPr lang="zh-CN" altLang="zh-CN" sz="2400" dirty="0">
              <a:solidFill>
                <a:srgbClr val="0000FF"/>
              </a:solidFill>
            </a:endParaRPr>
          </a:p>
        </p:txBody>
      </p:sp>
    </p:spTree>
  </p:cSld>
  <p:clrMapOvr>
    <a:masterClrMapping/>
  </p:clrMapOvr>
  <p:transition spd="med">
    <p:random/>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92515" name="Rectangle 3"/>
          <p:cNvSpPr>
            <a:spLocks noGrp="1"/>
          </p:cNvSpPr>
          <p:nvPr>
            <p:ph idx="1"/>
          </p:nvPr>
        </p:nvSpPr>
        <p:spPr>
          <a:xfrm>
            <a:off x="1835150" y="1808163"/>
            <a:ext cx="2989263" cy="4500562"/>
          </a:xfrm>
        </p:spPr>
        <p:txBody>
          <a:bodyPr vert="horz" wrap="square" lIns="91440" tIns="45720" rIns="91440" bIns="45720" anchor="t" anchorCtr="0"/>
          <a:p>
            <a:pPr marL="0" indent="0"/>
            <a:r>
              <a:rPr lang="zh-CN" altLang="zh-CN" dirty="0">
                <a:solidFill>
                  <a:srgbClr val="0000FF"/>
                </a:solidFill>
              </a:rPr>
              <a:t>模样组合</a:t>
            </a:r>
            <a:endParaRPr lang="zh-CN" altLang="zh-CN" dirty="0">
              <a:solidFill>
                <a:srgbClr val="0000FF"/>
              </a:solidFill>
            </a:endParaRPr>
          </a:p>
          <a:p>
            <a:pPr marL="0" indent="0"/>
            <a:r>
              <a:rPr lang="zh-CN" altLang="zh-CN" sz="2400" dirty="0">
                <a:solidFill>
                  <a:srgbClr val="0000FF"/>
                </a:solidFill>
              </a:rPr>
              <a:t>为了制模方便，降低制模成本，对于复杂模样，需要分片成形，再组合成整体模样（铸件形状）。组合好的模样与浇口、冒口系统模样组装在一起形成一个模样簇。</a:t>
            </a:r>
            <a:r>
              <a:rPr lang="zh-CN" altLang="zh-CN" dirty="0"/>
              <a:t> </a:t>
            </a:r>
            <a:endParaRPr lang="zh-CN" altLang="zh-CN" dirty="0"/>
          </a:p>
        </p:txBody>
      </p:sp>
      <p:pic>
        <p:nvPicPr>
          <p:cNvPr id="192516"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92517"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92518"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92519"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92520" name="Picture 8"/>
          <p:cNvPicPr>
            <a:picLocks noChangeAspect="1"/>
          </p:cNvPicPr>
          <p:nvPr/>
        </p:nvPicPr>
        <p:blipFill>
          <a:blip r:embed="rId5"/>
          <a:stretch>
            <a:fillRect/>
          </a:stretch>
        </p:blipFill>
        <p:spPr>
          <a:xfrm>
            <a:off x="4879975" y="1557338"/>
            <a:ext cx="4264025" cy="5300662"/>
          </a:xfrm>
          <a:prstGeom prst="rect">
            <a:avLst/>
          </a:prstGeom>
          <a:noFill/>
          <a:ln w="9525">
            <a:noFill/>
          </a:ln>
        </p:spPr>
      </p:pic>
    </p:spTree>
  </p:cSld>
  <p:clrMapOvr>
    <a:masterClrMapping/>
  </p:clrMapOvr>
  <p:transition spd="med">
    <p:random/>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93539" name="Rectangle 3"/>
          <p:cNvSpPr>
            <a:spLocks noGrp="1"/>
          </p:cNvSpPr>
          <p:nvPr>
            <p:ph idx="1"/>
          </p:nvPr>
        </p:nvSpPr>
        <p:spPr>
          <a:xfrm>
            <a:off x="1835150" y="1736725"/>
            <a:ext cx="3636963" cy="5121275"/>
          </a:xfrm>
        </p:spPr>
        <p:txBody>
          <a:bodyPr vert="horz" wrap="square" lIns="91440" tIns="45720" rIns="91440" bIns="45720" anchor="t" anchorCtr="0"/>
          <a:p>
            <a:pPr>
              <a:lnSpc>
                <a:spcPct val="80000"/>
              </a:lnSpc>
            </a:pPr>
            <a:r>
              <a:rPr lang="zh-CN" altLang="zh-CN" dirty="0">
                <a:solidFill>
                  <a:srgbClr val="0000FF"/>
                </a:solidFill>
              </a:rPr>
              <a:t>挂涂料</a:t>
            </a:r>
            <a:endParaRPr lang="zh-CN" altLang="zh-CN" dirty="0">
              <a:solidFill>
                <a:srgbClr val="0000FF"/>
              </a:solidFill>
            </a:endParaRPr>
          </a:p>
          <a:p>
            <a:pPr>
              <a:lnSpc>
                <a:spcPct val="80000"/>
              </a:lnSpc>
            </a:pPr>
            <a:r>
              <a:rPr lang="zh-CN" altLang="zh-CN" sz="2400" dirty="0">
                <a:solidFill>
                  <a:srgbClr val="0000FF"/>
                </a:solidFill>
              </a:rPr>
              <a:t>涂层将金属液与干砂隔离，可防止冲砂、粘砂等缺陷；</a:t>
            </a:r>
            <a:endParaRPr lang="zh-CN" altLang="zh-CN" sz="2400" dirty="0">
              <a:solidFill>
                <a:srgbClr val="0000FF"/>
              </a:solidFill>
            </a:endParaRPr>
          </a:p>
          <a:p>
            <a:pPr>
              <a:lnSpc>
                <a:spcPct val="80000"/>
              </a:lnSpc>
            </a:pPr>
            <a:r>
              <a:rPr lang="zh-CN" altLang="zh-CN" sz="2400" dirty="0">
                <a:solidFill>
                  <a:srgbClr val="0000FF"/>
                </a:solidFill>
              </a:rPr>
              <a:t>浇注充型时，涂层将模样的热解产物气体快速导出，可防止浇不足、气孔、夹渣、增碳等缺陷产生；</a:t>
            </a:r>
            <a:endParaRPr lang="zh-CN" altLang="zh-CN" sz="2400" dirty="0">
              <a:solidFill>
                <a:srgbClr val="0000FF"/>
              </a:solidFill>
            </a:endParaRPr>
          </a:p>
          <a:p>
            <a:pPr>
              <a:lnSpc>
                <a:spcPct val="80000"/>
              </a:lnSpc>
            </a:pPr>
            <a:r>
              <a:rPr lang="zh-CN" altLang="zh-CN" sz="2400" dirty="0">
                <a:solidFill>
                  <a:srgbClr val="0000FF"/>
                </a:solidFill>
              </a:rPr>
              <a:t>涂层可提高模样的强度和刚度，使模样能经受住填砂、紧实、抽真空等过程中力的作用，避免模样变形。 </a:t>
            </a:r>
            <a:endParaRPr lang="zh-CN" altLang="zh-CN" sz="2400" dirty="0">
              <a:solidFill>
                <a:srgbClr val="0000FF"/>
              </a:solidFill>
            </a:endParaRPr>
          </a:p>
        </p:txBody>
      </p:sp>
      <p:pic>
        <p:nvPicPr>
          <p:cNvPr id="193540"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93541"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93542"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93543"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93544" name="Picture 8"/>
          <p:cNvPicPr>
            <a:picLocks noChangeAspect="1"/>
          </p:cNvPicPr>
          <p:nvPr/>
        </p:nvPicPr>
        <p:blipFill>
          <a:blip r:embed="rId5"/>
          <a:stretch>
            <a:fillRect/>
          </a:stretch>
        </p:blipFill>
        <p:spPr>
          <a:xfrm>
            <a:off x="5492750" y="1484313"/>
            <a:ext cx="3651250" cy="5373687"/>
          </a:xfrm>
          <a:prstGeom prst="rect">
            <a:avLst/>
          </a:prstGeom>
          <a:noFill/>
          <a:ln w="9525">
            <a:noFill/>
          </a:ln>
        </p:spPr>
      </p:pic>
    </p:spTree>
  </p:cSld>
  <p:clrMapOvr>
    <a:masterClrMapping/>
  </p:clrMapOvr>
  <p:transition spd="med">
    <p:random/>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94563" name="Rectangle 3"/>
          <p:cNvSpPr>
            <a:spLocks noGrp="1"/>
          </p:cNvSpPr>
          <p:nvPr>
            <p:ph idx="1"/>
          </p:nvPr>
        </p:nvSpPr>
        <p:spPr>
          <a:xfrm>
            <a:off x="1835150" y="1916113"/>
            <a:ext cx="7021513" cy="4392612"/>
          </a:xfrm>
        </p:spPr>
        <p:txBody>
          <a:bodyPr vert="horz" wrap="square" lIns="91440" tIns="45720" rIns="91440" bIns="45720" anchor="t" anchorCtr="0"/>
          <a:p>
            <a:r>
              <a:rPr lang="zh-CN" altLang="zh-CN" dirty="0">
                <a:solidFill>
                  <a:srgbClr val="0000FF"/>
                </a:solidFill>
              </a:rPr>
              <a:t>干砂造型</a:t>
            </a:r>
            <a:r>
              <a:rPr lang="zh-CN" altLang="zh-CN" dirty="0"/>
              <a:t> </a:t>
            </a:r>
            <a:endParaRPr lang="zh-CN" altLang="zh-CN" dirty="0"/>
          </a:p>
        </p:txBody>
      </p:sp>
      <p:pic>
        <p:nvPicPr>
          <p:cNvPr id="194564"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94565"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94566"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94567"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94568" name="Picture 8"/>
          <p:cNvPicPr>
            <a:picLocks noChangeAspect="1"/>
          </p:cNvPicPr>
          <p:nvPr/>
        </p:nvPicPr>
        <p:blipFill>
          <a:blip r:embed="rId5"/>
          <a:stretch>
            <a:fillRect/>
          </a:stretch>
        </p:blipFill>
        <p:spPr>
          <a:xfrm>
            <a:off x="2771775" y="2593975"/>
            <a:ext cx="5724525" cy="4264025"/>
          </a:xfrm>
          <a:prstGeom prst="rect">
            <a:avLst/>
          </a:prstGeom>
          <a:noFill/>
          <a:ln w="9525">
            <a:noFill/>
          </a:ln>
        </p:spPr>
      </p:pic>
    </p:spTree>
  </p:cSld>
  <p:clrMapOvr>
    <a:masterClrMapping/>
  </p:clrMapOvr>
  <p:transition spd="med">
    <p:random/>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95587" name="Rectangle 3"/>
          <p:cNvSpPr>
            <a:spLocks noGrp="1"/>
          </p:cNvSpPr>
          <p:nvPr>
            <p:ph idx="1"/>
          </p:nvPr>
        </p:nvSpPr>
        <p:spPr>
          <a:xfrm>
            <a:off x="1835150" y="1916113"/>
            <a:ext cx="7021513" cy="4392612"/>
          </a:xfrm>
        </p:spPr>
        <p:txBody>
          <a:bodyPr vert="horz" wrap="square" lIns="91440" tIns="45720" rIns="91440" bIns="45720" anchor="t" anchorCtr="0"/>
          <a:p>
            <a:r>
              <a:rPr lang="zh-CN" altLang="zh-CN" dirty="0">
                <a:solidFill>
                  <a:srgbClr val="0000FF"/>
                </a:solidFill>
              </a:rPr>
              <a:t>浇注</a:t>
            </a:r>
            <a:endParaRPr lang="zh-CN" altLang="zh-CN" dirty="0">
              <a:solidFill>
                <a:srgbClr val="0000FF"/>
              </a:solidFill>
            </a:endParaRPr>
          </a:p>
        </p:txBody>
      </p:sp>
      <p:pic>
        <p:nvPicPr>
          <p:cNvPr id="195588"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95589"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95590"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95591"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95592" name="Picture 8"/>
          <p:cNvPicPr>
            <a:picLocks noChangeAspect="1"/>
          </p:cNvPicPr>
          <p:nvPr/>
        </p:nvPicPr>
        <p:blipFill>
          <a:blip r:embed="rId5"/>
          <a:stretch>
            <a:fillRect/>
          </a:stretch>
        </p:blipFill>
        <p:spPr>
          <a:xfrm>
            <a:off x="3348038" y="1736725"/>
            <a:ext cx="4421187" cy="4940300"/>
          </a:xfrm>
          <a:prstGeom prst="rect">
            <a:avLst/>
          </a:prstGeom>
          <a:noFill/>
          <a:ln w="9525">
            <a:noFill/>
          </a:ln>
        </p:spPr>
      </p:pic>
    </p:spTree>
  </p:cSld>
  <p:clrMapOvr>
    <a:masterClrMapping/>
  </p:clrMapOvr>
  <p:transition spd="med">
    <p:random/>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6610"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pic>
        <p:nvPicPr>
          <p:cNvPr id="196611" name="Picture 3"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96612" name="Picture 4"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96613" name="Picture 5"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96614" name="Picture 6" descr="t13"/>
          <p:cNvPicPr>
            <a:picLocks noChangeAspect="1"/>
          </p:cNvPicPr>
          <p:nvPr/>
        </p:nvPicPr>
        <p:blipFill>
          <a:blip r:embed="rId4"/>
          <a:stretch>
            <a:fillRect/>
          </a:stretch>
        </p:blipFill>
        <p:spPr>
          <a:xfrm>
            <a:off x="0" y="5516563"/>
            <a:ext cx="1727200" cy="1071562"/>
          </a:xfrm>
          <a:prstGeom prst="rect">
            <a:avLst/>
          </a:prstGeom>
          <a:noFill/>
          <a:ln w="9525">
            <a:noFill/>
          </a:ln>
        </p:spPr>
      </p:pic>
      <p:sp>
        <p:nvSpPr>
          <p:cNvPr id="196615" name="Rectangle 7"/>
          <p:cNvSpPr>
            <a:spLocks noGrp="1"/>
          </p:cNvSpPr>
          <p:nvPr>
            <p:ph idx="1"/>
          </p:nvPr>
        </p:nvSpPr>
        <p:spPr>
          <a:xfrm>
            <a:off x="1835150" y="1600200"/>
            <a:ext cx="6851650" cy="4708525"/>
          </a:xfrm>
        </p:spPr>
        <p:txBody>
          <a:bodyPr vert="horz" wrap="square" lIns="91440" tIns="45720" rIns="91440" bIns="45720" anchor="t" anchorCtr="0"/>
          <a:p>
            <a:r>
              <a:rPr lang="zh-CN" altLang="zh-CN" dirty="0">
                <a:solidFill>
                  <a:srgbClr val="0000FF"/>
                </a:solidFill>
              </a:rPr>
              <a:t>落砂、冷却</a:t>
            </a:r>
            <a:endParaRPr lang="zh-CN" altLang="zh-CN" dirty="0">
              <a:solidFill>
                <a:srgbClr val="0000FF"/>
              </a:solidFill>
            </a:endParaRPr>
          </a:p>
        </p:txBody>
      </p:sp>
      <p:pic>
        <p:nvPicPr>
          <p:cNvPr id="196616" name="Picture 8"/>
          <p:cNvPicPr>
            <a:picLocks noChangeAspect="1"/>
          </p:cNvPicPr>
          <p:nvPr/>
        </p:nvPicPr>
        <p:blipFill>
          <a:blip r:embed="rId5"/>
          <a:stretch>
            <a:fillRect/>
          </a:stretch>
        </p:blipFill>
        <p:spPr>
          <a:xfrm>
            <a:off x="4500563" y="1665288"/>
            <a:ext cx="3867150" cy="5192712"/>
          </a:xfrm>
          <a:prstGeom prst="rect">
            <a:avLst/>
          </a:prstGeom>
          <a:noFill/>
          <a:ln w="9525">
            <a:noFill/>
          </a:ln>
        </p:spPr>
      </p:pic>
    </p:spTree>
  </p:cSld>
  <p:clrMapOvr>
    <a:masterClrMapping/>
  </p:clrMapOvr>
  <p:transition spd="med">
    <p:random/>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pic>
        <p:nvPicPr>
          <p:cNvPr id="197635" name="Picture 3"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97636" name="Picture 4"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97637" name="Picture 5"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97638" name="Picture 6"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97639" name="Picture 7" descr="4-13"/>
          <p:cNvPicPr>
            <a:picLocks noChangeAspect="1"/>
          </p:cNvPicPr>
          <p:nvPr>
            <p:ph idx="1"/>
          </p:nvPr>
        </p:nvPicPr>
        <p:blipFill>
          <a:blip r:embed="rId5"/>
          <a:srcRect/>
          <a:stretch>
            <a:fillRect/>
          </a:stretch>
        </p:blipFill>
        <p:spPr>
          <a:xfrm>
            <a:off x="2087563" y="1773238"/>
            <a:ext cx="6719887" cy="4392612"/>
          </a:xfrm>
        </p:spPr>
      </p:pic>
      <p:sp>
        <p:nvSpPr>
          <p:cNvPr id="197640" name="Rectangle 8"/>
          <p:cNvSpPr/>
          <p:nvPr/>
        </p:nvSpPr>
        <p:spPr>
          <a:xfrm>
            <a:off x="3384550" y="6200775"/>
            <a:ext cx="4195763" cy="365125"/>
          </a:xfrm>
          <a:prstGeom prst="rect">
            <a:avLst/>
          </a:prstGeom>
          <a:noFill/>
          <a:ln w="9525">
            <a:noFill/>
          </a:ln>
        </p:spPr>
        <p:txBody>
          <a:bodyPr wrap="none" lIns="0" tIns="0" rIns="0" bIns="0" anchor="ctr" anchorCtr="0">
            <a:sp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zh-CN" sz="2400" b="1" dirty="0">
                <a:solidFill>
                  <a:srgbClr val="0000FF"/>
                </a:solidFill>
              </a:rPr>
              <a:t>德国BMW铝合金消失模生产线</a:t>
            </a:r>
            <a:r>
              <a:rPr lang="zh-CN" altLang="zh-CN" sz="1800" dirty="0"/>
              <a:t> </a:t>
            </a:r>
            <a:endParaRPr lang="zh-CN" altLang="zh-CN" sz="1800" dirty="0"/>
          </a:p>
        </p:txBody>
      </p:sp>
    </p:spTree>
  </p:cSld>
  <p:clrMapOvr>
    <a:masterClrMapping/>
  </p:clrMapOvr>
  <p:transition spd="med">
    <p:random/>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98659" name="Rectangle 3"/>
          <p:cNvSpPr>
            <a:spLocks noGrp="1"/>
          </p:cNvSpPr>
          <p:nvPr>
            <p:ph idx="1"/>
          </p:nvPr>
        </p:nvSpPr>
        <p:spPr>
          <a:xfrm>
            <a:off x="1800225" y="1808163"/>
            <a:ext cx="7021513" cy="684212"/>
          </a:xfrm>
        </p:spPr>
        <p:txBody>
          <a:bodyPr vert="horz" wrap="square" lIns="91440" tIns="45720" rIns="91440" bIns="45720" anchor="t" anchorCtr="0"/>
          <a:p>
            <a:r>
              <a:rPr lang="zh-CN" altLang="zh-CN" dirty="0">
                <a:solidFill>
                  <a:srgbClr val="0000FF"/>
                </a:solidFill>
              </a:rPr>
              <a:t>德国BMW--Vulcan 造型线</a:t>
            </a:r>
            <a:r>
              <a:rPr lang="zh-CN" altLang="zh-CN" dirty="0"/>
              <a:t> </a:t>
            </a:r>
            <a:endParaRPr lang="zh-CN" altLang="zh-CN" dirty="0"/>
          </a:p>
        </p:txBody>
      </p:sp>
      <p:pic>
        <p:nvPicPr>
          <p:cNvPr id="198660"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98661"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98662"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98663"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98664" name="Picture 8" descr="BMW"/>
          <p:cNvPicPr>
            <a:picLocks noChangeAspect="1"/>
          </p:cNvPicPr>
          <p:nvPr/>
        </p:nvPicPr>
        <p:blipFill>
          <a:blip r:embed="rId5"/>
          <a:srcRect b="52448"/>
          <a:stretch>
            <a:fillRect/>
          </a:stretch>
        </p:blipFill>
        <p:spPr>
          <a:xfrm>
            <a:off x="2411413" y="2457450"/>
            <a:ext cx="5943600" cy="4090988"/>
          </a:xfrm>
          <a:prstGeom prst="rect">
            <a:avLst/>
          </a:prstGeom>
          <a:noFill/>
          <a:ln w="9525">
            <a:noFill/>
          </a:ln>
        </p:spPr>
      </p:pic>
    </p:spTree>
  </p:cSld>
  <p:clrMapOvr>
    <a:masterClrMapping/>
  </p:clrMapOvr>
  <p:transition spd="med">
    <p:random/>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9682"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199683" name="Rectangle 3"/>
          <p:cNvSpPr>
            <a:spLocks noGrp="1"/>
          </p:cNvSpPr>
          <p:nvPr>
            <p:ph idx="1"/>
          </p:nvPr>
        </p:nvSpPr>
        <p:spPr>
          <a:xfrm>
            <a:off x="1835150" y="1916113"/>
            <a:ext cx="7021513" cy="4573587"/>
          </a:xfrm>
        </p:spPr>
        <p:txBody>
          <a:bodyPr vert="horz" wrap="square" lIns="91440" tIns="45720" rIns="91440" bIns="45720" anchor="t" anchorCtr="0"/>
          <a:p>
            <a:r>
              <a:rPr lang="zh-CN" altLang="zh-CN" dirty="0">
                <a:solidFill>
                  <a:srgbClr val="0000FF"/>
                </a:solidFill>
              </a:rPr>
              <a:t>德国BMW－6缸缸盖泡沫模样</a:t>
            </a:r>
            <a:endParaRPr lang="zh-CN" altLang="zh-CN" dirty="0">
              <a:solidFill>
                <a:srgbClr val="0000FF"/>
              </a:solidFill>
            </a:endParaRPr>
          </a:p>
        </p:txBody>
      </p:sp>
      <p:pic>
        <p:nvPicPr>
          <p:cNvPr id="199684"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199685"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199686"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199687"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199688" name="Picture 8" descr="4-14"/>
          <p:cNvPicPr>
            <a:picLocks noChangeAspect="1"/>
          </p:cNvPicPr>
          <p:nvPr/>
        </p:nvPicPr>
        <p:blipFill>
          <a:blip r:embed="rId5"/>
          <a:stretch>
            <a:fillRect/>
          </a:stretch>
        </p:blipFill>
        <p:spPr>
          <a:xfrm>
            <a:off x="2159000" y="2565400"/>
            <a:ext cx="6389688" cy="3919538"/>
          </a:xfrm>
          <a:prstGeom prst="rect">
            <a:avLst/>
          </a:prstGeom>
          <a:noFill/>
          <a:ln w="9525">
            <a:noFill/>
          </a:ln>
        </p:spPr>
      </p:pic>
    </p:spTree>
  </p:cSld>
  <p:clrMapOvr>
    <a:masterClrMapping/>
  </p:clrMapOvr>
  <p:transition spd="med">
    <p:random/>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200707" name="Rectangle 3"/>
          <p:cNvSpPr>
            <a:spLocks noGrp="1"/>
          </p:cNvSpPr>
          <p:nvPr>
            <p:ph idx="1"/>
          </p:nvPr>
        </p:nvSpPr>
        <p:spPr>
          <a:xfrm>
            <a:off x="1835150" y="1520825"/>
            <a:ext cx="7021513" cy="4787900"/>
          </a:xfrm>
        </p:spPr>
        <p:txBody>
          <a:bodyPr vert="horz" wrap="square" lIns="91440" tIns="45720" rIns="91440" bIns="45720" anchor="t" anchorCtr="0"/>
          <a:p>
            <a:r>
              <a:rPr lang="zh-CN" altLang="zh-CN" dirty="0">
                <a:solidFill>
                  <a:srgbClr val="0000FF"/>
                </a:solidFill>
              </a:rPr>
              <a:t>德国BMW－泡沫模样热粘合</a:t>
            </a:r>
            <a:r>
              <a:rPr lang="zh-CN" altLang="zh-CN" dirty="0"/>
              <a:t> </a:t>
            </a:r>
            <a:endParaRPr lang="zh-CN" altLang="zh-CN" dirty="0"/>
          </a:p>
        </p:txBody>
      </p:sp>
      <p:pic>
        <p:nvPicPr>
          <p:cNvPr id="200708"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200709"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200710"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200711"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200712" name="Picture 8"/>
          <p:cNvPicPr>
            <a:picLocks noRot="1" noChangeAspect="1"/>
          </p:cNvPicPr>
          <p:nvPr/>
        </p:nvPicPr>
        <p:blipFill>
          <a:blip r:embed="rId5"/>
          <a:srcRect l="25000" t="15384" r="17308" b="17949"/>
          <a:stretch>
            <a:fillRect/>
          </a:stretch>
        </p:blipFill>
        <p:spPr>
          <a:xfrm>
            <a:off x="1763713" y="1989138"/>
            <a:ext cx="4321175" cy="3276600"/>
          </a:xfrm>
          <a:prstGeom prst="rect">
            <a:avLst/>
          </a:prstGeom>
          <a:noFill/>
          <a:ln w="9525">
            <a:noFill/>
          </a:ln>
        </p:spPr>
      </p:pic>
      <p:pic>
        <p:nvPicPr>
          <p:cNvPr id="200713" name="Picture 9" descr="BMW"/>
          <p:cNvPicPr>
            <a:picLocks noChangeAspect="1"/>
          </p:cNvPicPr>
          <p:nvPr/>
        </p:nvPicPr>
        <p:blipFill>
          <a:blip r:embed="rId6"/>
          <a:srcRect t="52757" r="46001"/>
          <a:stretch>
            <a:fillRect/>
          </a:stretch>
        </p:blipFill>
        <p:spPr>
          <a:xfrm>
            <a:off x="6094413" y="3357563"/>
            <a:ext cx="3049587" cy="3500437"/>
          </a:xfrm>
          <a:prstGeom prst="rect">
            <a:avLst/>
          </a:prstGeom>
          <a:noFill/>
          <a:ln w="9525">
            <a:noFill/>
          </a:ln>
        </p:spPr>
      </p:pic>
    </p:spTree>
  </p:cSld>
  <p:clrMapOvr>
    <a:masterClrMapping/>
  </p:clrMapOvr>
  <p:transition spd="med">
    <p:random/>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sp>
        <p:nvSpPr>
          <p:cNvPr id="201731" name="Rectangle 3"/>
          <p:cNvSpPr>
            <a:spLocks noGrp="1"/>
          </p:cNvSpPr>
          <p:nvPr>
            <p:ph idx="1"/>
          </p:nvPr>
        </p:nvSpPr>
        <p:spPr>
          <a:xfrm>
            <a:off x="1835150" y="1916113"/>
            <a:ext cx="7021513" cy="4392612"/>
          </a:xfrm>
        </p:spPr>
        <p:txBody>
          <a:bodyPr vert="horz" wrap="square" lIns="91440" tIns="45720" rIns="91440" bIns="45720" anchor="t" anchorCtr="0"/>
          <a:p>
            <a:r>
              <a:rPr lang="zh-CN" altLang="zh-CN" dirty="0"/>
              <a:t>机械手上涂料 </a:t>
            </a:r>
            <a:endParaRPr lang="zh-CN" altLang="zh-CN" dirty="0"/>
          </a:p>
        </p:txBody>
      </p:sp>
      <p:pic>
        <p:nvPicPr>
          <p:cNvPr id="201732" name="Picture 4"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201733" name="Picture 5"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201734" name="Picture 6"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201735" name="Picture 7"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201736" name="Picture 8"/>
          <p:cNvPicPr>
            <a:picLocks noRot="1" noChangeAspect="1"/>
          </p:cNvPicPr>
          <p:nvPr/>
        </p:nvPicPr>
        <p:blipFill>
          <a:blip r:embed="rId5"/>
          <a:stretch>
            <a:fillRect/>
          </a:stretch>
        </p:blipFill>
        <p:spPr>
          <a:xfrm>
            <a:off x="1800225" y="2781300"/>
            <a:ext cx="4608513" cy="3455988"/>
          </a:xfrm>
          <a:prstGeom prst="rect">
            <a:avLst/>
          </a:prstGeom>
          <a:noFill/>
          <a:ln w="9525">
            <a:noFill/>
          </a:ln>
        </p:spPr>
      </p:pic>
      <p:pic>
        <p:nvPicPr>
          <p:cNvPr id="201737" name="Picture 9"/>
          <p:cNvPicPr>
            <a:picLocks noChangeAspect="1"/>
          </p:cNvPicPr>
          <p:nvPr/>
        </p:nvPicPr>
        <p:blipFill>
          <a:blip r:embed="rId6"/>
          <a:srcRect r="11368"/>
          <a:stretch>
            <a:fillRect/>
          </a:stretch>
        </p:blipFill>
        <p:spPr>
          <a:xfrm>
            <a:off x="6408738" y="1366838"/>
            <a:ext cx="2735262" cy="5491162"/>
          </a:xfrm>
          <a:prstGeom prst="rect">
            <a:avLst/>
          </a:prstGeom>
          <a:noFill/>
          <a:ln w="9525">
            <a:noFill/>
          </a:ln>
        </p:spPr>
      </p:pic>
    </p:spTree>
  </p:cSld>
  <p:clrMapOvr>
    <a:masterClrMapping/>
  </p:clrMapOvr>
  <p:transition spd="med">
    <p:random/>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Grp="1"/>
          </p:cNvSpPr>
          <p:nvPr>
            <p:ph type="title"/>
          </p:nvPr>
        </p:nvSpPr>
        <p:spPr>
          <a:xfrm>
            <a:off x="1835150" y="274638"/>
            <a:ext cx="6851650" cy="1143000"/>
          </a:xfrm>
        </p:spPr>
        <p:txBody>
          <a:bodyPr vert="horz" wrap="square" lIns="91440" tIns="45720" rIns="91440" bIns="45720" anchor="b" anchorCtr="0"/>
          <a:p>
            <a:r>
              <a:rPr lang="zh-CN" altLang="zh-CN" dirty="0">
                <a:solidFill>
                  <a:srgbClr val="FF6600"/>
                </a:solidFill>
              </a:rPr>
              <a:t>消失模精密铸造</a:t>
            </a:r>
            <a:endParaRPr lang="zh-CN" altLang="zh-CN" dirty="0">
              <a:solidFill>
                <a:srgbClr val="FF6600"/>
              </a:solidFill>
            </a:endParaRPr>
          </a:p>
        </p:txBody>
      </p:sp>
      <p:pic>
        <p:nvPicPr>
          <p:cNvPr id="202755" name="Picture 3" descr="大门1"/>
          <p:cNvPicPr>
            <a:picLocks noChangeAspect="1"/>
          </p:cNvPicPr>
          <p:nvPr/>
        </p:nvPicPr>
        <p:blipFill>
          <a:blip r:embed="rId1"/>
          <a:stretch>
            <a:fillRect/>
          </a:stretch>
        </p:blipFill>
        <p:spPr>
          <a:xfrm>
            <a:off x="0" y="1773238"/>
            <a:ext cx="1763713" cy="1322387"/>
          </a:xfrm>
          <a:prstGeom prst="rect">
            <a:avLst/>
          </a:prstGeom>
          <a:noFill/>
          <a:ln w="9525">
            <a:noFill/>
          </a:ln>
        </p:spPr>
      </p:pic>
      <p:pic>
        <p:nvPicPr>
          <p:cNvPr id="202756" name="Picture 4" descr="校园-研究生楼"/>
          <p:cNvPicPr>
            <a:picLocks noChangeAspect="1"/>
          </p:cNvPicPr>
          <p:nvPr/>
        </p:nvPicPr>
        <p:blipFill>
          <a:blip r:embed="rId2"/>
          <a:stretch>
            <a:fillRect/>
          </a:stretch>
        </p:blipFill>
        <p:spPr>
          <a:xfrm>
            <a:off x="0" y="3105150"/>
            <a:ext cx="1763713" cy="1238250"/>
          </a:xfrm>
          <a:prstGeom prst="rect">
            <a:avLst/>
          </a:prstGeom>
          <a:noFill/>
          <a:ln w="9525">
            <a:noFill/>
          </a:ln>
        </p:spPr>
      </p:pic>
      <p:pic>
        <p:nvPicPr>
          <p:cNvPr id="202757" name="Picture 5" descr="办公楼1"/>
          <p:cNvPicPr>
            <a:picLocks noChangeAspect="1"/>
          </p:cNvPicPr>
          <p:nvPr/>
        </p:nvPicPr>
        <p:blipFill>
          <a:blip r:embed="rId3"/>
          <a:stretch>
            <a:fillRect/>
          </a:stretch>
        </p:blipFill>
        <p:spPr>
          <a:xfrm>
            <a:off x="0" y="4365625"/>
            <a:ext cx="1763713" cy="1133475"/>
          </a:xfrm>
          <a:prstGeom prst="rect">
            <a:avLst/>
          </a:prstGeom>
          <a:noFill/>
          <a:ln w="9525">
            <a:noFill/>
          </a:ln>
        </p:spPr>
      </p:pic>
      <p:pic>
        <p:nvPicPr>
          <p:cNvPr id="202758" name="Picture 6" descr="t13"/>
          <p:cNvPicPr>
            <a:picLocks noChangeAspect="1"/>
          </p:cNvPicPr>
          <p:nvPr/>
        </p:nvPicPr>
        <p:blipFill>
          <a:blip r:embed="rId4"/>
          <a:stretch>
            <a:fillRect/>
          </a:stretch>
        </p:blipFill>
        <p:spPr>
          <a:xfrm>
            <a:off x="0" y="5516563"/>
            <a:ext cx="1727200" cy="1071562"/>
          </a:xfrm>
          <a:prstGeom prst="rect">
            <a:avLst/>
          </a:prstGeom>
          <a:noFill/>
          <a:ln w="9525">
            <a:noFill/>
          </a:ln>
        </p:spPr>
      </p:pic>
      <p:pic>
        <p:nvPicPr>
          <p:cNvPr id="202759" name="Picture 7"/>
          <p:cNvPicPr>
            <a:picLocks noChangeAspect="1"/>
          </p:cNvPicPr>
          <p:nvPr>
            <p:ph idx="1"/>
          </p:nvPr>
        </p:nvPicPr>
        <p:blipFill>
          <a:blip r:embed="rId5"/>
          <a:srcRect/>
          <a:stretch>
            <a:fillRect/>
          </a:stretch>
        </p:blipFill>
        <p:spPr>
          <a:xfrm>
            <a:off x="2159000" y="1736725"/>
            <a:ext cx="6553200" cy="4865688"/>
          </a:xfrm>
        </p:spPr>
      </p:pic>
    </p:spTree>
  </p:cSld>
  <p:clrMapOvr>
    <a:masterClrMapping/>
  </p:clrMapOvr>
  <p:transition spd="med">
    <p:random/>
  </p:transition>
</p:sld>
</file>

<file path=ppt/tags/tag1.xml><?xml version="1.0" encoding="utf-8"?>
<p:tagLst xmlns:p="http://schemas.openxmlformats.org/presentationml/2006/main">
  <p:tag name="KSO_WM_UNIT_TABLE_BEAUTIFY" val="smartTable{d2962c97-1e89-494d-a9e3-5d520bdcdacc}"/>
</p:tagLst>
</file>

<file path=ppt/tags/tag2.xml><?xml version="1.0" encoding="utf-8"?>
<p:tagLst xmlns:p="http://schemas.openxmlformats.org/presentationml/2006/main">
  <p:tag name="KSO_WM_UNIT_TABLE_BEAUTIFY" val="smartTable{ec6d9aad-b06d-4e59-b958-df5021961db5}"/>
</p:tagLst>
</file>

<file path=ppt/theme/theme1.xml><?xml version="1.0" encoding="utf-8"?>
<a:theme xmlns:a="http://schemas.openxmlformats.org/drawingml/2006/main" name="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clipse">
  <a:themeElements>
    <a:clrScheme name="1_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1_Eclips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1_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1_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1_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1_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1_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1_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1_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1_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1_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1_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Eclipse</Template>
  <TotalTime>0</TotalTime>
  <Words>21454</Words>
  <Application>WPS 演示</Application>
  <PresentationFormat>全屏显示(4:3)</PresentationFormat>
  <Paragraphs>1735</Paragraphs>
  <Slides>191</Slides>
  <Notes>1</Notes>
  <HiddenSlides>0</HiddenSlides>
  <MMClips>2</MMClips>
  <ScaleCrop>false</ScaleCrop>
  <HeadingPairs>
    <vt:vector size="8" baseType="variant">
      <vt:variant>
        <vt:lpstr>已用的字体</vt:lpstr>
      </vt:variant>
      <vt:variant>
        <vt:i4>22</vt:i4>
      </vt:variant>
      <vt:variant>
        <vt:lpstr>主题</vt:lpstr>
      </vt:variant>
      <vt:variant>
        <vt:i4>3</vt:i4>
      </vt:variant>
      <vt:variant>
        <vt:lpstr>嵌入 OLE 服务器</vt:lpstr>
      </vt:variant>
      <vt:variant>
        <vt:i4>15</vt:i4>
      </vt:variant>
      <vt:variant>
        <vt:lpstr>幻灯片标题</vt:lpstr>
      </vt:variant>
      <vt:variant>
        <vt:i4>191</vt:i4>
      </vt:variant>
    </vt:vector>
  </HeadingPairs>
  <TitlesOfParts>
    <vt:vector size="231" baseType="lpstr">
      <vt:lpstr>Arial</vt:lpstr>
      <vt:lpstr>宋体</vt:lpstr>
      <vt:lpstr>Wingdings</vt:lpstr>
      <vt:lpstr>Verdana</vt:lpstr>
      <vt:lpstr>GreekS</vt:lpstr>
      <vt:lpstr>Segoe Print</vt:lpstr>
      <vt:lpstr>华文楷体</vt:lpstr>
      <vt:lpstr>楷体_GB2312</vt:lpstr>
      <vt:lpstr>新宋体</vt:lpstr>
      <vt:lpstr>Times New Roman</vt:lpstr>
      <vt:lpstr>黑体</vt:lpstr>
      <vt:lpstr>华文中宋</vt:lpstr>
      <vt:lpstr>微软雅黑</vt:lpstr>
      <vt:lpstr>Arial Unicode MS</vt:lpstr>
      <vt:lpstr>PingFang SC</vt:lpstr>
      <vt:lpstr>华文彩云</vt:lpstr>
      <vt:lpstr>Tahoma</vt:lpstr>
      <vt:lpstr>Times New Roman</vt:lpstr>
      <vt:lpstr>方正宋黑_GBK</vt:lpstr>
      <vt:lpstr>GreekC</vt:lpstr>
      <vt:lpstr>Batang</vt:lpstr>
      <vt:lpstr>Constantia</vt:lpstr>
      <vt:lpstr>Eclipse</vt:lpstr>
      <vt:lpstr>1_Eclipse</vt:lpstr>
      <vt:lpstr>2_Eclipse</vt:lpstr>
      <vt:lpstr>Visio.Drawing.6</vt:lpstr>
      <vt:lpstr>Paint.Picture</vt:lpstr>
      <vt:lpstr>Paint.Picture</vt:lpstr>
      <vt:lpstr>Paint.Picture</vt:lpstr>
      <vt:lpstr>Paint.Picture</vt:lpstr>
      <vt:lpstr>MSPhotoEdScan.3</vt:lpstr>
      <vt:lpstr>Equation.3</vt:lpstr>
      <vt:lpstr>Visio.Drawing.6</vt:lpstr>
      <vt:lpstr>Visio.Drawing.6</vt:lpstr>
      <vt:lpstr>Visio.Drawing.6</vt:lpstr>
      <vt:lpstr>Paint.Picture</vt:lpstr>
      <vt:lpstr>Paint.Picture</vt:lpstr>
      <vt:lpstr>Paint.Picture</vt:lpstr>
      <vt:lpstr>Paint.Picture</vt:lpstr>
      <vt:lpstr>Paint.Picture</vt:lpstr>
      <vt:lpstr>机械制造基础</vt:lpstr>
      <vt:lpstr>课程性质</vt:lpstr>
      <vt:lpstr>术语解释</vt:lpstr>
      <vt:lpstr>工艺方法</vt:lpstr>
      <vt:lpstr>PowerPoint 演示文稿</vt:lpstr>
      <vt:lpstr>PowerPoint 演示文稿</vt:lpstr>
      <vt:lpstr>PowerPoint 演示文稿</vt:lpstr>
      <vt:lpstr>PowerPoint 演示文稿</vt:lpstr>
      <vt:lpstr>课程主要内容</vt:lpstr>
      <vt:lpstr>本课程教材</vt:lpstr>
      <vt:lpstr>本课程学时、考核方法等</vt:lpstr>
      <vt:lpstr>第二篇  铸造</vt:lpstr>
      <vt:lpstr>PowerPoint 演示文稿</vt:lpstr>
      <vt:lpstr>PowerPoint 演示文稿</vt:lpstr>
      <vt:lpstr>PowerPoint 演示文稿</vt:lpstr>
      <vt:lpstr>本篇的内容</vt:lpstr>
      <vt:lpstr>PowerPoint 演示文稿</vt:lpstr>
      <vt:lpstr>上节回顾——铸造缺陷</vt:lpstr>
      <vt:lpstr>上节回顾——铸造缺陷</vt:lpstr>
      <vt:lpstr>PowerPoint 演示文稿</vt:lpstr>
      <vt:lpstr>铁碳相图回顾</vt:lpstr>
      <vt:lpstr>PowerPoint 演示文稿</vt:lpstr>
      <vt:lpstr>PowerPoint 演示文稿</vt:lpstr>
      <vt:lpstr>金属的结晶过程</vt:lpstr>
      <vt:lpstr>金属的结晶过程</vt:lpstr>
      <vt:lpstr>PowerPoint 演示文稿</vt:lpstr>
      <vt:lpstr>PowerPoint 演示文稿</vt:lpstr>
      <vt:lpstr>PowerPoint 演示文稿</vt:lpstr>
      <vt:lpstr>PowerPoint 演示文稿</vt:lpstr>
      <vt:lpstr>PowerPoint 演示文稿</vt:lpstr>
      <vt:lpstr>PowerPoint 演示文稿</vt:lpstr>
      <vt:lpstr>液态合金的充型</vt:lpstr>
      <vt:lpstr>液态合金的充型</vt:lpstr>
      <vt:lpstr>液态合金的充型</vt:lpstr>
      <vt:lpstr>PowerPoint 演示文稿</vt:lpstr>
      <vt:lpstr>铸件的凝固</vt:lpstr>
      <vt:lpstr>铸件的凝固</vt:lpstr>
      <vt:lpstr>PowerPoint 演示文稿</vt:lpstr>
      <vt:lpstr>铸件的收缩</vt:lpstr>
      <vt:lpstr>铸件的收缩</vt:lpstr>
      <vt:lpstr>铸件中的缩孔与缩松</vt:lpstr>
      <vt:lpstr>铸件中的缩孔与缩松</vt:lpstr>
      <vt:lpstr>PowerPoint 演示文稿</vt:lpstr>
      <vt:lpstr>PowerPoint 演示文稿</vt:lpstr>
      <vt:lpstr>PowerPoint 演示文稿</vt:lpstr>
      <vt:lpstr>PowerPoint 演示文稿</vt:lpstr>
      <vt:lpstr>PowerPoint 演示文稿</vt:lpstr>
      <vt:lpstr>定向凝固方式示意图 </vt:lpstr>
      <vt:lpstr>第三节 铸造内应力、变形和裂纹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 铸造内应力、变形和裂纹</vt:lpstr>
      <vt:lpstr>PowerPoint 演示文稿</vt:lpstr>
      <vt:lpstr>PowerPoint 演示文稿</vt:lpstr>
      <vt:lpstr>PowerPoint 演示文稿</vt:lpstr>
      <vt:lpstr>铸件的变形</vt:lpstr>
      <vt:lpstr>铸件的变形</vt:lpstr>
      <vt:lpstr>铸件的变形</vt:lpstr>
      <vt:lpstr>PowerPoint 演示文稿</vt:lpstr>
      <vt:lpstr>铸造内应力、变形和裂纹</vt:lpstr>
      <vt:lpstr>铸件的裂纹与防止</vt:lpstr>
      <vt:lpstr>铸件的裂纹与防止</vt:lpstr>
      <vt:lpstr>铸件的裂纹与防止</vt:lpstr>
      <vt:lpstr>铸件的裂纹与防止</vt:lpstr>
      <vt:lpstr>PowerPoint 演示文稿</vt:lpstr>
      <vt:lpstr>本篇的内容</vt:lpstr>
      <vt:lpstr>第三章 砂型铸造</vt:lpstr>
      <vt:lpstr>第三章 砂型铸造</vt:lpstr>
      <vt:lpstr>PowerPoint 演示文稿</vt:lpstr>
      <vt:lpstr>砂型铸造</vt:lpstr>
      <vt:lpstr>手工造型 </vt:lpstr>
      <vt:lpstr>手工造型 </vt:lpstr>
      <vt:lpstr>手工造型 </vt:lpstr>
      <vt:lpstr>手工造型 </vt:lpstr>
      <vt:lpstr>PowerPoint 演示文稿</vt:lpstr>
      <vt:lpstr>手工造型 </vt:lpstr>
      <vt:lpstr>手工造型 </vt:lpstr>
      <vt:lpstr>手工造型 </vt:lpstr>
      <vt:lpstr>砂型铸造</vt:lpstr>
      <vt:lpstr>PowerPoint 演示文稿</vt:lpstr>
      <vt:lpstr>PowerPoint 演示文稿</vt:lpstr>
      <vt:lpstr>射压造型法的工作原理</vt:lpstr>
      <vt:lpstr>PowerPoint 演示文稿</vt:lpstr>
      <vt:lpstr>PowerPoint 演示文稿</vt:lpstr>
      <vt:lpstr>PowerPoint 演示文稿</vt:lpstr>
      <vt:lpstr>PowerPoint 演示文稿</vt:lpstr>
      <vt:lpstr>PowerPoint 演示文稿</vt:lpstr>
      <vt:lpstr>(4) 热节处应位于分型面附近的上部或侧面</vt:lpstr>
      <vt:lpstr>PowerPoint 演示文稿</vt:lpstr>
      <vt:lpstr>PowerPoint 演示文稿</vt:lpstr>
      <vt:lpstr>PowerPoint 演示文稿</vt:lpstr>
      <vt:lpstr>(1) 保证模样能从型腔中顺利取出(分型面设在铸件最大截面处)。 </vt:lpstr>
      <vt:lpstr>PowerPoint 演示文稿</vt:lpstr>
      <vt:lpstr>PowerPoint 演示文稿</vt:lpstr>
      <vt:lpstr>PowerPoint 演示文稿</vt:lpstr>
      <vt:lpstr>(4) 应使铸件全部或大部放在同一砂箱。</vt:lpstr>
      <vt:lpstr>PowerPoint 演示文稿</vt:lpstr>
      <vt:lpstr>PowerPoint 演示文稿</vt:lpstr>
      <vt:lpstr>PowerPoint 演示文稿</vt:lpstr>
      <vt:lpstr>PowerPoint 演示文稿</vt:lpstr>
      <vt:lpstr>PowerPoint 演示文稿</vt:lpstr>
      <vt:lpstr>PowerPoint 演示文稿</vt:lpstr>
      <vt:lpstr>工艺参数的选择</vt:lpstr>
      <vt:lpstr>工艺参数的选择</vt:lpstr>
      <vt:lpstr>工艺参数的选择</vt:lpstr>
      <vt:lpstr>工艺参数的选择</vt:lpstr>
      <vt:lpstr>第四节 综合分析举例</vt:lpstr>
      <vt:lpstr>轴架综合分析举例</vt:lpstr>
      <vt:lpstr>轴架综合分析举例</vt:lpstr>
      <vt:lpstr>支座的综合分析举例</vt:lpstr>
      <vt:lpstr>支座的综合分析举例</vt:lpstr>
      <vt:lpstr>支座的综合分析举例</vt:lpstr>
      <vt:lpstr>支座的综合分析举例</vt:lpstr>
      <vt:lpstr>支座的综合分析举例</vt:lpstr>
      <vt:lpstr>PowerPoint 演示文稿</vt:lpstr>
      <vt:lpstr>铸件结构设计</vt:lpstr>
      <vt:lpstr>铸件结构设计</vt:lpstr>
      <vt:lpstr>铸件结构设计</vt:lpstr>
      <vt:lpstr>铸件结构设计</vt:lpstr>
      <vt:lpstr>铸件结构设计</vt:lpstr>
      <vt:lpstr>铸件结构设计</vt:lpstr>
      <vt:lpstr>铸件结构设计</vt:lpstr>
      <vt:lpstr>铸件结构设计</vt:lpstr>
      <vt:lpstr>铸件结构设计</vt:lpstr>
      <vt:lpstr>铸件结构设计</vt:lpstr>
      <vt:lpstr>铸件结构设计</vt:lpstr>
      <vt:lpstr>PowerPoint 演示文稿</vt:lpstr>
      <vt:lpstr>铸件结构设计</vt:lpstr>
      <vt:lpstr>铸件的结构设计</vt:lpstr>
      <vt:lpstr>铸件结构设计</vt:lpstr>
      <vt:lpstr>铸件的结构设计</vt:lpstr>
      <vt:lpstr>铸件结构设计</vt:lpstr>
      <vt:lpstr>铸件结构设计</vt:lpstr>
      <vt:lpstr>铸件结构设计</vt:lpstr>
      <vt:lpstr>铸件结构设计</vt:lpstr>
      <vt:lpstr>铸件结构设计</vt:lpstr>
      <vt:lpstr>PowerPoint 演示文稿</vt:lpstr>
      <vt:lpstr>铸件结构设计</vt:lpstr>
      <vt:lpstr>铸件结构设计</vt:lpstr>
      <vt:lpstr>铸件结构设计</vt:lpstr>
      <vt:lpstr>铸件结构设计</vt:lpstr>
      <vt:lpstr>PowerPoint 演示文稿</vt:lpstr>
      <vt:lpstr>铸件结构设计</vt:lpstr>
      <vt:lpstr>铸件结构设计</vt:lpstr>
      <vt:lpstr>铸件结构设计</vt:lpstr>
      <vt:lpstr>铸件结构设计</vt:lpstr>
      <vt:lpstr>铸件结构设计</vt:lpstr>
      <vt:lpstr>铸件结构设计</vt:lpstr>
      <vt:lpstr>铸件结构设计</vt:lpstr>
      <vt:lpstr>铸件结构设计</vt:lpstr>
      <vt:lpstr>铸件结构设计</vt:lpstr>
      <vt:lpstr>PowerPoint 演示文稿</vt:lpstr>
      <vt:lpstr>特种铸造</vt:lpstr>
      <vt:lpstr>熔模铸造</vt:lpstr>
      <vt:lpstr>             熔模铸造</vt:lpstr>
      <vt:lpstr>PowerPoint 演示文稿</vt:lpstr>
      <vt:lpstr>金属型铸造</vt:lpstr>
      <vt:lpstr>金属型铸造</vt:lpstr>
      <vt:lpstr>PowerPoint 演示文稿</vt:lpstr>
      <vt:lpstr>PowerPoint 演示文稿</vt:lpstr>
      <vt:lpstr>PowerPoint 演示文稿</vt:lpstr>
      <vt:lpstr>低压铸造</vt:lpstr>
      <vt:lpstr>低压铸造的特点及应用</vt:lpstr>
      <vt:lpstr>低压铸造</vt:lpstr>
      <vt:lpstr>PowerPoint 演示文稿</vt:lpstr>
      <vt:lpstr>离心铸造</vt:lpstr>
      <vt:lpstr>PowerPoint 演示文稿</vt:lpstr>
      <vt:lpstr>消失模精密铸造 </vt:lpstr>
      <vt:lpstr>消失模精密铸造</vt:lpstr>
      <vt:lpstr>消失模精密铸造</vt:lpstr>
      <vt:lpstr>消失模精密铸造</vt:lpstr>
      <vt:lpstr>消失模精密铸造</vt:lpstr>
      <vt:lpstr>消失模精密铸造</vt:lpstr>
      <vt:lpstr>消失模精密铸造</vt:lpstr>
      <vt:lpstr>消失模精密铸造</vt:lpstr>
      <vt:lpstr>消失模精密铸造</vt:lpstr>
      <vt:lpstr>消失模精密铸造</vt:lpstr>
      <vt:lpstr>消失模精密铸造</vt:lpstr>
      <vt:lpstr>消失模精密铸造</vt:lpstr>
      <vt:lpstr>消失模精密铸造</vt:lpstr>
      <vt:lpstr>消失模精密铸造</vt:lpstr>
      <vt:lpstr>消失模精密铸造</vt:lpstr>
      <vt:lpstr>消失模精密铸造</vt:lpstr>
      <vt:lpstr>消失模精密铸造</vt:lpstr>
      <vt:lpstr>消失模精密铸造</vt:lpstr>
    </vt:vector>
  </TitlesOfParts>
  <Company>cws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机械制造基础</dc:title>
  <dc:creator>cdd</dc:creator>
  <cp:lastModifiedBy>rainbow</cp:lastModifiedBy>
  <cp:revision>1612</cp:revision>
  <dcterms:created xsi:type="dcterms:W3CDTF">2003-11-04T05:35:00Z</dcterms:created>
  <dcterms:modified xsi:type="dcterms:W3CDTF">2021-10-08T03:31:03Z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2052-11.1.0.10938</vt:lpwstr>
  </property>
  <property fmtid="{D5CDD505-2E9C-101B-9397-08002B2CF9AE}" pid="3" name="ICV">
    <vt:lpwstr>240E0B130E234C79946AEA8BD71AAC73</vt:lpwstr>
  </property>
</Properties>
</file>