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9"/>
  </p:handoutMasterIdLst>
  <p:sldIdLst>
    <p:sldId id="256" r:id="rId3"/>
    <p:sldId id="803" r:id="rId5"/>
    <p:sldId id="773" r:id="rId6"/>
    <p:sldId id="799" r:id="rId7"/>
    <p:sldId id="741" r:id="rId8"/>
    <p:sldId id="742" r:id="rId9"/>
    <p:sldId id="743" r:id="rId10"/>
    <p:sldId id="744" r:id="rId11"/>
    <p:sldId id="745" r:id="rId12"/>
    <p:sldId id="746" r:id="rId13"/>
    <p:sldId id="801" r:id="rId14"/>
    <p:sldId id="747" r:id="rId15"/>
    <p:sldId id="748" r:id="rId16"/>
    <p:sldId id="749" r:id="rId17"/>
    <p:sldId id="750" r:id="rId18"/>
    <p:sldId id="751" r:id="rId19"/>
    <p:sldId id="752" r:id="rId20"/>
    <p:sldId id="802" r:id="rId21"/>
    <p:sldId id="412" r:id="rId22"/>
    <p:sldId id="768" r:id="rId23"/>
    <p:sldId id="413" r:id="rId24"/>
    <p:sldId id="414" r:id="rId25"/>
    <p:sldId id="415" r:id="rId26"/>
    <p:sldId id="416" r:id="rId27"/>
    <p:sldId id="417" r:id="rId28"/>
    <p:sldId id="418" r:id="rId29"/>
    <p:sldId id="769" r:id="rId30"/>
    <p:sldId id="770" r:id="rId31"/>
    <p:sldId id="420" r:id="rId32"/>
    <p:sldId id="765" r:id="rId33"/>
    <p:sldId id="767" r:id="rId34"/>
    <p:sldId id="762" r:id="rId35"/>
    <p:sldId id="422" r:id="rId36"/>
    <p:sldId id="753" r:id="rId37"/>
    <p:sldId id="423" r:id="rId38"/>
    <p:sldId id="756" r:id="rId39"/>
    <p:sldId id="425" r:id="rId40"/>
    <p:sldId id="763" r:id="rId41"/>
    <p:sldId id="764" r:id="rId42"/>
    <p:sldId id="757" r:id="rId43"/>
    <p:sldId id="798" r:id="rId44"/>
    <p:sldId id="774" r:id="rId45"/>
    <p:sldId id="775" r:id="rId46"/>
    <p:sldId id="776" r:id="rId47"/>
    <p:sldId id="778" r:id="rId48"/>
    <p:sldId id="779" r:id="rId49"/>
    <p:sldId id="780" r:id="rId50"/>
    <p:sldId id="781" r:id="rId51"/>
    <p:sldId id="782" r:id="rId52"/>
    <p:sldId id="783" r:id="rId53"/>
    <p:sldId id="784" r:id="rId54"/>
    <p:sldId id="785" r:id="rId55"/>
    <p:sldId id="786" r:id="rId56"/>
    <p:sldId id="787" r:id="rId57"/>
    <p:sldId id="788" r:id="rId58"/>
    <p:sldId id="789" r:id="rId59"/>
    <p:sldId id="790" r:id="rId60"/>
    <p:sldId id="791" r:id="rId61"/>
    <p:sldId id="792" r:id="rId62"/>
    <p:sldId id="793" r:id="rId63"/>
    <p:sldId id="794" r:id="rId64"/>
    <p:sldId id="795" r:id="rId65"/>
    <p:sldId id="796" r:id="rId66"/>
    <p:sldId id="797" r:id="rId67"/>
    <p:sldId id="771" r:id="rId68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9BFD"/>
    <a:srgbClr val="FFCCFF"/>
    <a:srgbClr val="660033"/>
    <a:srgbClr val="FF3300"/>
    <a:srgbClr val="0000FF"/>
    <a:srgbClr val="009900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928"/>
    <p:restoredTop sz="99812"/>
  </p:normalViewPr>
  <p:slideViewPr>
    <p:cSldViewPr showGuides="1">
      <p:cViewPr varScale="1">
        <p:scale>
          <a:sx n="74" d="100"/>
          <a:sy n="74" d="100"/>
        </p:scale>
        <p:origin x="129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791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2" Type="http://schemas.openxmlformats.org/officeDocument/2006/relationships/tableStyles" Target="tableStyles.xml"/><Relationship Id="rId71" Type="http://schemas.openxmlformats.org/officeDocument/2006/relationships/viewProps" Target="viewProps.xml"/><Relationship Id="rId70" Type="http://schemas.openxmlformats.org/officeDocument/2006/relationships/presProps" Target="presProps.xml"/><Relationship Id="rId7" Type="http://schemas.openxmlformats.org/officeDocument/2006/relationships/slide" Target="slides/slide4.xml"/><Relationship Id="rId69" Type="http://schemas.openxmlformats.org/officeDocument/2006/relationships/handoutMaster" Target="handoutMasters/handoutMaster1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7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7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DDC287D-D6A8-4BA3-90F5-F2136D2EC86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765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GreekS" pitchFamily="2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eekS" pitchFamily="2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765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GreekS" pitchFamily="2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eekS" pitchFamily="2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4"/>
          <p:cNvSpPr>
            <a:spLocks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765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765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GreekS" pitchFamily="2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eekS" pitchFamily="2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765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GreekS" pitchFamily="2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E0E35F-E9D7-4B46-9656-4C1B8F228E09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eekS" pitchFamily="2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eekS" pitchFamily="2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  <a:ea typeface="宋体" panose="02010600030101010101" pitchFamily="2" charset="-122"/>
              </a:rPr>
            </a:fld>
            <a:endParaRPr lang="en-US" altLang="zh-CN" sz="1200" dirty="0">
              <a:latin typeface="GreekS" pitchFamily="2" charset="0"/>
              <a:ea typeface="宋体" panose="02010600030101010101" pitchFamily="2" charset="-122"/>
            </a:endParaRPr>
          </a:p>
        </p:txBody>
      </p:sp>
      <p:sp>
        <p:nvSpPr>
          <p:cNvPr id="614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614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921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21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1126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126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1331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31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1536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36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1741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741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1945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945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2150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150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2355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355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2560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560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2765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765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2969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969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3174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174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3379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379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3584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584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3789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789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3993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993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4198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198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44034" name="Rectangle 2"/>
          <p:cNvSpPr>
            <a:spLocks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44035" name="Rectangle 3"/>
          <p:cNvSpPr/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4608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608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2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4813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813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5017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5017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5222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5222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5427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5427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5632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5632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6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58370" name="Rectangle 2"/>
          <p:cNvSpPr>
            <a:spLocks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58371" name="Rectangle 3"/>
          <p:cNvSpPr/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60418" name="Rectangle 2"/>
          <p:cNvSpPr>
            <a:spLocks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60419" name="Rectangle 3"/>
          <p:cNvSpPr/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62466" name="Rectangle 1026"/>
          <p:cNvSpPr>
            <a:spLocks noTextEdit="1"/>
          </p:cNvSpPr>
          <p:nvPr>
            <p:ph type="sldImg"/>
          </p:nvPr>
        </p:nvSpPr>
        <p:spPr/>
      </p:sp>
      <p:sp>
        <p:nvSpPr>
          <p:cNvPr id="62467" name="Rectangle 1027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6451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6451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6656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6656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0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6861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6861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7065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7065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7270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7270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7475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7475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7680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7680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4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7885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7885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8089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8089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8294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8294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8499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8704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8704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8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8909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8909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9113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113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9318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318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9523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523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9728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728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2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9933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933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37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10137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0137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42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10342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0342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10547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0547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52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10752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0752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956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10957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0957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161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11161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1161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366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11366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1366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571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11571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1571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776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11776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1776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980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11981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1981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185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12185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2185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390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12390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2390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595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12595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2595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800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12800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2800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04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13005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005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13209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209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414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13414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414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19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GreekS" pitchFamily="2" charset="0"/>
              </a:rPr>
            </a:fld>
            <a:endParaRPr lang="en-US" altLang="zh-CN" sz="1200" dirty="0">
              <a:latin typeface="GreekS" pitchFamily="2" charset="0"/>
            </a:endParaRPr>
          </a:p>
        </p:txBody>
      </p:sp>
      <p:sp>
        <p:nvSpPr>
          <p:cNvPr id="136194" name="Rectangle 2"/>
          <p:cNvSpPr>
            <a:spLocks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36195" name="Rectangle 3"/>
          <p:cNvSpPr/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7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14600" y="3962400"/>
            <a:ext cx="5638800" cy="1295400"/>
          </a:xfrm>
        </p:spPr>
        <p:txBody>
          <a:bodyPr/>
          <a:lstStyle>
            <a:lvl1pPr>
              <a:lnSpc>
                <a:spcPct val="80000"/>
              </a:lnSpc>
              <a:defRPr sz="4000"/>
            </a:lvl1pPr>
          </a:lstStyle>
          <a:p>
            <a:pPr lvl="0" fontAlgn="base"/>
            <a:r>
              <a:rPr lang="zh-CN" altLang="en-US" strike="noStrike" noProof="0" smtClean="0"/>
              <a:t>单击此处编辑母版标题样式</a:t>
            </a:r>
            <a:endParaRPr lang="zh-CN" altLang="en-US" strike="noStrike" noProof="0" smtClean="0"/>
          </a:p>
        </p:txBody>
      </p:sp>
      <p:sp>
        <p:nvSpPr>
          <p:cNvPr id="9297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14600" y="5486400"/>
            <a:ext cx="5638800" cy="609600"/>
          </a:xfrm>
        </p:spPr>
        <p:txBody>
          <a:bodyPr/>
          <a:lstStyle>
            <a:lvl1pPr marL="0" indent="0">
              <a:buFontTx/>
              <a:buNone/>
              <a:defRPr sz="2800"/>
            </a:lvl1pPr>
          </a:lstStyle>
          <a:p>
            <a:pPr lvl="0" fontAlgn="base"/>
            <a:r>
              <a:rPr lang="zh-CN" altLang="en-US" strike="noStrike" noProof="0" smtClean="0"/>
              <a:t>单击此处编辑母版副标题样式</a:t>
            </a:r>
            <a:endParaRPr lang="zh-CN" altLang="en-US" strike="noStrike" noProof="0" smtClean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62200" y="6248400"/>
            <a:ext cx="434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B7A9E5-0E05-4381-9A5A-757342961073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A8D558-5A71-4D53-B388-85161B0C4A77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A8D558-5A71-4D53-B388-85161B0C4A77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00500" cy="45720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000500" cy="45720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A8D558-5A71-4D53-B388-85161B0C4A77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A8D558-5A71-4D53-B388-85161B0C4A77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A8D558-5A71-4D53-B388-85161B0C4A77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A8D558-5A71-4D53-B388-85161B0C4A77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A8D558-5A71-4D53-B388-85161B0C4A77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A8D558-5A71-4D53-B388-85161B0C4A77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A8D558-5A71-4D53-B388-85161B0C4A77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2250" y="90488"/>
            <a:ext cx="2038350" cy="5853112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90488"/>
            <a:ext cx="5962650" cy="5853112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A8D558-5A71-4D53-B388-85161B0C4A77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90800" y="90488"/>
            <a:ext cx="6019800" cy="11906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371600"/>
            <a:ext cx="4000500" cy="45720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000500" cy="45720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A8D558-5A71-4D53-B388-85161B0C4A77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2590800" y="90488"/>
            <a:ext cx="6019800" cy="11906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457200" y="1371600"/>
            <a:ext cx="8153400" cy="4572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287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19400" y="6248400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0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87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267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87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315200" y="6248400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A8D558-5A71-4D53-B388-85161B0C4A77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6.xml"/><Relationship Id="rId2" Type="http://schemas.openxmlformats.org/officeDocument/2006/relationships/hyperlink" Target="https://v.qq.com/x/page/z0922lcvu68.html" TargetMode="Externa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tv.sohu.com/v/dXMvNjMzNDYxNTcvMjc5MzI0OTEuc2h0bWw=.html" TargetMode="External"/><Relationship Id="rId1" Type="http://schemas.openxmlformats.org/officeDocument/2006/relationships/hyperlink" Target="https://v.qq.com/x/page/m07223w29vb.html" TargetMode="Externa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4.xml"/><Relationship Id="rId2" Type="http://schemas.openxmlformats.org/officeDocument/2006/relationships/hyperlink" Target="https://v.qq.com/x/page/x0343huqste.html" TargetMode="External"/><Relationship Id="rId1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haokan.baidu.com/v?vid=17144910153261300918&amp;pd=bjh&amp;fr=bjhauthor&amp;type=video" TargetMode="Externa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tv.sohu.com/v/dXMvNjMyNzQ0MjkvMjI1OTM2Mjkuc2h0bWw=.html" TargetMode="Externa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haokan.baidu.com/v?vid=14732671566193904137&amp;pd=bjh&amp;fr=bjhauthor&amp;type=video" TargetMode="Externa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v.qq.com/x/page/s0850scrf4l.html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wmf"/><Relationship Id="rId1" Type="http://schemas.openxmlformats.org/officeDocument/2006/relationships/oleObject" Target="../embeddings/oleObject1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wmf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3.pn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7.png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1.jpeg"/><Relationship Id="rId1" Type="http://schemas.openxmlformats.org/officeDocument/2006/relationships/image" Target="../media/image40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3.jpeg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1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5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Rectangle 2"/>
          <p:cNvSpPr>
            <a:spLocks noGrp="1"/>
          </p:cNvSpPr>
          <p:nvPr>
            <p:ph type="ctrTitle"/>
          </p:nvPr>
        </p:nvSpPr>
        <p:spPr>
          <a:xfrm>
            <a:off x="827088" y="1341438"/>
            <a:ext cx="5184775" cy="935037"/>
          </a:xfrm>
        </p:spPr>
        <p:txBody>
          <a:bodyPr vert="horz" wrap="square" lIns="91440" tIns="45720" rIns="91440" bIns="45720" anchor="ctr" anchorCtr="0"/>
          <a:p>
            <a:pPr algn="ctr" eaLnBrk="1" hangingPunct="1">
              <a:buClrTx/>
              <a:buSzTx/>
              <a:buFontTx/>
            </a:pPr>
            <a:r>
              <a:rPr lang="zh-CN" altLang="en-US" sz="4800" kern="1200" dirty="0">
                <a:solidFill>
                  <a:srgbClr val="86511C"/>
                </a:solidFill>
                <a:latin typeface="+mj-lt"/>
                <a:ea typeface="楷体_GB2312" pitchFamily="49" charset="-122"/>
                <a:cs typeface="+mj-cs"/>
              </a:rPr>
              <a:t>机械制造基础</a:t>
            </a:r>
            <a:endParaRPr lang="zh-CN" altLang="en-US" sz="4800" kern="1200" dirty="0">
              <a:solidFill>
                <a:srgbClr val="86511C"/>
              </a:solidFill>
              <a:latin typeface="+mj-lt"/>
              <a:ea typeface="楷体_GB2312" pitchFamily="49" charset="-122"/>
              <a:cs typeface="+mj-cs"/>
            </a:endParaRPr>
          </a:p>
        </p:txBody>
      </p:sp>
      <p:sp>
        <p:nvSpPr>
          <p:cNvPr id="2051" name="Rectangle 3"/>
          <p:cNvSpPr>
            <a:spLocks noGrp="1"/>
          </p:cNvSpPr>
          <p:nvPr>
            <p:ph type="subTitle" idx="1"/>
          </p:nvPr>
        </p:nvSpPr>
        <p:spPr>
          <a:xfrm>
            <a:off x="2741613" y="3933825"/>
            <a:ext cx="5646738" cy="601663"/>
          </a:xfrm>
        </p:spPr>
        <p:txBody>
          <a:bodyPr vert="horz" wrap="square" lIns="91440" tIns="45720" rIns="91440" bIns="45720" anchor="t" anchorCtr="0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2"/>
                </a:solidFill>
                <a:latin typeface="华文彩云" panose="02010800040101010101" pitchFamily="2" charset="-122"/>
                <a:ea typeface="华文彩云" panose="02010800040101010101" pitchFamily="2" charset="-122"/>
                <a:cs typeface="+mn-cs"/>
              </a:rPr>
              <a:t>许虹（机械与动力工程学院）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2"/>
              </a:solidFill>
              <a:latin typeface="华文彩云" panose="02010800040101010101" pitchFamily="2" charset="-122"/>
              <a:ea typeface="华文彩云" panose="02010800040101010101" pitchFamily="2" charset="-122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1" dirty="0">
                <a:solidFill>
                  <a:schemeClr val="tx2"/>
                </a:solidFill>
                <a:latin typeface="华文彩云" panose="02010800040101010101" pitchFamily="2" charset="-122"/>
                <a:ea typeface="华文彩云" panose="02010800040101010101" pitchFamily="2" charset="-122"/>
                <a:cs typeface="+mn-cs"/>
              </a:rPr>
              <a:t>xuhong@ecust.edu.cn</a:t>
            </a:r>
            <a:endParaRPr kumimoji="0" lang="en-US" altLang="zh-CN" sz="2800" b="1" i="0" u="none" strike="noStrike" kern="1200" cap="none" spc="0" normalizeH="0" baseline="0" noProof="1" dirty="0">
              <a:solidFill>
                <a:schemeClr val="tx2"/>
              </a:solidFill>
              <a:latin typeface="华文彩云" panose="02010800040101010101" pitchFamily="2" charset="-122"/>
              <a:ea typeface="华文彩云" panose="02010800040101010101" pitchFamily="2" charset="-122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1" dirty="0">
                <a:solidFill>
                  <a:schemeClr val="tx2"/>
                </a:solidFill>
                <a:latin typeface="华文彩云" panose="02010800040101010101" pitchFamily="2" charset="-122"/>
                <a:ea typeface="华文彩云" panose="02010800040101010101" pitchFamily="2" charset="-122"/>
                <a:cs typeface="+mn-cs"/>
              </a:rPr>
              <a:t>42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2"/>
                </a:solidFill>
                <a:latin typeface="华文彩云" panose="02010800040101010101" pitchFamily="2" charset="-122"/>
                <a:ea typeface="华文彩云" panose="02010800040101010101" pitchFamily="2" charset="-122"/>
                <a:cs typeface="+mn-cs"/>
              </a:rPr>
              <a:t>学时（理论）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2"/>
              </a:solidFill>
              <a:latin typeface="华文彩云" panose="02010800040101010101" pitchFamily="2" charset="-122"/>
              <a:ea typeface="华文彩云" panose="02010800040101010101" pitchFamily="2" charset="-122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kern="1200" cap="none" spc="0" normalizeH="0" baseline="0" noProof="1" dirty="0">
              <a:solidFill>
                <a:schemeClr val="tx2"/>
              </a:solidFill>
              <a:latin typeface="华文琥珀" panose="02010800040101010101" pitchFamily="2" charset="-122"/>
              <a:ea typeface="华文琥珀" panose="02010800040101010101" pitchFamily="2" charset="-122"/>
              <a:cs typeface="+mn-cs"/>
            </a:endParaRPr>
          </a:p>
        </p:txBody>
      </p:sp>
      <p:sp>
        <p:nvSpPr>
          <p:cNvPr id="5123" name="WordArt 8"/>
          <p:cNvSpPr>
            <a:spLocks noTextEdit="1"/>
          </p:cNvSpPr>
          <p:nvPr/>
        </p:nvSpPr>
        <p:spPr>
          <a:xfrm>
            <a:off x="6227763" y="1484313"/>
            <a:ext cx="1152525" cy="720725"/>
          </a:xfrm>
          <a:prstGeom prst="rect">
            <a:avLst/>
          </a:prstGeom>
        </p:spPr>
        <p:txBody>
          <a:bodyPr wrap="none" fromWordArt="1">
            <a:prstTxWarp prst="textWave1">
              <a:avLst>
                <a:gd name="adj1" fmla="val 13005"/>
                <a:gd name="adj2" fmla="val 0"/>
              </a:avLst>
            </a:prstTxWarp>
            <a:normAutofit/>
          </a:bodyPr>
          <a:p>
            <a:pPr algn="ctr"/>
            <a:r>
              <a:rPr lang="zh-CN" altLang="en-US" sz="3600" spc="-360">
                <a:ln w="12700" cap="flat" cmpd="sng">
                  <a:solidFill>
                    <a:srgbClr val="FF66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FF00"/>
                </a:solidFill>
                <a:effectLst>
                  <a:outerShdw dist="125724" dir="18900000" algn="ctr" rotWithShape="0">
                    <a:srgbClr val="000099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ECUST</a:t>
            </a:r>
            <a:endParaRPr lang="zh-CN" altLang="en-US" sz="3600" spc="-360">
              <a:ln w="12700" cap="flat" cmpd="sng">
                <a:solidFill>
                  <a:srgbClr val="FF6600"/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00FF00"/>
              </a:solidFill>
              <a:effectLst>
                <a:outerShdw dist="125724" dir="18900000" algn="ctr" rotWithShape="0">
                  <a:srgbClr val="000099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charRg st="14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charRg st="34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1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8402" name="Rectangle 2"/>
          <p:cNvSpPr>
            <a:spLocks noGrp="1"/>
          </p:cNvSpPr>
          <p:nvPr>
            <p:ph idx="1"/>
          </p:nvPr>
        </p:nvSpPr>
        <p:spPr>
          <a:xfrm>
            <a:off x="457200" y="1371600"/>
            <a:ext cx="8153400" cy="5297488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电弧焊</a:t>
            </a:r>
            <a:r>
              <a:rPr lang="en-US" altLang="zh-CN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焊条电弧焊、埋弧焊、气体保护焊、等离子焊</a:t>
            </a:r>
            <a:endParaRPr lang="zh-CN" altLang="en-US" sz="24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其它常用焊接方法</a:t>
            </a:r>
            <a:endParaRPr lang="zh-CN" altLang="en-US" sz="24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eaLnBrk="1" hangingPunct="1"/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电阻焊</a:t>
            </a:r>
            <a:endParaRPr lang="zh-CN" altLang="en-US" sz="20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eaLnBrk="1" hangingPunct="1"/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摩擦焊</a:t>
            </a:r>
            <a:endParaRPr lang="zh-CN" altLang="en-US" sz="20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eaLnBrk="1" hangingPunct="1"/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钎焊</a:t>
            </a:r>
            <a:endParaRPr lang="zh-CN" altLang="en-US" sz="20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eaLnBrk="1" hangingPunct="1"/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真空电子束焊接</a:t>
            </a:r>
            <a:endParaRPr lang="zh-CN" altLang="en-US" sz="20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eaLnBrk="1" hangingPunct="1"/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激光焊接</a:t>
            </a:r>
            <a:endParaRPr lang="zh-CN" altLang="en-US" sz="20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eaLnBrk="1" hangingPunct="1"/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高频焊</a:t>
            </a:r>
            <a:endParaRPr lang="zh-CN" altLang="en-US" sz="20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常用金属材料的焊接</a:t>
            </a:r>
            <a:endParaRPr lang="zh-CN" altLang="en-US" sz="24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焊接结构设计</a:t>
            </a:r>
            <a:endParaRPr lang="zh-CN" altLang="en-US" sz="24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常见焊接缺陷产生原因分析及防治措施</a:t>
            </a:r>
            <a:endParaRPr lang="zh-CN" altLang="en-US" sz="24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170" name="Rectangle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sz="4400" dirty="0"/>
              <a:t>本篇内容</a:t>
            </a:r>
            <a:endParaRPr lang="zh-CN" altLang="en-US" sz="4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2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2">
                                            <p:txEl>
                                              <p:charRg st="4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2">
                                            <p:txEl>
                                              <p:charRg st="13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2">
                                            <p:txEl>
                                              <p:charRg st="17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2">
                                            <p:txEl>
                                              <p:charRg st="21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2">
                                            <p:txEl>
                                              <p:charRg st="24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2">
                                            <p:txEl>
                                              <p:charRg st="32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2">
                                            <p:txEl>
                                              <p:charRg st="37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2">
                                            <p:txEl>
                                              <p:charRg st="41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2">
                                            <p:txEl>
                                              <p:charRg st="51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2">
                                            <p:txEl>
                                              <p:charRg st="58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840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sz="4000" dirty="0">
                <a:ea typeface="楷体_GB2312" pitchFamily="49" charset="-122"/>
              </a:rPr>
              <a:t>电阻焊</a:t>
            </a:r>
            <a:endParaRPr lang="zh-CN" altLang="en-US" sz="4000" dirty="0">
              <a:ea typeface="楷体_GB2312" pitchFamily="49" charset="-122"/>
            </a:endParaRPr>
          </a:p>
        </p:txBody>
      </p:sp>
      <p:sp>
        <p:nvSpPr>
          <p:cNvPr id="8194" name="Rectangle 3"/>
          <p:cNvSpPr/>
          <p:nvPr/>
        </p:nvSpPr>
        <p:spPr>
          <a:xfrm>
            <a:off x="250825" y="1412875"/>
            <a:ext cx="8467725" cy="26479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indent="228600"/>
            <a:r>
              <a:rPr lang="zh-CN" altLang="en-US" sz="24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一、电阻焊</a:t>
            </a:r>
            <a:r>
              <a:rPr lang="zh-CN" altLang="en-US" sz="2400" b="1" dirty="0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 工件组合后通过电极施加压力，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利用电流通过接头的接触面及邻近区域产生的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电阻热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，把工件加热到塑性或局部熔化状态，在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压力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下形成接头的焊接方法。包括：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lvl="1" indent="0" eaLnBrk="1" hangingPunct="1"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点焊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lvl="1" indent="0" eaLnBrk="1" hangingPunct="1"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缝焊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lvl="1" indent="0" eaLnBrk="1" hangingPunct="1"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对焊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lvl="1" indent="0" eaLnBrk="1" hangingPunct="1"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观看电阻焊视频</a:t>
            </a:r>
            <a:endParaRPr lang="zh-CN" altLang="en-US" sz="24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8195" name="Group 4"/>
          <p:cNvGrpSpPr/>
          <p:nvPr/>
        </p:nvGrpSpPr>
        <p:grpSpPr>
          <a:xfrm>
            <a:off x="3635375" y="2852738"/>
            <a:ext cx="5041900" cy="3789362"/>
            <a:chOff x="3061" y="799"/>
            <a:chExt cx="2314" cy="1587"/>
          </a:xfrm>
        </p:grpSpPr>
        <p:pic>
          <p:nvPicPr>
            <p:cNvPr id="8196" name="Picture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061" y="799"/>
              <a:ext cx="2291" cy="136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197" name="Text Box 6"/>
            <p:cNvSpPr txBox="1"/>
            <p:nvPr/>
          </p:nvSpPr>
          <p:spPr>
            <a:xfrm>
              <a:off x="3061" y="2160"/>
              <a:ext cx="2314" cy="226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lIns="0" tIns="0" rIns="0" bIns="0" anchor="t" anchorCtr="0"/>
            <a:p>
              <a:r>
                <a:rPr lang="en-US" altLang="zh-CN" sz="1600" b="1" dirty="0">
                  <a:latin typeface="楷体_GB2312" pitchFamily="49" charset="-122"/>
                  <a:ea typeface="楷体_GB2312" pitchFamily="49" charset="-122"/>
                </a:rPr>
                <a:t>       </a:t>
              </a:r>
              <a:r>
                <a:rPr lang="zh-CN" altLang="en-US" sz="2000" b="1" dirty="0">
                  <a:latin typeface="楷体_GB2312" pitchFamily="49" charset="-122"/>
                  <a:ea typeface="楷体_GB2312" pitchFamily="49" charset="-122"/>
                </a:rPr>
                <a:t>图</a:t>
              </a:r>
              <a:r>
                <a:rPr lang="en-US" altLang="zh-CN" sz="2000" b="1" dirty="0">
                  <a:latin typeface="楷体_GB2312" pitchFamily="49" charset="-122"/>
                  <a:ea typeface="楷体_GB2312" pitchFamily="49" charset="-122"/>
                </a:rPr>
                <a:t>4.24 </a:t>
              </a:r>
              <a:r>
                <a:rPr lang="zh-CN" altLang="en-US" sz="2000" b="1" dirty="0">
                  <a:latin typeface="楷体_GB2312" pitchFamily="49" charset="-122"/>
                  <a:ea typeface="楷体_GB2312" pitchFamily="49" charset="-122"/>
                </a:rPr>
                <a:t>点焊示意图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</a:t>
              </a:r>
              <a:endParaRPr lang="zh-CN" altLang="en-US" dirty="0">
                <a:latin typeface="GreekS" pitchFamily="2" charset="0"/>
                <a:ea typeface="宋体" panose="02010600030101010101" pitchFamily="2" charset="-122"/>
              </a:endParaRPr>
            </a:p>
          </p:txBody>
        </p:sp>
      </p:grpSp>
      <p:sp>
        <p:nvSpPr>
          <p:cNvPr id="8198" name="Rectangle 8"/>
          <p:cNvSpPr/>
          <p:nvPr/>
        </p:nvSpPr>
        <p:spPr>
          <a:xfrm>
            <a:off x="0" y="2528888"/>
            <a:ext cx="0" cy="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9" name="矩形 1"/>
          <p:cNvSpPr/>
          <p:nvPr/>
        </p:nvSpPr>
        <p:spPr>
          <a:xfrm>
            <a:off x="468313" y="4198938"/>
            <a:ext cx="2674937" cy="1568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hlinkClick r:id="rId2"/>
              </a:rPr>
              <a:t>https://v.qq.com/x/page/z0922lcvu68.html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  <a:hlinkClick r:id="rId2"/>
              </a:rPr>
              <a:t>电阻焊教学视频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  <a:hlinkClick r:id="rId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sz="4000" dirty="0">
                <a:ea typeface="楷体_GB2312" pitchFamily="49" charset="-122"/>
              </a:rPr>
              <a:t>电阻焊</a:t>
            </a:r>
            <a:endParaRPr lang="zh-CN" altLang="en-US" sz="4000" dirty="0">
              <a:ea typeface="楷体_GB2312" pitchFamily="49" charset="-122"/>
            </a:endParaRPr>
          </a:p>
        </p:txBody>
      </p:sp>
      <p:grpSp>
        <p:nvGrpSpPr>
          <p:cNvPr id="10242" name="Group 3"/>
          <p:cNvGrpSpPr/>
          <p:nvPr/>
        </p:nvGrpSpPr>
        <p:grpSpPr>
          <a:xfrm>
            <a:off x="4930775" y="1341438"/>
            <a:ext cx="3673475" cy="2519362"/>
            <a:chOff x="3061" y="799"/>
            <a:chExt cx="2314" cy="1587"/>
          </a:xfrm>
        </p:grpSpPr>
        <p:pic>
          <p:nvPicPr>
            <p:cNvPr id="10243" name="Pictur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061" y="799"/>
              <a:ext cx="2291" cy="136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244" name="Text Box 5"/>
            <p:cNvSpPr txBox="1"/>
            <p:nvPr/>
          </p:nvSpPr>
          <p:spPr>
            <a:xfrm>
              <a:off x="3061" y="2160"/>
              <a:ext cx="2314" cy="226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lIns="0" tIns="0" rIns="0" bIns="0" anchor="t" anchorCtr="0"/>
            <a:p>
              <a:r>
                <a:rPr lang="en-US" altLang="zh-CN" sz="1600" b="1" dirty="0">
                  <a:latin typeface="楷体_GB2312" pitchFamily="49" charset="-122"/>
                  <a:ea typeface="楷体_GB2312" pitchFamily="49" charset="-122"/>
                </a:rPr>
                <a:t>       </a:t>
              </a:r>
              <a:r>
                <a:rPr lang="zh-CN" altLang="en-US" sz="2000" b="1" dirty="0">
                  <a:latin typeface="楷体_GB2312" pitchFamily="49" charset="-122"/>
                  <a:ea typeface="楷体_GB2312" pitchFamily="49" charset="-122"/>
                </a:rPr>
                <a:t>图</a:t>
              </a:r>
              <a:r>
                <a:rPr lang="en-US" altLang="zh-CN" sz="2000" b="1" dirty="0">
                  <a:latin typeface="楷体_GB2312" pitchFamily="49" charset="-122"/>
                  <a:ea typeface="楷体_GB2312" pitchFamily="49" charset="-122"/>
                </a:rPr>
                <a:t>4.24 </a:t>
              </a:r>
              <a:r>
                <a:rPr lang="zh-CN" altLang="en-US" sz="2000" b="1" dirty="0">
                  <a:latin typeface="楷体_GB2312" pitchFamily="49" charset="-122"/>
                  <a:ea typeface="楷体_GB2312" pitchFamily="49" charset="-122"/>
                </a:rPr>
                <a:t>点焊示意图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</a:t>
              </a:r>
              <a:endParaRPr lang="zh-CN" altLang="en-US" dirty="0">
                <a:latin typeface="GreekS" pitchFamily="2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245" name="Rectangle 6"/>
          <p:cNvSpPr/>
          <p:nvPr/>
        </p:nvSpPr>
        <p:spPr>
          <a:xfrm>
            <a:off x="0" y="23495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46" name="Rectangle 7"/>
          <p:cNvSpPr/>
          <p:nvPr/>
        </p:nvSpPr>
        <p:spPr>
          <a:xfrm>
            <a:off x="0" y="2528888"/>
            <a:ext cx="0" cy="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47" name="Rectangle 8"/>
          <p:cNvSpPr/>
          <p:nvPr/>
        </p:nvSpPr>
        <p:spPr>
          <a:xfrm>
            <a:off x="250825" y="4024313"/>
            <a:ext cx="8569325" cy="19177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indent="228600"/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过程：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柱状电极压紧在工件上→接通电流→接触处温度升高熔化（液态熔核）→断电→继续保持压力或加大压力→液态熔核在压力下凝固结晶，形成焊点。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indent="228600" eaLnBrk="0" hangingPunct="0"/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 当焊接下一个焊点时，有一部分电流会流经已焊好的焊点，称为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分流现象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，因此两个相邻焊点之间应有一定距离。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248" name="Rectangle 9"/>
          <p:cNvSpPr/>
          <p:nvPr/>
        </p:nvSpPr>
        <p:spPr>
          <a:xfrm>
            <a:off x="1042988" y="6135688"/>
            <a:ext cx="7704137" cy="457200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sz="2400" b="1" dirty="0">
                <a:solidFill>
                  <a:srgbClr val="003300"/>
                </a:solidFill>
                <a:latin typeface="Century" panose="02040604050505020304" pitchFamily="18" charset="0"/>
                <a:ea typeface="楷体_GB2312" pitchFamily="49" charset="-122"/>
              </a:rPr>
              <a:t>工件厚度</a:t>
            </a:r>
            <a:r>
              <a:rPr lang="zh-CN" altLang="en-US" sz="2400" b="1" dirty="0">
                <a:solidFill>
                  <a:srgbClr val="003300"/>
                </a:solidFill>
                <a:latin typeface="GreekS" pitchFamily="2" charset="0"/>
                <a:ea typeface="楷体_GB2312" pitchFamily="49" charset="-122"/>
              </a:rPr>
              <a:t>↑，导电性↑，分流现象越严重，点间距↑</a:t>
            </a:r>
            <a:endParaRPr lang="zh-CN" altLang="en-US" sz="2400" b="1" dirty="0">
              <a:solidFill>
                <a:srgbClr val="003300"/>
              </a:solidFill>
              <a:latin typeface="GreekS" pitchFamily="2" charset="0"/>
              <a:ea typeface="楷体_GB2312" pitchFamily="49" charset="-122"/>
            </a:endParaRPr>
          </a:p>
        </p:txBody>
      </p:sp>
      <p:sp>
        <p:nvSpPr>
          <p:cNvPr id="10249" name="Rectangle 10"/>
          <p:cNvSpPr/>
          <p:nvPr/>
        </p:nvSpPr>
        <p:spPr>
          <a:xfrm>
            <a:off x="395288" y="1557338"/>
            <a:ext cx="4176712" cy="1917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2400" b="1" dirty="0">
                <a:solidFill>
                  <a:srgbClr val="CC3300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sz="2400" b="1" dirty="0">
                <a:solidFill>
                  <a:srgbClr val="CC3300"/>
                </a:solidFill>
                <a:latin typeface="楷体_GB2312" pitchFamily="49" charset="-122"/>
                <a:ea typeface="楷体_GB2312" pitchFamily="49" charset="-122"/>
              </a:rPr>
              <a:t>点焊：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将工件装配成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搭接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接头，并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紧压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在两柱状电极之间，利用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电阻热溶化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金属母材金属，形成一个焊点的电阻焊方法。</a:t>
            </a:r>
            <a:endParaRPr lang="zh-CN" altLang="en-US" sz="24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Rectangle 1028"/>
          <p:cNvSpPr/>
          <p:nvPr/>
        </p:nvSpPr>
        <p:spPr>
          <a:xfrm>
            <a:off x="107950" y="4149725"/>
            <a:ext cx="8458200" cy="2282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影响点焊质量的主要因素有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焊接电流、通电时间、电极压力及工件表面清理情况等。</a:t>
            </a:r>
            <a:endParaRPr lang="zh-CN" altLang="en-US" sz="24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4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根据焊接时间的长短和电流大小，常把点焊焊接规范分为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硬规范和软规范</a:t>
            </a:r>
            <a:r>
              <a:rPr lang="zh-CN" altLang="en-US" sz="24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硬规范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是指在较短时间内通以大电流的规范。适合焊接导热性能较好的金属。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软规范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是指在较长时间内通以较小电流的规范。适合焊接有淬硬倾向的金属。</a:t>
            </a:r>
            <a:endParaRPr lang="zh-CN" altLang="en-US" sz="2400" b="1" dirty="0">
              <a:solidFill>
                <a:srgbClr val="FF66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2290" name="Picture 10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825" y="1495425"/>
            <a:ext cx="8569325" cy="24018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1" name="Rectangle 1032"/>
          <p:cNvSpPr/>
          <p:nvPr/>
        </p:nvSpPr>
        <p:spPr>
          <a:xfrm>
            <a:off x="2590800" y="90488"/>
            <a:ext cx="6019800" cy="11906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/>
            <a:r>
              <a:rPr lang="zh-CN" altLang="en-US" sz="4000" b="1" dirty="0">
                <a:solidFill>
                  <a:schemeClr val="tx2"/>
                </a:solidFill>
                <a:latin typeface="Tahoma" panose="020B0604030504040204" pitchFamily="34" charset="0"/>
                <a:ea typeface="楷体_GB2312" pitchFamily="49" charset="-122"/>
              </a:rPr>
              <a:t>电阻焊</a:t>
            </a:r>
            <a:endParaRPr lang="zh-CN" altLang="en-US" sz="4000" b="1" dirty="0">
              <a:solidFill>
                <a:schemeClr val="tx2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sz="4000" dirty="0">
                <a:ea typeface="楷体_GB2312" pitchFamily="49" charset="-122"/>
              </a:rPr>
              <a:t>电阻焊</a:t>
            </a:r>
            <a:endParaRPr lang="zh-CN" altLang="en-US" sz="4000" dirty="0">
              <a:ea typeface="楷体_GB2312" pitchFamily="49" charset="-122"/>
            </a:endParaRPr>
          </a:p>
        </p:txBody>
      </p:sp>
      <p:sp>
        <p:nvSpPr>
          <p:cNvPr id="14338" name="Rectangle 6"/>
          <p:cNvSpPr/>
          <p:nvPr/>
        </p:nvSpPr>
        <p:spPr>
          <a:xfrm>
            <a:off x="179388" y="1304925"/>
            <a:ext cx="8642350" cy="11874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indent="228600"/>
            <a:r>
              <a:rPr lang="en-US" altLang="zh-CN" sz="2400" b="1" dirty="0">
                <a:solidFill>
                  <a:srgbClr val="CC3300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sz="2400" b="1" dirty="0">
                <a:solidFill>
                  <a:srgbClr val="CC3300"/>
                </a:solidFill>
                <a:latin typeface="楷体_GB2312" pitchFamily="49" charset="-122"/>
                <a:ea typeface="楷体_GB2312" pitchFamily="49" charset="-122"/>
              </a:rPr>
              <a:t>点焊：接头形式：搭接接头</a:t>
            </a:r>
            <a:endParaRPr lang="zh-CN" altLang="en-US" sz="2400" b="1" dirty="0">
              <a:solidFill>
                <a:srgbClr val="CC3300"/>
              </a:solidFill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4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应用：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S&lt;4mm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的薄板冲压结构及线材的焊接，制造汽车、车厢，飞机等薄壁结构及罩壳和轻工、生活用品等。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4339" name="Group 10"/>
          <p:cNvGrpSpPr/>
          <p:nvPr/>
        </p:nvGrpSpPr>
        <p:grpSpPr>
          <a:xfrm>
            <a:off x="3059113" y="2698750"/>
            <a:ext cx="3252787" cy="4043363"/>
            <a:chOff x="1927" y="1700"/>
            <a:chExt cx="2049" cy="2547"/>
          </a:xfrm>
        </p:grpSpPr>
        <p:pic>
          <p:nvPicPr>
            <p:cNvPr id="14340" name="Picture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27" y="1700"/>
              <a:ext cx="2049" cy="254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4341" name="Rectangle 9"/>
            <p:cNvSpPr/>
            <p:nvPr/>
          </p:nvSpPr>
          <p:spPr>
            <a:xfrm>
              <a:off x="2094" y="3906"/>
              <a:ext cx="1648" cy="250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0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图</a:t>
              </a:r>
              <a:r>
                <a:rPr lang="en-US" altLang="zh-CN" sz="20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4-25 </a:t>
              </a:r>
              <a:r>
                <a:rPr lang="zh-CN" altLang="en-US" sz="20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点焊接头形式</a:t>
              </a:r>
              <a:endParaRPr lang="zh-CN" altLang="en-US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sz="4000" dirty="0">
                <a:ea typeface="楷体_GB2312" pitchFamily="49" charset="-122"/>
              </a:rPr>
              <a:t>电阻焊</a:t>
            </a:r>
            <a:endParaRPr lang="zh-CN" altLang="en-US" sz="4000" dirty="0">
              <a:ea typeface="楷体_GB2312" pitchFamily="49" charset="-122"/>
            </a:endParaRPr>
          </a:p>
        </p:txBody>
      </p:sp>
      <p:sp>
        <p:nvSpPr>
          <p:cNvPr id="16386" name="Rectangle 4"/>
          <p:cNvSpPr/>
          <p:nvPr/>
        </p:nvSpPr>
        <p:spPr>
          <a:xfrm>
            <a:off x="250825" y="1087438"/>
            <a:ext cx="4681538" cy="52657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indent="228600"/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缝焊</a:t>
            </a:r>
            <a:endParaRPr lang="zh-CN" altLang="en-US" sz="28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原理：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用旋转的圆盘状滚动电极代替柱状电极。焊接时，盘状电极压紧焊件并转动（也带动焊件向前移动），配合连续或断续通电，形成连续的焊缝（重叠的焊点）。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特点及应用：</a:t>
            </a:r>
            <a:endParaRPr lang="zh-CN" altLang="en-US" sz="24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zh-CN" altLang="en-US" sz="24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）分流现象严重，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电流约为点焊时的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1.5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～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倍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zh-CN" altLang="en-US" sz="24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）密封性好，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用于制造有密封性要求的薄壁结构，如油箱、小型容器和管道等。只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适用于厚度在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3mm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以下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的薄板结构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6387" name="Group 12"/>
          <p:cNvGrpSpPr/>
          <p:nvPr/>
        </p:nvGrpSpPr>
        <p:grpSpPr>
          <a:xfrm>
            <a:off x="5181600" y="1905000"/>
            <a:ext cx="3435350" cy="3886200"/>
            <a:chOff x="3264" y="1200"/>
            <a:chExt cx="2164" cy="2448"/>
          </a:xfrm>
        </p:grpSpPr>
        <p:pic>
          <p:nvPicPr>
            <p:cNvPr id="16388" name="Picture 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264" y="1200"/>
              <a:ext cx="2164" cy="244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389" name="Rectangle 11"/>
            <p:cNvSpPr/>
            <p:nvPr/>
          </p:nvSpPr>
          <p:spPr>
            <a:xfrm>
              <a:off x="3616" y="3385"/>
              <a:ext cx="1487" cy="250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0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图</a:t>
              </a:r>
              <a:r>
                <a:rPr lang="en-US" altLang="zh-CN" sz="20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4-26 </a:t>
              </a:r>
              <a:r>
                <a:rPr lang="zh-CN" altLang="en-US" sz="20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缝焊示意图</a:t>
              </a:r>
              <a:endParaRPr lang="zh-CN" altLang="en-US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Rectangle 3"/>
          <p:cNvSpPr/>
          <p:nvPr/>
        </p:nvSpPr>
        <p:spPr>
          <a:xfrm>
            <a:off x="250825" y="1258888"/>
            <a:ext cx="4968875" cy="52736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indent="228600"/>
            <a:r>
              <a:rPr lang="en-US" altLang="zh-CN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对焊：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利用电阻热使两个工件在整个接触面上焊接起来的一种方法。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zh-CN" altLang="en-US" sz="20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0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0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）电阻对焊：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两个工件</a:t>
            </a:r>
            <a:r>
              <a:rPr lang="zh-CN" altLang="en-US" sz="20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接头平滑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→施加预压力→端面紧密接触，压紧→通电→产生电阻热使工件接触处迅速加热到塑性状态→接头产生塑性变形而焊接起来。图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）端面清洁，光滑，无毛刺，用于焊接断面简单，</a:t>
            </a:r>
            <a:r>
              <a:rPr lang="zh-CN" altLang="en-US" sz="20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直径小于</a:t>
            </a:r>
            <a:r>
              <a:rPr lang="en-US" altLang="zh-CN" sz="20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20mm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和强度要求不高的工件。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zh-CN" altLang="en-US" sz="20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0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0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）闪光对焊：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先通电，</a:t>
            </a:r>
            <a:r>
              <a:rPr lang="zh-CN" altLang="en-US" sz="20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接头不平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，点接触，接触点金属迅速熔化，蒸发。在蒸汽压力和电磁力作用下，液体金属发生爆破，以火花形式从接触处飞出而形成</a:t>
            </a:r>
            <a:r>
              <a:rPr lang="zh-CN" altLang="en-US" sz="2000" b="1" dirty="0">
                <a:solidFill>
                  <a:srgbClr val="FF0000"/>
                </a:solidFill>
                <a:latin typeface="GreekS" pitchFamily="2" charset="0"/>
                <a:ea typeface="楷体_GB2312" pitchFamily="49" charset="-122"/>
              </a:rPr>
              <a:t>“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闪光</a:t>
            </a:r>
            <a:r>
              <a:rPr lang="zh-CN" altLang="en-US" sz="2000" b="1" dirty="0">
                <a:solidFill>
                  <a:srgbClr val="FF0000"/>
                </a:solidFill>
                <a:latin typeface="GreekS" pitchFamily="2" charset="0"/>
                <a:ea typeface="楷体_GB2312" pitchFamily="49" charset="-122"/>
              </a:rPr>
              <a:t>”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。继续送进工件，保持一定闪光时间，待焊件端面全部加热熔化时，迅速对焊件施加顶镦力，并切断电源，焊件在压力作用下产生塑性变形而焊在一起。图（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）。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8434" name="Group 11"/>
          <p:cNvGrpSpPr/>
          <p:nvPr/>
        </p:nvGrpSpPr>
        <p:grpSpPr>
          <a:xfrm>
            <a:off x="5219700" y="2306638"/>
            <a:ext cx="3763963" cy="3209925"/>
            <a:chOff x="3288" y="1363"/>
            <a:chExt cx="2371" cy="2022"/>
          </a:xfrm>
        </p:grpSpPr>
        <p:pic>
          <p:nvPicPr>
            <p:cNvPr id="18435" name="Picture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288" y="1363"/>
              <a:ext cx="2371" cy="199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436" name="Rectangle 10"/>
            <p:cNvSpPr/>
            <p:nvPr/>
          </p:nvSpPr>
          <p:spPr>
            <a:xfrm>
              <a:off x="3706" y="3135"/>
              <a:ext cx="1487" cy="250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0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图</a:t>
              </a:r>
              <a:r>
                <a:rPr lang="en-US" altLang="zh-CN" sz="20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4-27 </a:t>
              </a:r>
              <a:r>
                <a:rPr lang="zh-CN" altLang="en-US" sz="20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对焊示意图</a:t>
              </a:r>
              <a:endParaRPr lang="zh-CN" altLang="en-US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18437" name="Rectangle 1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sz="4400" dirty="0">
                <a:ea typeface="楷体_GB2312" pitchFamily="49" charset="-122"/>
              </a:rPr>
              <a:t>电阻焊</a:t>
            </a:r>
            <a:endParaRPr lang="zh-CN" altLang="en-US" sz="4400" dirty="0"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Rectangle 3"/>
          <p:cNvSpPr/>
          <p:nvPr/>
        </p:nvSpPr>
        <p:spPr>
          <a:xfrm>
            <a:off x="-36512" y="1233488"/>
            <a:ext cx="9180512" cy="19796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indent="228600"/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对焊：</a:t>
            </a:r>
            <a:endParaRPr lang="zh-CN" altLang="en-US" sz="28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闪光对焊焊件接头质量好，强度高，但金属损耗较大，常用于重要工件的焊接。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400" b="1" dirty="0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推荐的接头形式：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对接接头，图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4.28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，接头断面尽量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相同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 广泛用于刀具、钢筋、自行车车圈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钢轨和管道的焊接。 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0482" name="Group 11"/>
          <p:cNvGrpSpPr/>
          <p:nvPr/>
        </p:nvGrpSpPr>
        <p:grpSpPr>
          <a:xfrm>
            <a:off x="2843213" y="3429000"/>
            <a:ext cx="3490912" cy="3116263"/>
            <a:chOff x="1791" y="2238"/>
            <a:chExt cx="2199" cy="1963"/>
          </a:xfrm>
        </p:grpSpPr>
        <p:pic>
          <p:nvPicPr>
            <p:cNvPr id="20483" name="Picture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791" y="2238"/>
              <a:ext cx="2199" cy="196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484" name="Rectangle 10"/>
            <p:cNvSpPr/>
            <p:nvPr/>
          </p:nvSpPr>
          <p:spPr>
            <a:xfrm>
              <a:off x="2048" y="3929"/>
              <a:ext cx="1648" cy="250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0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图</a:t>
              </a:r>
              <a:r>
                <a:rPr lang="en-US" altLang="zh-CN" sz="20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4.28 </a:t>
              </a:r>
              <a:r>
                <a:rPr lang="zh-CN" altLang="en-US" sz="20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对接接头形式</a:t>
              </a:r>
              <a:endParaRPr lang="zh-CN" altLang="en-US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20485" name="Rectangle 1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sz="4400" dirty="0">
                <a:ea typeface="楷体_GB2312" pitchFamily="49" charset="-122"/>
              </a:rPr>
              <a:t>电阻焊</a:t>
            </a:r>
            <a:endParaRPr lang="zh-CN" altLang="en-US" sz="4400" dirty="0"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Rectangle 2"/>
          <p:cNvSpPr>
            <a:spLocks noGrp="1"/>
          </p:cNvSpPr>
          <p:nvPr>
            <p:ph type="title"/>
          </p:nvPr>
        </p:nvSpPr>
        <p:spPr>
          <a:xfrm>
            <a:off x="3336925" y="152400"/>
            <a:ext cx="4835525" cy="1139825"/>
          </a:xfrm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sz="4000" dirty="0">
                <a:ea typeface="楷体_GB2312" pitchFamily="49" charset="-122"/>
              </a:rPr>
              <a:t>其他常用焊接方法</a:t>
            </a:r>
            <a:endParaRPr lang="zh-CN" altLang="en-US" sz="4000" dirty="0">
              <a:ea typeface="楷体_GB2312" pitchFamily="49" charset="-122"/>
            </a:endParaRPr>
          </a:p>
        </p:txBody>
      </p:sp>
      <p:sp>
        <p:nvSpPr>
          <p:cNvPr id="22530" name="Rectangle 3"/>
          <p:cNvSpPr/>
          <p:nvPr/>
        </p:nvSpPr>
        <p:spPr>
          <a:xfrm>
            <a:off x="250825" y="1628775"/>
            <a:ext cx="4679950" cy="43592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indent="228600"/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二</a:t>
            </a:r>
            <a:r>
              <a:rPr lang="en-US" altLang="zh-CN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摩擦焊：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利用工件间相互摩擦产生的热量，同时加压而进行焊接的方法。</a:t>
            </a:r>
            <a:endParaRPr lang="zh-CN" altLang="en-US" sz="20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zh-CN" altLang="en-US" sz="20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摩擦焊的特点是：</a:t>
            </a:r>
            <a:endParaRPr lang="zh-CN" altLang="en-US" sz="2000" b="1" dirty="0">
              <a:solidFill>
                <a:srgbClr val="009900"/>
              </a:solidFill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在摩擦焊过程中，焊件接触表面的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氧化膜与杂质被清除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，因此接头组织致密，不易产生气孔、夹渣等缺陷，接头质量好而且稳定。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可焊接的金属范围较广，不仅可焊同种金属，也可以焊接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异种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金属。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焊接操作简单，不需焊接材料，容易实现自动控制，生产率高。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电能消耗少（只有闪光对焊的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1/10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～ 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1/15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）。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设备复杂，一次性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投资大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2531" name="Group 16"/>
          <p:cNvGrpSpPr/>
          <p:nvPr/>
        </p:nvGrpSpPr>
        <p:grpSpPr>
          <a:xfrm>
            <a:off x="5219700" y="1433513"/>
            <a:ext cx="3505200" cy="5272087"/>
            <a:chOff x="3288" y="903"/>
            <a:chExt cx="2208" cy="3321"/>
          </a:xfrm>
        </p:grpSpPr>
        <p:grpSp>
          <p:nvGrpSpPr>
            <p:cNvPr id="22532" name="Group 13"/>
            <p:cNvGrpSpPr/>
            <p:nvPr/>
          </p:nvGrpSpPr>
          <p:grpSpPr>
            <a:xfrm>
              <a:off x="3288" y="903"/>
              <a:ext cx="2208" cy="3321"/>
              <a:chOff x="3360" y="843"/>
              <a:chExt cx="2208" cy="3321"/>
            </a:xfrm>
          </p:grpSpPr>
          <p:pic>
            <p:nvPicPr>
              <p:cNvPr id="22533" name="Picture 11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3360" y="843"/>
                <a:ext cx="2208" cy="1461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2534" name="Picture 1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360" y="2256"/>
                <a:ext cx="2208" cy="1908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sp>
          <p:nvSpPr>
            <p:cNvPr id="22535" name="Rectangle 14"/>
            <p:cNvSpPr/>
            <p:nvPr/>
          </p:nvSpPr>
          <p:spPr>
            <a:xfrm>
              <a:off x="3560" y="2045"/>
              <a:ext cx="1679" cy="231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图</a:t>
              </a:r>
              <a:r>
                <a:rPr lang="en-US" altLang="zh-CN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4-29 </a:t>
              </a:r>
              <a:r>
                <a:rPr lang="zh-CN" altLang="en-US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摩擦焊示意图</a:t>
              </a:r>
              <a:endParaRPr lang="zh-CN" altLang="en-US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2536" name="Rectangle 15"/>
            <p:cNvSpPr/>
            <p:nvPr/>
          </p:nvSpPr>
          <p:spPr>
            <a:xfrm>
              <a:off x="3560" y="3925"/>
              <a:ext cx="1769" cy="231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zh-CN" altLang="en-US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图</a:t>
              </a:r>
              <a:r>
                <a:rPr lang="en-US" altLang="zh-CN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4-30 </a:t>
              </a:r>
              <a:r>
                <a:rPr lang="zh-CN" altLang="en-US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摩擦焊接头形式</a:t>
              </a:r>
              <a:endParaRPr lang="zh-CN" altLang="en-US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sz="4000" dirty="0">
                <a:ea typeface="楷体_GB2312" pitchFamily="49" charset="-122"/>
              </a:rPr>
              <a:t>摩擦焊焊接视频</a:t>
            </a:r>
            <a:endParaRPr lang="zh-CN" altLang="en-US" sz="4000" dirty="0">
              <a:ea typeface="楷体_GB2312" pitchFamily="49" charset="-122"/>
            </a:endParaRPr>
          </a:p>
        </p:txBody>
      </p:sp>
      <p:sp>
        <p:nvSpPr>
          <p:cNvPr id="24578" name="内容占位符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hlinkClick r:id="rId1"/>
              </a:rPr>
              <a:t>https://v.qq.com/x/page/m07223w29vb.html</a:t>
            </a:r>
            <a:r>
              <a:rPr lang="en-US" altLang="zh-CN" dirty="0"/>
              <a:t> </a:t>
            </a:r>
            <a:r>
              <a:rPr lang="zh-CN" altLang="en-US" dirty="0"/>
              <a:t>各种摩擦焊</a:t>
            </a:r>
            <a:endParaRPr lang="en-US" altLang="zh-CN" dirty="0"/>
          </a:p>
          <a:p>
            <a:pPr eaLnBrk="1" hangingPunct="1"/>
            <a:r>
              <a:rPr lang="en-US" altLang="zh-CN" dirty="0">
                <a:hlinkClick r:id="rId2"/>
              </a:rPr>
              <a:t>https://tv.sohu.com/v/dXMvNjMzNDYxNTcvMjc5MzI0OTEuc2h0bWw=.html</a:t>
            </a:r>
            <a:r>
              <a:rPr lang="en-US" altLang="zh-CN" dirty="0"/>
              <a:t> </a:t>
            </a:r>
            <a:r>
              <a:rPr lang="zh-CN" altLang="en-US" dirty="0"/>
              <a:t>摩擦焊原理视频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Rectangle 2"/>
          <p:cNvSpPr>
            <a:spLocks noGrp="1"/>
          </p:cNvSpPr>
          <p:nvPr>
            <p:ph type="title"/>
          </p:nvPr>
        </p:nvSpPr>
        <p:spPr>
          <a:xfrm>
            <a:off x="2762250" y="128588"/>
            <a:ext cx="4402138" cy="113982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>
                <a:ea typeface="楷体_GB2312" pitchFamily="49" charset="-122"/>
              </a:rPr>
              <a:t>其他常用焊接方法</a:t>
            </a:r>
            <a:endParaRPr lang="zh-CN" altLang="en-US" sz="4000" dirty="0">
              <a:ea typeface="楷体_GB2312" pitchFamily="49" charset="-122"/>
            </a:endParaRPr>
          </a:p>
        </p:txBody>
      </p:sp>
      <p:sp>
        <p:nvSpPr>
          <p:cNvPr id="26626" name="Rectangle 3"/>
          <p:cNvSpPr/>
          <p:nvPr/>
        </p:nvSpPr>
        <p:spPr>
          <a:xfrm>
            <a:off x="107950" y="1557338"/>
            <a:ext cx="5976938" cy="49688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indent="228600"/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三</a:t>
            </a:r>
            <a:r>
              <a:rPr lang="en-US" altLang="zh-CN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钎焊：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利用熔点比焊件低的钎料作填充金属，加热时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钎料熔化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而将焊件连接起来的焊接方法。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en-US" altLang="zh-CN" sz="20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sz="20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原理：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表面清理好的焊件→搭接形式接头→钎料放在接头的间隙附近或接头的间隙中→加热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T&gt;T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钎料熔点，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钎料熔化并渗入到接头间隙中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→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液态钎料与工件金属相互溶解扩散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→冷凝后形成钎焊接头。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en-US" altLang="zh-CN" sz="20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sz="20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分类</a:t>
            </a:r>
            <a:r>
              <a:rPr lang="en-US" altLang="zh-CN" sz="20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endParaRPr lang="en-US" altLang="zh-CN" sz="2000" b="1" dirty="0">
              <a:solidFill>
                <a:srgbClr val="009900"/>
              </a:solidFill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en-US" altLang="zh-CN" sz="2000" b="1" dirty="0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000" b="1" dirty="0">
                <a:solidFill>
                  <a:srgbClr val="CC3300"/>
                </a:solidFill>
                <a:latin typeface="楷体_GB2312" pitchFamily="49" charset="-122"/>
                <a:ea typeface="楷体_GB2312" pitchFamily="49" charset="-122"/>
              </a:rPr>
              <a:t>硬钎焊：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钎料熔点高于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450°C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，焊接接头强度在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200MPa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以上。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硬钎焊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主要用于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受力较大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的钢铁铜合金结构件、工具以及刀具的焊接。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zh-CN" altLang="en-US" sz="2000" b="1" dirty="0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000" b="1" dirty="0">
                <a:solidFill>
                  <a:srgbClr val="CC3300"/>
                </a:solidFill>
                <a:latin typeface="楷体_GB2312" pitchFamily="49" charset="-122"/>
                <a:ea typeface="楷体_GB2312" pitchFamily="49" charset="-122"/>
              </a:rPr>
              <a:t>软钎焊：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钎料熔点低于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450°C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，焊接接头强度一般不超过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70MPa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ja-JP" altLang="zh-CN" sz="20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ja-JP" altLang="en-US" sz="20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图</a:t>
            </a:r>
            <a:r>
              <a:rPr lang="en-US" altLang="zh-CN" sz="20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en-US" altLang="ja-JP" sz="20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.28  </a:t>
            </a:r>
            <a:r>
              <a:rPr lang="ja-JP" altLang="en-US" sz="20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钎焊的接头形式</a:t>
            </a:r>
            <a:r>
              <a:rPr lang="zh-CN" altLang="en-US" sz="20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，板料搭接和套接。接头有较大钎接面，间隙适当。</a:t>
            </a:r>
            <a:endParaRPr lang="zh-CN" altLang="en-US" sz="20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indent="228600"/>
            <a:endParaRPr lang="en-US" altLang="zh-CN" sz="20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6627" name="Group 11"/>
          <p:cNvGrpSpPr/>
          <p:nvPr/>
        </p:nvGrpSpPr>
        <p:grpSpPr>
          <a:xfrm>
            <a:off x="6227763" y="2455863"/>
            <a:ext cx="2665412" cy="2827337"/>
            <a:chOff x="3923" y="1547"/>
            <a:chExt cx="1679" cy="1781"/>
          </a:xfrm>
        </p:grpSpPr>
        <p:pic>
          <p:nvPicPr>
            <p:cNvPr id="26628" name="Picture 8" descr="钎焊接头形式"/>
            <p:cNvPicPr>
              <a:picLocks noChangeAspect="1"/>
            </p:cNvPicPr>
            <p:nvPr/>
          </p:nvPicPr>
          <p:blipFill>
            <a:blip r:embed="rId1">
              <a:lum contrast="38000"/>
            </a:blip>
            <a:stretch>
              <a:fillRect/>
            </a:stretch>
          </p:blipFill>
          <p:spPr>
            <a:xfrm>
              <a:off x="3923" y="1547"/>
              <a:ext cx="1679" cy="1611"/>
            </a:xfrm>
            <a:prstGeom prst="rect">
              <a:avLst/>
            </a:prstGeom>
            <a:noFill/>
            <a:ln w="114300">
              <a:noFill/>
            </a:ln>
          </p:spPr>
        </p:pic>
        <p:sp>
          <p:nvSpPr>
            <p:cNvPr id="26629" name="Text Box 9"/>
            <p:cNvSpPr txBox="1"/>
            <p:nvPr/>
          </p:nvSpPr>
          <p:spPr>
            <a:xfrm>
              <a:off x="3923" y="3113"/>
              <a:ext cx="1678" cy="215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lIns="0" tIns="0" rIns="0" bIns="0" anchor="t" anchorCtr="0"/>
            <a:p>
              <a:r>
                <a:rPr lang="en-US" altLang="zh-CN" sz="1600" b="1" dirty="0">
                  <a:latin typeface="楷体_GB2312" pitchFamily="49" charset="-122"/>
                  <a:ea typeface="楷体_GB2312" pitchFamily="49" charset="-122"/>
                </a:rPr>
                <a:t>  </a:t>
              </a:r>
              <a:r>
                <a:rPr lang="zh-CN" altLang="en-US" sz="1600" b="1" dirty="0">
                  <a:latin typeface="楷体_GB2312" pitchFamily="49" charset="-122"/>
                  <a:ea typeface="楷体_GB2312" pitchFamily="49" charset="-122"/>
                </a:rPr>
                <a:t>图</a:t>
              </a:r>
              <a:r>
                <a:rPr lang="en-US" altLang="zh-CN" sz="1600" b="1" dirty="0">
                  <a:latin typeface="楷体_GB2312" pitchFamily="49" charset="-122"/>
                  <a:ea typeface="楷体_GB2312" pitchFamily="49" charset="-122"/>
                </a:rPr>
                <a:t>4-28  </a:t>
              </a:r>
              <a:r>
                <a:rPr lang="zh-CN" altLang="en-US" sz="1600" b="1" dirty="0">
                  <a:latin typeface="楷体_GB2312" pitchFamily="49" charset="-122"/>
                  <a:ea typeface="楷体_GB2312" pitchFamily="49" charset="-122"/>
                </a:rPr>
                <a:t>钎焊的接头形式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</a:t>
              </a:r>
              <a:endParaRPr lang="zh-CN" altLang="en-US" sz="1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endParaRPr lang="en-US" altLang="zh-CN" dirty="0">
                <a:latin typeface="GreekS" pitchFamily="2" charset="0"/>
                <a:ea typeface="宋体" panose="02010600030101010101" pitchFamily="2" charset="-122"/>
              </a:endParaRPr>
            </a:p>
          </p:txBody>
        </p:sp>
      </p:grpSp>
      <p:sp>
        <p:nvSpPr>
          <p:cNvPr id="26630" name="矩形 1"/>
          <p:cNvSpPr/>
          <p:nvPr/>
        </p:nvSpPr>
        <p:spPr>
          <a:xfrm>
            <a:off x="525463" y="6369050"/>
            <a:ext cx="708977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hlinkClick r:id="rId2"/>
              </a:rPr>
              <a:t>https://v.qq.com/x/page/x0343huqste.html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钎焊原理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62250" y="1196340"/>
            <a:ext cx="597598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https://v.qq.com/x/page/o0948y20vpn.html钎焊讲解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sz="4000" dirty="0">
                <a:ea typeface="楷体_GB2312" pitchFamily="49" charset="-122"/>
              </a:rPr>
              <a:t>其他常用焊接方法</a:t>
            </a:r>
            <a:endParaRPr lang="zh-CN" altLang="en-US" sz="4000" dirty="0">
              <a:ea typeface="楷体_GB2312" pitchFamily="49" charset="-122"/>
            </a:endParaRPr>
          </a:p>
        </p:txBody>
      </p:sp>
      <p:sp>
        <p:nvSpPr>
          <p:cNvPr id="28674" name="Rectangle 3"/>
          <p:cNvSpPr/>
          <p:nvPr/>
        </p:nvSpPr>
        <p:spPr>
          <a:xfrm>
            <a:off x="179388" y="1428750"/>
            <a:ext cx="8964612" cy="4724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indent="228600"/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三</a:t>
            </a:r>
            <a:r>
              <a:rPr lang="en-US" altLang="zh-CN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钎焊：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常用钎料是锡铅合金，所以通称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锡焊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主要用于受力不大的常温工作的仪表、导电元件的连接。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zh-CN" altLang="en-US" sz="20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钎剂：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去除钎料及被焊金属表面的氧化膜、油污，改善钎料的润湿性，保护钎料及焊件不被氧化。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zh-CN" altLang="en-US" sz="20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软钎焊：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松香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、氧化锌溶液。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zh-CN" altLang="en-US" sz="20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硬钎焊：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硼砂、硼酸、氟化物、氯化物等。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en-US" altLang="zh-CN" sz="2000" b="1" dirty="0">
                <a:solidFill>
                  <a:srgbClr val="CC3300"/>
                </a:solidFill>
                <a:latin typeface="楷体_GB2312" pitchFamily="49" charset="-122"/>
                <a:ea typeface="楷体_GB2312" pitchFamily="49" charset="-122"/>
              </a:rPr>
              <a:t>4.</a:t>
            </a:r>
            <a:r>
              <a:rPr lang="zh-CN" altLang="en-US" sz="2000" b="1" dirty="0">
                <a:solidFill>
                  <a:srgbClr val="CC3300"/>
                </a:solidFill>
                <a:latin typeface="楷体_GB2312" pitchFamily="49" charset="-122"/>
                <a:ea typeface="楷体_GB2312" pitchFamily="49" charset="-122"/>
              </a:rPr>
              <a:t>加热方式：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火焰加热、电阻加热、感应加热、炉内加热、盐浴加热以及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烙铁加热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等，烙铁加热加热温度低，只适用于软钎焊。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en-US" altLang="zh-CN" sz="2000" b="1" dirty="0">
                <a:solidFill>
                  <a:srgbClr val="CC3300"/>
                </a:solidFill>
                <a:latin typeface="楷体_GB2312" pitchFamily="49" charset="-122"/>
                <a:ea typeface="楷体_GB2312" pitchFamily="49" charset="-122"/>
              </a:rPr>
              <a:t>5.</a:t>
            </a:r>
            <a:r>
              <a:rPr lang="zh-CN" altLang="en-US" sz="2000" b="1" dirty="0">
                <a:solidFill>
                  <a:srgbClr val="CC3300"/>
                </a:solidFill>
                <a:latin typeface="楷体_GB2312" pitchFamily="49" charset="-122"/>
                <a:ea typeface="楷体_GB2312" pitchFamily="49" charset="-122"/>
              </a:rPr>
              <a:t>特点及应用范围：</a:t>
            </a:r>
            <a:endParaRPr lang="zh-CN" altLang="en-US" sz="2000" b="1" dirty="0">
              <a:solidFill>
                <a:srgbClr val="CC3300"/>
              </a:solidFill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①工件加热温度低，组织和力学性能变化小，变形也小。接头光滑平整，工件尺寸精确。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②可以焊接性能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差异很大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异种金属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，对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工件厚度的差别没有严格的限制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③复杂形状构件，生产率高（可同时焊接上千条焊缝）。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④设备简单，投资少。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⑤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接头强度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尤其是动载强度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低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，耐热性差，且焊前清理及组装要求较高。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sz="4000" dirty="0">
                <a:ea typeface="楷体_GB2312" pitchFamily="49" charset="-122"/>
              </a:rPr>
              <a:t>其他常用焊接方法</a:t>
            </a:r>
            <a:endParaRPr lang="zh-CN" altLang="en-US" sz="4000" dirty="0">
              <a:ea typeface="楷体_GB2312" pitchFamily="49" charset="-122"/>
            </a:endParaRPr>
          </a:p>
        </p:txBody>
      </p:sp>
      <p:sp>
        <p:nvSpPr>
          <p:cNvPr id="30722" name="Rectangle 3"/>
          <p:cNvSpPr/>
          <p:nvPr/>
        </p:nvSpPr>
        <p:spPr>
          <a:xfrm>
            <a:off x="179388" y="1412875"/>
            <a:ext cx="5472112" cy="48387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indent="228600"/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四</a:t>
            </a:r>
            <a:r>
              <a:rPr lang="en-US" altLang="zh-CN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电渣焊：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利用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电流通过熔渣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所产生的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电阻热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作为热源进行焊接的方法。</a:t>
            </a:r>
            <a:endParaRPr lang="zh-CN" altLang="en-US" sz="24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indent="22860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焊接过程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如图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4-32: 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两个工件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的接头相距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25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～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35mm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。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固态熔剂熔化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后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形成的渣池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具有较大的电阻，当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电流通过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时产生大量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电阻热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，使渣池温度保持在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1,700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～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2,000℃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。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焊丝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工件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被渣池加热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熔化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而形成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金属熔池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。工件待焊端面两侧各装有冷却铜滑块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，这样可使液态熔渣及金属熔池不会外流。冷却水从滑块内部流过，迫使熔池冷却并凝固成为焊缝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。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从而使立焊缝由下向上顺次形成。</a:t>
            </a:r>
            <a:endParaRPr lang="zh-CN" altLang="en-US" sz="24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0723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2038" y="1412875"/>
            <a:ext cx="2533650" cy="4914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24" name="矩形 1"/>
          <p:cNvSpPr/>
          <p:nvPr/>
        </p:nvSpPr>
        <p:spPr>
          <a:xfrm>
            <a:off x="179388" y="6256338"/>
            <a:ext cx="6443662" cy="64516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hlinkClick r:id="rId2"/>
              </a:rPr>
              <a:t>https://haokan.baidu.com/v?pd=wisenatural&amp;vid=3225833048029070435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电渣焊原理讲解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71775" y="908685"/>
            <a:ext cx="49784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https://v.qq.com/x/page/i01650h5x4y.html电渣焊原理英文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Rectangle 2"/>
          <p:cNvSpPr>
            <a:spLocks noGrp="1"/>
          </p:cNvSpPr>
          <p:nvPr>
            <p:ph type="title"/>
          </p:nvPr>
        </p:nvSpPr>
        <p:spPr>
          <a:xfrm>
            <a:off x="3348038" y="115888"/>
            <a:ext cx="4679950" cy="113982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>
                <a:ea typeface="楷体_GB2312" pitchFamily="49" charset="-122"/>
              </a:rPr>
              <a:t>其他常用焊接方法</a:t>
            </a:r>
            <a:endParaRPr lang="zh-CN" altLang="en-US" sz="4000" dirty="0">
              <a:ea typeface="楷体_GB2312" pitchFamily="49" charset="-122"/>
            </a:endParaRPr>
          </a:p>
        </p:txBody>
      </p:sp>
      <p:sp>
        <p:nvSpPr>
          <p:cNvPr id="32770" name="Rectangle 3"/>
          <p:cNvSpPr/>
          <p:nvPr/>
        </p:nvSpPr>
        <p:spPr>
          <a:xfrm>
            <a:off x="250825" y="1412875"/>
            <a:ext cx="8458200" cy="4170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indent="228600"/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四</a:t>
            </a:r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电渣焊特点：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）可一次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焊接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很厚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的工件。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生产率高，成本低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。焊接厚度在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40mm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以上的工件，即使采用埋弧焊也必须开坡口进行多层焊。而电渣焊对任何厚度的工件都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不需开坡口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，只要使焊接端面之间保持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25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～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35mm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的间隙，就可一次焊成。因此生产率高、消耗的焊接材料较少、成本低。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）焊缝金属比较纯净。</a:t>
            </a:r>
            <a:endParaRPr lang="zh-CN" altLang="en-US" sz="24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zh-CN" altLang="en-US" sz="24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4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焊后冷却速度较慢，焊接应力较小</a:t>
            </a:r>
            <a:r>
              <a:rPr lang="zh-CN" altLang="en-US" sz="24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因而适合于焊接塑性稍差的中碳钢与合金结构钢工件。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一般要进行焊后热处理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。如正火处理，以改善其性能。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Rectangle 2"/>
          <p:cNvSpPr>
            <a:spLocks noGrp="1"/>
          </p:cNvSpPr>
          <p:nvPr>
            <p:ph type="title"/>
          </p:nvPr>
        </p:nvSpPr>
        <p:spPr>
          <a:xfrm>
            <a:off x="2773363" y="188913"/>
            <a:ext cx="5759450" cy="1139825"/>
          </a:xfrm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sz="4000" dirty="0">
                <a:ea typeface="楷体_GB2312" pitchFamily="49" charset="-122"/>
              </a:rPr>
              <a:t>其他常用焊接方法</a:t>
            </a:r>
            <a:endParaRPr lang="zh-CN" altLang="en-US" sz="4000" dirty="0">
              <a:ea typeface="楷体_GB2312" pitchFamily="49" charset="-122"/>
            </a:endParaRPr>
          </a:p>
        </p:txBody>
      </p:sp>
      <p:sp>
        <p:nvSpPr>
          <p:cNvPr id="34818" name="Rectangle 3"/>
          <p:cNvSpPr/>
          <p:nvPr/>
        </p:nvSpPr>
        <p:spPr>
          <a:xfrm>
            <a:off x="34925" y="1176338"/>
            <a:ext cx="8964613" cy="1676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indent="228600"/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五</a:t>
            </a:r>
            <a:r>
              <a:rPr lang="en-US" altLang="zh-CN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真空电子束焊接：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  原理图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4-34: 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电子枪、工件及夹具全部装在真空室内。电子枪由加热灯丝、阴极、阳极及聚集装置等组成。当阴极被灯丝加热到</a:t>
            </a:r>
            <a:r>
              <a:rPr lang="en-US" altLang="zh-CN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2,600K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时，能</a:t>
            </a:r>
            <a:r>
              <a:rPr lang="zh-CN" altLang="en-US" sz="20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发出大量电子。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这些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电子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在阴极与阳极（焊件）间的高压作用下，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射向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焊件表面</a:t>
            </a:r>
            <a:r>
              <a:rPr lang="zh-CN" altLang="en-US" sz="20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使焊件金属迅速熔化，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甚至气化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适当移动焊件，得到要求的焊接接头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0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4819" name="Rectangle 4"/>
          <p:cNvSpPr/>
          <p:nvPr/>
        </p:nvSpPr>
        <p:spPr>
          <a:xfrm>
            <a:off x="323850" y="3068638"/>
            <a:ext cx="5327650" cy="3749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真空电子束焊接的特点：</a:t>
            </a:r>
            <a:endParaRPr lang="zh-CN" altLang="en-US" sz="20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）由于在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真空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中焊接，焊件金属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无氧化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、无氨化。无金属电极用污，保证了焊缝金属的</a:t>
            </a:r>
            <a:r>
              <a:rPr lang="zh-CN" altLang="en-US" sz="20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高纯度。</a:t>
            </a:r>
            <a:endParaRPr lang="zh-CN" altLang="en-US" sz="2000" b="1" dirty="0">
              <a:solidFill>
                <a:srgbClr val="009900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 （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）热源能量密度大，熔深大，速度快，焊缝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深而窄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，能单道焊厚件。焊接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热影响区很小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，基本上</a:t>
            </a:r>
            <a:r>
              <a:rPr lang="zh-CN" altLang="en-US" sz="20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不产生焊接变形，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防止难熔金属熔接时产生的裂纹及泄漏。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 （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）厚件也</a:t>
            </a:r>
            <a:r>
              <a:rPr lang="zh-CN" altLang="en-US" sz="20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不必开坡口，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焊接时一般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不必另填金属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 （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）电子束参数可在较宽范围内调节，且焊接过程的</a:t>
            </a:r>
            <a:r>
              <a:rPr lang="zh-CN" altLang="en-US" sz="20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控制灵活，适应性强。</a:t>
            </a:r>
            <a:endParaRPr lang="zh-CN" altLang="en-US" sz="2000" b="1" dirty="0">
              <a:solidFill>
                <a:srgbClr val="0099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34820" name="Group 10"/>
          <p:cNvGrpSpPr/>
          <p:nvPr/>
        </p:nvGrpSpPr>
        <p:grpSpPr>
          <a:xfrm>
            <a:off x="5792788" y="2924175"/>
            <a:ext cx="2955925" cy="3806825"/>
            <a:chOff x="3649" y="1842"/>
            <a:chExt cx="1862" cy="2398"/>
          </a:xfrm>
        </p:grpSpPr>
        <p:pic>
          <p:nvPicPr>
            <p:cNvPr id="34821" name="Picture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649" y="1842"/>
              <a:ext cx="1852" cy="239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4822" name="Rectangle 9"/>
            <p:cNvSpPr/>
            <p:nvPr/>
          </p:nvSpPr>
          <p:spPr>
            <a:xfrm>
              <a:off x="3651" y="3974"/>
              <a:ext cx="1860" cy="212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16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图</a:t>
              </a:r>
              <a:r>
                <a:rPr lang="en-US" altLang="zh-CN" sz="16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4-34 </a:t>
              </a:r>
              <a:r>
                <a:rPr lang="zh-CN" altLang="en-US" sz="16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真空电子束焊接示意图</a:t>
              </a:r>
              <a:endParaRPr lang="zh-CN" altLang="en-US" sz="1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34823" name="矩形 1"/>
          <p:cNvSpPr/>
          <p:nvPr/>
        </p:nvSpPr>
        <p:spPr>
          <a:xfrm>
            <a:off x="3203575" y="1047750"/>
            <a:ext cx="4572000" cy="647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hlinkClick r:id="rId2"/>
              </a:rPr>
              <a:t>https://tv.sohu.com/v/dXMvNjMyNzQ0MjkvMjI1OTM2Mjkuc2h0bWw=.html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Rectangle 2"/>
          <p:cNvSpPr>
            <a:spLocks noGrp="1"/>
          </p:cNvSpPr>
          <p:nvPr>
            <p:ph type="title"/>
          </p:nvPr>
        </p:nvSpPr>
        <p:spPr>
          <a:xfrm>
            <a:off x="3492500" y="228600"/>
            <a:ext cx="4464050" cy="113982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>
                <a:ea typeface="楷体_GB2312" pitchFamily="49" charset="-122"/>
              </a:rPr>
              <a:t>其他常用焊接方法</a:t>
            </a:r>
            <a:endParaRPr lang="zh-CN" altLang="en-US" sz="4000" dirty="0">
              <a:ea typeface="楷体_GB2312" pitchFamily="49" charset="-122"/>
            </a:endParaRPr>
          </a:p>
        </p:txBody>
      </p:sp>
      <p:sp>
        <p:nvSpPr>
          <p:cNvPr id="36866" name="Rectangle 3"/>
          <p:cNvSpPr/>
          <p:nvPr/>
        </p:nvSpPr>
        <p:spPr>
          <a:xfrm>
            <a:off x="228600" y="1371600"/>
            <a:ext cx="8664575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indent="228600"/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六</a:t>
            </a:r>
            <a:r>
              <a:rPr lang="en-US" altLang="zh-CN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激光焊接：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  <a:p>
            <a:pPr indent="228600"/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  原理图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4-35: 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利用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激光器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受激产生的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激光束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，通过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聚焦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系统可聚焦到十分微小的焦点，能量密度大于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105W/cm</a:t>
            </a:r>
            <a:r>
              <a:rPr lang="en-US" altLang="zh-CN" sz="1000" b="1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。当调焦到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焊件接缝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时，光能转换为热能，使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金属熔化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形成焊接接头。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6867" name="Rectangle 4"/>
          <p:cNvSpPr/>
          <p:nvPr/>
        </p:nvSpPr>
        <p:spPr>
          <a:xfrm>
            <a:off x="179388" y="2809875"/>
            <a:ext cx="6121400" cy="31400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激光焊接的特点：</a:t>
            </a:r>
            <a:endParaRPr lang="zh-CN" altLang="en-US" sz="20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(1) 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激光辐射的能量释放极其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迅速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zh-CN" altLang="en-US" sz="20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点焊过程只有几毫秒。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提高了生产率，被焊材料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不易氧化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。因此可以在大气中进行焊接，不需要气体保护或真空环境。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  <a:p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(2) 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激光焊接的能量密度很高，热量集中，作用时间很短。所以</a:t>
            </a:r>
            <a:r>
              <a:rPr lang="zh-CN" altLang="en-US" sz="20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焊接热影响区极小，焊件不变形，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特别适用于热敏感材料的焊接。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）焊接一般焊法</a:t>
            </a:r>
            <a:r>
              <a:rPr lang="zh-CN" altLang="en-US" sz="20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难以接近或无法安置的焊点。</a:t>
            </a:r>
            <a:endParaRPr lang="zh-CN" altLang="en-US" sz="20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）激光可对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绝缘材料直接焊接，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焊接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异种金属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材料也比较容易，甚至</a:t>
            </a:r>
            <a:r>
              <a:rPr lang="zh-CN" altLang="en-US" sz="20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能把金属与非金属焊在一起。</a:t>
            </a:r>
            <a:endParaRPr lang="zh-CN" altLang="en-US" sz="20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36868" name="Group 12"/>
          <p:cNvGrpSpPr/>
          <p:nvPr/>
        </p:nvGrpSpPr>
        <p:grpSpPr>
          <a:xfrm>
            <a:off x="6300788" y="2997200"/>
            <a:ext cx="2663825" cy="2890838"/>
            <a:chOff x="4014" y="1979"/>
            <a:chExt cx="1678" cy="1821"/>
          </a:xfrm>
        </p:grpSpPr>
        <p:pic>
          <p:nvPicPr>
            <p:cNvPr id="36869" name="Picture 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014" y="1979"/>
              <a:ext cx="1678" cy="182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6870" name="Rectangle 11"/>
            <p:cNvSpPr/>
            <p:nvPr/>
          </p:nvSpPr>
          <p:spPr>
            <a:xfrm>
              <a:off x="4051" y="3566"/>
              <a:ext cx="1641" cy="231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图</a:t>
              </a:r>
              <a:r>
                <a:rPr lang="en-US" altLang="zh-CN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4-35 </a:t>
              </a:r>
              <a:r>
                <a:rPr lang="zh-CN" altLang="en-US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激光焊接示意图</a:t>
              </a:r>
              <a:endParaRPr lang="zh-CN" altLang="en-US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36871" name="矩形 1"/>
          <p:cNvSpPr/>
          <p:nvPr/>
        </p:nvSpPr>
        <p:spPr>
          <a:xfrm>
            <a:off x="539750" y="6016625"/>
            <a:ext cx="4572000" cy="922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hlinkClick r:id="rId2"/>
              </a:rPr>
              <a:t>https://haokan.baidu.com/v?vid=14732671566193904137&amp;pd=bjh&amp;fr=bjhauthor&amp;type=video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hlinkClick r:id="rId2"/>
              </a:rPr>
              <a:t>激光焊接原理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hlinkClick r:id="rId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Rectangle 2"/>
          <p:cNvSpPr>
            <a:spLocks noGrp="1"/>
          </p:cNvSpPr>
          <p:nvPr>
            <p:ph type="title"/>
          </p:nvPr>
        </p:nvSpPr>
        <p:spPr>
          <a:xfrm>
            <a:off x="3492500" y="228600"/>
            <a:ext cx="4464050" cy="113982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>
                <a:ea typeface="楷体_GB2312" pitchFamily="49" charset="-122"/>
              </a:rPr>
              <a:t>其他常用焊接方法</a:t>
            </a:r>
            <a:endParaRPr lang="zh-CN" altLang="en-US" sz="4000" dirty="0">
              <a:ea typeface="楷体_GB2312" pitchFamily="49" charset="-122"/>
            </a:endParaRPr>
          </a:p>
        </p:txBody>
      </p:sp>
      <p:sp>
        <p:nvSpPr>
          <p:cNvPr id="38914" name="内容占位符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hlinkClick r:id="rId1"/>
              </a:rPr>
              <a:t>https://v.qq.com/x/page/s0850scrf4l.html</a:t>
            </a:r>
            <a:r>
              <a:rPr lang="zh-CN" altLang="en-US" dirty="0">
                <a:hlinkClick r:id="rId1"/>
              </a:rPr>
              <a:t>激光焊接英文讲解</a:t>
            </a:r>
            <a:endParaRPr lang="zh-CN" altLang="en-US" dirty="0">
              <a:hlinkClick r:id="rId1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Rectangle 5"/>
          <p:cNvSpPr/>
          <p:nvPr/>
        </p:nvSpPr>
        <p:spPr>
          <a:xfrm>
            <a:off x="1331913" y="1492250"/>
            <a:ext cx="6856412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3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作业 </a:t>
            </a:r>
            <a:r>
              <a:rPr lang="en-US" altLang="zh-CN" sz="3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p156 (2), (3), (4), (6).</a:t>
            </a:r>
            <a:endParaRPr lang="en-US" altLang="zh-CN" sz="36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dirty="0">
                <a:ea typeface="楷体_GB2312" pitchFamily="49" charset="-122"/>
              </a:rPr>
              <a:t>常用金属材料的焊接</a:t>
            </a:r>
            <a:endParaRPr lang="zh-CN" altLang="en-US" dirty="0">
              <a:ea typeface="楷体_GB2312" pitchFamily="49" charset="-122"/>
            </a:endParaRPr>
          </a:p>
        </p:txBody>
      </p:sp>
      <p:sp>
        <p:nvSpPr>
          <p:cNvPr id="4301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金属材料的焊接性</a:t>
            </a:r>
            <a:endParaRPr lang="zh-CN" altLang="en-US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eaLnBrk="1" hangingPunct="1"/>
            <a:r>
              <a:rPr lang="zh-CN" altLang="en-US" sz="24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金属焊接性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 金属材料对焊接加工的适应性，即金属在一定的焊接方法、焊接材料、工艺参数及结构形式条件下，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获得优质焊接接头的难易程度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lvl="1" eaLnBrk="1" hangingPunct="1">
              <a:buNone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包括：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  <a:p>
            <a:pPr lvl="2" eaLnBrk="1" hangingPunct="1"/>
            <a:r>
              <a:rPr lang="zh-CN" altLang="en-US" b="1" dirty="0">
                <a:solidFill>
                  <a:srgbClr val="CC3300"/>
                </a:solidFill>
                <a:latin typeface="楷体_GB2312" pitchFamily="49" charset="-122"/>
                <a:ea typeface="楷体_GB2312" pitchFamily="49" charset="-122"/>
              </a:rPr>
              <a:t>工艺性能，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即在一定工艺条件下，焊接接头产生工艺缺陷的倾向，尤其是出现裂纹的可能性；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  <a:p>
            <a:pPr lvl="2" eaLnBrk="1" hangingPunct="1"/>
            <a:r>
              <a:rPr lang="zh-CN" altLang="en-US" b="1" dirty="0">
                <a:solidFill>
                  <a:srgbClr val="CC3300"/>
                </a:solidFill>
                <a:latin typeface="楷体_GB2312" pitchFamily="49" charset="-122"/>
                <a:ea typeface="楷体_GB2312" pitchFamily="49" charset="-122"/>
              </a:rPr>
              <a:t>使用性能，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即焊接接头在使用中的可靠性，包括力学性能及耐热、耐蚀等特殊性能。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  <a:p>
            <a:pPr lvl="2" eaLnBrk="1" hangingPunct="1"/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  <a:p>
            <a:pPr lvl="1" eaLnBrk="1" hangingPunct="1"/>
            <a:endParaRPr lang="en-US" altLang="zh-CN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sz="4000" dirty="0">
                <a:ea typeface="楷体_GB2312" pitchFamily="49" charset="-122"/>
              </a:rPr>
              <a:t>常用金属材料的焊接</a:t>
            </a:r>
            <a:endParaRPr lang="zh-CN" altLang="en-US" sz="4000" dirty="0">
              <a:ea typeface="楷体_GB2312" pitchFamily="49" charset="-122"/>
            </a:endParaRPr>
          </a:p>
        </p:txBody>
      </p:sp>
      <p:sp>
        <p:nvSpPr>
          <p:cNvPr id="4505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金属材料的焊接性</a:t>
            </a:r>
            <a:endParaRPr lang="zh-CN" altLang="en-US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eaLnBrk="1" hangingPunct="1"/>
            <a:r>
              <a:rPr lang="zh-CN" altLang="en-US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金属焊接性的评定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  包括估算或试验方法。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  <a:p>
            <a:pPr lvl="2" eaLnBrk="1" hangingPunct="1"/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用碳含量法估算钢材焊接性（碳当量法） 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  <a:p>
            <a:pPr lvl="2" eaLnBrk="1" hangingPunct="1">
              <a:buNone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   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  <a:p>
            <a:pPr lvl="2" eaLnBrk="1" hangingPunct="1">
              <a:buNone/>
            </a:pP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  <a:p>
            <a:pPr lvl="2" eaLnBrk="1" hangingPunct="1"/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当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en-US" altLang="zh-CN" b="1" baseline="-25000" dirty="0">
                <a:latin typeface="楷体_GB2312" pitchFamily="49" charset="-122"/>
                <a:ea typeface="楷体_GB2312" pitchFamily="49" charset="-122"/>
              </a:rPr>
              <a:t>E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&lt;0.4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％时，焊接性良好；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  <a:p>
            <a:pPr lvl="2" eaLnBrk="1" hangingPunct="1"/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en-US" altLang="zh-CN" b="1" baseline="-25000" dirty="0">
                <a:latin typeface="楷体_GB2312" pitchFamily="49" charset="-122"/>
                <a:ea typeface="楷体_GB2312" pitchFamily="49" charset="-122"/>
              </a:rPr>
              <a:t>E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=0.4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％ ～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0.6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％时，焊接性较差，冷裂倾向明显，需要预热并采取其它工艺措施防止裂纹；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  <a:p>
            <a:pPr lvl="2" eaLnBrk="1" hangingPunct="1"/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当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en-US" altLang="zh-CN" b="1" baseline="-25000" dirty="0">
                <a:latin typeface="楷体_GB2312" pitchFamily="49" charset="-122"/>
                <a:ea typeface="楷体_GB2312" pitchFamily="49" charset="-122"/>
              </a:rPr>
              <a:t>E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&gt;0.6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％时，焊接性差，冷裂倾向严重，需要较高的预热温度和严格的工艺措施。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  <a:p>
            <a:pPr lvl="1" eaLnBrk="1" hangingPunct="1"/>
            <a:endParaRPr lang="en-US" altLang="zh-CN" b="1" dirty="0">
              <a:latin typeface="宋体" panose="02010600030101010101" pitchFamily="2" charset="-122"/>
            </a:endParaRPr>
          </a:p>
        </p:txBody>
      </p:sp>
      <p:graphicFrame>
        <p:nvGraphicFramePr>
          <p:cNvPr id="45059" name="Object 4"/>
          <p:cNvGraphicFramePr>
            <a:graphicFrameLocks noChangeAspect="1"/>
          </p:cNvGraphicFramePr>
          <p:nvPr/>
        </p:nvGraphicFramePr>
        <p:xfrm>
          <a:off x="1476375" y="3068638"/>
          <a:ext cx="60483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3175000" imgH="215900" progId="Equation.3">
                  <p:embed/>
                </p:oleObj>
              </mc:Choice>
              <mc:Fallback>
                <p:oleObj name="" r:id="rId1" imgW="3175000" imgH="2159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76375" y="3068638"/>
                        <a:ext cx="6048375" cy="41275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Rectangle 2"/>
          <p:cNvSpPr>
            <a:spLocks noGrp="1"/>
          </p:cNvSpPr>
          <p:nvPr>
            <p:ph type="title"/>
          </p:nvPr>
        </p:nvSpPr>
        <p:spPr>
          <a:xfrm>
            <a:off x="3060700" y="188913"/>
            <a:ext cx="5040313" cy="113982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>
                <a:ea typeface="楷体_GB2312" pitchFamily="49" charset="-122"/>
              </a:rPr>
              <a:t>常用金属材料的焊接</a:t>
            </a:r>
            <a:endParaRPr lang="zh-CN" altLang="en-US" sz="4000" dirty="0">
              <a:ea typeface="楷体_GB2312" pitchFamily="49" charset="-122"/>
            </a:endParaRPr>
          </a:p>
        </p:txBody>
      </p:sp>
      <p:sp>
        <p:nvSpPr>
          <p:cNvPr id="47106" name="Rectangle 3"/>
          <p:cNvSpPr>
            <a:spLocks noGrp="1"/>
          </p:cNvSpPr>
          <p:nvPr>
            <p:ph idx="1"/>
          </p:nvPr>
        </p:nvSpPr>
        <p:spPr>
          <a:xfrm>
            <a:off x="98425" y="1600200"/>
            <a:ext cx="5410200" cy="456565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金属材料的焊接性</a:t>
            </a:r>
            <a:endParaRPr lang="zh-CN" altLang="en-US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eaLnBrk="1" hangingPunct="1"/>
            <a:r>
              <a:rPr lang="zh-CN" altLang="en-US" sz="24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小型抗裂试验法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 评定不同拘束形式的接头产生裂纹的倾向。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lvl="1" eaLnBrk="1" hangingPunct="1"/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评定方法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周围固定焊缝冷却到常温以后，按实际产品的焊接工艺进行单层焊或多层焊。焊完后在室温下放置</a:t>
            </a:r>
            <a:r>
              <a:rPr lang="en-US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24h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，先检查焊缝及热影响区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有无表面裂纹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，再从垂直焊缝方向切取厚度为</a:t>
            </a:r>
            <a:r>
              <a:rPr lang="en-US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15mm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的金相磨片</a:t>
            </a:r>
            <a:r>
              <a:rPr lang="zh-CN" altLang="zh-CN" sz="2400" b="1" dirty="0">
                <a:latin typeface="楷体_GB2312" pitchFamily="49" charset="-122"/>
                <a:ea typeface="楷体_GB2312" pitchFamily="49" charset="-122"/>
              </a:rPr>
              <a:t>两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块，进行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低倍放大检验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是否存在内裂纹。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47107" name="Group 9"/>
          <p:cNvGrpSpPr/>
          <p:nvPr/>
        </p:nvGrpSpPr>
        <p:grpSpPr>
          <a:xfrm>
            <a:off x="5651500" y="1965325"/>
            <a:ext cx="3281363" cy="3408363"/>
            <a:chOff x="3625" y="1238"/>
            <a:chExt cx="2067" cy="2147"/>
          </a:xfrm>
        </p:grpSpPr>
        <p:pic>
          <p:nvPicPr>
            <p:cNvPr id="47108" name="Picture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625" y="1238"/>
              <a:ext cx="2067" cy="2147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</p:pic>
        <p:sp>
          <p:nvSpPr>
            <p:cNvPr id="47109" name="Rectangle 8"/>
            <p:cNvSpPr/>
            <p:nvPr/>
          </p:nvSpPr>
          <p:spPr>
            <a:xfrm>
              <a:off x="4150" y="3158"/>
              <a:ext cx="862" cy="181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110" name="Text Box 6"/>
            <p:cNvSpPr txBox="1"/>
            <p:nvPr/>
          </p:nvSpPr>
          <p:spPr>
            <a:xfrm>
              <a:off x="3651" y="2976"/>
              <a:ext cx="2003" cy="231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图</a:t>
              </a:r>
              <a:r>
                <a:rPr lang="en-US" altLang="zh-CN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4-36</a:t>
              </a:r>
              <a:r>
                <a:rPr lang="zh-CN" altLang="en-US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刚性固定对接抗裂试验</a:t>
              </a:r>
              <a:endParaRPr lang="zh-CN" altLang="en-US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Rectangle 2"/>
          <p:cNvSpPr>
            <a:spLocks noGrp="1"/>
          </p:cNvSpPr>
          <p:nvPr>
            <p:ph type="title"/>
          </p:nvPr>
        </p:nvSpPr>
        <p:spPr>
          <a:xfrm>
            <a:off x="2760663" y="128588"/>
            <a:ext cx="5483225" cy="113982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>
                <a:ea typeface="楷体_GB2312" pitchFamily="49" charset="-122"/>
              </a:rPr>
              <a:t>  </a:t>
            </a:r>
            <a:r>
              <a:rPr lang="zh-CN" altLang="en-US" sz="4000" dirty="0">
                <a:ea typeface="楷体_GB2312" pitchFamily="49" charset="-122"/>
              </a:rPr>
              <a:t>常用金属材料的焊接</a:t>
            </a:r>
            <a:endParaRPr lang="zh-CN" altLang="en-US" sz="4000" dirty="0">
              <a:ea typeface="楷体_GB2312" pitchFamily="49" charset="-122"/>
            </a:endParaRPr>
          </a:p>
        </p:txBody>
      </p:sp>
      <p:sp>
        <p:nvSpPr>
          <p:cNvPr id="49154" name="Rectangle 3"/>
          <p:cNvSpPr>
            <a:spLocks noGrp="1"/>
          </p:cNvSpPr>
          <p:nvPr>
            <p:ph idx="1"/>
          </p:nvPr>
        </p:nvSpPr>
        <p:spPr>
          <a:xfrm>
            <a:off x="-323850" y="1152525"/>
            <a:ext cx="9467850" cy="5589588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rgbClr val="FF6600"/>
              </a:buClr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   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碳钢的焊接</a:t>
            </a:r>
            <a:endParaRPr lang="zh-CN" altLang="en-US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eaLnBrk="1" hangingPunct="1"/>
            <a:r>
              <a:rPr lang="zh-CN" altLang="en-US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低碳钢的焊接</a:t>
            </a:r>
            <a:endParaRPr lang="zh-CN" altLang="en-US" b="1" dirty="0">
              <a:solidFill>
                <a:srgbClr val="0099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2" eaLnBrk="1" hangingPunct="1"/>
            <a:r>
              <a:rPr lang="zh-CN" altLang="en-US" b="1" dirty="0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碳当量小，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无淬硬倾向，冷裂倾向小，焊接性良好。除电渣焊外，焊前不需要预热，</a:t>
            </a:r>
            <a:r>
              <a:rPr lang="zh-CN" altLang="en-US" b="1" dirty="0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适合各种方法焊接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  <a:p>
            <a:pPr lvl="2" eaLnBrk="1" hangingPunct="1"/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板厚大于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50mm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，在低温环境下焊接需要预热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100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～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150 °C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  <a:p>
            <a:pPr lvl="2" eaLnBrk="1" hangingPunct="1"/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手工电弧焊中，一般选用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E4303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E4315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焊条；埋弧自动焊常选用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H08A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（低碳结构钢镀铜埋弧焊丝）或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H08MnA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焊丝和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HJ431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焊剂。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  <a:p>
            <a:pPr lvl="1" eaLnBrk="1" hangingPunct="1"/>
            <a:r>
              <a:rPr lang="zh-CN" altLang="en-US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中、高碳钢的焊接</a:t>
            </a:r>
            <a:endParaRPr lang="zh-CN" altLang="en-US" b="1" dirty="0">
              <a:solidFill>
                <a:srgbClr val="0099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2" eaLnBrk="1" hangingPunct="1"/>
            <a:r>
              <a:rPr lang="zh-CN" altLang="en-US" b="1" dirty="0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淬硬倾向和冷裂倾向较大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，焊缝金属热裂倾向较大。焊前须</a:t>
            </a:r>
            <a:r>
              <a:rPr lang="zh-CN" altLang="en-US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预热</a:t>
            </a:r>
            <a:r>
              <a:rPr lang="en-US" altLang="zh-CN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150</a:t>
            </a:r>
            <a:r>
              <a:rPr lang="zh-CN" altLang="en-US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～</a:t>
            </a:r>
            <a:r>
              <a:rPr lang="en-US" altLang="zh-CN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250°C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。常用手工电弧焊，选用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E5015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焊条。焊后缓慢冷却，防止冷裂纹产生。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  <a:p>
            <a:pPr lvl="2" eaLnBrk="1" hangingPunct="1"/>
            <a:r>
              <a:rPr lang="zh-CN" altLang="en-US" b="1" dirty="0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高碳钢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焊接性差，一般不作焊接结构用材料，</a:t>
            </a:r>
            <a:r>
              <a:rPr lang="zh-CN" altLang="en-US" b="1" dirty="0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只限于修补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sz="4000" dirty="0">
                <a:ea typeface="楷体_GB2312" pitchFamily="49" charset="-122"/>
              </a:rPr>
              <a:t>常用金属材料的焊接</a:t>
            </a:r>
            <a:endParaRPr lang="zh-CN" altLang="en-US" sz="4000" dirty="0">
              <a:ea typeface="楷体_GB2312" pitchFamily="49" charset="-122"/>
            </a:endParaRPr>
          </a:p>
        </p:txBody>
      </p:sp>
      <p:sp>
        <p:nvSpPr>
          <p:cNvPr id="51202" name="Rectangle 3"/>
          <p:cNvSpPr>
            <a:spLocks noGrp="1"/>
          </p:cNvSpPr>
          <p:nvPr>
            <p:ph idx="1"/>
          </p:nvPr>
        </p:nvSpPr>
        <p:spPr>
          <a:xfrm>
            <a:off x="34925" y="1557338"/>
            <a:ext cx="8964613" cy="463708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低合金结构钢的焊接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一般用焊条电弧焊和埋弧自动焊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lvl="1" eaLnBrk="1" hangingPunct="1"/>
            <a:r>
              <a:rPr lang="zh-CN" altLang="en-US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特点：</a:t>
            </a:r>
            <a:endParaRPr lang="zh-CN" altLang="en-US" b="1" dirty="0">
              <a:solidFill>
                <a:srgbClr val="0099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2" eaLnBrk="1" hangingPunct="1"/>
            <a:r>
              <a:rPr lang="zh-CN" altLang="en-US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热影响区淬硬倾向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 钢中含碳及合金元素越多，钢材强度级别越高，焊后热影响区的淬硬倾向越大。强度级别较大的低合金钢，淬硬倾向增加，热影响区易产生马氏体组织，硬度提高，塑性和韧性下降。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  <a:p>
            <a:pPr lvl="2" eaLnBrk="1" hangingPunct="1"/>
            <a:r>
              <a:rPr lang="zh-CN" altLang="en-US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焊接接头的裂纹倾向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随着钢材强度级别的提高，产生冷裂纹的倾向也加剧。影响生冷裂纹主要因素有三方面：一焊缝及热影响区的</a:t>
            </a: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含氢量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；二热影响区的</a:t>
            </a: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淬硬程度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；三焊接接头的</a:t>
            </a: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应力大小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4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sz="4000" dirty="0">
                <a:ea typeface="楷体_GB2312" pitchFamily="49" charset="-122"/>
              </a:rPr>
              <a:t>常用金属材料的焊接</a:t>
            </a:r>
            <a:endParaRPr lang="zh-CN" altLang="en-US" sz="4000" dirty="0">
              <a:ea typeface="楷体_GB2312" pitchFamily="49" charset="-122"/>
            </a:endParaRPr>
          </a:p>
        </p:txBody>
      </p:sp>
      <p:sp>
        <p:nvSpPr>
          <p:cNvPr id="53250" name="Rectangle 3"/>
          <p:cNvSpPr>
            <a:spLocks noGrp="1"/>
          </p:cNvSpPr>
          <p:nvPr>
            <p:ph idx="1"/>
          </p:nvPr>
        </p:nvSpPr>
        <p:spPr>
          <a:xfrm>
            <a:off x="0" y="1484313"/>
            <a:ext cx="8991600" cy="4608512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8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铸铁的焊补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一般采用手工电弧焊、气焊。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lvl="1" eaLnBrk="1" hangingPunct="1"/>
            <a:r>
              <a:rPr lang="zh-CN" altLang="en-US" sz="2400" b="1" dirty="0">
                <a:solidFill>
                  <a:srgbClr val="660033"/>
                </a:solidFill>
                <a:latin typeface="楷体_GB2312" pitchFamily="49" charset="-122"/>
                <a:ea typeface="楷体_GB2312" pitchFamily="49" charset="-122"/>
              </a:rPr>
              <a:t>热焊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焊前将工件整体或局部</a:t>
            </a:r>
            <a:r>
              <a:rPr lang="zh-CN" altLang="en-US" sz="2400" b="1" dirty="0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预热到</a:t>
            </a:r>
            <a:r>
              <a:rPr lang="en-US" altLang="zh-CN" sz="2400" b="1" dirty="0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600</a:t>
            </a:r>
            <a:r>
              <a:rPr lang="zh-CN" altLang="en-US" sz="2400" b="1" dirty="0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～</a:t>
            </a:r>
            <a:r>
              <a:rPr lang="en-US" altLang="zh-CN" sz="2400" b="1" dirty="0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700°C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，焊后缓慢冷却。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lvl="2" eaLnBrk="1" hangingPunct="1"/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优点：</a:t>
            </a:r>
            <a:r>
              <a:rPr lang="zh-CN" altLang="en-US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可防止出现白口组织和裂纹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，焊补质量较好。焊后可机械加工。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  <a:p>
            <a:pPr lvl="2" eaLnBrk="1" hangingPunct="1"/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缺点：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生产率低，成本较高，劳动强度差。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  <a:p>
            <a:pPr lvl="1" eaLnBrk="1" hangingPunct="1"/>
            <a:r>
              <a:rPr lang="zh-CN" altLang="en-US" sz="2400" b="1" dirty="0">
                <a:solidFill>
                  <a:srgbClr val="660033"/>
                </a:solidFill>
                <a:latin typeface="楷体_GB2312" pitchFamily="49" charset="-122"/>
                <a:ea typeface="楷体_GB2312" pitchFamily="49" charset="-122"/>
              </a:rPr>
              <a:t>冷焊</a:t>
            </a:r>
            <a:r>
              <a:rPr lang="zh-CN" altLang="en-US" sz="2400" b="1" dirty="0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一般不预热或较低温度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预热（</a:t>
            </a:r>
            <a:r>
              <a:rPr lang="en-US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400°C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以下）</a:t>
            </a:r>
            <a:r>
              <a:rPr lang="zh-CN" altLang="en-US" sz="2400" b="1" dirty="0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常用手工电弧焊，</a:t>
            </a:r>
            <a:r>
              <a:rPr lang="zh-CN" altLang="en-US" sz="2400" b="1" dirty="0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依靠焊条来防止白口和裂纹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lvl="2" eaLnBrk="1" hangingPunct="1"/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优点：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方便灵活，生产率高，成本低，劳动条件好，可用于一些非加工面的焊补。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sz="4000" dirty="0">
                <a:ea typeface="楷体_GB2312" pitchFamily="49" charset="-122"/>
              </a:rPr>
              <a:t>常用金属材料的焊接</a:t>
            </a:r>
            <a:endParaRPr lang="zh-CN" altLang="en-US" sz="4000" dirty="0">
              <a:ea typeface="楷体_GB2312" pitchFamily="49" charset="-122"/>
            </a:endParaRPr>
          </a:p>
        </p:txBody>
      </p:sp>
      <p:sp>
        <p:nvSpPr>
          <p:cNvPr id="55298" name="Rectangle 3"/>
          <p:cNvSpPr>
            <a:spLocks noGrp="1"/>
          </p:cNvSpPr>
          <p:nvPr>
            <p:ph idx="1"/>
          </p:nvPr>
        </p:nvSpPr>
        <p:spPr>
          <a:xfrm>
            <a:off x="-36512" y="1341438"/>
            <a:ext cx="9217025" cy="45720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非铁金属及其合金的焊接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铝及铝合金的焊接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纯铝、铝锰合金、铝镁合金及铸铝。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zh-CN" altLang="en-US" b="1" dirty="0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焊接特点：</a:t>
            </a:r>
            <a:endParaRPr lang="zh-CN" altLang="en-US" b="1" dirty="0">
              <a:solidFill>
                <a:srgbClr val="FF66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3" eaLnBrk="1" hangingPunct="1">
              <a:lnSpc>
                <a:spcPct val="90000"/>
              </a:lnSpc>
            </a:pPr>
            <a:r>
              <a:rPr lang="zh-CN" altLang="en-US" sz="24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极易氧化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易氧化生成氧化铝，组织致密，熔点高，阻碍熔合，易形成夹杂而脆化。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lvl="3" eaLnBrk="1" hangingPunct="1">
              <a:lnSpc>
                <a:spcPct val="90000"/>
              </a:lnSpc>
            </a:pPr>
            <a:r>
              <a:rPr lang="zh-CN" altLang="en-US" sz="24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形成气孔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液态铝吸收大量的氢，冷却时，产生气孔。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lvl="3" eaLnBrk="1" hangingPunct="1">
              <a:lnSpc>
                <a:spcPct val="90000"/>
              </a:lnSpc>
            </a:pPr>
            <a:r>
              <a:rPr lang="zh-CN" altLang="en-US" sz="24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电源功率大且易变形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铝导热系数大，需大功率电源；铝线膨胀系数大，易产生焊接应力和变形，甚至开裂。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lvl="3" eaLnBrk="1" hangingPunct="1">
              <a:lnSpc>
                <a:spcPct val="90000"/>
              </a:lnSpc>
            </a:pPr>
            <a:r>
              <a:rPr lang="zh-CN" altLang="en-US" sz="24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特殊工艺措施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铝在高温时强度很低，容易引起焊缝塌陷，常需采用垫板。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rgbClr val="CC3300"/>
                </a:solidFill>
                <a:latin typeface="楷体_GB2312" pitchFamily="49" charset="-122"/>
                <a:ea typeface="楷体_GB2312" pitchFamily="49" charset="-122"/>
              </a:rPr>
              <a:t>氩弧焊</a:t>
            </a:r>
            <a:r>
              <a:rPr lang="en-US" altLang="zh-CN" sz="2400" b="1" dirty="0">
                <a:solidFill>
                  <a:srgbClr val="CC33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保护电极和熔池不受空气的有害作用。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sz="4000" dirty="0">
                <a:ea typeface="楷体_GB2312" pitchFamily="49" charset="-122"/>
              </a:rPr>
              <a:t>常用金属材料的焊接</a:t>
            </a:r>
            <a:endParaRPr lang="zh-CN" altLang="en-US" sz="4000" dirty="0">
              <a:ea typeface="楷体_GB2312" pitchFamily="49" charset="-122"/>
            </a:endParaRPr>
          </a:p>
        </p:txBody>
      </p:sp>
      <p:sp>
        <p:nvSpPr>
          <p:cNvPr id="57346" name="Rectangle 3"/>
          <p:cNvSpPr>
            <a:spLocks noGrp="1"/>
          </p:cNvSpPr>
          <p:nvPr>
            <p:ph idx="1"/>
          </p:nvPr>
        </p:nvSpPr>
        <p:spPr>
          <a:xfrm>
            <a:off x="325438" y="1412875"/>
            <a:ext cx="8567737" cy="4852988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非铁金属及其合金的焊接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铜及铜合金的焊接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比低碳钢困难的多。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lvl="2" eaLnBrk="1" hangingPunct="1">
              <a:lnSpc>
                <a:spcPct val="80000"/>
              </a:lnSpc>
            </a:pPr>
            <a:r>
              <a:rPr lang="zh-CN" altLang="en-US" b="1" dirty="0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焊接特点：</a:t>
            </a:r>
            <a:endParaRPr lang="zh-CN" altLang="en-US" b="1" dirty="0">
              <a:solidFill>
                <a:srgbClr val="FF66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3" eaLnBrk="1" hangingPunct="1">
              <a:lnSpc>
                <a:spcPct val="80000"/>
              </a:lnSpc>
            </a:pPr>
            <a:r>
              <a:rPr lang="zh-CN" altLang="en-US" sz="24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难熔合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铜导热系数大，比铁大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7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～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11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倍，热量易散失，使母材和填充金属难于熔合，需大功率电源，焊前要预热。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lvl="3" eaLnBrk="1" hangingPunct="1">
              <a:lnSpc>
                <a:spcPct val="80000"/>
              </a:lnSpc>
            </a:pPr>
            <a:r>
              <a:rPr lang="zh-CN" altLang="en-US" sz="24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易氧化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液态铜易氧化，分布在晶界处。铜膨胀系数大，凝固系数也大，易产生较大的焊接应力，易开裂。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lvl="3" eaLnBrk="1" hangingPunct="1">
              <a:lnSpc>
                <a:spcPct val="80000"/>
              </a:lnSpc>
            </a:pPr>
            <a:r>
              <a:rPr lang="zh-CN" altLang="en-US" sz="24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产生气孔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铜易吸收氢，凝固时来不及逸出，形成气孔。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lvl="3" eaLnBrk="1" hangingPunct="1">
              <a:lnSpc>
                <a:spcPct val="80000"/>
              </a:lnSpc>
            </a:pPr>
            <a:r>
              <a:rPr lang="zh-CN" altLang="en-US" sz="24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易变形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铜的膨胀系数和收缩系数大，且铜的导热性强，热影响区宽，焊接变形严重。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b="1" dirty="0">
                <a:solidFill>
                  <a:srgbClr val="CC3300"/>
                </a:solidFill>
                <a:latin typeface="楷体_GB2312" pitchFamily="49" charset="-122"/>
                <a:ea typeface="楷体_GB2312" pitchFamily="49" charset="-122"/>
              </a:rPr>
              <a:t>氩弧焊</a:t>
            </a:r>
            <a:r>
              <a:rPr lang="en-US" altLang="zh-CN" sz="2400" b="1" dirty="0">
                <a:solidFill>
                  <a:srgbClr val="CC33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保护电极和熔池不受空气的有害作用。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3" name="Text Box 2"/>
          <p:cNvSpPr txBox="1"/>
          <p:nvPr/>
        </p:nvSpPr>
        <p:spPr>
          <a:xfrm>
            <a:off x="2555875" y="1627188"/>
            <a:ext cx="5307013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作业 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P176, (1), (2), (3).</a:t>
            </a:r>
            <a:endParaRPr lang="en-US" altLang="zh-CN" sz="32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sz="4000" dirty="0">
                <a:latin typeface="楷体_GB2312" pitchFamily="49" charset="-122"/>
                <a:ea typeface="楷体_GB2312" pitchFamily="49" charset="-122"/>
              </a:rPr>
              <a:t>第四章 焊接结构设计</a:t>
            </a:r>
            <a:endParaRPr lang="zh-CN" altLang="en-US" sz="40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1442" name="Rectangle 5"/>
          <p:cNvSpPr/>
          <p:nvPr/>
        </p:nvSpPr>
        <p:spPr>
          <a:xfrm>
            <a:off x="1331913" y="1916113"/>
            <a:ext cx="6496050" cy="341471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3300"/>
                </a:solidFill>
                <a:latin typeface="GreekS" pitchFamily="2" charset="0"/>
                <a:ea typeface="楷体_GB2312" pitchFamily="49" charset="-122"/>
              </a:rPr>
              <a:t>设计焊接结构时</a:t>
            </a:r>
            <a:r>
              <a:rPr lang="zh-CN" altLang="en-US" sz="2400" b="1" dirty="0">
                <a:solidFill>
                  <a:srgbClr val="CCFFFF"/>
                </a:solidFill>
                <a:latin typeface="GreekS" pitchFamily="2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latin typeface="GreekS" pitchFamily="2" charset="0"/>
                <a:ea typeface="楷体_GB2312" pitchFamily="49" charset="-122"/>
              </a:rPr>
              <a:t>设计者既要很好</a:t>
            </a:r>
            <a:r>
              <a:rPr lang="zh-CN" altLang="en-US" sz="2400" b="1" dirty="0">
                <a:solidFill>
                  <a:srgbClr val="009900"/>
                </a:solidFill>
                <a:latin typeface="GreekS" pitchFamily="2" charset="0"/>
                <a:ea typeface="楷体_GB2312" pitchFamily="49" charset="-122"/>
              </a:rPr>
              <a:t>了解产品使用性能的要求，</a:t>
            </a:r>
            <a:r>
              <a:rPr lang="zh-CN" altLang="en-US" sz="2400" b="1" dirty="0">
                <a:latin typeface="GreekS" pitchFamily="2" charset="0"/>
                <a:ea typeface="楷体_GB2312" pitchFamily="49" charset="-122"/>
              </a:rPr>
              <a:t>如载荷大小、载荷性质、使用温度、使用环境以及有关产品结构的国家标准与规程，</a:t>
            </a:r>
            <a:r>
              <a:rPr lang="zh-CN" altLang="en-US" sz="2400" b="1" dirty="0">
                <a:solidFill>
                  <a:srgbClr val="009900"/>
                </a:solidFill>
                <a:latin typeface="GreekS" pitchFamily="2" charset="0"/>
                <a:ea typeface="楷体_GB2312" pitchFamily="49" charset="-122"/>
              </a:rPr>
              <a:t>又要考虑焊接结构的工艺性。</a:t>
            </a:r>
            <a:r>
              <a:rPr lang="zh-CN" altLang="en-US" sz="2400" b="1" dirty="0">
                <a:solidFill>
                  <a:srgbClr val="000000"/>
                </a:solidFill>
                <a:latin typeface="GreekS" pitchFamily="2" charset="0"/>
                <a:ea typeface="楷体_GB2312" pitchFamily="49" charset="-122"/>
              </a:rPr>
              <a:t>如焊接工件材料的选择、焊接方法的选择、焊接接头的工艺设计等。</a:t>
            </a:r>
            <a:r>
              <a:rPr lang="zh-CN" altLang="en-US" sz="2400" b="1" dirty="0">
                <a:solidFill>
                  <a:srgbClr val="009900"/>
                </a:solidFill>
                <a:latin typeface="GreekS" pitchFamily="2" charset="0"/>
                <a:ea typeface="楷体_GB2312" pitchFamily="49" charset="-122"/>
              </a:rPr>
              <a:t>还要考虑到制造单位的质量管理水平、产品检验技术等有关问题，</a:t>
            </a:r>
            <a:r>
              <a:rPr lang="zh-CN" altLang="en-US" sz="2400" b="1" dirty="0">
                <a:latin typeface="GreekS" pitchFamily="2" charset="0"/>
                <a:ea typeface="楷体_GB2312" pitchFamily="49" charset="-122"/>
              </a:rPr>
              <a:t>才能设计出比较容易生产、质量优良、成本低廉的焊接结构。</a:t>
            </a:r>
            <a:endParaRPr lang="zh-CN" altLang="en-US" sz="2400" b="1" dirty="0">
              <a:latin typeface="GreekS" pitchFamily="2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89" name="Rectangle 2"/>
          <p:cNvSpPr>
            <a:spLocks noGrp="1"/>
          </p:cNvSpPr>
          <p:nvPr>
            <p:ph type="title"/>
          </p:nvPr>
        </p:nvSpPr>
        <p:spPr>
          <a:xfrm>
            <a:off x="3554413" y="115888"/>
            <a:ext cx="4330700" cy="1139825"/>
          </a:xfrm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en-US" altLang="zh-CN" dirty="0"/>
              <a:t> </a:t>
            </a:r>
            <a:r>
              <a:rPr lang="zh-CN" altLang="en-US" sz="4000" dirty="0">
                <a:ea typeface="楷体_GB2312" pitchFamily="49" charset="-122"/>
              </a:rPr>
              <a:t>焊接结构设计</a:t>
            </a:r>
            <a:endParaRPr lang="zh-CN" altLang="en-US" sz="4000" dirty="0">
              <a:ea typeface="楷体_GB2312" pitchFamily="49" charset="-122"/>
            </a:endParaRPr>
          </a:p>
        </p:txBody>
      </p:sp>
      <p:sp>
        <p:nvSpPr>
          <p:cNvPr id="63490" name="Rectangle 3"/>
          <p:cNvSpPr>
            <a:spLocks noGrp="1"/>
          </p:cNvSpPr>
          <p:nvPr>
            <p:ph type="body" sz="half" idx="1"/>
          </p:nvPr>
        </p:nvSpPr>
        <p:spPr>
          <a:xfrm>
            <a:off x="396875" y="1196975"/>
            <a:ext cx="8496300" cy="2836863"/>
          </a:xfrm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  <a:buFontTx/>
            </a:pP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焊接结构件材料的选择</a:t>
            </a:r>
            <a:endParaRPr lang="zh-CN" altLang="en-US" sz="2800" b="1" dirty="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eaLnBrk="1" hangingPunct="1"/>
            <a:r>
              <a:rPr lang="zh-CN" altLang="en-US" sz="24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应选择焊接性良好的焊接材料，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特别是优选低碳钢和碳当量</a:t>
            </a:r>
            <a:r>
              <a:rPr lang="zh-CN" altLang="en-US" sz="2400" b="1" dirty="0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小于</a:t>
            </a:r>
            <a:r>
              <a:rPr lang="en-US" altLang="zh-CN" sz="2400" b="1" dirty="0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0.4</a:t>
            </a:r>
            <a:r>
              <a:rPr lang="zh-CN" altLang="en-US" sz="2400" b="1" dirty="0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％的低合金钢等材料，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其价格低廉，工艺简单，易保证焊接质量。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lvl="1" eaLnBrk="1" hangingPunct="1"/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各种常用金属材料的焊接性如表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4-8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所示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63491" name="Group 9"/>
          <p:cNvGrpSpPr/>
          <p:nvPr/>
        </p:nvGrpSpPr>
        <p:grpSpPr>
          <a:xfrm>
            <a:off x="152400" y="3429000"/>
            <a:ext cx="8905875" cy="2743200"/>
            <a:chOff x="96" y="2292"/>
            <a:chExt cx="5610" cy="1728"/>
          </a:xfrm>
        </p:grpSpPr>
        <p:pic>
          <p:nvPicPr>
            <p:cNvPr id="63492" name="Picture 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6" y="2304"/>
              <a:ext cx="5610" cy="171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3493" name="Rectangle 8"/>
            <p:cNvSpPr/>
            <p:nvPr/>
          </p:nvSpPr>
          <p:spPr>
            <a:xfrm>
              <a:off x="2097" y="2292"/>
              <a:ext cx="2003" cy="231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b="1" dirty="0">
                  <a:latin typeface="楷体_GB2312" pitchFamily="49" charset="-122"/>
                  <a:ea typeface="楷体_GB2312" pitchFamily="49" charset="-122"/>
                </a:rPr>
                <a:t>表</a:t>
              </a:r>
              <a:r>
                <a:rPr lang="en-US" altLang="zh-CN" b="1" dirty="0">
                  <a:latin typeface="楷体_GB2312" pitchFamily="49" charset="-122"/>
                  <a:ea typeface="楷体_GB2312" pitchFamily="49" charset="-122"/>
                </a:rPr>
                <a:t>4-8 </a:t>
              </a:r>
              <a:r>
                <a:rPr lang="zh-CN" altLang="en-US" b="1" dirty="0">
                  <a:latin typeface="楷体_GB2312" pitchFamily="49" charset="-122"/>
                  <a:ea typeface="楷体_GB2312" pitchFamily="49" charset="-122"/>
                </a:rPr>
                <a:t>常用金属材料的焊接性</a:t>
              </a:r>
              <a:endParaRPr lang="zh-CN" altLang="en-US" b="1" dirty="0">
                <a:latin typeface="楷体_GB2312" pitchFamily="49" charset="-122"/>
                <a:ea typeface="楷体_GB2312" pitchFamily="49" charset="-122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algn="ctr" eaLnBrk="1" hangingPunct="1"/>
            <a:r>
              <a:rPr lang="en-US" altLang="zh-CN" dirty="0"/>
              <a:t> </a:t>
            </a:r>
            <a:r>
              <a:rPr lang="zh-CN" altLang="en-US" sz="4000" dirty="0">
                <a:ea typeface="楷体_GB2312" pitchFamily="49" charset="-122"/>
              </a:rPr>
              <a:t>焊接结构设计</a:t>
            </a:r>
            <a:endParaRPr lang="zh-CN" altLang="en-US" sz="4000" dirty="0">
              <a:ea typeface="楷体_GB2312" pitchFamily="49" charset="-122"/>
            </a:endParaRPr>
          </a:p>
        </p:txBody>
      </p:sp>
      <p:sp>
        <p:nvSpPr>
          <p:cNvPr id="65538" name="Rectangle 10"/>
          <p:cNvSpPr/>
          <p:nvPr/>
        </p:nvSpPr>
        <p:spPr>
          <a:xfrm>
            <a:off x="323850" y="4797425"/>
            <a:ext cx="8280400" cy="822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焊接方法的选择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依据材料的焊接性、工件的结构形式、厚度和各种焊接方法的适用范围、生产率选择。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65539" name="Group 13"/>
          <p:cNvGrpSpPr/>
          <p:nvPr/>
        </p:nvGrpSpPr>
        <p:grpSpPr>
          <a:xfrm>
            <a:off x="152400" y="1366838"/>
            <a:ext cx="8715375" cy="3141662"/>
            <a:chOff x="96" y="1237"/>
            <a:chExt cx="5490" cy="1979"/>
          </a:xfrm>
        </p:grpSpPr>
        <p:pic>
          <p:nvPicPr>
            <p:cNvPr id="65540" name="Picture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6" y="1261"/>
              <a:ext cx="5490" cy="195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5541" name="Rectangle 6"/>
            <p:cNvSpPr/>
            <p:nvPr/>
          </p:nvSpPr>
          <p:spPr>
            <a:xfrm>
              <a:off x="113" y="1237"/>
              <a:ext cx="204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400" b="1" dirty="0">
                  <a:solidFill>
                    <a:srgbClr val="FF3300"/>
                  </a:solidFill>
                  <a:latin typeface="GreekS" pitchFamily="2" charset="0"/>
                  <a:ea typeface="楷体_GB2312" pitchFamily="49" charset="-122"/>
                </a:rPr>
                <a:t>常用金属材料的焊接性</a:t>
              </a:r>
              <a:endParaRPr lang="zh-CN" altLang="en-US" sz="2400" b="1" dirty="0">
                <a:solidFill>
                  <a:srgbClr val="FF3300"/>
                </a:solidFill>
                <a:latin typeface="GreekS" pitchFamily="2" charset="0"/>
                <a:ea typeface="楷体_GB2312" pitchFamily="49" charset="-122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sz="4000" dirty="0">
                <a:ea typeface="楷体_GB2312" pitchFamily="49" charset="-122"/>
              </a:rPr>
              <a:t>焊接结构设计</a:t>
            </a:r>
            <a:endParaRPr lang="zh-CN" altLang="en-US" sz="4000" dirty="0">
              <a:ea typeface="楷体_GB2312" pitchFamily="49" charset="-122"/>
            </a:endParaRPr>
          </a:p>
        </p:txBody>
      </p:sp>
      <p:sp>
        <p:nvSpPr>
          <p:cNvPr id="67586" name="Rectangle 3"/>
          <p:cNvSpPr>
            <a:spLocks noGrp="1"/>
          </p:cNvSpPr>
          <p:nvPr>
            <p:ph idx="1"/>
          </p:nvPr>
        </p:nvSpPr>
        <p:spPr>
          <a:xfrm>
            <a:off x="457200" y="1371600"/>
            <a:ext cx="8153400" cy="14097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1" dirty="0">
                <a:solidFill>
                  <a:srgbClr val="FF3300"/>
                </a:solidFill>
                <a:ea typeface="楷体_GB2312" pitchFamily="49" charset="-122"/>
              </a:rPr>
              <a:t>合理选材，减少焊缝数量</a:t>
            </a:r>
            <a:endParaRPr lang="zh-CN" altLang="en-US" b="1" dirty="0">
              <a:solidFill>
                <a:srgbClr val="FF3300"/>
              </a:solidFill>
              <a:ea typeface="楷体_GB2312" pitchFamily="49" charset="-122"/>
            </a:endParaRPr>
          </a:p>
          <a:p>
            <a:pPr lvl="1" eaLnBrk="1" hangingPunct="1"/>
            <a:r>
              <a:rPr lang="zh-CN" altLang="en-US" b="1" dirty="0">
                <a:ea typeface="楷体_GB2312" pitchFamily="49" charset="-122"/>
              </a:rPr>
              <a:t>尽量减少焊缝长度和数量。</a:t>
            </a:r>
            <a:endParaRPr lang="zh-CN" altLang="en-US" b="1" dirty="0">
              <a:ea typeface="楷体_GB2312" pitchFamily="49" charset="-122"/>
            </a:endParaRPr>
          </a:p>
          <a:p>
            <a:pPr lvl="1" eaLnBrk="1" hangingPunct="1">
              <a:buNone/>
            </a:pPr>
            <a:endParaRPr lang="en-US" altLang="zh-CN" b="1" dirty="0">
              <a:ea typeface="楷体_GB2312" pitchFamily="49" charset="-122"/>
            </a:endParaRPr>
          </a:p>
        </p:txBody>
      </p:sp>
      <p:grpSp>
        <p:nvGrpSpPr>
          <p:cNvPr id="67587" name="Group 14"/>
          <p:cNvGrpSpPr/>
          <p:nvPr/>
        </p:nvGrpSpPr>
        <p:grpSpPr>
          <a:xfrm>
            <a:off x="2411413" y="2700338"/>
            <a:ext cx="3671887" cy="1808162"/>
            <a:chOff x="748" y="1524"/>
            <a:chExt cx="2313" cy="1139"/>
          </a:xfrm>
        </p:grpSpPr>
        <p:sp>
          <p:nvSpPr>
            <p:cNvPr id="67588" name="Rectangle 8"/>
            <p:cNvSpPr/>
            <p:nvPr/>
          </p:nvSpPr>
          <p:spPr>
            <a:xfrm>
              <a:off x="748" y="2432"/>
              <a:ext cx="2313" cy="231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 </a:t>
              </a:r>
              <a:r>
                <a:rPr lang="zh-CN" altLang="en-US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图</a:t>
              </a:r>
              <a:r>
                <a:rPr lang="en-US" altLang="zh-CN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4-37 </a:t>
              </a:r>
              <a:r>
                <a:rPr lang="zh-CN" altLang="en-US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合理选材减少焊缝数量</a:t>
              </a:r>
              <a:endParaRPr lang="zh-CN" altLang="en-US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pic>
          <p:nvPicPr>
            <p:cNvPr id="67589" name="Picture 12" descr="Image4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48" y="1524"/>
              <a:ext cx="2313" cy="950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67590" name="Rectangle 13"/>
          <p:cNvSpPr/>
          <p:nvPr/>
        </p:nvSpPr>
        <p:spPr>
          <a:xfrm>
            <a:off x="323850" y="4724400"/>
            <a:ext cx="7991475" cy="15525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  </a:t>
            </a:r>
            <a:r>
              <a:rPr lang="zh-CN" altLang="en-US" sz="2400" b="1" dirty="0">
                <a:latin typeface="Arial" panose="020B0604020202020204" pitchFamily="34" charset="0"/>
                <a:ea typeface="楷体_GB2312" pitchFamily="49" charset="-122"/>
              </a:rPr>
              <a:t>采用型材、管材、冲压件、锻件和铸钢件等作为被焊材料。这样不仅能减小焊接应力和变形，还能减少焊接材料消耗，提高生产率。如图所示箱体构件，如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采用型材或冲压件（图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）焊接，可较板材（图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）减少两条焊缝。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sz="4000" dirty="0">
                <a:ea typeface="楷体_GB2312" pitchFamily="49" charset="-122"/>
              </a:rPr>
              <a:t>焊接结构设计</a:t>
            </a:r>
            <a:endParaRPr lang="zh-CN" altLang="en-US" sz="4000" dirty="0">
              <a:ea typeface="楷体_GB2312" pitchFamily="49" charset="-122"/>
            </a:endParaRPr>
          </a:p>
        </p:txBody>
      </p:sp>
      <p:sp>
        <p:nvSpPr>
          <p:cNvPr id="69634" name="Rectangle 3"/>
          <p:cNvSpPr>
            <a:spLocks noGrp="1"/>
          </p:cNvSpPr>
          <p:nvPr>
            <p:ph idx="1"/>
          </p:nvPr>
        </p:nvSpPr>
        <p:spPr>
          <a:xfrm>
            <a:off x="-36512" y="1341438"/>
            <a:ext cx="8929687" cy="2447925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焊缝布置原则</a:t>
            </a:r>
            <a:endParaRPr lang="zh-CN" altLang="en-US" b="1" dirty="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eaLnBrk="1" hangingPunct="1"/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尽可能分散，避免过分集中和交叉。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  <a:p>
            <a:pPr lvl="1" eaLnBrk="1" hangingPunct="1">
              <a:buNone/>
            </a:pPr>
            <a:r>
              <a:rPr lang="zh-CN" altLang="en-US" sz="2400" b="1" dirty="0">
                <a:ea typeface="楷体_GB2312" pitchFamily="49" charset="-122"/>
              </a:rPr>
              <a:t>         焊缝集中分布容易使接头过热，材料的力学性能降低。</a:t>
            </a:r>
            <a:r>
              <a:rPr lang="zh-CN" altLang="en-US" sz="2400" b="1" dirty="0">
                <a:solidFill>
                  <a:srgbClr val="0000FF"/>
                </a:solidFill>
                <a:ea typeface="楷体_GB2312" pitchFamily="49" charset="-122"/>
              </a:rPr>
              <a:t>两条焊缝的间距一般要求大于三倍或五倍的板厚。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lvl="1" eaLnBrk="1" hangingPunct="1">
              <a:buNone/>
            </a:pPr>
            <a:endParaRPr lang="en-US" altLang="zh-CN" b="1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69635" name="Group 13"/>
          <p:cNvGrpSpPr/>
          <p:nvPr/>
        </p:nvGrpSpPr>
        <p:grpSpPr>
          <a:xfrm>
            <a:off x="1692275" y="3213100"/>
            <a:ext cx="5835650" cy="3489325"/>
            <a:chOff x="1020" y="1480"/>
            <a:chExt cx="2835" cy="1950"/>
          </a:xfrm>
        </p:grpSpPr>
        <p:pic>
          <p:nvPicPr>
            <p:cNvPr id="69636" name="Picture 12" descr="3"/>
            <p:cNvPicPr>
              <a:picLocks noChangeAspect="1"/>
            </p:cNvPicPr>
            <p:nvPr/>
          </p:nvPicPr>
          <p:blipFill>
            <a:blip r:embed="rId1"/>
            <a:srcRect l="2222" t="8856" r="5177" b="6468"/>
            <a:stretch>
              <a:fillRect/>
            </a:stretch>
          </p:blipFill>
          <p:spPr>
            <a:xfrm>
              <a:off x="1020" y="1480"/>
              <a:ext cx="2835" cy="195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9637" name="Text Box 5"/>
            <p:cNvSpPr txBox="1"/>
            <p:nvPr/>
          </p:nvSpPr>
          <p:spPr>
            <a:xfrm>
              <a:off x="1474" y="3202"/>
              <a:ext cx="1916" cy="206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zh-CN" altLang="en-US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图</a:t>
              </a:r>
              <a:r>
                <a:rPr lang="en-US" altLang="zh-CN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4-38 </a:t>
              </a:r>
              <a:r>
                <a:rPr lang="zh-CN" altLang="en-US" b="1" dirty="0">
                  <a:latin typeface="楷体_GB2312" pitchFamily="49" charset="-122"/>
                  <a:ea typeface="楷体_GB2312" pitchFamily="49" charset="-122"/>
                </a:rPr>
                <a:t>焊缝分散布置的设计</a:t>
              </a:r>
              <a:endParaRPr lang="zh-CN" altLang="en-US" b="1" dirty="0">
                <a:latin typeface="楷体_GB2312" pitchFamily="49" charset="-122"/>
                <a:ea typeface="楷体_GB2312" pitchFamily="49" charset="-122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1" name="Rectangle 2"/>
          <p:cNvSpPr>
            <a:spLocks noGrp="1"/>
          </p:cNvSpPr>
          <p:nvPr>
            <p:ph type="title"/>
          </p:nvPr>
        </p:nvSpPr>
        <p:spPr>
          <a:xfrm>
            <a:off x="2555875" y="0"/>
            <a:ext cx="6019800" cy="1190625"/>
          </a:xfrm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sz="4000" dirty="0">
                <a:ea typeface="楷体_GB2312" pitchFamily="49" charset="-122"/>
              </a:rPr>
              <a:t>焊接结构设计</a:t>
            </a:r>
            <a:endParaRPr lang="zh-CN" altLang="en-US" sz="4000" dirty="0">
              <a:ea typeface="楷体_GB2312" pitchFamily="49" charset="-122"/>
            </a:endParaRPr>
          </a:p>
        </p:txBody>
      </p:sp>
      <p:sp>
        <p:nvSpPr>
          <p:cNvPr id="71682" name="Rectangle 3"/>
          <p:cNvSpPr>
            <a:spLocks noGrp="1"/>
          </p:cNvSpPr>
          <p:nvPr>
            <p:ph idx="1"/>
          </p:nvPr>
        </p:nvSpPr>
        <p:spPr>
          <a:xfrm>
            <a:off x="323850" y="1268413"/>
            <a:ext cx="8424863" cy="172878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800" b="1" dirty="0">
                <a:solidFill>
                  <a:srgbClr val="FF3300"/>
                </a:solidFill>
                <a:ea typeface="楷体_GB2312" pitchFamily="49" charset="-122"/>
              </a:rPr>
              <a:t>焊缝布置原则</a:t>
            </a:r>
            <a:endParaRPr lang="zh-CN" altLang="en-US" sz="2800" b="1" dirty="0">
              <a:solidFill>
                <a:srgbClr val="FF3300"/>
              </a:solidFill>
              <a:ea typeface="楷体_GB2312" pitchFamily="49" charset="-122"/>
            </a:endParaRPr>
          </a:p>
          <a:p>
            <a:pPr lvl="1" eaLnBrk="1" hangingPunct="1"/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应尽可能对称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 焊缝的对称布置可以使各条焊缝的焊接变形相抵销，对减小梁柱结构的焊接变形有明显的效果。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  <a:p>
            <a:pPr lvl="1" eaLnBrk="1" hangingPunct="1">
              <a:buNone/>
            </a:pPr>
            <a:endParaRPr lang="en-US" altLang="zh-CN" b="1" dirty="0"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71683" name="Picture 22" descr="1"/>
          <p:cNvPicPr>
            <a:picLocks noChangeAspect="1"/>
          </p:cNvPicPr>
          <p:nvPr/>
        </p:nvPicPr>
        <p:blipFill>
          <a:blip r:embed="rId1"/>
          <a:srcRect l="15585" t="5136" r="11967" b="5815"/>
          <a:stretch>
            <a:fillRect/>
          </a:stretch>
        </p:blipFill>
        <p:spPr>
          <a:xfrm>
            <a:off x="1373188" y="2708275"/>
            <a:ext cx="6326187" cy="4162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2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sz="4000" dirty="0">
                <a:ea typeface="楷体_GB2312" pitchFamily="49" charset="-122"/>
              </a:rPr>
              <a:t>焊接结构设计</a:t>
            </a:r>
            <a:endParaRPr lang="zh-CN" altLang="en-US" sz="4000" dirty="0">
              <a:ea typeface="楷体_GB2312" pitchFamily="49" charset="-122"/>
            </a:endParaRPr>
          </a:p>
        </p:txBody>
      </p:sp>
      <p:sp>
        <p:nvSpPr>
          <p:cNvPr id="73730" name="Rectangle 3"/>
          <p:cNvSpPr>
            <a:spLocks noGrp="1"/>
          </p:cNvSpPr>
          <p:nvPr>
            <p:ph type="body" sz="half" idx="1"/>
          </p:nvPr>
        </p:nvSpPr>
        <p:spPr>
          <a:xfrm>
            <a:off x="457200" y="1268413"/>
            <a:ext cx="4000500" cy="1076325"/>
          </a:xfrm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  <a:buFontTx/>
            </a:pPr>
            <a:r>
              <a:rPr lang="zh-CN" altLang="en-US" sz="2800" b="1" dirty="0">
                <a:solidFill>
                  <a:srgbClr val="FF3300"/>
                </a:solidFill>
                <a:ea typeface="楷体_GB2312" pitchFamily="49" charset="-122"/>
              </a:rPr>
              <a:t>焊缝布置原则</a:t>
            </a:r>
            <a:endParaRPr lang="zh-CN" altLang="en-US" sz="2800" b="1" dirty="0">
              <a:solidFill>
                <a:srgbClr val="FF3300"/>
              </a:solidFill>
              <a:ea typeface="楷体_GB2312" pitchFamily="49" charset="-122"/>
            </a:endParaRPr>
          </a:p>
          <a:p>
            <a:pPr lvl="1" eaLnBrk="1" hangingPunct="1"/>
            <a:r>
              <a:rPr lang="zh-CN" altLang="en-US" sz="2400" b="1" dirty="0">
                <a:ea typeface="楷体_GB2312" pitchFamily="49" charset="-122"/>
              </a:rPr>
              <a:t>应避开应力集中部位。</a:t>
            </a:r>
            <a:endParaRPr lang="zh-CN" altLang="en-US" sz="2400" b="1" dirty="0">
              <a:ea typeface="楷体_GB2312" pitchFamily="49" charset="-122"/>
            </a:endParaRPr>
          </a:p>
          <a:p>
            <a:pPr lvl="1" eaLnBrk="1" hangingPunct="1">
              <a:buNone/>
            </a:pPr>
            <a:endParaRPr lang="en-US" altLang="zh-CN" sz="2400" b="1" dirty="0"/>
          </a:p>
        </p:txBody>
      </p:sp>
      <p:grpSp>
        <p:nvGrpSpPr>
          <p:cNvPr id="73731" name="Group 19"/>
          <p:cNvGrpSpPr/>
          <p:nvPr/>
        </p:nvGrpSpPr>
        <p:grpSpPr>
          <a:xfrm>
            <a:off x="1141413" y="2205038"/>
            <a:ext cx="6861175" cy="3028950"/>
            <a:chOff x="839" y="1480"/>
            <a:chExt cx="3946" cy="1847"/>
          </a:xfrm>
        </p:grpSpPr>
        <p:pic>
          <p:nvPicPr>
            <p:cNvPr id="73732" name="Picture 1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39" y="1480"/>
              <a:ext cx="3946" cy="184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3733" name="Rectangle 16"/>
            <p:cNvSpPr/>
            <p:nvPr/>
          </p:nvSpPr>
          <p:spPr>
            <a:xfrm>
              <a:off x="1032" y="3086"/>
              <a:ext cx="3526" cy="225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zh-CN" altLang="en-US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图</a:t>
              </a:r>
              <a:r>
                <a:rPr lang="en-US" altLang="zh-CN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4-40 </a:t>
              </a:r>
              <a:r>
                <a:rPr lang="zh-CN" altLang="en-US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焊缝避开最大应力断面与应力集中位置的设计</a:t>
              </a:r>
              <a:endParaRPr lang="zh-CN" altLang="en-US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73734" name="Rectangle 18"/>
          <p:cNvSpPr/>
          <p:nvPr/>
        </p:nvSpPr>
        <p:spPr>
          <a:xfrm>
            <a:off x="684213" y="5373688"/>
            <a:ext cx="7848600" cy="11874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如图所示。以防止焊接应力与外加应力相互叠加，造成过大的应力而开裂。不可避免时，应附加刚性支承，以减小焊缝承受的应力。 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sz="4000" dirty="0">
                <a:ea typeface="楷体_GB2312" pitchFamily="49" charset="-122"/>
              </a:rPr>
              <a:t>焊接结构设计</a:t>
            </a:r>
            <a:endParaRPr lang="zh-CN" altLang="en-US" sz="4000" dirty="0">
              <a:ea typeface="楷体_GB2312" pitchFamily="49" charset="-122"/>
            </a:endParaRPr>
          </a:p>
        </p:txBody>
      </p:sp>
      <p:sp>
        <p:nvSpPr>
          <p:cNvPr id="75778" name="Rectangle 3"/>
          <p:cNvSpPr>
            <a:spLocks noGrp="1"/>
          </p:cNvSpPr>
          <p:nvPr>
            <p:ph idx="1"/>
          </p:nvPr>
        </p:nvSpPr>
        <p:spPr>
          <a:xfrm>
            <a:off x="457200" y="1371600"/>
            <a:ext cx="8153400" cy="1193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1" dirty="0">
                <a:solidFill>
                  <a:srgbClr val="FF3300"/>
                </a:solidFill>
                <a:ea typeface="楷体_GB2312" pitchFamily="49" charset="-122"/>
              </a:rPr>
              <a:t>焊缝布置原则</a:t>
            </a:r>
            <a:endParaRPr lang="zh-CN" altLang="en-US" b="1" dirty="0">
              <a:solidFill>
                <a:srgbClr val="FF3300"/>
              </a:solidFill>
              <a:ea typeface="楷体_GB2312" pitchFamily="49" charset="-122"/>
            </a:endParaRPr>
          </a:p>
          <a:p>
            <a:pPr lvl="1" eaLnBrk="1" hangingPunct="1"/>
            <a:r>
              <a:rPr lang="zh-CN" altLang="en-US" b="1" dirty="0">
                <a:ea typeface="楷体_GB2312" pitchFamily="49" charset="-122"/>
              </a:rPr>
              <a:t>应尽量避开机械加工表面。</a:t>
            </a:r>
            <a:endParaRPr lang="zh-CN" altLang="en-US" b="1" dirty="0">
              <a:ea typeface="楷体_GB2312" pitchFamily="49" charset="-122"/>
            </a:endParaRPr>
          </a:p>
          <a:p>
            <a:pPr lvl="1" eaLnBrk="1" hangingPunct="1">
              <a:buNone/>
            </a:pPr>
            <a:endParaRPr lang="en-US" altLang="zh-CN" b="1" dirty="0"/>
          </a:p>
        </p:txBody>
      </p:sp>
      <p:grpSp>
        <p:nvGrpSpPr>
          <p:cNvPr id="75779" name="Group 8"/>
          <p:cNvGrpSpPr/>
          <p:nvPr/>
        </p:nvGrpSpPr>
        <p:grpSpPr>
          <a:xfrm>
            <a:off x="684213" y="2492375"/>
            <a:ext cx="7924800" cy="2066925"/>
            <a:chOff x="431" y="2128"/>
            <a:chExt cx="4992" cy="1302"/>
          </a:xfrm>
        </p:grpSpPr>
        <p:grpSp>
          <p:nvGrpSpPr>
            <p:cNvPr id="75780" name="Group 4"/>
            <p:cNvGrpSpPr/>
            <p:nvPr/>
          </p:nvGrpSpPr>
          <p:grpSpPr>
            <a:xfrm>
              <a:off x="431" y="2128"/>
              <a:ext cx="4992" cy="1302"/>
              <a:chOff x="432" y="2064"/>
              <a:chExt cx="4992" cy="1302"/>
            </a:xfrm>
          </p:grpSpPr>
          <p:pic>
            <p:nvPicPr>
              <p:cNvPr id="75781" name="Picture 5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432" y="2064"/>
                <a:ext cx="4992" cy="1302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</a:ln>
            </p:spPr>
          </p:pic>
          <p:sp>
            <p:nvSpPr>
              <p:cNvPr id="75782" name="Text Box 6"/>
              <p:cNvSpPr txBox="1"/>
              <p:nvPr/>
            </p:nvSpPr>
            <p:spPr>
              <a:xfrm>
                <a:off x="1930" y="3022"/>
                <a:ext cx="433" cy="192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zh-CN" altLang="en-US" sz="1400" b="1" dirty="0">
                    <a:solidFill>
                      <a:srgbClr val="000000"/>
                    </a:solidFill>
                    <a:latin typeface="GreekS" pitchFamily="2" charset="0"/>
                    <a:ea typeface="宋体" panose="02010600030101010101" pitchFamily="2" charset="-122"/>
                  </a:rPr>
                  <a:t>图</a:t>
                </a:r>
                <a:r>
                  <a:rPr lang="en-US" altLang="zh-CN" sz="1400" b="1" dirty="0">
                    <a:solidFill>
                      <a:srgbClr val="000000"/>
                    </a:solidFill>
                    <a:latin typeface="Century" panose="02040604050505020304" pitchFamily="18" charset="0"/>
                    <a:ea typeface="宋体" panose="02010600030101010101" pitchFamily="2" charset="-122"/>
                  </a:rPr>
                  <a:t>4-41</a:t>
                </a:r>
                <a:endParaRPr lang="en-US" altLang="zh-CN" sz="1400" b="1" dirty="0">
                  <a:solidFill>
                    <a:srgbClr val="000000"/>
                  </a:solidFill>
                  <a:latin typeface="Century" panose="020406040505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5783" name="Rectangle 7"/>
            <p:cNvSpPr/>
            <p:nvPr/>
          </p:nvSpPr>
          <p:spPr>
            <a:xfrm>
              <a:off x="1701" y="3018"/>
              <a:ext cx="2511" cy="231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图</a:t>
              </a:r>
              <a:r>
                <a:rPr lang="en-US" altLang="zh-CN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4-41 </a:t>
              </a:r>
              <a:r>
                <a:rPr lang="zh-CN" altLang="en-US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焊缝远离机械加工表面的设计</a:t>
              </a:r>
              <a:endParaRPr lang="zh-CN" altLang="en-US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853001" name="Rectangle 9"/>
          <p:cNvSpPr/>
          <p:nvPr/>
        </p:nvSpPr>
        <p:spPr>
          <a:xfrm>
            <a:off x="611188" y="4797425"/>
            <a:ext cx="7993062" cy="19177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 sz="2400" b="1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      </a:t>
            </a:r>
            <a:r>
              <a:rPr lang="zh-CN" alt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因为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焊缝的机械加工性能不好，且焊接残余应力会影响加工精度。</a:t>
            </a:r>
            <a:r>
              <a:rPr lang="zh-CN" alt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如果焊接结构上某一部位的加工精度要求较高，又必须在机械加工完成之后进行焊接工序时，应将焊缝布置在远离加工面处，以避免焊接应力和变形对已加工表面精度的影响  。</a:t>
            </a:r>
            <a:endParaRPr lang="zh-CN" altLang="en-US" sz="2400" b="1" dirty="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001">
                                            <p:txEl>
                                              <p:charRg st="0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53001">
                                            <p:txEl>
                                              <p:charRg st="0" end="1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sz="4000" dirty="0">
                <a:ea typeface="楷体_GB2312" pitchFamily="49" charset="-122"/>
              </a:rPr>
              <a:t>焊接结构设计</a:t>
            </a:r>
            <a:endParaRPr lang="zh-CN" altLang="en-US" sz="4000" dirty="0">
              <a:ea typeface="楷体_GB2312" pitchFamily="49" charset="-122"/>
            </a:endParaRPr>
          </a:p>
        </p:txBody>
      </p:sp>
      <p:sp>
        <p:nvSpPr>
          <p:cNvPr id="77826" name="Rectangle 3"/>
          <p:cNvSpPr>
            <a:spLocks noGrp="1"/>
          </p:cNvSpPr>
          <p:nvPr>
            <p:ph idx="1"/>
          </p:nvPr>
        </p:nvSpPr>
        <p:spPr>
          <a:xfrm>
            <a:off x="457200" y="1371600"/>
            <a:ext cx="8686800" cy="1154113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1" dirty="0">
                <a:solidFill>
                  <a:srgbClr val="FF3300"/>
                </a:solidFill>
                <a:ea typeface="楷体_GB2312" pitchFamily="49" charset="-122"/>
              </a:rPr>
              <a:t>焊缝布置原则</a:t>
            </a:r>
            <a:endParaRPr lang="zh-CN" altLang="en-US" b="1" dirty="0">
              <a:solidFill>
                <a:srgbClr val="FF3300"/>
              </a:solidFill>
              <a:ea typeface="楷体_GB2312" pitchFamily="49" charset="-122"/>
            </a:endParaRPr>
          </a:p>
          <a:p>
            <a:pPr lvl="1" eaLnBrk="1" hangingPunct="1"/>
            <a:r>
              <a:rPr lang="zh-CN" altLang="en-US" b="1" dirty="0">
                <a:ea typeface="楷体_GB2312" pitchFamily="49" charset="-122"/>
              </a:rPr>
              <a:t>考虑各种焊接方法所需要的</a:t>
            </a: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施焊操作空间 。</a:t>
            </a:r>
            <a:endParaRPr lang="zh-CN" altLang="en-US" b="1" dirty="0">
              <a:solidFill>
                <a:srgbClr val="0000FF"/>
              </a:solidFill>
              <a:ea typeface="楷体_GB2312" pitchFamily="49" charset="-122"/>
            </a:endParaRPr>
          </a:p>
          <a:p>
            <a:pPr lvl="1" eaLnBrk="1" hangingPunct="1">
              <a:buNone/>
            </a:pPr>
            <a:endParaRPr lang="en-US" altLang="zh-CN" b="1" dirty="0">
              <a:ea typeface="楷体_GB2312" pitchFamily="49" charset="-122"/>
            </a:endParaRPr>
          </a:p>
        </p:txBody>
      </p:sp>
      <p:grpSp>
        <p:nvGrpSpPr>
          <p:cNvPr id="77827" name="Group 12"/>
          <p:cNvGrpSpPr/>
          <p:nvPr/>
        </p:nvGrpSpPr>
        <p:grpSpPr>
          <a:xfrm>
            <a:off x="755650" y="2636838"/>
            <a:ext cx="3473450" cy="3744912"/>
            <a:chOff x="624" y="1570"/>
            <a:chExt cx="2188" cy="2359"/>
          </a:xfrm>
        </p:grpSpPr>
        <p:pic>
          <p:nvPicPr>
            <p:cNvPr id="77828" name="Picture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24" y="1570"/>
              <a:ext cx="2188" cy="2359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</p:pic>
        <p:sp>
          <p:nvSpPr>
            <p:cNvPr id="77829" name="Rectangle 11"/>
            <p:cNvSpPr/>
            <p:nvPr/>
          </p:nvSpPr>
          <p:spPr>
            <a:xfrm>
              <a:off x="671" y="3467"/>
              <a:ext cx="2043" cy="231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b="1" dirty="0">
                  <a:latin typeface="楷体_GB2312" pitchFamily="49" charset="-122"/>
                  <a:ea typeface="楷体_GB2312" pitchFamily="49" charset="-122"/>
                </a:rPr>
                <a:t>图</a:t>
              </a:r>
              <a:r>
                <a:rPr lang="en-US" altLang="zh-CN" b="1" dirty="0">
                  <a:latin typeface="楷体_GB2312" pitchFamily="49" charset="-122"/>
                  <a:ea typeface="楷体_GB2312" pitchFamily="49" charset="-122"/>
                </a:rPr>
                <a:t>4-42</a:t>
              </a:r>
              <a:r>
                <a:rPr lang="en-US" altLang="zh-CN" b="1" dirty="0">
                  <a:latin typeface="Arial" panose="020B0604020202020204" pitchFamily="34" charset="0"/>
                  <a:ea typeface="楷体_GB2312" pitchFamily="49" charset="-122"/>
                </a:rPr>
                <a:t> </a:t>
              </a:r>
              <a:r>
                <a:rPr lang="zh-CN" altLang="en-US" b="1" dirty="0">
                  <a:latin typeface="Arial" panose="020B0604020202020204" pitchFamily="34" charset="0"/>
                  <a:ea typeface="楷体_GB2312" pitchFamily="49" charset="-122"/>
                </a:rPr>
                <a:t>手工电弧焊的焊缝布置</a:t>
              </a:r>
              <a:endParaRPr lang="zh-CN" altLang="en-US" b="1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77830" name="Group 14"/>
          <p:cNvGrpSpPr/>
          <p:nvPr/>
        </p:nvGrpSpPr>
        <p:grpSpPr>
          <a:xfrm>
            <a:off x="4859338" y="2708275"/>
            <a:ext cx="3656012" cy="3609975"/>
            <a:chOff x="2976" y="1836"/>
            <a:chExt cx="2303" cy="2274"/>
          </a:xfrm>
        </p:grpSpPr>
        <p:pic>
          <p:nvPicPr>
            <p:cNvPr id="77831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76" y="1836"/>
              <a:ext cx="2303" cy="2274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</p:pic>
        <p:sp>
          <p:nvSpPr>
            <p:cNvPr id="77832" name="Text Box 9"/>
            <p:cNvSpPr txBox="1"/>
            <p:nvPr/>
          </p:nvSpPr>
          <p:spPr>
            <a:xfrm>
              <a:off x="3243" y="3737"/>
              <a:ext cx="433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1400" b="1" dirty="0">
                  <a:solidFill>
                    <a:srgbClr val="000000"/>
                  </a:solidFill>
                  <a:latin typeface="GreekS" pitchFamily="2" charset="0"/>
                  <a:ea typeface="宋体" panose="02010600030101010101" pitchFamily="2" charset="-122"/>
                </a:rPr>
                <a:t>图</a:t>
              </a:r>
              <a:r>
                <a:rPr lang="en-US" altLang="zh-CN" sz="1400" b="1" dirty="0">
                  <a:solidFill>
                    <a:srgbClr val="000000"/>
                  </a:solidFill>
                  <a:latin typeface="Century" panose="02040604050505020304" pitchFamily="18" charset="0"/>
                  <a:ea typeface="宋体" panose="02010600030101010101" pitchFamily="2" charset="-122"/>
                </a:rPr>
                <a:t>4-44</a:t>
              </a:r>
              <a:endParaRPr lang="en-US" altLang="zh-CN" sz="1400" b="1" dirty="0">
                <a:solidFill>
                  <a:srgbClr val="000000"/>
                </a:solidFill>
                <a:latin typeface="Century" panose="020406040505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7833" name="Rectangle 13"/>
            <p:cNvSpPr/>
            <p:nvPr/>
          </p:nvSpPr>
          <p:spPr>
            <a:xfrm>
              <a:off x="3217" y="3702"/>
              <a:ext cx="1931" cy="231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b="1" dirty="0">
                  <a:latin typeface="楷体_GB2312" pitchFamily="49" charset="-122"/>
                  <a:ea typeface="楷体_GB2312" pitchFamily="49" charset="-122"/>
                </a:rPr>
                <a:t>图</a:t>
              </a:r>
              <a:r>
                <a:rPr lang="en-US" altLang="zh-CN" b="1" dirty="0">
                  <a:latin typeface="楷体_GB2312" pitchFamily="49" charset="-122"/>
                  <a:ea typeface="楷体_GB2312" pitchFamily="49" charset="-122"/>
                </a:rPr>
                <a:t>4-44</a:t>
              </a:r>
              <a:r>
                <a:rPr lang="en-US" altLang="zh-CN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b="1" dirty="0">
                  <a:latin typeface="Arial" panose="020B0604020202020204" pitchFamily="34" charset="0"/>
                  <a:ea typeface="楷体_GB2312" pitchFamily="49" charset="-122"/>
                </a:rPr>
                <a:t>点焊或缝焊焊缝布置</a:t>
              </a:r>
              <a:endParaRPr lang="zh-CN" altLang="en-US" b="1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sz="4000" dirty="0">
                <a:ea typeface="楷体_GB2312" pitchFamily="49" charset="-122"/>
              </a:rPr>
              <a:t>焊接结构设计</a:t>
            </a:r>
            <a:endParaRPr lang="zh-CN" altLang="en-US" sz="4000" dirty="0">
              <a:ea typeface="楷体_GB2312" pitchFamily="49" charset="-122"/>
            </a:endParaRPr>
          </a:p>
        </p:txBody>
      </p:sp>
      <p:sp>
        <p:nvSpPr>
          <p:cNvPr id="79874" name="Rectangle 3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492625"/>
          </a:xfrm>
        </p:spPr>
        <p:txBody>
          <a:bodyPr vert="horz" wrap="square" lIns="91440" tIns="45720" rIns="91440" bIns="45720" anchor="t" anchorCtr="0"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</a:rPr>
              <a:t>接头形式设计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    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  <a:p>
            <a:pPr lvl="1" eaLnBrk="1" hangingPunct="1"/>
            <a:r>
              <a:rPr lang="zh-CN" altLang="en-US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形式：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根据结构的形状、强度要求、工件厚度、焊接材料消耗量及其他焊接工艺决定。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  <a:p>
            <a:pPr lvl="2" eaLnBrk="1" hangingPunct="1"/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对接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受力较均匀，节省材料，对下料尺寸精度要求高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  <a:p>
            <a:pPr lvl="2" eaLnBrk="1" hangingPunct="1"/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搭接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被焊工件不在同一平面上，受力时接头产生附加弯曲应力，对下料要求精度低。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lvl="2" eaLnBrk="1" hangingPunct="1"/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角接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 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lvl="2" eaLnBrk="1" hangingPunct="1"/>
            <a:r>
              <a:rPr lang="en-US" altLang="zh-CN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T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形接</a:t>
            </a:r>
            <a:endParaRPr lang="zh-CN" altLang="en-US" sz="28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9875" name="AutoShape 4"/>
          <p:cNvSpPr/>
          <p:nvPr/>
        </p:nvSpPr>
        <p:spPr>
          <a:xfrm>
            <a:off x="2627313" y="5227638"/>
            <a:ext cx="304800" cy="649287"/>
          </a:xfrm>
          <a:prstGeom prst="rightBrace">
            <a:avLst>
              <a:gd name="adj1" fmla="val 17722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876" name="Text Box 5"/>
          <p:cNvSpPr txBox="1"/>
          <p:nvPr/>
        </p:nvSpPr>
        <p:spPr>
          <a:xfrm>
            <a:off x="3059113" y="5286375"/>
            <a:ext cx="6011862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Arial" panose="020B0604020202020204" pitchFamily="34" charset="0"/>
                <a:ea typeface="楷体_GB2312" pitchFamily="49" charset="-122"/>
              </a:rPr>
              <a:t>接头成一定角度或直角连接时采用。</a:t>
            </a:r>
            <a:endParaRPr lang="zh-CN" altLang="en-US" sz="2800" b="1" dirty="0"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sz="4000" dirty="0">
                <a:ea typeface="楷体_GB2312" pitchFamily="49" charset="-122"/>
              </a:rPr>
              <a:t>焊接结构设计</a:t>
            </a:r>
            <a:endParaRPr lang="zh-CN" altLang="en-US" sz="4000" dirty="0">
              <a:ea typeface="楷体_GB2312" pitchFamily="49" charset="-122"/>
            </a:endParaRPr>
          </a:p>
        </p:txBody>
      </p:sp>
      <p:sp>
        <p:nvSpPr>
          <p:cNvPr id="81922" name="Rectangle 3"/>
          <p:cNvSpPr>
            <a:spLocks noGrp="1"/>
          </p:cNvSpPr>
          <p:nvPr>
            <p:ph idx="1"/>
          </p:nvPr>
        </p:nvSpPr>
        <p:spPr>
          <a:xfrm>
            <a:off x="250825" y="1555750"/>
            <a:ext cx="9074150" cy="95885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接头形式</a:t>
            </a:r>
            <a:endParaRPr lang="zh-CN" altLang="en-US" sz="2800" b="1" dirty="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eaLnBrk="1" hangingPunct="1"/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对接接头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形坡口、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Y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形坡口、双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Y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形坡口、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U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形坡口。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81923" name="Group 37"/>
          <p:cNvGrpSpPr/>
          <p:nvPr/>
        </p:nvGrpSpPr>
        <p:grpSpPr>
          <a:xfrm>
            <a:off x="755650" y="2924175"/>
            <a:ext cx="7867650" cy="2543175"/>
            <a:chOff x="402" y="1797"/>
            <a:chExt cx="4956" cy="1602"/>
          </a:xfrm>
        </p:grpSpPr>
        <p:pic>
          <p:nvPicPr>
            <p:cNvPr id="81924" name="Picture 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02" y="1797"/>
              <a:ext cx="4956" cy="160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1925" name="Rectangle 36"/>
            <p:cNvSpPr/>
            <p:nvPr/>
          </p:nvSpPr>
          <p:spPr>
            <a:xfrm>
              <a:off x="2290" y="3158"/>
              <a:ext cx="1059" cy="231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b="1" dirty="0">
                  <a:latin typeface="楷体_GB2312" pitchFamily="49" charset="-122"/>
                  <a:ea typeface="楷体_GB2312" pitchFamily="49" charset="-122"/>
                </a:rPr>
                <a:t>（</a:t>
              </a:r>
              <a:r>
                <a:rPr lang="en-US" altLang="zh-CN" b="1" dirty="0">
                  <a:latin typeface="楷体_GB2312" pitchFamily="49" charset="-122"/>
                  <a:ea typeface="楷体_GB2312" pitchFamily="49" charset="-122"/>
                </a:rPr>
                <a:t>a</a:t>
              </a:r>
              <a:r>
                <a:rPr lang="zh-CN" altLang="en-US" b="1" dirty="0">
                  <a:latin typeface="楷体_GB2312" pitchFamily="49" charset="-122"/>
                  <a:ea typeface="楷体_GB2312" pitchFamily="49" charset="-122"/>
                </a:rPr>
                <a:t>）对接接头</a:t>
              </a:r>
              <a:endParaRPr lang="zh-CN" altLang="en-US" b="1" dirty="0">
                <a:latin typeface="楷体_GB2312" pitchFamily="49" charset="-122"/>
                <a:ea typeface="楷体_GB2312" pitchFamily="49" charset="-122"/>
              </a:endParaRP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6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sz="4000" dirty="0">
                <a:ea typeface="楷体_GB2312" pitchFamily="49" charset="-122"/>
              </a:rPr>
              <a:t>焊接结构设计</a:t>
            </a:r>
            <a:endParaRPr lang="zh-CN" altLang="en-US" sz="4000" dirty="0">
              <a:ea typeface="楷体_GB2312" pitchFamily="49" charset="-122"/>
            </a:endParaRPr>
          </a:p>
        </p:txBody>
      </p:sp>
      <p:sp>
        <p:nvSpPr>
          <p:cNvPr id="83970" name="Rectangle 3"/>
          <p:cNvSpPr>
            <a:spLocks noGrp="1"/>
          </p:cNvSpPr>
          <p:nvPr>
            <p:ph type="body" sz="half" idx="1"/>
          </p:nvPr>
        </p:nvSpPr>
        <p:spPr>
          <a:xfrm>
            <a:off x="34925" y="1444625"/>
            <a:ext cx="4464050" cy="1624013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ClrTx/>
              <a:buSzTx/>
              <a:buFontTx/>
            </a:pP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接头形式</a:t>
            </a:r>
            <a:endParaRPr lang="zh-CN" altLang="en-US" b="1" dirty="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对接接头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T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形接头、 角接接头 搭接接头</a:t>
            </a:r>
            <a:r>
              <a:rPr lang="zh-CN" altLang="en-US" sz="1600" b="1" dirty="0">
                <a:latin typeface="宋体" panose="02010600030101010101" pitchFamily="2" charset="-122"/>
              </a:rPr>
              <a:t> 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grpSp>
        <p:nvGrpSpPr>
          <p:cNvPr id="83971" name="Group 15"/>
          <p:cNvGrpSpPr/>
          <p:nvPr/>
        </p:nvGrpSpPr>
        <p:grpSpPr>
          <a:xfrm>
            <a:off x="4140200" y="1557338"/>
            <a:ext cx="4935538" cy="4968875"/>
            <a:chOff x="2629" y="980"/>
            <a:chExt cx="3109" cy="3130"/>
          </a:xfrm>
        </p:grpSpPr>
        <p:pic>
          <p:nvPicPr>
            <p:cNvPr id="83972" name="Picture 1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629" y="980"/>
              <a:ext cx="3109" cy="313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3973" name="Rectangle 14"/>
            <p:cNvSpPr/>
            <p:nvPr/>
          </p:nvSpPr>
          <p:spPr>
            <a:xfrm>
              <a:off x="3244" y="3860"/>
              <a:ext cx="2131" cy="250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20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图</a:t>
              </a:r>
              <a:r>
                <a:rPr lang="en-US" altLang="zh-CN" sz="20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4-45 </a:t>
              </a:r>
              <a:r>
                <a:rPr lang="zh-CN" altLang="en-US" sz="20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焊条电弧焊接头形式</a:t>
              </a:r>
              <a:endParaRPr lang="zh-CN" altLang="en-US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051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楷体_GB2312" pitchFamily="49" charset="-122"/>
                <a:cs typeface="+mj-cs"/>
              </a:rPr>
              <a:t>压力容器简介</a:t>
            </a:r>
            <a:endParaRPr kumimoji="0" lang="zh-CN" altLang="en-US" sz="40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楷体_GB2312" pitchFamily="49" charset="-122"/>
              <a:cs typeface="+mj-cs"/>
            </a:endParaRPr>
          </a:p>
        </p:txBody>
      </p:sp>
      <p:sp>
        <p:nvSpPr>
          <p:cNvPr id="86018" name="Rectangle 3"/>
          <p:cNvSpPr/>
          <p:nvPr/>
        </p:nvSpPr>
        <p:spPr>
          <a:xfrm>
            <a:off x="179388" y="1268413"/>
            <a:ext cx="8569325" cy="15525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结构名称：中压容器（见图）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材  料：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16MnRe(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低合金结构钢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)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钢板尺寸为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2000mm×5000mm×16mm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生产数量：小批生产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86019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3213" y="2852738"/>
            <a:ext cx="5473700" cy="39989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6020" name="AutoShape 8"/>
          <p:cNvSpPr/>
          <p:nvPr/>
        </p:nvSpPr>
        <p:spPr>
          <a:xfrm>
            <a:off x="395288" y="3141663"/>
            <a:ext cx="2016125" cy="3527425"/>
          </a:xfrm>
          <a:prstGeom prst="wedgeRoundRectCallout">
            <a:avLst>
              <a:gd name="adj1" fmla="val 96301"/>
              <a:gd name="adj2" fmla="val -41944"/>
              <a:gd name="adj3" fmla="val 16667"/>
            </a:avLst>
          </a:prstGeom>
          <a:solidFill>
            <a:srgbClr val="0099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r>
              <a:rPr lang="zh-CN" altLang="en-US" sz="2400" b="1" dirty="0">
                <a:latin typeface="Arial" panose="020B0604020202020204" pitchFamily="34" charset="0"/>
                <a:ea typeface="楷体_GB2312" pitchFamily="49" charset="-122"/>
              </a:rPr>
              <a:t>适应化学工艺过程所要求的压力和温度条件，承受化学介质的作用，长期安全的工作，保证密封</a:t>
            </a:r>
            <a:endParaRPr lang="zh-CN" altLang="en-US" sz="2400" b="1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86021" name="AutoShape 9"/>
          <p:cNvSpPr/>
          <p:nvPr/>
        </p:nvSpPr>
        <p:spPr>
          <a:xfrm>
            <a:off x="7596188" y="1268413"/>
            <a:ext cx="1368425" cy="2376487"/>
          </a:xfrm>
          <a:prstGeom prst="wedgeRoundRectCallout">
            <a:avLst>
              <a:gd name="adj1" fmla="val -87356"/>
              <a:gd name="adj2" fmla="val 54875"/>
              <a:gd name="adj3" fmla="val 16667"/>
            </a:avLst>
          </a:prstGeom>
          <a:solidFill>
            <a:srgbClr val="00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r>
              <a:rPr lang="zh-CN" altLang="en-US" sz="2400" b="1" dirty="0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rPr>
              <a:t>停工一天的成本远远高于单台设备的成本</a:t>
            </a:r>
            <a:endParaRPr lang="zh-CN" altLang="en-US" sz="2400" b="1" dirty="0">
              <a:solidFill>
                <a:schemeClr val="hlink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5" name="Text Box 2"/>
          <p:cNvSpPr txBox="1"/>
          <p:nvPr/>
        </p:nvSpPr>
        <p:spPr>
          <a:xfrm>
            <a:off x="1384300" y="698500"/>
            <a:ext cx="5492750" cy="3667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endParaRPr lang="zh-CN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35939" name="Text Box 3"/>
          <p:cNvSpPr txBox="1">
            <a:spLocks noChangeArrowheads="1"/>
          </p:cNvSpPr>
          <p:nvPr/>
        </p:nvSpPr>
        <p:spPr bwMode="auto">
          <a:xfrm>
            <a:off x="3059113" y="333375"/>
            <a:ext cx="46815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40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     </a:t>
            </a:r>
            <a:r>
              <a:rPr kumimoji="0" lang="zh-CN" altLang="en-US" sz="40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压力容器简介</a:t>
            </a:r>
            <a:endParaRPr kumimoji="0" lang="zh-CN" altLang="en-US" sz="40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grpSp>
        <p:nvGrpSpPr>
          <p:cNvPr id="88067" name="Group 7"/>
          <p:cNvGrpSpPr/>
          <p:nvPr/>
        </p:nvGrpSpPr>
        <p:grpSpPr>
          <a:xfrm>
            <a:off x="1403350" y="3933825"/>
            <a:ext cx="6048375" cy="2879725"/>
            <a:chOff x="567" y="1856"/>
            <a:chExt cx="4491" cy="2362"/>
          </a:xfrm>
        </p:grpSpPr>
        <p:pic>
          <p:nvPicPr>
            <p:cNvPr id="88068" name="Picture 4" descr="1"/>
            <p:cNvPicPr>
              <a:picLocks noChangeAspect="1"/>
            </p:cNvPicPr>
            <p:nvPr/>
          </p:nvPicPr>
          <p:blipFill>
            <a:blip r:embed="rId1">
              <a:lum bright="6000" contrast="6000"/>
            </a:blip>
            <a:stretch>
              <a:fillRect/>
            </a:stretch>
          </p:blipFill>
          <p:spPr>
            <a:xfrm>
              <a:off x="567" y="1856"/>
              <a:ext cx="4490" cy="20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35941" name="Text Box 5"/>
            <p:cNvSpPr txBox="1">
              <a:spLocks noChangeArrowheads="1"/>
            </p:cNvSpPr>
            <p:nvPr/>
          </p:nvSpPr>
          <p:spPr bwMode="auto">
            <a:xfrm>
              <a:off x="567" y="3793"/>
              <a:ext cx="4491" cy="4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28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                       </a:t>
              </a:r>
              <a:r>
                <a:rPr kumimoji="0" lang="zh-CN" altLang="en-US" sz="20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压力容器工艺图</a:t>
              </a:r>
              <a:endParaRPr kumimoji="0" lang="zh-CN" altLang="en-US" sz="20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88070" name="Rectangle 6"/>
          <p:cNvSpPr/>
          <p:nvPr/>
        </p:nvSpPr>
        <p:spPr>
          <a:xfrm>
            <a:off x="214313" y="1268413"/>
            <a:ext cx="8750300" cy="30130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工艺设计要点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: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(1)</a:t>
            </a:r>
            <a:r>
              <a:rPr lang="zh-CN" altLang="en-US" sz="24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选用焊接方法</a:t>
            </a:r>
            <a:r>
              <a:rPr lang="en-US" altLang="zh-CN" sz="24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筒身纵缝、环缝均采用埋弧焊，出口接管及入孔接管采用焊条电弧焊。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r>
              <a:rPr lang="en-US" altLang="zh-CN" sz="24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(2)</a:t>
            </a:r>
            <a:r>
              <a:rPr lang="zh-CN" altLang="en-US" sz="24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焊缝布置</a:t>
            </a:r>
            <a:r>
              <a:rPr lang="en-US" altLang="zh-CN" sz="2400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简身用钢板冷卷，按实际尺寸，可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分为二节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，筒身纵焊缝为避免焊缝密集，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相互错开一定角度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(180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度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，封头应采用热压成型，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与筒身连接处应有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30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～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50mm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的直段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，使焊缝躲开转角应力集中位置。入孔圈采用加热卷制。其工艺图如图所示。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0113" name="Picture 2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213" y="1339850"/>
            <a:ext cx="7777162" cy="3889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36963" name="Text Box 3"/>
          <p:cNvSpPr txBox="1">
            <a:spLocks noChangeArrowheads="1"/>
          </p:cNvSpPr>
          <p:nvPr/>
        </p:nvSpPr>
        <p:spPr bwMode="auto">
          <a:xfrm>
            <a:off x="3203575" y="5430838"/>
            <a:ext cx="2736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压力容器实物图</a:t>
            </a:r>
            <a:endParaRPr kumimoji="0" lang="zh-CN" altLang="en-US" sz="28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checker dir="vert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7986" name="Text Box 2"/>
          <p:cNvSpPr txBox="1">
            <a:spLocks noChangeArrowheads="1"/>
          </p:cNvSpPr>
          <p:nvPr/>
        </p:nvSpPr>
        <p:spPr bwMode="auto">
          <a:xfrm>
            <a:off x="2700338" y="333375"/>
            <a:ext cx="58324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36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二、压力容器生产工艺过程</a:t>
            </a:r>
            <a:endParaRPr kumimoji="0" lang="zh-CN" altLang="en-US" sz="36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92162" name="Picture 3" descr="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825" y="1773238"/>
            <a:ext cx="8713788" cy="2765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37988" name="Text Box 4"/>
          <p:cNvSpPr txBox="1">
            <a:spLocks noChangeArrowheads="1"/>
          </p:cNvSpPr>
          <p:nvPr/>
        </p:nvSpPr>
        <p:spPr bwMode="auto">
          <a:xfrm>
            <a:off x="2268538" y="5013325"/>
            <a:ext cx="48244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压力容器生产工艺过程实物图</a:t>
            </a:r>
            <a:endParaRPr kumimoji="0" lang="zh-CN" altLang="en-US" sz="28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checker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0034" name="Text Box 2"/>
          <p:cNvSpPr txBox="1">
            <a:spLocks noChangeArrowheads="1"/>
          </p:cNvSpPr>
          <p:nvPr/>
        </p:nvSpPr>
        <p:spPr bwMode="auto">
          <a:xfrm>
            <a:off x="3132138" y="404813"/>
            <a:ext cx="48974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40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1. </a:t>
            </a:r>
            <a:r>
              <a:rPr kumimoji="0" lang="zh-CN" altLang="en-US" sz="40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封头生产工序</a:t>
            </a:r>
            <a:endParaRPr kumimoji="0" lang="zh-CN" altLang="en-US" sz="40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940035" name="Text Box 3"/>
          <p:cNvSpPr txBox="1">
            <a:spLocks noChangeArrowheads="1"/>
          </p:cNvSpPr>
          <p:nvPr/>
        </p:nvSpPr>
        <p:spPr bwMode="auto">
          <a:xfrm>
            <a:off x="1403350" y="1628775"/>
            <a:ext cx="2952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）下料</a:t>
            </a:r>
            <a:endParaRPr kumimoji="0" lang="zh-CN" altLang="en-US" sz="24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94211" name="Picture 4" descr="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6375" y="2420938"/>
            <a:ext cx="6337300" cy="35496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split dir="in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1058" name="Text Box 2"/>
          <p:cNvSpPr txBox="1">
            <a:spLocks noChangeArrowheads="1"/>
          </p:cNvSpPr>
          <p:nvPr/>
        </p:nvSpPr>
        <p:spPr bwMode="auto">
          <a:xfrm>
            <a:off x="1476375" y="1316038"/>
            <a:ext cx="2952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）拉深</a:t>
            </a:r>
            <a:endParaRPr kumimoji="0" lang="zh-CN" altLang="en-US" sz="24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41059" name="Text Box 3"/>
          <p:cNvSpPr txBox="1">
            <a:spLocks noChangeArrowheads="1"/>
          </p:cNvSpPr>
          <p:nvPr/>
        </p:nvSpPr>
        <p:spPr bwMode="auto">
          <a:xfrm>
            <a:off x="1547813" y="5780088"/>
            <a:ext cx="2952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）消除应力退火</a:t>
            </a:r>
            <a:endParaRPr kumimoji="0" lang="zh-CN" altLang="en-US" sz="24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96259" name="Picture 4" descr="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1773238"/>
            <a:ext cx="6048375" cy="36242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41061" name="Text Box 5"/>
          <p:cNvSpPr txBox="1">
            <a:spLocks noChangeArrowheads="1"/>
          </p:cNvSpPr>
          <p:nvPr/>
        </p:nvSpPr>
        <p:spPr bwMode="auto">
          <a:xfrm>
            <a:off x="3132138" y="404813"/>
            <a:ext cx="48974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40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封头生产工序</a:t>
            </a:r>
            <a:endParaRPr kumimoji="0" lang="zh-CN" altLang="en-US" sz="40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 spd="slow">
    <p:blinds dir="vert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082" name="Text Box 2"/>
          <p:cNvSpPr txBox="1">
            <a:spLocks noChangeArrowheads="1"/>
          </p:cNvSpPr>
          <p:nvPr/>
        </p:nvSpPr>
        <p:spPr bwMode="auto">
          <a:xfrm>
            <a:off x="1403350" y="1171575"/>
            <a:ext cx="2952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）切边</a:t>
            </a:r>
            <a:endParaRPr kumimoji="0" lang="zh-CN" altLang="en-US" sz="24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42083" name="Text Box 3"/>
          <p:cNvSpPr txBox="1">
            <a:spLocks noChangeArrowheads="1"/>
          </p:cNvSpPr>
          <p:nvPr/>
        </p:nvSpPr>
        <p:spPr bwMode="auto">
          <a:xfrm>
            <a:off x="1476375" y="3908425"/>
            <a:ext cx="2952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5</a:t>
            </a: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）缩口</a:t>
            </a:r>
            <a:endParaRPr kumimoji="0" lang="zh-CN" altLang="en-US" sz="24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98307" name="Picture 4" descr="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5163" y="1676400"/>
            <a:ext cx="3311525" cy="23288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8308" name="Picture 5" descr="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138" y="4364038"/>
            <a:ext cx="3959225" cy="20177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42086" name="Text Box 6"/>
          <p:cNvSpPr txBox="1">
            <a:spLocks noChangeArrowheads="1"/>
          </p:cNvSpPr>
          <p:nvPr/>
        </p:nvSpPr>
        <p:spPr bwMode="auto">
          <a:xfrm>
            <a:off x="3132138" y="404813"/>
            <a:ext cx="48974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40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封头生产工序</a:t>
            </a:r>
            <a:endParaRPr kumimoji="0" lang="zh-CN" altLang="en-US" sz="40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 spd="slow">
    <p:circl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3106" name="Text Box 2"/>
          <p:cNvSpPr txBox="1">
            <a:spLocks noChangeArrowheads="1"/>
          </p:cNvSpPr>
          <p:nvPr/>
        </p:nvSpPr>
        <p:spPr bwMode="auto">
          <a:xfrm>
            <a:off x="1692275" y="1268413"/>
            <a:ext cx="2952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）下料</a:t>
            </a:r>
            <a:endParaRPr kumimoji="0" lang="zh-CN" altLang="en-US" sz="24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43107" name="Text Box 3"/>
          <p:cNvSpPr txBox="1">
            <a:spLocks noChangeArrowheads="1"/>
          </p:cNvSpPr>
          <p:nvPr/>
        </p:nvSpPr>
        <p:spPr bwMode="auto">
          <a:xfrm>
            <a:off x="2771775" y="404813"/>
            <a:ext cx="55451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40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2. </a:t>
            </a:r>
            <a:r>
              <a:rPr kumimoji="0" lang="zh-CN" altLang="en-US" sz="40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筒体节生产工序</a:t>
            </a:r>
            <a:endParaRPr kumimoji="0" lang="zh-CN" altLang="en-US" sz="40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943108" name="Text Box 4"/>
          <p:cNvSpPr txBox="1">
            <a:spLocks noChangeArrowheads="1"/>
          </p:cNvSpPr>
          <p:nvPr/>
        </p:nvSpPr>
        <p:spPr bwMode="auto">
          <a:xfrm>
            <a:off x="1692275" y="5300663"/>
            <a:ext cx="2952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）加工坡口</a:t>
            </a:r>
            <a:endParaRPr kumimoji="0" lang="zh-CN" altLang="en-US" sz="24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0356" name="Picture 5" descr="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13" y="2060575"/>
            <a:ext cx="5375275" cy="28670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diamond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4130" name="Text Box 2"/>
          <p:cNvSpPr txBox="1">
            <a:spLocks noChangeArrowheads="1"/>
          </p:cNvSpPr>
          <p:nvPr/>
        </p:nvSpPr>
        <p:spPr bwMode="auto">
          <a:xfrm>
            <a:off x="1042988" y="1387475"/>
            <a:ext cx="2952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）卷圆</a:t>
            </a:r>
            <a:endParaRPr kumimoji="0" lang="zh-CN" altLang="en-US" sz="24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2402" name="Picture 3" descr="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0" y="1874838"/>
            <a:ext cx="6985000" cy="3714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44132" name="Text Box 4"/>
          <p:cNvSpPr txBox="1">
            <a:spLocks noChangeArrowheads="1"/>
          </p:cNvSpPr>
          <p:nvPr/>
        </p:nvSpPr>
        <p:spPr bwMode="auto">
          <a:xfrm>
            <a:off x="2771775" y="404813"/>
            <a:ext cx="55451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40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筒体节生产工序</a:t>
            </a:r>
            <a:endParaRPr kumimoji="0" lang="zh-CN" altLang="en-US" sz="40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 spd="slow">
    <p:plus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5154" name="Text Box 2"/>
          <p:cNvSpPr txBox="1">
            <a:spLocks noChangeArrowheads="1"/>
          </p:cNvSpPr>
          <p:nvPr/>
        </p:nvSpPr>
        <p:spPr bwMode="auto">
          <a:xfrm>
            <a:off x="1476375" y="3979863"/>
            <a:ext cx="3311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5</a:t>
            </a: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）焊接双面纵焊缝</a:t>
            </a:r>
            <a:endParaRPr kumimoji="0" lang="zh-CN" altLang="en-US" sz="24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4450" name="Picture 3" descr="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8538" y="4506913"/>
            <a:ext cx="4751387" cy="23066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45156" name="Text Box 4"/>
          <p:cNvSpPr txBox="1">
            <a:spLocks noChangeArrowheads="1"/>
          </p:cNvSpPr>
          <p:nvPr/>
        </p:nvSpPr>
        <p:spPr bwMode="auto">
          <a:xfrm>
            <a:off x="1476375" y="1171575"/>
            <a:ext cx="2952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）装配及定位焊</a:t>
            </a:r>
            <a:endParaRPr kumimoji="0" lang="zh-CN" altLang="en-US" sz="24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4452" name="Picture 5" descr="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538" y="1663700"/>
            <a:ext cx="4824412" cy="23415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45158" name="Text Box 6"/>
          <p:cNvSpPr txBox="1">
            <a:spLocks noChangeArrowheads="1"/>
          </p:cNvSpPr>
          <p:nvPr/>
        </p:nvSpPr>
        <p:spPr bwMode="auto">
          <a:xfrm>
            <a:off x="2771775" y="404813"/>
            <a:ext cx="55451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40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筒体节生产工序</a:t>
            </a:r>
            <a:endParaRPr kumimoji="0" lang="zh-CN" altLang="en-US" sz="40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 spd="slow">
    <p:wedg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6497" name="Picture 2" descr="5"/>
          <p:cNvPicPr>
            <a:picLocks noChangeAspect="1"/>
          </p:cNvPicPr>
          <p:nvPr/>
        </p:nvPicPr>
        <p:blipFill>
          <a:blip r:embed="rId1">
            <a:lum bright="6000" contrast="6000"/>
          </a:blip>
          <a:stretch>
            <a:fillRect/>
          </a:stretch>
        </p:blipFill>
        <p:spPr>
          <a:xfrm>
            <a:off x="1042988" y="1339850"/>
            <a:ext cx="2355850" cy="39608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6498" name="Picture 3" descr="6"/>
          <p:cNvPicPr>
            <a:picLocks noChangeAspect="1"/>
          </p:cNvPicPr>
          <p:nvPr/>
        </p:nvPicPr>
        <p:blipFill>
          <a:blip r:embed="rId2">
            <a:lum bright="6000" contrast="6000"/>
          </a:blip>
          <a:stretch>
            <a:fillRect/>
          </a:stretch>
        </p:blipFill>
        <p:spPr>
          <a:xfrm>
            <a:off x="4643438" y="2085975"/>
            <a:ext cx="3527425" cy="3143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46180" name="Text Box 4"/>
          <p:cNvSpPr txBox="1">
            <a:spLocks noChangeArrowheads="1"/>
          </p:cNvSpPr>
          <p:nvPr/>
        </p:nvSpPr>
        <p:spPr bwMode="auto">
          <a:xfrm>
            <a:off x="3348038" y="5589588"/>
            <a:ext cx="2663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筒体节纵焊实物图</a:t>
            </a:r>
            <a:endParaRPr kumimoji="0" lang="zh-CN" altLang="en-US" sz="24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46181" name="Text Box 5"/>
          <p:cNvSpPr txBox="1">
            <a:spLocks noChangeArrowheads="1"/>
          </p:cNvSpPr>
          <p:nvPr/>
        </p:nvSpPr>
        <p:spPr bwMode="auto">
          <a:xfrm>
            <a:off x="2771775" y="404813"/>
            <a:ext cx="55451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40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40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筒体节生产工序</a:t>
            </a:r>
            <a:endParaRPr kumimoji="0" lang="zh-CN" altLang="en-US" sz="40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 spd="slow">
    <p:zoom dir="in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7202" name="Text Box 2"/>
          <p:cNvSpPr txBox="1">
            <a:spLocks noChangeArrowheads="1"/>
          </p:cNvSpPr>
          <p:nvPr/>
        </p:nvSpPr>
        <p:spPr bwMode="auto">
          <a:xfrm>
            <a:off x="1476375" y="1387475"/>
            <a:ext cx="5327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）去引弧板和引出板并清理</a:t>
            </a:r>
            <a:endParaRPr kumimoji="0" lang="zh-CN" altLang="en-US" sz="24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47203" name="Text Box 3"/>
          <p:cNvSpPr txBox="1">
            <a:spLocks noChangeArrowheads="1"/>
          </p:cNvSpPr>
          <p:nvPr/>
        </p:nvSpPr>
        <p:spPr bwMode="auto">
          <a:xfrm>
            <a:off x="1476375" y="2060575"/>
            <a:ext cx="5327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</a:t>
            </a: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）筒体节校圆</a:t>
            </a:r>
            <a:endParaRPr kumimoji="0" lang="zh-CN" altLang="en-US" sz="24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47204" name="Text Box 4"/>
          <p:cNvSpPr txBox="1">
            <a:spLocks noChangeArrowheads="1"/>
          </p:cNvSpPr>
          <p:nvPr/>
        </p:nvSpPr>
        <p:spPr bwMode="auto">
          <a:xfrm>
            <a:off x="1476375" y="2827338"/>
            <a:ext cx="5327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</a:t>
            </a: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）筒体节开接管孔</a:t>
            </a:r>
            <a:endParaRPr kumimoji="0" lang="zh-CN" altLang="en-US" sz="24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8548" name="Picture 5" descr="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3476625"/>
            <a:ext cx="7767638" cy="3265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47206" name="Text Box 6"/>
          <p:cNvSpPr txBox="1">
            <a:spLocks noChangeArrowheads="1"/>
          </p:cNvSpPr>
          <p:nvPr/>
        </p:nvSpPr>
        <p:spPr bwMode="auto">
          <a:xfrm>
            <a:off x="2771775" y="404813"/>
            <a:ext cx="55451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40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筒体节生产工序</a:t>
            </a:r>
            <a:endParaRPr kumimoji="0" lang="zh-CN" altLang="en-US" sz="40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8226" name="Text Box 2"/>
          <p:cNvSpPr txBox="1">
            <a:spLocks noChangeArrowheads="1"/>
          </p:cNvSpPr>
          <p:nvPr/>
        </p:nvSpPr>
        <p:spPr bwMode="auto">
          <a:xfrm>
            <a:off x="684213" y="1531938"/>
            <a:ext cx="6911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</a:t>
            </a: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）封头与筒体节及筒体节之间的装配和定位焊</a:t>
            </a:r>
            <a:endParaRPr kumimoji="0" lang="zh-CN" altLang="en-US" sz="24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10594" name="Picture 3" descr="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13" y="2408238"/>
            <a:ext cx="7345362" cy="30368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48228" name="Text Box 4"/>
          <p:cNvSpPr txBox="1">
            <a:spLocks noChangeArrowheads="1"/>
          </p:cNvSpPr>
          <p:nvPr/>
        </p:nvSpPr>
        <p:spPr bwMode="auto">
          <a:xfrm>
            <a:off x="2411413" y="5635625"/>
            <a:ext cx="4321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压力容器装配和定位焊实物图</a:t>
            </a:r>
            <a:endParaRPr kumimoji="0" lang="zh-CN" altLang="en-US" sz="2400" kern="1200" cap="none" spc="0" normalizeH="0" baseline="0" noProof="0" smtClean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48229" name="Text Box 5"/>
          <p:cNvSpPr txBox="1">
            <a:spLocks noChangeArrowheads="1"/>
          </p:cNvSpPr>
          <p:nvPr/>
        </p:nvSpPr>
        <p:spPr bwMode="auto">
          <a:xfrm>
            <a:off x="2771775" y="404813"/>
            <a:ext cx="55451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40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筒体节生产工序</a:t>
            </a:r>
            <a:endParaRPr kumimoji="0" lang="zh-CN" altLang="en-US" sz="40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 spd="slow">
    <p:checker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9250" name="Text Box 2"/>
          <p:cNvSpPr txBox="1">
            <a:spLocks noChangeArrowheads="1"/>
          </p:cNvSpPr>
          <p:nvPr/>
        </p:nvSpPr>
        <p:spPr bwMode="auto">
          <a:xfrm>
            <a:off x="2700338" y="404813"/>
            <a:ext cx="6121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36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3. </a:t>
            </a:r>
            <a:r>
              <a:rPr kumimoji="0" lang="zh-CN" altLang="en-US" sz="36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接管和法兰生产工序图</a:t>
            </a:r>
            <a:endParaRPr kumimoji="0" lang="zh-CN" altLang="en-US" sz="36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949251" name="Text Box 3"/>
          <p:cNvSpPr txBox="1">
            <a:spLocks noChangeArrowheads="1"/>
          </p:cNvSpPr>
          <p:nvPr/>
        </p:nvSpPr>
        <p:spPr bwMode="auto">
          <a:xfrm>
            <a:off x="1331913" y="1387475"/>
            <a:ext cx="381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）出口接管切割成形</a:t>
            </a:r>
            <a:endParaRPr kumimoji="0" lang="zh-CN" altLang="en-US" sz="24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49252" name="Text Box 4"/>
          <p:cNvSpPr txBox="1">
            <a:spLocks noChangeArrowheads="1"/>
          </p:cNvSpPr>
          <p:nvPr/>
        </p:nvSpPr>
        <p:spPr bwMode="auto">
          <a:xfrm>
            <a:off x="1403350" y="4267200"/>
            <a:ext cx="4105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）入孔接管板材卷圆成形</a:t>
            </a:r>
            <a:endParaRPr kumimoji="0" lang="zh-CN" altLang="en-US" sz="24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12644" name="Picture 5" descr="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1413" y="1985963"/>
            <a:ext cx="4032250" cy="20907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645" name="Picture 6" descr="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413" y="4881563"/>
            <a:ext cx="4792662" cy="18605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split orient="vert" dir="in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0274" name="Text Box 2"/>
          <p:cNvSpPr txBox="1">
            <a:spLocks noChangeArrowheads="1"/>
          </p:cNvSpPr>
          <p:nvPr/>
        </p:nvSpPr>
        <p:spPr bwMode="auto">
          <a:xfrm>
            <a:off x="1403350" y="1171575"/>
            <a:ext cx="381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）法兰毛坯下料</a:t>
            </a:r>
            <a:endParaRPr kumimoji="0" lang="zh-CN" altLang="en-US" sz="24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0275" name="Text Box 3"/>
          <p:cNvSpPr txBox="1">
            <a:spLocks noChangeArrowheads="1"/>
          </p:cNvSpPr>
          <p:nvPr/>
        </p:nvSpPr>
        <p:spPr bwMode="auto">
          <a:xfrm>
            <a:off x="1403350" y="1844675"/>
            <a:ext cx="381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）法兰切削成形</a:t>
            </a:r>
            <a:endParaRPr kumimoji="0" lang="zh-CN" altLang="en-US" sz="24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14691" name="Picture 4" descr="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13" y="2349500"/>
            <a:ext cx="4249737" cy="2952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4692" name="Picture 5" descr="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500" y="2349500"/>
            <a:ext cx="2593975" cy="2952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50278" name="Text Box 6"/>
          <p:cNvSpPr txBox="1">
            <a:spLocks noChangeArrowheads="1"/>
          </p:cNvSpPr>
          <p:nvPr/>
        </p:nvSpPr>
        <p:spPr bwMode="auto">
          <a:xfrm>
            <a:off x="2700338" y="404813"/>
            <a:ext cx="6121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36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接管和法兰生产工序图</a:t>
            </a:r>
            <a:endParaRPr kumimoji="0" lang="zh-CN" altLang="en-US" sz="36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 spd="slow">
    <p:wedg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1298" name="Text Box 2"/>
          <p:cNvSpPr txBox="1">
            <a:spLocks noChangeArrowheads="1"/>
          </p:cNvSpPr>
          <p:nvPr/>
        </p:nvSpPr>
        <p:spPr bwMode="auto">
          <a:xfrm>
            <a:off x="1187450" y="1387475"/>
            <a:ext cx="4752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5</a:t>
            </a: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）入孔接管和法兰装配与焊接</a:t>
            </a:r>
            <a:endParaRPr kumimoji="0" lang="zh-CN" altLang="en-US" sz="24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16738" name="Picture 3" descr="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913" y="2060575"/>
            <a:ext cx="6408737" cy="3444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51300" name="Text Box 4"/>
          <p:cNvSpPr txBox="1">
            <a:spLocks noChangeArrowheads="1"/>
          </p:cNvSpPr>
          <p:nvPr/>
        </p:nvSpPr>
        <p:spPr bwMode="auto">
          <a:xfrm>
            <a:off x="2700338" y="404813"/>
            <a:ext cx="6121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36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36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接管和法兰生产工序图</a:t>
            </a:r>
            <a:endParaRPr kumimoji="0" lang="zh-CN" altLang="en-US" sz="36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 spd="slow">
    <p:diamond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22" name="Text Box 2"/>
          <p:cNvSpPr txBox="1">
            <a:spLocks noChangeArrowheads="1"/>
          </p:cNvSpPr>
          <p:nvPr/>
        </p:nvSpPr>
        <p:spPr bwMode="auto">
          <a:xfrm>
            <a:off x="2627313" y="476250"/>
            <a:ext cx="61928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36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4. </a:t>
            </a:r>
            <a:r>
              <a:rPr kumimoji="0" lang="zh-CN" altLang="en-US" sz="36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总装配和焊接生产工序</a:t>
            </a:r>
            <a:endParaRPr kumimoji="0" lang="zh-CN" altLang="en-US" sz="36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952323" name="Text Box 3"/>
          <p:cNvSpPr txBox="1">
            <a:spLocks noChangeArrowheads="1"/>
          </p:cNvSpPr>
          <p:nvPr/>
        </p:nvSpPr>
        <p:spPr bwMode="auto">
          <a:xfrm>
            <a:off x="1042988" y="1628775"/>
            <a:ext cx="5761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）环焊缝对接缩口接头与衬板接头</a:t>
            </a:r>
            <a:endParaRPr kumimoji="0" lang="zh-CN" altLang="en-US" sz="24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18787" name="Picture 4" descr="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088" y="2636838"/>
            <a:ext cx="7705725" cy="27241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zoom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3346" name="Text Box 2"/>
          <p:cNvSpPr txBox="1">
            <a:spLocks noChangeArrowheads="1"/>
          </p:cNvSpPr>
          <p:nvPr/>
        </p:nvSpPr>
        <p:spPr bwMode="auto">
          <a:xfrm>
            <a:off x="827088" y="1531938"/>
            <a:ext cx="5761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）焊环焊缝</a:t>
            </a:r>
            <a:endParaRPr kumimoji="0" lang="zh-CN" altLang="en-US" sz="24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20834" name="Picture 3" descr="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088" y="2365375"/>
            <a:ext cx="7488237" cy="38719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53349" name="Text Box 5"/>
          <p:cNvSpPr txBox="1">
            <a:spLocks noChangeArrowheads="1"/>
          </p:cNvSpPr>
          <p:nvPr/>
        </p:nvSpPr>
        <p:spPr bwMode="auto">
          <a:xfrm>
            <a:off x="2627313" y="266700"/>
            <a:ext cx="61928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36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36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总装配和焊接生产工序</a:t>
            </a:r>
            <a:endParaRPr kumimoji="0" lang="zh-CN" altLang="en-US" sz="36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 spd="slow">
    <p:comb dir="vert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4370" name="Text Box 2"/>
          <p:cNvSpPr txBox="1">
            <a:spLocks noChangeArrowheads="1"/>
          </p:cNvSpPr>
          <p:nvPr/>
        </p:nvSpPr>
        <p:spPr bwMode="auto">
          <a:xfrm>
            <a:off x="1116013" y="1387475"/>
            <a:ext cx="5761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）压力容器接管装配与焊接</a:t>
            </a:r>
            <a:endParaRPr kumimoji="0" lang="zh-CN" altLang="en-US" sz="24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4372" name="Text Box 4"/>
          <p:cNvSpPr txBox="1">
            <a:spLocks noChangeArrowheads="1"/>
          </p:cNvSpPr>
          <p:nvPr/>
        </p:nvSpPr>
        <p:spPr bwMode="auto">
          <a:xfrm>
            <a:off x="1187450" y="5635625"/>
            <a:ext cx="5761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）压力容器消除应力退火</a:t>
            </a:r>
            <a:endParaRPr kumimoji="0" lang="zh-CN" altLang="en-US" sz="24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4374" name="Text Box 6"/>
          <p:cNvSpPr txBox="1">
            <a:spLocks noChangeArrowheads="1"/>
          </p:cNvSpPr>
          <p:nvPr/>
        </p:nvSpPr>
        <p:spPr bwMode="auto">
          <a:xfrm>
            <a:off x="2627313" y="476250"/>
            <a:ext cx="61928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36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36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总装配和焊接生产工序</a:t>
            </a:r>
            <a:endParaRPr kumimoji="0" lang="zh-CN" altLang="en-US" sz="36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grpSp>
        <p:nvGrpSpPr>
          <p:cNvPr id="122884" name="Group 8"/>
          <p:cNvGrpSpPr/>
          <p:nvPr/>
        </p:nvGrpSpPr>
        <p:grpSpPr>
          <a:xfrm>
            <a:off x="1547813" y="2087563"/>
            <a:ext cx="5905500" cy="3429000"/>
            <a:chOff x="975" y="1315"/>
            <a:chExt cx="3720" cy="2160"/>
          </a:xfrm>
        </p:grpSpPr>
        <p:pic>
          <p:nvPicPr>
            <p:cNvPr id="122885" name="Picture 3" descr="2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75" y="1315"/>
              <a:ext cx="3720" cy="216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2886" name="Text Box 7"/>
            <p:cNvSpPr txBox="1"/>
            <p:nvPr/>
          </p:nvSpPr>
          <p:spPr>
            <a:xfrm>
              <a:off x="1383" y="1480"/>
              <a:ext cx="998" cy="288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Arial" panose="020B0604020202020204" pitchFamily="34" charset="0"/>
                  <a:ea typeface="楷体_GB2312" pitchFamily="49" charset="-122"/>
                </a:rPr>
                <a:t>入孔接管</a:t>
              </a:r>
              <a:endParaRPr lang="zh-CN" altLang="en-US" sz="2400" b="1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ransition spd="slow">
    <p:comb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5394" name="Text Box 2"/>
          <p:cNvSpPr txBox="1">
            <a:spLocks noChangeArrowheads="1"/>
          </p:cNvSpPr>
          <p:nvPr/>
        </p:nvSpPr>
        <p:spPr bwMode="auto">
          <a:xfrm>
            <a:off x="3132138" y="333375"/>
            <a:ext cx="30956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40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5. </a:t>
            </a:r>
            <a:r>
              <a:rPr kumimoji="0" lang="zh-CN" altLang="en-US" sz="40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检验</a:t>
            </a:r>
            <a:endParaRPr kumimoji="0" lang="zh-CN" altLang="en-US" sz="40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955395" name="Text Box 3"/>
          <p:cNvSpPr txBox="1">
            <a:spLocks noChangeArrowheads="1"/>
          </p:cNvSpPr>
          <p:nvPr/>
        </p:nvSpPr>
        <p:spPr bwMode="auto">
          <a:xfrm>
            <a:off x="1835150" y="1628775"/>
            <a:ext cx="6481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1</a:t>
            </a: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）力学性能试验  </a:t>
            </a:r>
            <a:r>
              <a:rPr kumimoji="0" lang="en-US" altLang="zh-CN" sz="2400" b="1" kern="1200" cap="none" spc="0" normalizeH="0" baseline="0" noProof="0" smtClean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(</a:t>
            </a:r>
            <a:r>
              <a:rPr kumimoji="0" lang="zh-CN" altLang="en-US" sz="2400" b="1" kern="1200" cap="none" spc="0" normalizeH="0" baseline="0" noProof="0" smtClean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切取试样的破坏性检验</a:t>
            </a:r>
            <a:r>
              <a:rPr kumimoji="0" lang="en-US" altLang="zh-CN" sz="2400" b="1" kern="1200" cap="none" spc="0" normalizeH="0" baseline="0" noProof="0" smtClean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)</a:t>
            </a:r>
            <a:endParaRPr kumimoji="0" lang="en-US" altLang="zh-CN" sz="2400" b="1" kern="1200" cap="none" spc="0" normalizeH="0" baseline="0" noProof="0" smtClean="0">
              <a:solidFill>
                <a:srgbClr val="FF3300"/>
              </a:solidFill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955396" name="Text Box 4"/>
          <p:cNvSpPr txBox="1">
            <a:spLocks noChangeArrowheads="1"/>
          </p:cNvSpPr>
          <p:nvPr/>
        </p:nvSpPr>
        <p:spPr bwMode="auto">
          <a:xfrm>
            <a:off x="1835150" y="2276475"/>
            <a:ext cx="5761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2</a:t>
            </a: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）外观检查      </a:t>
            </a:r>
            <a:r>
              <a:rPr kumimoji="0" lang="en-US" altLang="zh-CN" sz="2400" b="1" kern="1200" cap="none" spc="0" normalizeH="0" baseline="0" noProof="0" smtClean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(</a:t>
            </a:r>
            <a:r>
              <a:rPr kumimoji="0" lang="zh-CN" altLang="en-US" sz="2400" b="1" kern="1200" cap="none" spc="0" normalizeH="0" baseline="0" noProof="0" smtClean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目检</a:t>
            </a:r>
            <a:r>
              <a:rPr kumimoji="0" lang="en-US" altLang="zh-CN" sz="2400" b="1" kern="1200" cap="none" spc="0" normalizeH="0" baseline="0" noProof="0" smtClean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)</a:t>
            </a:r>
            <a:endParaRPr kumimoji="0" lang="en-US" altLang="zh-CN" sz="2400" b="1" kern="1200" cap="none" spc="0" normalizeH="0" baseline="0" noProof="0" smtClean="0">
              <a:solidFill>
                <a:srgbClr val="FF3300"/>
              </a:solidFill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955397" name="Text Box 5"/>
          <p:cNvSpPr txBox="1">
            <a:spLocks noChangeArrowheads="1"/>
          </p:cNvSpPr>
          <p:nvPr/>
        </p:nvSpPr>
        <p:spPr bwMode="auto">
          <a:xfrm>
            <a:off x="1835150" y="2997200"/>
            <a:ext cx="381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3</a:t>
            </a: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）超声波检验</a:t>
            </a:r>
            <a:endParaRPr kumimoji="0" lang="zh-CN" altLang="en-US" sz="24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955398" name="Text Box 6"/>
          <p:cNvSpPr txBox="1">
            <a:spLocks noChangeArrowheads="1"/>
          </p:cNvSpPr>
          <p:nvPr/>
        </p:nvSpPr>
        <p:spPr bwMode="auto">
          <a:xfrm>
            <a:off x="1835150" y="3716338"/>
            <a:ext cx="381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4</a:t>
            </a: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）射线探伤</a:t>
            </a:r>
            <a:endParaRPr kumimoji="0" lang="zh-CN" altLang="en-US" sz="24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955399" name="Text Box 7"/>
          <p:cNvSpPr txBox="1">
            <a:spLocks noChangeArrowheads="1"/>
          </p:cNvSpPr>
          <p:nvPr/>
        </p:nvSpPr>
        <p:spPr bwMode="auto">
          <a:xfrm>
            <a:off x="1835150" y="4365625"/>
            <a:ext cx="381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5</a:t>
            </a: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）气密性试验</a:t>
            </a:r>
            <a:endParaRPr kumimoji="0" lang="zh-CN" altLang="en-US" sz="24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955400" name="Text Box 8"/>
          <p:cNvSpPr txBox="1">
            <a:spLocks noChangeArrowheads="1"/>
          </p:cNvSpPr>
          <p:nvPr/>
        </p:nvSpPr>
        <p:spPr bwMode="auto">
          <a:xfrm>
            <a:off x="1835150" y="5059363"/>
            <a:ext cx="381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6</a:t>
            </a:r>
            <a:r>
              <a: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）水压试验</a:t>
            </a:r>
            <a:endParaRPr kumimoji="0" lang="zh-CN" altLang="en-US" sz="24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 spd="slow">
    <p:blinds dir="vert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6977" name="Group 5"/>
          <p:cNvGrpSpPr/>
          <p:nvPr/>
        </p:nvGrpSpPr>
        <p:grpSpPr>
          <a:xfrm>
            <a:off x="1403350" y="3043238"/>
            <a:ext cx="6264275" cy="3625850"/>
            <a:chOff x="748" y="795"/>
            <a:chExt cx="4355" cy="2704"/>
          </a:xfrm>
        </p:grpSpPr>
        <p:pic>
          <p:nvPicPr>
            <p:cNvPr id="126978" name="Picture 2" descr="2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48" y="795"/>
              <a:ext cx="4347" cy="236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56419" name="Text Box 3"/>
            <p:cNvSpPr txBox="1">
              <a:spLocks noChangeArrowheads="1"/>
            </p:cNvSpPr>
            <p:nvPr/>
          </p:nvSpPr>
          <p:spPr bwMode="auto">
            <a:xfrm>
              <a:off x="748" y="3158"/>
              <a:ext cx="4355" cy="3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24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                      </a:t>
              </a:r>
              <a:r>
                <a:rPr kumimoji="0" lang="zh-CN" altLang="en-US" sz="24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超声波检验示意图</a:t>
              </a:r>
              <a:endPara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</p:grpSp>
      <p:sp>
        <p:nvSpPr>
          <p:cNvPr id="956420" name="Text Box 4"/>
          <p:cNvSpPr txBox="1">
            <a:spLocks noChangeArrowheads="1"/>
          </p:cNvSpPr>
          <p:nvPr/>
        </p:nvSpPr>
        <p:spPr bwMode="auto">
          <a:xfrm>
            <a:off x="3132138" y="333375"/>
            <a:ext cx="30956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40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40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检验</a:t>
            </a:r>
            <a:endParaRPr kumimoji="0" lang="zh-CN" altLang="en-US" sz="40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126981" name="Rectangle 6"/>
          <p:cNvSpPr/>
          <p:nvPr/>
        </p:nvSpPr>
        <p:spPr>
          <a:xfrm>
            <a:off x="250825" y="1196975"/>
            <a:ext cx="8497888" cy="1614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超声波探伤</a:t>
            </a:r>
            <a:endParaRPr lang="zh-CN" altLang="en-US" sz="2800" b="1" dirty="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         </a:t>
            </a:r>
            <a:r>
              <a:rPr lang="zh-CN" altLang="en-US" sz="2400" b="1" dirty="0">
                <a:latin typeface="Arial" panose="020B0604020202020204" pitchFamily="34" charset="0"/>
                <a:ea typeface="楷体_GB2312" pitchFamily="49" charset="-122"/>
              </a:rPr>
              <a:t>利用超声波探测材料内部缺陷的无损检验法。</a:t>
            </a:r>
            <a:r>
              <a:rPr lang="zh-CN" altLang="en-US" sz="2400" b="1" dirty="0">
                <a:solidFill>
                  <a:srgbClr val="CC3300"/>
                </a:solidFill>
                <a:latin typeface="Arial" panose="020B0604020202020204" pitchFamily="34" charset="0"/>
                <a:ea typeface="楷体_GB2312" pitchFamily="49" charset="-122"/>
              </a:rPr>
              <a:t>超声波在固体介质中传播时，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介质变换的界面</a:t>
            </a:r>
            <a:r>
              <a:rPr lang="zh-CN" altLang="en-US" sz="2400" b="1" dirty="0">
                <a:solidFill>
                  <a:srgbClr val="CC3300"/>
                </a:solidFill>
                <a:latin typeface="Arial" panose="020B0604020202020204" pitchFamily="34" charset="0"/>
                <a:ea typeface="楷体_GB2312" pitchFamily="49" charset="-122"/>
              </a:rPr>
              <a:t>处会使超声波产生部分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反射波束，</a:t>
            </a:r>
            <a:r>
              <a:rPr lang="zh-CN" altLang="en-US" sz="2400" b="1" dirty="0">
                <a:latin typeface="Arial" panose="020B0604020202020204" pitchFamily="34" charset="0"/>
                <a:ea typeface="楷体_GB2312" pitchFamily="49" charset="-122"/>
              </a:rPr>
              <a:t>根据反射波的脉冲可判断内部缺陷位置。</a:t>
            </a:r>
            <a:endParaRPr lang="zh-CN" altLang="en-US" sz="2400" b="1" dirty="0"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plus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9025" name="Text Box 2"/>
          <p:cNvSpPr txBox="1"/>
          <p:nvPr/>
        </p:nvSpPr>
        <p:spPr>
          <a:xfrm>
            <a:off x="395288" y="1862138"/>
            <a:ext cx="4105275" cy="28622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）射线探伤</a:t>
            </a:r>
            <a:endParaRPr lang="zh-CN" altLang="en-US" sz="2800" b="1" dirty="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   探伤时，焊缝底面放置照相底片，射线向下照射并在通过缺陷部位时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衰减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，在底片上的感光有差异，会显现出与缺陷形状相同的黑色和斑点，由此可确定内部缺陷状态。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29026" name="Group 8"/>
          <p:cNvGrpSpPr/>
          <p:nvPr/>
        </p:nvGrpSpPr>
        <p:grpSpPr>
          <a:xfrm>
            <a:off x="4859338" y="1557338"/>
            <a:ext cx="3744912" cy="4402137"/>
            <a:chOff x="2381" y="1022"/>
            <a:chExt cx="3175" cy="3328"/>
          </a:xfrm>
        </p:grpSpPr>
        <p:pic>
          <p:nvPicPr>
            <p:cNvPr id="129027" name="Picture 3" descr="2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381" y="1022"/>
              <a:ext cx="3175" cy="299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57444" name="Text Box 4"/>
            <p:cNvSpPr txBox="1">
              <a:spLocks noChangeArrowheads="1"/>
            </p:cNvSpPr>
            <p:nvPr/>
          </p:nvSpPr>
          <p:spPr bwMode="auto">
            <a:xfrm>
              <a:off x="2381" y="4004"/>
              <a:ext cx="3175" cy="3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24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  <a:cs typeface="+mn-cs"/>
                </a:rPr>
                <a:t>    X</a:t>
              </a:r>
              <a:r>
                <a:rPr kumimoji="0" lang="zh-CN" altLang="en-US" sz="24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  <a:cs typeface="+mn-cs"/>
                </a:rPr>
                <a:t>射线探伤示意图   </a:t>
              </a:r>
              <a:endPara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</p:grpSp>
      <p:sp>
        <p:nvSpPr>
          <p:cNvPr id="957447" name="Text Box 7"/>
          <p:cNvSpPr txBox="1">
            <a:spLocks noChangeArrowheads="1"/>
          </p:cNvSpPr>
          <p:nvPr/>
        </p:nvSpPr>
        <p:spPr bwMode="auto">
          <a:xfrm>
            <a:off x="3132138" y="333375"/>
            <a:ext cx="30956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40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40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检验</a:t>
            </a:r>
            <a:endParaRPr kumimoji="0" lang="zh-CN" altLang="en-US" sz="40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 spd="slow">
    <p:wheel spokes="1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8466" name="Text Box 2"/>
          <p:cNvSpPr txBox="1">
            <a:spLocks noChangeArrowheads="1"/>
          </p:cNvSpPr>
          <p:nvPr/>
        </p:nvSpPr>
        <p:spPr bwMode="auto">
          <a:xfrm>
            <a:off x="34925" y="1243013"/>
            <a:ext cx="8640763" cy="173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smtClean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400" b="1" kern="1200" cap="none" spc="0" normalizeH="0" baseline="0" noProof="0" smtClean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5</a:t>
            </a:r>
            <a:r>
              <a:rPr kumimoji="0" lang="zh-CN" altLang="en-US" sz="2400" b="1" kern="1200" cap="none" spc="0" normalizeH="0" baseline="0" noProof="0" smtClean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）气密性试验</a:t>
            </a:r>
            <a:endParaRPr kumimoji="0" lang="zh-CN" altLang="en-US" sz="2400" b="1" kern="1200" cap="none" spc="0" normalizeH="0" baseline="0" noProof="0" smtClean="0">
              <a:solidFill>
                <a:srgbClr val="FF3300"/>
              </a:solidFill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smtClean="0">
                <a:latin typeface="Arial" panose="020B0604020202020204" pitchFamily="34" charset="0"/>
                <a:ea typeface="楷体_GB2312" pitchFamily="49" charset="-122"/>
                <a:cs typeface="+mn-cs"/>
              </a:rPr>
              <a:t>      将压缩空气压入焊接容器，利用容器内外气体的压力差检查有无泄漏。</a:t>
            </a:r>
            <a:endParaRPr kumimoji="0" lang="zh-CN" altLang="en-US" sz="2400" b="1" kern="1200" cap="none" spc="0" normalizeH="0" baseline="0" noProof="0" smtClean="0">
              <a:latin typeface="Arial" panose="020B0604020202020204" pitchFamily="34" charset="0"/>
              <a:ea typeface="楷体_GB2312" pitchFamily="49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endParaRPr kumimoji="0" lang="en-US" altLang="zh-CN" sz="24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grpSp>
        <p:nvGrpSpPr>
          <p:cNvPr id="131074" name="Group 6"/>
          <p:cNvGrpSpPr/>
          <p:nvPr/>
        </p:nvGrpSpPr>
        <p:grpSpPr>
          <a:xfrm>
            <a:off x="1476375" y="2790825"/>
            <a:ext cx="5905500" cy="3951288"/>
            <a:chOff x="702" y="1434"/>
            <a:chExt cx="3947" cy="2718"/>
          </a:xfrm>
        </p:grpSpPr>
        <p:pic>
          <p:nvPicPr>
            <p:cNvPr id="131075" name="Picture 3" descr="2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03" y="1434"/>
              <a:ext cx="3946" cy="244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58468" name="Text Box 4"/>
            <p:cNvSpPr txBox="1">
              <a:spLocks noChangeArrowheads="1"/>
            </p:cNvSpPr>
            <p:nvPr/>
          </p:nvSpPr>
          <p:spPr bwMode="auto">
            <a:xfrm>
              <a:off x="702" y="3838"/>
              <a:ext cx="3947" cy="3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24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                    </a:t>
              </a:r>
              <a:r>
                <a:rPr kumimoji="0" lang="zh-CN" altLang="en-US" sz="24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气密性试验示意图</a:t>
              </a:r>
              <a:endPara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</p:grpSp>
      <p:sp>
        <p:nvSpPr>
          <p:cNvPr id="958469" name="Text Box 5"/>
          <p:cNvSpPr txBox="1">
            <a:spLocks noChangeArrowheads="1"/>
          </p:cNvSpPr>
          <p:nvPr/>
        </p:nvSpPr>
        <p:spPr bwMode="auto">
          <a:xfrm>
            <a:off x="3132138" y="333375"/>
            <a:ext cx="30956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40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40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检验</a:t>
            </a:r>
            <a:endParaRPr kumimoji="0" lang="zh-CN" altLang="en-US" sz="40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 spd="slow">
    <p:wheel spokes="2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9490" name="Text Box 2"/>
          <p:cNvSpPr txBox="1">
            <a:spLocks noChangeArrowheads="1"/>
          </p:cNvSpPr>
          <p:nvPr/>
        </p:nvSpPr>
        <p:spPr bwMode="auto">
          <a:xfrm>
            <a:off x="34925" y="1268413"/>
            <a:ext cx="8820150" cy="179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smtClean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800" b="1" kern="1200" cap="none" spc="0" normalizeH="0" baseline="0" noProof="0" smtClean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6</a:t>
            </a:r>
            <a:r>
              <a:rPr kumimoji="0" lang="zh-CN" altLang="en-US" sz="2800" b="1" kern="1200" cap="none" spc="0" normalizeH="0" baseline="0" noProof="0" smtClean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）水压试验</a:t>
            </a:r>
            <a:endParaRPr kumimoji="0" lang="zh-CN" altLang="en-US" sz="2800" b="1" kern="1200" cap="none" spc="0" normalizeH="0" baseline="0" noProof="0" smtClean="0">
              <a:solidFill>
                <a:srgbClr val="FF3300"/>
              </a:solidFill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smtClean="0">
                <a:latin typeface="楷体_GB2312" pitchFamily="49" charset="-122"/>
                <a:ea typeface="楷体_GB2312" pitchFamily="49" charset="-122"/>
                <a:cs typeface="+mn-cs"/>
              </a:rPr>
              <a:t>    将焊接容器灌满水，排尽空气，用水压泵加入静水压力并维持一定的时间，观察焊缝位置是否有泄漏，并确定缺陷位置。</a:t>
            </a:r>
            <a:endParaRPr kumimoji="0" lang="zh-CN" altLang="en-US" sz="2400" b="1" kern="1200" cap="none" spc="0" normalizeH="0" baseline="0" noProof="0" smtClean="0"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endParaRPr kumimoji="0" lang="en-US" altLang="zh-CN" sz="24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grpSp>
        <p:nvGrpSpPr>
          <p:cNvPr id="133122" name="Group 6"/>
          <p:cNvGrpSpPr/>
          <p:nvPr/>
        </p:nvGrpSpPr>
        <p:grpSpPr>
          <a:xfrm>
            <a:off x="1116013" y="2708275"/>
            <a:ext cx="5616575" cy="4060825"/>
            <a:chOff x="703" y="1107"/>
            <a:chExt cx="4354" cy="3230"/>
          </a:xfrm>
        </p:grpSpPr>
        <p:pic>
          <p:nvPicPr>
            <p:cNvPr id="133123" name="Picture 3" descr="2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03" y="1107"/>
              <a:ext cx="4354" cy="286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59492" name="Text Box 4"/>
            <p:cNvSpPr txBox="1">
              <a:spLocks noChangeArrowheads="1"/>
            </p:cNvSpPr>
            <p:nvPr/>
          </p:nvSpPr>
          <p:spPr bwMode="auto">
            <a:xfrm>
              <a:off x="703" y="3974"/>
              <a:ext cx="4354" cy="3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24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                    </a:t>
              </a:r>
              <a:r>
                <a:rPr kumimoji="0" lang="zh-CN" altLang="en-US" sz="2400" b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水压试验示意图</a:t>
              </a:r>
              <a:endParaRPr kumimoji="0" lang="zh-CN" altLang="en-US" sz="24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</p:grpSp>
      <p:sp>
        <p:nvSpPr>
          <p:cNvPr id="959493" name="Text Box 5"/>
          <p:cNvSpPr txBox="1">
            <a:spLocks noChangeArrowheads="1"/>
          </p:cNvSpPr>
          <p:nvPr/>
        </p:nvSpPr>
        <p:spPr bwMode="auto">
          <a:xfrm>
            <a:off x="3132138" y="333375"/>
            <a:ext cx="30956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40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4000" b="1" kern="1200" cap="none" spc="0" normalizeH="0" baseline="0" noProof="0" smtClean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检验</a:t>
            </a:r>
            <a:endParaRPr kumimoji="0" lang="zh-CN" altLang="en-US" sz="4000" b="1" kern="1200" cap="none" spc="0" normalizeH="0" baseline="0" noProof="0" smtClean="0"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 spd="slow">
    <p:wheel spokes="8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5169" name="Text Box 2"/>
          <p:cNvSpPr txBox="1"/>
          <p:nvPr/>
        </p:nvSpPr>
        <p:spPr>
          <a:xfrm>
            <a:off x="1781175" y="1665288"/>
            <a:ext cx="4025900" cy="706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4000" b="1" dirty="0">
                <a:latin typeface="楷体_GB2312" pitchFamily="49" charset="-122"/>
                <a:ea typeface="楷体_GB2312" pitchFamily="49" charset="-122"/>
              </a:rPr>
              <a:t>作业 </a:t>
            </a:r>
            <a:r>
              <a:rPr lang="en-US" altLang="zh-CN" sz="4000" b="1" dirty="0">
                <a:latin typeface="楷体_GB2312" pitchFamily="49" charset="-122"/>
                <a:ea typeface="楷体_GB2312" pitchFamily="49" charset="-122"/>
              </a:rPr>
              <a:t>P190, (1).</a:t>
            </a:r>
            <a:endParaRPr lang="en-US" altLang="zh-CN" sz="40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麦田夕照">
  <a:themeElements>
    <a:clrScheme name="麦田夕照 11">
      <a:dk1>
        <a:srgbClr val="1C1C1C"/>
      </a:dk1>
      <a:lt1>
        <a:srgbClr val="523E26"/>
      </a:lt1>
      <a:dk2>
        <a:srgbClr val="654A1D"/>
      </a:dk2>
      <a:lt2>
        <a:srgbClr val="2D2015"/>
      </a:lt2>
      <a:accent1>
        <a:srgbClr val="B1A59D"/>
      </a:accent1>
      <a:accent2>
        <a:srgbClr val="8F5F2F"/>
      </a:accent2>
      <a:accent3>
        <a:srgbClr val="B3AFAC"/>
      </a:accent3>
      <a:accent4>
        <a:srgbClr val="161616"/>
      </a:accent4>
      <a:accent5>
        <a:srgbClr val="D5CFCC"/>
      </a:accent5>
      <a:accent6>
        <a:srgbClr val="81552A"/>
      </a:accent6>
      <a:hlink>
        <a:srgbClr val="F4D700"/>
      </a:hlink>
      <a:folHlink>
        <a:srgbClr val="E7EBEB"/>
      </a:folHlink>
    </a:clrScheme>
    <a:fontScheme name="麦田夕照">
      <a:majorFont>
        <a:latin typeface="Tahoma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麦田夕照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麦田夕照 2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CC9900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B98A00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麦田夕照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麦田夕照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C5B3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麦田夕照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麦田夕照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D4D4D4"/>
        </a:accent6>
        <a:hlink>
          <a:srgbClr val="CC66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麦田夕照 7">
        <a:dk1>
          <a:srgbClr val="003366"/>
        </a:dk1>
        <a:lt1>
          <a:srgbClr val="361B00"/>
        </a:lt1>
        <a:dk2>
          <a:srgbClr val="000099"/>
        </a:dk2>
        <a:lt2>
          <a:srgbClr val="333333"/>
        </a:lt2>
        <a:accent1>
          <a:srgbClr val="3366CC"/>
        </a:accent1>
        <a:accent2>
          <a:srgbClr val="F09A00"/>
        </a:accent2>
        <a:accent3>
          <a:srgbClr val="AAAACA"/>
        </a:accent3>
        <a:accent4>
          <a:srgbClr val="2D1500"/>
        </a:accent4>
        <a:accent5>
          <a:srgbClr val="ADB8E2"/>
        </a:accent5>
        <a:accent6>
          <a:srgbClr val="D98B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麦田夕照 8">
        <a:dk1>
          <a:srgbClr val="777777"/>
        </a:dk1>
        <a:lt1>
          <a:srgbClr val="926C00"/>
        </a:lt1>
        <a:dk2>
          <a:srgbClr val="686B5D"/>
        </a:dk2>
        <a:lt2>
          <a:srgbClr val="4D4D4D"/>
        </a:lt2>
        <a:accent1>
          <a:srgbClr val="B2B2B2"/>
        </a:accent1>
        <a:accent2>
          <a:srgbClr val="809EA8"/>
        </a:accent2>
        <a:accent3>
          <a:srgbClr val="B9BAB6"/>
        </a:accent3>
        <a:accent4>
          <a:srgbClr val="7C5B00"/>
        </a:accent4>
        <a:accent5>
          <a:srgbClr val="D5D5D5"/>
        </a:accent5>
        <a:accent6>
          <a:srgbClr val="738F98"/>
        </a:accent6>
        <a:hlink>
          <a:srgbClr val="FFCC66"/>
        </a:hlink>
        <a:folHlink>
          <a:srgbClr val="F7F3E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麦田夕照 9">
        <a:dk1>
          <a:srgbClr val="005A58"/>
        </a:dk1>
        <a:lt1>
          <a:srgbClr val="CC9900"/>
        </a:lt1>
        <a:dk2>
          <a:srgbClr val="008080"/>
        </a:dk2>
        <a:lt2>
          <a:srgbClr val="006666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AE8200"/>
        </a:accent4>
        <a:accent5>
          <a:srgbClr val="AAB8B7"/>
        </a:accent5>
        <a:accent6>
          <a:srgbClr val="6264B4"/>
        </a:accent6>
        <a:hlink>
          <a:srgbClr val="FFC41F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麦田夕照 10">
        <a:dk1>
          <a:srgbClr val="111111"/>
        </a:dk1>
        <a:lt1>
          <a:srgbClr val="800000"/>
        </a:lt1>
        <a:dk2>
          <a:srgbClr val="663300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0D0D0D"/>
        </a:accent4>
        <a:accent5>
          <a:srgbClr val="E2ADAA"/>
        </a:accent5>
        <a:accent6>
          <a:srgbClr val="AC6D56"/>
        </a:accent6>
        <a:hlink>
          <a:srgbClr val="FFCC66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麦田夕照 11">
        <a:dk1>
          <a:srgbClr val="1C1C1C"/>
        </a:dk1>
        <a:lt1>
          <a:srgbClr val="523E26"/>
        </a:lt1>
        <a:dk2>
          <a:srgbClr val="654A1D"/>
        </a:dk2>
        <a:lt2>
          <a:srgbClr val="2D2015"/>
        </a:lt2>
        <a:accent1>
          <a:srgbClr val="B1A59D"/>
        </a:accent1>
        <a:accent2>
          <a:srgbClr val="8F5F2F"/>
        </a:accent2>
        <a:accent3>
          <a:srgbClr val="B3AFAC"/>
        </a:accent3>
        <a:accent4>
          <a:srgbClr val="161616"/>
        </a:accent4>
        <a:accent5>
          <a:srgbClr val="D5CFCC"/>
        </a:accent5>
        <a:accent6>
          <a:srgbClr val="81552A"/>
        </a:accent6>
        <a:hlink>
          <a:srgbClr val="F4D700"/>
        </a:hlink>
        <a:folHlink>
          <a:srgbClr val="E7EBE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CDESIGNF</Template>
  <TotalTime>0</TotalTime>
  <Words>8045</Words>
  <Application>WPS 演示</Application>
  <PresentationFormat>全屏显示(4:3)</PresentationFormat>
  <Paragraphs>526</Paragraphs>
  <Slides>65</Slides>
  <Notes>65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65</vt:i4>
      </vt:variant>
    </vt:vector>
  </HeadingPairs>
  <TitlesOfParts>
    <vt:vector size="81" baseType="lpstr">
      <vt:lpstr>Arial</vt:lpstr>
      <vt:lpstr>宋体</vt:lpstr>
      <vt:lpstr>Wingdings</vt:lpstr>
      <vt:lpstr>Tahoma</vt:lpstr>
      <vt:lpstr>GreekS</vt:lpstr>
      <vt:lpstr>Segoe Print</vt:lpstr>
      <vt:lpstr>楷体_GB2312</vt:lpstr>
      <vt:lpstr>新宋体</vt:lpstr>
      <vt:lpstr>华文彩云</vt:lpstr>
      <vt:lpstr>华文琥珀</vt:lpstr>
      <vt:lpstr>Times New Roman</vt:lpstr>
      <vt:lpstr>Century</vt:lpstr>
      <vt:lpstr>微软雅黑</vt:lpstr>
      <vt:lpstr>Arial Unicode MS</vt:lpstr>
      <vt:lpstr>麦田夕照</vt:lpstr>
      <vt:lpstr>Equation.3</vt:lpstr>
      <vt:lpstr>机械制造基础</vt:lpstr>
      <vt:lpstr>本篇内容</vt:lpstr>
      <vt:lpstr>电阻焊</vt:lpstr>
      <vt:lpstr>电阻焊</vt:lpstr>
      <vt:lpstr>PowerPoint 演示文稿</vt:lpstr>
      <vt:lpstr>电阻焊</vt:lpstr>
      <vt:lpstr>电阻焊</vt:lpstr>
      <vt:lpstr>电阻焊</vt:lpstr>
      <vt:lpstr>电阻焊</vt:lpstr>
      <vt:lpstr>其他常用焊接方法</vt:lpstr>
      <vt:lpstr>摩擦焊焊接视频</vt:lpstr>
      <vt:lpstr>其他常用焊接方法</vt:lpstr>
      <vt:lpstr>其他常用焊接方法</vt:lpstr>
      <vt:lpstr>其他常用焊接方法</vt:lpstr>
      <vt:lpstr>其他常用焊接方法</vt:lpstr>
      <vt:lpstr>其他常用焊接方法</vt:lpstr>
      <vt:lpstr>其他常用焊接方法</vt:lpstr>
      <vt:lpstr>其他常用焊接方法</vt:lpstr>
      <vt:lpstr>PowerPoint 演示文稿</vt:lpstr>
      <vt:lpstr>常用金属材料的焊接</vt:lpstr>
      <vt:lpstr>常用金属材料的焊接</vt:lpstr>
      <vt:lpstr>常用金属材料的焊接</vt:lpstr>
      <vt:lpstr>  常用金属材料的焊接</vt:lpstr>
      <vt:lpstr>常用金属材料的焊接</vt:lpstr>
      <vt:lpstr>常用金属材料的焊接</vt:lpstr>
      <vt:lpstr>常用金属材料的焊接</vt:lpstr>
      <vt:lpstr>常用金属材料的焊接</vt:lpstr>
      <vt:lpstr>PowerPoint 演示文稿</vt:lpstr>
      <vt:lpstr>第四章 焊接结构设计</vt:lpstr>
      <vt:lpstr> 焊接结构设计</vt:lpstr>
      <vt:lpstr> 焊接结构设计</vt:lpstr>
      <vt:lpstr>焊接结构设计</vt:lpstr>
      <vt:lpstr>焊接结构设计</vt:lpstr>
      <vt:lpstr>焊接结构设计</vt:lpstr>
      <vt:lpstr>焊接结构设计</vt:lpstr>
      <vt:lpstr>焊接结构设计</vt:lpstr>
      <vt:lpstr>焊接结构设计</vt:lpstr>
      <vt:lpstr>焊接结构设计</vt:lpstr>
      <vt:lpstr>焊接结构设计</vt:lpstr>
      <vt:lpstr>焊接结构设计</vt:lpstr>
      <vt:lpstr>压力容器简介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cws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机械制造基础</dc:title>
  <dc:creator>cdd</dc:creator>
  <cp:lastModifiedBy>rainbow</cp:lastModifiedBy>
  <cp:revision>806</cp:revision>
  <dcterms:created xsi:type="dcterms:W3CDTF">2003-11-04T05:35:00Z</dcterms:created>
  <dcterms:modified xsi:type="dcterms:W3CDTF">2021-11-18T01:43:08Z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0BC5211FBD324709BEEE54AC9C729262</vt:lpwstr>
  </property>
  <property fmtid="{D5CDD505-2E9C-101B-9397-08002B2CF9AE}" pid="3" name="KSOProductBuildVer">
    <vt:lpwstr>2052-11.1.0.11045</vt:lpwstr>
  </property>
</Properties>
</file>